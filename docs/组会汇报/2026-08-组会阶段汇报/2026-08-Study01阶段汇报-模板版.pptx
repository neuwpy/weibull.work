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be5bdd2b6469a" /><Relationship Type="http://schemas.openxmlformats.org/officeDocument/2006/relationships/extended-properties" Target="/docProps/app.xml" Id="Re355264c49224395" /><Relationship Type="http://schemas.openxmlformats.org/officeDocument/2006/relationships/officeDocument" Target="/ppt/presentation.xml" Id="Rb5503e86428548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d51e36f92c4bc2"/>
    <p:sldMasterId xmlns:r="http://schemas.openxmlformats.org/officeDocument/2006/relationships" id="2147483660" r:id="R3628b4c3fcce4a42"/>
    <p:sldMasterId xmlns:r="http://schemas.openxmlformats.org/officeDocument/2006/relationships" id="2147483663" r:id="Rc15cf99bb7e8461f"/>
  </p:sldMasterIdLst>
  <p:notesMasterIdLst>
    <p:notesMasterId xmlns:r="http://schemas.openxmlformats.org/officeDocument/2006/relationships" r:id="Rb8de8dec4b574d7e"/>
  </p:notesMasterIdLst>
  <p:sldIdLst>
    <p:sldId xmlns:r="http://schemas.openxmlformats.org/officeDocument/2006/relationships" id="256" r:id="R76d1c23759b34344"/>
    <p:sldId xmlns:r="http://schemas.openxmlformats.org/officeDocument/2006/relationships" id="257" r:id="R81e25d39d7964ae8"/>
    <p:sldId xmlns:r="http://schemas.openxmlformats.org/officeDocument/2006/relationships" id="258" r:id="Rc64071e909fe4faf"/>
    <p:sldId xmlns:r="http://schemas.openxmlformats.org/officeDocument/2006/relationships" id="259" r:id="Rea3201537dab445a"/>
    <p:sldId xmlns:r="http://schemas.openxmlformats.org/officeDocument/2006/relationships" id="260" r:id="Rb6480cc60d7540e1"/>
    <p:sldId xmlns:r="http://schemas.openxmlformats.org/officeDocument/2006/relationships" id="261" r:id="R2a3fbdd61a4942c9"/>
    <p:sldId xmlns:r="http://schemas.openxmlformats.org/officeDocument/2006/relationships" id="262" r:id="R7a526a71641449ce"/>
    <p:sldId xmlns:r="http://schemas.openxmlformats.org/officeDocument/2006/relationships" id="263" r:id="R2aefcfc7752044bc"/>
    <p:sldId xmlns:r="http://schemas.openxmlformats.org/officeDocument/2006/relationships" id="264" r:id="Rae39e89fb95a4cdc"/>
    <p:sldId xmlns:r="http://schemas.openxmlformats.org/officeDocument/2006/relationships" id="265" r:id="R35f085ca6e994c77"/>
    <p:sldId xmlns:r="http://schemas.openxmlformats.org/officeDocument/2006/relationships" id="266" r:id="Re07835c1a5ca4e92"/>
    <p:sldId xmlns:r="http://schemas.openxmlformats.org/officeDocument/2006/relationships" id="267" r:id="R53e63934fc964ac5"/>
    <p:sldId xmlns:r="http://schemas.openxmlformats.org/officeDocument/2006/relationships" id="268" r:id="Rbe8c2ed832f94d94"/>
    <p:sldId xmlns:r="http://schemas.openxmlformats.org/officeDocument/2006/relationships" id="269" r:id="R3d206a0f096f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0bf2868114da8" /><Relationship Type="http://schemas.openxmlformats.org/officeDocument/2006/relationships/slideMaster" Target="/ppt/slideMasters/slideMaster1.xml" Id="R85d51e36f92c4bc2" /><Relationship Type="http://schemas.openxmlformats.org/officeDocument/2006/relationships/slideMaster" Target="/ppt/slideMasters/slideMaster2.xml" Id="R3628b4c3fcce4a42" /><Relationship Type="http://schemas.openxmlformats.org/officeDocument/2006/relationships/slideMaster" Target="/ppt/slideMasters/slideMaster3.xml" Id="Rc15cf99bb7e8461f" /><Relationship Type="http://schemas.openxmlformats.org/officeDocument/2006/relationships/notesMaster" Target="/ppt/notesMasters/notesMaster1.xml" Id="Rb8de8dec4b574d7e" /><Relationship Type="http://schemas.openxmlformats.org/officeDocument/2006/relationships/presProps" Target="/ppt/presProps.xml" Id="R9ca647dc0d704109" /><Relationship Type="http://schemas.openxmlformats.org/officeDocument/2006/relationships/viewProps" Target="/ppt/viewProps.xml" Id="R3adc984f807a4ddf" /><Relationship Type="http://schemas.openxmlformats.org/officeDocument/2006/relationships/tableStyles" Target="/ppt/tableStyles.xml" Id="Red47c75c6bd5475f" /><Relationship Type="http://schemas.openxmlformats.org/officeDocument/2006/relationships/slide" Target="/ppt/slides/slide1.xml" Id="R76d1c23759b34344" /><Relationship Type="http://schemas.openxmlformats.org/officeDocument/2006/relationships/slide" Target="/ppt/slides/slide2.xml" Id="R81e25d39d7964ae8" /><Relationship Type="http://schemas.openxmlformats.org/officeDocument/2006/relationships/slide" Target="/ppt/slides/slide3.xml" Id="Rc64071e909fe4faf" /><Relationship Type="http://schemas.openxmlformats.org/officeDocument/2006/relationships/slide" Target="/ppt/slides/slide4.xml" Id="Rea3201537dab445a" /><Relationship Type="http://schemas.openxmlformats.org/officeDocument/2006/relationships/slide" Target="/ppt/slides/slide5.xml" Id="Rb6480cc60d7540e1" /><Relationship Type="http://schemas.openxmlformats.org/officeDocument/2006/relationships/slide" Target="/ppt/slides/slide6.xml" Id="R2a3fbdd61a4942c9" /><Relationship Type="http://schemas.openxmlformats.org/officeDocument/2006/relationships/slide" Target="/ppt/slides/slide7.xml" Id="R7a526a71641449ce" /><Relationship Type="http://schemas.openxmlformats.org/officeDocument/2006/relationships/slide" Target="/ppt/slides/slide8.xml" Id="R2aefcfc7752044bc" /><Relationship Type="http://schemas.openxmlformats.org/officeDocument/2006/relationships/slide" Target="/ppt/slides/slide9.xml" Id="Rae39e89fb95a4cdc" /><Relationship Type="http://schemas.openxmlformats.org/officeDocument/2006/relationships/slide" Target="/ppt/slides/slide10.xml" Id="R35f085ca6e994c77" /><Relationship Type="http://schemas.openxmlformats.org/officeDocument/2006/relationships/slide" Target="/ppt/slides/slide11.xml" Id="Re07835c1a5ca4e92" /><Relationship Type="http://schemas.openxmlformats.org/officeDocument/2006/relationships/slide" Target="/ppt/slides/slide12.xml" Id="R53e63934fc964ac5" /><Relationship Type="http://schemas.openxmlformats.org/officeDocument/2006/relationships/slide" Target="/ppt/slides/slide13.xml" Id="Rbe8c2ed832f94d94" /><Relationship Type="http://schemas.openxmlformats.org/officeDocument/2006/relationships/slide" Target="/ppt/slides/slide14.xml" Id="R3d206a0f096f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a3fccf4a10d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52c7b17af04360" /><Relationship Type="http://schemas.openxmlformats.org/officeDocument/2006/relationships/notesMaster" Target="/ppt/notesMasters/notesMaster1.xml" Id="R2c86f6e2500946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b88041ae04f2a" /><Relationship Type="http://schemas.openxmlformats.org/officeDocument/2006/relationships/notesMaster" Target="/ppt/notesMasters/notesMaster1.xml" Id="Ra1b17bb33510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47079b49d4430" /><Relationship Type="http://schemas.openxmlformats.org/officeDocument/2006/relationships/notesMaster" Target="/ppt/notesMasters/notesMaster1.xml" Id="R00237f345a25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aa20f9e514f54" /><Relationship Type="http://schemas.openxmlformats.org/officeDocument/2006/relationships/notesMaster" Target="/ppt/notesMasters/notesMaster1.xml" Id="Rc0800325e747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cfb15fc724a09" /><Relationship Type="http://schemas.openxmlformats.org/officeDocument/2006/relationships/notesMaster" Target="/ppt/notesMasters/notesMaster1.xml" Id="R1ac84dc3e1fb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13fba71314a85" /><Relationship Type="http://schemas.openxmlformats.org/officeDocument/2006/relationships/notesMaster" Target="/ppt/notesMasters/notesMaster1.xml" Id="R70dd0d4a1377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cb1de0ed1419c" /><Relationship Type="http://schemas.openxmlformats.org/officeDocument/2006/relationships/notesMaster" Target="/ppt/notesMasters/notesMaster1.xml" Id="R2dbb60bb9296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09772a1f674fca" /><Relationship Type="http://schemas.openxmlformats.org/officeDocument/2006/relationships/notesMaster" Target="/ppt/notesMasters/notesMaster1.xml" Id="Rd14aaf24a78049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5bbef1e40a4fdc" /><Relationship Type="http://schemas.openxmlformats.org/officeDocument/2006/relationships/notesMaster" Target="/ppt/notesMasters/notesMaster1.xml" Id="Rae5c439b617949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c3751315d4122" /><Relationship Type="http://schemas.openxmlformats.org/officeDocument/2006/relationships/notesMaster" Target="/ppt/notesMasters/notesMaster1.xml" Id="Rac5e80fcbc164c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b8b0678b4d45bd" /><Relationship Type="http://schemas.openxmlformats.org/officeDocument/2006/relationships/notesMaster" Target="/ppt/notesMasters/notesMaster1.xml" Id="R9b7dbc63693e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73101fb0c441d5" /><Relationship Type="http://schemas.openxmlformats.org/officeDocument/2006/relationships/notesMaster" Target="/ppt/notesMasters/notesMaster1.xml" Id="R36f2ad36235248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8c29a8ad614e9c" /><Relationship Type="http://schemas.openxmlformats.org/officeDocument/2006/relationships/notesMaster" Target="/ppt/notesMasters/notesMaster1.xml" Id="Rb2b0f125bfaa45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7ed1f2ee4f448c" /><Relationship Type="http://schemas.openxmlformats.org/officeDocument/2006/relationships/notesMaster" Target="/ppt/notesMasters/notesMaster1.xml" Id="R60181c1771f0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这次不按实验批次汇报，而是把 Study01 当作一篇论文完整讲一遍。上次汇报时，我主要有一个现象：不同样本似乎适合不同偏移量，用神经网络选择后误差会下降。现在补齐了这个现象前后的逻辑：为什么需要正偏移量、统一偏移量为何只是折中、可观测样本为什么能够支持进一步选择，以及网络得到的收益和没有得到的收益分别来自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D:\weibull\Study\01-study-MDM最小偏移量优化研究\manuscript\Study01论文初稿-v1.5.md</a:t>
            </a:r>
          </a:p>
          <a:p xmlns:a="http://schemas.openxmlformats.org/drawingml/2006/main">
            <a:r>
              <a:t>- D:\weibull\Study\01-study-MDM最小偏移量优化研究\manuscript\figures\main\fig3_beta_domain_sensitivity.png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论文的科学问题可以用一句话概括：在三参数 Weibull 小样本 MDM 估计中，偏移量 δ 如何影响有限样本估计风险，其合理取值受哪些因素决定，以及在总体参数未知时能否仅依据观测样本实现有效选择。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这三个问题是连续的。先证明正偏移量确实有必要；再说明最佳统一偏移量不是固定真理，而是给定参数空间下的折中；最后才讨论真参数未知时，能否从当前样本中识别出足够的信息进行自适应选择。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偏移量不是为了凭空追求更高精度，而是前期 MDM 为改善有限样本估计稳定性引入的。这里把 δ=0 与固定 δ=0.10 放在一起看，三个参数的标准化离散程度都明显下降：β、η、γ 的中位标准化 SD 分别下降约 57%、39% 和 41%。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因此后面的自适应选择不是否定固定正偏移量，而是在已经获得主要稳定性收益以后，再看能否减少固定取值带来的精度损失。固定 δ=0.10 仍然是实际使用中的重要基准。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D:\weibull\Study\01-study-MDM最小偏移量优化研究\manuscript\figures\main\fig1_offset_baseline.png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固定偏移量的最低点不是一个脱离设计空间的常数。这里保持窗口宽度不变，只沿 β 方向平移参数空间，汇总风险曲线的谷底随之移动，最佳统一偏移量从 0.18 逐步移到 0.04。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但这些曲线都有较宽的低风险区域，所以 0.10 并不是随意的：当需要覆盖较宽、较混合的参数空间时，它仍然是一个稳健默认值。这个结果同时说明，统一偏移量对集体是折中，对每个具体参数条件和样本并不一定最优。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D:\weibull\Study\01-study-MDM最小偏移量优化研究\manuscript\figures\main\fig3_beta_domain_sensitivity.png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为了判断偏移量受什么影响，我没有直接上神经网络，而是先构造信息层级。L1 在整个空间只选一个统一偏移量；L2 只知道样本量；L3 加入 β；L4 再加入 γ/η；L5 按完整参数组合选择。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这组层级不是最终部署方法，而是用来回答：当哪些信息被允许进入规则后，理论上的平均风险会下降多少。它把“偏移量可能与什么有关”变成了可量化的问题。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D:\weibull\Study\01-study-MDM最小偏移量优化研究\manuscript\figures\main\fig4_information_spaces.png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结果显示，仅按样本量选择几乎没有收益；加入 β 后，风险明显下降；继续加入位置和尺度信息还有小幅改善。完整参数组合级规则相对固定 0.10 改善约 7.8%。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L6 则完全不同。它在每个样本抽出之后，用真实参数计算 26 个候选偏移量的实际损失，再事后挑最小者，改善达到 21.9%。所以 L6 不只是“知道真参数”，它还看到了当前样本 realization 和事后损失。L5 与 L6 之间的差距揭示了样本内异质性，也提出了后面的可执行问题：只看到样本 X 时，究竟能恢复多少。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D:\weibull\Study\01-study-MDM最小偏移量优化研究\manuscript\figures\main\fig5_information_level_results.png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网络的输入不是人工统计特征，而是当前样本排序后除以样本均值的向量，每个样本量单独训练一个网络。训练折内部再做逐位置标准化。输出是 δ=0.00 到 0.50 的 26 点损失曲线，选择预测最低点，再调用原 MDM 完成参数估计。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之所以预测整条曲线，是因为相邻偏移量的真实损失常常很接近。如果把最小点当成硬分类标签，0.06 与 0.08 会被当成一对一错；曲线预测保留了低风险平台的结构，更符合这个决策问题。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D:\weibull\Study\01-study-MDM最小偏移量优化研究\manuscript\figures\main\fig2_adaptive_selection_method.png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48,000 个正式测试样本上，样本自适应方法的 pooled J1 从固定 0.10 的 0.6304 降到 0.5846，下降 7.27%，bootstrap 95% 区间为 6.94% 到 7.64%。四个样本量 n=7、10、15、20 的方向一致，且估计失败率为 0%。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这个 7.3% 是论文的主要可执行收益。它小于 L6 的 21.9%，但 L6 使用了实际应用中不可获得的事后真损失。方法的合理参照不是要求逼近 L6，而是确认在只观察样本的条件下，能够稳定地优于固定默认值。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D:\weibull\Study\01-study-MDM最小偏移量优化研究\manuscript\figures\main\fig6_per_n_J1.png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J1 是训练和选择所需的联合指标，但论文不能只用自定义指标证明自己。这里把最终结果重新落回 Bias、SD 和 RMSE。三个参数的偏差绝对值、标准差和均方根误差都改善，没有出现通过牺牲某一个参数换取 J1 下降的情况。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表中统计覆盖 160 个参数组合，每组合 300 个测试样本，组合等权汇总；η 和 γ 的误差按 η 尺度标准化。因此这些数值反映的是整个正式设计域，而不是某一个代表性样本。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样本级选择不是一个“预测标签是否正确”的问题。代表性样本中，预测曲线和真实曲线的精确最低点可以不同，但只要选择落在低损失平台，总体风险仍会下降。正式设计中 160 个参数单元有 125 个平均改善、35 个回退，说明收益是总体性的，不是每个样本或每个单元都必然更好。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这也是为什么论文要同时呈现平均收益、超额损失分布和失败单元。网络做的是风险决策，不是神谕式地恢复每个样本的事后最优 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D:\weibull\Study\01-study-MDM最小偏移量优化研究\manuscript\figures\main\fig7_selector_mechanism.png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同一真实参数条件下，为什么不同样本仍会适合不同偏移量？因为样本抽出来以后，次序统计量和间距会变化，进而改变 MDM 的经验剖面和梯度曲线；搜索交点移动后，位置参数估计以及另外两个参数都会随之变化，于是整条 δ—损失曲线也发生变化。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诊断结果与这条机制一致：经验梯度 ∇X(0) 与 L6 偏移量多数为正相关，而固定 0.10 下的相对位置估计 γ̂/η 与 L6 偏移量稳定负相关。按 γ̂/η 分层后，条件平均超额损失的最低点依次位于 0.10、0.04 和 0.02。边界解只占 7.1%，所以主要机制不是简单的边界截断，而是经验梯度和搜索交点的变化。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D:\weibull\Study\01-study-MDM最小偏移量优化研究\manuscript\figures\main\fig8_decision_mechanism.png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为了判断 0.5846 到 L6 的差距到底意味着什么，我在同一确认集上逐步放宽训练与模型条件。固定 0.10 为 0.6267，论文 MLP 为 0.5827，同域重训后 0.5680，更灵活的 Z-only 回归器为 0.5618，而 L6 是 0.4906。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论文 MLP 捕获了 Default 到 L6 风险差的大约 35%。继续调整覆盖范围、重训和模型容量还能拿到一部分，但 L6 看到了真实参数和事后损失，其中包含部署阶段不存在的信息。因此剩余差距混合了可学习部分与完美信息差，不能简单解释为网络不够好。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支持性验证放在论文正文简述、附录展开。逐一留出未参与训练的 β 水平时，总体仍改善 7.35%，但 β=1.5 是一个例外，说明参数泛化并非处处成立。与传统方法比较时，样本自适应 MDM 的联合参数误差低于 WMLE 和 LSE。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工程寿命分位点的结果更克制：相对固定 MDM 只有很小改善，WMLE 在三个分位点上仍然最好。这说明参数估计收益不会自动等比例传递到每个工程指标。真实数据案例仍未完成，计划在正文整体稳定后再选择与论文问题相匹配的数据集。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- D:\weibull\Study\01-study-MDM最小偏移量优化研究\manuscript\figures\main\fig9_support_validation.png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这一个月 Study01 的关键推进不是多跑了多少实验，而是把一个现象整理成了完整论证。正偏移量先解决稳定性问题；统一 0.10 是当前宽混合设计下的稳健折中；参数条件和样本随机实现进一步造成偏移量差异；样本自适应选择能够从观测样本中恢复一部分收益；机制和剩余差距也有了明确解释。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目前方法主线、正式结果、机制证据、正文图表和中文工作稿都已形成。下一步主要是完成真实案例，继续压缩和润色正文，确定期刊后按其格式整理投稿包，而不是再扩建一套实验系统。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D:\weibull\Study\01-study-MDM最小偏移量优化研究\manuscript\Study01论文初稿-v1.5.md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541cc19ac4a31" /><Relationship Type="http://schemas.openxmlformats.org/officeDocument/2006/relationships/image" Target="/ppt/media/image.jpeg" Id="R46a2015ad9b04106" /><Relationship Type="http://schemas.openxmlformats.org/officeDocument/2006/relationships/image" Target="/ppt/media/image.png" Id="Rf231734f15db4be3" /><Relationship Type="http://schemas.openxmlformats.org/officeDocument/2006/relationships/image" Target="/ppt/media/image2.png" Id="Re49aea137b9c48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0aa13455244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56c89d1864da8" /><Relationship Type="http://schemas.openxmlformats.org/officeDocument/2006/relationships/image" Target="/ppt/media/image3.png" Id="R7d0d57157cb84d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d8207f668492e" /><Relationship Type="http://schemas.openxmlformats.org/officeDocument/2006/relationships/image" Target="/ppt/media/image4.png" Id="R20b9dfba53a8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5d9d628c44a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05e7b8b454b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b8cf6bd3245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615cea9a44c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b04e82dbe4a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2b294cda242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7766703534b5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59c7d57f694083" /><Relationship Type="http://schemas.openxmlformats.org/officeDocument/2006/relationships/image" Target="/ppt/media/image5.png" Id="Rf8d23ba636fc459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6915d6f59d40e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2db3ddaca64676" /><Relationship Type="http://schemas.openxmlformats.org/officeDocument/2006/relationships/image" Target="/ppt/media/image5.png" Id="R3c7bcb3552e2474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f8ed8bc47d4c3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2015ad9b0410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1734f15db4be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aea137b9c4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d57157cb84da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dfba53a8443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23ba636fc459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bcb3552e2474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9cebe6d77406b" /><Relationship Type="http://schemas.openxmlformats.org/officeDocument/2006/relationships/slideLayout" Target="/ppt/slideLayouts/slideLayout1.xml" Id="R0f9cce048ecc400d" /><Relationship Type="http://schemas.openxmlformats.org/officeDocument/2006/relationships/slideLayout" Target="/ppt/slideLayouts/slideLayout2.xml" Id="R6c30881b247847f2" /><Relationship Type="http://schemas.openxmlformats.org/officeDocument/2006/relationships/slideLayout" Target="/ppt/slideLayouts/slideLayout3.xml" Id="R5853629cd8d64dcd" /><Relationship Type="http://schemas.openxmlformats.org/officeDocument/2006/relationships/slideLayout" Target="/ppt/slideLayouts/slideLayout4.xml" Id="Rf8f94fcf3ca84878" /><Relationship Type="http://schemas.openxmlformats.org/officeDocument/2006/relationships/slideLayout" Target="/ppt/slideLayouts/slideLayout5.xml" Id="R7cdd5db01670430e" /><Relationship Type="http://schemas.openxmlformats.org/officeDocument/2006/relationships/slideLayout" Target="/ppt/slideLayouts/slideLayout6.xml" Id="Ra3ace6ff6cf54adb" /><Relationship Type="http://schemas.openxmlformats.org/officeDocument/2006/relationships/slideLayout" Target="/ppt/slideLayouts/slideLayout7.xml" Id="R428fd4911b4e469a" /><Relationship Type="http://schemas.openxmlformats.org/officeDocument/2006/relationships/slideLayout" Target="/ppt/slideLayouts/slideLayout8.xml" Id="Ra95c10409bbf4ca2" /><Relationship Type="http://schemas.openxmlformats.org/officeDocument/2006/relationships/slideLayout" Target="/ppt/slideLayouts/slideLayout9.xml" Id="R3c0d105712ec4370" /><Relationship Type="http://schemas.openxmlformats.org/officeDocument/2006/relationships/slideLayout" Target="/ppt/slideLayouts/slideLayout10.xml" Id="R3399725f55554568" /><Relationship Type="http://schemas.openxmlformats.org/officeDocument/2006/relationships/slideLayout" Target="/ppt/slideLayouts/slideLayout11.xml" Id="R2218a3775d0542c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72695c19234404d" /><Relationship Type="http://schemas.openxmlformats.org/officeDocument/2006/relationships/slideLayout" Target="/ppt/slideLayouts/slideLayout12.xml" Id="R6f3c2efd539a4d06" /><Relationship Type="http://schemas.openxmlformats.org/officeDocument/2006/relationships/slideLayout" Target="/ppt/slideLayouts/slideLayout13.xml" Id="R0dad8e2beb5f41a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f51e71cbf704d4e" /><Relationship Type="http://schemas.openxmlformats.org/officeDocument/2006/relationships/slideLayout" Target="/ppt/slideLayouts/slideLayout14.xml" Id="R7b0583dd69654f21" /><Relationship Type="http://schemas.openxmlformats.org/officeDocument/2006/relationships/slideLayout" Target="/ppt/slideLayouts/slideLayout15.xml" Id="R59c7e370ae4c45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cce048ecc400d"/>
    <p:sldLayoutId xmlns:r="http://schemas.openxmlformats.org/officeDocument/2006/relationships" id="2147483650" r:id="R6c30881b247847f2"/>
    <p:sldLayoutId xmlns:r="http://schemas.openxmlformats.org/officeDocument/2006/relationships" id="2147483651" r:id="R5853629cd8d64dcd"/>
    <p:sldLayoutId xmlns:r="http://schemas.openxmlformats.org/officeDocument/2006/relationships" id="2147483652" r:id="Rf8f94fcf3ca84878"/>
    <p:sldLayoutId xmlns:r="http://schemas.openxmlformats.org/officeDocument/2006/relationships" id="2147483653" r:id="R7cdd5db01670430e"/>
    <p:sldLayoutId xmlns:r="http://schemas.openxmlformats.org/officeDocument/2006/relationships" id="2147483654" r:id="Ra3ace6ff6cf54adb"/>
    <p:sldLayoutId xmlns:r="http://schemas.openxmlformats.org/officeDocument/2006/relationships" id="2147483655" r:id="R428fd4911b4e469a"/>
    <p:sldLayoutId xmlns:r="http://schemas.openxmlformats.org/officeDocument/2006/relationships" id="2147483656" r:id="Ra95c10409bbf4ca2"/>
    <p:sldLayoutId xmlns:r="http://schemas.openxmlformats.org/officeDocument/2006/relationships" id="2147483657" r:id="R3c0d105712ec4370"/>
    <p:sldLayoutId xmlns:r="http://schemas.openxmlformats.org/officeDocument/2006/relationships" id="2147483658" r:id="R3399725f55554568"/>
    <p:sldLayoutId xmlns:r="http://schemas.openxmlformats.org/officeDocument/2006/relationships" id="2147483659" r:id="R2218a3775d0542c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f3c2efd539a4d06"/>
    <p:sldLayoutId xmlns:r="http://schemas.openxmlformats.org/officeDocument/2006/relationships" id="2147483662" r:id="R0dad8e2beb5f41a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b0583dd69654f21"/>
    <p:sldLayoutId xmlns:r="http://schemas.openxmlformats.org/officeDocument/2006/relationships" id="2147483665" r:id="R59c7e370ae4c45c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cd86e2c314a21" /><Relationship Type="http://schemas.openxmlformats.org/officeDocument/2006/relationships/notesSlide" Target="/ppt/notesSlides/notesSlide1.xml" Id="Rd64506a3ff0647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cd301bb3b646e2" /><Relationship Type="http://schemas.openxmlformats.org/officeDocument/2006/relationships/image" Target="/ppt/media/image6.png" Id="R245522cbdb2c45e7" /><Relationship Type="http://schemas.openxmlformats.org/officeDocument/2006/relationships/notesSlide" Target="/ppt/notesSlides/notesSlide2.xml" Id="Rb305bd9b9c8a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9852abb18a4a99" /><Relationship Type="http://schemas.openxmlformats.org/officeDocument/2006/relationships/image" Target="/ppt/media/image7.png" Id="R26ed1eafc7044e54" /><Relationship Type="http://schemas.openxmlformats.org/officeDocument/2006/relationships/image" Target="/ppt/media/image8.png" Id="R3228dcbe2bf34071" /><Relationship Type="http://schemas.openxmlformats.org/officeDocument/2006/relationships/notesSlide" Target="/ppt/notesSlides/notesSlide3.xml" Id="R6c250b3e0240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36a6a61fcd43b2" /><Relationship Type="http://schemas.openxmlformats.org/officeDocument/2006/relationships/image" Target="/ppt/media/image7.png" Id="R10b86f171adc462e" /><Relationship Type="http://schemas.openxmlformats.org/officeDocument/2006/relationships/image" Target="/ppt/media/image9.png" Id="Rbcf1c0b6c371432b" /><Relationship Type="http://schemas.openxmlformats.org/officeDocument/2006/relationships/notesSlide" Target="/ppt/notesSlides/notesSlide4.xml" Id="Rf8915918168a41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f986efe6d44013" /><Relationship Type="http://schemas.openxmlformats.org/officeDocument/2006/relationships/image" Target="/ppt/media/image10.png" Id="R880cc1b9ef7f483c" /><Relationship Type="http://schemas.openxmlformats.org/officeDocument/2006/relationships/image" Target="/ppt/media/image11.png" Id="Re0715d88546d4c12" /><Relationship Type="http://schemas.openxmlformats.org/officeDocument/2006/relationships/notesSlide" Target="/ppt/notesSlides/notesSlide5.xml" Id="Rd9d59a468a9149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92abaf41954c25" /><Relationship Type="http://schemas.openxmlformats.org/officeDocument/2006/relationships/image" Target="/ppt/media/image7.png" Id="R1757d546003045e8" /><Relationship Type="http://schemas.openxmlformats.org/officeDocument/2006/relationships/image" Target="/ppt/media/image12.png" Id="R77e62ab9c21e4dea" /><Relationship Type="http://schemas.openxmlformats.org/officeDocument/2006/relationships/notesSlide" Target="/ppt/notesSlides/notesSlide6.xml" Id="R2cdea139d0d2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7e10ec2f4d4ee5" /><Relationship Type="http://schemas.openxmlformats.org/officeDocument/2006/relationships/image" Target="/ppt/media/image13.png" Id="R672fa60851cf4cfa" /><Relationship Type="http://schemas.openxmlformats.org/officeDocument/2006/relationships/image" Target="/ppt/media/image14.png" Id="Rb7f95e0b72ef4233" /><Relationship Type="http://schemas.openxmlformats.org/officeDocument/2006/relationships/notesSlide" Target="/ppt/notesSlides/notesSlide7.xml" Id="R6d5fd3a49a984a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003d9b801a435a" /><Relationship Type="http://schemas.openxmlformats.org/officeDocument/2006/relationships/image" Target="/ppt/media/image7.png" Id="R6c725300dfc84db5" /><Relationship Type="http://schemas.openxmlformats.org/officeDocument/2006/relationships/image" Target="/ppt/media/image15.png" Id="R4e23cf21f6d046cc" /><Relationship Type="http://schemas.openxmlformats.org/officeDocument/2006/relationships/notesSlide" Target="/ppt/notesSlides/notesSlide8.xml" Id="Rbdd0741e28034b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946844505d4b42" /><Relationship Type="http://schemas.openxmlformats.org/officeDocument/2006/relationships/notesSlide" Target="/ppt/notesSlides/notesSlide9.xml" Id="R20bdf81e0d3f4d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bb12ab77dc4850" /><Relationship Type="http://schemas.openxmlformats.org/officeDocument/2006/relationships/image" Target="/ppt/media/image10.png" Id="Rab74e205897c455b" /><Relationship Type="http://schemas.openxmlformats.org/officeDocument/2006/relationships/image" Target="/ppt/media/image16.png" Id="R3bedd8cc7ce542d4" /><Relationship Type="http://schemas.openxmlformats.org/officeDocument/2006/relationships/notesSlide" Target="/ppt/notesSlides/notesSlide10.xml" Id="R46b1d3ef3e3e45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00514489234fcd" /><Relationship Type="http://schemas.openxmlformats.org/officeDocument/2006/relationships/image" Target="/ppt/media/image10.png" Id="Rf8cf01cbe23c49e8" /><Relationship Type="http://schemas.openxmlformats.org/officeDocument/2006/relationships/image" Target="/ppt/media/image17.png" Id="R403b55c3ceab455e" /><Relationship Type="http://schemas.openxmlformats.org/officeDocument/2006/relationships/notesSlide" Target="/ppt/notesSlides/notesSlide11.xml" Id="R0e979a1536f341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9bc765a8b24160" /><Relationship Type="http://schemas.openxmlformats.org/officeDocument/2006/relationships/notesSlide" Target="/ppt/notesSlides/notesSlide12.xml" Id="R961a7310b43a4e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bb8ec4b3f2403a" /><Relationship Type="http://schemas.openxmlformats.org/officeDocument/2006/relationships/image" Target="/ppt/media/image7.png" Id="R3a99592fb6ed422a" /><Relationship Type="http://schemas.openxmlformats.org/officeDocument/2006/relationships/image" Target="/ppt/media/image18.png" Id="R356392b84f764602" /><Relationship Type="http://schemas.openxmlformats.org/officeDocument/2006/relationships/notesSlide" Target="/ppt/notesSlides/notesSlide13.xml" Id="R01dd2da2049e4f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be6d49d1054924" /><Relationship Type="http://schemas.openxmlformats.org/officeDocument/2006/relationships/notesSlide" Target="/ppt/notesSlides/notesSlide14.xml" Id="R85238a9b7faf43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2026.08.29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三参数 Weibull 小样本 MDM 偏移量选择</a:t>
            </a:r>
          </a:p>
        </p:txBody>
      </p:sp>
    </p:spTree>
    <p:extLst>
      <p:ext uri="{BB962C8B-B14F-4D97-AF65-F5344CB8AC3E}">
        <p14:creationId xmlns:p14="http://schemas.microsoft.com/office/powerpoint/2010/main" val="1711428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Study01 回答三个连续问题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论文主线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4CF6910-111F-4DD7-A252-5FB42449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F8004DC-61EE-D9C3-52CE-7D4BCFD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1792638"/>
            <a:ext cx="98636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正偏移量为什么有必要？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9E9937B-7E7D-8D86-843A-41B5CEAD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81" y="3321925"/>
            <a:ext cx="7622086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偏移量的统一取值受哪些因素决定？</a:t>
            </a:r>
          </a:p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真参数未知时，能否只根据当前样本选择偏移量？</a:t>
            </a:r>
          </a:p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选择后的收益从哪里来，为什么仍低于事后参照？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5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522cbdb2c45e7"/>
          <a:stretch xmlns:a="http://schemas.openxmlformats.org/drawingml/2006/main"/>
        </p:blipFill>
        <p:spPr>
          <a:xfrm xmlns:a="http://schemas.openxmlformats.org/drawingml/2006/main">
            <a:off x="5792514" y="5139272"/>
            <a:ext cx="978943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81" y="5510337"/>
            <a:ext cx="385046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稳定性 → 参数空间 → 信息层级 → 样本自适应 → 机制</a:t>
            </a:r>
          </a:p>
        </p:txBody>
      </p:sp>
      <p:sp>
        <p:nvSpPr>
          <p:cNvPr id="16" name="箭头: 下 15">
            <a:extLst xmlns:a="http://schemas.openxmlformats.org/drawingml/2006/main">
              <a:ext uri="{FF2B5EF4-FFF2-40B4-BE49-F238E27FC236}">
                <a16:creationId xmlns:a16="http://schemas.microsoft.com/office/drawing/2014/main" id="{CD65DD46-6ABA-3F38-6F7B-A08D8B8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4869397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正偏移量首先改善有限样本估计稳定性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问题起点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d1eafc7044e54"/>
          <a:stretch xmlns:a="http://schemas.openxmlformats.org/drawingml/2006/main"/>
        </p:blipFill>
        <p:spPr>
          <a:xfrm xmlns:a="http://schemas.openxmlformats.org/drawingml/2006/main">
            <a:off x="3985095" y="1715163"/>
            <a:ext cx="4221810" cy="422181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8dcbe2bf34071"/>
          <a:stretch xmlns:a="http://schemas.openxmlformats.org/drawingml/2006/main"/>
        </p:blipFill>
        <p:spPr>
          <a:xfrm xmlns:a="http://schemas.openxmlformats.org/drawingml/2006/main">
            <a:off x="1446696" y="1715163"/>
            <a:ext cx="9298609" cy="4221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0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统一偏移量是给定参数空间下的折中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统一取值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86f171adc462e"/>
          <a:stretch xmlns:a="http://schemas.openxmlformats.org/drawingml/2006/main"/>
        </p:blipFill>
        <p:spPr>
          <a:xfrm xmlns:a="http://schemas.openxmlformats.org/drawingml/2006/main">
            <a:off x="3985095" y="1715163"/>
            <a:ext cx="4221810" cy="422181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1c0b6c371432b"/>
          <a:stretch xmlns:a="http://schemas.openxmlformats.org/drawingml/2006/main"/>
        </p:blipFill>
        <p:spPr>
          <a:xfrm xmlns:a="http://schemas.openxmlformats.org/drawingml/2006/main">
            <a:off x="483978" y="1869176"/>
            <a:ext cx="11224044" cy="39137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0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AE2605D-397B-BBE6-4E02-41BB834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增加可用信息后，可以在更细范围内选择偏移量</a:t>
            </a:r>
          </a:p>
        </p:txBody>
      </p:sp>
      <p:pic>
        <p:nvPicPr>
          <p:cNvPr id="1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cc1b9ef7f483c"/>
          <a:stretch xmlns:a="http://schemas.openxmlformats.org/drawingml/2006/main"/>
        </p:blipFill>
        <p:spPr>
          <a:xfrm xmlns:a="http://schemas.openxmlformats.org/drawingml/2006/main">
            <a:off x="2527806" y="1471777"/>
            <a:ext cx="5334293" cy="533429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C2D03ED-ACB8-26E4-6F2D-99F92C5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信息层级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AA90FF-72CA-40C8-8A5A-A44B31F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B5B2D87-BAC1-0E68-7935-0A31097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15d88546d4c12"/>
          <a:stretch xmlns:a="http://schemas.openxmlformats.org/drawingml/2006/main"/>
        </p:blipFill>
        <p:spPr>
          <a:xfrm xmlns:a="http://schemas.openxmlformats.org/drawingml/2006/main">
            <a:off x="1416233" y="1471777"/>
            <a:ext cx="7557437" cy="53342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637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参数条件解释一部分差异，样本实现仍带来额外变化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信息层级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7d546003045e8"/>
          <a:stretch xmlns:a="http://schemas.openxmlformats.org/drawingml/2006/main"/>
        </p:blipFill>
        <p:spPr>
          <a:xfrm xmlns:a="http://schemas.openxmlformats.org/drawingml/2006/main">
            <a:off x="3985095" y="1715163"/>
            <a:ext cx="4221810" cy="422181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62ab9c21e4dea"/>
          <a:stretch xmlns:a="http://schemas.openxmlformats.org/drawingml/2006/main"/>
        </p:blipFill>
        <p:spPr>
          <a:xfrm xmlns:a="http://schemas.openxmlformats.org/drawingml/2006/main">
            <a:off x="1075699" y="1715163"/>
            <a:ext cx="10040602" cy="4221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02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5884FCA-00C6-A2EE-56C1-69AC9D0F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网络预测 26 点损失曲线，再选择低风险偏移量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D081A10-237A-E0EF-1FAB-78F4C766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5" y="1597032"/>
            <a:ext cx="587404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输入：排序样本 X / mean(X)</a:t>
            </a:r>
          </a:p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分 n 训练：n=7、10、15、20</a:t>
            </a:r>
          </a:p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输出：δ=0.00–0.50 的 26 点损失曲线</a:t>
            </a:r>
          </a:p>
          <a:p xmlns:a="http://schemas.openxmlformats.org/drawingml/2006/main">
            <a:pPr>
              <a:lnSpc>
                <a:spcPct val="150000"/>
              </a:lnSpc>
              <a:buFont typeface="Arial"/>
              <a:buChar char="•"/>
            </a:pPr>
            <a:r>
              <a:rPr b="1"/>
              <a:t>选择：预测最低点 → 调用 MDM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46EF697-2326-6734-224F-253C742F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方法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B57DC6F-DD98-4C75-809F-9399B196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D3815EF-F1B7-3F22-4578-860C16F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pic>
        <p:nvPicPr>
          <p:cNvPr id="2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fa60851cf4cfa"/>
          <a:stretch xmlns:a="http://schemas.openxmlformats.org/drawingml/2006/main"/>
        </p:blipFill>
        <p:spPr>
          <a:xfrm xmlns:a="http://schemas.openxmlformats.org/drawingml/2006/main">
            <a:off x="6847464" y="1550649"/>
            <a:ext cx="4373238" cy="4373238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95e0b72ef4233"/>
          <a:stretch xmlns:a="http://schemas.openxmlformats.org/drawingml/2006/main"/>
        </p:blipFill>
        <p:spPr>
          <a:xfrm xmlns:a="http://schemas.openxmlformats.org/drawingml/2006/main">
            <a:off x="6097063" y="2020157"/>
            <a:ext cx="5874040" cy="3434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53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样本自适应选择使联合估计误差下降 7.27%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主结果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5300dfc84db5"/>
          <a:stretch xmlns:a="http://schemas.openxmlformats.org/drawingml/2006/main"/>
        </p:blipFill>
        <p:spPr>
          <a:xfrm xmlns:a="http://schemas.openxmlformats.org/drawingml/2006/main">
            <a:off x="3985095" y="1715163"/>
            <a:ext cx="4221810" cy="422181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3cf21f6d046cc"/>
          <a:stretch xmlns:a="http://schemas.openxmlformats.org/drawingml/2006/main"/>
        </p:blipFill>
        <p:spPr>
          <a:xfrm xmlns:a="http://schemas.openxmlformats.org/drawingml/2006/main">
            <a:off x="1671406" y="1715163"/>
            <a:ext cx="8849187" cy="4221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02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E18170D-A77A-513E-6A77-1970624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82" y="1683026"/>
            <a:ext cx="6937514" cy="2113722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EC10933-BAEB-5446-8191-ED9BE74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J1 的下降落实为三个参数误差同步改善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864FB4C-5B90-81AB-984A-7F68016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主结果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12884E7F-EA55-44EC-AF5F-DA5C32EB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0FA47F7-4B01-B1F6-0709-DAFF4B5A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E484D7E-8113-A76F-5B12-DF5C63C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9" y="1923007"/>
            <a:ext cx="6552849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β</a:t>
            </a:r>
          </a:p>
          <a:p xmlns:a="http://schemas.openxmlformats.org/drawingml/2006/main">
            <a:r>
              <a:t>固定 0.10 → 自适应</a:t>
            </a:r>
          </a:p>
          <a:p xmlns:a="http://schemas.openxmlformats.org/drawingml/2006/main">
            <a:r>
              <a:t>Bias：−0.2327 → −0.2008</a:t>
            </a:r>
          </a:p>
          <a:p xmlns:a="http://schemas.openxmlformats.org/drawingml/2006/main">
            <a:r>
              <a:t>SD：0.3293 → 0.3165</a:t>
            </a:r>
          </a:p>
          <a:p xmlns:a="http://schemas.openxmlformats.org/drawingml/2006/main">
            <a:r>
              <a:t>RMSE：0.4032 → 0.3749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2E7B956-0D66-2D57-A39A-92FA8B6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3" y="1923007"/>
            <a:ext cx="3299791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η / γ</a:t>
            </a:r>
          </a:p>
          <a:p xmlns:a="http://schemas.openxmlformats.org/drawingml/2006/main">
            <a:r>
              <a:t>η RMSE：0.3614 → 0.3354</a:t>
            </a:r>
          </a:p>
          <a:p xmlns:a="http://schemas.openxmlformats.org/drawingml/2006/main">
            <a:r>
              <a:t>γ RMSE：0.3228 → 0.2978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E809DB1-5515-641E-BBC1-A91A49B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234" y="1683026"/>
            <a:ext cx="4321971" cy="2113722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43776FB-7032-666C-54E0-803056F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9" y="3934672"/>
            <a:ext cx="10959547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统计范围：同一 48,000 个折外测试样本（160 个参数组合 × 每组合 300 次）。β、η 的误差除以真值，γ 的误差除以真尺度 η；两种规则均无估计失败。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1947DDC-237B-2354-4C50-D412AF5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73" y="5534419"/>
            <a:ext cx="1101918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Bias 绝对值、SD 和 RMSE 均下降：改善不只存在于联合指标 J1。 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17183381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AE2605D-397B-BBE6-4E02-41BB834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网络不必精确命中事后最优点，也能降低总体风险</a:t>
            </a:r>
          </a:p>
        </p:txBody>
      </p:sp>
      <p:pic>
        <p:nvPicPr>
          <p:cNvPr id="1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4e205897c455b"/>
          <a:stretch xmlns:a="http://schemas.openxmlformats.org/drawingml/2006/main"/>
        </p:blipFill>
        <p:spPr>
          <a:xfrm xmlns:a="http://schemas.openxmlformats.org/drawingml/2006/main">
            <a:off x="2527806" y="1471777"/>
            <a:ext cx="5334293" cy="533429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C2D03ED-ACB8-26E4-6F2D-99F92C5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决策机制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AA90FF-72CA-40C8-8A5A-A44B31F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B5B2D87-BAC1-0E68-7935-0A31097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dd8cc7ce542d4"/>
          <a:stretch xmlns:a="http://schemas.openxmlformats.org/drawingml/2006/main"/>
        </p:blipFill>
        <p:spPr>
          <a:xfrm xmlns:a="http://schemas.openxmlformats.org/drawingml/2006/main">
            <a:off x="803918" y="1471777"/>
            <a:ext cx="8782068" cy="53342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637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AE2605D-397B-BBE6-4E02-41BB834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抽样结果通过经验梯度与搜索交点改变低风险偏移量</a:t>
            </a:r>
          </a:p>
        </p:txBody>
      </p:sp>
      <p:pic>
        <p:nvPicPr>
          <p:cNvPr id="1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f01cbe23c49e8"/>
          <a:stretch xmlns:a="http://schemas.openxmlformats.org/drawingml/2006/main"/>
        </p:blipFill>
        <p:spPr>
          <a:xfrm xmlns:a="http://schemas.openxmlformats.org/drawingml/2006/main">
            <a:off x="2527806" y="1471777"/>
            <a:ext cx="5334293" cy="533429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C2D03ED-ACB8-26E4-6F2D-99F92C5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作用机制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AA90FF-72CA-40C8-8A5A-A44B31F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B5B2D87-BAC1-0E68-7935-0A31097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b55c3ceab455e"/>
          <a:stretch xmlns:a="http://schemas.openxmlformats.org/drawingml/2006/main"/>
        </p:blipFill>
        <p:spPr>
          <a:xfrm xmlns:a="http://schemas.openxmlformats.org/drawingml/2006/main">
            <a:off x="1367231" y="1471777"/>
            <a:ext cx="7655442" cy="53342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637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E18170D-A77A-513E-6A77-1970624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82" y="1683026"/>
            <a:ext cx="6937514" cy="2113722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EC10933-BAEB-5446-8191-ED9BE74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与 L6 的剩余差距不等同于网络训练不足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864FB4C-5B90-81AB-984A-7F68016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风险边界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12884E7F-EA55-44EC-AF5F-DA5C32EB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0FA47F7-4B01-B1F6-0709-DAFF4B5A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E484D7E-8113-A76F-5B12-DF5C63C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9" y="1923007"/>
            <a:ext cx="6552849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可观测样本条件下</a:t>
            </a:r>
          </a:p>
          <a:p xmlns:a="http://schemas.openxmlformats.org/drawingml/2006/main">
            <a:r>
              <a:t>固定 0.10：0.6267</a:t>
            </a:r>
          </a:p>
          <a:p xmlns:a="http://schemas.openxmlformats.org/drawingml/2006/main">
            <a:r>
              <a:t>论文 MLP：0.5827</a:t>
            </a:r>
          </a:p>
          <a:p xmlns:a="http://schemas.openxmlformats.org/drawingml/2006/main">
            <a:r>
              <a:t>同域重训：0.5680</a:t>
            </a:r>
          </a:p>
          <a:p xmlns:a="http://schemas.openxmlformats.org/drawingml/2006/main">
            <a:r>
              <a:t>灵活 Z-only：0.5618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2E7B956-0D66-2D57-A39A-92FA8B6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3" y="1923007"/>
            <a:ext cx="3299791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事后参照</a:t>
            </a:r>
          </a:p>
          <a:p xmlns:a="http://schemas.openxmlformats.org/drawingml/2006/main">
            <a:r>
              <a:t>L6：0.4906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 MLP 捕获 Default–L6 风险差约 35%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E809DB1-5515-641E-BBC1-A91A49B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234" y="1683026"/>
            <a:ext cx="4321971" cy="2113722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43776FB-7032-666C-54E0-803056F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9" y="3934672"/>
            <a:ext cx="10959547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继续调整训练域和模型容量仍可获得一部分收益；但 L6 额外使用真实参数、当前样本和事后损失，其中一部分信息在实际选择时不可获得。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1947DDC-237B-2354-4C50-D412AF5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73" y="5534419"/>
            <a:ext cx="1101918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真正可执行的目标是基于观测样本 X 的条件风险最小化；L6 是完美信息参照，不是部署上界。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17183381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泛化、传统方法和工程指标给出补充边界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支撑验证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9592fb6ed422a"/>
          <a:stretch xmlns:a="http://schemas.openxmlformats.org/drawingml/2006/main"/>
        </p:blipFill>
        <p:spPr>
          <a:xfrm xmlns:a="http://schemas.openxmlformats.org/drawingml/2006/main">
            <a:off x="3985095" y="1715163"/>
            <a:ext cx="4221810" cy="422181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392b84f764602"/>
          <a:stretch xmlns:a="http://schemas.openxmlformats.org/drawingml/2006/main"/>
        </p:blipFill>
        <p:spPr>
          <a:xfrm xmlns:a="http://schemas.openxmlformats.org/drawingml/2006/main">
            <a:off x="1553234" y="1715163"/>
            <a:ext cx="9085533" cy="4221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502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A194A56-762D-4BF9-5A19-2862E610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当前结论与下一步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CDBFCE8-CB21-11F4-AAB8-9D51E99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结论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81477F6-AC10-44CA-839E-60D145E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00C906D-87D5-A8C3-B597-506FEB0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33995D3-0EC6-DD70-41AD-FD133BC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1848823"/>
            <a:ext cx="6096000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正偏移量：首先改善有限样本估计稳定性</a:t>
            </a:r>
            <a:endParaRPr/>
          </a:p>
          <a:p xmlns:a="http://schemas.openxmlformats.org/drawingml/2006/main">
            <a:r>
              <a:t>统一取值：0.10 是宽混合参数空间的稳健默认值</a:t>
            </a:r>
            <a:endParaRPr/>
          </a:p>
          <a:p xmlns:a="http://schemas.openxmlformats.org/drawingml/2006/main">
            <a:r>
              <a:t>样本自适应：J1 下降 7.27%，三参数误差同步改善</a:t>
            </a:r>
            <a:endParaRPr/>
          </a:p>
          <a:p xmlns:a="http://schemas.openxmlformats.org/drawingml/2006/main">
            <a:r>
              <a:t>机制解释：抽样改变经验梯度与搜索交点</a:t>
            </a:r>
            <a:endParaRPr/>
          </a:p>
          <a:p xmlns:a="http://schemas.openxmlformats.org/drawingml/2006/main">
            <a:r>
              <a:t>下一步：补真实案例，压缩正文并准备投稿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676899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2026-08-29T15:58:45.0030000Z</dcterms:created>
  <dcterms:modified xsi:type="dcterms:W3CDTF">2026-08-29T15:58:45.0030000Z</dcterms:modified>
</coreProperties>
</file>