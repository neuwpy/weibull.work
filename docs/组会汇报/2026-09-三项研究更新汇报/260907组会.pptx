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3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63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8.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29.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0.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第一部分是 MDM 方法中偏移量的自适应调整。这个工作之前已经汇报过，这次主要是论文整理得差不多了，再把问题、方法和结果简要捋一下。</a:t>
            </a:r>
          </a:p>
          <a:p/>
          <a:p>
            <a:r>
              <a:t>第二部分是回应老师之前提出的一个问题：既然用了神经网络，是像第一部分这样，用网络优化 MDM 中的过程量，再通过 MDM 求参数，还是直接让网络估计参数？这一部分主要比较这两条路线。</a:t>
            </a:r>
          </a:p>
          <a:p/>
          <a:p>
            <a:r>
              <a:t>第三部分进一步看直接参数估计。网络同样输出三个参数，但训练时是以参数估计准确为目标，还是以最终使用的分位点准确为目标？这里主要讲这两种目标带来的差别。</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这个工作之前讲过几次，这次主要把论文最后形成的逻辑和结果捋清楚。起点是 MDM 已有的经验偏移量 0.1。我们先问，换一个统一常数能不能更好；再看选择依据是否来自参数条件和样本差异，最后检验能不能做成实际可用的样本自适应方法。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首先做最直接的检查：把 26 个候选值都扫描一遍。当前参数域里的最低点是 0.06，但 0.1 的误差只比它高约 0.93%，所以更换统一常数带来的收益有限。右侧分解说明，偏移量在偏差与方差之间形成折中，并非越大越好。接下来就问：如果限定的参数空间发生变化，最佳统一偏移量是否也会改变？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想验证的是，最佳统一偏移量是否会随着参数空间改变。它本来就是在一个限定空间里求平均风险最低的值，所以我们固定窗口宽度，只移动位置，看最低点是否变化。结果确实变了，0.18到0.04是这次实验的具体表现。实际应用可能覆盖更大的空间，而大空间的汇总风险由其中各部分共同决定。既然不同子域的风险折中不同，扩大或移动覆盖范围后，原来的统一值就需要重新检查。接下来进一步问：能不能根据这些参数条件分别选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先看前五行。统一选择和按样本量选择，收益都比较小；知道形状参数等条件以后，收益明显增加。所以，不同参数条件确实对应不同的选择规则。但 L5 已经知道完整参数条件，为什么最后一行的逐样本选择还好很多？这就引出了样本本身的差异。</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前面的分析给出了按样本选择的动机，但实际拿不到真参数和真实损失。因此，我们在模拟阶段学习样本到候选损失曲线的映射，应用时只输入归一化排序样本，选择预测损失最低的偏移量，再由 MDM 估计参数。网络承担的是偏移量选择，是否有效还要看实际参数误差。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最终在位置尺度比水平留出的折外评价中，联合误差下降了 7.27%，四个样本量和三个参数的汇总 RMSE 都改善。这才是可观测样本能支持有效选择的直接证据。但仍有 35 个单元退化，而且输入表示筛选复用了这批评价数据，因此结论是选定方法在当前设计下的总体改善，冻结方法后的独立确认还需要补。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这里沿每一列看同一个样本，横向比较同真值的不同样本。抽样改变了样本的间距和位置结构，也改变了 MDM 的搜索轨迹；偏移量是在这条路径上调整选解位置，因此不同样本可能需要不同的选择。诊断结果支持这种联系。到这里，问题就从找一个最佳常数，推进到能不能根据当前样本作选择。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所以，这篇论文最后回答的是：经验偏移量的选择受参数域和本次样本共同影响；仅用当前样本预测候选损失，可以进一步改善 MDM 的参数估计，当前得到的改善是 7.27%。这就把最开始的经验取值问题，落到了有实验依据、也能实际执行的选择方法上。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这一部分主要回应老师上次提出的这个问题。第一部分已经用了神经网络，但最后仍通过 MDM 求参数；那么直接让网络输出参数，会不会更好？如果更好，保留 MDM 这一步还有什么意义？所以这次把两条路线放到共享测试样本上比较，再检查这种差别是否随训练域和外推方向改变。这里先看结果，不预先假定保留 MDM 一定有优势。</a:t>
            </a:r>
          </a:p>
          <a:p/>
          <a:p>
            <a:r>
              <a:t>本部分分别检查域内未训练点和双侧域外点，再改变训练域宽度。基础训练资源共48,000个样本，包含内部验证；每个样本量单独训练，模型种子固定为42。两条神经路线虽然使用相同隐藏层和归一化输入形式，监督目标、验证选点和内部划分实现仍有差异，因此这里比较完整方案，不将风险差直接解释成MDM求解结构的净效应。本部分也不是复用Study01的折外模型来增加测试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已见网格指参数水平在训练中出现过，测试观测仍为独立新样本。域内未训练点是在原形状网格之间增加的新水平，结果说明优势没有局限在原网格点上。传统参照加入后域内排序不变。不过，新点只沿形状轴增加，不能由此推到任意三参数连续空间。$J_1$包含统一失败惩罚，成功子集误差另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A显示逐点风险，图B为Direct-P减去对应MDM的配对差，负值表示直接估计更好。灰色部分是训练域；A中实心是训练形状点，空心是新增点。B的误差线是条件于固定模型的95%配对bootstrap区间，两个标记略作水平错位以便阅读。左右两侧的风险趋势不同，因此“远域外平均表现”不足以描述外推边界，更不能笼统说域外全部反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看上排。两种预算下，训练窗口扩宽都伴随共同区间的参数误差上升。固定密度时，每个样本量的训练资源从4,500增至16,500，约为原来的3.67倍，仍存在局部代价。因此，单纯将现象解释为固定总量下的样本摊薄并不充分。图中只有冻结模型的点估计，没有跨重新训练的区间。旧的嵌套域实验同时改变中心，保留作补充，不与这里合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个表达说明，在给定训练分布和损失下，理想点决策也有其条件性。普通平方损失对应条件均值；这里的相对平方损失含真参数相关权重，对应加权折中。更大的网络可能降低逼近误差，更多数据也可能改善训练，但当前没有通过容量对照测定各部分贡献。因此可以说训练分布依赖是有依据的解释，不能说已经证明观察到的全部代价都不可消除，或者更大网络一定没有作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域内三个参数的边际误差得到改善，但这些收益传到寿命点后明显缩小。再回看上一张宽度图的下排，固定总量下扩宽窗口，$x_{0.90}$和$x_{0.95}$误差升高，$x_{0.99}$反而略降。这表明联合参数目标与各寿命量之间不是固定换算关系。位置参数的误差用真实尺度参数标准化，图中三个纵轴均明确表示RM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A与B是模拟统计，图C是解析诊断，两者证据性质不同。大形状区的误差方向与补偿解释一致，但混合相关还包含参数单元之间的差异。导数描述的是特定坐标下的局部敏感度，不是完整估计器曲率，也不能单独确定偏差方向。与旧汇报相比，这里保留有用解释，同时明确哪些还只是线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均值归一化与尺度还原使本方案具有比例缩放等变性，完整成对审计支持这一实现性质。它解决计量单位和同比例变化，却不会消除形状、位置尺度比分布或数据机制变化。样本量增加时两条路线都改善，相对差距收窄；各样本量使用独立模型，因此也不能直接推断更大样本量下的极限。可观测风险诊断目前只作探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二部分给出的是具体方案的条件性能与解释线索。下一部分把网络结构和数据协议在研究内部配对，集中研究监督目标。Study02的原始量纲输入、参数解码和训练设计与这里不同，因而它的P不是这里Direct-P结果的直接续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95%可靠度寿命点对应失效分布的5%分位点，不是95%置信下限。P是透明的参数恢复目标，三个标准化误差等系数相加；Q仍输出三个参数，但通过寿命公式回传误差。我们研究的是，最终任务改变以后，参数的作用和相互补偿怎样改变，以及是否需要额外限制参数偏离。</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的输入保留原始量纲，标准化只用当前训练折；不同于Research04的逐样本均值归一化。每条路线有480,000条预测，是48,000组样本在10个训练种子下的重复预测，不能说成48万个独立测试样本。主比较统一最多600轮、早停耐心60轮，但实际训练时间不同。原P/Q还同时改变了验证选点规则，稍后用补充对照把这一因素进一步拆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收益存在，但幅度温和。P本身已经能较好地估计插件寿命点，所以任务对齐带来的额外收益并不大。区间按照模型单元配对并保留种子和折次结构；由于训练集在折间重叠、种子数有限，属于当前设计下的经验近似。这里先确认目标点收益，下一页检查同一组三参数在其他使用量上是否也可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重点看子图 (a)、(c)、(d)。等寿命点曲面上，多组参数可以给出相同目标值；逐预测贡献分解则显示，这种可能性确实出现在Q的预测中。P的平均参数损失约0.0539，Q达到71.7；补偿指数从0.332升至0.915。局部秩一描述的是单点监督在输出误差空间留下的自由度，不能说成Weibull分布本身不可识别。子图 (b) 的验证可行性将在介绍QCP时解释。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个目标点相近，并不保证对应的分布形状相近。参数沿补偿方向移动以后，其他可靠度下的寿命点明显改变。这两个非目标点来自既有参数预测的事后机制分析，没有参与原Q训练。如果预测只用于一个目标值，参数补偿可以与低目标风险并存；但如果参数还要用于分布解释或其他寿命决策，就需要额外约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的j是样本量、折次和种子组成的模型单元，不是每个未知真参数组合。阈值和约束设置在对应阶段通过验证确定。200个选定QCP模型均满足验证集平均参数损失约束；这并不保证每一个测试样本的参数误差都低于阈值。真参数用于模拟监督与验证，训练完成后推理只需要寿命样本。真实应用中的主要问题是训练域与数据机制是否匹配，不能说每次推理都需要真参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CP相对Q在目标点再改善1.56%，在另外两个点改善28.42%和42.36%，主要价值体现在跨点退化的修复。补偿指数回到0.345，按P为参照计算，Q的超额补偿减少97.8%；这个比例属于机制指标，不是寿命精度提高97.8%。当前直接验证了三个寿命点，不能把结果说成已经恢复整条分布曲线或完成覆盖率验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新增对照说明原来的差异同时包含训练目标与验证选点作用。只改变P的选点准则已有0.757%的改善；统一按Q验证以后，Q训练仍保留1.322%的收益。另一方面，在重跑的原生Q轨迹中，仅靠筛选可行轮次没有得到模型。这个结论只针对当前阈值和原生早停轨迹，不能推广到所有更长训练或所有阈值。补充实验复用原有数据，不是独立新样本确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QP采用 $L_Q+L_P$，权重1.0来自早期验证筛选，按验证 $L_Q$ 选点，取得与QCP接近的结果。QCP的特点是能明确检查验证可行性，但还需要参考模型与约束求解成本。三点监督也显著缓解两个非目标点的退化，说明修复并非只有一条路线；不过本次等权设置的三个寿命点误差及参数恢复都弱于QP、QCP。因此，新增对照支持“参数恢复要求有作用”，而不支持“必须采用更复杂约束算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MSRE对较大误差更敏感，少数困难单元的大幅改善可以决定总体排序。102.6%超过100%，是因为其余单元合计抵消了一部分收益，不是统计错误。P在典型绝对误差上仍更好，QCP也有更高训练成本。组会结论应当是目标、参数解释和资源之间的取舍，而不是挑一个汇总指标宣布普遍赢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三部分现在的认识比原来更完整：不仅知道Q有收益、QCP能修复，还知道验证选点贡献了一部分差异，以及更简单的QP也能取得接近结果。这些结论限于固定尺度、同一参数网格内新样本和当前训练协议。变化尺度、独立新数据、完整分布或置信下限的评价，需要与各自目标相符的新证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前三项工作共同把“哪个方法更好”推进到“在什么条件和目标下更好”。第一部分已有清楚的内部选择依据，第二部分建立了条件性能边界，第三部分揭示了任务收益与参数解释的取舍。下一步优先补会改变判断的证据，并继续收敛中文论证与工程联系；本次汇报希望讨论的是这些工作的优先级，而不是继续堆积模型和实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第一部分是 MDM 方法中偏移量的自适应调整。这个工作之前已经汇报过，这次主要是论文整理得差不多了，再把问题、方法和结果简要捋一下。
第二部分是回应老师之前提出的一个问题：既然用了神经网络，是像第一部分这样，用网络优化 MDM 中的过程量，再通过 MDM 求参数，还是直接让网络估计参数？这一部分主要比较这两条路线。
第三部分进一步看直接参数估计。网络同样输出三个参数，但训练时是以参数估计准确为目标，还是以最终使用的分位点准确为目标？这里主要讲这两种目标带来的差别。</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这个工作之前讲过几次，这次主要把论文最后形成的逻辑和结果捋清楚。起点是 MDM 已有的经验偏移量 0.1。我们先问，换一个统一常数能不能更好；再看选择依据是否来自参数条件和样本差异，最后检验能不能做成实际可用的样本自适应方法。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首先做最直接的检查：把 26 个候选值都扫描一遍。当前参数域里的最低点是 0.06，但 0.1 的误差只比它高约 0.93%，所以更换统一常数带来的收益有限。右侧分解说明，偏移量在偏差与方差之间形成折中，并非越大越好。接下来就问：如果限定的参数空间发生变化，最佳统一偏移量是否也会改变？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想验证的是，最佳统一偏移量是否会随着参数空间改变。它本来就是在一个限定空间里求平均风险最低的值，所以我们固定窗口宽度，只移动位置，看最低点是否变化。结果确实变了，0.18到0.04是这次实验的具体表现。实际应用可能覆盖更大的空间，而大空间的汇总风险由其中各部分共同决定。既然不同子域的风险折中不同，扩大或移动覆盖范围后，原来的统一值就需要重新检查。接下来进一步问：能不能根据这些参数条件分别选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先看前五行。统一选择和按样本量选择，收益都比较小；知道形状参数等条件以后，收益明显增加。所以，不同参数条件确实对应不同的选择规则。但 L5 已经知道完整参数条件，为什么最后一行的逐样本选择还好很多？这就引出了样本本身的差异。</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L5 对同一真参数条件选一个统一值，L6 则看每个样本的实际损失。两者存在明显风险差，补充确认集上的选点一致率也只有约 12.6%。这说明，同一参数条件下仍存在样本差异。不过，L6 看到了实际应用中未知的真实损失，它只能说明事后选择空间，不能直接说明这些收益都能从可观测样本中学到。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这里沿每一列看同一个样本，横向比较同真值的不同样本。抽样改变了样本的间距和位置结构，也改变了 MDM 的搜索轨迹；偏移量是在这条路径上调整选解位置，因此不同样本可能需要不同的选择。诊断结果支持这种联系。到这里，问题就从找一个最佳常数，推进到能不能根据当前样本作选择。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前面的分析给出了按样本选择的动机，但实际拿不到真参数和真实损失。因此，我们在模拟阶段学习样本到候选损失曲线的映射，应用时只输入归一化排序样本，选择预测损失最低的偏移量，再由 MDM 估计参数。网络承担的是偏移量选择，是否有效还要看实际参数误差。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最终在位置尺度比水平留出的折外评价中，联合误差下降了 7.27%，四个样本量和三个参数的汇总 RMSE 都改善。这才是可观测样本能支持有效选择的直接证据。但仍有 35 个单元退化，而且输入表示筛选复用了这批评价数据，因此结论是选定方法在当前设计下的总体改善，冻结方法后的独立确认还需要补。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所以，这篇论文最后回答的是：经验偏移量的选择受参数域和本次样本共同影响；仅用当前样本预测候选损失，可以进一步改善 MDM 的参数估计，当前得到的改善是 7.27%。这就把最开始的经验取值问题，落到了有实验依据、也能实际执行的选择方法上。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这一部分主要回应老师上次提出的这个问题。第一部分已经用了神经网络，但最后仍通过 MDM 求参数；那么直接让网络输出参数，会不会更好？如果更好，保留 MDM 这一步还有什么意义？所以这次把两条路线放到共享测试样本上比较，再检查这种差别是否随训练域和外推方向改变。这里先看结果，不预先假定保留 MDM 一定有优势。
本部分分别检查域内未训练点和双侧域外点，再改变训练域宽度。基础训练资源共48,000个样本，包含内部验证；每个样本量单独训练，模型种子固定为42。两条神经路线虽然使用相同隐藏层和归一化输入形式，监督目标、验证选点和内部划分实现仍有差异，因此这里比较完整方案，不将风险差直接解释成MDM求解结构的净效应。本部分也不是复用Study01的折外模型来增加测试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已见网格指参数水平在训练中出现过，测试观测仍为独立新样本。域内未训练点是在原形状网格之间增加的新水平，结果说明优势没有局限在原网格点上。传统参照加入后域内排序不变。不过，新点只沿形状轴增加，不能由此推到任意三参数连续空间。$J_1$包含统一失败惩罚，成功子集误差另行报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A显示逐点风险，图B为Direct-P减去对应MDM的配对差，负值表示直接估计更好。灰色部分是训练域；A中实心是训练形状点，空心是新增点。B的误差线是条件于固定模型的95%配对bootstrap区间，两个标记略作水平错位以便阅读。左右两侧的风险趋势不同，因此“远域外平均表现”不足以描述外推边界，更不能笼统说域外全部反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看上排。两种预算下，训练窗口扩宽都伴随共同区间的参数误差上升。固定密度时，每个样本量的训练资源从4,500增至16,500，约为原来的3.67倍，仍存在局部代价。因此，单纯将现象解释为固定总量下的样本摊薄并不充分。图中只有冻结模型的点估计，没有跨重新训练的区间。旧的嵌套域实验同时改变中心，保留作补充，不与这里合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个表达说明，在给定训练分布和损失下，理想点决策也有其条件性。普通平方损失对应条件均值；这里的相对平方损失含真参数相关权重，对应加权折中。更大的网络可能降低逼近误差，更多数据也可能改善训练，但当前没有通过容量对照测定各部分贡献。因此可以说训练分布依赖是有依据的解释，不能说已经证明观察到的全部代价都不可消除，或者更大网络一定没有作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域内三个参数的边际误差得到改善，但这些收益传到寿命点后明显缩小。再回看上一张宽度图的下排，固定总量下扩宽窗口，$x_{0.90}$和$x_{0.95}$误差升高，$x_{0.99}$反而略降。这表明联合参数目标与各寿命量之间不是固定换算关系。位置参数的误差用真实尺度参数标准化，图中三个纵轴均明确表示RM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A与B是模拟统计，图C是解析诊断，两者证据性质不同。大形状区的误差方向与补偿解释一致，但混合相关还包含参数单元之间的差异。导数描述的是特定坐标下的局部敏感度，不是完整估计器曲率，也不能单独确定偏差方向。与旧汇报相比，这里保留有用解释，同时明确哪些还只是线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均值归一化与尺度还原使本方案具有比例缩放等变性，完整成对审计支持这一实现性质。它解决计量单位和同比例变化，却不会消除形状、位置尺度比分布或数据机制变化。样本量增加时两条路线都改善，相对差距收窄；各样本量使用独立模型，因此也不能直接推断更大样本量下的极限。可观测风险诊断目前只作探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二部分给出的是具体方案的条件性能与解释线索。下一部分把网络结构和数据协议在研究内部配对，集中研究监督目标。Study02的原始量纲输入、参数解码和训练设计与这里不同，因而它的P不是这里Direct-P结果的直接续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95%可靠度寿命点对应失效分布的5%分位点，不是95%置信下限。P是透明的参数恢复目标，三个标准化误差等系数相加；Q仍输出三个参数，但通过寿命公式回传误差。我们研究的是，最终任务改变以后，参数的作用和相互补偿怎样改变，以及是否需要额外限制参数偏离。</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的输入保留原始量纲，标准化只用当前训练折；不同于Research04的逐样本均值归一化。每条路线有480,000条预测，是48,000组样本在10个训练种子下的重复预测，不能说成48万个独立测试样本。主比较统一最多600轮、早停耐心60轮，但实际训练时间不同。原P/Q还同时改变了验证选点规则，稍后用补充对照把这一因素进一步拆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收益存在，但幅度温和。P本身已经能较好地估计插件寿命点，所以任务对齐带来的额外收益并不大。区间按照模型单元配对并保留种子和折次结构；由于训练集在折间重叠、种子数有限，属于当前设计下的经验近似。这里先确认目标点收益，下一页检查同一组三参数在其他使用量上是否也可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重点看子图 (a)、(c)、(d)。等寿命点曲面上，多组参数可以给出相同目标值；逐预测贡献分解则显示，这种可能性确实出现在Q的预测中。P的平均参数损失约0.0539，Q达到71.7；补偿指数从0.332升至0.915。局部秩一描述的是单点监督在输出误差空间留下的自由度，不能说成Weibull分布本身不可识别。子图 (b) 的验证可行性将在介绍QCP时解释。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个目标点相近，并不保证对应的分布形状相近。参数沿补偿方向移动以后，其他可靠度下的寿命点明显改变。这两个非目标点来自既有参数预测的事后机制分析，没有参与原Q训练。如果预测只用于一个目标值，参数补偿可以与低目标风险并存；但如果参数还要用于分布解释或其他寿命决策，就需要额外约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的j是样本量、折次和种子组成的模型单元，不是每个未知真参数组合。阈值和约束设置在对应阶段通过验证确定。200个选定QCP模型均满足验证集平均参数损失约束；这并不保证每一个测试样本的参数误差都低于阈值。真参数用于模拟监督与验证，训练完成后推理只需要寿命样本。真实应用中的主要问题是训练域与数据机制是否匹配，不能说每次推理都需要真参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CP相对Q在目标点再改善1.56%，在另外两个点改善28.42%和42.36%，主要价值体现在跨点退化的修复。补偿指数回到0.345，按P为参照计算，Q的超额补偿减少97.8%；这个比例属于机制指标，不是寿命精度提高97.8%。当前直接验证了三个寿命点，不能把结果说成已经恢复整条分布曲线或完成覆盖率验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新增对照说明原来的差异同时包含训练目标与验证选点作用。只改变P的选点准则已有0.757%的改善；统一按Q验证以后，Q训练仍保留1.322%的收益。另一方面，在重跑的原生Q轨迹中，仅靠筛选可行轮次没有得到模型。这个结论只针对当前阈值和原生早停轨迹，不能推广到所有更长训练或所有阈值。补充实验复用原有数据，不是独立新样本确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QP采用 $L_Q+L_P$，权重1.0来自早期验证筛选，按验证 $L_Q$ 选点，取得与QCP接近的结果。QCP的特点是能明确检查验证可行性，但还需要参考模型与约束求解成本。三点监督也显著缓解两个非目标点的退化，说明修复并非只有一条路线；不过本次等权设置的三个寿命点误差及参数恢复都弱于QP、QCP。因此，新增对照支持“参数恢复要求有作用”，而不支持“必须采用更复杂约束算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MSRE对较大误差更敏感，少数困难单元的大幅改善可以决定总体排序。102.6%超过100%，是因为其余单元合计抵消了一部分收益，不是统计错误。P在典型绝对误差上仍更好，QCP也有更高训练成本。组会结论应当是目标、参数解释和资源之间的取舍，而不是挑一个汇总指标宣布普遍赢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三部分现在的认识比原来更完整：不仅知道Q有收益、QCP能修复，还知道验证选点贡献了一部分差异，以及更简单的QP也能取得接近结果。这些结论限于固定尺度、同一参数网格内新样本和当前训练协议。变化尺度、独立新数据、完整分布或置信下限的评价，需要与各自目标相符的新证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目前三项工作共同把“哪个方法更好”推进到“在什么条件和目标下更好”。第一部分已有清楚的内部选择依据，第二部分建立了条件性能边界，第三部分揭示了任务收益与参数解释的取舍。下一步优先补会改变判断的证据，并继续收敛中文论证与工程联系；本次汇报希望讨论的是这些工作的优先级，而不是继续堆积模型和实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2.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3.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4.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7.png"/></Relationships>
</file>

<file path=ppt/slides/_rels/slide5.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8.png"/></Relationships>
</file>

<file path=ppt/slides/_rels/slide6.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9.png"/></Relationships>
</file>

<file path=ppt/slides/_rels/slide7.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0.png"/></Relationships>
</file>

<file path=ppt/slides/_rels/slide8.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2.png"/></Relationships>
</file>

<file path=ppt/slides/_rels/slide9.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0.png"/></Relationships>
</file>

<file path=ppt/slides/_rels/slide10.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1.png"/></Relationships>
</file>

<file path=ppt/slides/_rels/slide11.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2.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3.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4.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3.png"/></Relationships>
</file>

<file path=ppt/slides/_rels/slide15.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4.png"/></Relationships>
</file>

<file path=ppt/slides/_rels/slide16.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5.png"/></Relationships>
</file>

<file path=ppt/slides/_rels/slide17.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6.png"/></Relationships>
</file>

<file path=ppt/slides/_rels/slide18.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7.png"/></Relationships>
</file>

<file path=ppt/slides/_rels/slide19.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20.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21.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22.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21.png"/></Relationships>
</file>

<file path=ppt/slides/_rels/slide23.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24.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26.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24.png"/></Relationships>
</file>

<file path=ppt/slides/_rels/slide27.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25.png"/></Relationships>
</file>

<file path=ppt/slides/_rels/slide28.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29.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30.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26.png"/></Relationships>
</file>

<file path=ppt/slides/_rels/slide31.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32.xml.rel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800" i="0" u="none" cap="none">
                <a:ln>
                  <a:noFill/>
                </a:ln>
                <a:solidFill>
                  <a:schemeClr val="tx1"/>
                </a:solidFill>
                <a:latin typeface="汉仪文润宋韵 U"/>
                <a:ea typeface="汉仪文润宋韵 U"/>
                <a:cs typeface="汉仪文润宋韵 U"/>
              </a:rPr>
              <a:t>汇报人：魏鹏宇</a:t>
            </a: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400" spc="300" dirty="0">
                <a:solidFill>
                  <a:schemeClr val="tx1"/>
                </a:solidFill>
                <a:latin typeface="汉仪文润宋韵 U"/>
                <a:ea typeface="汉仪文润宋韵 U"/>
                <a:cs typeface="汉仪文润宋韵 U"/>
              </a:rPr>
              <a:t>2026.09</a:t>
            </a:r>
            <a:r>
              <a:rPr lang="en-US" sz="2400" spc="300" dirty="0">
                <a:solidFill>
                  <a:schemeClr val="tx1"/>
                </a:solidFill>
                <a:latin typeface="汉仪文润宋韵 U"/>
                <a:ea typeface="汉仪文润宋韵 U"/>
                <a:cs typeface="汉仪文润宋韵 U"/>
              </a:rPr>
              <a:t>.7</a:t>
            </a:r>
            <a:endParaRPr sz="24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sz="2800" b="1" i="0" u="none" cap="none" spc="0">
                <a:ln>
                  <a:noFill/>
                </a:ln>
                <a:solidFill>
                  <a:srgbClr val="FFFFFF"/>
                </a:solidFill>
                <a:latin typeface="汉仪文润宋韵 U"/>
                <a:ea typeface="汉仪文润宋韵 U"/>
                <a:cs typeface="汉仪文润宋韵 U"/>
              </a:rPr>
              <a:t>三大抽样分布与小样本估计
神经网络在 MDM 方法与直接参数估计中的研究</a:t>
            </a: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汇报目录</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汇报安排</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2-4">
            <a:extLst>
              <a:ext uri="{FF2B5EF4-FFF2-40B4-BE49-F238E27FC236}">
                <a16:creationId xmlns:a16="http://schemas.microsoft.com/office/drawing/2014/main" id="{1FEEDF1A-D2F3-48A5-B4B8-33F2E256EC2D}"/>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 / 32</a:t>
            </a:r>
          </a:p>
        </p:txBody>
      </p:sp>
      <p:sp>
        <p:nvSpPr>
          <p:cNvPr id="8" name="TextBox 7"/>
          <p:cNvSpPr txBox="1"/>
          <p:nvPr/>
        </p:nvSpPr>
        <p:spPr>
          <a:xfrm>
            <a:off x="640080" y="1691640"/>
            <a:ext cx="10972800" cy="502920"/>
          </a:xfrm>
          <a:prstGeom prst="rect">
            <a:avLst/>
          </a:prstGeom>
          <a:noFill/>
        </p:spPr>
        <p:txBody>
          <a:bodyPr wrap="none">
            <a:spAutoFit/>
          </a:bodyPr>
          <a:lstStyle/>
          <a:p>
            <a:r>
              <a:rPr sz="2400">
                <a:solidFill>
                  <a:srgbClr val="154F8C"/>
                </a:solidFill>
                <a:latin typeface="Microsoft YaHei"/>
              </a:rPr>
              <a:t>第一部分：MDM 方法中偏移量的自适应调整</a:t>
            </a:r>
          </a:p>
        </p:txBody>
      </p:sp>
      <p:sp>
        <p:nvSpPr>
          <p:cNvPr id="9" name="TextBox 8"/>
          <p:cNvSpPr txBox="1"/>
          <p:nvPr/>
        </p:nvSpPr>
        <p:spPr>
          <a:xfrm>
            <a:off x="868680" y="2240280"/>
            <a:ext cx="10424160" cy="594360"/>
          </a:xfrm>
          <a:prstGeom prst="rect">
            <a:avLst/>
          </a:prstGeom>
          <a:noFill/>
        </p:spPr>
        <p:txBody>
          <a:bodyPr wrap="none">
            <a:spAutoFit/>
          </a:bodyPr>
          <a:lstStyle/>
          <a:p>
            <a:r>
              <a:rPr sz="2100">
                <a:solidFill>
                  <a:srgbClr val="222222"/>
                </a:solidFill>
                <a:latin typeface="Microsoft YaHei"/>
              </a:rPr>
              <a:t>回顾论文的逻辑、已有实验和最终答案。</a:t>
            </a:r>
          </a:p>
        </p:txBody>
      </p:sp>
      <p:sp>
        <p:nvSpPr>
          <p:cNvPr id="10" name="TextBox 9"/>
          <p:cNvSpPr txBox="1"/>
          <p:nvPr/>
        </p:nvSpPr>
        <p:spPr>
          <a:xfrm>
            <a:off x="640080" y="3017520"/>
            <a:ext cx="10972800" cy="502920"/>
          </a:xfrm>
          <a:prstGeom prst="rect">
            <a:avLst/>
          </a:prstGeom>
          <a:noFill/>
        </p:spPr>
        <p:txBody>
          <a:bodyPr wrap="none">
            <a:spAutoFit/>
          </a:bodyPr>
          <a:lstStyle/>
          <a:p>
            <a:r>
              <a:rPr sz="2400">
                <a:solidFill>
                  <a:srgbClr val="154F8C"/>
                </a:solidFill>
                <a:latin typeface="Microsoft YaHei"/>
              </a:rPr>
              <a:t>第二部分：直接参数估计与过程量优化的比较</a:t>
            </a:r>
          </a:p>
        </p:txBody>
      </p:sp>
      <p:sp>
        <p:nvSpPr>
          <p:cNvPr id="11" name="TextBox 10"/>
          <p:cNvSpPr txBox="1"/>
          <p:nvPr/>
        </p:nvSpPr>
        <p:spPr>
          <a:xfrm>
            <a:off x="868680" y="3566160"/>
            <a:ext cx="10424160" cy="594360"/>
          </a:xfrm>
          <a:prstGeom prst="rect">
            <a:avLst/>
          </a:prstGeom>
          <a:noFill/>
        </p:spPr>
        <p:txBody>
          <a:bodyPr wrap="none">
            <a:spAutoFit/>
          </a:bodyPr>
          <a:lstStyle/>
          <a:p>
            <a:r>
              <a:rPr sz="2100">
                <a:solidFill>
                  <a:srgbClr val="222222"/>
                </a:solidFill>
                <a:latin typeface="Microsoft YaHei"/>
              </a:rPr>
              <a:t>回应老师：直接估计若更好，优化 MDM 还有什么意义？</a:t>
            </a:r>
          </a:p>
        </p:txBody>
      </p:sp>
      <p:sp>
        <p:nvSpPr>
          <p:cNvPr id="12" name="TextBox 11"/>
          <p:cNvSpPr txBox="1"/>
          <p:nvPr/>
        </p:nvSpPr>
        <p:spPr>
          <a:xfrm>
            <a:off x="640080" y="4343400"/>
            <a:ext cx="10972800" cy="502920"/>
          </a:xfrm>
          <a:prstGeom prst="rect">
            <a:avLst/>
          </a:prstGeom>
          <a:noFill/>
        </p:spPr>
        <p:txBody>
          <a:bodyPr wrap="none">
            <a:spAutoFit/>
          </a:bodyPr>
          <a:lstStyle/>
          <a:p>
            <a:r>
              <a:rPr sz="2400">
                <a:solidFill>
                  <a:srgbClr val="154F8C"/>
                </a:solidFill>
                <a:latin typeface="Microsoft YaHei"/>
              </a:rPr>
              <a:t>第三部分：直接估计中的参数目标与分位点目标</a:t>
            </a:r>
          </a:p>
        </p:txBody>
      </p:sp>
      <p:sp>
        <p:nvSpPr>
          <p:cNvPr id="13" name="TextBox 12"/>
          <p:cNvSpPr txBox="1"/>
          <p:nvPr/>
        </p:nvSpPr>
        <p:spPr>
          <a:xfrm>
            <a:off x="868680" y="4892040"/>
            <a:ext cx="10424160" cy="594360"/>
          </a:xfrm>
          <a:prstGeom prst="rect">
            <a:avLst/>
          </a:prstGeom>
          <a:noFill/>
        </p:spPr>
        <p:txBody>
          <a:bodyPr wrap="none">
            <a:spAutoFit/>
          </a:bodyPr>
          <a:lstStyle/>
          <a:p>
            <a:r>
              <a:rPr sz="2100">
                <a:solidFill>
                  <a:srgbClr val="222222"/>
                </a:solidFill>
                <a:latin typeface="Microsoft YaHei"/>
              </a:rPr>
              <a:t>比较以参数准确或目标分位点准确为训练目标的差别。</a:t>
            </a:r>
          </a:p>
        </p:txBody>
      </p:sp>
    </p:spTree>
    <p:extLst>
      <p:ext uri="{BB962C8B-B14F-4D97-AF65-F5344CB8AC3E}">
        <p14:creationId xmlns:p14="http://schemas.microsoft.com/office/powerpoint/2010/main" val="766793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核心问题：经验偏移量怎样进一步选择？</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3-4">
            <a:extLst>
              <a:ext uri="{FF2B5EF4-FFF2-40B4-BE49-F238E27FC236}">
                <a16:creationId xmlns:a16="http://schemas.microsoft.com/office/drawing/2014/main" id="{D3281064-3139-440D-BA85-813898CD4014}"/>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3 / 32</a:t>
            </a:r>
          </a:p>
        </p:txBody>
      </p:sp>
      <p:sp>
        <p:nvSpPr>
          <p:cNvPr id="8" name="TextBox 7"/>
          <p:cNvSpPr txBox="1"/>
          <p:nvPr/>
        </p:nvSpPr>
        <p:spPr>
          <a:xfrm>
            <a:off x="731520" y="1828800"/>
            <a:ext cx="10698480" cy="731520"/>
          </a:xfrm>
          <a:prstGeom prst="rect">
            <a:avLst/>
          </a:prstGeom>
          <a:noFill/>
        </p:spPr>
        <p:txBody>
          <a:bodyPr wrap="none">
            <a:spAutoFit/>
          </a:bodyPr>
          <a:lstStyle/>
          <a:p>
            <a:r>
              <a:rPr sz="2600">
                <a:solidFill>
                  <a:srgbClr val="222222"/>
                </a:solidFill>
                <a:latin typeface="Microsoft YaHei"/>
              </a:rPr>
              <a:t>已有 MDM 用经验偏移量 δ = 0.1 改善小样本估计。</a:t>
            </a:r>
          </a:p>
        </p:txBody>
      </p:sp>
      <p:sp>
        <p:nvSpPr>
          <p:cNvPr id="9" name="TextBox 8"/>
          <p:cNvSpPr txBox="1"/>
          <p:nvPr/>
        </p:nvSpPr>
        <p:spPr>
          <a:xfrm>
            <a:off x="731520" y="2926080"/>
            <a:ext cx="10698480" cy="1371600"/>
          </a:xfrm>
          <a:prstGeom prst="rect">
            <a:avLst/>
          </a:prstGeom>
          <a:noFill/>
        </p:spPr>
        <p:txBody>
          <a:bodyPr wrap="none">
            <a:spAutoFit/>
          </a:bodyPr>
          <a:lstStyle/>
          <a:p>
            <a:r>
              <a:rPr sz="2700">
                <a:solidFill>
                  <a:srgbClr val="154F8C"/>
                </a:solidFill>
                <a:latin typeface="Microsoft YaHei"/>
              </a:rPr>
              <a:t>这个经验值在什么条件下合适？</a:t>
            </a:r>
          </a:p>
          <a:p>
            <a:r>
              <a:rPr sz="2700">
                <a:solidFill>
                  <a:srgbClr val="154F8C"/>
                </a:solidFill>
                <a:latin typeface="Microsoft YaHei"/>
              </a:rPr>
              <a:t>真参数未知时，能否根据当前样本进一步选择偏移量？</a:t>
            </a:r>
          </a:p>
        </p:txBody>
      </p:sp>
      <p:sp>
        <p:nvSpPr>
          <p:cNvPr id="10" name="TextBox 9"/>
          <p:cNvSpPr txBox="1"/>
          <p:nvPr/>
        </p:nvSpPr>
        <p:spPr>
          <a:xfrm>
            <a:off x="731520" y="4846320"/>
            <a:ext cx="10698480" cy="731520"/>
          </a:xfrm>
          <a:prstGeom prst="rect">
            <a:avLst/>
          </a:prstGeom>
          <a:noFill/>
        </p:spPr>
        <p:txBody>
          <a:bodyPr wrap="none">
            <a:spAutoFit/>
          </a:bodyPr>
          <a:lstStyle/>
          <a:p>
            <a:r>
              <a:rPr sz="2100">
                <a:solidFill>
                  <a:srgbClr val="222222"/>
                </a:solidFill>
                <a:latin typeface="Microsoft YaHei"/>
              </a:rPr>
              <a:t>先检查统一取值，再研究参数条件与样本差异，最后验证可执行的选择方法。</a:t>
            </a:r>
          </a:p>
        </p:txBody>
      </p:sp>
    </p:spTree>
    <p:extLst>
      <p:ext uri="{BB962C8B-B14F-4D97-AF65-F5344CB8AC3E}">
        <p14:creationId xmlns:p14="http://schemas.microsoft.com/office/powerpoint/2010/main" val="16705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能否找到一个比 0.1 更好的统一偏移量？</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4-4">
            <a:extLst>
              <a:ext uri="{FF2B5EF4-FFF2-40B4-BE49-F238E27FC236}">
                <a16:creationId xmlns:a16="http://schemas.microsoft.com/office/drawing/2014/main" id="{AD6172CB-136D-4540-8469-29F423AF4112}"/>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4 / 32</a:t>
            </a:r>
          </a:p>
        </p:txBody>
      </p:sp>
      <p:pic>
        <p:nvPicPr>
          <p:cNvPr id="15" name="图片 14"/>
          <p:cNvPicPr>
            <a:picLocks noChangeAspect="1"/>
          </p:cNvPicPr>
          <p:nvPr/>
        </p:nvPicPr>
        <p:blipFill>
          <a:blip r:embed="rId3"/>
          <a:stretch/>
        </p:blipFill>
        <p:spPr>
          <a:xfrm>
            <a:off x="1895281" y="1810139"/>
            <a:ext cx="8401439" cy="3809222"/>
          </a:xfrm>
          <a:prstGeom prst="rect">
            <a:avLst/>
          </a:prstGeom>
        </p:spPr>
      </p:pic>
      <p:sp>
        <p:nvSpPr>
          <p:cNvPr id="9" name="content-weibull20260906s04-5">
            <a:extLst>
              <a:ext uri="{FF2B5EF4-FFF2-40B4-BE49-F238E27FC236}">
                <a16:creationId xmlns:a16="http://schemas.microsoft.com/office/drawing/2014/main" id="{47786A51-ED34-4C09-8764-371114F8F203}"/>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当前宽混合域中，更换统一常数的收益有限。</a:t>
            </a:r>
          </a:p>
        </p:txBody>
      </p:sp>
    </p:spTree>
    <p:extLst>
      <p:ext uri="{BB962C8B-B14F-4D97-AF65-F5344CB8AC3E}">
        <p14:creationId xmlns:p14="http://schemas.microsoft.com/office/powerpoint/2010/main" val="339590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参数空间改变时，最佳统一偏移量是否也会改变？</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5-4">
            <a:extLst>
              <a:ext uri="{FF2B5EF4-FFF2-40B4-BE49-F238E27FC236}">
                <a16:creationId xmlns:a16="http://schemas.microsoft.com/office/drawing/2014/main" id="{0A3E2724-0CB1-44DB-AD7B-3A1302A5D7F0}"/>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5 / 32</a:t>
            </a:r>
          </a:p>
        </p:txBody>
      </p:sp>
      <p:pic>
        <p:nvPicPr>
          <p:cNvPr id="15" name="图片 14"/>
          <p:cNvPicPr>
            <a:picLocks noChangeAspect="1"/>
          </p:cNvPicPr>
          <p:nvPr/>
        </p:nvPicPr>
        <p:blipFill>
          <a:blip r:embed="rId3"/>
          <a:stretch/>
        </p:blipFill>
        <p:spPr>
          <a:xfrm>
            <a:off x="4412199" y="1905000"/>
            <a:ext cx="3367602" cy="3619500"/>
          </a:xfrm>
          <a:prstGeom prst="rect">
            <a:avLst/>
          </a:prstGeom>
        </p:spPr>
      </p:pic>
      <p:sp>
        <p:nvSpPr>
          <p:cNvPr id="9" name="content-weibull20260906s05-5">
            <a:extLst>
              <a:ext uri="{FF2B5EF4-FFF2-40B4-BE49-F238E27FC236}">
                <a16:creationId xmlns:a16="http://schemas.microsoft.com/office/drawing/2014/main" id="{807521AA-ABAE-4A5C-ABE2-53A2D5FC3C54}"/>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参数空间改变会影响风险折中；覆盖范围改变后需重新评价统一值。</a:t>
            </a:r>
          </a:p>
        </p:txBody>
      </p:sp>
    </p:spTree>
    <p:extLst>
      <p:ext uri="{BB962C8B-B14F-4D97-AF65-F5344CB8AC3E}">
        <p14:creationId xmlns:p14="http://schemas.microsoft.com/office/powerpoint/2010/main" val="103882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按参数条件选择，能改善多少？</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6-4">
            <a:extLst>
              <a:ext uri="{FF2B5EF4-FFF2-40B4-BE49-F238E27FC236}">
                <a16:creationId xmlns:a16="http://schemas.microsoft.com/office/drawing/2014/main" id="{C03BFF81-7FF5-46F6-9991-931E331CF904}"/>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6 / 32</a:t>
            </a:r>
          </a:p>
        </p:txBody>
      </p:sp>
      <p:pic>
        <p:nvPicPr>
          <p:cNvPr id="15" name="图片 14"/>
          <p:cNvPicPr>
            <a:picLocks noChangeAspect="1"/>
          </p:cNvPicPr>
          <p:nvPr/>
        </p:nvPicPr>
        <p:blipFill>
          <a:blip r:embed="rId3"/>
          <a:stretch/>
        </p:blipFill>
        <p:spPr>
          <a:xfrm>
            <a:off x="2880812" y="1714500"/>
            <a:ext cx="6430376" cy="4000500"/>
          </a:xfrm>
          <a:prstGeom prst="rect">
            <a:avLst/>
          </a:prstGeom>
        </p:spPr>
      </p:pic>
      <p:sp>
        <p:nvSpPr>
          <p:cNvPr id="9" name="content-weibull20260906s06-5">
            <a:extLst>
              <a:ext uri="{FF2B5EF4-FFF2-40B4-BE49-F238E27FC236}">
                <a16:creationId xmlns:a16="http://schemas.microsoft.com/office/drawing/2014/main" id="{C60A2E01-7010-4884-8B52-550360B71969}"/>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参数条件提供更多选择空间，但尚未利用逐样本差异。</a:t>
            </a:r>
          </a:p>
        </p:txBody>
      </p:sp>
    </p:spTree>
    <p:extLst>
      <p:ext uri="{BB962C8B-B14F-4D97-AF65-F5344CB8AC3E}">
        <p14:creationId xmlns:p14="http://schemas.microsoft.com/office/powerpoint/2010/main" val="795532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真参数相同，不同样本是否仍需要不同偏移量？</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7-4">
            <a:extLst>
              <a:ext uri="{FF2B5EF4-FFF2-40B4-BE49-F238E27FC236}">
                <a16:creationId xmlns:a16="http://schemas.microsoft.com/office/drawing/2014/main" id="{75D55094-FDDA-4408-92B1-30F8B1DC89D2}"/>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7 / 32</a:t>
            </a:r>
          </a:p>
        </p:txBody>
      </p:sp>
      <p:sp>
        <p:nvSpPr>
          <p:cNvPr id="8" name="TextBox 7"/>
          <p:cNvSpPr txBox="1"/>
          <p:nvPr/>
        </p:nvSpPr>
        <p:spPr>
          <a:xfrm>
            <a:off x="731520" y="1737360"/>
            <a:ext cx="10698480" cy="1188720"/>
          </a:xfrm>
          <a:prstGeom prst="rect">
            <a:avLst/>
          </a:prstGeom>
          <a:noFill/>
        </p:spPr>
        <p:txBody>
          <a:bodyPr wrap="none">
            <a:spAutoFit/>
          </a:bodyPr>
          <a:lstStyle/>
          <a:p>
            <a:r>
              <a:rPr sz="2500">
                <a:solidFill>
                  <a:srgbClr val="222222"/>
                </a:solidFill>
                <a:latin typeface="Microsoft YaHei"/>
              </a:rPr>
              <a:t>L5：同一参数条件共用一个偏移量</a:t>
            </a:r>
          </a:p>
          <a:p>
            <a:r>
              <a:rPr sz="2500">
                <a:solidFill>
                  <a:srgbClr val="222222"/>
                </a:solidFill>
                <a:latin typeface="Microsoft YaHei"/>
              </a:rPr>
              <a:t>L6：查看每个样本的真实候选损失，再逐样本选点</a:t>
            </a:r>
          </a:p>
        </p:txBody>
      </p:sp>
      <p:sp>
        <p:nvSpPr>
          <p:cNvPr id="9" name="TextBox 8"/>
          <p:cNvSpPr txBox="1"/>
          <p:nvPr/>
        </p:nvSpPr>
        <p:spPr>
          <a:xfrm>
            <a:off x="731520" y="3246120"/>
            <a:ext cx="10698480" cy="1097280"/>
          </a:xfrm>
          <a:prstGeom prst="rect">
            <a:avLst/>
          </a:prstGeom>
          <a:noFill/>
        </p:spPr>
        <p:txBody>
          <a:bodyPr wrap="none">
            <a:spAutoFit/>
          </a:bodyPr>
          <a:lstStyle/>
          <a:p>
            <a:r>
              <a:rPr sz="2700">
                <a:solidFill>
                  <a:srgbClr val="154F8C"/>
                </a:solidFill>
                <a:latin typeface="Microsoft YaHei"/>
              </a:rPr>
              <a:t>相对固定 0.1 的误差降幅：7.79% → 21.91%</a:t>
            </a:r>
          </a:p>
          <a:p>
            <a:r>
              <a:rPr sz="2700">
                <a:solidFill>
                  <a:srgbClr val="154F8C"/>
                </a:solidFill>
                <a:latin typeface="Microsoft YaHei"/>
              </a:rPr>
              <a:t>补充确认集的 L5 / L6 选点一致率：12.56%</a:t>
            </a:r>
          </a:p>
        </p:txBody>
      </p:sp>
      <p:sp>
        <p:nvSpPr>
          <p:cNvPr id="10" name="TextBox 9"/>
          <p:cNvSpPr txBox="1"/>
          <p:nvPr/>
        </p:nvSpPr>
        <p:spPr>
          <a:xfrm>
            <a:off x="731520" y="4892040"/>
            <a:ext cx="10698480" cy="868680"/>
          </a:xfrm>
          <a:prstGeom prst="rect">
            <a:avLst/>
          </a:prstGeom>
          <a:noFill/>
        </p:spPr>
        <p:txBody>
          <a:bodyPr wrap="none">
            <a:spAutoFit/>
          </a:bodyPr>
          <a:lstStyle/>
          <a:p>
            <a:r>
              <a:rPr sz="2100">
                <a:solidFill>
                  <a:srgbClr val="222222"/>
                </a:solidFill>
                <a:latin typeface="Microsoft YaHei"/>
              </a:rPr>
              <a:t>参数条件平均规则不能描述全部样本差异。L6 是事后参照，尚不代表这些收益都能学到。</a:t>
            </a:r>
          </a:p>
        </p:txBody>
      </p:sp>
    </p:spTree>
    <p:extLst>
      <p:ext uri="{BB962C8B-B14F-4D97-AF65-F5344CB8AC3E}">
        <p14:creationId xmlns:p14="http://schemas.microsoft.com/office/powerpoint/2010/main" val="1911983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样本差异为什么会改变低风险偏移量？</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9-4">
            <a:extLst>
              <a:ext uri="{FF2B5EF4-FFF2-40B4-BE49-F238E27FC236}">
                <a16:creationId xmlns:a16="http://schemas.microsoft.com/office/drawing/2014/main" id="{5561D0AA-8709-4479-8F80-6D419FFC1DDD}"/>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8 / 32</a:t>
            </a:r>
          </a:p>
        </p:txBody>
      </p:sp>
      <p:pic>
        <p:nvPicPr>
          <p:cNvPr id="15" name="图片 14"/>
          <p:cNvPicPr>
            <a:picLocks noChangeAspect="1"/>
          </p:cNvPicPr>
          <p:nvPr/>
        </p:nvPicPr>
        <p:blipFill>
          <a:blip r:embed="rId3"/>
          <a:stretch/>
        </p:blipFill>
        <p:spPr>
          <a:xfrm>
            <a:off x="2865739" y="1667588"/>
            <a:ext cx="6460522" cy="4094323"/>
          </a:xfrm>
          <a:prstGeom prst="rect">
            <a:avLst/>
          </a:prstGeom>
        </p:spPr>
      </p:pic>
      <p:sp>
        <p:nvSpPr>
          <p:cNvPr id="9" name="content-weibull20260906s09-5">
            <a:extLst>
              <a:ext uri="{FF2B5EF4-FFF2-40B4-BE49-F238E27FC236}">
                <a16:creationId xmlns:a16="http://schemas.microsoft.com/office/drawing/2014/main" id="{42EF93BC-A148-4380-BD0D-7C09A23A5310}"/>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样本结构伴随搜索路径和低风险选点变化，支持按样本调整的动机。</a:t>
            </a:r>
          </a:p>
        </p:txBody>
      </p:sp>
    </p:spTree>
    <p:extLst>
      <p:ext uri="{BB962C8B-B14F-4D97-AF65-F5344CB8AC3E}">
        <p14:creationId xmlns:p14="http://schemas.microsoft.com/office/powerpoint/2010/main" val="402322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只有观测样本时，怎样实现这种选择？</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7-4">
            <a:extLst>
              <a:ext uri="{FF2B5EF4-FFF2-40B4-BE49-F238E27FC236}">
                <a16:creationId xmlns:a16="http://schemas.microsoft.com/office/drawing/2014/main" id="{75D55094-FDDA-4408-92B1-30F8B1DC89D2}"/>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9 / 32</a:t>
            </a:r>
          </a:p>
        </p:txBody>
      </p:sp>
      <p:pic>
        <p:nvPicPr>
          <p:cNvPr id="19" name="图片 18"/>
          <p:cNvPicPr>
            <a:picLocks noChangeAspect="1"/>
          </p:cNvPicPr>
          <p:nvPr/>
        </p:nvPicPr>
        <p:blipFill>
          <a:blip r:embed="rId3"/>
          <a:stretch/>
        </p:blipFill>
        <p:spPr>
          <a:xfrm>
            <a:off x="4208993" y="1810574"/>
            <a:ext cx="6536264" cy="3903602"/>
          </a:xfrm>
          <a:prstGeom prst="rect">
            <a:avLst/>
          </a:prstGeom>
        </p:spPr>
      </p:pic>
      <p:sp>
        <p:nvSpPr>
          <p:cNvPr id="9" name="content-weibull20260906s07-5">
            <a:extLst>
              <a:ext uri="{FF2B5EF4-FFF2-40B4-BE49-F238E27FC236}">
                <a16:creationId xmlns:a16="http://schemas.microsoft.com/office/drawing/2014/main" id="{0E65D5E2-9DD7-4776-924A-EE4E687DC7CD}"/>
              </a:ext>
            </a:extLst>
          </p:cNvPr>
          <p:cNvSpPr>
            <a:spLocks noGrp="1"/>
          </p:cNvSpPr>
          <p:nvPr/>
        </p:nvSpPr>
        <p:spPr>
          <a:xfrm>
            <a:off x="571500" y="2190750"/>
            <a:ext cx="2714625" cy="66675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每个 n 单独训练</a:t>
            </a:r>
          </a:p>
        </p:txBody>
      </p:sp>
      <p:sp>
        <p:nvSpPr>
          <p:cNvPr id="10" name="content-weibull20260906s07-6">
            <a:extLst>
              <a:ext uri="{FF2B5EF4-FFF2-40B4-BE49-F238E27FC236}">
                <a16:creationId xmlns:a16="http://schemas.microsoft.com/office/drawing/2014/main" id="{AF59F237-9CF6-4FED-9B2F-D7521C6DC8C5}"/>
              </a:ext>
            </a:extLst>
          </p:cNvPr>
          <p:cNvSpPr>
            <a:spLocks noGrp="1"/>
          </p:cNvSpPr>
          <p:nvPr/>
        </p:nvSpPr>
        <p:spPr>
          <a:xfrm>
            <a:off x="571500" y="2952750"/>
            <a:ext cx="2714625" cy="66675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26 点候选损失</a:t>
            </a:r>
          </a:p>
        </p:txBody>
      </p:sp>
      <p:sp>
        <p:nvSpPr>
          <p:cNvPr id="11" name="content-weibull20260906s07-7">
            <a:extLst>
              <a:ext uri="{FF2B5EF4-FFF2-40B4-BE49-F238E27FC236}">
                <a16:creationId xmlns:a16="http://schemas.microsoft.com/office/drawing/2014/main" id="{8A5C9534-90F8-4C13-BEBB-44D7912074D4}"/>
              </a:ext>
            </a:extLst>
          </p:cNvPr>
          <p:cNvSpPr>
            <a:spLocks noGrp="1"/>
          </p:cNvSpPr>
          <p:nvPr/>
        </p:nvSpPr>
        <p:spPr>
          <a:xfrm>
            <a:off x="571500" y="3714750"/>
            <a:ext cx="2714625" cy="66675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δ = 0～0.50</a:t>
            </a:r>
          </a:p>
        </p:txBody>
      </p:sp>
      <p:sp>
        <p:nvSpPr>
          <p:cNvPr id="12" name="content-weibull20260906s07-8">
            <a:extLst>
              <a:ext uri="{FF2B5EF4-FFF2-40B4-BE49-F238E27FC236}">
                <a16:creationId xmlns:a16="http://schemas.microsoft.com/office/drawing/2014/main" id="{1BBAA0C6-AA8E-4C9D-ABEF-9C16BEED0772}"/>
              </a:ext>
            </a:extLst>
          </p:cNvPr>
          <p:cNvSpPr>
            <a:spLocks noGrp="1"/>
          </p:cNvSpPr>
          <p:nvPr/>
        </p:nvSpPr>
        <p:spPr>
          <a:xfrm>
            <a:off x="571500" y="4476750"/>
            <a:ext cx="2714625" cy="66675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推理仅需寿命样本</a:t>
            </a:r>
          </a:p>
        </p:txBody>
      </p:sp>
      <p:sp>
        <p:nvSpPr>
          <p:cNvPr id="13" name="content-weibull20260906s07-9">
            <a:extLst>
              <a:ext uri="{FF2B5EF4-FFF2-40B4-BE49-F238E27FC236}">
                <a16:creationId xmlns:a16="http://schemas.microsoft.com/office/drawing/2014/main" id="{5E825C58-D0B5-48DE-B652-5F17BD0F59B2}"/>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推理只用观测样本；效果由折外参数误差验证。</a:t>
            </a:r>
          </a:p>
        </p:txBody>
      </p:sp>
    </p:spTree>
    <p:extLst>
      <p:ext uri="{BB962C8B-B14F-4D97-AF65-F5344CB8AC3E}">
        <p14:creationId xmlns:p14="http://schemas.microsoft.com/office/powerpoint/2010/main" val="191198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样本自适应选择是否真的降低了误差？</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08-4">
            <a:extLst>
              <a:ext uri="{FF2B5EF4-FFF2-40B4-BE49-F238E27FC236}">
                <a16:creationId xmlns:a16="http://schemas.microsoft.com/office/drawing/2014/main" id="{88E91372-1795-48FC-910F-9B66FFC9E58D}"/>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10 / 32</a:t>
            </a:r>
          </a:p>
        </p:txBody>
      </p:sp>
      <p:pic>
        <p:nvPicPr>
          <p:cNvPr id="19" name="图片 18"/>
          <p:cNvPicPr>
            <a:picLocks noChangeAspect="1"/>
          </p:cNvPicPr>
          <p:nvPr/>
        </p:nvPicPr>
        <p:blipFill>
          <a:blip r:embed="rId3"/>
          <a:stretch/>
        </p:blipFill>
        <p:spPr>
          <a:xfrm>
            <a:off x="4112100" y="1880644"/>
            <a:ext cx="7206301" cy="3858712"/>
          </a:xfrm>
          <a:prstGeom prst="rect">
            <a:avLst/>
          </a:prstGeom>
        </p:spPr>
      </p:pic>
      <p:sp>
        <p:nvSpPr>
          <p:cNvPr id="9" name="content-weibull20260906s08-5">
            <a:extLst>
              <a:ext uri="{FF2B5EF4-FFF2-40B4-BE49-F238E27FC236}">
                <a16:creationId xmlns:a16="http://schemas.microsoft.com/office/drawing/2014/main" id="{584E9438-48E6-4449-A8A1-8772E8D0CFBF}"/>
              </a:ext>
            </a:extLst>
          </p:cNvPr>
          <p:cNvSpPr>
            <a:spLocks noGrp="1"/>
          </p:cNvSpPr>
          <p:nvPr/>
        </p:nvSpPr>
        <p:spPr>
          <a:xfrm>
            <a:off x="571500" y="2000250"/>
            <a:ext cx="3095625" cy="714375"/>
          </a:xfrm>
          <a:prstGeom prst="rect">
            <a:avLst/>
          </a:prstGeom>
          <a:noFill/>
          <a:ln w="0">
            <a:noFill/>
          </a:ln>
        </p:spPr>
        <p:txBody>
          <a:bodyPr wrap="square" lIns="0" tIns="0" rIns="0" bIns="0" anchor="t">
            <a:noAutofit/>
          </a:bodyPr>
          <a:lstStyle/>
          <a:p>
            <a:pPr algn="l">
              <a:defRPr sz="2100" b="0">
                <a:solidFill>
                  <a:srgbClr val="161616"/>
                </a:solidFill>
                <a:latin typeface="汉仪粗宋简"/>
                <a:ea typeface="汉仪粗宋简"/>
                <a:cs typeface="汉仪粗宋简"/>
              </a:defRPr>
            </a:pPr>
            <a:r>
              <a:rPr sz="2100" b="0">
                <a:solidFill>
                  <a:srgbClr val="161616"/>
                </a:solidFill>
                <a:latin typeface="汉仪粗宋简"/>
                <a:ea typeface="汉仪粗宋简"/>
                <a:cs typeface="汉仪粗宋简"/>
              </a:rPr>
              <a:t>48,000 个测试样本</a:t>
            </a:r>
          </a:p>
        </p:txBody>
      </p:sp>
      <p:sp>
        <p:nvSpPr>
          <p:cNvPr id="10" name="content-weibull20260906s08-6">
            <a:extLst>
              <a:ext uri="{FF2B5EF4-FFF2-40B4-BE49-F238E27FC236}">
                <a16:creationId xmlns:a16="http://schemas.microsoft.com/office/drawing/2014/main" id="{F5D8F083-703D-4D52-9D2D-D41BE2223E61}"/>
              </a:ext>
            </a:extLst>
          </p:cNvPr>
          <p:cNvSpPr>
            <a:spLocks noGrp="1"/>
          </p:cNvSpPr>
          <p:nvPr/>
        </p:nvSpPr>
        <p:spPr>
          <a:xfrm>
            <a:off x="571500" y="2809875"/>
            <a:ext cx="3095625" cy="714375"/>
          </a:xfrm>
          <a:prstGeom prst="rect">
            <a:avLst/>
          </a:prstGeom>
          <a:noFill/>
          <a:ln w="0">
            <a:noFill/>
          </a:ln>
        </p:spPr>
        <p:txBody>
          <a:bodyPr wrap="square" lIns="0" tIns="0" rIns="0" bIns="0" anchor="t">
            <a:noAutofit/>
          </a:bodyPr>
          <a:lstStyle/>
          <a:p>
            <a:pPr algn="l">
              <a:defRPr sz="2100" b="0">
                <a:solidFill>
                  <a:srgbClr val="161616"/>
                </a:solidFill>
                <a:latin typeface="汉仪粗宋简"/>
                <a:ea typeface="汉仪粗宋简"/>
                <a:cs typeface="汉仪粗宋简"/>
              </a:defRPr>
            </a:pPr>
            <a:r>
              <a:rPr sz="2100" b="0">
                <a:solidFill>
                  <a:srgbClr val="161616"/>
                </a:solidFill>
                <a:latin typeface="汉仪粗宋简"/>
                <a:ea typeface="汉仪粗宋简"/>
                <a:cs typeface="汉仪粗宋简"/>
              </a:rPr>
              <a:t>J₁：0.6304 → 0.5846</a:t>
            </a:r>
          </a:p>
        </p:txBody>
      </p:sp>
      <p:sp>
        <p:nvSpPr>
          <p:cNvPr id="11" name="content-weibull20260906s08-7">
            <a:extLst>
              <a:ext uri="{FF2B5EF4-FFF2-40B4-BE49-F238E27FC236}">
                <a16:creationId xmlns:a16="http://schemas.microsoft.com/office/drawing/2014/main" id="{FCAB370E-4542-4E63-BE34-92845C3A5258}"/>
              </a:ext>
            </a:extLst>
          </p:cNvPr>
          <p:cNvSpPr>
            <a:spLocks noGrp="1"/>
          </p:cNvSpPr>
          <p:nvPr/>
        </p:nvSpPr>
        <p:spPr>
          <a:xfrm>
            <a:off x="571500" y="3619500"/>
            <a:ext cx="3095625" cy="714375"/>
          </a:xfrm>
          <a:prstGeom prst="rect">
            <a:avLst/>
          </a:prstGeom>
          <a:noFill/>
          <a:ln w="0">
            <a:noFill/>
          </a:ln>
        </p:spPr>
        <p:txBody>
          <a:bodyPr wrap="square" lIns="0" tIns="0" rIns="0" bIns="0" anchor="t">
            <a:noAutofit/>
          </a:bodyPr>
          <a:lstStyle/>
          <a:p>
            <a:pPr algn="l">
              <a:defRPr sz="2100" b="0">
                <a:solidFill>
                  <a:srgbClr val="161616"/>
                </a:solidFill>
                <a:latin typeface="汉仪粗宋简"/>
                <a:ea typeface="汉仪粗宋简"/>
                <a:cs typeface="汉仪粗宋简"/>
              </a:defRPr>
            </a:pPr>
            <a:r>
              <a:rPr sz="2100" b="0">
                <a:solidFill>
                  <a:srgbClr val="161616"/>
                </a:solidFill>
                <a:latin typeface="汉仪粗宋简"/>
                <a:ea typeface="汉仪粗宋简"/>
                <a:cs typeface="汉仪粗宋简"/>
              </a:rPr>
              <a:t>95% 区间</a:t>
            </a:r>
          </a:p>
          <a:p>
            <a:pPr algn="l">
              <a:defRPr sz="2100" b="0">
                <a:solidFill>
                  <a:srgbClr val="161616"/>
                </a:solidFill>
                <a:latin typeface="汉仪粗宋简"/>
                <a:ea typeface="汉仪粗宋简"/>
                <a:cs typeface="汉仪粗宋简"/>
              </a:defRPr>
            </a:pPr>
            <a:r>
              <a:rPr sz="2100" b="0">
                <a:solidFill>
                  <a:srgbClr val="161616"/>
                </a:solidFill>
                <a:latin typeface="汉仪粗宋简"/>
                <a:ea typeface="汉仪粗宋简"/>
                <a:cs typeface="汉仪粗宋简"/>
              </a:rPr>
              <a:t>6.94%～7.64%</a:t>
            </a:r>
          </a:p>
        </p:txBody>
      </p:sp>
      <p:sp>
        <p:nvSpPr>
          <p:cNvPr id="12" name="content-weibull20260906s08-8">
            <a:extLst>
              <a:ext uri="{FF2B5EF4-FFF2-40B4-BE49-F238E27FC236}">
                <a16:creationId xmlns:a16="http://schemas.microsoft.com/office/drawing/2014/main" id="{A3F2D0AB-83CC-4528-8FEF-757E5E17AB06}"/>
              </a:ext>
            </a:extLst>
          </p:cNvPr>
          <p:cNvSpPr>
            <a:spLocks noGrp="1"/>
          </p:cNvSpPr>
          <p:nvPr/>
        </p:nvSpPr>
        <p:spPr>
          <a:xfrm>
            <a:off x="571500" y="4429125"/>
            <a:ext cx="3095625" cy="714375"/>
          </a:xfrm>
          <a:prstGeom prst="rect">
            <a:avLst/>
          </a:prstGeom>
          <a:noFill/>
          <a:ln w="0">
            <a:noFill/>
          </a:ln>
        </p:spPr>
        <p:txBody>
          <a:bodyPr wrap="square" lIns="0" tIns="0" rIns="0" bIns="0" anchor="t">
            <a:noAutofit/>
          </a:bodyPr>
          <a:lstStyle/>
          <a:p>
            <a:pPr algn="l">
              <a:defRPr sz="2100" b="0">
                <a:solidFill>
                  <a:srgbClr val="161616"/>
                </a:solidFill>
                <a:latin typeface="汉仪粗宋简"/>
                <a:ea typeface="汉仪粗宋简"/>
                <a:cs typeface="汉仪粗宋简"/>
              </a:defRPr>
            </a:pPr>
            <a:r>
              <a:rPr sz="2100" b="0">
                <a:solidFill>
                  <a:srgbClr val="161616"/>
                </a:solidFill>
                <a:latin typeface="汉仪粗宋简"/>
                <a:ea typeface="汉仪粗宋简"/>
                <a:cs typeface="汉仪粗宋简"/>
              </a:rPr>
              <a:t>125 / 160 单元改善</a:t>
            </a:r>
          </a:p>
        </p:txBody>
      </p:sp>
      <p:sp>
        <p:nvSpPr>
          <p:cNvPr id="13" name="content-weibull20260906s08-9">
            <a:extLst>
              <a:ext uri="{FF2B5EF4-FFF2-40B4-BE49-F238E27FC236}">
                <a16:creationId xmlns:a16="http://schemas.microsoft.com/office/drawing/2014/main" id="{52F80AF3-43F9-4F72-9CAC-3CC97880E925}"/>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当前设计下总体参数精度改善；冻结方法后的独立确认仍待补充。</a:t>
            </a:r>
          </a:p>
        </p:txBody>
      </p:sp>
    </p:spTree>
    <p:extLst>
      <p:ext uri="{BB962C8B-B14F-4D97-AF65-F5344CB8AC3E}">
        <p14:creationId xmlns:p14="http://schemas.microsoft.com/office/powerpoint/2010/main" val="1078649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最后得到什么答案？</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第一部分：MDM 方法中偏移量的自适应调整</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1-4">
            <a:extLst>
              <a:ext uri="{FF2B5EF4-FFF2-40B4-BE49-F238E27FC236}">
                <a16:creationId xmlns:a16="http://schemas.microsoft.com/office/drawing/2014/main" id="{76A23F00-45BF-4554-B9C2-905AAFF73618}"/>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11 / 32</a:t>
            </a:r>
          </a:p>
        </p:txBody>
      </p:sp>
      <p:sp>
        <p:nvSpPr>
          <p:cNvPr id="8" name="TextBox 7"/>
          <p:cNvSpPr txBox="1"/>
          <p:nvPr/>
        </p:nvSpPr>
        <p:spPr>
          <a:xfrm>
            <a:off x="731520" y="1828800"/>
            <a:ext cx="10698480" cy="731520"/>
          </a:xfrm>
          <a:prstGeom prst="rect">
            <a:avLst/>
          </a:prstGeom>
          <a:noFill/>
        </p:spPr>
        <p:txBody>
          <a:bodyPr wrap="none">
            <a:spAutoFit/>
          </a:bodyPr>
          <a:lstStyle/>
          <a:p>
            <a:r>
              <a:rPr sz="2600">
                <a:solidFill>
                  <a:srgbClr val="222222"/>
                </a:solidFill>
                <a:latin typeface="Microsoft YaHei"/>
              </a:rPr>
              <a:t>统一偏移量取决于参数域及其风险折中。</a:t>
            </a:r>
          </a:p>
        </p:txBody>
      </p:sp>
      <p:sp>
        <p:nvSpPr>
          <p:cNvPr id="9" name="TextBox 8"/>
          <p:cNvSpPr txBox="1"/>
          <p:nvPr/>
        </p:nvSpPr>
        <p:spPr>
          <a:xfrm>
            <a:off x="731520" y="2788920"/>
            <a:ext cx="10698480" cy="731520"/>
          </a:xfrm>
          <a:prstGeom prst="rect">
            <a:avLst/>
          </a:prstGeom>
          <a:noFill/>
        </p:spPr>
        <p:txBody>
          <a:bodyPr wrap="none">
            <a:spAutoFit/>
          </a:bodyPr>
          <a:lstStyle/>
          <a:p>
            <a:r>
              <a:rPr sz="2600">
                <a:solidFill>
                  <a:srgbClr val="222222"/>
                </a:solidFill>
                <a:latin typeface="Microsoft YaHei"/>
              </a:rPr>
              <a:t>同真值样本也存在不同的低风险选点。</a:t>
            </a:r>
          </a:p>
        </p:txBody>
      </p:sp>
      <p:sp>
        <p:nvSpPr>
          <p:cNvPr id="10" name="TextBox 9"/>
          <p:cNvSpPr txBox="1"/>
          <p:nvPr/>
        </p:nvSpPr>
        <p:spPr>
          <a:xfrm>
            <a:off x="731520" y="3749039"/>
            <a:ext cx="10698480" cy="731520"/>
          </a:xfrm>
          <a:prstGeom prst="rect">
            <a:avLst/>
          </a:prstGeom>
          <a:noFill/>
        </p:spPr>
        <p:txBody>
          <a:bodyPr wrap="none">
            <a:spAutoFit/>
          </a:bodyPr>
          <a:lstStyle/>
          <a:p>
            <a:r>
              <a:rPr sz="2600">
                <a:solidFill>
                  <a:srgbClr val="222222"/>
                </a:solidFill>
                <a:latin typeface="Microsoft YaHei"/>
              </a:rPr>
              <a:t>样本预测候选损失，使联合参数误差下降 7.27%。</a:t>
            </a:r>
          </a:p>
        </p:txBody>
      </p:sp>
      <p:sp>
        <p:nvSpPr>
          <p:cNvPr id="11" name="TextBox 10"/>
          <p:cNvSpPr txBox="1"/>
          <p:nvPr/>
        </p:nvSpPr>
        <p:spPr>
          <a:xfrm>
            <a:off x="731520" y="5029200"/>
            <a:ext cx="10698480" cy="822960"/>
          </a:xfrm>
          <a:prstGeom prst="rect">
            <a:avLst/>
          </a:prstGeom>
          <a:noFill/>
        </p:spPr>
        <p:txBody>
          <a:bodyPr wrap="none">
            <a:spAutoFit/>
          </a:bodyPr>
          <a:lstStyle/>
          <a:p>
            <a:r>
              <a:rPr sz="2000">
                <a:solidFill>
                  <a:srgbClr val="154F8C"/>
                </a:solidFill>
                <a:latin typeface="Microsoft YaHei"/>
              </a:rPr>
              <a:t>结论限于当前设计下的总体改善；部分单元退化，寿命点收益也不一致。</a:t>
            </a:r>
          </a:p>
        </p:txBody>
      </p:sp>
    </p:spTree>
    <p:extLst>
      <p:ext uri="{BB962C8B-B14F-4D97-AF65-F5344CB8AC3E}">
        <p14:creationId xmlns:p14="http://schemas.microsoft.com/office/powerpoint/2010/main" val="378540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回应老师上次的问题：直接估计更好，还需要优化 MDM 吗？</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2-4">
            <a:extLst>
              <a:ext uri="{FF2B5EF4-FFF2-40B4-BE49-F238E27FC236}">
                <a16:creationId xmlns:a16="http://schemas.microsoft.com/office/drawing/2014/main" id="{7151744D-6D46-455B-A44F-F3716EB849EB}"/>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12 / 32</a:t>
            </a:r>
          </a:p>
        </p:txBody>
      </p:sp>
      <p:sp>
        <p:nvSpPr>
          <p:cNvPr id="8" name="TextBox 7"/>
          <p:cNvSpPr txBox="1"/>
          <p:nvPr/>
        </p:nvSpPr>
        <p:spPr>
          <a:xfrm>
            <a:off x="685800" y="1691640"/>
            <a:ext cx="10698480" cy="548640"/>
          </a:xfrm>
          <a:prstGeom prst="rect">
            <a:avLst/>
          </a:prstGeom>
          <a:noFill/>
        </p:spPr>
        <p:txBody>
          <a:bodyPr wrap="none">
            <a:spAutoFit/>
          </a:bodyPr>
          <a:lstStyle/>
          <a:p>
            <a:r>
              <a:rPr sz="2400">
                <a:solidFill>
                  <a:srgbClr val="154F8C"/>
                </a:solidFill>
                <a:latin typeface="Microsoft YaHei"/>
              </a:rPr>
              <a:t>老师您上回问：</a:t>
            </a:r>
          </a:p>
        </p:txBody>
      </p:sp>
      <p:sp>
        <p:nvSpPr>
          <p:cNvPr id="9" name="TextBox 8"/>
          <p:cNvSpPr txBox="1"/>
          <p:nvPr/>
        </p:nvSpPr>
        <p:spPr>
          <a:xfrm>
            <a:off x="685800" y="2331720"/>
            <a:ext cx="10698480" cy="1143000"/>
          </a:xfrm>
          <a:prstGeom prst="rect">
            <a:avLst/>
          </a:prstGeom>
          <a:noFill/>
        </p:spPr>
        <p:txBody>
          <a:bodyPr wrap="none">
            <a:spAutoFit/>
          </a:bodyPr>
          <a:lstStyle/>
          <a:p>
            <a:r>
              <a:rPr sz="2700">
                <a:solidFill>
                  <a:srgbClr val="222222"/>
                </a:solidFill>
                <a:latin typeface="Microsoft YaHei"/>
              </a:rPr>
              <a:t>直接估计参数，与神经网络优化 MDM 相比怎么样？</a:t>
            </a:r>
          </a:p>
          <a:p>
            <a:r>
              <a:rPr sz="2700">
                <a:solidFill>
                  <a:srgbClr val="222222"/>
                </a:solidFill>
                <a:latin typeface="Microsoft YaHei"/>
              </a:rPr>
              <a:t>如果直接估计更好，优化 MDM 还有什么意义？</a:t>
            </a:r>
          </a:p>
        </p:txBody>
      </p:sp>
      <p:sp>
        <p:nvSpPr>
          <p:cNvPr id="10" name="TextBox 9"/>
          <p:cNvSpPr txBox="1"/>
          <p:nvPr/>
        </p:nvSpPr>
        <p:spPr>
          <a:xfrm>
            <a:off x="685800" y="3794760"/>
            <a:ext cx="10698480" cy="1143000"/>
          </a:xfrm>
          <a:prstGeom prst="rect">
            <a:avLst/>
          </a:prstGeom>
          <a:noFill/>
        </p:spPr>
        <p:txBody>
          <a:bodyPr wrap="none">
            <a:spAutoFit/>
          </a:bodyPr>
          <a:lstStyle/>
          <a:p>
            <a:r>
              <a:rPr sz="2200">
                <a:solidFill>
                  <a:srgbClr val="222222"/>
                </a:solidFill>
                <a:latin typeface="Microsoft YaHei"/>
              </a:rPr>
              <a:t>共享测试样本比较：Direct-P、自适应 MDM、固定 MDM-0.1、WMLE、LSE。</a:t>
            </a:r>
          </a:p>
          <a:p>
            <a:r>
              <a:rPr sz="2200">
                <a:solidFill>
                  <a:srgbClr val="222222"/>
                </a:solidFill>
                <a:latin typeface="Microsoft YaHei"/>
              </a:rPr>
              <a:t>训练 β ∈ [1.5,5]，测试扩展至 [0.75,5.75]，共126,000组样本。</a:t>
            </a:r>
          </a:p>
        </p:txBody>
      </p:sp>
      <p:sp>
        <p:nvSpPr>
          <p:cNvPr id="11" name="TextBox 10"/>
          <p:cNvSpPr txBox="1"/>
          <p:nvPr/>
        </p:nvSpPr>
        <p:spPr>
          <a:xfrm>
            <a:off x="685800" y="5349240"/>
            <a:ext cx="10698480" cy="548640"/>
          </a:xfrm>
          <a:prstGeom prst="rect">
            <a:avLst/>
          </a:prstGeom>
          <a:noFill/>
        </p:spPr>
        <p:txBody>
          <a:bodyPr wrap="none">
            <a:spAutoFit/>
          </a:bodyPr>
          <a:lstStyle/>
          <a:p>
            <a:r>
              <a:rPr sz="2000">
                <a:solidFill>
                  <a:srgbClr val="154F8C"/>
                </a:solidFill>
                <a:latin typeface="Microsoft YaHei"/>
              </a:rPr>
              <a:t>先比较完整方案，再检查域内、外推与训练覆盖条件下的差别。</a:t>
            </a:r>
          </a:p>
        </p:txBody>
      </p:sp>
    </p:spTree>
    <p:extLst>
      <p:ext uri="{BB962C8B-B14F-4D97-AF65-F5344CB8AC3E}">
        <p14:creationId xmlns:p14="http://schemas.microsoft.com/office/powerpoint/2010/main" val="750844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Direct-P在域内未训练形状点上仍保持优势</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3-4">
            <a:extLst>
              <a:ext uri="{FF2B5EF4-FFF2-40B4-BE49-F238E27FC236}">
                <a16:creationId xmlns:a16="http://schemas.microsoft.com/office/drawing/2014/main" id="{B1F3C25E-4569-45F8-B5FD-1919955C5B6C}"/>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13 / 32</a:t>
            </a:r>
          </a:p>
        </p:txBody>
      </p:sp>
      <p:graphicFrame>
        <p:nvGraphicFramePr>
          <p:cNvPr id="15" name="表格 14"/>
          <p:cNvGraphicFramePr/>
          <p:nvPr/>
        </p:nvGraphicFramePr>
        <p:xfrm>
          <a:off x="619125" y="1809750"/>
          <a:ext cx="10906125" cy="3381378"/>
        </p:xfrm>
        <a:graphic>
          <a:graphicData uri="http://schemas.openxmlformats.org/drawingml/2006/table">
            <a:tbl>
              <a:tblPr/>
              <a:tblGrid>
                <a:gridCol w="45720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563563">
                <a:tc>
                  <a:txBody>
                    <a:bodyPr/>
                    <a:lstStyle/>
                    <a:p>
                      <a:pPr algn="l"/>
                      <a:r>
                        <a:rPr sz="2100" b="1">
                          <a:solidFill>
                            <a:srgbClr val="FFFFFF"/>
                          </a:solidFill>
                          <a:latin typeface="汉仪粗宋简"/>
                          <a:ea typeface="汉仪粗宋简"/>
                          <a:cs typeface="汉仪粗宋简"/>
                        </a:rPr>
                        <a:t>方案</a:t>
                      </a:r>
                    </a:p>
                  </a:txBody>
                  <a:tcPr anchor="ctr">
                    <a:solidFill>
                      <a:srgbClr val="315DA7"/>
                    </a:solidFill>
                  </a:tcPr>
                </a:tc>
                <a:tc>
                  <a:txBody>
                    <a:bodyPr/>
                    <a:lstStyle/>
                    <a:p>
                      <a:pPr algn="ctr"/>
                      <a:r>
                        <a:rPr sz="2100" b="1">
                          <a:solidFill>
                            <a:srgbClr val="FFFFFF"/>
                          </a:solidFill>
                          <a:latin typeface="汉仪粗宋简"/>
                          <a:ea typeface="汉仪粗宋简"/>
                          <a:cs typeface="汉仪粗宋简"/>
                        </a:rPr>
                        <a:t>已见网格 J₁</a:t>
                      </a:r>
                    </a:p>
                  </a:txBody>
                  <a:tcPr anchor="ctr">
                    <a:solidFill>
                      <a:srgbClr val="315DA7"/>
                    </a:solidFill>
                  </a:tcPr>
                </a:tc>
                <a:tc>
                  <a:txBody>
                    <a:bodyPr/>
                    <a:lstStyle/>
                    <a:p>
                      <a:pPr algn="ctr"/>
                      <a:r>
                        <a:rPr sz="2100" b="1">
                          <a:solidFill>
                            <a:srgbClr val="FFFFFF"/>
                          </a:solidFill>
                          <a:latin typeface="汉仪粗宋简"/>
                          <a:ea typeface="汉仪粗宋简"/>
                          <a:cs typeface="汉仪粗宋简"/>
                        </a:rPr>
                        <a:t>域内未训练点 J₁</a:t>
                      </a:r>
                    </a:p>
                  </a:txBody>
                  <a:tcPr anchor="ctr">
                    <a:solidFill>
                      <a:srgbClr val="315DA7"/>
                    </a:solidFill>
                  </a:tcPr>
                </a:tc>
                <a:extLst>
                  <a:ext uri="{0D108BD9-81ED-4DB2-BD59-A6C34878D82A}">
                    <a16:rowId xmlns:a16="http://schemas.microsoft.com/office/drawing/2014/main" val="10000"/>
                  </a:ext>
                </a:extLst>
              </a:tr>
              <a:tr h="563563">
                <a:tc>
                  <a:txBody>
                    <a:bodyPr/>
                    <a:lstStyle/>
                    <a:p>
                      <a:pPr algn="l"/>
                      <a:r>
                        <a:rPr sz="2100" b="0">
                          <a:solidFill>
                            <a:srgbClr val="161616"/>
                          </a:solidFill>
                          <a:latin typeface="汉仪粗宋简"/>
                          <a:ea typeface="汉仪粗宋简"/>
                          <a:cs typeface="汉仪粗宋简"/>
                        </a:rPr>
                        <a:t>Direct-P</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0.3658</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0.3532</a:t>
                      </a:r>
                    </a:p>
                  </a:txBody>
                  <a:tcPr anchor="ctr">
                    <a:solidFill>
                      <a:srgbClr val="FFFFFF"/>
                    </a:solidFill>
                  </a:tcPr>
                </a:tc>
                <a:extLst>
                  <a:ext uri="{0D108BD9-81ED-4DB2-BD59-A6C34878D82A}">
                    <a16:rowId xmlns:a16="http://schemas.microsoft.com/office/drawing/2014/main" val="10001"/>
                  </a:ext>
                </a:extLst>
              </a:tr>
              <a:tr h="563563">
                <a:tc>
                  <a:txBody>
                    <a:bodyPr/>
                    <a:lstStyle/>
                    <a:p>
                      <a:pPr algn="l"/>
                      <a:r>
                        <a:rPr sz="2100" b="0">
                          <a:solidFill>
                            <a:srgbClr val="161616"/>
                          </a:solidFill>
                          <a:latin typeface="汉仪粗宋简"/>
                          <a:ea typeface="汉仪粗宋简"/>
                          <a:cs typeface="汉仪粗宋简"/>
                        </a:rPr>
                        <a:t>自适应 MDM</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0.5696</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0.5648</a:t>
                      </a:r>
                    </a:p>
                  </a:txBody>
                  <a:tcPr anchor="ctr">
                    <a:solidFill>
                      <a:srgbClr val="FFFFFF"/>
                    </a:solidFill>
                  </a:tcPr>
                </a:tc>
                <a:extLst>
                  <a:ext uri="{0D108BD9-81ED-4DB2-BD59-A6C34878D82A}">
                    <a16:rowId xmlns:a16="http://schemas.microsoft.com/office/drawing/2014/main" val="10002"/>
                  </a:ext>
                </a:extLst>
              </a:tr>
              <a:tr h="563563">
                <a:tc>
                  <a:txBody>
                    <a:bodyPr/>
                    <a:lstStyle/>
                    <a:p>
                      <a:pPr algn="l"/>
                      <a:r>
                        <a:rPr sz="2100" b="0">
                          <a:solidFill>
                            <a:srgbClr val="161616"/>
                          </a:solidFill>
                          <a:latin typeface="汉仪粗宋简"/>
                          <a:ea typeface="汉仪粗宋简"/>
                          <a:cs typeface="汉仪粗宋简"/>
                        </a:rPr>
                        <a:t>固定 MDM-0.1</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0.6285</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0.6202</a:t>
                      </a:r>
                    </a:p>
                  </a:txBody>
                  <a:tcPr anchor="ctr">
                    <a:solidFill>
                      <a:srgbClr val="FFFFFF"/>
                    </a:solidFill>
                  </a:tcPr>
                </a:tc>
                <a:extLst>
                  <a:ext uri="{0D108BD9-81ED-4DB2-BD59-A6C34878D82A}">
                    <a16:rowId xmlns:a16="http://schemas.microsoft.com/office/drawing/2014/main" val="10003"/>
                  </a:ext>
                </a:extLst>
              </a:tr>
              <a:tr h="563563">
                <a:tc>
                  <a:txBody>
                    <a:bodyPr/>
                    <a:lstStyle/>
                    <a:p>
                      <a:pPr algn="l"/>
                      <a:r>
                        <a:rPr sz="2100" b="0">
                          <a:solidFill>
                            <a:srgbClr val="161616"/>
                          </a:solidFill>
                          <a:latin typeface="汉仪粗宋简"/>
                          <a:ea typeface="汉仪粗宋简"/>
                          <a:cs typeface="汉仪粗宋简"/>
                        </a:rPr>
                        <a:t>WMLE</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0.7731</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0.7721</a:t>
                      </a:r>
                    </a:p>
                  </a:txBody>
                  <a:tcPr anchor="ctr">
                    <a:solidFill>
                      <a:srgbClr val="FFFFFF"/>
                    </a:solidFill>
                  </a:tcPr>
                </a:tc>
                <a:extLst>
                  <a:ext uri="{0D108BD9-81ED-4DB2-BD59-A6C34878D82A}">
                    <a16:rowId xmlns:a16="http://schemas.microsoft.com/office/drawing/2014/main" val="10004"/>
                  </a:ext>
                </a:extLst>
              </a:tr>
              <a:tr h="563563">
                <a:tc>
                  <a:txBody>
                    <a:bodyPr/>
                    <a:lstStyle/>
                    <a:p>
                      <a:pPr algn="l"/>
                      <a:r>
                        <a:rPr sz="2100" b="0">
                          <a:solidFill>
                            <a:srgbClr val="161616"/>
                          </a:solidFill>
                          <a:latin typeface="汉仪粗宋简"/>
                          <a:ea typeface="汉仪粗宋简"/>
                          <a:cs typeface="汉仪粗宋简"/>
                        </a:rPr>
                        <a:t>LSE</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0.8793</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0.8843</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content-weibull20260906s13-5">
            <a:extLst>
              <a:ext uri="{FF2B5EF4-FFF2-40B4-BE49-F238E27FC236}">
                <a16:creationId xmlns:a16="http://schemas.microsoft.com/office/drawing/2014/main" id="{2AC0FBDD-8677-48A4-95E6-74CCC615489D}"/>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95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直接估计在当前域内比较中更准确，优势不只出现在原网格点。</a:t>
            </a:r>
          </a:p>
        </p:txBody>
      </p:sp>
    </p:spTree>
    <p:extLst>
      <p:ext uri="{BB962C8B-B14F-4D97-AF65-F5344CB8AC3E}">
        <p14:creationId xmlns:p14="http://schemas.microsoft.com/office/powerpoint/2010/main" val="2010395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外推具有方向性：低侧反转，高侧仍有优势</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4-4">
            <a:extLst>
              <a:ext uri="{FF2B5EF4-FFF2-40B4-BE49-F238E27FC236}">
                <a16:creationId xmlns:a16="http://schemas.microsoft.com/office/drawing/2014/main" id="{1EDBAE78-87A0-48B7-8880-450C1886839E}"/>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14 / 32</a:t>
            </a:r>
          </a:p>
        </p:txBody>
      </p:sp>
      <p:pic>
        <p:nvPicPr>
          <p:cNvPr id="15" name="图片 14"/>
          <p:cNvPicPr>
            <a:picLocks noChangeAspect="1"/>
          </p:cNvPicPr>
          <p:nvPr/>
        </p:nvPicPr>
        <p:blipFill>
          <a:blip r:embed="rId3"/>
          <a:stretch/>
        </p:blipFill>
        <p:spPr>
          <a:xfrm>
            <a:off x="1811190" y="1714500"/>
            <a:ext cx="8569619" cy="4000500"/>
          </a:xfrm>
          <a:prstGeom prst="rect">
            <a:avLst/>
          </a:prstGeom>
        </p:spPr>
      </p:pic>
      <p:sp>
        <p:nvSpPr>
          <p:cNvPr id="9" name="content-weibull20260906s14-5">
            <a:extLst>
              <a:ext uri="{FF2B5EF4-FFF2-40B4-BE49-F238E27FC236}">
                <a16:creationId xmlns:a16="http://schemas.microsoft.com/office/drawing/2014/main" id="{F44731CA-5040-4023-A962-80B5A1F0F334}"/>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外推具有方向性，不能概括为域外全部反转。</a:t>
            </a:r>
          </a:p>
        </p:txBody>
      </p:sp>
    </p:spTree>
    <p:extLst>
      <p:ext uri="{BB962C8B-B14F-4D97-AF65-F5344CB8AC3E}">
        <p14:creationId xmlns:p14="http://schemas.microsoft.com/office/powerpoint/2010/main" val="1981622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扩大训练覆盖，在共同区间付出局部参数精度代价</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5-4">
            <a:extLst>
              <a:ext uri="{FF2B5EF4-FFF2-40B4-BE49-F238E27FC236}">
                <a16:creationId xmlns:a16="http://schemas.microsoft.com/office/drawing/2014/main" id="{69A5A734-9D81-4944-9E5E-6FEFF6CB582E}"/>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15 / 32</a:t>
            </a:r>
          </a:p>
        </p:txBody>
      </p:sp>
      <p:pic>
        <p:nvPicPr>
          <p:cNvPr id="18" name="图片 17"/>
          <p:cNvPicPr>
            <a:picLocks noChangeAspect="1"/>
          </p:cNvPicPr>
          <p:nvPr/>
        </p:nvPicPr>
        <p:blipFill>
          <a:blip r:embed="rId3"/>
          <a:stretch/>
        </p:blipFill>
        <p:spPr>
          <a:xfrm>
            <a:off x="4610447" y="1666875"/>
            <a:ext cx="6114355" cy="4143375"/>
          </a:xfrm>
          <a:prstGeom prst="rect">
            <a:avLst/>
          </a:prstGeom>
        </p:spPr>
      </p:pic>
      <p:sp>
        <p:nvSpPr>
          <p:cNvPr id="9" name="content-weibull20260906s15-5">
            <a:extLst>
              <a:ext uri="{FF2B5EF4-FFF2-40B4-BE49-F238E27FC236}">
                <a16:creationId xmlns:a16="http://schemas.microsoft.com/office/drawing/2014/main" id="{FEEFC78D-D150-45D8-AFBA-80688968AE26}"/>
              </a:ext>
            </a:extLst>
          </p:cNvPr>
          <p:cNvSpPr>
            <a:spLocks noGrp="1"/>
          </p:cNvSpPr>
          <p:nvPr/>
        </p:nvSpPr>
        <p:spPr>
          <a:xfrm>
            <a:off x="552450" y="1952625"/>
            <a:ext cx="3048000" cy="88582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训练窗口中心均为 3</a:t>
            </a:r>
          </a:p>
        </p:txBody>
      </p:sp>
      <p:sp>
        <p:nvSpPr>
          <p:cNvPr id="10" name="content-weibull20260906s15-6">
            <a:extLst>
              <a:ext uri="{FF2B5EF4-FFF2-40B4-BE49-F238E27FC236}">
                <a16:creationId xmlns:a16="http://schemas.microsoft.com/office/drawing/2014/main" id="{29F49A2E-4880-49E0-821A-5A1C78BE3228}"/>
              </a:ext>
            </a:extLst>
          </p:cNvPr>
          <p:cNvSpPr>
            <a:spLocks noGrp="1"/>
          </p:cNvSpPr>
          <p:nvPr/>
        </p:nvSpPr>
        <p:spPr>
          <a:xfrm>
            <a:off x="552450" y="2933700"/>
            <a:ext cx="3048000" cy="88582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共同评价区间</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[2.5, 3.5]</a:t>
            </a:r>
          </a:p>
        </p:txBody>
      </p:sp>
      <p:sp>
        <p:nvSpPr>
          <p:cNvPr id="11" name="content-weibull20260906s15-7">
            <a:extLst>
              <a:ext uri="{FF2B5EF4-FFF2-40B4-BE49-F238E27FC236}">
                <a16:creationId xmlns:a16="http://schemas.microsoft.com/office/drawing/2014/main" id="{75418C5D-2C9E-4835-8B96-D169B9FEDE6F}"/>
              </a:ext>
            </a:extLst>
          </p:cNvPr>
          <p:cNvSpPr>
            <a:spLocks noGrp="1"/>
          </p:cNvSpPr>
          <p:nvPr/>
        </p:nvSpPr>
        <p:spPr>
          <a:xfrm>
            <a:off x="552450" y="3914775"/>
            <a:ext cx="3048000" cy="88582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最宽相对最窄</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固定总量：+54.3%</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固定密度：+52.4%</a:t>
            </a:r>
          </a:p>
        </p:txBody>
      </p:sp>
      <p:sp>
        <p:nvSpPr>
          <p:cNvPr id="12" name="content-weibull20260906s15-8">
            <a:extLst>
              <a:ext uri="{FF2B5EF4-FFF2-40B4-BE49-F238E27FC236}">
                <a16:creationId xmlns:a16="http://schemas.microsoft.com/office/drawing/2014/main" id="{ED46C2FC-BF78-4A50-98F3-93F451A30228}"/>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当前扩宽代价不能仅用训练样本密度下降解释。</a:t>
            </a:r>
          </a:p>
        </p:txBody>
      </p:sp>
    </p:spTree>
    <p:extLst>
      <p:ext uri="{BB962C8B-B14F-4D97-AF65-F5344CB8AC3E}">
        <p14:creationId xmlns:p14="http://schemas.microsoft.com/office/powerpoint/2010/main" val="1604368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训练域改变条件预测，但全部差距的成因尚未分离</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6-4">
            <a:extLst>
              <a:ext uri="{FF2B5EF4-FFF2-40B4-BE49-F238E27FC236}">
                <a16:creationId xmlns:a16="http://schemas.microsoft.com/office/drawing/2014/main" id="{FCE97DCE-7161-492C-8BA6-55AD2D7C0D74}"/>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16 / 32</a:t>
            </a:r>
          </a:p>
        </p:txBody>
      </p:sp>
      <mc:AlternateContent xmlns:mc="http://schemas.openxmlformats.org/markup-compatibility/2006">
        <mc:Choice xmlns:a14="http://schemas.microsoft.com/office/drawing/2010/main" Requires="a14">
          <p:sp>
            <p:nvSpPr>
              <p:cNvPr id="8" name="content-weibull20260906s16-5">
                <a:extLst>
                  <a:ext uri="{FF2B5EF4-FFF2-40B4-BE49-F238E27FC236}">
                    <a16:creationId xmlns:a16="http://schemas.microsoft.com/office/drawing/2014/main" id="{219E1CB4-CA7A-44B5-B789-97D66222FE53}"/>
                  </a:ext>
                </a:extLst>
              </p:cNvPr>
              <p:cNvSpPr>
                <a:spLocks noGrp="1"/>
              </p:cNvSpPr>
              <p:nvPr/>
            </p:nvSpPr>
            <p:spPr>
              <a:xfrm>
                <a:off x="762000" y="2000250"/>
                <a:ext cx="10668000" cy="904875"/>
              </a:xfrm>
              <a:prstGeom prst="rect">
                <a:avLst/>
              </a:prstGeom>
              <a:noFill/>
              <a:ln w="0">
                <a:noFill/>
              </a:ln>
            </p:spPr>
            <p:txBody>
              <a:bodyPr wrap="square" lIns="0" tIns="0" rIns="0" bIns="0" anchor="t">
                <a:noAutofit/>
              </a:bodyPr>
              <a:lstStyle/>
              <a:p>
                <a:pPr marL="0" lvl="0" indent="0" algn="ctr">
                  <a:buNone/>
                  <a:defRPr sz="2800">
                    <a:latin typeface="Cambria Math"/>
                  </a:defRPr>
                </a:pPr>
                <a14:m>
                  <m:oMathPara xmlns:m="http://schemas.openxmlformats.org/officeDocument/2006/math">
                    <m:oMathParaPr>
                      <m:jc m:val="center"/>
                    </m:oMathParaPr>
                    <m:oMath xmlns:m="http://schemas.openxmlformats.org/officeDocument/2006/math">
                      <m:sSubSup>
                        <m:sSubSupPr>
                          <m:ctrlPr>
                            <a:rPr sz="2800">
                              <a:latin typeface="Cambria Math" panose="02040503050406030204" pitchFamily="18" charset="0"/>
                            </a:rPr>
                          </m:ctrlPr>
                        </m:sSubSupPr>
                        <m:e>
                          <m:r>
                            <a:rPr sz="2800">
                              <a:latin typeface="Cambria Math"/>
                            </a:rPr>
                            <m:t>𝑎</m:t>
                          </m:r>
                        </m:e>
                        <m:sub>
                          <m:r>
                            <a:rPr sz="2800">
                              <a:latin typeface="Cambria Math"/>
                            </a:rPr>
                            <m:t>𝐿</m:t>
                          </m:r>
                        </m:sub>
                        <m:sup>
                          <m:r>
                            <a:rPr sz="2800">
                              <a:latin typeface="Cambria Math"/>
                            </a:rPr>
                            <m:t>∗</m:t>
                          </m:r>
                        </m:sup>
                      </m:sSubSup>
                      <m:r>
                        <a:rPr sz="2800">
                          <a:latin typeface="Cambria Math"/>
                        </a:rPr>
                        <m:t>(</m:t>
                      </m:r>
                      <m:r>
                        <a:rPr sz="2800">
                          <a:latin typeface="Cambria Math"/>
                        </a:rPr>
                        <m:t>𝑧</m:t>
                      </m:r>
                      <m:r>
                        <a:rPr sz="2800">
                          <a:latin typeface="Cambria Math"/>
                        </a:rPr>
                        <m:t>)=</m:t>
                      </m:r>
                      <m:r>
                        <m:rPr>
                          <m:sty m:val="p"/>
                        </m:rPr>
                        <a:rPr sz="2800">
                          <a:latin typeface="Cambria Math"/>
                        </a:rPr>
                        <m:t>arg</m:t>
                      </m:r>
                      <m:limLow>
                        <m:limLowPr>
                          <m:ctrlPr>
                            <a:rPr sz="2800" i="1">
                              <a:latin typeface="Cambria Math" panose="02040503050406030204" pitchFamily="18" charset="0"/>
                            </a:rPr>
                          </m:ctrlPr>
                        </m:limLowPr>
                        <m:e>
                          <m:r>
                            <m:rPr>
                              <m:sty m:val="p"/>
                            </m:rPr>
                            <a:rPr sz="2800">
                              <a:latin typeface="Cambria Math"/>
                            </a:rPr>
                            <m:t>min</m:t>
                          </m:r>
                        </m:e>
                        <m:lim>
                          <m:r>
                            <a:rPr sz="2800">
                              <a:latin typeface="Cambria Math"/>
                            </a:rPr>
                            <m:t>𝑎</m:t>
                          </m:r>
                        </m:lim>
                      </m:limLow>
                      <m:sSub>
                        <m:sSubPr>
                          <m:ctrlPr>
                            <a:rPr sz="2800" i="1">
                              <a:latin typeface="Cambria Math" panose="02040503050406030204" pitchFamily="18" charset="0"/>
                            </a:rPr>
                          </m:ctrlPr>
                        </m:sSubPr>
                        <m:e>
                          <m:r>
                            <m:rPr>
                              <m:sty m:val="p"/>
                            </m:rPr>
                            <a:rPr sz="2800">
                              <a:latin typeface="Cambria Math"/>
                            </a:rPr>
                            <m:t>E</m:t>
                          </m:r>
                        </m:e>
                        <m:sub>
                          <m:sSub>
                            <m:sSubPr>
                              <m:ctrlPr>
                                <a:rPr sz="2800" i="1">
                                  <a:latin typeface="Cambria Math" panose="02040503050406030204" pitchFamily="18" charset="0"/>
                                </a:rPr>
                              </m:ctrlPr>
                            </m:sSubPr>
                            <m:e>
                              <m:r>
                                <a:rPr sz="2800">
                                  <a:latin typeface="Cambria Math"/>
                                </a:rPr>
                                <m:t>𝜋</m:t>
                              </m:r>
                            </m:e>
                            <m:sub>
                              <m:r>
                                <m:rPr>
                                  <m:sty m:val="p"/>
                                </m:rPr>
                                <a:rPr sz="2800">
                                  <a:latin typeface="Cambria Math"/>
                                </a:rPr>
                                <m:t>train</m:t>
                              </m:r>
                            </m:sub>
                          </m:sSub>
                        </m:sub>
                      </m:sSub>
                      <m:r>
                        <a:rPr sz="2800">
                          <a:latin typeface="Cambria Math"/>
                        </a:rPr>
                        <m:t>[</m:t>
                      </m:r>
                      <m:r>
                        <a:rPr sz="2800">
                          <a:latin typeface="Cambria Math"/>
                        </a:rPr>
                        <m:t>𝐿</m:t>
                      </m:r>
                      <m:r>
                        <a:rPr sz="2800">
                          <a:latin typeface="Cambria Math"/>
                        </a:rPr>
                        <m:t>(</m:t>
                      </m:r>
                      <m:r>
                        <a:rPr sz="2800">
                          <a:latin typeface="Cambria Math"/>
                        </a:rPr>
                        <m:t>𝑎</m:t>
                      </m:r>
                      <m:r>
                        <a:rPr sz="2800">
                          <a:latin typeface="Cambria Math"/>
                        </a:rPr>
                        <m:t>,</m:t>
                      </m:r>
                      <m:r>
                        <a:rPr sz="2800">
                          <a:latin typeface="Cambria Math"/>
                        </a:rPr>
                        <m:t>𝜃</m:t>
                      </m:r>
                      <m:r>
                        <a:rPr sz="2800">
                          <a:latin typeface="Cambria Math"/>
                        </a:rPr>
                        <m:t>)∣</m:t>
                      </m:r>
                      <m:r>
                        <a:rPr sz="2800">
                          <a:latin typeface="Cambria Math"/>
                        </a:rPr>
                        <m:t>𝑧</m:t>
                      </m:r>
                      <m:r>
                        <a:rPr sz="2800">
                          <a:latin typeface="Cambria Math"/>
                        </a:rPr>
                        <m:t>].</m:t>
                      </m:r>
                    </m:oMath>
                  </m:oMathPara>
                </a14:m>
                <a:endParaRPr/>
              </a:p>
            </p:txBody>
          </p:sp>
        </mc:Choice>
        <mc:Fallback>
          <p:sp>
            <p:nvSpPr>
              <p:cNvPr id="8" name="content-weibull20260906s16-5">
                <a:extLst>
                  <a:ext uri="{FF2B5EF4-FFF2-40B4-BE49-F238E27FC236}">
                    <a16:creationId xmlns:a16="http://schemas.microsoft.com/office/drawing/2014/main" id="{219E1CB4-CA7A-44B5-B789-97D66222FE53}"/>
                  </a:ext>
                </a:extLst>
              </p:cNvPr>
              <p:cNvSpPr>
                <a:spLocks noGrp="1" noRot="1" noChangeAspect="1" noMove="1" noResize="1" noEditPoints="1" noAdjustHandles="1" noChangeArrowheads="1" noChangeShapeType="1" noTextEdit="1"/>
              </p:cNvSpPr>
              <p:nvPr/>
            </p:nvSpPr>
            <p:spPr>
              <a:xfrm>
                <a:off x="762000" y="2000250"/>
                <a:ext cx="10668000" cy="904875"/>
              </a:xfrm>
              <a:prstGeom prst="rect">
                <a:avLst/>
              </a:prstGeom>
              <a:blipFill>
                <a:blip r:embed="rId3"/>
                <a:stretch>
                  <a:fillRect/>
                </a:stretch>
              </a:blipFill>
              <a:ln w="0">
                <a:noFill/>
              </a:ln>
            </p:spPr>
            <p:txBody>
              <a:bodyPr/>
              <a:lstStyle/>
              <a:p>
                <a:r>
                  <a:rPr lang="zh-CN" altLang="en-US">
                    <a:noFill/>
                  </a:rPr>
                  <a:t> </a:t>
                </a:r>
              </a:p>
            </p:txBody>
          </p:sp>
        </mc:Fallback>
      </mc:AlternateContent>
      <p:sp>
        <p:nvSpPr>
          <p:cNvPr id="9" name="content-weibull20260906s16-6">
            <a:extLst>
              <a:ext uri="{FF2B5EF4-FFF2-40B4-BE49-F238E27FC236}">
                <a16:creationId xmlns:a16="http://schemas.microsoft.com/office/drawing/2014/main" id="{05946B49-E45E-48E1-ADEB-3DF3E3EEC4AD}"/>
              </a:ext>
            </a:extLst>
          </p:cNvPr>
          <p:cNvSpPr>
            <a:spLocks noGrp="1"/>
          </p:cNvSpPr>
          <p:nvPr/>
        </p:nvSpPr>
        <p:spPr>
          <a:xfrm>
            <a:off x="552450" y="3238500"/>
            <a:ext cx="11049000" cy="742950"/>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相似小样本可与多组参数相容</a:t>
            </a:r>
          </a:p>
        </p:txBody>
      </p:sp>
      <p:sp>
        <p:nvSpPr>
          <p:cNvPr id="10" name="content-weibull20260906s16-7">
            <a:extLst>
              <a:ext uri="{FF2B5EF4-FFF2-40B4-BE49-F238E27FC236}">
                <a16:creationId xmlns:a16="http://schemas.microsoft.com/office/drawing/2014/main" id="{845DD6E1-DAEF-4034-8CAE-993C87629E95}"/>
              </a:ext>
            </a:extLst>
          </p:cNvPr>
          <p:cNvSpPr>
            <a:spLocks noGrp="1"/>
          </p:cNvSpPr>
          <p:nvPr/>
        </p:nvSpPr>
        <p:spPr>
          <a:xfrm>
            <a:off x="552450" y="4076700"/>
            <a:ext cx="11049000" cy="742950"/>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训练分布改变这些参数的条件权重</a:t>
            </a:r>
          </a:p>
        </p:txBody>
      </p:sp>
      <p:sp>
        <p:nvSpPr>
          <p:cNvPr id="11" name="content-weibull20260906s16-8">
            <a:extLst>
              <a:ext uri="{FF2B5EF4-FFF2-40B4-BE49-F238E27FC236}">
                <a16:creationId xmlns:a16="http://schemas.microsoft.com/office/drawing/2014/main" id="{750863D8-3DE9-41C1-9750-3151D97ECAED}"/>
              </a:ext>
            </a:extLst>
          </p:cNvPr>
          <p:cNvSpPr>
            <a:spLocks noGrp="1"/>
          </p:cNvSpPr>
          <p:nvPr/>
        </p:nvSpPr>
        <p:spPr>
          <a:xfrm>
            <a:off x="552450" y="4914900"/>
            <a:ext cx="11049000" cy="742950"/>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观察到的差距还混合模型逼近、优化和验证选点影响</a:t>
            </a:r>
          </a:p>
        </p:txBody>
      </p:sp>
      <p:sp>
        <p:nvSpPr>
          <p:cNvPr id="12" name="content-weibull20260906s16-9">
            <a:extLst>
              <a:ext uri="{FF2B5EF4-FFF2-40B4-BE49-F238E27FC236}">
                <a16:creationId xmlns:a16="http://schemas.microsoft.com/office/drawing/2014/main" id="{C0935DCE-479F-42FB-ACB5-45913C172829}"/>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训练分布依赖可解释现象，但尚未分离全部误差来源。</a:t>
            </a:r>
          </a:p>
        </p:txBody>
      </p:sp>
    </p:spTree>
    <p:extLst>
      <p:ext uri="{BB962C8B-B14F-4D97-AF65-F5344CB8AC3E}">
        <p14:creationId xmlns:p14="http://schemas.microsoft.com/office/powerpoint/2010/main" val="199330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参数收益与寿命点收益不按同一比例变化</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7-4">
            <a:extLst>
              <a:ext uri="{FF2B5EF4-FFF2-40B4-BE49-F238E27FC236}">
                <a16:creationId xmlns:a16="http://schemas.microsoft.com/office/drawing/2014/main" id="{05564520-8A90-4F19-9556-715D9242A1B6}"/>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17 / 32</a:t>
            </a:r>
          </a:p>
        </p:txBody>
      </p:sp>
      <p:pic>
        <p:nvPicPr>
          <p:cNvPr id="16" name="图片 15"/>
          <p:cNvPicPr>
            <a:picLocks noChangeAspect="1"/>
          </p:cNvPicPr>
          <p:nvPr/>
        </p:nvPicPr>
        <p:blipFill>
          <a:blip r:embed="rId3"/>
          <a:stretch/>
        </p:blipFill>
        <p:spPr>
          <a:xfrm>
            <a:off x="5286375" y="2174031"/>
            <a:ext cx="6334125" cy="2605188"/>
          </a:xfrm>
          <a:prstGeom prst="rect">
            <a:avLst/>
          </a:prstGeom>
        </p:spPr>
      </p:pic>
      <p:graphicFrame>
        <p:nvGraphicFramePr>
          <p:cNvPr id="17" name="表格 16"/>
          <p:cNvGraphicFramePr/>
          <p:nvPr/>
        </p:nvGraphicFramePr>
        <p:xfrm>
          <a:off x="571500" y="2571750"/>
          <a:ext cx="4619625" cy="1952625"/>
        </p:xfrm>
        <a:graphic>
          <a:graphicData uri="http://schemas.openxmlformats.org/drawingml/2006/table">
            <a:tbl>
              <a:tblPr/>
              <a:tblGrid>
                <a:gridCol w="1762125">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tblGrid>
              <a:tr h="650875">
                <a:tc>
                  <a:txBody>
                    <a:bodyPr/>
                    <a:lstStyle/>
                    <a:p>
                      <a:pPr algn="l"/>
                      <a:r>
                        <a:rPr sz="1725" b="1">
                          <a:solidFill>
                            <a:srgbClr val="FFFFFF"/>
                          </a:solidFill>
                          <a:latin typeface="汉仪粗宋简"/>
                          <a:ea typeface="汉仪粗宋简"/>
                          <a:cs typeface="汉仪粗宋简"/>
                        </a:rPr>
                        <a:t>域内位置</a:t>
                      </a:r>
                    </a:p>
                  </a:txBody>
                  <a:tcPr anchor="ctr">
                    <a:solidFill>
                      <a:srgbClr val="315DA7"/>
                    </a:solidFill>
                  </a:tcPr>
                </a:tc>
                <a:tc>
                  <a:txBody>
                    <a:bodyPr/>
                    <a:lstStyle/>
                    <a:p>
                      <a:pPr algn="ctr"/>
                      <a:r>
                        <a:rPr sz="1725" b="1">
                          <a:solidFill>
                            <a:srgbClr val="FFFFFF"/>
                          </a:solidFill>
                          <a:latin typeface="汉仪粗宋简"/>
                          <a:ea typeface="汉仪粗宋简"/>
                          <a:cs typeface="汉仪粗宋简"/>
                        </a:rPr>
                        <a:t>参数降幅</a:t>
                      </a:r>
                    </a:p>
                  </a:txBody>
                  <a:tcPr anchor="ctr">
                    <a:solidFill>
                      <a:srgbClr val="315DA7"/>
                    </a:solidFill>
                  </a:tcPr>
                </a:tc>
                <a:tc>
                  <a:txBody>
                    <a:bodyPr/>
                    <a:lstStyle/>
                    <a:p>
                      <a:pPr algn="ctr"/>
                      <a:r>
                        <a:rPr sz="1725" b="1">
                          <a:solidFill>
                            <a:srgbClr val="FFFFFF"/>
                          </a:solidFill>
                          <a:latin typeface="汉仪粗宋简"/>
                          <a:ea typeface="汉仪粗宋简"/>
                          <a:cs typeface="汉仪粗宋简"/>
                        </a:rPr>
                        <a:t>x</a:t>
                      </a:r>
                      <a:r>
                        <a:rPr sz="1294" b="1" baseline="-25000">
                          <a:solidFill>
                            <a:srgbClr val="FFFFFF"/>
                          </a:solidFill>
                          <a:latin typeface="汉仪粗宋简"/>
                          <a:ea typeface="汉仪粗宋简"/>
                          <a:cs typeface="汉仪粗宋简"/>
                        </a:rPr>
                        <a:t>0.95</a:t>
                      </a:r>
                      <a:r>
                        <a:rPr sz="1725" b="1">
                          <a:solidFill>
                            <a:srgbClr val="FFFFFF"/>
                          </a:solidFill>
                          <a:latin typeface="汉仪粗宋简"/>
                          <a:ea typeface="汉仪粗宋简"/>
                          <a:cs typeface="汉仪粗宋简"/>
                        </a:rPr>
                        <a:t> 降幅</a:t>
                      </a:r>
                    </a:p>
                  </a:txBody>
                  <a:tcPr anchor="ctr">
                    <a:solidFill>
                      <a:srgbClr val="315DA7"/>
                    </a:solidFill>
                  </a:tcPr>
                </a:tc>
                <a:extLst>
                  <a:ext uri="{0D108BD9-81ED-4DB2-BD59-A6C34878D82A}">
                    <a16:rowId xmlns:a16="http://schemas.microsoft.com/office/drawing/2014/main" val="10000"/>
                  </a:ext>
                </a:extLst>
              </a:tr>
              <a:tr h="650875">
                <a:tc>
                  <a:txBody>
                    <a:bodyPr/>
                    <a:lstStyle/>
                    <a:p>
                      <a:pPr algn="l"/>
                      <a:r>
                        <a:rPr sz="1725" b="0">
                          <a:solidFill>
                            <a:srgbClr val="161616"/>
                          </a:solidFill>
                          <a:latin typeface="汉仪粗宋简"/>
                          <a:ea typeface="汉仪粗宋简"/>
                          <a:cs typeface="汉仪粗宋简"/>
                        </a:rPr>
                        <a:t>已见网格</a:t>
                      </a:r>
                    </a:p>
                  </a:txBody>
                  <a:tcPr anchor="ctr">
                    <a:solidFill>
                      <a:srgbClr val="FFFFFF"/>
                    </a:solidFill>
                  </a:tcPr>
                </a:tc>
                <a:tc>
                  <a:txBody>
                    <a:bodyPr/>
                    <a:lstStyle/>
                    <a:p>
                      <a:pPr algn="ctr"/>
                      <a:r>
                        <a:rPr sz="1725" b="0">
                          <a:solidFill>
                            <a:srgbClr val="161616"/>
                          </a:solidFill>
                          <a:latin typeface="汉仪粗宋简"/>
                          <a:ea typeface="汉仪粗宋简"/>
                          <a:cs typeface="汉仪粗宋简"/>
                        </a:rPr>
                        <a:t>35.8%</a:t>
                      </a:r>
                    </a:p>
                  </a:txBody>
                  <a:tcPr anchor="ctr">
                    <a:solidFill>
                      <a:srgbClr val="FFFFFF"/>
                    </a:solidFill>
                  </a:tcPr>
                </a:tc>
                <a:tc>
                  <a:txBody>
                    <a:bodyPr/>
                    <a:lstStyle/>
                    <a:p>
                      <a:pPr algn="ctr"/>
                      <a:r>
                        <a:rPr sz="1725" b="0">
                          <a:solidFill>
                            <a:srgbClr val="161616"/>
                          </a:solidFill>
                          <a:latin typeface="汉仪粗宋简"/>
                          <a:ea typeface="汉仪粗宋简"/>
                          <a:cs typeface="汉仪粗宋简"/>
                        </a:rPr>
                        <a:t>14.9%</a:t>
                      </a:r>
                    </a:p>
                  </a:txBody>
                  <a:tcPr anchor="ctr">
                    <a:solidFill>
                      <a:srgbClr val="FFFFFF"/>
                    </a:solidFill>
                  </a:tcPr>
                </a:tc>
                <a:extLst>
                  <a:ext uri="{0D108BD9-81ED-4DB2-BD59-A6C34878D82A}">
                    <a16:rowId xmlns:a16="http://schemas.microsoft.com/office/drawing/2014/main" val="10001"/>
                  </a:ext>
                </a:extLst>
              </a:tr>
              <a:tr h="650875">
                <a:tc>
                  <a:txBody>
                    <a:bodyPr/>
                    <a:lstStyle/>
                    <a:p>
                      <a:pPr algn="l"/>
                      <a:r>
                        <a:rPr sz="1725" b="0">
                          <a:solidFill>
                            <a:srgbClr val="161616"/>
                          </a:solidFill>
                          <a:latin typeface="汉仪粗宋简"/>
                          <a:ea typeface="汉仪粗宋简"/>
                          <a:cs typeface="汉仪粗宋简"/>
                        </a:rPr>
                        <a:t>未训练点</a:t>
                      </a:r>
                    </a:p>
                  </a:txBody>
                  <a:tcPr anchor="ctr">
                    <a:solidFill>
                      <a:srgbClr val="FFFFFF"/>
                    </a:solidFill>
                  </a:tcPr>
                </a:tc>
                <a:tc>
                  <a:txBody>
                    <a:bodyPr/>
                    <a:lstStyle/>
                    <a:p>
                      <a:pPr algn="ctr"/>
                      <a:r>
                        <a:rPr sz="1725" b="0">
                          <a:solidFill>
                            <a:srgbClr val="161616"/>
                          </a:solidFill>
                          <a:latin typeface="汉仪粗宋简"/>
                          <a:ea typeface="汉仪粗宋简"/>
                          <a:cs typeface="汉仪粗宋简"/>
                        </a:rPr>
                        <a:t>37.5%</a:t>
                      </a:r>
                    </a:p>
                  </a:txBody>
                  <a:tcPr anchor="ctr">
                    <a:solidFill>
                      <a:srgbClr val="FFFFFF"/>
                    </a:solidFill>
                  </a:tcPr>
                </a:tc>
                <a:tc>
                  <a:txBody>
                    <a:bodyPr/>
                    <a:lstStyle/>
                    <a:p>
                      <a:pPr algn="ctr"/>
                      <a:r>
                        <a:rPr sz="1725" b="0">
                          <a:solidFill>
                            <a:srgbClr val="161616"/>
                          </a:solidFill>
                          <a:latin typeface="汉仪粗宋简"/>
                          <a:ea typeface="汉仪粗宋简"/>
                          <a:cs typeface="汉仪粗宋简"/>
                        </a:rPr>
                        <a:t>16.5%</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0" name="content-weibull20260906s17-5">
            <a:extLst>
              <a:ext uri="{FF2B5EF4-FFF2-40B4-BE49-F238E27FC236}">
                <a16:creationId xmlns:a16="http://schemas.microsoft.com/office/drawing/2014/main" id="{65D517CE-4E2C-49D8-8D99-2037DCB93878}"/>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参数恢复与寿命点精度需分别评价。</a:t>
            </a:r>
          </a:p>
        </p:txBody>
      </p:sp>
    </p:spTree>
    <p:extLst>
      <p:ext uri="{BB962C8B-B14F-4D97-AF65-F5344CB8AC3E}">
        <p14:creationId xmlns:p14="http://schemas.microsoft.com/office/powerpoint/2010/main" val="1973358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参数误差方向提供补偿线索，解析导数只作局部诊断</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8-4">
            <a:extLst>
              <a:ext uri="{FF2B5EF4-FFF2-40B4-BE49-F238E27FC236}">
                <a16:creationId xmlns:a16="http://schemas.microsoft.com/office/drawing/2014/main" id="{CF18E061-BC84-4D9C-B170-013DA42E9D2D}"/>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18 / 32</a:t>
            </a:r>
          </a:p>
        </p:txBody>
      </p:sp>
      <p:pic>
        <p:nvPicPr>
          <p:cNvPr id="15" name="图片 14"/>
          <p:cNvPicPr>
            <a:picLocks noChangeAspect="1"/>
          </p:cNvPicPr>
          <p:nvPr/>
        </p:nvPicPr>
        <p:blipFill>
          <a:blip r:embed="rId3"/>
          <a:stretch/>
        </p:blipFill>
        <p:spPr>
          <a:xfrm>
            <a:off x="1700642" y="1714500"/>
            <a:ext cx="8790717" cy="3810000"/>
          </a:xfrm>
          <a:prstGeom prst="rect">
            <a:avLst/>
          </a:prstGeom>
        </p:spPr>
      </p:pic>
      <p:sp>
        <p:nvSpPr>
          <p:cNvPr id="9" name="content-weibull20260906s18-5">
            <a:extLst>
              <a:ext uri="{FF2B5EF4-FFF2-40B4-BE49-F238E27FC236}">
                <a16:creationId xmlns:a16="http://schemas.microsoft.com/office/drawing/2014/main" id="{55EB81CC-638A-438D-8DB6-55DAD4A025AE}"/>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统计与解析诊断支持线索，尚不能证明完整估计器的误差机制。</a:t>
            </a:r>
          </a:p>
        </p:txBody>
      </p:sp>
    </p:spTree>
    <p:extLst>
      <p:ext uri="{BB962C8B-B14F-4D97-AF65-F5344CB8AC3E}">
        <p14:creationId xmlns:p14="http://schemas.microsoft.com/office/powerpoint/2010/main" val="1435343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尺度等变已检验，训练域风险仍需单独判断</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19-4">
            <a:extLst>
              <a:ext uri="{FF2B5EF4-FFF2-40B4-BE49-F238E27FC236}">
                <a16:creationId xmlns:a16="http://schemas.microsoft.com/office/drawing/2014/main" id="{4C079513-FB70-4AE1-8821-2CF5EF5E1FEC}"/>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19 / 32</a:t>
            </a:r>
          </a:p>
        </p:txBody>
      </p:sp>
      <p:sp>
        <p:nvSpPr>
          <p:cNvPr id="8" name="content-weibull20260906s19-5">
            <a:extLst>
              <a:ext uri="{FF2B5EF4-FFF2-40B4-BE49-F238E27FC236}">
                <a16:creationId xmlns:a16="http://schemas.microsoft.com/office/drawing/2014/main" id="{FE3712CB-D79C-4F58-9C4D-5CBE5BE90AAF}"/>
              </a:ext>
            </a:extLst>
          </p:cNvPr>
          <p:cNvSpPr>
            <a:spLocks noGrp="1"/>
          </p:cNvSpPr>
          <p:nvPr/>
        </p:nvSpPr>
        <p:spPr>
          <a:xfrm>
            <a:off x="552450" y="2095500"/>
            <a:ext cx="11049000" cy="923925"/>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同比例尺度变化：η = 1 至 10⁶，成对审计 J₁ = 0.4705367 不变</a:t>
            </a:r>
          </a:p>
        </p:txBody>
      </p:sp>
      <p:sp>
        <p:nvSpPr>
          <p:cNvPr id="9" name="content-weibull20260906s19-6">
            <a:extLst>
              <a:ext uri="{FF2B5EF4-FFF2-40B4-BE49-F238E27FC236}">
                <a16:creationId xmlns:a16="http://schemas.microsoft.com/office/drawing/2014/main" id="{A8F86814-2FC2-4AF7-AE01-91845B381A74}"/>
              </a:ext>
            </a:extLst>
          </p:cNvPr>
          <p:cNvSpPr>
            <a:spLocks noGrp="1"/>
          </p:cNvSpPr>
          <p:nvPr/>
        </p:nvSpPr>
        <p:spPr>
          <a:xfrm>
            <a:off x="552450" y="3114675"/>
            <a:ext cx="11049000" cy="923925"/>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已见网格中，n = 7 至 20，相对优势由 41.3% 收窄至 28.3%</a:t>
            </a:r>
          </a:p>
        </p:txBody>
      </p:sp>
      <p:sp>
        <p:nvSpPr>
          <p:cNvPr id="10" name="content-weibull20260906s19-7">
            <a:extLst>
              <a:ext uri="{FF2B5EF4-FFF2-40B4-BE49-F238E27FC236}">
                <a16:creationId xmlns:a16="http://schemas.microsoft.com/office/drawing/2014/main" id="{D6DE2710-3333-440B-9B13-F5C2D2384FAF}"/>
              </a:ext>
            </a:extLst>
          </p:cNvPr>
          <p:cNvSpPr>
            <a:spLocks noGrp="1"/>
          </p:cNvSpPr>
          <p:nvPr/>
        </p:nvSpPr>
        <p:spPr>
          <a:xfrm>
            <a:off x="552450" y="4133850"/>
            <a:ext cx="11049000" cy="923925"/>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形状、位置尺度比和数据机制变化，仍需各自的风险验证</a:t>
            </a:r>
          </a:p>
        </p:txBody>
      </p:sp>
      <p:sp>
        <p:nvSpPr>
          <p:cNvPr id="11" name="content-weibull20260906s19-8">
            <a:extLst>
              <a:ext uri="{FF2B5EF4-FFF2-40B4-BE49-F238E27FC236}">
                <a16:creationId xmlns:a16="http://schemas.microsoft.com/office/drawing/2014/main" id="{2FCC182D-A725-4234-8960-C956D7B37B18}"/>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尺度等变已检验，但不代表形状外推、真实数据或区间覆盖已验证。</a:t>
            </a:r>
          </a:p>
        </p:txBody>
      </p:sp>
    </p:spTree>
    <p:extLst>
      <p:ext uri="{BB962C8B-B14F-4D97-AF65-F5344CB8AC3E}">
        <p14:creationId xmlns:p14="http://schemas.microsoft.com/office/powerpoint/2010/main" val="109580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确定使用直接网络之后，还要确定训练什么</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第二部分：直接参数估计与过程量优化的比较</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0-4">
            <a:extLst>
              <a:ext uri="{FF2B5EF4-FFF2-40B4-BE49-F238E27FC236}">
                <a16:creationId xmlns:a16="http://schemas.microsoft.com/office/drawing/2014/main" id="{4024B700-8832-41B8-98A2-EF1343B621B2}"/>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20 / 32</a:t>
            </a:r>
          </a:p>
        </p:txBody>
      </p:sp>
      <p:sp>
        <p:nvSpPr>
          <p:cNvPr id="8" name="content-weibull20260906s20-5">
            <a:extLst>
              <a:ext uri="{FF2B5EF4-FFF2-40B4-BE49-F238E27FC236}">
                <a16:creationId xmlns:a16="http://schemas.microsoft.com/office/drawing/2014/main" id="{955FF38B-6060-4B5C-A382-0C3BB17BE5B3}"/>
              </a:ext>
            </a:extLst>
          </p:cNvPr>
          <p:cNvSpPr>
            <a:spLocks noGrp="1"/>
          </p:cNvSpPr>
          <p:nvPr/>
        </p:nvSpPr>
        <p:spPr>
          <a:xfrm>
            <a:off x="552450" y="1952625"/>
            <a:ext cx="11049000" cy="781050"/>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当前域内点估计中，Direct-P 更准确</a:t>
            </a:r>
          </a:p>
        </p:txBody>
      </p:sp>
      <p:sp>
        <p:nvSpPr>
          <p:cNvPr id="9" name="content-weibull20260906s20-6">
            <a:extLst>
              <a:ext uri="{FF2B5EF4-FFF2-40B4-BE49-F238E27FC236}">
                <a16:creationId xmlns:a16="http://schemas.microsoft.com/office/drawing/2014/main" id="{BBA12EB9-56B7-413E-A9BA-03245A08BDAF}"/>
              </a:ext>
            </a:extLst>
          </p:cNvPr>
          <p:cNvSpPr>
            <a:spLocks noGrp="1"/>
          </p:cNvSpPr>
          <p:nvPr/>
        </p:nvSpPr>
        <p:spPr>
          <a:xfrm>
            <a:off x="552450" y="2828925"/>
            <a:ext cx="11049000" cy="781050"/>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外推方向与训练覆盖影响其风险</a:t>
            </a:r>
          </a:p>
        </p:txBody>
      </p:sp>
      <p:sp>
        <p:nvSpPr>
          <p:cNvPr id="10" name="content-weibull20260906s20-7">
            <a:extLst>
              <a:ext uri="{FF2B5EF4-FFF2-40B4-BE49-F238E27FC236}">
                <a16:creationId xmlns:a16="http://schemas.microsoft.com/office/drawing/2014/main" id="{78DFDC93-2E8E-443C-BFAB-AAFB2B7A0553}"/>
              </a:ext>
            </a:extLst>
          </p:cNvPr>
          <p:cNvSpPr>
            <a:spLocks noGrp="1"/>
          </p:cNvSpPr>
          <p:nvPr/>
        </p:nvSpPr>
        <p:spPr>
          <a:xfrm>
            <a:off x="552450" y="3705225"/>
            <a:ext cx="11049000" cy="781050"/>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参数精度收益并不等比例传递到寿命点</a:t>
            </a:r>
          </a:p>
        </p:txBody>
      </p:sp>
      <p:sp>
        <p:nvSpPr>
          <p:cNvPr id="11" name="content-weibull20260906s20-8">
            <a:extLst>
              <a:ext uri="{FF2B5EF4-FFF2-40B4-BE49-F238E27FC236}">
                <a16:creationId xmlns:a16="http://schemas.microsoft.com/office/drawing/2014/main" id="{AF4E1216-AC20-4287-A763-384385EF9714}"/>
              </a:ext>
            </a:extLst>
          </p:cNvPr>
          <p:cNvSpPr>
            <a:spLocks noGrp="1"/>
          </p:cNvSpPr>
          <p:nvPr/>
        </p:nvSpPr>
        <p:spPr>
          <a:xfrm>
            <a:off x="619125" y="5238750"/>
            <a:ext cx="10906125" cy="781050"/>
          </a:xfrm>
          <a:prstGeom prst="rect">
            <a:avLst/>
          </a:prstGeom>
          <a:noFill/>
          <a:ln w="0">
            <a:noFill/>
          </a:ln>
        </p:spPr>
        <p:txBody>
          <a:bodyPr wrap="square" lIns="0" tIns="0" rIns="0" bIns="0" anchor="t">
            <a:noAutofit/>
          </a:bodyPr>
          <a:lstStyle/>
          <a:p>
            <a:pPr algn="l">
              <a:defRPr sz="2325" b="1">
                <a:solidFill>
                  <a:srgbClr val="315DA7"/>
                </a:solidFill>
                <a:latin typeface="汉仪粗宋简"/>
                <a:ea typeface="汉仪粗宋简"/>
                <a:cs typeface="汉仪粗宋简"/>
              </a:defRPr>
            </a:pPr>
            <a:r>
              <a:rPr sz="2325" b="1">
                <a:solidFill>
                  <a:srgbClr val="315DA7"/>
                </a:solidFill>
                <a:latin typeface="汉仪粗宋简"/>
                <a:ea typeface="汉仪粗宋简"/>
                <a:cs typeface="汉仪粗宋简"/>
              </a:rPr>
              <a:t>下一问：直接用最终关心的寿命点训练，会得到什么收益与代价？</a:t>
            </a:r>
          </a:p>
        </p:txBody>
      </p:sp>
    </p:spTree>
    <p:extLst>
      <p:ext uri="{BB962C8B-B14F-4D97-AF65-F5344CB8AC3E}">
        <p14:creationId xmlns:p14="http://schemas.microsoft.com/office/powerpoint/2010/main" val="537604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让最终使用的寿命量进入训练目标</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1-4">
            <a:extLst>
              <a:ext uri="{FF2B5EF4-FFF2-40B4-BE49-F238E27FC236}">
                <a16:creationId xmlns:a16="http://schemas.microsoft.com/office/drawing/2014/main" id="{DCFE7F60-CD51-4AEC-B237-56385E830209}"/>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21 / 32</a:t>
            </a:r>
          </a:p>
        </p:txBody>
      </p:sp>
      <mc:AlternateContent xmlns:mc="http://schemas.openxmlformats.org/markup-compatibility/2006">
        <mc:Choice xmlns:a14="http://schemas.microsoft.com/office/drawing/2010/main" Requires="a14">
          <p:sp>
            <p:nvSpPr>
              <p:cNvPr id="8" name="content-weibull20260906s21-5">
                <a:extLst>
                  <a:ext uri="{FF2B5EF4-FFF2-40B4-BE49-F238E27FC236}">
                    <a16:creationId xmlns:a16="http://schemas.microsoft.com/office/drawing/2014/main" id="{E37B044D-F44A-4B5D-B250-9163D4166C3A}"/>
                  </a:ext>
                </a:extLst>
              </p:cNvPr>
              <p:cNvSpPr>
                <a:spLocks noGrp="1"/>
              </p:cNvSpPr>
              <p:nvPr/>
            </p:nvSpPr>
            <p:spPr>
              <a:xfrm>
                <a:off x="666750" y="1809750"/>
                <a:ext cx="10858500" cy="809625"/>
              </a:xfrm>
              <a:prstGeom prst="rect">
                <a:avLst/>
              </a:prstGeom>
              <a:noFill/>
              <a:ln w="0">
                <a:noFill/>
              </a:ln>
            </p:spPr>
            <p:txBody>
              <a:bodyPr wrap="square" lIns="0" tIns="0" rIns="0" bIns="0" anchor="t">
                <a:noAutofit/>
              </a:bodyPr>
              <a:lstStyle/>
              <a:p>
                <a:pPr marL="0" lvl="0" indent="0" algn="ctr">
                  <a:buNone/>
                  <a:defRPr sz="2700">
                    <a:latin typeface="Cambria Math"/>
                  </a:defRPr>
                </a:pPr>
                <a14:m>
                  <m:oMathPara xmlns:m="http://schemas.openxmlformats.org/officeDocument/2006/math">
                    <m:oMathParaPr>
                      <m:jc m:val="center"/>
                    </m:oMathParaPr>
                    <m:oMath xmlns:m="http://schemas.openxmlformats.org/officeDocument/2006/math">
                      <m:sSub>
                        <m:sSubPr>
                          <m:ctrlPr>
                            <a:rPr sz="2700">
                              <a:latin typeface="Cambria Math" panose="02040503050406030204" pitchFamily="18" charset="0"/>
                            </a:rPr>
                          </m:ctrlPr>
                        </m:sSubPr>
                        <m:e>
                          <m:r>
                            <a:rPr sz="2700">
                              <a:latin typeface="Cambria Math"/>
                            </a:rPr>
                            <m:t>𝑥</m:t>
                          </m:r>
                        </m:e>
                        <m:sub>
                          <m:r>
                            <a:rPr sz="2700">
                              <a:latin typeface="Cambria Math"/>
                            </a:rPr>
                            <m:t>𝑅</m:t>
                          </m:r>
                        </m:sub>
                      </m:sSub>
                      <m:r>
                        <a:rPr sz="2700">
                          <a:latin typeface="Cambria Math"/>
                        </a:rPr>
                        <m:t>=</m:t>
                      </m:r>
                      <m:r>
                        <a:rPr sz="2700">
                          <a:latin typeface="Cambria Math"/>
                        </a:rPr>
                        <m:t>𝛾</m:t>
                      </m:r>
                      <m:r>
                        <a:rPr sz="2700">
                          <a:latin typeface="Cambria Math"/>
                        </a:rPr>
                        <m:t>+</m:t>
                      </m:r>
                      <m:r>
                        <a:rPr sz="2700">
                          <a:latin typeface="Cambria Math"/>
                        </a:rPr>
                        <m:t>𝜂</m:t>
                      </m:r>
                      <m:r>
                        <a:rPr sz="2700">
                          <a:latin typeface="Cambria Math"/>
                        </a:rPr>
                        <m:t>[−</m:t>
                      </m:r>
                      <m:r>
                        <m:rPr>
                          <m:sty m:val="p"/>
                        </m:rPr>
                        <a:rPr sz="2700">
                          <a:latin typeface="Cambria Math"/>
                        </a:rPr>
                        <m:t>ln</m:t>
                      </m:r>
                      <m:r>
                        <a:rPr sz="2700">
                          <a:latin typeface="Cambria Math"/>
                        </a:rPr>
                        <m:t>𝑅</m:t>
                      </m:r>
                      <m:sSup>
                        <m:sSupPr>
                          <m:ctrlPr>
                            <a:rPr sz="2700" i="1">
                              <a:latin typeface="Cambria Math" panose="02040503050406030204" pitchFamily="18" charset="0"/>
                            </a:rPr>
                          </m:ctrlPr>
                        </m:sSupPr>
                        <m:e>
                          <m:r>
                            <a:rPr sz="2700">
                              <a:latin typeface="Cambria Math"/>
                            </a:rPr>
                            <m:t>]</m:t>
                          </m:r>
                        </m:e>
                        <m:sup>
                          <m:r>
                            <a:rPr sz="2700">
                              <a:latin typeface="Cambria Math"/>
                            </a:rPr>
                            <m:t>1/</m:t>
                          </m:r>
                          <m:r>
                            <a:rPr sz="2700">
                              <a:latin typeface="Cambria Math"/>
                            </a:rPr>
                            <m:t>𝛽</m:t>
                          </m:r>
                        </m:sup>
                      </m:sSup>
                      <m:r>
                        <a:rPr sz="2700">
                          <a:latin typeface="Cambria Math"/>
                        </a:rPr>
                        <m:t>,  </m:t>
                      </m:r>
                      <m:r>
                        <a:rPr sz="2700">
                          <a:latin typeface="Cambria Math"/>
                        </a:rPr>
                        <m:t>𝑃</m:t>
                      </m:r>
                      <m:r>
                        <a:rPr sz="2700">
                          <a:latin typeface="Cambria Math"/>
                        </a:rPr>
                        <m:t>(</m:t>
                      </m:r>
                      <m:r>
                        <a:rPr sz="2700">
                          <a:latin typeface="Cambria Math"/>
                        </a:rPr>
                        <m:t>𝑇</m:t>
                      </m:r>
                      <m:r>
                        <a:rPr sz="2700">
                          <a:latin typeface="Cambria Math"/>
                        </a:rPr>
                        <m:t>&gt;</m:t>
                      </m:r>
                      <m:sSub>
                        <m:sSubPr>
                          <m:ctrlPr>
                            <a:rPr sz="2700" i="1">
                              <a:latin typeface="Cambria Math" panose="02040503050406030204" pitchFamily="18" charset="0"/>
                            </a:rPr>
                          </m:ctrlPr>
                        </m:sSubPr>
                        <m:e>
                          <m:r>
                            <a:rPr sz="2700">
                              <a:latin typeface="Cambria Math"/>
                            </a:rPr>
                            <m:t>𝑥</m:t>
                          </m:r>
                        </m:e>
                        <m:sub>
                          <m:r>
                            <a:rPr sz="2700">
                              <a:latin typeface="Cambria Math"/>
                            </a:rPr>
                            <m:t>𝑅</m:t>
                          </m:r>
                        </m:sub>
                      </m:sSub>
                      <m:r>
                        <a:rPr sz="2700">
                          <a:latin typeface="Cambria Math"/>
                        </a:rPr>
                        <m:t>)=</m:t>
                      </m:r>
                      <m:r>
                        <a:rPr sz="2700">
                          <a:latin typeface="Cambria Math"/>
                        </a:rPr>
                        <m:t>𝑅</m:t>
                      </m:r>
                      <m:r>
                        <a:rPr sz="2700">
                          <a:latin typeface="Cambria Math"/>
                        </a:rPr>
                        <m:t>.</m:t>
                      </m:r>
                    </m:oMath>
                  </m:oMathPara>
                </a14:m>
                <a:endParaRPr/>
              </a:p>
            </p:txBody>
          </p:sp>
        </mc:Choice>
        <mc:Fallback>
          <p:sp>
            <p:nvSpPr>
              <p:cNvPr id="8" name="content-weibull20260906s21-5">
                <a:extLst>
                  <a:ext uri="{FF2B5EF4-FFF2-40B4-BE49-F238E27FC236}">
                    <a16:creationId xmlns:a16="http://schemas.microsoft.com/office/drawing/2014/main" id="{E37B044D-F44A-4B5D-B250-9163D4166C3A}"/>
                  </a:ext>
                </a:extLst>
              </p:cNvPr>
              <p:cNvSpPr>
                <a:spLocks noGrp="1" noRot="1" noChangeAspect="1" noMove="1" noResize="1" noEditPoints="1" noAdjustHandles="1" noChangeArrowheads="1" noChangeShapeType="1" noTextEdit="1"/>
              </p:cNvSpPr>
              <p:nvPr/>
            </p:nvSpPr>
            <p:spPr>
              <a:xfrm>
                <a:off x="666750" y="1809750"/>
                <a:ext cx="10858500" cy="809625"/>
              </a:xfrm>
              <a:prstGeom prst="rect">
                <a:avLst/>
              </a:prstGeom>
              <a:blipFill>
                <a:blip r:embed="rId3"/>
                <a:stretch>
                  <a:fillRect/>
                </a:stretch>
              </a:blipFill>
              <a:ln w="0">
                <a:noFill/>
              </a:ln>
            </p:spPr>
            <p:txBody>
              <a:bodyPr/>
              <a:lstStyle/>
              <a:p>
                <a:r>
                  <a:rPr lang="zh-CN" altLang="en-US">
                    <a:noFill/>
                  </a:rPr>
                  <a:t> </a:t>
                </a:r>
              </a:p>
            </p:txBody>
          </p:sp>
        </mc:Fallback>
      </mc:AlternateContent>
      <p:sp>
        <p:nvSpPr>
          <p:cNvPr id="9" name="content-weibull20260906s21-6">
            <a:extLst>
              <a:ext uri="{FF2B5EF4-FFF2-40B4-BE49-F238E27FC236}">
                <a16:creationId xmlns:a16="http://schemas.microsoft.com/office/drawing/2014/main" id="{91ED6AD1-4881-4D85-9C80-A7FAAF14732C}"/>
              </a:ext>
            </a:extLst>
          </p:cNvPr>
          <p:cNvSpPr>
            <a:spLocks noGrp="1"/>
          </p:cNvSpPr>
          <p:nvPr/>
        </p:nvSpPr>
        <p:spPr>
          <a:xfrm>
            <a:off x="666750" y="2857500"/>
            <a:ext cx="10858500" cy="571500"/>
          </a:xfrm>
          <a:prstGeom prst="rect">
            <a:avLst/>
          </a:prstGeom>
          <a:noFill/>
          <a:ln w="0">
            <a:noFill/>
          </a:ln>
        </p:spPr>
        <p:txBody>
          <a:bodyPr wrap="square" lIns="0" tIns="0" rIns="0" bIns="0" anchor="t">
            <a:noAutofit/>
          </a:bodyPr>
          <a:lstStyle/>
          <a:p>
            <a:pPr algn="l">
              <a:defRPr sz="2400" b="1">
                <a:solidFill>
                  <a:srgbClr val="161616"/>
                </a:solidFill>
                <a:latin typeface="汉仪粗宋简"/>
                <a:ea typeface="汉仪粗宋简"/>
                <a:cs typeface="汉仪粗宋简"/>
              </a:defRPr>
            </a:pPr>
            <a:r>
              <a:rPr sz="2400" b="1">
                <a:solidFill>
                  <a:srgbClr val="161616"/>
                </a:solidFill>
                <a:latin typeface="汉仪粗宋简"/>
                <a:ea typeface="汉仪粗宋简"/>
                <a:cs typeface="汉仪粗宋简"/>
              </a:rPr>
              <a:t>P：三个标准化参数误差的平方和</a:t>
            </a:r>
          </a:p>
        </p:txBody>
      </p:sp>
      <mc:AlternateContent xmlns:mc="http://schemas.openxmlformats.org/markup-compatibility/2006">
        <mc:Choice xmlns:a14="http://schemas.microsoft.com/office/drawing/2010/main" Requires="a14">
          <p:sp>
            <p:nvSpPr>
              <p:cNvPr id="10" name="content-weibull20260906s21-7">
                <a:extLst>
                  <a:ext uri="{FF2B5EF4-FFF2-40B4-BE49-F238E27FC236}">
                    <a16:creationId xmlns:a16="http://schemas.microsoft.com/office/drawing/2014/main" id="{C54A5CB9-ACB9-4913-9416-E6418AB9AA95}"/>
                  </a:ext>
                </a:extLst>
              </p:cNvPr>
              <p:cNvSpPr>
                <a:spLocks noGrp="1"/>
              </p:cNvSpPr>
              <p:nvPr/>
            </p:nvSpPr>
            <p:spPr>
              <a:xfrm>
                <a:off x="666750" y="3276600"/>
                <a:ext cx="10858500" cy="857250"/>
              </a:xfrm>
              <a:prstGeom prst="rect">
                <a:avLst/>
              </a:prstGeom>
              <a:noFill/>
              <a:ln w="0">
                <a:noFill/>
              </a:ln>
            </p:spPr>
            <p:txBody>
              <a:bodyPr wrap="square" lIns="0" tIns="0" rIns="0" bIns="0" anchor="t">
                <a:noAutofit/>
              </a:bodyPr>
              <a:lstStyle/>
              <a:p>
                <a:pPr marL="0" lvl="0" indent="0" algn="ctr">
                  <a:buNone/>
                  <a:defRPr sz="2100">
                    <a:latin typeface="Cambria Math"/>
                  </a:defRPr>
                </a:pPr>
                <a14:m>
                  <m:oMathPara xmlns:m="http://schemas.openxmlformats.org/officeDocument/2006/math">
                    <m:oMathParaPr>
                      <m:jc m:val="center"/>
                    </m:oMathParaPr>
                    <m:oMath xmlns:m="http://schemas.openxmlformats.org/officeDocument/2006/math">
                      <m:sSub>
                        <m:sSubPr>
                          <m:ctrlPr>
                            <a:rPr sz="2100">
                              <a:latin typeface="Cambria Math" panose="02040503050406030204" pitchFamily="18" charset="0"/>
                            </a:rPr>
                          </m:ctrlPr>
                        </m:sSubPr>
                        <m:e>
                          <m:r>
                            <a:rPr sz="2100">
                              <a:latin typeface="Cambria Math"/>
                            </a:rPr>
                            <m:t>𝐿</m:t>
                          </m:r>
                        </m:e>
                        <m:sub>
                          <m:r>
                            <a:rPr sz="2100">
                              <a:latin typeface="Cambria Math"/>
                            </a:rPr>
                            <m:t>𝑃</m:t>
                          </m:r>
                        </m:sub>
                      </m:sSub>
                      <m:r>
                        <a:rPr sz="2100">
                          <a:latin typeface="Cambria Math"/>
                        </a:rPr>
                        <m:t>=</m:t>
                      </m:r>
                      <m:r>
                        <m:rPr>
                          <m:sty m:val="p"/>
                        </m:rPr>
                        <a:rPr sz="2100">
                          <a:latin typeface="Cambria Math"/>
                        </a:rPr>
                        <m:t>mean</m:t>
                      </m:r>
                      <m:d>
                        <m:dPr>
                          <m:begChr m:val="["/>
                          <m:endChr m:val="]"/>
                          <m:ctrlPr>
                            <a:rPr sz="2100" i="1">
                              <a:latin typeface="Cambria Math" panose="02040503050406030204" pitchFamily="18" charset="0"/>
                            </a:rPr>
                          </m:ctrlPr>
                        </m:dPr>
                        <m:e>
                          <m:sSup>
                            <m:sSupPr>
                              <m:ctrlPr>
                                <a:rPr sz="2100" i="1">
                                  <a:latin typeface="Cambria Math" panose="02040503050406030204" pitchFamily="18" charset="0"/>
                                </a:rPr>
                              </m:ctrlPr>
                            </m:sSupPr>
                            <m:e>
                              <m:d>
                                <m:dPr>
                                  <m:ctrlPr>
                                    <a:rPr sz="2100" i="1">
                                      <a:latin typeface="Cambria Math" panose="02040503050406030204" pitchFamily="18" charset="0"/>
                                    </a:rPr>
                                  </m:ctrlPr>
                                </m:dPr>
                                <m:e>
                                  <m:f>
                                    <m:fPr>
                                      <m:ctrlPr>
                                        <a:rPr sz="2100" i="1">
                                          <a:latin typeface="Cambria Math" panose="02040503050406030204" pitchFamily="18" charset="0"/>
                                        </a:rPr>
                                      </m:ctrlPr>
                                    </m:fPr>
                                    <m:num>
                                      <m:acc>
                                        <m:accPr>
                                          <m:chr m:val="̂"/>
                                          <m:ctrlPr>
                                            <a:rPr sz="2100" i="1">
                                              <a:latin typeface="Cambria Math" panose="02040503050406030204" pitchFamily="18" charset="0"/>
                                            </a:rPr>
                                          </m:ctrlPr>
                                        </m:accPr>
                                        <m:e>
                                          <m:r>
                                            <a:rPr sz="2100">
                                              <a:latin typeface="Cambria Math"/>
                                            </a:rPr>
                                            <m:t>𝛽</m:t>
                                          </m:r>
                                        </m:e>
                                      </m:acc>
                                      <m:r>
                                        <a:rPr sz="2100">
                                          <a:latin typeface="Cambria Math"/>
                                        </a:rPr>
                                        <m:t>−</m:t>
                                      </m:r>
                                      <m:r>
                                        <a:rPr sz="2100">
                                          <a:latin typeface="Cambria Math"/>
                                        </a:rPr>
                                        <m:t>𝛽</m:t>
                                      </m:r>
                                    </m:num>
                                    <m:den>
                                      <m:r>
                                        <a:rPr sz="2100">
                                          <a:latin typeface="Cambria Math"/>
                                        </a:rPr>
                                        <m:t>𝛽</m:t>
                                      </m:r>
                                    </m:den>
                                  </m:f>
                                </m:e>
                              </m:d>
                            </m:e>
                            <m:sup>
                              <m:r>
                                <a:rPr sz="2100">
                                  <a:latin typeface="Cambria Math"/>
                                </a:rPr>
                                <m:t>2</m:t>
                              </m:r>
                            </m:sup>
                          </m:sSup>
                          <m:r>
                            <a:rPr sz="2100">
                              <a:latin typeface="Cambria Math"/>
                            </a:rPr>
                            <m:t>+</m:t>
                          </m:r>
                          <m:sSup>
                            <m:sSupPr>
                              <m:ctrlPr>
                                <a:rPr sz="2100" i="1">
                                  <a:latin typeface="Cambria Math" panose="02040503050406030204" pitchFamily="18" charset="0"/>
                                </a:rPr>
                              </m:ctrlPr>
                            </m:sSupPr>
                            <m:e>
                              <m:d>
                                <m:dPr>
                                  <m:ctrlPr>
                                    <a:rPr sz="2100" i="1">
                                      <a:latin typeface="Cambria Math" panose="02040503050406030204" pitchFamily="18" charset="0"/>
                                    </a:rPr>
                                  </m:ctrlPr>
                                </m:dPr>
                                <m:e>
                                  <m:f>
                                    <m:fPr>
                                      <m:ctrlPr>
                                        <a:rPr sz="2100" i="1">
                                          <a:latin typeface="Cambria Math" panose="02040503050406030204" pitchFamily="18" charset="0"/>
                                        </a:rPr>
                                      </m:ctrlPr>
                                    </m:fPr>
                                    <m:num>
                                      <m:acc>
                                        <m:accPr>
                                          <m:chr m:val="̂"/>
                                          <m:ctrlPr>
                                            <a:rPr sz="2100" i="1">
                                              <a:latin typeface="Cambria Math" panose="02040503050406030204" pitchFamily="18" charset="0"/>
                                            </a:rPr>
                                          </m:ctrlPr>
                                        </m:accPr>
                                        <m:e>
                                          <m:r>
                                            <a:rPr sz="2100">
                                              <a:latin typeface="Cambria Math"/>
                                            </a:rPr>
                                            <m:t>𝜂</m:t>
                                          </m:r>
                                        </m:e>
                                      </m:acc>
                                      <m:r>
                                        <a:rPr sz="2100">
                                          <a:latin typeface="Cambria Math"/>
                                        </a:rPr>
                                        <m:t>−</m:t>
                                      </m:r>
                                      <m:r>
                                        <a:rPr sz="2100">
                                          <a:latin typeface="Cambria Math"/>
                                        </a:rPr>
                                        <m:t>𝜂</m:t>
                                      </m:r>
                                    </m:num>
                                    <m:den>
                                      <m:r>
                                        <a:rPr sz="2100">
                                          <a:latin typeface="Cambria Math"/>
                                        </a:rPr>
                                        <m:t>𝜂</m:t>
                                      </m:r>
                                    </m:den>
                                  </m:f>
                                </m:e>
                              </m:d>
                            </m:e>
                            <m:sup>
                              <m:r>
                                <a:rPr sz="2100">
                                  <a:latin typeface="Cambria Math"/>
                                </a:rPr>
                                <m:t>2</m:t>
                              </m:r>
                            </m:sup>
                          </m:sSup>
                          <m:r>
                            <a:rPr sz="2100">
                              <a:latin typeface="Cambria Math"/>
                            </a:rPr>
                            <m:t>+</m:t>
                          </m:r>
                          <m:sSup>
                            <m:sSupPr>
                              <m:ctrlPr>
                                <a:rPr sz="2100" i="1">
                                  <a:latin typeface="Cambria Math" panose="02040503050406030204" pitchFamily="18" charset="0"/>
                                </a:rPr>
                              </m:ctrlPr>
                            </m:sSupPr>
                            <m:e>
                              <m:d>
                                <m:dPr>
                                  <m:ctrlPr>
                                    <a:rPr sz="2100" i="1">
                                      <a:latin typeface="Cambria Math" panose="02040503050406030204" pitchFamily="18" charset="0"/>
                                    </a:rPr>
                                  </m:ctrlPr>
                                </m:dPr>
                                <m:e>
                                  <m:f>
                                    <m:fPr>
                                      <m:ctrlPr>
                                        <a:rPr sz="2100" i="1">
                                          <a:latin typeface="Cambria Math" panose="02040503050406030204" pitchFamily="18" charset="0"/>
                                        </a:rPr>
                                      </m:ctrlPr>
                                    </m:fPr>
                                    <m:num>
                                      <m:acc>
                                        <m:accPr>
                                          <m:chr m:val="̂"/>
                                          <m:ctrlPr>
                                            <a:rPr sz="2100" i="1">
                                              <a:latin typeface="Cambria Math" panose="02040503050406030204" pitchFamily="18" charset="0"/>
                                            </a:rPr>
                                          </m:ctrlPr>
                                        </m:accPr>
                                        <m:e>
                                          <m:r>
                                            <a:rPr sz="2100">
                                              <a:latin typeface="Cambria Math"/>
                                            </a:rPr>
                                            <m:t>𝛾</m:t>
                                          </m:r>
                                        </m:e>
                                      </m:acc>
                                      <m:r>
                                        <a:rPr sz="2100">
                                          <a:latin typeface="Cambria Math"/>
                                        </a:rPr>
                                        <m:t>−</m:t>
                                      </m:r>
                                      <m:r>
                                        <a:rPr sz="2100">
                                          <a:latin typeface="Cambria Math"/>
                                        </a:rPr>
                                        <m:t>𝛾</m:t>
                                      </m:r>
                                    </m:num>
                                    <m:den>
                                      <m:r>
                                        <a:rPr sz="2100">
                                          <a:latin typeface="Cambria Math"/>
                                        </a:rPr>
                                        <m:t>𝜂</m:t>
                                      </m:r>
                                    </m:den>
                                  </m:f>
                                </m:e>
                              </m:d>
                            </m:e>
                            <m:sup>
                              <m:r>
                                <a:rPr sz="2100">
                                  <a:latin typeface="Cambria Math"/>
                                </a:rPr>
                                <m:t>2</m:t>
                              </m:r>
                            </m:sup>
                          </m:sSup>
                        </m:e>
                      </m:d>
                      <m:r>
                        <a:rPr sz="2100">
                          <a:latin typeface="Cambria Math"/>
                        </a:rPr>
                        <m:t>.</m:t>
                      </m:r>
                    </m:oMath>
                  </m:oMathPara>
                </a14:m>
                <a:endParaRPr/>
              </a:p>
            </p:txBody>
          </p:sp>
        </mc:Choice>
        <mc:Fallback>
          <p:sp>
            <p:nvSpPr>
              <p:cNvPr id="10" name="content-weibull20260906s21-7">
                <a:extLst>
                  <a:ext uri="{FF2B5EF4-FFF2-40B4-BE49-F238E27FC236}">
                    <a16:creationId xmlns:a16="http://schemas.microsoft.com/office/drawing/2014/main" id="{C54A5CB9-ACB9-4913-9416-E6418AB9AA95}"/>
                  </a:ext>
                </a:extLst>
              </p:cNvPr>
              <p:cNvSpPr>
                <a:spLocks noGrp="1" noRot="1" noChangeAspect="1" noMove="1" noResize="1" noEditPoints="1" noAdjustHandles="1" noChangeArrowheads="1" noChangeShapeType="1" noTextEdit="1"/>
              </p:cNvSpPr>
              <p:nvPr/>
            </p:nvSpPr>
            <p:spPr>
              <a:xfrm>
                <a:off x="666750" y="3276600"/>
                <a:ext cx="10858500" cy="857250"/>
              </a:xfrm>
              <a:prstGeom prst="rect">
                <a:avLst/>
              </a:prstGeom>
              <a:blipFill>
                <a:blip r:embed="rId4"/>
                <a:stretch>
                  <a:fillRect b="-1429"/>
                </a:stretch>
              </a:blipFill>
              <a:ln w="0">
                <a:noFill/>
              </a:ln>
            </p:spPr>
            <p:txBody>
              <a:bodyPr/>
              <a:lstStyle/>
              <a:p>
                <a:r>
                  <a:rPr lang="zh-CN" altLang="en-US">
                    <a:noFill/>
                  </a:rPr>
                  <a:t> </a:t>
                </a:r>
              </a:p>
            </p:txBody>
          </p:sp>
        </mc:Fallback>
      </mc:AlternateContent>
      <p:sp>
        <p:nvSpPr>
          <p:cNvPr id="11" name="content-weibull20260906s21-8">
            <a:extLst>
              <a:ext uri="{FF2B5EF4-FFF2-40B4-BE49-F238E27FC236}">
                <a16:creationId xmlns:a16="http://schemas.microsoft.com/office/drawing/2014/main" id="{B32D210D-EAA4-40FB-B993-146D04ABE73F}"/>
              </a:ext>
            </a:extLst>
          </p:cNvPr>
          <p:cNvSpPr>
            <a:spLocks noGrp="1"/>
          </p:cNvSpPr>
          <p:nvPr/>
        </p:nvSpPr>
        <p:spPr>
          <a:xfrm>
            <a:off x="666750" y="4352925"/>
            <a:ext cx="10858500" cy="571500"/>
          </a:xfrm>
          <a:prstGeom prst="rect">
            <a:avLst/>
          </a:prstGeom>
          <a:noFill/>
          <a:ln w="0">
            <a:noFill/>
          </a:ln>
        </p:spPr>
        <p:txBody>
          <a:bodyPr wrap="square" lIns="0" tIns="0" rIns="0" bIns="0" anchor="t">
            <a:noAutofit/>
          </a:bodyPr>
          <a:lstStyle/>
          <a:p>
            <a:pPr algn="l">
              <a:defRPr sz="2400" b="1">
                <a:solidFill>
                  <a:srgbClr val="161616"/>
                </a:solidFill>
                <a:latin typeface="汉仪粗宋简"/>
                <a:ea typeface="汉仪粗宋简"/>
                <a:cs typeface="汉仪粗宋简"/>
              </a:defRPr>
            </a:pPr>
            <a:r>
              <a:rPr sz="2400" b="1">
                <a:solidFill>
                  <a:srgbClr val="161616"/>
                </a:solidFill>
                <a:latin typeface="汉仪粗宋简"/>
                <a:ea typeface="汉仪粗宋简"/>
                <a:cs typeface="汉仪粗宋简"/>
              </a:rPr>
              <a:t>Q：同一组三参数产生的目标寿命点误差</a:t>
            </a:r>
          </a:p>
        </p:txBody>
      </p:sp>
      <mc:AlternateContent xmlns:mc="http://schemas.openxmlformats.org/markup-compatibility/2006">
        <mc:Choice xmlns:a14="http://schemas.microsoft.com/office/drawing/2010/main" Requires="a14">
          <p:sp>
            <p:nvSpPr>
              <p:cNvPr id="12" name="content-weibull20260906s21-9">
                <a:extLst>
                  <a:ext uri="{FF2B5EF4-FFF2-40B4-BE49-F238E27FC236}">
                    <a16:creationId xmlns:a16="http://schemas.microsoft.com/office/drawing/2014/main" id="{41463446-2690-4FF8-B95C-40EA34D05478}"/>
                  </a:ext>
                </a:extLst>
              </p:cNvPr>
              <p:cNvSpPr>
                <a:spLocks noGrp="1"/>
              </p:cNvSpPr>
              <p:nvPr/>
            </p:nvSpPr>
            <p:spPr>
              <a:xfrm>
                <a:off x="666750" y="5000625"/>
                <a:ext cx="10858500" cy="790575"/>
              </a:xfrm>
              <a:prstGeom prst="rect">
                <a:avLst/>
              </a:prstGeom>
              <a:noFill/>
              <a:ln w="0">
                <a:noFill/>
              </a:ln>
            </p:spPr>
            <p:txBody>
              <a:bodyPr wrap="square" lIns="0" tIns="0" rIns="0" bIns="0" anchor="t">
                <a:noAutofit/>
              </a:bodyPr>
              <a:lstStyle/>
              <a:p>
                <a:pPr marL="0" lvl="0" indent="0" algn="ctr">
                  <a:buNone/>
                  <a:defRPr sz="2200">
                    <a:latin typeface="Cambria Math"/>
                  </a:defRPr>
                </a:pPr>
                <a14:m>
                  <m:oMathPara xmlns:m="http://schemas.openxmlformats.org/officeDocument/2006/math">
                    <m:oMathParaPr>
                      <m:jc m:val="center"/>
                    </m:oMathParaPr>
                    <m:oMath xmlns:m="http://schemas.openxmlformats.org/officeDocument/2006/math">
                      <m:sSub>
                        <m:sSubPr>
                          <m:ctrlPr>
                            <a:rPr sz="2200">
                              <a:latin typeface="Cambria Math" panose="02040503050406030204" pitchFamily="18" charset="0"/>
                            </a:rPr>
                          </m:ctrlPr>
                        </m:sSubPr>
                        <m:e>
                          <m:r>
                            <a:rPr sz="2200">
                              <a:latin typeface="Cambria Math"/>
                            </a:rPr>
                            <m:t>𝐿</m:t>
                          </m:r>
                        </m:e>
                        <m:sub>
                          <m:r>
                            <a:rPr sz="2200">
                              <a:latin typeface="Cambria Math"/>
                            </a:rPr>
                            <m:t>𝑄</m:t>
                          </m:r>
                        </m:sub>
                      </m:sSub>
                      <m:r>
                        <a:rPr sz="2200">
                          <a:latin typeface="Cambria Math"/>
                        </a:rPr>
                        <m:t>=</m:t>
                      </m:r>
                      <m:r>
                        <m:rPr>
                          <m:sty m:val="p"/>
                        </m:rPr>
                        <a:rPr sz="2200">
                          <a:latin typeface="Cambria Math"/>
                        </a:rPr>
                        <m:t>mean</m:t>
                      </m:r>
                      <m:d>
                        <m:dPr>
                          <m:begChr m:val="["/>
                          <m:endChr m:val="]"/>
                          <m:ctrlPr>
                            <a:rPr sz="2200" i="1">
                              <a:latin typeface="Cambria Math" panose="02040503050406030204" pitchFamily="18" charset="0"/>
                            </a:rPr>
                          </m:ctrlPr>
                        </m:dPr>
                        <m:e>
                          <m:sSup>
                            <m:sSupPr>
                              <m:ctrlPr>
                                <a:rPr sz="2200" i="1">
                                  <a:latin typeface="Cambria Math" panose="02040503050406030204" pitchFamily="18" charset="0"/>
                                </a:rPr>
                              </m:ctrlPr>
                            </m:sSupPr>
                            <m:e>
                              <m:d>
                                <m:dPr>
                                  <m:ctrlPr>
                                    <a:rPr sz="2200" i="1">
                                      <a:latin typeface="Cambria Math" panose="02040503050406030204" pitchFamily="18" charset="0"/>
                                    </a:rPr>
                                  </m:ctrlPr>
                                </m:dPr>
                                <m:e>
                                  <m:f>
                                    <m:fPr>
                                      <m:ctrlPr>
                                        <a:rPr sz="2200" i="1">
                                          <a:latin typeface="Cambria Math" panose="02040503050406030204" pitchFamily="18" charset="0"/>
                                        </a:rPr>
                                      </m:ctrlPr>
                                    </m:fPr>
                                    <m:num>
                                      <m:sSub>
                                        <m:sSubPr>
                                          <m:ctrlPr>
                                            <a:rPr sz="2200" i="1">
                                              <a:latin typeface="Cambria Math" panose="02040503050406030204" pitchFamily="18" charset="0"/>
                                            </a:rPr>
                                          </m:ctrlPr>
                                        </m:sSubPr>
                                        <m:e>
                                          <m:acc>
                                            <m:accPr>
                                              <m:chr m:val="̂"/>
                                              <m:ctrlPr>
                                                <a:rPr sz="2200" i="1">
                                                  <a:latin typeface="Cambria Math" panose="02040503050406030204" pitchFamily="18" charset="0"/>
                                                </a:rPr>
                                              </m:ctrlPr>
                                            </m:accPr>
                                            <m:e>
                                              <m:r>
                                                <a:rPr sz="2200">
                                                  <a:latin typeface="Cambria Math"/>
                                                </a:rPr>
                                                <m:t>𝑥</m:t>
                                              </m:r>
                                            </m:e>
                                          </m:acc>
                                        </m:e>
                                        <m:sub>
                                          <m:r>
                                            <a:rPr sz="2200">
                                              <a:latin typeface="Cambria Math"/>
                                            </a:rPr>
                                            <m:t>0.95</m:t>
                                          </m:r>
                                        </m:sub>
                                      </m:sSub>
                                      <m:r>
                                        <a:rPr sz="2200">
                                          <a:latin typeface="Cambria Math"/>
                                        </a:rPr>
                                        <m:t>−</m:t>
                                      </m:r>
                                      <m:sSub>
                                        <m:sSubPr>
                                          <m:ctrlPr>
                                            <a:rPr sz="2200" i="1">
                                              <a:latin typeface="Cambria Math" panose="02040503050406030204" pitchFamily="18" charset="0"/>
                                            </a:rPr>
                                          </m:ctrlPr>
                                        </m:sSubPr>
                                        <m:e>
                                          <m:r>
                                            <a:rPr sz="2200">
                                              <a:latin typeface="Cambria Math"/>
                                            </a:rPr>
                                            <m:t>𝑥</m:t>
                                          </m:r>
                                        </m:e>
                                        <m:sub>
                                          <m:r>
                                            <a:rPr sz="2200">
                                              <a:latin typeface="Cambria Math"/>
                                            </a:rPr>
                                            <m:t>0.95</m:t>
                                          </m:r>
                                        </m:sub>
                                      </m:sSub>
                                    </m:num>
                                    <m:den>
                                      <m:sSub>
                                        <m:sSubPr>
                                          <m:ctrlPr>
                                            <a:rPr sz="2200" i="1">
                                              <a:latin typeface="Cambria Math" panose="02040503050406030204" pitchFamily="18" charset="0"/>
                                            </a:rPr>
                                          </m:ctrlPr>
                                        </m:sSubPr>
                                        <m:e>
                                          <m:r>
                                            <a:rPr sz="2200">
                                              <a:latin typeface="Cambria Math"/>
                                            </a:rPr>
                                            <m:t>𝑥</m:t>
                                          </m:r>
                                        </m:e>
                                        <m:sub>
                                          <m:r>
                                            <a:rPr sz="2200">
                                              <a:latin typeface="Cambria Math"/>
                                            </a:rPr>
                                            <m:t>0.95</m:t>
                                          </m:r>
                                        </m:sub>
                                      </m:sSub>
                                    </m:den>
                                  </m:f>
                                </m:e>
                              </m:d>
                            </m:e>
                            <m:sup>
                              <m:r>
                                <a:rPr sz="2200">
                                  <a:latin typeface="Cambria Math"/>
                                </a:rPr>
                                <m:t>2</m:t>
                              </m:r>
                            </m:sup>
                          </m:sSup>
                        </m:e>
                      </m:d>
                      <m:r>
                        <a:rPr sz="2200">
                          <a:latin typeface="Cambria Math"/>
                        </a:rPr>
                        <m:t>.</m:t>
                      </m:r>
                    </m:oMath>
                  </m:oMathPara>
                </a14:m>
                <a:endParaRPr/>
              </a:p>
            </p:txBody>
          </p:sp>
        </mc:Choice>
        <mc:Fallback>
          <p:sp>
            <p:nvSpPr>
              <p:cNvPr id="12" name="content-weibull20260906s21-9">
                <a:extLst>
                  <a:ext uri="{FF2B5EF4-FFF2-40B4-BE49-F238E27FC236}">
                    <a16:creationId xmlns:a16="http://schemas.microsoft.com/office/drawing/2014/main" id="{41463446-2690-4FF8-B95C-40EA34D05478}"/>
                  </a:ext>
                </a:extLst>
              </p:cNvPr>
              <p:cNvSpPr>
                <a:spLocks noGrp="1" noRot="1" noChangeAspect="1" noMove="1" noResize="1" noEditPoints="1" noAdjustHandles="1" noChangeArrowheads="1" noChangeShapeType="1" noTextEdit="1"/>
              </p:cNvSpPr>
              <p:nvPr/>
            </p:nvSpPr>
            <p:spPr>
              <a:xfrm>
                <a:off x="666750" y="5000625"/>
                <a:ext cx="10858500" cy="790575"/>
              </a:xfrm>
              <a:prstGeom prst="rect">
                <a:avLst/>
              </a:prstGeom>
              <a:blipFill>
                <a:blip r:embed="rId5"/>
                <a:stretch>
                  <a:fillRect b="-10769"/>
                </a:stretch>
              </a:blipFill>
              <a:ln w="0">
                <a:noFill/>
              </a:ln>
            </p:spPr>
            <p:txBody>
              <a:bodyPr/>
              <a:lstStyle/>
              <a:p>
                <a:r>
                  <a:rPr lang="zh-CN" altLang="en-US">
                    <a:noFill/>
                  </a:rPr>
                  <a:t> </a:t>
                </a:r>
              </a:p>
            </p:txBody>
          </p:sp>
        </mc:Fallback>
      </mc:AlternateContent>
      <p:sp>
        <p:nvSpPr>
          <p:cNvPr id="13" name="content-weibull20260906s21-10">
            <a:extLst>
              <a:ext uri="{FF2B5EF4-FFF2-40B4-BE49-F238E27FC236}">
                <a16:creationId xmlns:a16="http://schemas.microsoft.com/office/drawing/2014/main" id="{E1F5251C-AB18-4F90-82A6-383517EEB980}"/>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两种监督服务不同目标，接下来配对检验收益与代价。</a:t>
            </a:r>
          </a:p>
        </p:txBody>
      </p:sp>
    </p:spTree>
    <p:extLst>
      <p:ext uri="{BB962C8B-B14F-4D97-AF65-F5344CB8AC3E}">
        <p14:creationId xmlns:p14="http://schemas.microsoft.com/office/powerpoint/2010/main" val="2021977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共同数据与网络，比较完整训练及验证流程</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2-4">
            <a:extLst>
              <a:ext uri="{FF2B5EF4-FFF2-40B4-BE49-F238E27FC236}">
                <a16:creationId xmlns:a16="http://schemas.microsoft.com/office/drawing/2014/main" id="{725DA54E-2FFB-4595-A7D7-991FD5930ED6}"/>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22 / 32</a:t>
            </a:r>
          </a:p>
        </p:txBody>
      </p:sp>
      <p:sp>
        <p:nvSpPr>
          <p:cNvPr id="9" name="content-weibull20260906s22-5">
            <a:extLst>
              <a:ext uri="{FF2B5EF4-FFF2-40B4-BE49-F238E27FC236}">
                <a16:creationId xmlns:a16="http://schemas.microsoft.com/office/drawing/2014/main" id="{041810EA-E96E-4644-B3A7-B0CFEBCB765D}"/>
              </a:ext>
            </a:extLst>
          </p:cNvPr>
          <p:cNvSpPr>
            <a:spLocks noGrp="1"/>
          </p:cNvSpPr>
          <p:nvPr/>
        </p:nvSpPr>
        <p:spPr>
          <a:xfrm>
            <a:off x="552450" y="1952625"/>
            <a:ext cx="3810000" cy="63817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160 单元、48,000 组样本</a:t>
            </a:r>
          </a:p>
        </p:txBody>
      </p:sp>
      <p:sp>
        <p:nvSpPr>
          <p:cNvPr id="10" name="content-weibull20260906s22-6">
            <a:extLst>
              <a:ext uri="{FF2B5EF4-FFF2-40B4-BE49-F238E27FC236}">
                <a16:creationId xmlns:a16="http://schemas.microsoft.com/office/drawing/2014/main" id="{1DB82CCC-474F-4815-8668-798317BAE813}"/>
              </a:ext>
            </a:extLst>
          </p:cNvPr>
          <p:cNvSpPr>
            <a:spLocks noGrp="1"/>
          </p:cNvSpPr>
          <p:nvPr/>
        </p:nvSpPr>
        <p:spPr>
          <a:xfrm>
            <a:off x="552450" y="2686050"/>
            <a:ext cx="3810000" cy="63817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固定 η = 1000</a:t>
            </a:r>
          </a:p>
        </p:txBody>
      </p:sp>
      <p:sp>
        <p:nvSpPr>
          <p:cNvPr id="11" name="content-weibull20260906s22-7">
            <a:extLst>
              <a:ext uri="{FF2B5EF4-FFF2-40B4-BE49-F238E27FC236}">
                <a16:creationId xmlns:a16="http://schemas.microsoft.com/office/drawing/2014/main" id="{638775EC-B1C1-41BB-998A-73BD2A21D90D}"/>
              </a:ext>
            </a:extLst>
          </p:cNvPr>
          <p:cNvSpPr>
            <a:spLocks noGrp="1"/>
          </p:cNvSpPr>
          <p:nvPr/>
        </p:nvSpPr>
        <p:spPr>
          <a:xfrm>
            <a:off x="552450" y="3419475"/>
            <a:ext cx="3810000" cy="63817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每路线 200 个模型单元</a:t>
            </a:r>
          </a:p>
        </p:txBody>
      </p:sp>
      <p:sp>
        <p:nvSpPr>
          <p:cNvPr id="12" name="content-weibull20260906s22-8">
            <a:extLst>
              <a:ext uri="{FF2B5EF4-FFF2-40B4-BE49-F238E27FC236}">
                <a16:creationId xmlns:a16="http://schemas.microsoft.com/office/drawing/2014/main" id="{8BCF988B-0C49-4D4E-9DD4-84AF624140ED}"/>
              </a:ext>
            </a:extLst>
          </p:cNvPr>
          <p:cNvSpPr>
            <a:spLocks noGrp="1"/>
          </p:cNvSpPr>
          <p:nvPr/>
        </p:nvSpPr>
        <p:spPr>
          <a:xfrm>
            <a:off x="552450" y="4152900"/>
            <a:ext cx="3810000" cy="63817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配对共享划分与初始化</a:t>
            </a:r>
          </a:p>
        </p:txBody>
      </p:sp>
      <p:sp>
        <p:nvSpPr>
          <p:cNvPr id="13" name="content-weibull20260906s22-9">
            <a:extLst>
              <a:ext uri="{FF2B5EF4-FFF2-40B4-BE49-F238E27FC236}">
                <a16:creationId xmlns:a16="http://schemas.microsoft.com/office/drawing/2014/main" id="{499E1638-3BC1-4196-87B3-167B94FD02B2}"/>
              </a:ext>
            </a:extLst>
          </p:cNvPr>
          <p:cNvSpPr>
            <a:spLocks noGrp="1"/>
          </p:cNvSpPr>
          <p:nvPr/>
        </p:nvSpPr>
        <p:spPr>
          <a:xfrm>
            <a:off x="552450" y="4886325"/>
            <a:ext cx="3810000" cy="63817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P 按 P 验证，Q 按 Q 验证</a:t>
            </a:r>
          </a:p>
        </p:txBody>
      </p:sp>
      <p:sp>
        <p:nvSpPr>
          <p:cNvPr id="14" name="content-weibull20260906s22-10">
            <a:extLst>
              <a:ext uri="{FF2B5EF4-FFF2-40B4-BE49-F238E27FC236}">
                <a16:creationId xmlns:a16="http://schemas.microsoft.com/office/drawing/2014/main" id="{5B95820B-DA01-403E-A547-B45778053277}"/>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主比较涵盖训练和验证流程，损失作用需结合共同验证对照判断。</a:t>
            </a:r>
          </a:p>
        </p:txBody>
      </p:sp>
      <p:pic>
        <p:nvPicPr>
          <p:cNvPr id="4" name="图片 3"/>
          <p:cNvPicPr>
            <a:picLocks noChangeAspect="1"/>
          </p:cNvPicPr>
          <p:nvPr/>
        </p:nvPicPr>
        <p:blipFill>
          <a:blip r:embed="rId3"/>
          <a:stretch/>
        </p:blipFill>
        <p:spPr>
          <a:xfrm>
            <a:off x="5454178" y="1714500"/>
            <a:ext cx="5236517" cy="4000500"/>
          </a:xfrm>
          <a:prstGeom prst="rect">
            <a:avLst/>
          </a:prstGeom>
        </p:spPr>
      </p:pic>
    </p:spTree>
    <p:extLst>
      <p:ext uri="{BB962C8B-B14F-4D97-AF65-F5344CB8AC3E}">
        <p14:creationId xmlns:p14="http://schemas.microsoft.com/office/powerpoint/2010/main" val="187572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直接对齐目标点带来小幅总体收益</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3-4">
            <a:extLst>
              <a:ext uri="{FF2B5EF4-FFF2-40B4-BE49-F238E27FC236}">
                <a16:creationId xmlns:a16="http://schemas.microsoft.com/office/drawing/2014/main" id="{9C2446B4-97B3-4394-A37E-CB181C5EC8BE}"/>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23 / 32</a:t>
            </a:r>
          </a:p>
        </p:txBody>
      </p:sp>
      <p:graphicFrame>
        <p:nvGraphicFramePr>
          <p:cNvPr id="16" name="表格 15"/>
          <p:cNvGraphicFramePr/>
          <p:nvPr/>
        </p:nvGraphicFramePr>
        <p:xfrm>
          <a:off x="1238250" y="2000250"/>
          <a:ext cx="9715500" cy="2047875"/>
        </p:xfrm>
        <a:graphic>
          <a:graphicData uri="http://schemas.openxmlformats.org/drawingml/2006/table">
            <a:tbl>
              <a:tblPr/>
              <a:tblGrid>
                <a:gridCol w="61912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tblGrid>
              <a:tr h="682625">
                <a:tc>
                  <a:txBody>
                    <a:bodyPr/>
                    <a:lstStyle/>
                    <a:p>
                      <a:pPr algn="l"/>
                      <a:r>
                        <a:rPr sz="2400" b="1">
                          <a:solidFill>
                            <a:srgbClr val="FFFFFF"/>
                          </a:solidFill>
                          <a:latin typeface="汉仪粗宋简"/>
                          <a:ea typeface="汉仪粗宋简"/>
                          <a:cs typeface="汉仪粗宋简"/>
                        </a:rPr>
                        <a:t>路线</a:t>
                      </a:r>
                    </a:p>
                  </a:txBody>
                  <a:tcPr anchor="ctr">
                    <a:solidFill>
                      <a:srgbClr val="315DA7"/>
                    </a:solidFill>
                  </a:tcPr>
                </a:tc>
                <a:tc>
                  <a:txBody>
                    <a:bodyPr/>
                    <a:lstStyle/>
                    <a:p>
                      <a:pPr algn="ctr"/>
                      <a:r>
                        <a:rPr sz="2400" b="1">
                          <a:solidFill>
                            <a:srgbClr val="FFFFFF"/>
                          </a:solidFill>
                          <a:latin typeface="汉仪粗宋简"/>
                          <a:ea typeface="汉仪粗宋简"/>
                          <a:cs typeface="汉仪粗宋简"/>
                        </a:rPr>
                        <a:t>x</a:t>
                      </a:r>
                      <a:r>
                        <a:rPr sz="1800" b="1" baseline="-25000">
                          <a:solidFill>
                            <a:srgbClr val="FFFFFF"/>
                          </a:solidFill>
                          <a:latin typeface="汉仪粗宋简"/>
                          <a:ea typeface="汉仪粗宋简"/>
                          <a:cs typeface="汉仪粗宋简"/>
                        </a:rPr>
                        <a:t>0.95</a:t>
                      </a:r>
                      <a:r>
                        <a:rPr sz="2400" b="1">
                          <a:solidFill>
                            <a:srgbClr val="FFFFFF"/>
                          </a:solidFill>
                          <a:latin typeface="汉仪粗宋简"/>
                          <a:ea typeface="汉仪粗宋简"/>
                          <a:cs typeface="汉仪粗宋简"/>
                        </a:rPr>
                        <a:t> RMSRE</a:t>
                      </a:r>
                    </a:p>
                  </a:txBody>
                  <a:tcPr anchor="ctr">
                    <a:solidFill>
                      <a:srgbClr val="315DA7"/>
                    </a:solidFill>
                  </a:tcPr>
                </a:tc>
                <a:extLst>
                  <a:ext uri="{0D108BD9-81ED-4DB2-BD59-A6C34878D82A}">
                    <a16:rowId xmlns:a16="http://schemas.microsoft.com/office/drawing/2014/main" val="10000"/>
                  </a:ext>
                </a:extLst>
              </a:tr>
              <a:tr h="682625">
                <a:tc>
                  <a:txBody>
                    <a:bodyPr/>
                    <a:lstStyle/>
                    <a:p>
                      <a:pPr algn="l"/>
                      <a:r>
                        <a:rPr sz="2400" b="0">
                          <a:solidFill>
                            <a:srgbClr val="161616"/>
                          </a:solidFill>
                          <a:latin typeface="汉仪粗宋简"/>
                          <a:ea typeface="汉仪粗宋简"/>
                          <a:cs typeface="汉仪粗宋简"/>
                        </a:rPr>
                        <a:t>P：参数导向</a:t>
                      </a:r>
                    </a:p>
                  </a:txBody>
                  <a:tcPr anchor="ctr">
                    <a:solidFill>
                      <a:srgbClr val="FFFFFF"/>
                    </a:solidFill>
                  </a:tcPr>
                </a:tc>
                <a:tc>
                  <a:txBody>
                    <a:bodyPr/>
                    <a:lstStyle/>
                    <a:p>
                      <a:pPr algn="ctr"/>
                      <a:r>
                        <a:rPr sz="2400" b="0">
                          <a:solidFill>
                            <a:srgbClr val="161616"/>
                          </a:solidFill>
                          <a:latin typeface="汉仪粗宋简"/>
                          <a:ea typeface="汉仪粗宋简"/>
                          <a:cs typeface="汉仪粗宋简"/>
                        </a:rPr>
                        <a:t>16.43%</a:t>
                      </a:r>
                    </a:p>
                  </a:txBody>
                  <a:tcPr anchor="ctr">
                    <a:solidFill>
                      <a:srgbClr val="FFFFFF"/>
                    </a:solidFill>
                  </a:tcPr>
                </a:tc>
                <a:extLst>
                  <a:ext uri="{0D108BD9-81ED-4DB2-BD59-A6C34878D82A}">
                    <a16:rowId xmlns:a16="http://schemas.microsoft.com/office/drawing/2014/main" val="10001"/>
                  </a:ext>
                </a:extLst>
              </a:tr>
              <a:tr h="682625">
                <a:tc>
                  <a:txBody>
                    <a:bodyPr/>
                    <a:lstStyle/>
                    <a:p>
                      <a:pPr algn="l"/>
                      <a:r>
                        <a:rPr sz="2400" b="0">
                          <a:solidFill>
                            <a:srgbClr val="161616"/>
                          </a:solidFill>
                          <a:latin typeface="汉仪粗宋简"/>
                          <a:ea typeface="汉仪粗宋简"/>
                          <a:cs typeface="汉仪粗宋简"/>
                        </a:rPr>
                        <a:t>Q：目标点导向</a:t>
                      </a:r>
                    </a:p>
                  </a:txBody>
                  <a:tcPr anchor="ctr">
                    <a:solidFill>
                      <a:srgbClr val="FFFFFF"/>
                    </a:solidFill>
                  </a:tcPr>
                </a:tc>
                <a:tc>
                  <a:txBody>
                    <a:bodyPr/>
                    <a:lstStyle/>
                    <a:p>
                      <a:pPr algn="ctr"/>
                      <a:r>
                        <a:rPr sz="2400" b="0">
                          <a:solidFill>
                            <a:srgbClr val="161616"/>
                          </a:solidFill>
                          <a:latin typeface="汉仪粗宋简"/>
                          <a:ea typeface="汉仪粗宋简"/>
                          <a:cs typeface="汉仪粗宋简"/>
                        </a:rPr>
                        <a:t>16.09%</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9" name="content-weibull20260906s23-5">
            <a:extLst>
              <a:ext uri="{FF2B5EF4-FFF2-40B4-BE49-F238E27FC236}">
                <a16:creationId xmlns:a16="http://schemas.microsoft.com/office/drawing/2014/main" id="{B311DBE7-8C5F-4A13-91EB-43BB13C03B91}"/>
              </a:ext>
            </a:extLst>
          </p:cNvPr>
          <p:cNvSpPr>
            <a:spLocks noGrp="1"/>
          </p:cNvSpPr>
          <p:nvPr/>
        </p:nvSpPr>
        <p:spPr>
          <a:xfrm>
            <a:off x="1238250" y="4524375"/>
            <a:ext cx="9715500" cy="704850"/>
          </a:xfrm>
          <a:prstGeom prst="rect">
            <a:avLst/>
          </a:prstGeom>
          <a:noFill/>
          <a:ln w="0">
            <a:noFill/>
          </a:ln>
        </p:spPr>
        <p:txBody>
          <a:bodyPr wrap="square" lIns="0" tIns="0" rIns="0" bIns="0" anchor="t">
            <a:noAutofit/>
          </a:bodyPr>
          <a:lstStyle/>
          <a:p>
            <a:pPr algn="ctr">
              <a:defRPr sz="3150" b="1">
                <a:solidFill>
                  <a:srgbClr val="315DA7"/>
                </a:solidFill>
                <a:latin typeface="汉仪粗宋简"/>
                <a:ea typeface="汉仪粗宋简"/>
                <a:cs typeface="汉仪粗宋简"/>
              </a:defRPr>
            </a:pPr>
            <a:r>
              <a:rPr sz="3150" b="1">
                <a:solidFill>
                  <a:srgbClr val="315DA7"/>
                </a:solidFill>
                <a:latin typeface="汉仪粗宋简"/>
                <a:ea typeface="汉仪粗宋简"/>
                <a:cs typeface="汉仪粗宋简"/>
              </a:rPr>
              <a:t>相对改善 2.07%</a:t>
            </a:r>
          </a:p>
        </p:txBody>
      </p:sp>
      <p:sp>
        <p:nvSpPr>
          <p:cNvPr id="10" name="content-weibull20260906s23-6">
            <a:extLst>
              <a:ext uri="{FF2B5EF4-FFF2-40B4-BE49-F238E27FC236}">
                <a16:creationId xmlns:a16="http://schemas.microsoft.com/office/drawing/2014/main" id="{8187537B-B158-4862-8E5F-947DC1799471}"/>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目标点总体收益存在，仍需检查参数和其他寿命点的代价。</a:t>
            </a:r>
          </a:p>
        </p:txBody>
      </p:sp>
    </p:spTree>
    <p:extLst>
      <p:ext uri="{BB962C8B-B14F-4D97-AF65-F5344CB8AC3E}">
        <p14:creationId xmlns:p14="http://schemas.microsoft.com/office/powerpoint/2010/main" val="2103708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单点监督允许较大参数误差相互抵消</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4-4">
            <a:extLst>
              <a:ext uri="{FF2B5EF4-FFF2-40B4-BE49-F238E27FC236}">
                <a16:creationId xmlns:a16="http://schemas.microsoft.com/office/drawing/2014/main" id="{A89F9B1A-EFE7-4DA7-9FB3-4EF7F24E7F69}"/>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24 / 32</a:t>
            </a:r>
          </a:p>
        </p:txBody>
      </p:sp>
      <p:pic>
        <p:nvPicPr>
          <p:cNvPr id="19" name="图片 18"/>
          <p:cNvPicPr>
            <a:picLocks noChangeAspect="1"/>
          </p:cNvPicPr>
          <p:nvPr/>
        </p:nvPicPr>
        <p:blipFill>
          <a:blip r:embed="rId3"/>
          <a:stretch/>
        </p:blipFill>
        <p:spPr>
          <a:xfrm>
            <a:off x="5827000" y="1666875"/>
            <a:ext cx="3871749" cy="4095750"/>
          </a:xfrm>
          <a:prstGeom prst="rect">
            <a:avLst/>
          </a:prstGeom>
        </p:spPr>
      </p:pic>
      <p:sp>
        <p:nvSpPr>
          <p:cNvPr id="9" name="content-weibull20260906s24-5">
            <a:extLst>
              <a:ext uri="{FF2B5EF4-FFF2-40B4-BE49-F238E27FC236}">
                <a16:creationId xmlns:a16="http://schemas.microsoft.com/office/drawing/2014/main" id="{027B0B79-0721-43B4-BA92-1B552327F609}"/>
              </a:ext>
            </a:extLst>
          </p:cNvPr>
          <p:cNvSpPr>
            <a:spLocks noGrp="1"/>
          </p:cNvSpPr>
          <p:nvPr/>
        </p:nvSpPr>
        <p:spPr>
          <a:xfrm>
            <a:off x="552450" y="1952625"/>
            <a:ext cx="3238500" cy="76200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单点提供标量监督</a:t>
            </a:r>
          </a:p>
        </p:txBody>
      </p:sp>
      <mc:AlternateContent xmlns:mc="http://schemas.openxmlformats.org/markup-compatibility/2006">
        <mc:Choice xmlns:a14="http://schemas.microsoft.com/office/drawing/2010/main" Requires="a14">
          <p:sp>
            <p:nvSpPr>
              <p:cNvPr id="10" name="content-weibull20260906s24-6">
                <a:extLst>
                  <a:ext uri="{FF2B5EF4-FFF2-40B4-BE49-F238E27FC236}">
                    <a16:creationId xmlns:a16="http://schemas.microsoft.com/office/drawing/2014/main" id="{F847F6D5-5B59-4E20-AABD-165FE99A7194}"/>
                  </a:ext>
                </a:extLst>
              </p:cNvPr>
              <p:cNvSpPr>
                <a:spLocks noGrp="1"/>
              </p:cNvSpPr>
              <p:nvPr/>
            </p:nvSpPr>
            <p:spPr>
              <a:xfrm>
                <a:off x="552450" y="2571750"/>
                <a:ext cx="3238500" cy="590550"/>
              </a:xfrm>
              <a:prstGeom prst="rect">
                <a:avLst/>
              </a:prstGeom>
              <a:noFill/>
              <a:ln w="0">
                <a:noFill/>
              </a:ln>
            </p:spPr>
            <p:txBody>
              <a:bodyPr wrap="square" lIns="0" tIns="0" rIns="0" bIns="0" anchor="t">
                <a:noAutofit/>
              </a:bodyPr>
              <a:lstStyle/>
              <a:p>
                <a:pPr marL="0" lvl="0" indent="0" algn="l">
                  <a:buNone/>
                  <a:defRPr sz="2100">
                    <a:latin typeface="Cambria Math"/>
                  </a:defRPr>
                </a:pPr>
                <a14:m>
                  <m:oMathPara xmlns:m="http://schemas.openxmlformats.org/officeDocument/2006/math">
                    <m:oMathParaPr>
                      <m:jc m:val="center"/>
                    </m:oMathParaPr>
                    <m:oMath xmlns:m="http://schemas.openxmlformats.org/officeDocument/2006/math">
                      <m:sSub>
                        <m:sSubPr>
                          <m:ctrlPr>
                            <a:rPr sz="2100">
                              <a:latin typeface="Cambria Math" panose="02040503050406030204" pitchFamily="18" charset="0"/>
                            </a:rPr>
                          </m:ctrlPr>
                        </m:sSubPr>
                        <m:e>
                          <m:r>
                            <a:rPr sz="2100">
                              <a:latin typeface="Cambria Math"/>
                            </a:rPr>
                            <m:t>𝐻</m:t>
                          </m:r>
                        </m:e>
                        <m:sub>
                          <m:r>
                            <a:rPr sz="2100">
                              <a:latin typeface="Cambria Math"/>
                            </a:rPr>
                            <m:t>𝑄</m:t>
                          </m:r>
                        </m:sub>
                      </m:sSub>
                      <m:r>
                        <a:rPr sz="2100">
                          <a:latin typeface="Cambria Math"/>
                        </a:rPr>
                        <m:t>(0)=2</m:t>
                      </m:r>
                      <m:sSub>
                        <m:sSubPr>
                          <m:ctrlPr>
                            <a:rPr sz="2100" i="1">
                              <a:latin typeface="Cambria Math" panose="02040503050406030204" pitchFamily="18" charset="0"/>
                            </a:rPr>
                          </m:ctrlPr>
                        </m:sSubPr>
                        <m:e>
                          <m:r>
                            <a:rPr sz="2100">
                              <a:latin typeface="Cambria Math"/>
                            </a:rPr>
                            <m:t>𝑠</m:t>
                          </m:r>
                        </m:e>
                        <m:sub>
                          <m:r>
                            <a:rPr sz="2100">
                              <a:latin typeface="Cambria Math"/>
                            </a:rPr>
                            <m:t>0</m:t>
                          </m:r>
                        </m:sub>
                      </m:sSub>
                      <m:sSubSup>
                        <m:sSubSupPr>
                          <m:ctrlPr>
                            <a:rPr sz="2100" i="1">
                              <a:latin typeface="Cambria Math" panose="02040503050406030204" pitchFamily="18" charset="0"/>
                            </a:rPr>
                          </m:ctrlPr>
                        </m:sSubSupPr>
                        <m:e>
                          <m:r>
                            <a:rPr sz="2100">
                              <a:latin typeface="Cambria Math"/>
                            </a:rPr>
                            <m:t>𝑠</m:t>
                          </m:r>
                        </m:e>
                        <m:sub>
                          <m:r>
                            <a:rPr sz="2100">
                              <a:latin typeface="Cambria Math"/>
                            </a:rPr>
                            <m:t>0</m:t>
                          </m:r>
                        </m:sub>
                        <m:sup>
                          <m:r>
                            <a:rPr sz="2100">
                              <a:latin typeface="Cambria Math"/>
                            </a:rPr>
                            <m:t>𝖳</m:t>
                          </m:r>
                        </m:sup>
                      </m:sSubSup>
                    </m:oMath>
                  </m:oMathPara>
                </a14:m>
                <a:endParaRPr/>
              </a:p>
            </p:txBody>
          </p:sp>
        </mc:Choice>
        <mc:Fallback>
          <p:sp>
            <p:nvSpPr>
              <p:cNvPr id="10" name="content-weibull20260906s24-6">
                <a:extLst>
                  <a:ext uri="{FF2B5EF4-FFF2-40B4-BE49-F238E27FC236}">
                    <a16:creationId xmlns:a16="http://schemas.microsoft.com/office/drawing/2014/main" id="{F847F6D5-5B59-4E20-AABD-165FE99A7194}"/>
                  </a:ext>
                </a:extLst>
              </p:cNvPr>
              <p:cNvSpPr>
                <a:spLocks noGrp="1" noRot="1" noChangeAspect="1" noMove="1" noResize="1" noEditPoints="1" noAdjustHandles="1" noChangeArrowheads="1" noChangeShapeType="1" noTextEdit="1"/>
              </p:cNvSpPr>
              <p:nvPr/>
            </p:nvSpPr>
            <p:spPr>
              <a:xfrm>
                <a:off x="552450" y="2571750"/>
                <a:ext cx="3238500" cy="590550"/>
              </a:xfrm>
              <a:prstGeom prst="rect">
                <a:avLst/>
              </a:prstGeom>
              <a:blipFill>
                <a:blip r:embed="rId4"/>
                <a:stretch>
                  <a:fillRect/>
                </a:stretch>
              </a:blipFill>
              <a:ln w="0">
                <a:noFill/>
              </a:ln>
            </p:spPr>
            <p:txBody>
              <a:bodyPr/>
              <a:lstStyle/>
              <a:p>
                <a:r>
                  <a:rPr lang="zh-CN" altLang="en-US">
                    <a:noFill/>
                  </a:rPr>
                  <a:t> </a:t>
                </a:r>
              </a:p>
            </p:txBody>
          </p:sp>
        </mc:Fallback>
      </mc:AlternateContent>
      <p:sp>
        <p:nvSpPr>
          <p:cNvPr id="11" name="content-weibull20260906s24-7">
            <a:extLst>
              <a:ext uri="{FF2B5EF4-FFF2-40B4-BE49-F238E27FC236}">
                <a16:creationId xmlns:a16="http://schemas.microsoft.com/office/drawing/2014/main" id="{F5EA3515-EDDE-4BD3-A55B-18A52608F4DB}"/>
              </a:ext>
            </a:extLst>
          </p:cNvPr>
          <p:cNvSpPr>
            <a:spLocks noGrp="1"/>
          </p:cNvSpPr>
          <p:nvPr/>
        </p:nvSpPr>
        <p:spPr>
          <a:xfrm>
            <a:off x="552450" y="3667125"/>
            <a:ext cx="3238500" cy="76200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平均参数损失</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0.0539 → 71.7</a:t>
            </a:r>
          </a:p>
        </p:txBody>
      </p:sp>
      <p:sp>
        <p:nvSpPr>
          <p:cNvPr id="12" name="content-weibull20260906s24-8">
            <a:extLst>
              <a:ext uri="{FF2B5EF4-FFF2-40B4-BE49-F238E27FC236}">
                <a16:creationId xmlns:a16="http://schemas.microsoft.com/office/drawing/2014/main" id="{EFA45DB5-516D-44EF-9D5E-85362294112B}"/>
              </a:ext>
            </a:extLst>
          </p:cNvPr>
          <p:cNvSpPr>
            <a:spLocks noGrp="1"/>
          </p:cNvSpPr>
          <p:nvPr/>
        </p:nvSpPr>
        <p:spPr>
          <a:xfrm>
            <a:off x="552450" y="4524375"/>
            <a:ext cx="3238500" cy="76200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补偿指数</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0.332 → 0.915</a:t>
            </a:r>
          </a:p>
        </p:txBody>
      </p:sp>
      <p:sp>
        <p:nvSpPr>
          <p:cNvPr id="13" name="content-weibull20260906s24-9">
            <a:extLst>
              <a:ext uri="{FF2B5EF4-FFF2-40B4-BE49-F238E27FC236}">
                <a16:creationId xmlns:a16="http://schemas.microsoft.com/office/drawing/2014/main" id="{5702F87A-2958-47F2-A3D1-97420F971356}"/>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单点监督允许参数误差抵消，低目标误差不保证参数准确。</a:t>
            </a:r>
          </a:p>
        </p:txBody>
      </p:sp>
    </p:spTree>
    <p:extLst>
      <p:ext uri="{BB962C8B-B14F-4D97-AF65-F5344CB8AC3E}">
        <p14:creationId xmlns:p14="http://schemas.microsoft.com/office/powerpoint/2010/main" val="1020518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目标点略好，另外两个寿命点明显变差</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5-4">
            <a:extLst>
              <a:ext uri="{FF2B5EF4-FFF2-40B4-BE49-F238E27FC236}">
                <a16:creationId xmlns:a16="http://schemas.microsoft.com/office/drawing/2014/main" id="{AD874159-497F-4E34-8410-5E113D5E33B2}"/>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25 / 32</a:t>
            </a:r>
          </a:p>
        </p:txBody>
      </p:sp>
      <p:graphicFrame>
        <p:nvGraphicFramePr>
          <p:cNvPr id="15" name="表格 14"/>
          <p:cNvGraphicFramePr/>
          <p:nvPr/>
        </p:nvGraphicFramePr>
        <p:xfrm>
          <a:off x="619125" y="2190750"/>
          <a:ext cx="10906125" cy="2667000"/>
        </p:xfrm>
        <a:graphic>
          <a:graphicData uri="http://schemas.openxmlformats.org/drawingml/2006/table">
            <a:tbl>
              <a:tblPr/>
              <a:tblGrid>
                <a:gridCol w="19526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3810000">
                  <a:extLst>
                    <a:ext uri="{9D8B030D-6E8A-4147-A177-3AD203B41FA5}">
                      <a16:colId xmlns:a16="http://schemas.microsoft.com/office/drawing/2014/main" val="20003"/>
                    </a:ext>
                  </a:extLst>
                </a:gridCol>
              </a:tblGrid>
              <a:tr h="666750">
                <a:tc>
                  <a:txBody>
                    <a:bodyPr/>
                    <a:lstStyle/>
                    <a:p>
                      <a:pPr algn="l"/>
                      <a:r>
                        <a:rPr sz="2175" b="1">
                          <a:solidFill>
                            <a:srgbClr val="FFFFFF"/>
                          </a:solidFill>
                          <a:latin typeface="汉仪粗宋简"/>
                          <a:ea typeface="汉仪粗宋简"/>
                          <a:cs typeface="汉仪粗宋简"/>
                        </a:rPr>
                        <a:t>寿命点</a:t>
                      </a:r>
                    </a:p>
                  </a:txBody>
                  <a:tcPr anchor="ctr">
                    <a:solidFill>
                      <a:srgbClr val="315DA7"/>
                    </a:solidFill>
                  </a:tcPr>
                </a:tc>
                <a:tc>
                  <a:txBody>
                    <a:bodyPr/>
                    <a:lstStyle/>
                    <a:p>
                      <a:pPr algn="ctr"/>
                      <a:r>
                        <a:rPr sz="2175" b="1">
                          <a:solidFill>
                            <a:srgbClr val="FFFFFF"/>
                          </a:solidFill>
                          <a:latin typeface="汉仪粗宋简"/>
                          <a:ea typeface="汉仪粗宋简"/>
                          <a:cs typeface="汉仪粗宋简"/>
                        </a:rPr>
                        <a:t>P RMSRE</a:t>
                      </a:r>
                    </a:p>
                  </a:txBody>
                  <a:tcPr anchor="ctr">
                    <a:solidFill>
                      <a:srgbClr val="315DA7"/>
                    </a:solidFill>
                  </a:tcPr>
                </a:tc>
                <a:tc>
                  <a:txBody>
                    <a:bodyPr/>
                    <a:lstStyle/>
                    <a:p>
                      <a:pPr algn="ctr"/>
                      <a:r>
                        <a:rPr sz="2175" b="1">
                          <a:solidFill>
                            <a:srgbClr val="FFFFFF"/>
                          </a:solidFill>
                          <a:latin typeface="汉仪粗宋简"/>
                          <a:ea typeface="汉仪粗宋简"/>
                          <a:cs typeface="汉仪粗宋简"/>
                        </a:rPr>
                        <a:t>Q RMSRE</a:t>
                      </a:r>
                    </a:p>
                  </a:txBody>
                  <a:tcPr anchor="ctr">
                    <a:solidFill>
                      <a:srgbClr val="315DA7"/>
                    </a:solidFill>
                  </a:tcPr>
                </a:tc>
                <a:tc>
                  <a:txBody>
                    <a:bodyPr/>
                    <a:lstStyle/>
                    <a:p>
                      <a:pPr algn="ctr"/>
                      <a:r>
                        <a:rPr sz="2175" b="1">
                          <a:solidFill>
                            <a:srgbClr val="FFFFFF"/>
                          </a:solidFill>
                          <a:latin typeface="汉仪粗宋简"/>
                          <a:ea typeface="汉仪粗宋简"/>
                          <a:cs typeface="汉仪粗宋简"/>
                        </a:rPr>
                        <a:t>Q 相对 P</a:t>
                      </a:r>
                    </a:p>
                  </a:txBody>
                  <a:tcPr anchor="ctr">
                    <a:solidFill>
                      <a:srgbClr val="315DA7"/>
                    </a:solidFill>
                  </a:tcPr>
                </a:tc>
                <a:extLst>
                  <a:ext uri="{0D108BD9-81ED-4DB2-BD59-A6C34878D82A}">
                    <a16:rowId xmlns:a16="http://schemas.microsoft.com/office/drawing/2014/main" val="10000"/>
                  </a:ext>
                </a:extLst>
              </a:tr>
              <a:tr h="666750">
                <a:tc>
                  <a:txBody>
                    <a:bodyPr/>
                    <a:lstStyle/>
                    <a:p>
                      <a:pPr algn="l"/>
                      <a:r>
                        <a:rPr sz="2175" b="0">
                          <a:solidFill>
                            <a:srgbClr val="161616"/>
                          </a:solidFill>
                          <a:latin typeface="汉仪粗宋简"/>
                          <a:ea typeface="汉仪粗宋简"/>
                          <a:cs typeface="汉仪粗宋简"/>
                        </a:rPr>
                        <a:t>x</a:t>
                      </a:r>
                      <a:r>
                        <a:rPr sz="1631" b="0" baseline="-25000">
                          <a:solidFill>
                            <a:srgbClr val="161616"/>
                          </a:solidFill>
                          <a:latin typeface="汉仪粗宋简"/>
                          <a:ea typeface="汉仪粗宋简"/>
                          <a:cs typeface="汉仪粗宋简"/>
                        </a:rPr>
                        <a:t>0.90</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13.66%</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18.63%</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误差增加 36.41%</a:t>
                      </a:r>
                    </a:p>
                  </a:txBody>
                  <a:tcPr anchor="ctr">
                    <a:solidFill>
                      <a:srgbClr val="FFFFFF"/>
                    </a:solidFill>
                  </a:tcPr>
                </a:tc>
                <a:extLst>
                  <a:ext uri="{0D108BD9-81ED-4DB2-BD59-A6C34878D82A}">
                    <a16:rowId xmlns:a16="http://schemas.microsoft.com/office/drawing/2014/main" val="10001"/>
                  </a:ext>
                </a:extLst>
              </a:tr>
              <a:tr h="666750">
                <a:tc>
                  <a:txBody>
                    <a:bodyPr/>
                    <a:lstStyle/>
                    <a:p>
                      <a:pPr algn="l"/>
                      <a:r>
                        <a:rPr sz="2175" b="0">
                          <a:solidFill>
                            <a:srgbClr val="161616"/>
                          </a:solidFill>
                          <a:latin typeface="汉仪粗宋简"/>
                          <a:ea typeface="汉仪粗宋简"/>
                          <a:cs typeface="汉仪粗宋简"/>
                        </a:rPr>
                        <a:t>x</a:t>
                      </a:r>
                      <a:r>
                        <a:rPr sz="1631" b="0" baseline="-25000">
                          <a:solidFill>
                            <a:srgbClr val="161616"/>
                          </a:solidFill>
                          <a:latin typeface="汉仪粗宋简"/>
                          <a:ea typeface="汉仪粗宋简"/>
                          <a:cs typeface="汉仪粗宋简"/>
                        </a:rPr>
                        <a:t>0.95</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16.43%</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16.09%</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误差降低 2.07%</a:t>
                      </a:r>
                    </a:p>
                  </a:txBody>
                  <a:tcPr anchor="ctr">
                    <a:solidFill>
                      <a:srgbClr val="FFFFFF"/>
                    </a:solidFill>
                  </a:tcPr>
                </a:tc>
                <a:extLst>
                  <a:ext uri="{0D108BD9-81ED-4DB2-BD59-A6C34878D82A}">
                    <a16:rowId xmlns:a16="http://schemas.microsoft.com/office/drawing/2014/main" val="10002"/>
                  </a:ext>
                </a:extLst>
              </a:tr>
              <a:tr h="666750">
                <a:tc>
                  <a:txBody>
                    <a:bodyPr/>
                    <a:lstStyle/>
                    <a:p>
                      <a:pPr algn="l"/>
                      <a:r>
                        <a:rPr sz="2175" b="0">
                          <a:solidFill>
                            <a:srgbClr val="161616"/>
                          </a:solidFill>
                          <a:latin typeface="汉仪粗宋简"/>
                          <a:ea typeface="汉仪粗宋简"/>
                          <a:cs typeface="汉仪粗宋简"/>
                        </a:rPr>
                        <a:t>x</a:t>
                      </a:r>
                      <a:r>
                        <a:rPr sz="1631" b="0" baseline="-25000">
                          <a:solidFill>
                            <a:srgbClr val="161616"/>
                          </a:solidFill>
                          <a:latin typeface="汉仪粗宋简"/>
                          <a:ea typeface="汉仪粗宋简"/>
                          <a:cs typeface="汉仪粗宋简"/>
                        </a:rPr>
                        <a:t>0.99</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21.96%</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35.82%</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误差增加 63.11%</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content-weibull20260906s25-5">
            <a:extLst>
              <a:ext uri="{FF2B5EF4-FFF2-40B4-BE49-F238E27FC236}">
                <a16:creationId xmlns:a16="http://schemas.microsoft.com/office/drawing/2014/main" id="{32B55F76-68C8-4346-A9F1-6788A6F8BAEF}"/>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若参数用于多个寿命决策，需要兼顾目标点之外的精度。</a:t>
            </a:r>
          </a:p>
        </p:txBody>
      </p:sp>
    </p:spTree>
    <p:extLst>
      <p:ext uri="{BB962C8B-B14F-4D97-AF65-F5344CB8AC3E}">
        <p14:creationId xmlns:p14="http://schemas.microsoft.com/office/powerpoint/2010/main" val="2025705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QCP在参数可接受的范围内优化目标点</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6-4">
            <a:extLst>
              <a:ext uri="{FF2B5EF4-FFF2-40B4-BE49-F238E27FC236}">
                <a16:creationId xmlns:a16="http://schemas.microsoft.com/office/drawing/2014/main" id="{EB64BDDF-3608-40B5-86EB-47F45F68C8DF}"/>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26 / 32</a:t>
            </a:r>
          </a:p>
        </p:txBody>
      </p:sp>
      <mc:AlternateContent xmlns:mc="http://schemas.openxmlformats.org/markup-compatibility/2006">
        <mc:Choice xmlns:a14="http://schemas.microsoft.com/office/drawing/2010/main" Requires="a14">
          <p:sp>
            <p:nvSpPr>
              <p:cNvPr id="8" name="content-weibull20260906s26-5">
                <a:extLst>
                  <a:ext uri="{FF2B5EF4-FFF2-40B4-BE49-F238E27FC236}">
                    <a16:creationId xmlns:a16="http://schemas.microsoft.com/office/drawing/2014/main" id="{A22D44D3-C84A-40C5-AC2A-C86156B44139}"/>
                  </a:ext>
                </a:extLst>
              </p:cNvPr>
              <p:cNvSpPr>
                <a:spLocks noGrp="1"/>
              </p:cNvSpPr>
              <p:nvPr/>
            </p:nvSpPr>
            <p:spPr>
              <a:xfrm>
                <a:off x="571500" y="1952625"/>
                <a:ext cx="11049000" cy="952500"/>
              </a:xfrm>
              <a:prstGeom prst="rect">
                <a:avLst/>
              </a:prstGeom>
              <a:noFill/>
              <a:ln w="0">
                <a:noFill/>
              </a:ln>
            </p:spPr>
            <p:txBody>
              <a:bodyPr wrap="square" lIns="0" tIns="0" rIns="0" bIns="0" anchor="t">
                <a:noAutofit/>
              </a:bodyPr>
              <a:lstStyle/>
              <a:p>
                <a:pPr marL="0" lvl="0" indent="0" algn="ctr">
                  <a:buNone/>
                  <a:defRPr sz="2600">
                    <a:latin typeface="Cambria Math"/>
                  </a:defRPr>
                </a:pPr>
                <a14:m>
                  <m:oMathPara xmlns:m="http://schemas.openxmlformats.org/officeDocument/2006/math">
                    <m:oMathParaPr>
                      <m:jc m:val="center"/>
                    </m:oMathParaPr>
                    <m:oMath xmlns:m="http://schemas.openxmlformats.org/officeDocument/2006/math">
                      <m:limLow>
                        <m:limLowPr>
                          <m:ctrlPr>
                            <a:rPr sz="2600">
                              <a:latin typeface="Cambria Math" panose="02040503050406030204" pitchFamily="18" charset="0"/>
                            </a:rPr>
                          </m:ctrlPr>
                        </m:limLowPr>
                        <m:e>
                          <m:r>
                            <m:rPr>
                              <m:sty m:val="p"/>
                            </m:rPr>
                            <a:rPr sz="2600">
                              <a:latin typeface="Cambria Math"/>
                            </a:rPr>
                            <m:t>min</m:t>
                          </m:r>
                        </m:e>
                        <m:lim>
                          <m:r>
                            <a:rPr sz="2600">
                              <a:latin typeface="Cambria Math"/>
                            </a:rPr>
                            <m:t>𝜃</m:t>
                          </m:r>
                        </m:lim>
                      </m:limLow>
                      <m:sSub>
                        <m:sSubPr>
                          <m:ctrlPr>
                            <a:rPr sz="2600" i="1">
                              <a:latin typeface="Cambria Math" panose="02040503050406030204" pitchFamily="18" charset="0"/>
                            </a:rPr>
                          </m:ctrlPr>
                        </m:sSubPr>
                        <m:e>
                          <m:r>
                            <a:rPr sz="2600">
                              <a:latin typeface="Cambria Math"/>
                            </a:rPr>
                            <m:t>𝐿</m:t>
                          </m:r>
                        </m:e>
                        <m:sub>
                          <m:r>
                            <a:rPr sz="2600">
                              <a:latin typeface="Cambria Math"/>
                            </a:rPr>
                            <m:t>𝑄</m:t>
                          </m:r>
                        </m:sub>
                      </m:sSub>
                      <m:r>
                        <a:rPr sz="2600">
                          <a:latin typeface="Cambria Math"/>
                        </a:rPr>
                        <m:t>(</m:t>
                      </m:r>
                      <m:r>
                        <a:rPr sz="2600">
                          <a:latin typeface="Cambria Math"/>
                        </a:rPr>
                        <m:t>𝜃</m:t>
                      </m:r>
                      <m:r>
                        <a:rPr sz="2600">
                          <a:latin typeface="Cambria Math"/>
                        </a:rPr>
                        <m:t>) </m:t>
                      </m:r>
                      <m:r>
                        <m:rPr>
                          <m:sty m:val="p"/>
                        </m:rPr>
                        <a:rPr sz="2600">
                          <a:latin typeface="Cambria Math"/>
                        </a:rPr>
                        <m:t>s</m:t>
                      </m:r>
                      <m:r>
                        <a:rPr sz="2600">
                          <a:latin typeface="Cambria Math"/>
                        </a:rPr>
                        <m:t>.</m:t>
                      </m:r>
                      <m:r>
                        <m:rPr>
                          <m:sty m:val="p"/>
                        </m:rPr>
                        <a:rPr sz="2600">
                          <a:latin typeface="Cambria Math"/>
                        </a:rPr>
                        <m:t>t</m:t>
                      </m:r>
                      <m:r>
                        <a:rPr sz="2600">
                          <a:latin typeface="Cambria Math"/>
                        </a:rPr>
                        <m:t>. </m:t>
                      </m:r>
                      <m:sSub>
                        <m:sSubPr>
                          <m:ctrlPr>
                            <a:rPr sz="2600" i="1">
                              <a:latin typeface="Cambria Math" panose="02040503050406030204" pitchFamily="18" charset="0"/>
                            </a:rPr>
                          </m:ctrlPr>
                        </m:sSubPr>
                        <m:e>
                          <m:r>
                            <a:rPr sz="2600">
                              <a:latin typeface="Cambria Math"/>
                            </a:rPr>
                            <m:t>𝐿</m:t>
                          </m:r>
                        </m:e>
                        <m:sub>
                          <m:r>
                            <a:rPr sz="2600">
                              <a:latin typeface="Cambria Math"/>
                            </a:rPr>
                            <m:t>𝑃</m:t>
                          </m:r>
                        </m:sub>
                      </m:sSub>
                      <m:r>
                        <a:rPr sz="2600">
                          <a:latin typeface="Cambria Math"/>
                        </a:rPr>
                        <m:t>(</m:t>
                      </m:r>
                      <m:r>
                        <a:rPr sz="2600">
                          <a:latin typeface="Cambria Math"/>
                        </a:rPr>
                        <m:t>𝜃</m:t>
                      </m:r>
                      <m:r>
                        <a:rPr sz="2600">
                          <a:latin typeface="Cambria Math"/>
                        </a:rPr>
                        <m:t>)≤</m:t>
                      </m:r>
                      <m:sSub>
                        <m:sSubPr>
                          <m:ctrlPr>
                            <a:rPr sz="2600" i="1">
                              <a:latin typeface="Cambria Math" panose="02040503050406030204" pitchFamily="18" charset="0"/>
                            </a:rPr>
                          </m:ctrlPr>
                        </m:sSubPr>
                        <m:e>
                          <m:r>
                            <a:rPr sz="2600">
                              <a:latin typeface="Cambria Math"/>
                            </a:rPr>
                            <m:t>𝜏</m:t>
                          </m:r>
                        </m:e>
                        <m:sub>
                          <m:r>
                            <a:rPr sz="2600">
                              <a:latin typeface="Cambria Math"/>
                            </a:rPr>
                            <m:t>𝑗</m:t>
                          </m:r>
                        </m:sub>
                      </m:sSub>
                      <m:r>
                        <a:rPr sz="2600">
                          <a:latin typeface="Cambria Math"/>
                        </a:rPr>
                        <m:t>,  </m:t>
                      </m:r>
                      <m:sSub>
                        <m:sSubPr>
                          <m:ctrlPr>
                            <a:rPr sz="2600" i="1">
                              <a:latin typeface="Cambria Math" panose="02040503050406030204" pitchFamily="18" charset="0"/>
                            </a:rPr>
                          </m:ctrlPr>
                        </m:sSubPr>
                        <m:e>
                          <m:r>
                            <a:rPr sz="2600">
                              <a:latin typeface="Cambria Math"/>
                            </a:rPr>
                            <m:t>𝜏</m:t>
                          </m:r>
                        </m:e>
                        <m:sub>
                          <m:r>
                            <a:rPr sz="2600">
                              <a:latin typeface="Cambria Math"/>
                            </a:rPr>
                            <m:t>𝑗</m:t>
                          </m:r>
                        </m:sub>
                      </m:sSub>
                      <m:r>
                        <a:rPr sz="2600">
                          <a:latin typeface="Cambria Math"/>
                        </a:rPr>
                        <m:t>=1.5</m:t>
                      </m:r>
                      <m:sSub>
                        <m:sSubPr>
                          <m:ctrlPr>
                            <a:rPr sz="2600" i="1">
                              <a:latin typeface="Cambria Math" panose="02040503050406030204" pitchFamily="18" charset="0"/>
                            </a:rPr>
                          </m:ctrlPr>
                        </m:sSubPr>
                        <m:e>
                          <m:r>
                            <a:rPr sz="2600">
                              <a:latin typeface="Cambria Math"/>
                            </a:rPr>
                            <m:t>𝐿</m:t>
                          </m:r>
                        </m:e>
                        <m:sub>
                          <m:r>
                            <a:rPr sz="2600">
                              <a:latin typeface="Cambria Math"/>
                            </a:rPr>
                            <m:t>𝑃</m:t>
                          </m:r>
                          <m:r>
                            <a:rPr sz="2600">
                              <a:latin typeface="Cambria Math"/>
                            </a:rPr>
                            <m:t>,</m:t>
                          </m:r>
                          <m:r>
                            <m:rPr>
                              <m:sty m:val="p"/>
                            </m:rPr>
                            <a:rPr sz="2600">
                              <a:latin typeface="Cambria Math"/>
                            </a:rPr>
                            <m:t>ref</m:t>
                          </m:r>
                          <m:r>
                            <a:rPr sz="2600">
                              <a:latin typeface="Cambria Math"/>
                            </a:rPr>
                            <m:t>,</m:t>
                          </m:r>
                          <m:r>
                            <a:rPr sz="2600">
                              <a:latin typeface="Cambria Math"/>
                            </a:rPr>
                            <m:t>𝑗</m:t>
                          </m:r>
                        </m:sub>
                      </m:sSub>
                      <m:r>
                        <a:rPr sz="2600">
                          <a:latin typeface="Cambria Math"/>
                        </a:rPr>
                        <m:t>.</m:t>
                      </m:r>
                    </m:oMath>
                  </m:oMathPara>
                </a14:m>
                <a:endParaRPr/>
              </a:p>
            </p:txBody>
          </p:sp>
        </mc:Choice>
        <mc:Fallback>
          <p:sp>
            <p:nvSpPr>
              <p:cNvPr id="8" name="content-weibull20260906s26-5">
                <a:extLst>
                  <a:ext uri="{FF2B5EF4-FFF2-40B4-BE49-F238E27FC236}">
                    <a16:creationId xmlns:a16="http://schemas.microsoft.com/office/drawing/2014/main" id="{A22D44D3-C84A-40C5-AC2A-C86156B44139}"/>
                  </a:ext>
                </a:extLst>
              </p:cNvPr>
              <p:cNvSpPr>
                <a:spLocks noGrp="1" noRot="1" noChangeAspect="1" noMove="1" noResize="1" noEditPoints="1" noAdjustHandles="1" noChangeArrowheads="1" noChangeShapeType="1" noTextEdit="1"/>
              </p:cNvSpPr>
              <p:nvPr/>
            </p:nvSpPr>
            <p:spPr>
              <a:xfrm>
                <a:off x="571500" y="1952625"/>
                <a:ext cx="11049000" cy="952500"/>
              </a:xfrm>
              <a:prstGeom prst="rect">
                <a:avLst/>
              </a:prstGeom>
              <a:blipFill>
                <a:blip r:embed="rId3"/>
                <a:stretch>
                  <a:fillRect/>
                </a:stretch>
              </a:blipFill>
              <a:ln w="0">
                <a:noFill/>
              </a:ln>
            </p:spPr>
            <p:txBody>
              <a:bodyPr/>
              <a:lstStyle/>
              <a:p>
                <a:r>
                  <a:rPr lang="zh-CN" altLang="en-US">
                    <a:noFill/>
                  </a:rPr>
                  <a:t> </a:t>
                </a:r>
              </a:p>
            </p:txBody>
          </p:sp>
        </mc:Fallback>
      </mc:AlternateContent>
      <p:sp>
        <p:nvSpPr>
          <p:cNvPr id="9" name="content-weibull20260906s26-6">
            <a:extLst>
              <a:ext uri="{FF2B5EF4-FFF2-40B4-BE49-F238E27FC236}">
                <a16:creationId xmlns:a16="http://schemas.microsoft.com/office/drawing/2014/main" id="{7134C6A9-24C2-4F2C-9EF6-9E4F7B59FF33}"/>
              </a:ext>
            </a:extLst>
          </p:cNvPr>
          <p:cNvSpPr>
            <a:spLocks noGrp="1"/>
          </p:cNvSpPr>
          <p:nvPr/>
        </p:nvSpPr>
        <p:spPr>
          <a:xfrm>
            <a:off x="552450" y="3143250"/>
            <a:ext cx="11049000" cy="714375"/>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阈值来自匹配的早期 P 参考模型</a:t>
            </a:r>
          </a:p>
        </p:txBody>
      </p:sp>
      <p:sp>
        <p:nvSpPr>
          <p:cNvPr id="10" name="content-weibull20260906s26-7">
            <a:extLst>
              <a:ext uri="{FF2B5EF4-FFF2-40B4-BE49-F238E27FC236}">
                <a16:creationId xmlns:a16="http://schemas.microsoft.com/office/drawing/2014/main" id="{A76E5FCB-4388-4B0E-9FBC-7A5C7581BF7B}"/>
              </a:ext>
            </a:extLst>
          </p:cNvPr>
          <p:cNvSpPr>
            <a:spLocks noGrp="1"/>
          </p:cNvSpPr>
          <p:nvPr/>
        </p:nvSpPr>
        <p:spPr>
          <a:xfrm>
            <a:off x="552450" y="3952875"/>
            <a:ext cx="11049000" cy="714375"/>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训练中加入参数约束惩罚</a:t>
            </a:r>
          </a:p>
        </p:txBody>
      </p:sp>
      <p:sp>
        <p:nvSpPr>
          <p:cNvPr id="11" name="content-weibull20260906s26-8">
            <a:extLst>
              <a:ext uri="{FF2B5EF4-FFF2-40B4-BE49-F238E27FC236}">
                <a16:creationId xmlns:a16="http://schemas.microsoft.com/office/drawing/2014/main" id="{3EF8805C-6ED4-44F3-A23A-087ACF16D130}"/>
              </a:ext>
            </a:extLst>
          </p:cNvPr>
          <p:cNvSpPr>
            <a:spLocks noGrp="1"/>
          </p:cNvSpPr>
          <p:nvPr/>
        </p:nvSpPr>
        <p:spPr>
          <a:xfrm>
            <a:off x="552450" y="4762500"/>
            <a:ext cx="11049000" cy="714375"/>
          </a:xfrm>
          <a:prstGeom prst="rect">
            <a:avLst/>
          </a:prstGeom>
          <a:noFill/>
          <a:ln w="0">
            <a:noFill/>
          </a:ln>
        </p:spPr>
        <p:txBody>
          <a:bodyPr wrap="square" lIns="0" tIns="0" rIns="0" bIns="0" anchor="t">
            <a:noAutofit/>
          </a:bodyPr>
          <a:lstStyle/>
          <a:p>
            <a:pPr algn="l">
              <a:defRPr sz="2250" b="0">
                <a:solidFill>
                  <a:srgbClr val="161616"/>
                </a:solidFill>
                <a:latin typeface="汉仪粗宋简"/>
                <a:ea typeface="汉仪粗宋简"/>
                <a:cs typeface="汉仪粗宋简"/>
              </a:defRPr>
            </a:pPr>
            <a:r>
              <a:rPr sz="2250" b="0">
                <a:solidFill>
                  <a:srgbClr val="161616"/>
                </a:solidFill>
                <a:latin typeface="汉仪粗宋简"/>
                <a:ea typeface="汉仪粗宋简"/>
                <a:cs typeface="汉仪粗宋简"/>
              </a:rPr>
              <a:t>验证先检查平均参数损失，再在可行轮次中选目标误差最低者</a:t>
            </a:r>
          </a:p>
        </p:txBody>
      </p:sp>
      <p:sp>
        <p:nvSpPr>
          <p:cNvPr id="12" name="content-weibull20260906s26-9">
            <a:extLst>
              <a:ext uri="{FF2B5EF4-FFF2-40B4-BE49-F238E27FC236}">
                <a16:creationId xmlns:a16="http://schemas.microsoft.com/office/drawing/2014/main" id="{08F4C381-50A1-4504-BDA6-F0369FD120FB}"/>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约束作用于平均验证损失，并非逐测试样本保证。</a:t>
            </a:r>
          </a:p>
        </p:txBody>
      </p:sp>
    </p:spTree>
    <p:extLst>
      <p:ext uri="{BB962C8B-B14F-4D97-AF65-F5344CB8AC3E}">
        <p14:creationId xmlns:p14="http://schemas.microsoft.com/office/powerpoint/2010/main" val="194784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参数约束修复跨点退化，并保留目标收益</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7-4">
            <a:extLst>
              <a:ext uri="{FF2B5EF4-FFF2-40B4-BE49-F238E27FC236}">
                <a16:creationId xmlns:a16="http://schemas.microsoft.com/office/drawing/2014/main" id="{FCB3B1AE-C171-4D3F-BD5F-A211CC928CF7}"/>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27 / 32</a:t>
            </a:r>
          </a:p>
        </p:txBody>
      </p:sp>
      <p:pic>
        <p:nvPicPr>
          <p:cNvPr id="15" name="图片 14"/>
          <p:cNvPicPr>
            <a:picLocks noChangeAspect="1"/>
          </p:cNvPicPr>
          <p:nvPr/>
        </p:nvPicPr>
        <p:blipFill>
          <a:blip r:embed="rId3"/>
          <a:stretch/>
        </p:blipFill>
        <p:spPr>
          <a:xfrm>
            <a:off x="3054054" y="1762125"/>
            <a:ext cx="6083893" cy="3667125"/>
          </a:xfrm>
          <a:prstGeom prst="rect">
            <a:avLst/>
          </a:prstGeom>
        </p:spPr>
      </p:pic>
      <p:sp>
        <p:nvSpPr>
          <p:cNvPr id="9" name="content-weibull20260906s27-5">
            <a:extLst>
              <a:ext uri="{FF2B5EF4-FFF2-40B4-BE49-F238E27FC236}">
                <a16:creationId xmlns:a16="http://schemas.microsoft.com/office/drawing/2014/main" id="{A1373B18-2733-46B2-9AD5-5C670C526034}"/>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当前三个寿命点的退化得到修复，不等于整条分布均已验证。</a:t>
            </a:r>
          </a:p>
        </p:txBody>
      </p:sp>
    </p:spTree>
    <p:extLst>
      <p:ext uri="{BB962C8B-B14F-4D97-AF65-F5344CB8AC3E}">
        <p14:creationId xmlns:p14="http://schemas.microsoft.com/office/powerpoint/2010/main" val="1169024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统一验证准则后，Q的目标优势仍保留一部分</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8-4">
            <a:extLst>
              <a:ext uri="{FF2B5EF4-FFF2-40B4-BE49-F238E27FC236}">
                <a16:creationId xmlns:a16="http://schemas.microsoft.com/office/drawing/2014/main" id="{FFFBEA6F-FD41-482E-925E-8F2D5DF61180}"/>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28 / 32</a:t>
            </a:r>
          </a:p>
        </p:txBody>
      </p:sp>
      <p:graphicFrame>
        <p:nvGraphicFramePr>
          <p:cNvPr id="16" name="表格 15"/>
          <p:cNvGraphicFramePr/>
          <p:nvPr/>
        </p:nvGraphicFramePr>
        <p:xfrm>
          <a:off x="619125" y="1857375"/>
          <a:ext cx="10906125" cy="2619375"/>
        </p:xfrm>
        <a:graphic>
          <a:graphicData uri="http://schemas.openxmlformats.org/drawingml/2006/table">
            <a:tbl>
              <a:tblPr/>
              <a:tblGrid>
                <a:gridCol w="35242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654844">
                <a:tc>
                  <a:txBody>
                    <a:bodyPr/>
                    <a:lstStyle/>
                    <a:p>
                      <a:pPr algn="l"/>
                      <a:r>
                        <a:rPr sz="2175" b="1">
                          <a:solidFill>
                            <a:srgbClr val="FFFFFF"/>
                          </a:solidFill>
                          <a:latin typeface="汉仪粗宋简"/>
                          <a:ea typeface="汉仪粗宋简"/>
                          <a:cs typeface="汉仪粗宋简"/>
                        </a:rPr>
                        <a:t>训练目标</a:t>
                      </a:r>
                    </a:p>
                  </a:txBody>
                  <a:tcPr anchor="ctr">
                    <a:solidFill>
                      <a:srgbClr val="315DA7"/>
                    </a:solidFill>
                  </a:tcPr>
                </a:tc>
                <a:tc>
                  <a:txBody>
                    <a:bodyPr/>
                    <a:lstStyle/>
                    <a:p>
                      <a:pPr algn="ctr"/>
                      <a:r>
                        <a:rPr sz="2175" b="1">
                          <a:solidFill>
                            <a:srgbClr val="FFFFFF"/>
                          </a:solidFill>
                          <a:latin typeface="汉仪粗宋简"/>
                          <a:ea typeface="汉仪粗宋简"/>
                          <a:cs typeface="汉仪粗宋简"/>
                        </a:rPr>
                        <a:t>验证目标</a:t>
                      </a:r>
                    </a:p>
                  </a:txBody>
                  <a:tcPr anchor="ctr">
                    <a:solidFill>
                      <a:srgbClr val="315DA7"/>
                    </a:solidFill>
                  </a:tcPr>
                </a:tc>
                <a:tc>
                  <a:txBody>
                    <a:bodyPr/>
                    <a:lstStyle/>
                    <a:p>
                      <a:pPr algn="ctr"/>
                      <a:r>
                        <a:rPr sz="2175" b="1">
                          <a:solidFill>
                            <a:srgbClr val="FFFFFF"/>
                          </a:solidFill>
                          <a:latin typeface="汉仪粗宋简"/>
                          <a:ea typeface="汉仪粗宋简"/>
                          <a:cs typeface="汉仪粗宋简"/>
                        </a:rPr>
                        <a:t>x</a:t>
                      </a:r>
                      <a:r>
                        <a:rPr sz="1631" b="1" baseline="-25000">
                          <a:solidFill>
                            <a:srgbClr val="FFFFFF"/>
                          </a:solidFill>
                          <a:latin typeface="汉仪粗宋简"/>
                          <a:ea typeface="汉仪粗宋简"/>
                          <a:cs typeface="汉仪粗宋简"/>
                        </a:rPr>
                        <a:t>0.95</a:t>
                      </a:r>
                      <a:r>
                        <a:rPr sz="2175" b="1">
                          <a:solidFill>
                            <a:srgbClr val="FFFFFF"/>
                          </a:solidFill>
                          <a:latin typeface="汉仪粗宋简"/>
                          <a:ea typeface="汉仪粗宋简"/>
                          <a:cs typeface="汉仪粗宋简"/>
                        </a:rPr>
                        <a:t> RMSRE</a:t>
                      </a:r>
                    </a:p>
                  </a:txBody>
                  <a:tcPr anchor="ctr">
                    <a:solidFill>
                      <a:srgbClr val="315DA7"/>
                    </a:solidFill>
                  </a:tcPr>
                </a:tc>
                <a:extLst>
                  <a:ext uri="{0D108BD9-81ED-4DB2-BD59-A6C34878D82A}">
                    <a16:rowId xmlns:a16="http://schemas.microsoft.com/office/drawing/2014/main" val="10000"/>
                  </a:ext>
                </a:extLst>
              </a:tr>
              <a:tr h="654844">
                <a:tc>
                  <a:txBody>
                    <a:bodyPr/>
                    <a:lstStyle/>
                    <a:p>
                      <a:pPr algn="l"/>
                      <a:r>
                        <a:rPr sz="2175" b="0">
                          <a:solidFill>
                            <a:srgbClr val="161616"/>
                          </a:solidFill>
                          <a:latin typeface="汉仪粗宋简"/>
                          <a:ea typeface="汉仪粗宋简"/>
                          <a:cs typeface="汉仪粗宋简"/>
                        </a:rPr>
                        <a:t>P</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P</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16.432%</a:t>
                      </a:r>
                    </a:p>
                  </a:txBody>
                  <a:tcPr anchor="ctr">
                    <a:solidFill>
                      <a:srgbClr val="FFFFFF"/>
                    </a:solidFill>
                  </a:tcPr>
                </a:tc>
                <a:extLst>
                  <a:ext uri="{0D108BD9-81ED-4DB2-BD59-A6C34878D82A}">
                    <a16:rowId xmlns:a16="http://schemas.microsoft.com/office/drawing/2014/main" val="10001"/>
                  </a:ext>
                </a:extLst>
              </a:tr>
              <a:tr h="654844">
                <a:tc>
                  <a:txBody>
                    <a:bodyPr/>
                    <a:lstStyle/>
                    <a:p>
                      <a:pPr algn="l"/>
                      <a:r>
                        <a:rPr sz="2175" b="0">
                          <a:solidFill>
                            <a:srgbClr val="161616"/>
                          </a:solidFill>
                          <a:latin typeface="汉仪粗宋简"/>
                          <a:ea typeface="汉仪粗宋简"/>
                          <a:cs typeface="汉仪粗宋简"/>
                        </a:rPr>
                        <a:t>P</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Q</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16.3077%</a:t>
                      </a:r>
                    </a:p>
                  </a:txBody>
                  <a:tcPr anchor="ctr">
                    <a:solidFill>
                      <a:srgbClr val="FFFFFF"/>
                    </a:solidFill>
                  </a:tcPr>
                </a:tc>
                <a:extLst>
                  <a:ext uri="{0D108BD9-81ED-4DB2-BD59-A6C34878D82A}">
                    <a16:rowId xmlns:a16="http://schemas.microsoft.com/office/drawing/2014/main" val="10002"/>
                  </a:ext>
                </a:extLst>
              </a:tr>
              <a:tr h="654844">
                <a:tc>
                  <a:txBody>
                    <a:bodyPr/>
                    <a:lstStyle/>
                    <a:p>
                      <a:pPr algn="l"/>
                      <a:r>
                        <a:rPr sz="2175" b="0">
                          <a:solidFill>
                            <a:srgbClr val="161616"/>
                          </a:solidFill>
                          <a:latin typeface="汉仪粗宋简"/>
                          <a:ea typeface="汉仪粗宋简"/>
                          <a:cs typeface="汉仪粗宋简"/>
                        </a:rPr>
                        <a:t>Q</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Q</a:t>
                      </a:r>
                    </a:p>
                  </a:txBody>
                  <a:tcPr anchor="ctr">
                    <a:solidFill>
                      <a:srgbClr val="FFFFFF"/>
                    </a:solidFill>
                  </a:tcPr>
                </a:tc>
                <a:tc>
                  <a:txBody>
                    <a:bodyPr/>
                    <a:lstStyle/>
                    <a:p>
                      <a:pPr algn="ctr"/>
                      <a:r>
                        <a:rPr sz="2175" b="0">
                          <a:solidFill>
                            <a:srgbClr val="161616"/>
                          </a:solidFill>
                          <a:latin typeface="汉仪粗宋简"/>
                          <a:ea typeface="汉仪粗宋简"/>
                          <a:cs typeface="汉仪粗宋简"/>
                        </a:rPr>
                        <a:t>16.092%</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content-weibull20260906s28-5">
            <a:extLst>
              <a:ext uri="{FF2B5EF4-FFF2-40B4-BE49-F238E27FC236}">
                <a16:creationId xmlns:a16="http://schemas.microsoft.com/office/drawing/2014/main" id="{CF46C2DC-A937-4AE8-8CBD-6A1EC6C11E4E}"/>
              </a:ext>
            </a:extLst>
          </p:cNvPr>
          <p:cNvSpPr>
            <a:spLocks noGrp="1"/>
          </p:cNvSpPr>
          <p:nvPr/>
        </p:nvSpPr>
        <p:spPr>
          <a:xfrm>
            <a:off x="619125" y="4857750"/>
            <a:ext cx="10906125" cy="714375"/>
          </a:xfrm>
          <a:prstGeom prst="rect">
            <a:avLst/>
          </a:prstGeom>
          <a:noFill/>
          <a:ln w="0">
            <a:noFill/>
          </a:ln>
        </p:spPr>
        <p:txBody>
          <a:bodyPr wrap="square" lIns="0" tIns="0" rIns="0" bIns="0" anchor="t">
            <a:noAutofit/>
          </a:bodyPr>
          <a:lstStyle/>
          <a:p>
            <a:pPr algn="l">
              <a:defRPr sz="2100" b="1">
                <a:solidFill>
                  <a:srgbClr val="315DA7"/>
                </a:solidFill>
                <a:latin typeface="汉仪粗宋简"/>
                <a:ea typeface="汉仪粗宋简"/>
                <a:cs typeface="汉仪粗宋简"/>
              </a:defRPr>
            </a:pPr>
            <a:r>
              <a:rPr sz="2100" b="1">
                <a:solidFill>
                  <a:srgbClr val="315DA7"/>
                </a:solidFill>
                <a:latin typeface="汉仪粗宋简"/>
                <a:ea typeface="汉仪粗宋简"/>
                <a:cs typeface="汉仪粗宋简"/>
              </a:rPr>
              <a:t>共同验证下，Q 训练仍改善 1.322%（95% 区间 0.631%～1.957%）</a:t>
            </a:r>
          </a:p>
        </p:txBody>
      </p:sp>
      <p:sp>
        <p:nvSpPr>
          <p:cNvPr id="10" name="content-weibull20260906s28-6">
            <a:extLst>
              <a:ext uri="{FF2B5EF4-FFF2-40B4-BE49-F238E27FC236}">
                <a16:creationId xmlns:a16="http://schemas.microsoft.com/office/drawing/2014/main" id="{7A5A5C8E-9381-4392-A533-3EFD427B16BB}"/>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训练目标仍有作用；仅靠当前原生轨迹的可行轮次筛选不足以修复。</a:t>
            </a:r>
          </a:p>
        </p:txBody>
      </p:sp>
    </p:spTree>
    <p:extLst>
      <p:ext uri="{BB962C8B-B14F-4D97-AF65-F5344CB8AC3E}">
        <p14:creationId xmlns:p14="http://schemas.microsoft.com/office/powerpoint/2010/main" val="952331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简单加权和多点监督也是必要的修复参照</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29-4">
            <a:extLst>
              <a:ext uri="{FF2B5EF4-FFF2-40B4-BE49-F238E27FC236}">
                <a16:creationId xmlns:a16="http://schemas.microsoft.com/office/drawing/2014/main" id="{D0CC5D32-391A-42F7-8AF6-B735E77D2201}"/>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29 / 32</a:t>
            </a:r>
          </a:p>
        </p:txBody>
      </p:sp>
      <p:graphicFrame>
        <p:nvGraphicFramePr>
          <p:cNvPr id="16" name="表格 15"/>
          <p:cNvGraphicFramePr/>
          <p:nvPr/>
        </p:nvGraphicFramePr>
        <p:xfrm>
          <a:off x="619125" y="1905000"/>
          <a:ext cx="10906125" cy="2619375"/>
        </p:xfrm>
        <a:graphic>
          <a:graphicData uri="http://schemas.openxmlformats.org/drawingml/2006/table">
            <a:tbl>
              <a:tblPr/>
              <a:tblGrid>
                <a:gridCol w="3143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54844">
                <a:tc>
                  <a:txBody>
                    <a:bodyPr/>
                    <a:lstStyle/>
                    <a:p>
                      <a:pPr algn="l"/>
                      <a:r>
                        <a:rPr sz="2100" b="1">
                          <a:solidFill>
                            <a:srgbClr val="FFFFFF"/>
                          </a:solidFill>
                          <a:latin typeface="汉仪粗宋简"/>
                          <a:ea typeface="汉仪粗宋简"/>
                          <a:cs typeface="汉仪粗宋简"/>
                        </a:rPr>
                        <a:t>方案</a:t>
                      </a:r>
                    </a:p>
                  </a:txBody>
                  <a:tcPr anchor="ctr">
                    <a:solidFill>
                      <a:srgbClr val="315DA7"/>
                    </a:solidFill>
                  </a:tcPr>
                </a:tc>
                <a:tc>
                  <a:txBody>
                    <a:bodyPr/>
                    <a:lstStyle/>
                    <a:p>
                      <a:pPr algn="ctr"/>
                      <a:r>
                        <a:rPr sz="2100" b="1">
                          <a:solidFill>
                            <a:srgbClr val="FFFFFF"/>
                          </a:solidFill>
                          <a:latin typeface="汉仪粗宋简"/>
                          <a:ea typeface="汉仪粗宋简"/>
                          <a:cs typeface="汉仪粗宋简"/>
                        </a:rPr>
                        <a:t>x</a:t>
                      </a:r>
                      <a:r>
                        <a:rPr sz="1575" b="1" baseline="-25000">
                          <a:solidFill>
                            <a:srgbClr val="FFFFFF"/>
                          </a:solidFill>
                          <a:latin typeface="汉仪粗宋简"/>
                          <a:ea typeface="汉仪粗宋简"/>
                          <a:cs typeface="汉仪粗宋简"/>
                        </a:rPr>
                        <a:t>0.95</a:t>
                      </a:r>
                      <a:r>
                        <a:rPr sz="2100" b="1">
                          <a:solidFill>
                            <a:srgbClr val="FFFFFF"/>
                          </a:solidFill>
                          <a:latin typeface="汉仪粗宋简"/>
                          <a:ea typeface="汉仪粗宋简"/>
                          <a:cs typeface="汉仪粗宋简"/>
                        </a:rPr>
                        <a:t> RMSRE</a:t>
                      </a:r>
                    </a:p>
                  </a:txBody>
                  <a:tcPr anchor="ctr">
                    <a:solidFill>
                      <a:srgbClr val="315DA7"/>
                    </a:solidFill>
                  </a:tcPr>
                </a:tc>
                <a:tc>
                  <a:txBody>
                    <a:bodyPr/>
                    <a:lstStyle/>
                    <a:p>
                      <a:pPr algn="ctr"/>
                      <a:r>
                        <a:rPr sz="2100" b="1">
                          <a:solidFill>
                            <a:srgbClr val="FFFFFF"/>
                          </a:solidFill>
                          <a:latin typeface="汉仪粗宋简"/>
                          <a:ea typeface="汉仪粗宋简"/>
                          <a:cs typeface="汉仪粗宋简"/>
                        </a:rPr>
                        <a:t>检验内容</a:t>
                      </a:r>
                    </a:p>
                  </a:txBody>
                  <a:tcPr anchor="ctr">
                    <a:solidFill>
                      <a:srgbClr val="315DA7"/>
                    </a:solidFill>
                  </a:tcPr>
                </a:tc>
                <a:extLst>
                  <a:ext uri="{0D108BD9-81ED-4DB2-BD59-A6C34878D82A}">
                    <a16:rowId xmlns:a16="http://schemas.microsoft.com/office/drawing/2014/main" val="10000"/>
                  </a:ext>
                </a:extLst>
              </a:tr>
              <a:tr h="654844">
                <a:tc>
                  <a:txBody>
                    <a:bodyPr/>
                    <a:lstStyle/>
                    <a:p>
                      <a:pPr algn="l"/>
                      <a:r>
                        <a:rPr sz="2100" b="0">
                          <a:solidFill>
                            <a:srgbClr val="161616"/>
                          </a:solidFill>
                          <a:latin typeface="汉仪粗宋简"/>
                          <a:ea typeface="汉仪粗宋简"/>
                          <a:cs typeface="汉仪粗宋简"/>
                        </a:rPr>
                        <a:t>固定加权 QP</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15.8505%</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参数正则化是否足以修复</a:t>
                      </a:r>
                    </a:p>
                  </a:txBody>
                  <a:tcPr anchor="ctr">
                    <a:solidFill>
                      <a:srgbClr val="FFFFFF"/>
                    </a:solidFill>
                  </a:tcPr>
                </a:tc>
                <a:extLst>
                  <a:ext uri="{0D108BD9-81ED-4DB2-BD59-A6C34878D82A}">
                    <a16:rowId xmlns:a16="http://schemas.microsoft.com/office/drawing/2014/main" val="10001"/>
                  </a:ext>
                </a:extLst>
              </a:tr>
              <a:tr h="654844">
                <a:tc>
                  <a:txBody>
                    <a:bodyPr/>
                    <a:lstStyle/>
                    <a:p>
                      <a:pPr algn="l"/>
                      <a:r>
                        <a:rPr sz="2100" b="0">
                          <a:solidFill>
                            <a:srgbClr val="161616"/>
                          </a:solidFill>
                          <a:latin typeface="汉仪粗宋简"/>
                          <a:ea typeface="汉仪粗宋简"/>
                          <a:cs typeface="汉仪粗宋简"/>
                        </a:rPr>
                        <a:t>参数约束 QCP</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15.8406%</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显式可行性控制</a:t>
                      </a:r>
                    </a:p>
                  </a:txBody>
                  <a:tcPr anchor="ctr">
                    <a:solidFill>
                      <a:srgbClr val="FFFFFF"/>
                    </a:solidFill>
                  </a:tcPr>
                </a:tc>
                <a:extLst>
                  <a:ext uri="{0D108BD9-81ED-4DB2-BD59-A6C34878D82A}">
                    <a16:rowId xmlns:a16="http://schemas.microsoft.com/office/drawing/2014/main" val="10002"/>
                  </a:ext>
                </a:extLst>
              </a:tr>
              <a:tr h="654844">
                <a:tc>
                  <a:txBody>
                    <a:bodyPr/>
                    <a:lstStyle/>
                    <a:p>
                      <a:pPr algn="l"/>
                      <a:r>
                        <a:rPr sz="2100" b="0">
                          <a:solidFill>
                            <a:srgbClr val="161616"/>
                          </a:solidFill>
                          <a:latin typeface="汉仪粗宋简"/>
                          <a:ea typeface="汉仪粗宋简"/>
                          <a:cs typeface="汉仪粗宋简"/>
                        </a:rPr>
                        <a:t>三点等权监督</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16.0977%</a:t>
                      </a:r>
                    </a:p>
                  </a:txBody>
                  <a:tcPr anchor="ctr">
                    <a:solidFill>
                      <a:srgbClr val="FFFFFF"/>
                    </a:solidFill>
                  </a:tcPr>
                </a:tc>
                <a:tc>
                  <a:txBody>
                    <a:bodyPr/>
                    <a:lstStyle/>
                    <a:p>
                      <a:pPr algn="ctr"/>
                      <a:r>
                        <a:rPr sz="2100" b="0">
                          <a:solidFill>
                            <a:srgbClr val="161616"/>
                          </a:solidFill>
                          <a:latin typeface="汉仪粗宋简"/>
                          <a:ea typeface="汉仪粗宋简"/>
                          <a:cs typeface="汉仪粗宋简"/>
                        </a:rPr>
                        <a:t>增加寿命点监督</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9" name="content-weibull20260906s29-5">
            <a:extLst>
              <a:ext uri="{FF2B5EF4-FFF2-40B4-BE49-F238E27FC236}">
                <a16:creationId xmlns:a16="http://schemas.microsoft.com/office/drawing/2014/main" id="{B6BA9E50-4863-492E-A593-7159B6A00F63}"/>
              </a:ext>
            </a:extLst>
          </p:cNvPr>
          <p:cNvSpPr>
            <a:spLocks noGrp="1"/>
          </p:cNvSpPr>
          <p:nvPr/>
        </p:nvSpPr>
        <p:spPr>
          <a:xfrm>
            <a:off x="619125" y="4905375"/>
            <a:ext cx="10906125" cy="609600"/>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QCP 相对 QP 改善 0.0623%，95% 区间 −0.0499%～0.1679%</a:t>
            </a:r>
          </a:p>
        </p:txBody>
      </p:sp>
      <p:sp>
        <p:nvSpPr>
          <p:cNvPr id="10" name="content-weibull20260906s29-6">
            <a:extLst>
              <a:ext uri="{FF2B5EF4-FFF2-40B4-BE49-F238E27FC236}">
                <a16:creationId xmlns:a16="http://schemas.microsoft.com/office/drawing/2014/main" id="{7D7F050C-422B-41B0-99A4-2BE4C3AB3E71}"/>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2175"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简单加权也是有效参照，当前不能宣称QCP精度更优。</a:t>
            </a:r>
          </a:p>
        </p:txBody>
      </p:sp>
    </p:spTree>
    <p:extLst>
      <p:ext uri="{BB962C8B-B14F-4D97-AF65-F5344CB8AC3E}">
        <p14:creationId xmlns:p14="http://schemas.microsoft.com/office/powerpoint/2010/main" val="261089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总体风险降低，主要由少数高误差单元贡献</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30-4">
            <a:extLst>
              <a:ext uri="{FF2B5EF4-FFF2-40B4-BE49-F238E27FC236}">
                <a16:creationId xmlns:a16="http://schemas.microsoft.com/office/drawing/2014/main" id="{EDBCAC6E-8F5F-4F76-86FC-92484E707675}"/>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30 / 32</a:t>
            </a:r>
          </a:p>
        </p:txBody>
      </p:sp>
      <p:pic>
        <p:nvPicPr>
          <p:cNvPr id="18" name="图片 17"/>
          <p:cNvPicPr>
            <a:picLocks noChangeAspect="1"/>
          </p:cNvPicPr>
          <p:nvPr/>
        </p:nvPicPr>
        <p:blipFill>
          <a:blip r:embed="rId3"/>
          <a:stretch/>
        </p:blipFill>
        <p:spPr>
          <a:xfrm>
            <a:off x="4928811" y="1970914"/>
            <a:ext cx="5572878" cy="3440048"/>
          </a:xfrm>
          <a:prstGeom prst="rect">
            <a:avLst/>
          </a:prstGeom>
        </p:spPr>
      </p:pic>
      <p:sp>
        <p:nvSpPr>
          <p:cNvPr id="9" name="content-weibull20260906s30-5">
            <a:extLst>
              <a:ext uri="{FF2B5EF4-FFF2-40B4-BE49-F238E27FC236}">
                <a16:creationId xmlns:a16="http://schemas.microsoft.com/office/drawing/2014/main" id="{09DF5EF3-254E-4F2E-A18F-A28C84E3BA3E}"/>
              </a:ext>
            </a:extLst>
          </p:cNvPr>
          <p:cNvSpPr>
            <a:spLocks noGrp="1"/>
          </p:cNvSpPr>
          <p:nvPr/>
        </p:nvSpPr>
        <p:spPr>
          <a:xfrm>
            <a:off x="552450" y="1857375"/>
            <a:ext cx="3143250" cy="111442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目标点优于 P</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Q：42 / 160</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QCP：76 / 160</a:t>
            </a:r>
          </a:p>
        </p:txBody>
      </p:sp>
      <p:sp>
        <p:nvSpPr>
          <p:cNvPr id="10" name="content-weibull20260906s30-6">
            <a:extLst>
              <a:ext uri="{FF2B5EF4-FFF2-40B4-BE49-F238E27FC236}">
                <a16:creationId xmlns:a16="http://schemas.microsoft.com/office/drawing/2014/main" id="{DD10E2F6-AE5A-47CE-A34A-550CF02D4E06}"/>
              </a:ext>
            </a:extLst>
          </p:cNvPr>
          <p:cNvSpPr>
            <a:spLocks noGrp="1"/>
          </p:cNvSpPr>
          <p:nvPr/>
        </p:nvSpPr>
        <p:spPr>
          <a:xfrm>
            <a:off x="552450" y="3067050"/>
            <a:ext cx="3143250" cy="111442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前 5 个单元贡献</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净改善的 102.6%</a:t>
            </a:r>
          </a:p>
        </p:txBody>
      </p:sp>
      <p:sp>
        <p:nvSpPr>
          <p:cNvPr id="11" name="content-weibull20260906s30-7">
            <a:extLst>
              <a:ext uri="{FF2B5EF4-FFF2-40B4-BE49-F238E27FC236}">
                <a16:creationId xmlns:a16="http://schemas.microsoft.com/office/drawing/2014/main" id="{B8E6534B-BB1D-4ADA-99D3-87D8179359E8}"/>
              </a:ext>
            </a:extLst>
          </p:cNvPr>
          <p:cNvSpPr>
            <a:spLocks noGrp="1"/>
          </p:cNvSpPr>
          <p:nvPr/>
        </p:nvSpPr>
        <p:spPr>
          <a:xfrm>
            <a:off x="552450" y="4276725"/>
            <a:ext cx="3143250" cy="1114425"/>
          </a:xfrm>
          <a:prstGeom prst="rect">
            <a:avLst/>
          </a:prstGeom>
          <a:noFill/>
          <a:ln w="0">
            <a:noFill/>
          </a:ln>
        </p:spPr>
        <p:txBody>
          <a:bodyPr wrap="square" lIns="0" tIns="0" rIns="0" bIns="0" anchor="t">
            <a:noAutofit/>
          </a:bodyPr>
          <a:lstStyle/>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典型误差中位数</a:t>
            </a:r>
          </a:p>
          <a:p>
            <a:pPr algn="l">
              <a:defRPr sz="2025" b="0">
                <a:solidFill>
                  <a:srgbClr val="161616"/>
                </a:solidFill>
                <a:latin typeface="汉仪粗宋简"/>
                <a:ea typeface="汉仪粗宋简"/>
                <a:cs typeface="汉仪粗宋简"/>
              </a:defRPr>
            </a:pPr>
            <a:r>
              <a:rPr sz="2025" b="0">
                <a:solidFill>
                  <a:srgbClr val="161616"/>
                </a:solidFill>
                <a:latin typeface="汉仪粗宋简"/>
                <a:ea typeface="汉仪粗宋简"/>
                <a:cs typeface="汉仪粗宋简"/>
              </a:rPr>
              <a:t>P 7.69%，QCP 7.86%</a:t>
            </a:r>
          </a:p>
        </p:txBody>
      </p:sp>
      <p:sp>
        <p:nvSpPr>
          <p:cNvPr id="12" name="content-weibull20260906s30-8">
            <a:extLst>
              <a:ext uri="{FF2B5EF4-FFF2-40B4-BE49-F238E27FC236}">
                <a16:creationId xmlns:a16="http://schemas.microsoft.com/office/drawing/2014/main" id="{B1A989EE-0837-46D9-AC34-E1C968B7D16D}"/>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少数困难单元主导总体改善，平均收益不等于普遍获益。</a:t>
            </a:r>
          </a:p>
        </p:txBody>
      </p:sp>
    </p:spTree>
    <p:extLst>
      <p:ext uri="{BB962C8B-B14F-4D97-AF65-F5344CB8AC3E}">
        <p14:creationId xmlns:p14="http://schemas.microsoft.com/office/powerpoint/2010/main" val="10045002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监督设计应同时考虑任务量与参数用途</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第三部分：直接估计中的参数目标与分位点目标</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31-4">
            <a:extLst>
              <a:ext uri="{FF2B5EF4-FFF2-40B4-BE49-F238E27FC236}">
                <a16:creationId xmlns:a16="http://schemas.microsoft.com/office/drawing/2014/main" id="{71A268D7-5AA7-481B-AF64-5D3398D9262A}"/>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31 / 32</a:t>
            </a:r>
          </a:p>
        </p:txBody>
      </p:sp>
      <p:sp>
        <p:nvSpPr>
          <p:cNvPr id="8" name="content-weibull20260906s31-5">
            <a:extLst>
              <a:ext uri="{FF2B5EF4-FFF2-40B4-BE49-F238E27FC236}">
                <a16:creationId xmlns:a16="http://schemas.microsoft.com/office/drawing/2014/main" id="{6E8A49B1-F7A8-4981-B0A3-D9D00DB71D60}"/>
              </a:ext>
            </a:extLst>
          </p:cNvPr>
          <p:cNvSpPr>
            <a:spLocks noGrp="1"/>
          </p:cNvSpPr>
          <p:nvPr/>
        </p:nvSpPr>
        <p:spPr>
          <a:xfrm>
            <a:off x="552450" y="1952625"/>
            <a:ext cx="11049000" cy="838200"/>
          </a:xfrm>
          <a:prstGeom prst="rect">
            <a:avLst/>
          </a:prstGeom>
          <a:noFill/>
          <a:ln w="0">
            <a:noFill/>
          </a:ln>
        </p:spPr>
        <p:txBody>
          <a:bodyPr wrap="square" lIns="0" tIns="0" rIns="0" bIns="0" anchor="t">
            <a:noAutofit/>
          </a:bodyPr>
          <a:lstStyle/>
          <a:p>
            <a:pPr algn="l">
              <a:defRPr sz="2175" b="0">
                <a:solidFill>
                  <a:srgbClr val="161616"/>
                </a:solidFill>
                <a:latin typeface="汉仪粗宋简"/>
                <a:ea typeface="汉仪粗宋简"/>
                <a:cs typeface="汉仪粗宋简"/>
              </a:defRPr>
            </a:pPr>
            <a:r>
              <a:rPr sz="2175" b="0">
                <a:solidFill>
                  <a:srgbClr val="161616"/>
                </a:solidFill>
                <a:latin typeface="汉仪粗宋简"/>
                <a:ea typeface="汉仪粗宋简"/>
                <a:cs typeface="汉仪粗宋简"/>
              </a:rPr>
              <a:t>目标对齐降低目标点总体误差，共同验证下仍有收益</a:t>
            </a:r>
          </a:p>
        </p:txBody>
      </p:sp>
      <p:sp>
        <p:nvSpPr>
          <p:cNvPr id="9" name="content-weibull20260906s31-6">
            <a:extLst>
              <a:ext uri="{FF2B5EF4-FFF2-40B4-BE49-F238E27FC236}">
                <a16:creationId xmlns:a16="http://schemas.microsoft.com/office/drawing/2014/main" id="{A74A751F-69D1-4347-B3D4-96FC975EA39B}"/>
              </a:ext>
            </a:extLst>
          </p:cNvPr>
          <p:cNvSpPr>
            <a:spLocks noGrp="1"/>
          </p:cNvSpPr>
          <p:nvPr/>
        </p:nvSpPr>
        <p:spPr>
          <a:xfrm>
            <a:off x="552450" y="2886075"/>
            <a:ext cx="11049000" cy="838200"/>
          </a:xfrm>
          <a:prstGeom prst="rect">
            <a:avLst/>
          </a:prstGeom>
          <a:noFill/>
          <a:ln w="0">
            <a:noFill/>
          </a:ln>
        </p:spPr>
        <p:txBody>
          <a:bodyPr wrap="square" lIns="0" tIns="0" rIns="0" bIns="0" anchor="t">
            <a:noAutofit/>
          </a:bodyPr>
          <a:lstStyle/>
          <a:p>
            <a:pPr algn="l">
              <a:defRPr sz="2175" b="0">
                <a:solidFill>
                  <a:srgbClr val="161616"/>
                </a:solidFill>
                <a:latin typeface="汉仪粗宋简"/>
                <a:ea typeface="汉仪粗宋简"/>
                <a:cs typeface="汉仪粗宋简"/>
              </a:defRPr>
            </a:pPr>
            <a:r>
              <a:rPr sz="2175" b="0">
                <a:solidFill>
                  <a:srgbClr val="161616"/>
                </a:solidFill>
                <a:latin typeface="汉仪粗宋简"/>
                <a:ea typeface="汉仪粗宋简"/>
                <a:cs typeface="汉仪粗宋简"/>
              </a:rPr>
              <a:t>单点监督允许参数补偿，并导致其他寿命点退化</a:t>
            </a:r>
          </a:p>
        </p:txBody>
      </p:sp>
      <p:sp>
        <p:nvSpPr>
          <p:cNvPr id="10" name="content-weibull20260906s31-7">
            <a:extLst>
              <a:ext uri="{FF2B5EF4-FFF2-40B4-BE49-F238E27FC236}">
                <a16:creationId xmlns:a16="http://schemas.microsoft.com/office/drawing/2014/main" id="{103EE313-AAF3-4793-936C-F1CBBE395B8A}"/>
              </a:ext>
            </a:extLst>
          </p:cNvPr>
          <p:cNvSpPr>
            <a:spLocks noGrp="1"/>
          </p:cNvSpPr>
          <p:nvPr/>
        </p:nvSpPr>
        <p:spPr>
          <a:xfrm>
            <a:off x="552450" y="3819525"/>
            <a:ext cx="11049000" cy="838200"/>
          </a:xfrm>
          <a:prstGeom prst="rect">
            <a:avLst/>
          </a:prstGeom>
          <a:noFill/>
          <a:ln w="0">
            <a:noFill/>
          </a:ln>
        </p:spPr>
        <p:txBody>
          <a:bodyPr wrap="square" lIns="0" tIns="0" rIns="0" bIns="0" anchor="t">
            <a:noAutofit/>
          </a:bodyPr>
          <a:lstStyle/>
          <a:p>
            <a:pPr algn="l">
              <a:defRPr sz="2175" b="0">
                <a:solidFill>
                  <a:srgbClr val="161616"/>
                </a:solidFill>
                <a:latin typeface="汉仪粗宋简"/>
                <a:ea typeface="汉仪粗宋简"/>
                <a:cs typeface="汉仪粗宋简"/>
              </a:defRPr>
            </a:pPr>
            <a:r>
              <a:rPr sz="2175" b="0">
                <a:solidFill>
                  <a:srgbClr val="161616"/>
                </a:solidFill>
                <a:latin typeface="汉仪粗宋简"/>
                <a:ea typeface="汉仪粗宋简"/>
                <a:cs typeface="汉仪粗宋简"/>
              </a:rPr>
              <a:t>参数正则化与多点监督均能修复部分代价，QP 与 QCP 精度接近</a:t>
            </a:r>
          </a:p>
        </p:txBody>
      </p:sp>
      <p:sp>
        <p:nvSpPr>
          <p:cNvPr id="11" name="content-weibull20260906s31-8">
            <a:extLst>
              <a:ext uri="{FF2B5EF4-FFF2-40B4-BE49-F238E27FC236}">
                <a16:creationId xmlns:a16="http://schemas.microsoft.com/office/drawing/2014/main" id="{8EE6F15F-C831-4DC2-ABCE-F639AB320950}"/>
              </a:ext>
            </a:extLst>
          </p:cNvPr>
          <p:cNvSpPr>
            <a:spLocks noGrp="1"/>
          </p:cNvSpPr>
          <p:nvPr/>
        </p:nvSpPr>
        <p:spPr>
          <a:xfrm>
            <a:off x="552450" y="4752975"/>
            <a:ext cx="11049000" cy="838200"/>
          </a:xfrm>
          <a:prstGeom prst="rect">
            <a:avLst/>
          </a:prstGeom>
          <a:noFill/>
          <a:ln w="0">
            <a:noFill/>
          </a:ln>
        </p:spPr>
        <p:txBody>
          <a:bodyPr wrap="square" lIns="0" tIns="0" rIns="0" bIns="0" anchor="t">
            <a:noAutofit/>
          </a:bodyPr>
          <a:lstStyle/>
          <a:p>
            <a:pPr algn="l">
              <a:defRPr sz="2175" b="0">
                <a:solidFill>
                  <a:srgbClr val="161616"/>
                </a:solidFill>
                <a:latin typeface="汉仪粗宋简"/>
                <a:ea typeface="汉仪粗宋简"/>
                <a:cs typeface="汉仪粗宋简"/>
              </a:defRPr>
            </a:pPr>
            <a:r>
              <a:rPr sz="2175" b="0">
                <a:solidFill>
                  <a:srgbClr val="161616"/>
                </a:solidFill>
                <a:latin typeface="汉仪粗宋简"/>
                <a:ea typeface="汉仪粗宋简"/>
                <a:cs typeface="汉仪粗宋简"/>
              </a:rPr>
              <a:t>收益集中性、典型误差与计算成本决定实际取舍</a:t>
            </a:r>
          </a:p>
        </p:txBody>
      </p:sp>
      <p:sp>
        <p:nvSpPr>
          <p:cNvPr id="12" name="content-weibull20260906s31-9">
            <a:extLst>
              <a:ext uri="{FF2B5EF4-FFF2-40B4-BE49-F238E27FC236}">
                <a16:creationId xmlns:a16="http://schemas.microsoft.com/office/drawing/2014/main" id="{B3259A6A-0345-45E3-B059-06AE20DC5D21}"/>
              </a:ext>
            </a:extLst>
          </p:cNvPr>
          <p:cNvSpPr>
            <a:spLocks noGrp="1"/>
          </p:cNvSpPr>
          <p:nvPr/>
        </p:nvSpPr>
        <p:spPr>
          <a:xfrm>
            <a:off x="590550" y="5905500"/>
            <a:ext cx="11010900" cy="552450"/>
          </a:xfrm>
          <a:prstGeom prst="rect">
            <a:avLst/>
          </a:prstGeom>
          <a:noFill/>
          <a:ln w="0">
            <a:noFill/>
          </a:ln>
        </p:spPr>
        <p:txBody>
          <a:bodyPr wrap="square" lIns="0" tIns="0" rIns="0" bIns="0" anchor="t">
            <a:noAutofit/>
          </a:bodyPr>
          <a:lstStyle/>
          <a:p>
            <a:pPr algn="l">
              <a:defRPr sz="1800" b="0">
                <a:solidFill>
                  <a:srgbClr val="315DA7"/>
                </a:solidFill>
                <a:latin typeface="汉仪粗宋简"/>
                <a:ea typeface="汉仪粗宋简"/>
                <a:cs typeface="汉仪粗宋简"/>
              </a:defRPr>
            </a:pPr>
            <a:r>
              <a:rPr sz="1700" b="0">
                <a:solidFill>
                  <a:srgbClr val="315DA7"/>
                </a:solidFill>
                <a:latin typeface="汉仪粗宋简"/>
                <a:ea typeface="汉仪粗宋简"/>
                <a:cs typeface="汉仪粗宋简"/>
              </a:rPr>
              <a:t>应根据目标量、参数用途和成本选择监督方式。</a:t>
            </a:r>
          </a:p>
        </p:txBody>
      </p:sp>
    </p:spTree>
    <p:extLst>
      <p:ext uri="{BB962C8B-B14F-4D97-AF65-F5344CB8AC3E}">
        <p14:creationId xmlns:p14="http://schemas.microsoft.com/office/powerpoint/2010/main" val="1992125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A4CF01F-AF0B-A3FF-7A95-E6E7A8D4B5CD}"/>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三个部分的主要结果与下一步</a:t>
            </a:r>
          </a:p>
        </p:txBody>
      </p:sp>
      <p:sp>
        <p:nvSpPr>
          <p:cNvPr id="2" name="文本框 1">
            <a:extLst>
              <a:ext uri="{FF2B5EF4-FFF2-40B4-BE49-F238E27FC236}">
                <a16:creationId xmlns:a16="http://schemas.microsoft.com/office/drawing/2014/main" id="{F2F100AD-8EEA-E54D-497A-E5733B4A2470}"/>
              </a:ext>
            </a:extLst>
          </p:cNvPr>
          <p:cNvSpPr>
            <a:spLocks noGrp="1"/>
          </p:cNvSpPr>
          <p:nvPr/>
        </p:nvSpPr>
        <p:spPr>
          <a:xfrm>
            <a:off x="502920" y="304800"/>
            <a:ext cx="10424160" cy="409575"/>
          </a:xfrm>
          <a:prstGeom prst="rect">
            <a:avLst/>
          </a:prstGeom>
          <a:noFill/>
        </p:spPr>
        <p:txBody>
          <a:bodyPr wrap="square">
            <a:noAutofit/>
          </a:bodyPr>
          <a:lstStyle/>
          <a:p>
            <a:pPr>
              <a:defRPr sz="2100">
                <a:latin typeface="汉仪粗宋简"/>
                <a:ea typeface="汉仪粗宋简"/>
                <a:cs typeface="汉仪粗宋简"/>
              </a:defRPr>
            </a:pPr>
            <a:r>
              <a:rPr sz="1800">
                <a:solidFill>
                  <a:schemeClr val="tx1">
                    <a:lumMod val="75000"/>
                    <a:lumOff val="25000"/>
                  </a:schemeClr>
                </a:solidFill>
                <a:latin typeface="汉仪粗宋简"/>
                <a:ea typeface="汉仪粗宋简"/>
                <a:cs typeface="汉仪粗宋简"/>
              </a:rPr>
              <a:t>汇报总结</a:t>
            </a:r>
            <a:endParaRPr sz="2200">
              <a:solidFill>
                <a:schemeClr val="tx1">
                  <a:lumMod val="75000"/>
                  <a:lumOff val="25000"/>
                </a:schemeClr>
              </a:solidFill>
              <a:latin typeface="汉仪粗宋简"/>
              <a:ea typeface="汉仪粗宋简"/>
              <a:cs typeface="汉仪粗宋简"/>
            </a:endParaRPr>
          </a:p>
        </p:txBody>
      </p:sp>
      <p:sp>
        <p:nvSpPr>
          <p:cNvPr id="3" name="直接连接符 2">
            <a:extLst>
              <a:ext uri="{FF2B5EF4-FFF2-40B4-BE49-F238E27FC236}">
                <a16:creationId xmlns:a16="http://schemas.microsoft.com/office/drawing/2014/main" id="{B332345A-FC89-426E-867E-27E731665D0F}"/>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7" name="content-weibull20260906s32-4">
            <a:extLst>
              <a:ext uri="{FF2B5EF4-FFF2-40B4-BE49-F238E27FC236}">
                <a16:creationId xmlns:a16="http://schemas.microsoft.com/office/drawing/2014/main" id="{1D39A273-61C8-425C-B05E-D2D399D05157}"/>
              </a:ext>
            </a:extLst>
          </p:cNvPr>
          <p:cNvSpPr>
            <a:spLocks noGrp="1"/>
          </p:cNvSpPr>
          <p:nvPr/>
        </p:nvSpPr>
        <p:spPr>
          <a:xfrm>
            <a:off x="10934700" y="6324600"/>
            <a:ext cx="666750" cy="209550"/>
          </a:xfrm>
          <a:prstGeom prst="rect">
            <a:avLst/>
          </a:prstGeom>
          <a:noFill/>
          <a:ln w="0">
            <a:noFill/>
          </a:ln>
        </p:spPr>
        <p:txBody>
          <a:bodyPr wrap="square" lIns="0" tIns="0" rIns="0" bIns="0" anchor="t">
            <a:noAutofit/>
          </a:bodyPr>
          <a:lstStyle/>
          <a:p>
            <a:pPr algn="r">
              <a:defRPr sz="1275" b="0">
                <a:solidFill>
                  <a:srgbClr val="737373"/>
                </a:solidFill>
                <a:latin typeface="汉仪粗宋简"/>
                <a:ea typeface="汉仪粗宋简"/>
                <a:cs typeface="汉仪粗宋简"/>
              </a:defRPr>
            </a:pPr>
            <a:r>
              <a:rPr sz="1275" b="0">
                <a:solidFill>
                  <a:srgbClr val="737373"/>
                </a:solidFill>
                <a:latin typeface="汉仪粗宋简"/>
                <a:ea typeface="汉仪粗宋简"/>
                <a:cs typeface="汉仪粗宋简"/>
              </a:rPr>
              <a:t>32 / 32</a:t>
            </a:r>
          </a:p>
        </p:txBody>
      </p:sp>
      <p:sp>
        <p:nvSpPr>
          <p:cNvPr id="8" name="TextBox 7"/>
          <p:cNvSpPr txBox="1"/>
          <p:nvPr/>
        </p:nvSpPr>
        <p:spPr>
          <a:xfrm>
            <a:off x="640080" y="1645920"/>
            <a:ext cx="10972800" cy="502920"/>
          </a:xfrm>
          <a:prstGeom prst="rect">
            <a:avLst/>
          </a:prstGeom>
          <a:noFill/>
        </p:spPr>
        <p:txBody>
          <a:bodyPr wrap="none">
            <a:spAutoFit/>
          </a:bodyPr>
          <a:lstStyle/>
          <a:p>
            <a:r>
              <a:rPr sz="2200">
                <a:solidFill>
                  <a:srgbClr val="154F8C"/>
                </a:solidFill>
                <a:latin typeface="Microsoft YaHei"/>
              </a:rPr>
              <a:t>第一部分：MDM 方法中偏移量的自适应调整</a:t>
            </a:r>
          </a:p>
        </p:txBody>
      </p:sp>
      <p:sp>
        <p:nvSpPr>
          <p:cNvPr id="9" name="TextBox 8"/>
          <p:cNvSpPr txBox="1"/>
          <p:nvPr/>
        </p:nvSpPr>
        <p:spPr>
          <a:xfrm>
            <a:off x="777240" y="2194560"/>
            <a:ext cx="10698480" cy="640080"/>
          </a:xfrm>
          <a:prstGeom prst="rect">
            <a:avLst/>
          </a:prstGeom>
          <a:noFill/>
        </p:spPr>
        <p:txBody>
          <a:bodyPr wrap="none">
            <a:spAutoFit/>
          </a:bodyPr>
          <a:lstStyle/>
          <a:p>
            <a:r>
              <a:rPr sz="2100">
                <a:solidFill>
                  <a:srgbClr val="222222"/>
                </a:solidFill>
                <a:latin typeface="Microsoft YaHei"/>
              </a:rPr>
              <a:t>当前样本支持偏移量调整，联合参数误差下降7.27%。</a:t>
            </a:r>
          </a:p>
        </p:txBody>
      </p:sp>
      <p:sp>
        <p:nvSpPr>
          <p:cNvPr id="10" name="TextBox 9"/>
          <p:cNvSpPr txBox="1"/>
          <p:nvPr/>
        </p:nvSpPr>
        <p:spPr>
          <a:xfrm>
            <a:off x="640080" y="2926080"/>
            <a:ext cx="10972800" cy="502920"/>
          </a:xfrm>
          <a:prstGeom prst="rect">
            <a:avLst/>
          </a:prstGeom>
          <a:noFill/>
        </p:spPr>
        <p:txBody>
          <a:bodyPr wrap="none">
            <a:spAutoFit/>
          </a:bodyPr>
          <a:lstStyle/>
          <a:p>
            <a:r>
              <a:rPr sz="2200">
                <a:solidFill>
                  <a:srgbClr val="154F8C"/>
                </a:solidFill>
                <a:latin typeface="Microsoft YaHei"/>
              </a:rPr>
              <a:t>第二部分：直接参数估计与过程量优化的比较</a:t>
            </a:r>
          </a:p>
        </p:txBody>
      </p:sp>
      <p:sp>
        <p:nvSpPr>
          <p:cNvPr id="11" name="TextBox 10"/>
          <p:cNvSpPr txBox="1"/>
          <p:nvPr/>
        </p:nvSpPr>
        <p:spPr>
          <a:xfrm>
            <a:off x="777240" y="3474720"/>
            <a:ext cx="10698480" cy="640080"/>
          </a:xfrm>
          <a:prstGeom prst="rect">
            <a:avLst/>
          </a:prstGeom>
          <a:noFill/>
        </p:spPr>
        <p:txBody>
          <a:bodyPr wrap="none">
            <a:spAutoFit/>
          </a:bodyPr>
          <a:lstStyle/>
          <a:p>
            <a:r>
              <a:rPr sz="2100">
                <a:solidFill>
                  <a:srgbClr val="222222"/>
                </a:solidFill>
                <a:latin typeface="Microsoft YaHei"/>
              </a:rPr>
              <a:t>直接估计在当前域内更准确，优势受外推方向与训练覆盖影响。</a:t>
            </a:r>
          </a:p>
        </p:txBody>
      </p:sp>
      <p:sp>
        <p:nvSpPr>
          <p:cNvPr id="12" name="TextBox 11"/>
          <p:cNvSpPr txBox="1"/>
          <p:nvPr/>
        </p:nvSpPr>
        <p:spPr>
          <a:xfrm>
            <a:off x="640080" y="4206240"/>
            <a:ext cx="10972800" cy="502920"/>
          </a:xfrm>
          <a:prstGeom prst="rect">
            <a:avLst/>
          </a:prstGeom>
          <a:noFill/>
        </p:spPr>
        <p:txBody>
          <a:bodyPr wrap="none">
            <a:spAutoFit/>
          </a:bodyPr>
          <a:lstStyle/>
          <a:p>
            <a:r>
              <a:rPr sz="2200">
                <a:solidFill>
                  <a:srgbClr val="154F8C"/>
                </a:solidFill>
                <a:latin typeface="Microsoft YaHei"/>
              </a:rPr>
              <a:t>第三部分：直接估计中的参数目标与分位点目标</a:t>
            </a:r>
          </a:p>
        </p:txBody>
      </p:sp>
      <p:sp>
        <p:nvSpPr>
          <p:cNvPr id="13" name="TextBox 12"/>
          <p:cNvSpPr txBox="1"/>
          <p:nvPr/>
        </p:nvSpPr>
        <p:spPr>
          <a:xfrm>
            <a:off x="777240" y="4754879"/>
            <a:ext cx="10698480" cy="640080"/>
          </a:xfrm>
          <a:prstGeom prst="rect">
            <a:avLst/>
          </a:prstGeom>
          <a:noFill/>
        </p:spPr>
        <p:txBody>
          <a:bodyPr wrap="none">
            <a:spAutoFit/>
          </a:bodyPr>
          <a:lstStyle/>
          <a:p>
            <a:r>
              <a:rPr sz="2100">
                <a:solidFill>
                  <a:srgbClr val="222222"/>
                </a:solidFill>
                <a:latin typeface="Microsoft YaHei"/>
              </a:rPr>
              <a:t>目标对齐有收益，也有参数与跨寿命点代价；简单加权同样值得比较。</a:t>
            </a:r>
          </a:p>
        </p:txBody>
      </p:sp>
      <p:sp>
        <p:nvSpPr>
          <p:cNvPr id="14" name="TextBox 13"/>
          <p:cNvSpPr txBox="1"/>
          <p:nvPr/>
        </p:nvSpPr>
        <p:spPr>
          <a:xfrm>
            <a:off x="685800" y="5669280"/>
            <a:ext cx="10698480" cy="502920"/>
          </a:xfrm>
          <a:prstGeom prst="rect">
            <a:avLst/>
          </a:prstGeom>
          <a:noFill/>
        </p:spPr>
        <p:txBody>
          <a:bodyPr wrap="none">
            <a:spAutoFit/>
          </a:bodyPr>
          <a:lstStyle/>
          <a:p>
            <a:r>
              <a:rPr sz="1900">
                <a:solidFill>
                  <a:srgbClr val="222222"/>
                </a:solidFill>
                <a:latin typeface="Microsoft YaHei"/>
              </a:rPr>
              <a:t>下一步：冻结方案后的独立确认，以及与实际用途匹配的验证。</a:t>
            </a:r>
          </a:p>
        </p:txBody>
      </p:sp>
    </p:spTree>
    <p:extLst>
      <p:ext uri="{BB962C8B-B14F-4D97-AF65-F5344CB8AC3E}">
        <p14:creationId xmlns:p14="http://schemas.microsoft.com/office/powerpoint/2010/main" val="29168402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3306</Words>
  <Application>Microsoft Office PowerPoint</Application>
  <DocSecurity>0</DocSecurity>
  <PresentationFormat>宽屏</PresentationFormat>
  <Paragraphs>570</Paragraphs>
  <Slides>32</Slides>
  <Notes>32</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32</vt:i4>
      </vt:variant>
    </vt:vector>
  </HeadingPairs>
  <TitlesOfParts>
    <vt:vector size="44" baseType="lpstr">
      <vt:lpstr>等线</vt:lpstr>
      <vt:lpstr>等线 Light</vt:lpstr>
      <vt:lpstr>汉仪粗宋简</vt:lpstr>
      <vt:lpstr>汉仪文润宋韵 U</vt:lpstr>
      <vt:lpstr>微软雅黑</vt:lpstr>
      <vt:lpstr>Arial</vt:lpstr>
      <vt:lpstr>Calibri</vt:lpstr>
      <vt:lpstr>Calibri Light</vt:lpstr>
      <vt:lpstr>Cambria Math</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1</cp:revision>
  <dcterms:created xsi:type="dcterms:W3CDTF">2026-09-06T04:22:26Z</dcterms:created>
  <dcterms:modified xsi:type="dcterms:W3CDTF">2026-09-07T06:04:01Z</dcterms:modified>
</cp:coreProperties>
</file>