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2"/>
    <p:sldMasterId id="2147483663" r:id="rId3"/>
  </p:sldMasterIdLst>
  <p:notesMasterIdLst>
    <p:notesMasterId r:id="rId3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E3753D0-92AB-4620-8DB3-57A31C4D162D}" styleName="表样式 1 25">
    <a:wholeTbl>
      <a:tcTxStyle>
        <a:fontRef idx="none">
          <a:schemeClr val="tx1"/>
        </a:fontRef>
      </a:tcTxStyle>
      <a:tcStyle>
        <a:tcBdr>
          <a:left>
            <a:ln w="9525" cmpd="sng">
              <a:solidFill>
                <a:schemeClr val="accent1"/>
              </a:solidFill>
              <a:prstDash val="solid"/>
            </a:ln>
          </a:left>
          <a:right>
            <a:ln w="9525" cmpd="sng">
              <a:solidFill>
                <a:schemeClr val="accent1"/>
              </a:solidFill>
              <a:prstDash val="solid"/>
            </a:ln>
          </a:right>
          <a:top>
            <a:ln w="9525" cmpd="sng">
              <a:solidFill>
                <a:schemeClr val="accent1"/>
              </a:solidFill>
              <a:prstDash val="solid"/>
            </a:ln>
          </a:top>
          <a:bottom>
            <a:ln w="9525" cmpd="sng">
              <a:solidFill>
                <a:schemeClr val="accent1"/>
              </a:solidFill>
              <a:prstDash val="solid"/>
            </a:ln>
          </a:bottom>
          <a:insideH>
            <a:ln w="9525" cmpd="sng">
              <a:solidFill>
                <a:schemeClr val="accent1">
                  <a:lumMod val="40000"/>
                  <a:lumOff val="60000"/>
                </a:schemeClr>
              </a:solidFill>
              <a:prstDash val="solid"/>
            </a:ln>
          </a:insideH>
          <a:insideV>
            <a:ln w="9525" cmpd="sng">
              <a:solidFill>
                <a:schemeClr val="accent1">
                  <a:lumMod val="40000"/>
                  <a:lumOff val="60000"/>
                </a:schemeClr>
              </a:solidFill>
              <a:prstDash val="solid"/>
            </a:ln>
          </a:insideV>
        </a:tcBdr>
        <a:fill>
          <a:solidFill>
            <a:schemeClr val="bg1">
              <a:alpha val="0"/>
            </a:schemeClr>
          </a:solidFill>
        </a:fill>
      </a:tcStyle>
    </a:wholeTbl>
    <a:band2H>
      <a:tcTxStyle/>
      <a:tcStyle>
        <a:tcBdr/>
        <a:fill>
          <a:solidFill>
            <a:schemeClr val="accent1">
              <a:alpha val="25000"/>
              <a:lumMod val="40000"/>
              <a:lumOff val="60000"/>
            </a:schemeClr>
          </a:solidFill>
        </a:fill>
      </a:tcStyle>
    </a:band2H>
    <a:band1V>
      <a:tcTxStyle/>
      <a:tcStyle>
        <a:tcBdr/>
        <a:fill>
          <a:solidFill>
            <a:schemeClr val="accent1">
              <a:alpha val="25000"/>
              <a:lumMod val="40000"/>
              <a:lumOff val="60000"/>
            </a:schemeClr>
          </a:solidFill>
        </a:fill>
      </a:tcStyle>
    </a:band1V>
    <a:band2V>
      <a:tcTxStyle/>
      <a:tcStyle>
        <a:tcBdr/>
        <a:fill>
          <a:solidFill>
            <a:schemeClr val="bg1">
              <a:alpha val="0"/>
            </a:schemeClr>
          </a:solidFill>
        </a:fill>
      </a:tcStyle>
    </a:band2V>
    <a:lastCol>
      <a:tcTxStyle b="on">
        <a:fontRef idx="none">
          <a:schemeClr val="tx1"/>
        </a:fontRef>
      </a:tcTxStyle>
      <a:tcStyle>
        <a:tcBdr>
          <a:left>
            <a:ln w="9525" cmpd="sng">
              <a:solidFill>
                <a:schemeClr val="accent1">
                  <a:lumMod val="40000"/>
                  <a:lumOff val="60000"/>
                </a:schemeClr>
              </a:solidFill>
              <a:prstDash val="solid"/>
            </a:ln>
          </a:left>
          <a:right>
            <a:ln w="9525" cmpd="sng">
              <a:solidFill>
                <a:schemeClr val="accent1"/>
              </a:solidFill>
              <a:prstDash val="solid"/>
            </a:ln>
          </a:right>
          <a:top>
            <a:ln w="9525" cmpd="sng">
              <a:solidFill>
                <a:schemeClr val="accent1"/>
              </a:solidFill>
              <a:prstDash val="solid"/>
            </a:ln>
          </a:top>
          <a:bottom>
            <a:ln w="9525" cmpd="sng">
              <a:solidFill>
                <a:schemeClr val="accent1"/>
              </a:solidFill>
              <a:prstDash val="solid"/>
            </a:ln>
          </a:bottom>
          <a:insideH>
            <a:ln w="9525" cmpd="sng">
              <a:solidFill>
                <a:schemeClr val="accent1">
                  <a:lumMod val="40000"/>
                  <a:lumOff val="60000"/>
                </a:schemeClr>
              </a:solidFill>
              <a:prstDash val="solid"/>
            </a:ln>
          </a:insideH>
          <a:insideV>
            <a:ln>
              <a:noFill/>
            </a:ln>
          </a:insideV>
        </a:tcBdr>
        <a:fill>
          <a:solidFill>
            <a:schemeClr val="accent1">
              <a:alpha val="40000"/>
              <a:lumMod val="40000"/>
              <a:lumOff val="60000"/>
            </a:schemeClr>
          </a:solidFill>
        </a:fill>
      </a:tcStyle>
    </a:lastCol>
    <a:firstCol>
      <a:tcTxStyle b="on">
        <a:fontRef idx="none">
          <a:schemeClr val="tx1"/>
        </a:fontRef>
      </a:tcTxStyle>
      <a:tcStyle>
        <a:tcBdr>
          <a:left>
            <a:ln w="9525" cmpd="sng">
              <a:solidFill>
                <a:schemeClr val="accent1"/>
              </a:solidFill>
              <a:prstDash val="solid"/>
            </a:ln>
          </a:left>
          <a:right>
            <a:ln w="9525" cmpd="sng">
              <a:solidFill>
                <a:schemeClr val="accent1">
                  <a:lumMod val="40000"/>
                  <a:lumOff val="60000"/>
                </a:schemeClr>
              </a:solidFill>
              <a:prstDash val="solid"/>
            </a:ln>
          </a:right>
          <a:top>
            <a:ln w="9525" cmpd="sng">
              <a:solidFill>
                <a:schemeClr val="accent1"/>
              </a:solidFill>
              <a:prstDash val="solid"/>
            </a:ln>
          </a:top>
          <a:bottom>
            <a:ln w="9525" cmpd="sng">
              <a:solidFill>
                <a:schemeClr val="accent1"/>
              </a:solidFill>
              <a:prstDash val="solid"/>
            </a:ln>
          </a:bottom>
          <a:insideH>
            <a:ln w="9525" cmpd="sng">
              <a:solidFill>
                <a:schemeClr val="accent1">
                  <a:lumMod val="40000"/>
                  <a:lumOff val="60000"/>
                </a:schemeClr>
              </a:solidFill>
              <a:prstDash val="solid"/>
            </a:ln>
          </a:insideH>
          <a:insideV>
            <a:ln>
              <a:noFill/>
            </a:ln>
          </a:insideV>
        </a:tcBdr>
        <a:fill>
          <a:solidFill>
            <a:schemeClr val="accent1">
              <a:alpha val="40000"/>
              <a:lumMod val="40000"/>
              <a:lumOff val="60000"/>
            </a:schemeClr>
          </a:solidFill>
        </a:fill>
      </a:tcStyle>
    </a:firstCol>
    <a:lastRow>
      <a:tcTxStyle b="on">
        <a:fontRef idx="none">
          <a:schemeClr val="accent1"/>
        </a:fontRef>
      </a:tcTxStyle>
      <a:tcStyle>
        <a:tcBdr>
          <a:left>
            <a:ln w="9525" cmpd="sng">
              <a:solidFill>
                <a:schemeClr val="accent1"/>
              </a:solidFill>
              <a:prstDash val="solid"/>
            </a:ln>
          </a:left>
          <a:right>
            <a:ln w="9525" cmpd="sng">
              <a:solidFill>
                <a:schemeClr val="accent1"/>
              </a:solidFill>
              <a:prstDash val="solid"/>
            </a:ln>
          </a:right>
          <a:top>
            <a:ln w="9525" cmpd="sng">
              <a:solidFill>
                <a:schemeClr val="accent1"/>
              </a:solidFill>
              <a:prstDash val="solid"/>
            </a:ln>
          </a:top>
          <a:bottom>
            <a:ln w="9525" cmpd="sng">
              <a:solidFill>
                <a:schemeClr val="accent1"/>
              </a:solidFill>
              <a:prstDash val="solid"/>
            </a:ln>
          </a:bottom>
          <a:insideH>
            <a:ln>
              <a:noFill/>
            </a:ln>
          </a:insideH>
          <a:insideV>
            <a:ln>
              <a:noFill/>
            </a:ln>
          </a:insideV>
        </a:tcBdr>
        <a:fill>
          <a:solidFill>
            <a:schemeClr val="bg1">
              <a:alpha val="0"/>
            </a:schemeClr>
          </a:solidFill>
        </a:fill>
      </a:tcStyle>
    </a:lastRow>
    <a:seCell>
      <a:tcTxStyle/>
      <a:tcStyle>
        <a:tcBdr>
          <a:left>
            <a:ln w="9525" cmpd="sng">
              <a:solidFill>
                <a:schemeClr val="accent1">
                  <a:lumMod val="40000"/>
                  <a:lumOff val="60000"/>
                </a:schemeClr>
              </a:solidFill>
              <a:prstDash val="solid"/>
            </a:ln>
          </a:left>
          <a:right>
            <a:ln w="9525" cmpd="sng">
              <a:solidFill>
                <a:schemeClr val="accent1"/>
              </a:solidFill>
              <a:prstDash val="solid"/>
            </a:ln>
          </a:right>
          <a:top>
            <a:ln w="9525" cmpd="sng">
              <a:solidFill>
                <a:schemeClr val="accent1"/>
              </a:solidFill>
              <a:prstDash val="solid"/>
            </a:ln>
          </a:top>
          <a:bottom>
            <a:ln w="9525" cmpd="sng">
              <a:solidFill>
                <a:schemeClr val="accent1"/>
              </a:solidFill>
              <a:prstDash val="solid"/>
            </a:ln>
          </a:bottom>
          <a:insideH>
            <a:ln>
              <a:noFill/>
            </a:ln>
          </a:insideH>
          <a:insideV>
            <a:ln>
              <a:noFill/>
            </a:ln>
          </a:insideV>
        </a:tcBdr>
        <a:fill>
          <a:solidFill>
            <a:schemeClr val="bg1">
              <a:alpha val="0"/>
            </a:schemeClr>
          </a:solidFill>
        </a:fill>
      </a:tcStyle>
    </a:seCell>
    <a:swCell>
      <a:tcTxStyle b="on">
        <a:fontRef idx="none">
          <a:schemeClr val="accent1"/>
        </a:fontRef>
      </a:tcTxStyle>
      <a:tcStyle>
        <a:tcBdr>
          <a:left>
            <a:ln w="9525" cmpd="sng">
              <a:solidFill>
                <a:schemeClr val="accent1"/>
              </a:solidFill>
              <a:prstDash val="solid"/>
            </a:ln>
          </a:left>
          <a:right>
            <a:ln w="9525" cmpd="sng">
              <a:solidFill>
                <a:schemeClr val="accent1">
                  <a:lumMod val="40000"/>
                  <a:lumOff val="60000"/>
                </a:schemeClr>
              </a:solidFill>
              <a:prstDash val="solid"/>
            </a:ln>
          </a:right>
          <a:top>
            <a:ln w="9525" cmpd="sng">
              <a:solidFill>
                <a:schemeClr val="accent1"/>
              </a:solidFill>
              <a:prstDash val="solid"/>
            </a:ln>
          </a:top>
          <a:bottom>
            <a:ln w="9525" cmpd="sng">
              <a:solidFill>
                <a:schemeClr val="accent1"/>
              </a:solidFill>
              <a:prstDash val="solid"/>
            </a:ln>
          </a:bottom>
          <a:insideH>
            <a:ln>
              <a:noFill/>
            </a:ln>
          </a:insideH>
          <a:insideV>
            <a:ln>
              <a:noFill/>
            </a:ln>
          </a:insideV>
        </a:tcBdr>
        <a:fill>
          <a:solidFill>
            <a:schemeClr val="bg1">
              <a:alpha val="0"/>
            </a:schemeClr>
          </a:solidFill>
        </a:fill>
      </a:tcStyle>
    </a:swCell>
    <a:firstRow>
      <a:tcTxStyle b="on">
        <a:fontRef idx="none">
          <a:schemeClr val="bg1"/>
        </a:fontRef>
      </a:tcTxStyle>
      <a:tcStyle>
        <a:tcBdr>
          <a:left>
            <a:ln w="9525" cmpd="sng">
              <a:solidFill>
                <a:schemeClr val="accent1"/>
              </a:solidFill>
              <a:prstDash val="solid"/>
            </a:ln>
          </a:left>
          <a:right>
            <a:ln w="9525" cmpd="sng">
              <a:solidFill>
                <a:schemeClr val="accent1"/>
              </a:solidFill>
              <a:prstDash val="solid"/>
            </a:ln>
          </a:right>
          <a:top>
            <a:ln w="9525" cmpd="sng">
              <a:solidFill>
                <a:schemeClr val="accent1"/>
              </a:solidFill>
              <a:prstDash val="solid"/>
            </a:ln>
          </a:top>
          <a:bottom>
            <a:ln w="9525" cmpd="sng">
              <a:solidFill>
                <a:schemeClr val="accent1"/>
              </a:solidFill>
              <a:prstDash val="solid"/>
            </a:ln>
          </a:bottom>
          <a:insideH>
            <a:ln>
              <a:noFill/>
            </a:ln>
          </a:insideH>
          <a:insideV>
            <a:ln w="9525" cmpd="sng">
              <a:solidFill>
                <a:schemeClr val="accent1">
                  <a:lumMod val="40000"/>
                  <a:lumOff val="60000"/>
                </a:schemeClr>
              </a:solidFill>
              <a:prstDash val="solid"/>
            </a:ln>
          </a:insideV>
        </a:tcBdr>
        <a:fill>
          <a:solidFill>
            <a:schemeClr val="accent1"/>
          </a:solidFill>
        </a:fill>
      </a:tcStyle>
    </a:firstRow>
    <a:neCell>
      <a:tcTxStyle/>
      <a:tcStyle>
        <a:tcBdr>
          <a:left>
            <a:ln w="9525" cmpd="sng">
              <a:solidFill>
                <a:schemeClr val="accent1">
                  <a:lumMod val="40000"/>
                  <a:lumOff val="60000"/>
                </a:schemeClr>
              </a:solidFill>
              <a:prstDash val="solid"/>
            </a:ln>
          </a:left>
          <a:right>
            <a:ln w="9525" cmpd="sng">
              <a:solidFill>
                <a:schemeClr val="accent1"/>
              </a:solidFill>
              <a:prstDash val="solid"/>
            </a:ln>
          </a:right>
          <a:top>
            <a:ln w="9525" cmpd="sng">
              <a:solidFill>
                <a:schemeClr val="accent1"/>
              </a:solidFill>
              <a:prstDash val="solid"/>
            </a:ln>
          </a:top>
          <a:bottom>
            <a:ln w="9525" cmpd="sng">
              <a:solidFill>
                <a:schemeClr val="accent1">
                  <a:lumMod val="40000"/>
                  <a:lumOff val="60000"/>
                </a:schemeClr>
              </a:solidFill>
              <a:prstDash val="solid"/>
            </a:ln>
          </a:bottom>
          <a:insideH>
            <a:ln>
              <a:noFill/>
            </a:ln>
          </a:insideH>
          <a:insideV>
            <a:ln>
              <a:noFill/>
            </a:ln>
          </a:insideV>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825" autoAdjust="0"/>
  </p:normalViewPr>
  <p:slideViewPr>
    <p:cSldViewPr snapToGrid="0">
      <p:cViewPr varScale="1">
        <p:scale>
          <a:sx n="89" d="100"/>
          <a:sy n="89" d="100"/>
        </p:scale>
        <p:origin x="1194"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theme" Target="theme/theme1.xml"/><Relationship Id="rId21" Type="http://schemas.openxmlformats.org/officeDocument/2006/relationships/slide" Target="slides/slide18.xml"/><Relationship Id="rId34" Type="http://schemas.openxmlformats.org/officeDocument/2006/relationships/slide" Target="slides/slide3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8" Type="http://schemas.openxmlformats.org/officeDocument/2006/relationships/slide" Target="slides/slide5.xml"/><Relationship Id="rId3" Type="http://schemas.openxmlformats.org/officeDocument/2006/relationships/slideMaster" Target="slideMasters/slideMaster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老师晚上好，本次汇报一下最近围绕威布尔分布参数估计和小样本估计做的一些工作，主要是神经网络在 MDM 方法和直接参数估计中的应用。下面分三个部分来讲。</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第一部分是 MDM 方法中偏移量的自适应调整。这个工作之前已经汇报过，这次主要是论文整理得差不多了，简要说明统一偏移量的依据、样本差异提供的选择空间，以及如何把样本信息转化为估计收益。</a:t>
            </a:r>
          </a:p>
          <a:p>
            <a:r>
              <a:rPr sz="1800"/>
              <a:t/>
            </a:r>
          </a:p>
          <a:p>
            <a:r>
              <a:rPr sz="1800"/>
              <a:t>第二部分是回应老师之前提出的一个问题：既然用了神经网络，是像第一部分这样，用网络优化 MDM 中的过程量，再通过 MDM 求参数，还是直接让网络估计参数？这一部分主要比较这两条路线。</a:t>
            </a:r>
          </a:p>
          <a:p>
            <a:r>
              <a:rPr sz="1800"/>
              <a:t/>
            </a:r>
          </a:p>
          <a:p>
            <a:r>
              <a:rPr sz="1800"/>
              <a:t>第三部分进一步看直接参数估计。网络同样输出三个参数，但训练时是以参数估计准确为目标，还是以最终使用的分位点准确为目标？这里主要讲这两种目标带来的差别。</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这个工作之前讲过几次，这次主要把最后形成的逻辑和结论讲清楚。已有MDM用0.1改善了小样本估计。我们先检查，换一个统一值还能改善多少；再看参数条件和样本差异能不能提供更多选择依据；最后检验，仅看当前样本能不能把这些信息用起来。</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首先做最直接的检查：把 26 个候选值都扫描一遍。当前参数域里的最低点是 0.06，但 0.1 的误差只比它高约 0.93%，所以更换统一常数带来的收益有限。右侧分解说明，偏移量在偏差与方差之间形成折中，继续增大后误差回升。接下来就问：如果限定的参数空间发生变化，最佳统一偏移量是否也会改变？</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这里想验证的是，最佳统一偏移量是否会随着参数空间改变。它本来就是在一个限定空间里求平均风险最低的值，所以我们固定窗口宽度，只移动位置，看最低点是否变化。结果确实变了，0.18到0.04是这次实验的具体表现。实际应用可能覆盖更大的空间，而大空间的汇总风险由其中各部分共同决定。既然不同子域的风险折中不同，扩大或移动覆盖范围后，原来的统一值就需要重新检查。接下来进一步问：能不能根据这些参数条件分别选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先看前五行。统一选择和按样本量选择，收益都比较小；知道形状参数等条件以后，收益明显增加。所以，不同参数条件确实对应不同的选择规则。但 L5 已经知道完整参数条件，为什么最后一行的逐样本选择还好很多？这就引出了样本本身的差异。</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L5 对同一真参数条件选一个统一值，L6 则看每个样本的实际损失。两者存在明显风险差，补充确认集上的选点一致率也只有约 12.6%。这说明，同一参数条件下仍存在样本差异。L6使用真实损失，给出事后选择参照。接下来检验观测样本能够利用其中多少选择空间。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这里沿每一列看同一个样本，横向比较同真值的不同样本。抽样改变了样本的间距和位置结构，也改变了 MDM 的搜索轨迹；偏移量是在这条路径上调整选解位置，因此不同样本可能需要不同的选择。诊断结果支持这种联系。到这里，问题就从找一个最佳常数，推进到能不能根据当前样本作选择。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前面看到，同一参数条件下，不同样本也有不同的低损失偏移量。但实际拿不到真参数，所以我们在模拟训练中计算26个候选的损失，用归一化排序样本预测这条损失曲线。实际使用时只输入样本，选预测损失最低的偏移量，再交给MDM估计三个参数。这里要学的是给定样本后各候选的平均损失，也就是条件风险。最后检验选出来的偏移量能不能真正降低参数误差。</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在位置尺度比水平留出的48,000组折外样本上，联合误差由0.6304降到0.5846，降低7.27%。四个样本量均有改善，三个参数的汇总RMSE也都下降。前面的事后比较说明有选择空间，这里的实际改善进一步说明，其中一部分信息确实能够从观测样本中利用起来。</a:t>
            </a:r>
          </a:p>
          <a:p>
            <a:r>
              <a:rPr sz="1800"/>
              <a:t/>
            </a:r>
          </a:p>
          <a:p>
            <a:r>
              <a:rPr sz="1800"/>
              <a:t>备查说明</a:t>
            </a:r>
          </a:p>
          <a:p>
            <a:r>
              <a:rPr sz="1800"/>
              <a:t/>
            </a:r>
          </a:p>
          <a:p>
            <a:r>
              <a:rPr sz="1800"/>
              <a:t>160个参数单元中125个改善、35个退化；输入表示筛选复用了折外评价数据，冻结方法后的独立确认仍待补充。当前选择器的95%配对重采样区间为6.94%—7.64%。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最后归成三条结论。第一，统一偏移量的本质，是特定参数空间下的平均风险折中。0.1在本文宽混合参数域中接近最佳统一值，参数域改变后，合适的统一取值也随之变化。第二，自适应选择的依据来自两层差异：不同参数条件有不同的平均风险，同一参数条件内部又有不同的样本实现。样本改变候选解路径，也就提供了进一步调整偏移量的空间。第三，我们把这种选择写成基于当前样本的条件风险决策，用MLP预测候选损失曲线，再选择偏移量。实际使用无需真参数输入，最终联合误差降低7.27%，说明这一思路能够转化为有效改进。</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这一部分回应老师上次问的两条路线比较。先把实验空间交代清楚：基础模型在1.5到5的形状参数网格上训练，先在相同参数范围的新样本上比较路线；再用内部新增参数点检查插值表现，用两侧域外点检查外推。最后单独改变训练窗口宽度，但始终在同一个共同测试区间评价，因此这一步能直接比较扩宽造成的精度变化。各方法在每项实验内使用相同测试样本，训练样本和最终测试样本相互独立；不同路线的内部划分、监督和选点仍有差别。</a:t>
            </a:r>
          </a:p>
          <a:p>
            <a:r>
              <a:rPr sz="1800"/>
              <a:t/>
            </a:r>
          </a:p>
          <a:p>
            <a:r>
              <a:rPr sz="1800"/>
              <a:t>域内新增点位于1.75到4.75，原网格位于1.5到5。两组分别用于原网格测试和内部插值检查，共用相同的γ/η与n设置。</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这张表只回答路线比较：在同一个域内测试空间、同一批新样本上，直接估计比自适应MDM的联合误差低35.8%。另外在网格之间加入未训练的形状参数点，相对优势仍然存在，所以目前没有发现优势仅局限于原训练参数网格的现象。接下来把范围移到训练域外，检查这条结论是否还成立。</a:t>
            </a:r>
          </a:p>
          <a:p>
            <a:r>
              <a:rPr sz="1800"/>
              <a:t/>
            </a:r>
          </a:p>
          <a:p>
            <a:r>
              <a:rPr sz="1800"/>
              <a:t>备查数值：原网格与新增内部点的Direct-P误差为0.3658、0.3532；自适应MDM为0.5696、0.5648。路线比较分别在各自测试点上进行。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图A显示各形状参数下的误差，图B显示直接估计相对MDM的误差差值。向低形状参数方向外推时，直接估计的误差上升并出现反转；向高形状参数方向外推时，直接估计仍保持优势。</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训练窗口变宽后，共同测试区间的参数误差上升。按比例增加训练样本后，这一现象仍然存在。训练范围变宽后，网络需要兼顾更多参数条件，因此在原来局部区间里的估计折中发生了变化。</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相似的小样本可能来自多组参数。训练分布决定这些参数在预测时的相对权重，范围改变后，网络的预测折中也会改变。这为扩宽后的局部误差变化提供了解释。</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这里继续使用前面主表的同一评价设计，不再重复区分原网格和新增点。直接估计的联合参数误差降低35.8%，但目标寿命点误差只降低14.9%。再结合扩宽实验中不同寿命点变化方向不一致的现象，可以看到参数精度与寿命点精度的改善幅度不同。表格给出域内平均收益，图中补充展示各形状参数下的误差趋势。</a:t>
            </a:r>
          </a:p>
          <a:p>
            <a:r>
              <a:rPr sz="1800"/>
              <a:t/>
            </a:r>
          </a:p>
          <a:p>
            <a:r>
              <a:rPr sz="1800"/>
              <a:t>域内新增点的对应降幅为37.5%和16.5%，方向一致，仅作补充，不与主表两列并排重复展示。</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图A与B显示模拟中的参数误差联动，图C说明寿命点对参数变化的局部敏感度。大形状参数区的误差方向与参数补偿解释一致。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均值归一化与尺度还原使模型适应样本的同比例缩放，成对缩放实验确认了这一性质。样本量增加时，两条路线的误差都下降，相对差距收窄。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第二部分比较了两条估计路线，并考察训练范围与外推方向的影响。第三部分继续研究直接估计：同样输出三个参数，按参数误差训练和按寿命点误差训练会有什么差别？</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最终用的是寿命点，那直接按寿命点的误差训练，会不会更准？这就是第三部分的起点。我们比较两种训练方式：P要求三个参数分别准确，Q仍然输出三个参数，但只要求它们算出的目标寿命点准确。这里用95%可靠度寿命点作为例子。</a:t>
            </a:r>
          </a:p>
          <a:p>
            <a:r>
              <a:rPr sz="1800"/>
              <a:t/>
            </a:r>
          </a:p>
          <a:p>
            <a:r>
              <a:rPr sz="1800"/>
              <a:t>备查说明</a:t>
            </a:r>
          </a:p>
          <a:p>
            <a:r>
              <a:rPr sz="1800"/>
              <a:t/>
            </a:r>
          </a:p>
          <a:p>
            <a:r>
              <a:rPr sz="1800"/>
              <a:t>95%可靠度寿命点对应失效分布的5%分位点。P是透明的参数恢复目标，三个标准化误差等系数相加；Q仍输出三个参数，但通过寿命公式回传误差。我们研究的是，最终任务改变以后，参数的作用和相互补偿怎样改变，以及是否需要额外限制参数偏离。</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为了比较这两种方式，我们使用同一批模拟样本、相同网络和配对初始化。共有48,000组样本，覆盖四个样本量，每条路线训练200个模型。先看两套完整流程的结果，后面再统一模型选择标准，检查训练目标本身是否仍有作用。</a:t>
            </a:r>
          </a:p>
          <a:p>
            <a:r>
              <a:rPr sz="1800"/>
              <a:t/>
            </a:r>
          </a:p>
          <a:p>
            <a:r>
              <a:rPr sz="1800"/>
              <a:t>备查说明</a:t>
            </a:r>
          </a:p>
          <a:p>
            <a:r>
              <a:rPr sz="1800"/>
              <a:t/>
            </a:r>
          </a:p>
          <a:p>
            <a:r>
              <a:rPr sz="1800"/>
              <a:t>这里的输入保留原始量纲，标准化只用当前训练折；不同于Research04的逐样本均值归一化。每条路线有480,000条预测，是48,000组样本在10个训练种子下的重复预测。主比较统一最多600轮、早停耐心60轮，但实际训练时间不同。原P/Q还同时改变了验证选点规则，稍后用补充对照把这一因素进一步拆开。</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直接按目标寿命点训练后，误差从16.43%降到16.09%，相对降低2.07%。这回答了第一个问题：目标点确实略有改善。接着就要看，这组三个参数是不是也更准确了。</a:t>
            </a:r>
          </a:p>
          <a:p>
            <a:r>
              <a:rPr sz="1800"/>
              <a:t/>
            </a:r>
          </a:p>
          <a:p>
            <a:r>
              <a:rPr sz="1800"/>
              <a:t>备查说明</a:t>
            </a:r>
          </a:p>
          <a:p>
            <a:r>
              <a:rPr sz="1800"/>
              <a:t/>
            </a:r>
          </a:p>
          <a:p>
            <a:r>
              <a:rPr sz="1800"/>
              <a:t>收益存在，但幅度温和。P本身已经能较好地估计插件寿命点，所以任务对齐带来的额外收益并不大。区间按照模型单元配对并保留种子和折次结构；由于训练集在折间重叠、种子数有限，属于当前设计下的经验近似。这里先确认目标点收益，下一页检查同一组三参数在其他使用量上是否也可靠。</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检查发现，Q的参数误差反而很大。为什么参数错得更多，目标点还能较准？因为多组不同参数可以算出同一个寿命点，几个参数的误差可以在这个点上相互抵消。图中既有这种关系的几何解释，也有实际预测中的误差分解。因此，只要求一个点准确，还不足以把三个参数都限制在真值附近。</a:t>
            </a:r>
          </a:p>
          <a:p>
            <a:r>
              <a:rPr sz="1800"/>
              <a:t/>
            </a:r>
          </a:p>
          <a:p>
            <a:r>
              <a:rPr sz="1800"/>
              <a:t>备查说明</a:t>
            </a:r>
          </a:p>
          <a:p>
            <a:r>
              <a:rPr sz="1800"/>
              <a:t/>
            </a:r>
          </a:p>
          <a:p>
            <a:r>
              <a:rPr sz="1800"/>
              <a:t>重点看子图 (a)、(c)、(d)。等寿命点曲面上，多组参数可以给出相同目标值；逐预测贡献分解则显示，这种可能性确实出现在Q的预测中。P的平均参数损失约0.0539，Q达到71.7；补偿指数从0.332升至0.915。局部秩一描述的是单点监督在输出误差空间留下的自由度。子图 (b) 的验证可行性将在介绍QCP时解释。</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再把同一组三参数用来计算另外两个寿命点。结果发现，它们的误差分别增加了36.41%和63.11%。换一个可靠度，各参数对寿命点的影响不同，原来的抵消关系也发生变化。所以，如果这些参数还要用于其他寿命点，就需要同时考虑参数偏离。</a:t>
            </a:r>
          </a:p>
          <a:p>
            <a:r>
              <a:rPr sz="1800"/>
              <a:t/>
            </a:r>
          </a:p>
          <a:p>
            <a:r>
              <a:rPr sz="1800"/>
              <a:t>备查说明</a:t>
            </a:r>
          </a:p>
          <a:p>
            <a:r>
              <a:rPr sz="1800"/>
              <a:t/>
            </a:r>
          </a:p>
          <a:p>
            <a:r>
              <a:rPr sz="1800"/>
              <a:t>同一个寿命点可以对应不同的分布形状。参数沿补偿方向移动以后，其他可靠度下的寿命点明显改变。这两个非目标点来自既有参数预测的事后机制分析，没有参与原Q训练。如果预测只用于一个目标值，参数补偿可以与低目标风险并存；但如果参数还要用于分布解释或其他寿命决策，就需要额外约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接下来问，能不能保留目标点的收益，又让参数别偏得太远？我们给平均参数误差设一个上限，在训练时加入相应要求，验证时先筛选满足要求的模型，再选目标点误差最低的一个。这就是QCP的做法。</a:t>
            </a:r>
          </a:p>
          <a:p>
            <a:r>
              <a:rPr sz="1800"/>
              <a:t/>
            </a:r>
          </a:p>
          <a:p>
            <a:r>
              <a:rPr sz="1800"/>
              <a:t>备查说明</a:t>
            </a:r>
          </a:p>
          <a:p>
            <a:r>
              <a:rPr sz="1800"/>
              <a:t/>
            </a:r>
          </a:p>
          <a:p>
            <a:r>
              <a:rPr sz="1800"/>
              <a:t>这里的j是样本量、折次和种子组成的模型单元。阈值和约束设置在对应阶段通过验证确定。200个选定QCP模型均满足验证集平均参数损失约束。真参数用于模拟监督与验证，训练完成后推理只需要寿命样本。真实应用中的主要问题是训练域与数据机制是否匹配。</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加上参数要求以后，平均参数损失回到了接近P的水平。目标寿命点误差降到15.84%，另外两个寿命点的误差也都降了下来。因此，在本次比较中，参数约束既保留了目标点收益，也改善了其他两个点。</a:t>
            </a:r>
          </a:p>
          <a:p>
            <a:r>
              <a:rPr sz="1800"/>
              <a:t/>
            </a:r>
          </a:p>
          <a:p>
            <a:r>
              <a:rPr sz="1800"/>
              <a:t>备查说明</a:t>
            </a:r>
          </a:p>
          <a:p>
            <a:r>
              <a:rPr sz="1800"/>
              <a:t/>
            </a:r>
          </a:p>
          <a:p>
            <a:r>
              <a:rPr sz="1800"/>
              <a:t>QCP相对Q在目标点再改善1.56%，在另外两个点改善28.42%和42.36%，主要价值体现在跨点退化的修复。补偿指数回到0.345，按P为参照计算，Q的超额补偿减少97.8%。本次比较覆盖三个可靠度寿命点。</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再检查一个因素：前面的P和Q使用了不同的模型选择标准。如果统一按目标寿命点误差选模型，Q仍有1.32%的改善。这说明直接按寿命点训练确实有作用，原来的2.07%也包含了选择标准改变的作用。</a:t>
            </a:r>
          </a:p>
          <a:p>
            <a:r>
              <a:rPr sz="1800"/>
              <a:t/>
            </a:r>
          </a:p>
          <a:p>
            <a:r>
              <a:rPr sz="1800"/>
              <a:t>备查说明</a:t>
            </a:r>
          </a:p>
          <a:p>
            <a:r>
              <a:rPr sz="1800"/>
              <a:t/>
            </a:r>
          </a:p>
          <a:p>
            <a:r>
              <a:rPr sz="1800"/>
              <a:t>新增对照说明原来的差异同时包含训练目标与验证选点作用。只改变P的选点准则已有0.757%的改善；统一按Q验证以后，Q训练仍保留1.322%的收益。另一方面，在重跑的原生Q轨迹中，仅靠筛选可行轮次没有得到模型。补充实验沿用既有数据、当前阈值和原生早停轨迹。</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那是不是一定要用参数约束？我们又比较了简单加权，也就是把参数误差和寿命点误差加在一起训练。结果与QCP很接近。同时训练三个寿命点也能减轻其他点的退化。因此，关键是补充参数或其他寿命点的要求，具体实现可以有不同方式。</a:t>
            </a:r>
          </a:p>
          <a:p>
            <a:r>
              <a:rPr sz="1800"/>
              <a:t/>
            </a:r>
          </a:p>
          <a:p>
            <a:r>
              <a:rPr sz="1800"/>
              <a:t>备查说明</a:t>
            </a:r>
          </a:p>
          <a:p>
            <a:r>
              <a:rPr sz="1800"/>
              <a:t/>
            </a:r>
          </a:p>
          <a:p>
            <a:r>
              <a:rPr sz="1800"/>
              <a:t>QP采用 $L_Q+L_P$，权重1.0来自早期验证筛选，按验证 $L_Q$ 选点，取得与QCP接近的结果。QCP的特点是能明确检查验证可行性，但还需要参考模型与约束求解成本。三点监督也显著缓解两个非目标点的退化，提供了另一种改善方式；不过本次等权设置的三个寿命点误差及参数恢复都弱于QP、QCP。因此，简单加权和显式约束都能通过参数恢复要求发挥作用。</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最后看总体收益来自哪里。Q在42个参数条件下优于P，QCP在76个条件下优于P。总体误差的下降主要由少数原本误差较大的条件贡献。平方误差对大误差更敏感，因此少数条件的大幅改善，也可以使总体指标下降。</a:t>
            </a:r>
          </a:p>
          <a:p>
            <a:r>
              <a:rPr sz="1800"/>
              <a:t/>
            </a:r>
          </a:p>
          <a:p>
            <a:r>
              <a:rPr sz="1800"/>
              <a:t>备查说明</a:t>
            </a:r>
          </a:p>
          <a:p>
            <a:r>
              <a:rPr sz="1800"/>
              <a:t/>
            </a:r>
          </a:p>
          <a:p>
            <a:r>
              <a:rPr sz="1800"/>
              <a:t>RMSRE对较大误差更敏感，少数困难单元的大幅改善可以决定总体排序。102.6%超过100%，是因为其余单元合计抵消了一部分收益。P在典型绝对误差上仍更好，QCP也有更高训练成本。实际选择需要同时考虑目标精度、参数用途和训练成本。</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最后归成三条结论。第一，直接按目标寿命点训练，可以让这个点的总体误差略有下降。第二，只要求一个点准确，会允许参数误差相互抵消，其他寿命点可能变差。第三，同时加入参数准确性的要求，可以保留目标收益并改善其他寿命点，简单加权也能取得接近参数约束的效果。所以训练时要先想清楚，最后只用这一个寿命点，还是还要用这组三个参数做其他计算。</a:t>
            </a:r>
          </a:p>
          <a:p>
            <a:r>
              <a:rPr sz="1800"/>
              <a:t/>
            </a:r>
          </a:p>
          <a:p>
            <a:r>
              <a:rPr sz="1800"/>
              <a:t>备查说明</a:t>
            </a:r>
          </a:p>
          <a:p>
            <a:r>
              <a:rPr sz="1800"/>
              <a:t/>
            </a:r>
          </a:p>
          <a:p>
            <a:r>
              <a:rPr sz="1800"/>
              <a:t>第三部分现在的认识比原来更完整：不仅知道Q有收益、QCP能修复，还知道验证选点贡献了一部分差异，以及更简单的QP也能取得接近结果。这些结论限于固定尺度、同一参数网格内新样本和当前训练协议。变化尺度、独立新数据、完整分布或置信下限的评价，需要与各自目标相符的新证据。</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sz="1800"/>
              <a:t>目前三项工作共同把“哪个方法更好”推进到“在什么条件和目标下更好”。第一部分已有清楚的内部选择依据，第二部分建立了条件性能边界，第三部分揭示了任务收益与参数解释的取舍。下一步优先补会改变判断的证据，并继续收敛中文论证与工程联系；本次汇报希望讨论的是这些工作的优先级。</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4" name="图片 21"/>
          <p:cNvPicPr>
            <a:picLocks noChangeAspect="1"/>
          </p:cNvPicPr>
          <p:nvPr/>
        </p:nvPicPr>
        <p:blipFill>
          <a:blip r:embed="rId2">
            <a:alphaModFix amt="20000"/>
            <a:clrChange>
              <a:clrFrom>
                <a:srgbClr val="FFFFFF"/>
              </a:clrFrom>
              <a:clrTo>
                <a:srgbClr val="FFFFFF">
                  <a:alpha val="0"/>
                </a:srgbClr>
              </a:clrTo>
            </a:clrChange>
            <a:duotone>
              <a:schemeClr val="bg2">
                <a:shade val="45000"/>
                <a:satMod val="135000"/>
              </a:schemeClr>
              <a:prstClr val="white"/>
            </a:duotone>
          </a:blip>
          <a:srcRect l="-375" t="36417" r="375" b="17715"/>
          <a:stretch>
            <a:fillRect/>
          </a:stretch>
        </p:blipFill>
        <p:spPr>
          <a:xfrm>
            <a:off x="-188953" y="3125718"/>
            <a:ext cx="12697941" cy="4114800"/>
          </a:xfrm>
          <a:prstGeom prst="rect">
            <a:avLst/>
          </a:prstGeom>
        </p:spPr>
      </p:pic>
      <p:pic>
        <p:nvPicPr>
          <p:cNvPr id="5" name="图片 24"/>
          <p:cNvPicPr>
            <a:picLocks noChangeAspect="1"/>
          </p:cNvPicPr>
          <p:nvPr/>
        </p:nvPicPr>
        <p:blipFill>
          <a:blip r:embed="rId3"/>
          <a:srcRect b="60826"/>
          <a:stretch>
            <a:fillRect/>
          </a:stretch>
        </p:blipFill>
        <p:spPr>
          <a:xfrm>
            <a:off x="133584" y="72497"/>
            <a:ext cx="3337845" cy="708895"/>
          </a:xfrm>
          <a:prstGeom prst="rect">
            <a:avLst/>
          </a:prstGeom>
        </p:spPr>
      </p:pic>
      <p:pic>
        <p:nvPicPr>
          <p:cNvPr id="6" name="图片 1"/>
          <p:cNvPicPr>
            <a:picLocks noChangeAspect="1"/>
          </p:cNvPicPr>
          <p:nvPr/>
        </p:nvPicPr>
        <p:blipFill>
          <a:blip r:embed="rId4"/>
          <a:stretch>
            <a:fillRect/>
          </a:stretch>
        </p:blipFill>
        <p:spPr>
          <a:xfrm>
            <a:off x="7089206" y="72497"/>
            <a:ext cx="5102794" cy="914479"/>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sp>
        <p:nvSpPr>
          <p:cNvPr id="333" name="矩形 332">
            <a:extLst>
              <a:ext uri="{FF2B5EF4-FFF2-40B4-BE49-F238E27FC236}">
                <a16:creationId xmlns:a16="http://schemas.microsoft.com/office/drawing/2014/main" id="{25D00A80-15F0-4C3D-BA1C-D2B8DF5713B7}"/>
              </a:ext>
            </a:extLst>
          </p:cNvPr>
          <p:cNvSpPr>
            <a:spLocks noGrp="1"/>
          </p:cNvSpPr>
          <p:nvPr/>
        </p:nvSpPr>
        <p:spPr>
          <a:xfrm>
            <a:off x="334962" y="833952"/>
            <a:ext cx="11522073" cy="499299"/>
          </a:xfrm>
          <a:prstGeom prst="rect">
            <a:avLst/>
          </a:prstGeom>
          <a:gradFill>
            <a:gsLst>
              <a:gs pos="17500">
                <a:srgbClr val="3E84EC"/>
              </a:gs>
              <a:gs pos="100000">
                <a:schemeClr val="accent1">
                  <a:lumMod val="75000"/>
                </a:schemeClr>
              </a:gs>
              <a:gs pos="0">
                <a:srgbClr val="0268FE">
                  <a:lumMod val="75000"/>
                  <a:lumOff val="25000"/>
                  <a:alpha val="69000"/>
                </a:srgbClr>
              </a:gs>
            </a:gsLst>
            <a:path path="circle">
              <a:fillToRect l="100000" b="100000"/>
            </a:path>
          </a:gradFill>
          <a:ln w="12700" cmpd="sng">
            <a:noFill/>
            <a:prstDash val="solid"/>
          </a:ln>
        </p:spPr>
        <p:txBody>
          <a:bodyPr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srgbClr val="FFFFFF"/>
              </a:solidFill>
              <a:latin typeface="等线"/>
              <a:ea typeface="等线"/>
              <a:cs typeface="等线"/>
            </a:endParaRPr>
          </a:p>
        </p:txBody>
      </p:sp>
      <p:pic>
        <p:nvPicPr>
          <p:cNvPr id="336" name="图片 16"/>
          <p:cNvPicPr>
            <a:picLocks noChangeAspect="1"/>
          </p:cNvPicPr>
          <p:nvPr/>
        </p:nvPicPr>
        <p:blipFill>
          <a:blip r:embed="rId2"/>
          <a:srcRect b="59104"/>
          <a:stretch>
            <a:fillRect/>
          </a:stretch>
        </p:blipFill>
        <p:spPr>
          <a:xfrm>
            <a:off x="9374637" y="198304"/>
            <a:ext cx="2675956" cy="593304"/>
          </a:xfrm>
          <a:prstGeom prst="rect">
            <a:avLst/>
          </a:prstGeom>
        </p:spPr>
      </p:pic>
      <p:sp>
        <p:nvSpPr>
          <p:cNvPr id="11" name="直接连接符 10">
            <a:extLst>
              <a:ext uri="{FF2B5EF4-FFF2-40B4-BE49-F238E27FC236}">
                <a16:creationId xmlns:a16="http://schemas.microsoft.com/office/drawing/2014/main" id="{C33201AA-A72A-42CB-BA87-C4E3F68D7C54}"/>
              </a:ext>
            </a:extLst>
          </p:cNvPr>
          <p:cNvSpPr>
            <a:spLocks noGrp="1"/>
          </p:cNvSpPr>
          <p:nvPr/>
        </p:nvSpPr>
        <p:spPr>
          <a:xfrm>
            <a:off x="334962" y="6564990"/>
            <a:ext cx="11522076" cy="0"/>
          </a:xfrm>
          <a:prstGeom prst="line">
            <a:avLst/>
          </a:prstGeom>
          <a:ln w="50800">
            <a:solidFill>
              <a:schemeClr val="accent1"/>
            </a:solidFill>
            <a:prstDash val="solid"/>
          </a:ln>
        </p:spPr>
        <p:style>
          <a:lnRef idx="1">
            <a:schemeClr val="accent1"/>
          </a:lnRef>
          <a:fillRef idx="0">
            <a:schemeClr val="accent1"/>
          </a:fillRef>
          <a:effectRef idx="0">
            <a:schemeClr val="accent1"/>
          </a:effectRef>
          <a:fontRef idx="minor">
            <a:schemeClr val="tx1"/>
          </a:fontRef>
        </p:style>
      </p:sp>
      <p:sp>
        <p:nvSpPr>
          <p:cNvPr id="10" name="直接连接符 9">
            <a:extLst>
              <a:ext uri="{FF2B5EF4-FFF2-40B4-BE49-F238E27FC236}">
                <a16:creationId xmlns:a16="http://schemas.microsoft.com/office/drawing/2014/main" id="{318508C9-E08C-4A63-8DC5-682D5D25DC9D}"/>
              </a:ext>
            </a:extLst>
          </p:cNvPr>
          <p:cNvSpPr>
            <a:spLocks noGrp="1"/>
          </p:cNvSpPr>
          <p:nvPr/>
        </p:nvSpPr>
        <p:spPr>
          <a:xfrm>
            <a:off x="334963" y="1402294"/>
            <a:ext cx="11522075" cy="0"/>
          </a:xfrm>
          <a:prstGeom prst="line">
            <a:avLst/>
          </a:prstGeom>
          <a:noFill/>
          <a:ln w="25400">
            <a:gradFill rotWithShape="1">
              <a:gsLst>
                <a:gs pos="100000">
                  <a:schemeClr val="accent1">
                    <a:lumMod val="97000"/>
                  </a:schemeClr>
                </a:gs>
                <a:gs pos="0">
                  <a:schemeClr val="accent1">
                    <a:alpha val="0"/>
                  </a:schemeClr>
                </a:gs>
              </a:gsLst>
              <a:lin ang="10800000" scaled="1"/>
              <a:tileRect/>
            </a:gradFill>
            <a:tailEnd type="none" w="med" len="sm"/>
          </a:ln>
          <a:effectLst>
            <a:outerShdw blurRad="63500" dist="50800" dir="4800000" sx="102000" sy="102000" algn="ctr"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87" name="任意多边形: 形状 86">
            <a:extLst>
              <a:ext uri="{FF2B5EF4-FFF2-40B4-BE49-F238E27FC236}">
                <a16:creationId xmlns:a16="http://schemas.microsoft.com/office/drawing/2014/main" id="{8FF3E6BE-823E-41AB-9EE5-04BCCFD4A87C}"/>
              </a:ext>
            </a:extLst>
          </p:cNvPr>
          <p:cNvSpPr>
            <a:spLocks noGrp="1"/>
          </p:cNvSpPr>
          <p:nvPr/>
        </p:nvSpPr>
        <p:spPr>
          <a:xfrm rot="10800000">
            <a:off x="2562" y="10535"/>
            <a:ext cx="4440577" cy="2998608"/>
          </a:xfrm>
          <a:custGeom>
            <a:avLst/>
            <a:gdLst>
              <a:gd name="connsiteX0" fmla="*/ 2893248 w 4163705"/>
              <a:gd name="connsiteY0" fmla="*/ 0 h 2398711"/>
              <a:gd name="connsiteX1" fmla="*/ 4039971 w 4163705"/>
              <a:gd name="connsiteY1" fmla="*/ 231513 h 2398711"/>
              <a:gd name="connsiteX2" fmla="*/ 4163705 w 4163705"/>
              <a:gd name="connsiteY2" fmla="*/ 291119 h 2398711"/>
              <a:gd name="connsiteX3" fmla="*/ 4163705 w 4163705"/>
              <a:gd name="connsiteY3" fmla="*/ 2398711 h 2398711"/>
              <a:gd name="connsiteX4" fmla="*/ 0 w 4163705"/>
              <a:gd name="connsiteY4" fmla="*/ 2398711 h 2398711"/>
              <a:gd name="connsiteX5" fmla="*/ 7085 w 4163705"/>
              <a:gd name="connsiteY5" fmla="*/ 2352291 h 2398711"/>
              <a:gd name="connsiteX6" fmla="*/ 2893248 w 4163705"/>
              <a:gd name="connsiteY6" fmla="*/ 0 h 2398711"/>
            </a:gdLst>
            <a:ahLst/>
            <a:cxnLst/>
            <a:rect l="l" t="t" r="r" b="b"/>
            <a:pathLst>
              <a:path w="4163705" h="2398711">
                <a:moveTo>
                  <a:pt x="2893248" y="0"/>
                </a:moveTo>
                <a:cubicBezTo>
                  <a:pt x="3300008" y="0"/>
                  <a:pt x="3687514" y="82436"/>
                  <a:pt x="4039971" y="231513"/>
                </a:cubicBezTo>
                <a:lnTo>
                  <a:pt x="4163705" y="291119"/>
                </a:lnTo>
                <a:lnTo>
                  <a:pt x="4163705" y="2398711"/>
                </a:lnTo>
                <a:lnTo>
                  <a:pt x="0" y="2398711"/>
                </a:lnTo>
                <a:lnTo>
                  <a:pt x="7085" y="2352291"/>
                </a:lnTo>
                <a:cubicBezTo>
                  <a:pt x="281790" y="1009841"/>
                  <a:pt x="1469588" y="0"/>
                  <a:pt x="2893248" y="0"/>
                </a:cubicBezTo>
                <a:close/>
              </a:path>
            </a:pathLst>
          </a:custGeom>
          <a:gradFill>
            <a:gsLst>
              <a:gs pos="100000">
                <a:srgbClr val="0268FE">
                  <a:lumMod val="9000"/>
                  <a:lumOff val="91000"/>
                </a:srgbClr>
              </a:gs>
              <a:gs pos="0">
                <a:srgbClr val="0268FE">
                  <a:lumMod val="4000"/>
                  <a:lumOff val="96000"/>
                </a:srgbClr>
              </a:gs>
            </a:gsLst>
            <a:lin ang="5400000" scaled="1"/>
          </a:gradFill>
          <a:ln w="12700" cmpd="sng">
            <a:noFill/>
            <a:prstDash val="solid"/>
          </a:ln>
        </p:spPr>
        <p:txBody>
          <a:bodyPr wrap="square" anchor="ctr">
            <a:noAutofit/>
          </a:bodyP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srgbClr val="FFFFFF"/>
              </a:solidFill>
              <a:latin typeface="等线"/>
              <a:ea typeface="等线"/>
              <a:cs typeface="等线"/>
            </a:endParaRPr>
          </a:p>
        </p:txBody>
      </p:sp>
      <p:sp>
        <p:nvSpPr>
          <p:cNvPr id="89" name="文本框 88">
            <a:extLst>
              <a:ext uri="{FF2B5EF4-FFF2-40B4-BE49-F238E27FC236}">
                <a16:creationId xmlns:a16="http://schemas.microsoft.com/office/drawing/2014/main" id="{1BD28AC6-1683-4006-BB10-0F7A4C13FDE0}"/>
              </a:ext>
            </a:extLst>
          </p:cNvPr>
          <p:cNvSpPr>
            <a:spLocks noGrp="1"/>
          </p:cNvSpPr>
          <p:nvPr/>
        </p:nvSpPr>
        <p:spPr>
          <a:xfrm>
            <a:off x="-79985" y="1085380"/>
            <a:ext cx="3262303" cy="830997"/>
          </a:xfrm>
          <a:prstGeom prst="rect">
            <a:avLst/>
          </a:prstGeom>
          <a:noFill/>
        </p:spPr>
        <p:txBody>
          <a:bodyPr wrap="none">
            <a:spAutoFit/>
          </a:bodyPr>
          <a:lstStyle/>
          <a:p>
            <a:r>
              <a:rPr sz="4800" b="1">
                <a:solidFill>
                  <a:srgbClr val="FFFFFF"/>
                </a:solidFill>
                <a:latin typeface="微软雅黑"/>
                <a:ea typeface="微软雅黑"/>
                <a:cs typeface="微软雅黑"/>
              </a:rPr>
              <a:t>CONTENT</a:t>
            </a:r>
          </a:p>
        </p:txBody>
      </p:sp>
      <p:pic>
        <p:nvPicPr>
          <p:cNvPr id="135" name="图片 124"/>
          <p:cNvPicPr>
            <a:picLocks noChangeAspect="1"/>
          </p:cNvPicPr>
          <p:nvPr/>
        </p:nvPicPr>
        <p:blipFill>
          <a:blip r:embed="rId2">
            <a:alphaModFix amt="70000"/>
          </a:blip>
          <a:srcRect b="58808"/>
          <a:stretch>
            <a:fillRect/>
          </a:stretch>
        </p:blipFill>
        <p:spPr>
          <a:xfrm>
            <a:off x="662962" y="3707963"/>
            <a:ext cx="3024288" cy="2020666"/>
          </a:xfrm>
          <a:prstGeom prst="rect">
            <a:avLst/>
          </a:prstGeom>
        </p:spPr>
      </p:pic>
      <p:sp>
        <p:nvSpPr>
          <p:cNvPr id="88" name="文本框 87">
            <a:extLst>
              <a:ext uri="{FF2B5EF4-FFF2-40B4-BE49-F238E27FC236}">
                <a16:creationId xmlns:a16="http://schemas.microsoft.com/office/drawing/2014/main" id="{A61A7C37-D891-4BA3-A964-5035F355B85B}"/>
              </a:ext>
            </a:extLst>
          </p:cNvPr>
          <p:cNvSpPr>
            <a:spLocks noGrp="1"/>
          </p:cNvSpPr>
          <p:nvPr/>
        </p:nvSpPr>
        <p:spPr>
          <a:xfrm>
            <a:off x="851667" y="1479325"/>
            <a:ext cx="2646878" cy="830997"/>
          </a:xfrm>
          <a:prstGeom prst="rect">
            <a:avLst/>
          </a:prstGeom>
          <a:noFill/>
        </p:spPr>
        <p:txBody>
          <a:bodyPr wrap="none">
            <a:spAutoFit/>
          </a:bodyPr>
          <a:lstStyle>
            <a:lvl1pPr>
              <a:buNone/>
              <a:defRPr sz="7200">
                <a:gradFill flip="none" rotWithShape="1">
                  <a:gsLst>
                    <a:gs pos="0">
                      <a:schemeClr val="accent1">
                        <a:lumMod val="80000"/>
                        <a:lumOff val="20000"/>
                      </a:schemeClr>
                    </a:gs>
                    <a:gs pos="100000">
                      <a:schemeClr val="accent1"/>
                    </a:gs>
                  </a:gsLst>
                  <a:lin ang="5400000" scaled="1"/>
                  <a:tileRect/>
                </a:gradFill>
                <a:latin typeface="思源宋体 CN Heavy"/>
                <a:ea typeface="思源宋体 CN Heavy"/>
                <a:cs typeface="思源宋体 CN Heavy"/>
              </a:defRPr>
            </a:lvl1pPr>
          </a:lstStyle>
          <a:p>
            <a:pPr marL="0" marR="0" lvl="0" indent="0" defTabSz="914400">
              <a:lnSpc>
                <a:spcPct val="100000"/>
              </a:lnSpc>
              <a:spcBef>
                <a:spcPts val="0"/>
              </a:spcBef>
              <a:spcAft>
                <a:spcPts val="0"/>
              </a:spcAft>
              <a:buClrTx/>
              <a:buSzTx/>
              <a:buFontTx/>
              <a:buNone/>
            </a:pPr>
            <a:r>
              <a:rPr sz="4800" b="0" i="0" u="none" cap="none" spc="0">
                <a:ln>
                  <a:noFill/>
                </a:ln>
                <a:gradFill rotWithShape="1">
                  <a:gsLst>
                    <a:gs pos="0">
                      <a:srgbClr val="0268FE">
                        <a:lumMod val="80000"/>
                        <a:lumOff val="20000"/>
                      </a:srgbClr>
                    </a:gs>
                    <a:gs pos="100000">
                      <a:srgbClr val="0268FE"/>
                    </a:gs>
                  </a:gsLst>
                  <a:lin ang="5400000" scaled="1"/>
                  <a:tileRect/>
                </a:gradFill>
                <a:latin typeface="汉仪粗宋简"/>
                <a:ea typeface="汉仪粗宋简"/>
                <a:cs typeface="汉仪粗宋简"/>
              </a:rPr>
              <a:t>汇报提纲</a:t>
            </a:r>
          </a:p>
        </p:txBody>
      </p:sp>
      <p:sp>
        <p:nvSpPr>
          <p:cNvPr id="131" name="任意多边形: 形状 130">
            <a:extLst>
              <a:ext uri="{FF2B5EF4-FFF2-40B4-BE49-F238E27FC236}">
                <a16:creationId xmlns:a16="http://schemas.microsoft.com/office/drawing/2014/main" id="{25C8C45D-7CBB-4B9F-860A-0AD2A7965893}"/>
              </a:ext>
            </a:extLst>
          </p:cNvPr>
          <p:cNvSpPr>
            <a:spLocks noGrp="1"/>
          </p:cNvSpPr>
          <p:nvPr/>
        </p:nvSpPr>
        <p:spPr>
          <a:xfrm>
            <a:off x="8895335" y="4602588"/>
            <a:ext cx="3296666" cy="2255412"/>
          </a:xfrm>
          <a:custGeom>
            <a:avLst/>
            <a:gdLst>
              <a:gd name="connsiteX0" fmla="*/ 2893248 w 4163705"/>
              <a:gd name="connsiteY0" fmla="*/ 0 h 2398711"/>
              <a:gd name="connsiteX1" fmla="*/ 4039971 w 4163705"/>
              <a:gd name="connsiteY1" fmla="*/ 231513 h 2398711"/>
              <a:gd name="connsiteX2" fmla="*/ 4163705 w 4163705"/>
              <a:gd name="connsiteY2" fmla="*/ 291119 h 2398711"/>
              <a:gd name="connsiteX3" fmla="*/ 4163705 w 4163705"/>
              <a:gd name="connsiteY3" fmla="*/ 2398711 h 2398711"/>
              <a:gd name="connsiteX4" fmla="*/ 0 w 4163705"/>
              <a:gd name="connsiteY4" fmla="*/ 2398711 h 2398711"/>
              <a:gd name="connsiteX5" fmla="*/ 7085 w 4163705"/>
              <a:gd name="connsiteY5" fmla="*/ 2352291 h 2398711"/>
              <a:gd name="connsiteX6" fmla="*/ 2893248 w 4163705"/>
              <a:gd name="connsiteY6" fmla="*/ 0 h 2398711"/>
            </a:gdLst>
            <a:ahLst/>
            <a:cxnLst/>
            <a:rect l="l" t="t" r="r" b="b"/>
            <a:pathLst>
              <a:path w="4163705" h="2398711">
                <a:moveTo>
                  <a:pt x="2893248" y="0"/>
                </a:moveTo>
                <a:cubicBezTo>
                  <a:pt x="3300008" y="0"/>
                  <a:pt x="3687514" y="82436"/>
                  <a:pt x="4039971" y="231513"/>
                </a:cubicBezTo>
                <a:lnTo>
                  <a:pt x="4163705" y="291119"/>
                </a:lnTo>
                <a:lnTo>
                  <a:pt x="4163705" y="2398711"/>
                </a:lnTo>
                <a:lnTo>
                  <a:pt x="0" y="2398711"/>
                </a:lnTo>
                <a:lnTo>
                  <a:pt x="7085" y="2352291"/>
                </a:lnTo>
                <a:cubicBezTo>
                  <a:pt x="281790" y="1009841"/>
                  <a:pt x="1469588" y="0"/>
                  <a:pt x="2893248" y="0"/>
                </a:cubicBezTo>
                <a:close/>
              </a:path>
            </a:pathLst>
          </a:custGeom>
          <a:gradFill>
            <a:gsLst>
              <a:gs pos="100000">
                <a:srgbClr val="0268FE">
                  <a:lumMod val="9000"/>
                  <a:lumOff val="91000"/>
                </a:srgbClr>
              </a:gs>
              <a:gs pos="0">
                <a:srgbClr val="0268FE">
                  <a:lumMod val="4000"/>
                  <a:lumOff val="96000"/>
                </a:srgbClr>
              </a:gs>
            </a:gsLst>
            <a:lin ang="5400000" scaled="1"/>
          </a:gradFill>
          <a:ln w="12700" cmpd="sng">
            <a:noFill/>
            <a:prstDash val="solid"/>
          </a:ln>
        </p:spPr>
        <p:txBody>
          <a:bodyPr wrap="square" anchor="ctr">
            <a:noAutofit/>
          </a:bodyP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srgbClr val="FFFFFF"/>
              </a:solidFill>
              <a:latin typeface="等线"/>
              <a:ea typeface="等线"/>
              <a:cs typeface="等线"/>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94629-B2BD-4D20-9BE8-A348383E5695}"/>
              </a:ext>
            </a:extLst>
          </p:cNvPr>
          <p:cNvSpPr>
            <a:spLocks noGrp="1"/>
          </p:cNvSpPr>
          <p:nvPr>
            <p:ph type="title"/>
          </p:nvPr>
        </p:nvSpPr>
        <p:spPr>
          <a:xfrm>
            <a:off x="839788" y="365125"/>
            <a:ext cx="10515600" cy="1325563"/>
          </a:xfrm>
        </p:spPr>
        <p:txBody>
          <a:bodyPr/>
          <a:lstStyle/>
          <a:p>
            <a:r>
              <a:t>单击此处编辑母版标题样式</a:t>
            </a:r>
          </a:p>
        </p:txBody>
      </p:sp>
      <p:sp>
        <p:nvSpPr>
          <p:cNvPr id="3" name="文本占位符 2">
            <a:extLst>
              <a:ext uri="{FF2B5EF4-FFF2-40B4-BE49-F238E27FC236}">
                <a16:creationId xmlns:a16="http://schemas.microsoft.com/office/drawing/2014/main" id="{DACFFA4A-116A-46C5-A2F8-3F07BD47CA2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a:extLst>
              <a:ext uri="{FF2B5EF4-FFF2-40B4-BE49-F238E27FC236}">
                <a16:creationId xmlns:a16="http://schemas.microsoft.com/office/drawing/2014/main" id="{4E1F2C58-CD69-4C73-AF93-AEE85893F66B}"/>
              </a:ext>
            </a:extLst>
          </p:cNvPr>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a:extLst>
              <a:ext uri="{FF2B5EF4-FFF2-40B4-BE49-F238E27FC236}">
                <a16:creationId xmlns:a16="http://schemas.microsoft.com/office/drawing/2014/main" id="{6664EF93-C77E-4753-89A2-B42BC54E813B}"/>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a:extLst>
              <a:ext uri="{FF2B5EF4-FFF2-40B4-BE49-F238E27FC236}">
                <a16:creationId xmlns:a16="http://schemas.microsoft.com/office/drawing/2014/main" id="{66CFF673-FA18-4DF9-A003-A42740ABB113}"/>
              </a:ext>
            </a:extLst>
          </p:cNvPr>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a:extLst>
              <a:ext uri="{FF2B5EF4-FFF2-40B4-BE49-F238E27FC236}">
                <a16:creationId xmlns:a16="http://schemas.microsoft.com/office/drawing/2014/main" id="{E6BA5EFC-8B17-4E3A-963D-8B491CAC20CD}"/>
              </a:ext>
            </a:extLst>
          </p:cNvPr>
          <p:cNvSpPr>
            <a:spLocks noGrp="1"/>
          </p:cNvSpPr>
          <p:nvPr>
            <p:ph type="dt" idx="10"/>
          </p:nvPr>
        </p:nvSpPr>
        <p:spPr/>
        <p:txBody>
          <a:bodyPr/>
          <a:lstStyle/>
          <a:p>
            <a:fld id="{9F4852F6-D0EE-43FF-9758-4449F4064C7C}" type="datetimeFigureOut">
              <a:t>2026/9/7</a:t>
            </a:fld>
            <a:endParaRPr/>
          </a:p>
        </p:txBody>
      </p:sp>
      <p:sp>
        <p:nvSpPr>
          <p:cNvPr id="8" name="页脚占位符 7">
            <a:extLst>
              <a:ext uri="{FF2B5EF4-FFF2-40B4-BE49-F238E27FC236}">
                <a16:creationId xmlns:a16="http://schemas.microsoft.com/office/drawing/2014/main" id="{A049F442-F8B7-4971-BD4A-13BCD800E1F8}"/>
              </a:ext>
            </a:extLst>
          </p:cNvPr>
          <p:cNvSpPr>
            <a:spLocks noGrp="1"/>
          </p:cNvSpPr>
          <p:nvPr>
            <p:ph type="ftr" idx="11"/>
          </p:nvPr>
        </p:nvSpPr>
        <p:spPr/>
        <p:txBody>
          <a:bodyPr/>
          <a:lstStyle/>
          <a:p>
            <a:endParaRPr/>
          </a:p>
        </p:txBody>
      </p:sp>
      <p:sp>
        <p:nvSpPr>
          <p:cNvPr id="9" name="灯片编号占位符 8">
            <a:extLst>
              <a:ext uri="{FF2B5EF4-FFF2-40B4-BE49-F238E27FC236}">
                <a16:creationId xmlns:a16="http://schemas.microsoft.com/office/drawing/2014/main" id="{192642B2-6F22-4B9B-82AD-D3B06406DB50}"/>
              </a:ext>
            </a:extLst>
          </p:cNvPr>
          <p:cNvSpPr>
            <a:spLocks noGrp="1"/>
          </p:cNvSpPr>
          <p:nvPr>
            <p:ph type="sldNum" idx="12"/>
          </p:nvPr>
        </p:nvSpPr>
        <p:spPr/>
        <p:txBody>
          <a:bodyPr/>
          <a:lstStyle/>
          <a:p>
            <a:fld id="{F60DD7EF-E908-4723-98EB-3DEAFF871F36}"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D6529E-89F7-4F18-91FE-AF7BE991C016}"/>
              </a:ext>
            </a:extLst>
          </p:cNvPr>
          <p:cNvSpPr>
            <a:spLocks noGrp="1"/>
          </p:cNvSpPr>
          <p:nvPr>
            <p:ph type="title"/>
          </p:nvPr>
        </p:nvSpPr>
        <p:spPr/>
        <p:txBody>
          <a:bodyPr/>
          <a:lstStyle/>
          <a:p>
            <a:r>
              <a:t>单击此处编辑母版标题样式</a:t>
            </a:r>
          </a:p>
        </p:txBody>
      </p:sp>
      <p:sp>
        <p:nvSpPr>
          <p:cNvPr id="3" name="日期占位符 2">
            <a:extLst>
              <a:ext uri="{FF2B5EF4-FFF2-40B4-BE49-F238E27FC236}">
                <a16:creationId xmlns:a16="http://schemas.microsoft.com/office/drawing/2014/main" id="{510D0125-25E2-4ABE-96A0-B7C76CE65F16}"/>
              </a:ext>
            </a:extLst>
          </p:cNvPr>
          <p:cNvSpPr>
            <a:spLocks noGrp="1"/>
          </p:cNvSpPr>
          <p:nvPr>
            <p:ph type="dt" idx="10"/>
          </p:nvPr>
        </p:nvSpPr>
        <p:spPr/>
        <p:txBody>
          <a:bodyPr/>
          <a:lstStyle/>
          <a:p>
            <a:fld id="{9F4852F6-D0EE-43FF-9758-4449F4064C7C}" type="datetimeFigureOut">
              <a:t>2026/9/7</a:t>
            </a:fld>
            <a:endParaRPr/>
          </a:p>
        </p:txBody>
      </p:sp>
      <p:sp>
        <p:nvSpPr>
          <p:cNvPr id="4" name="页脚占位符 3">
            <a:extLst>
              <a:ext uri="{FF2B5EF4-FFF2-40B4-BE49-F238E27FC236}">
                <a16:creationId xmlns:a16="http://schemas.microsoft.com/office/drawing/2014/main" id="{FEB9997D-42C9-4983-A767-A637AEACB156}"/>
              </a:ext>
            </a:extLst>
          </p:cNvPr>
          <p:cNvSpPr>
            <a:spLocks noGrp="1"/>
          </p:cNvSpPr>
          <p:nvPr>
            <p:ph type="ftr" idx="11"/>
          </p:nvPr>
        </p:nvSpPr>
        <p:spPr/>
        <p:txBody>
          <a:bodyPr/>
          <a:lstStyle/>
          <a:p>
            <a:endParaRPr/>
          </a:p>
        </p:txBody>
      </p:sp>
      <p:sp>
        <p:nvSpPr>
          <p:cNvPr id="5" name="灯片编号占位符 4">
            <a:extLst>
              <a:ext uri="{FF2B5EF4-FFF2-40B4-BE49-F238E27FC236}">
                <a16:creationId xmlns:a16="http://schemas.microsoft.com/office/drawing/2014/main" id="{4525489B-D304-43A8-BF8C-F0785C3ABA52}"/>
              </a:ext>
            </a:extLst>
          </p:cNvPr>
          <p:cNvSpPr>
            <a:spLocks noGrp="1"/>
          </p:cNvSpPr>
          <p:nvPr>
            <p:ph type="sldNum" idx="12"/>
          </p:nvPr>
        </p:nvSpPr>
        <p:spPr/>
        <p:txBody>
          <a:bodyPr/>
          <a:lstStyle/>
          <a:p>
            <a:fld id="{F60DD7EF-E908-4723-98EB-3DEAFF871F36}"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B0B0469B-7200-416A-8519-9A34B72696B9}"/>
              </a:ext>
            </a:extLst>
          </p:cNvPr>
          <p:cNvSpPr>
            <a:spLocks noGrp="1"/>
          </p:cNvSpPr>
          <p:nvPr>
            <p:ph type="dt" idx="10"/>
          </p:nvPr>
        </p:nvSpPr>
        <p:spPr/>
        <p:txBody>
          <a:bodyPr/>
          <a:lstStyle/>
          <a:p>
            <a:fld id="{9F4852F6-D0EE-43FF-9758-4449F4064C7C}" type="datetimeFigureOut">
              <a:t>2026/9/7</a:t>
            </a:fld>
            <a:endParaRPr/>
          </a:p>
        </p:txBody>
      </p:sp>
      <p:sp>
        <p:nvSpPr>
          <p:cNvPr id="3" name="页脚占位符 2">
            <a:extLst>
              <a:ext uri="{FF2B5EF4-FFF2-40B4-BE49-F238E27FC236}">
                <a16:creationId xmlns:a16="http://schemas.microsoft.com/office/drawing/2014/main" id="{3A4601A5-F3B0-4399-9527-C8006666D477}"/>
              </a:ext>
            </a:extLst>
          </p:cNvPr>
          <p:cNvSpPr>
            <a:spLocks noGrp="1"/>
          </p:cNvSpPr>
          <p:nvPr>
            <p:ph type="ftr" idx="11"/>
          </p:nvPr>
        </p:nvSpPr>
        <p:spPr/>
        <p:txBody>
          <a:bodyPr/>
          <a:lstStyle/>
          <a:p>
            <a:endParaRPr/>
          </a:p>
        </p:txBody>
      </p:sp>
      <p:sp>
        <p:nvSpPr>
          <p:cNvPr id="4" name="灯片编号占位符 3">
            <a:extLst>
              <a:ext uri="{FF2B5EF4-FFF2-40B4-BE49-F238E27FC236}">
                <a16:creationId xmlns:a16="http://schemas.microsoft.com/office/drawing/2014/main" id="{35D499D1-62B7-4375-94B0-BE149AA67435}"/>
              </a:ext>
            </a:extLst>
          </p:cNvPr>
          <p:cNvSpPr>
            <a:spLocks noGrp="1"/>
          </p:cNvSpPr>
          <p:nvPr>
            <p:ph type="sldNum" idx="12"/>
          </p:nvPr>
        </p:nvSpPr>
        <p:spPr/>
        <p:txBody>
          <a:bodyPr/>
          <a:lstStyle/>
          <a:p>
            <a:fld id="{F60DD7EF-E908-4723-98EB-3DEAFF871F36}"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0162A2E-9955-4F6B-B7C2-492157C6591A}"/>
              </a:ext>
            </a:extLst>
          </p:cNvPr>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a:extLst>
              <a:ext uri="{FF2B5EF4-FFF2-40B4-BE49-F238E27FC236}">
                <a16:creationId xmlns:a16="http://schemas.microsoft.com/office/drawing/2014/main" id="{3F7410B8-7366-4009-A65C-B1C17B3E600E}"/>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a:extLst>
              <a:ext uri="{FF2B5EF4-FFF2-40B4-BE49-F238E27FC236}">
                <a16:creationId xmlns:a16="http://schemas.microsoft.com/office/drawing/2014/main" id="{A72A7BB3-FEFF-4145-A73C-8783DB1D45B3}"/>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a:extLst>
              <a:ext uri="{FF2B5EF4-FFF2-40B4-BE49-F238E27FC236}">
                <a16:creationId xmlns:a16="http://schemas.microsoft.com/office/drawing/2014/main" id="{49CC7F14-C2B0-43C1-B6CC-E1F0AE2440EA}"/>
              </a:ext>
            </a:extLst>
          </p:cNvPr>
          <p:cNvSpPr>
            <a:spLocks noGrp="1"/>
          </p:cNvSpPr>
          <p:nvPr>
            <p:ph type="dt" idx="10"/>
          </p:nvPr>
        </p:nvSpPr>
        <p:spPr/>
        <p:txBody>
          <a:bodyPr/>
          <a:lstStyle/>
          <a:p>
            <a:fld id="{9F4852F6-D0EE-43FF-9758-4449F4064C7C}" type="datetimeFigureOut">
              <a:t>2026/9/7</a:t>
            </a:fld>
            <a:endParaRPr/>
          </a:p>
        </p:txBody>
      </p:sp>
      <p:sp>
        <p:nvSpPr>
          <p:cNvPr id="6" name="页脚占位符 5">
            <a:extLst>
              <a:ext uri="{FF2B5EF4-FFF2-40B4-BE49-F238E27FC236}">
                <a16:creationId xmlns:a16="http://schemas.microsoft.com/office/drawing/2014/main" id="{8A703B2A-433F-4968-8C3C-29BC33BCD17B}"/>
              </a:ext>
            </a:extLst>
          </p:cNvPr>
          <p:cNvSpPr>
            <a:spLocks noGrp="1"/>
          </p:cNvSpPr>
          <p:nvPr>
            <p:ph type="ftr" idx="11"/>
          </p:nvPr>
        </p:nvSpPr>
        <p:spPr/>
        <p:txBody>
          <a:bodyPr/>
          <a:lstStyle/>
          <a:p>
            <a:endParaRPr/>
          </a:p>
        </p:txBody>
      </p:sp>
      <p:sp>
        <p:nvSpPr>
          <p:cNvPr id="7" name="灯片编号占位符 6">
            <a:extLst>
              <a:ext uri="{FF2B5EF4-FFF2-40B4-BE49-F238E27FC236}">
                <a16:creationId xmlns:a16="http://schemas.microsoft.com/office/drawing/2014/main" id="{C0570E6A-2266-4B2E-A208-4304DCF2EA4E}"/>
              </a:ext>
            </a:extLst>
          </p:cNvPr>
          <p:cNvSpPr>
            <a:spLocks noGrp="1"/>
          </p:cNvSpPr>
          <p:nvPr>
            <p:ph type="sldNum" idx="12"/>
          </p:nvPr>
        </p:nvSpPr>
        <p:spPr/>
        <p:txBody>
          <a:bodyPr/>
          <a:lstStyle/>
          <a:p>
            <a:fld id="{F60DD7EF-E908-4723-98EB-3DEAFF871F36}"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4C00C0-1E1B-46DC-877B-6999AB72EED7}"/>
              </a:ext>
            </a:extLst>
          </p:cNvPr>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a:extLst>
              <a:ext uri="{FF2B5EF4-FFF2-40B4-BE49-F238E27FC236}">
                <a16:creationId xmlns:a16="http://schemas.microsoft.com/office/drawing/2014/main" id="{0E0375EC-D403-474C-BDCD-B132997555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文本占位符 3">
            <a:extLst>
              <a:ext uri="{FF2B5EF4-FFF2-40B4-BE49-F238E27FC236}">
                <a16:creationId xmlns:a16="http://schemas.microsoft.com/office/drawing/2014/main" id="{A85140C5-2534-4D01-A054-8799B7EE14F4}"/>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a:extLst>
              <a:ext uri="{FF2B5EF4-FFF2-40B4-BE49-F238E27FC236}">
                <a16:creationId xmlns:a16="http://schemas.microsoft.com/office/drawing/2014/main" id="{D3C7DBA3-D86D-49F2-9C7E-E2938054A22D}"/>
              </a:ext>
            </a:extLst>
          </p:cNvPr>
          <p:cNvSpPr>
            <a:spLocks noGrp="1"/>
          </p:cNvSpPr>
          <p:nvPr>
            <p:ph type="dt" idx="10"/>
          </p:nvPr>
        </p:nvSpPr>
        <p:spPr/>
        <p:txBody>
          <a:bodyPr/>
          <a:lstStyle/>
          <a:p>
            <a:fld id="{9F4852F6-D0EE-43FF-9758-4449F4064C7C}" type="datetimeFigureOut">
              <a:t>2026/9/7</a:t>
            </a:fld>
            <a:endParaRPr/>
          </a:p>
        </p:txBody>
      </p:sp>
      <p:sp>
        <p:nvSpPr>
          <p:cNvPr id="6" name="页脚占位符 5">
            <a:extLst>
              <a:ext uri="{FF2B5EF4-FFF2-40B4-BE49-F238E27FC236}">
                <a16:creationId xmlns:a16="http://schemas.microsoft.com/office/drawing/2014/main" id="{6067B2D7-B8CF-4FD9-B641-7A5799E77D62}"/>
              </a:ext>
            </a:extLst>
          </p:cNvPr>
          <p:cNvSpPr>
            <a:spLocks noGrp="1"/>
          </p:cNvSpPr>
          <p:nvPr>
            <p:ph type="ftr" idx="11"/>
          </p:nvPr>
        </p:nvSpPr>
        <p:spPr/>
        <p:txBody>
          <a:bodyPr/>
          <a:lstStyle/>
          <a:p>
            <a:endParaRPr/>
          </a:p>
        </p:txBody>
      </p:sp>
      <p:sp>
        <p:nvSpPr>
          <p:cNvPr id="7" name="灯片编号占位符 6">
            <a:extLst>
              <a:ext uri="{FF2B5EF4-FFF2-40B4-BE49-F238E27FC236}">
                <a16:creationId xmlns:a16="http://schemas.microsoft.com/office/drawing/2014/main" id="{870216AD-9FFB-43B0-9ABC-443132024F4E}"/>
              </a:ext>
            </a:extLst>
          </p:cNvPr>
          <p:cNvSpPr>
            <a:spLocks noGrp="1"/>
          </p:cNvSpPr>
          <p:nvPr>
            <p:ph type="sldNum" idx="12"/>
          </p:nvPr>
        </p:nvSpPr>
        <p:spPr/>
        <p:txBody>
          <a:bodyPr/>
          <a:lstStyle/>
          <a:p>
            <a:fld id="{F60DD7EF-E908-4723-98EB-3DEAFF871F36}"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20E21E-06F7-4579-9A72-57FA309B3859}"/>
              </a:ext>
            </a:extLst>
          </p:cNvPr>
          <p:cNvSpPr>
            <a:spLocks noGrp="1"/>
          </p:cNvSpPr>
          <p:nvPr>
            <p:ph type="title"/>
          </p:nvPr>
        </p:nvSpPr>
        <p:spPr/>
        <p:txBody>
          <a:bodyPr/>
          <a:lstStyle/>
          <a:p>
            <a:r>
              <a:t>单击此处编辑母版标题样式</a:t>
            </a:r>
          </a:p>
        </p:txBody>
      </p:sp>
      <p:sp>
        <p:nvSpPr>
          <p:cNvPr id="3" name="竖排文字占位符 2">
            <a:extLst>
              <a:ext uri="{FF2B5EF4-FFF2-40B4-BE49-F238E27FC236}">
                <a16:creationId xmlns:a16="http://schemas.microsoft.com/office/drawing/2014/main" id="{A367E993-74FC-4441-AB5C-FD3475EC7723}"/>
              </a:ext>
            </a:extLst>
          </p:cNvPr>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a:extLst>
              <a:ext uri="{FF2B5EF4-FFF2-40B4-BE49-F238E27FC236}">
                <a16:creationId xmlns:a16="http://schemas.microsoft.com/office/drawing/2014/main" id="{F33AFDDC-B246-4BAC-B53B-FC8B767342D1}"/>
              </a:ext>
            </a:extLst>
          </p:cNvPr>
          <p:cNvSpPr>
            <a:spLocks noGrp="1"/>
          </p:cNvSpPr>
          <p:nvPr>
            <p:ph type="dt" idx="10"/>
          </p:nvPr>
        </p:nvSpPr>
        <p:spPr/>
        <p:txBody>
          <a:bodyPr/>
          <a:lstStyle/>
          <a:p>
            <a:fld id="{9F4852F6-D0EE-43FF-9758-4449F4064C7C}" type="datetimeFigureOut">
              <a:t>2026/9/7</a:t>
            </a:fld>
            <a:endParaRPr/>
          </a:p>
        </p:txBody>
      </p:sp>
      <p:sp>
        <p:nvSpPr>
          <p:cNvPr id="5" name="页脚占位符 4">
            <a:extLst>
              <a:ext uri="{FF2B5EF4-FFF2-40B4-BE49-F238E27FC236}">
                <a16:creationId xmlns:a16="http://schemas.microsoft.com/office/drawing/2014/main" id="{6F447F40-7F16-4FFF-B022-C3AEDC402306}"/>
              </a:ext>
            </a:extLst>
          </p:cNvPr>
          <p:cNvSpPr>
            <a:spLocks noGrp="1"/>
          </p:cNvSpPr>
          <p:nvPr>
            <p:ph type="ftr" idx="11"/>
          </p:nvPr>
        </p:nvSpPr>
        <p:spPr/>
        <p:txBody>
          <a:bodyPr/>
          <a:lstStyle/>
          <a:p>
            <a:endParaRPr/>
          </a:p>
        </p:txBody>
      </p:sp>
      <p:sp>
        <p:nvSpPr>
          <p:cNvPr id="6" name="灯片编号占位符 5">
            <a:extLst>
              <a:ext uri="{FF2B5EF4-FFF2-40B4-BE49-F238E27FC236}">
                <a16:creationId xmlns:a16="http://schemas.microsoft.com/office/drawing/2014/main" id="{B282E804-6DF3-4452-B271-5DEBCCCB06F4}"/>
              </a:ext>
            </a:extLst>
          </p:cNvPr>
          <p:cNvSpPr>
            <a:spLocks noGrp="1"/>
          </p:cNvSpPr>
          <p:nvPr>
            <p:ph type="sldNum" idx="12"/>
          </p:nvPr>
        </p:nvSpPr>
        <p:spPr/>
        <p:txBody>
          <a:bodyPr/>
          <a:lstStyle/>
          <a:p>
            <a:fld id="{F60DD7EF-E908-4723-98EB-3DEAFF871F36}"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C3744352-F64F-4B8F-9586-65854C208820}"/>
              </a:ext>
            </a:extLst>
          </p:cNvPr>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a:extLst>
              <a:ext uri="{FF2B5EF4-FFF2-40B4-BE49-F238E27FC236}">
                <a16:creationId xmlns:a16="http://schemas.microsoft.com/office/drawing/2014/main" id="{994EFCDB-0053-44F0-B075-A052FA3CBCE2}"/>
              </a:ext>
            </a:extLst>
          </p:cNvPr>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a:extLst>
              <a:ext uri="{FF2B5EF4-FFF2-40B4-BE49-F238E27FC236}">
                <a16:creationId xmlns:a16="http://schemas.microsoft.com/office/drawing/2014/main" id="{6846FA22-B463-4AD2-BF7D-5708AC9221BA}"/>
              </a:ext>
            </a:extLst>
          </p:cNvPr>
          <p:cNvSpPr>
            <a:spLocks noGrp="1"/>
          </p:cNvSpPr>
          <p:nvPr>
            <p:ph type="dt" idx="10"/>
          </p:nvPr>
        </p:nvSpPr>
        <p:spPr/>
        <p:txBody>
          <a:bodyPr/>
          <a:lstStyle/>
          <a:p>
            <a:fld id="{9F4852F6-D0EE-43FF-9758-4449F4064C7C}" type="datetimeFigureOut">
              <a:t>2026/9/7</a:t>
            </a:fld>
            <a:endParaRPr/>
          </a:p>
        </p:txBody>
      </p:sp>
      <p:sp>
        <p:nvSpPr>
          <p:cNvPr id="5" name="页脚占位符 4">
            <a:extLst>
              <a:ext uri="{FF2B5EF4-FFF2-40B4-BE49-F238E27FC236}">
                <a16:creationId xmlns:a16="http://schemas.microsoft.com/office/drawing/2014/main" id="{7C32AA74-DB7E-448B-B9B2-35075A5FDAFE}"/>
              </a:ext>
            </a:extLst>
          </p:cNvPr>
          <p:cNvSpPr>
            <a:spLocks noGrp="1"/>
          </p:cNvSpPr>
          <p:nvPr>
            <p:ph type="ftr" idx="11"/>
          </p:nvPr>
        </p:nvSpPr>
        <p:spPr/>
        <p:txBody>
          <a:bodyPr/>
          <a:lstStyle/>
          <a:p>
            <a:endParaRPr/>
          </a:p>
        </p:txBody>
      </p:sp>
      <p:sp>
        <p:nvSpPr>
          <p:cNvPr id="6" name="灯片编号占位符 5">
            <a:extLst>
              <a:ext uri="{FF2B5EF4-FFF2-40B4-BE49-F238E27FC236}">
                <a16:creationId xmlns:a16="http://schemas.microsoft.com/office/drawing/2014/main" id="{85F0FDDA-4DAE-4539-9492-C374F102CA1D}"/>
              </a:ext>
            </a:extLst>
          </p:cNvPr>
          <p:cNvSpPr>
            <a:spLocks noGrp="1"/>
          </p:cNvSpPr>
          <p:nvPr>
            <p:ph type="sldNum" idx="12"/>
          </p:nvPr>
        </p:nvSpPr>
        <p:spPr/>
        <p:txBody>
          <a:bodyPr/>
          <a:lstStyle/>
          <a:p>
            <a:fld id="{F60DD7EF-E908-4723-98EB-3DEAFF871F36}"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pic>
        <p:nvPicPr>
          <p:cNvPr id="18" name="Picture 6"/>
          <p:cNvPicPr>
            <a:picLocks noChangeAspect="1"/>
          </p:cNvPicPr>
          <p:nvPr/>
        </p:nvPicPr>
        <p:blipFill>
          <a:blip r:embed="rId2"/>
          <a:srcRect b="14645"/>
          <a:stretch>
            <a:fillRect/>
          </a:stretch>
        </p:blipFill>
        <p:spPr>
          <a:xfrm>
            <a:off x="0" y="584200"/>
            <a:ext cx="12192000" cy="804333"/>
          </a:xfrm>
          <a:prstGeom prst="rect">
            <a:avLst/>
          </a:prstGeom>
          <a:ln>
            <a:noFill/>
          </a:ln>
        </p:spPr>
      </p:pic>
      <p:sp>
        <p:nvSpPr>
          <p:cNvPr id="10" name="直接连接符 9">
            <a:extLst>
              <a:ext uri="{FF2B5EF4-FFF2-40B4-BE49-F238E27FC236}">
                <a16:creationId xmlns:a16="http://schemas.microsoft.com/office/drawing/2014/main" id="{09E19A7D-2866-457A-BEAF-73A8399A6E5B}"/>
              </a:ext>
            </a:extLst>
          </p:cNvPr>
          <p:cNvSpPr>
            <a:spLocks noGrp="1"/>
          </p:cNvSpPr>
          <p:nvPr/>
        </p:nvSpPr>
        <p:spPr>
          <a:xfrm>
            <a:off x="0" y="1411819"/>
            <a:ext cx="12192000" cy="2116"/>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sp>
      <p:sp>
        <p:nvSpPr>
          <p:cNvPr id="7" name="矩形 6">
            <a:extLst>
              <a:ext uri="{FF2B5EF4-FFF2-40B4-BE49-F238E27FC236}">
                <a16:creationId xmlns:a16="http://schemas.microsoft.com/office/drawing/2014/main" id="{66C83403-7610-4894-903F-C2CE1502F044}"/>
              </a:ext>
            </a:extLst>
          </p:cNvPr>
          <p:cNvSpPr>
            <a:spLocks noGrp="1"/>
          </p:cNvSpPr>
          <p:nvPr/>
        </p:nvSpPr>
        <p:spPr>
          <a:xfrm>
            <a:off x="821267" y="584200"/>
            <a:ext cx="8652933" cy="711200"/>
          </a:xfrm>
          <a:prstGeom prst="rect">
            <a:avLst/>
          </a:prstGeom>
          <a:solidFill>
            <a:srgbClr val="005BA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3200" b="1">
              <a:solidFill>
                <a:prstClr val="white"/>
              </a:solidFill>
            </a:endParaRPr>
          </a:p>
        </p:txBody>
      </p:sp>
      <p:sp>
        <p:nvSpPr>
          <p:cNvPr id="11" name="任意多边形 10">
            <a:extLst>
              <a:ext uri="{FF2B5EF4-FFF2-40B4-BE49-F238E27FC236}">
                <a16:creationId xmlns:a16="http://schemas.microsoft.com/office/drawing/2014/main" id="{5B060BB9-701E-4619-A899-CCDFFD479B5F}"/>
              </a:ext>
            </a:extLst>
          </p:cNvPr>
          <p:cNvSpPr>
            <a:spLocks noGrp="1"/>
          </p:cNvSpPr>
          <p:nvPr/>
        </p:nvSpPr>
        <p:spPr>
          <a:xfrm>
            <a:off x="2393370" y="1413933"/>
            <a:ext cx="9798631" cy="101600"/>
          </a:xfrm>
          <a:custGeom>
            <a:avLst/>
            <a:gdLst>
              <a:gd name="connsiteX0" fmla="*/ 68 w 11394"/>
              <a:gd name="connsiteY0" fmla="*/ 0 h 126"/>
              <a:gd name="connsiteX1" fmla="*/ 11394 w 11394"/>
              <a:gd name="connsiteY1" fmla="*/ 6 h 126"/>
              <a:gd name="connsiteX2" fmla="*/ 11394 w 11394"/>
              <a:gd name="connsiteY2" fmla="*/ 126 h 126"/>
              <a:gd name="connsiteX3" fmla="*/ 0 w 11394"/>
              <a:gd name="connsiteY3" fmla="*/ 126 h 126"/>
              <a:gd name="connsiteX4" fmla="*/ 68 w 11394"/>
              <a:gd name="connsiteY4" fmla="*/ 0 h 126"/>
            </a:gdLst>
            <a:ahLst/>
            <a:cxnLst/>
            <a:rect l="l" t="t" r="r" b="b"/>
            <a:pathLst>
              <a:path w="11394" h="126">
                <a:moveTo>
                  <a:pt x="68" y="0"/>
                </a:moveTo>
                <a:lnTo>
                  <a:pt x="11394" y="6"/>
                </a:lnTo>
                <a:lnTo>
                  <a:pt x="11394" y="126"/>
                </a:lnTo>
                <a:lnTo>
                  <a:pt x="0" y="126"/>
                </a:lnTo>
                <a:lnTo>
                  <a:pt x="68" y="0"/>
                </a:lnTo>
                <a:close/>
              </a:path>
            </a:pathLst>
          </a:custGeom>
          <a:solidFill>
            <a:srgbClr val="005BA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400"/>
          </a:p>
        </p:txBody>
      </p:sp>
      <p:sp>
        <p:nvSpPr>
          <p:cNvPr id="16" name="任意多边形 15">
            <a:extLst>
              <a:ext uri="{FF2B5EF4-FFF2-40B4-BE49-F238E27FC236}">
                <a16:creationId xmlns:a16="http://schemas.microsoft.com/office/drawing/2014/main" id="{6DC3910A-EC10-4F93-8646-30BBA9F2C728}"/>
              </a:ext>
            </a:extLst>
          </p:cNvPr>
          <p:cNvSpPr>
            <a:spLocks noGrp="1"/>
          </p:cNvSpPr>
          <p:nvPr/>
        </p:nvSpPr>
        <p:spPr>
          <a:xfrm>
            <a:off x="-2539" y="1414739"/>
            <a:ext cx="2395908" cy="100793"/>
          </a:xfrm>
          <a:custGeom>
            <a:avLst/>
            <a:gdLst>
              <a:gd name="connsiteX0" fmla="*/ 0 w 2693"/>
              <a:gd name="connsiteY0" fmla="*/ 0 h 119"/>
              <a:gd name="connsiteX1" fmla="*/ 2693 w 2693"/>
              <a:gd name="connsiteY1" fmla="*/ 0 h 119"/>
              <a:gd name="connsiteX2" fmla="*/ 2629 w 2693"/>
              <a:gd name="connsiteY2" fmla="*/ 119 h 119"/>
              <a:gd name="connsiteX3" fmla="*/ 0 w 2693"/>
              <a:gd name="connsiteY3" fmla="*/ 119 h 119"/>
              <a:gd name="connsiteX4" fmla="*/ 0 w 2693"/>
              <a:gd name="connsiteY4" fmla="*/ 0 h 119"/>
            </a:gdLst>
            <a:ahLst/>
            <a:cxnLst/>
            <a:rect l="l" t="t" r="r" b="b"/>
            <a:pathLst>
              <a:path w="2693" h="119">
                <a:moveTo>
                  <a:pt x="0" y="0"/>
                </a:moveTo>
                <a:lnTo>
                  <a:pt x="2693" y="0"/>
                </a:lnTo>
                <a:lnTo>
                  <a:pt x="2629" y="119"/>
                </a:lnTo>
                <a:lnTo>
                  <a:pt x="0" y="119"/>
                </a:lnTo>
                <a:lnTo>
                  <a:pt x="0" y="0"/>
                </a:lnTo>
                <a:close/>
              </a:path>
            </a:pathLst>
          </a:custGeom>
          <a:solidFill>
            <a:srgbClr val="F398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40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pic>
        <p:nvPicPr>
          <p:cNvPr id="18" name="Picture 6"/>
          <p:cNvPicPr>
            <a:picLocks noChangeAspect="1"/>
          </p:cNvPicPr>
          <p:nvPr/>
        </p:nvPicPr>
        <p:blipFill>
          <a:blip r:embed="rId2"/>
          <a:srcRect b="14645"/>
          <a:stretch>
            <a:fillRect/>
          </a:stretch>
        </p:blipFill>
        <p:spPr>
          <a:xfrm>
            <a:off x="0" y="584200"/>
            <a:ext cx="12192000" cy="804333"/>
          </a:xfrm>
          <a:prstGeom prst="rect">
            <a:avLst/>
          </a:prstGeom>
          <a:ln>
            <a:noFill/>
          </a:ln>
        </p:spPr>
      </p:pic>
      <p:sp>
        <p:nvSpPr>
          <p:cNvPr id="10" name="直接连接符 9">
            <a:extLst>
              <a:ext uri="{FF2B5EF4-FFF2-40B4-BE49-F238E27FC236}">
                <a16:creationId xmlns:a16="http://schemas.microsoft.com/office/drawing/2014/main" id="{9A0B4D86-B6A6-4319-9D74-77BBE9E5D6EA}"/>
              </a:ext>
            </a:extLst>
          </p:cNvPr>
          <p:cNvSpPr>
            <a:spLocks noGrp="1"/>
          </p:cNvSpPr>
          <p:nvPr/>
        </p:nvSpPr>
        <p:spPr>
          <a:xfrm>
            <a:off x="0" y="1411819"/>
            <a:ext cx="12192000" cy="2116"/>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sp>
      <p:sp>
        <p:nvSpPr>
          <p:cNvPr id="7" name="矩形 6">
            <a:extLst>
              <a:ext uri="{FF2B5EF4-FFF2-40B4-BE49-F238E27FC236}">
                <a16:creationId xmlns:a16="http://schemas.microsoft.com/office/drawing/2014/main" id="{073E1BE0-EAE1-483E-87A3-69C453C2936E}"/>
              </a:ext>
            </a:extLst>
          </p:cNvPr>
          <p:cNvSpPr>
            <a:spLocks noGrp="1"/>
          </p:cNvSpPr>
          <p:nvPr/>
        </p:nvSpPr>
        <p:spPr>
          <a:xfrm>
            <a:off x="821267" y="584200"/>
            <a:ext cx="8652933" cy="711200"/>
          </a:xfrm>
          <a:prstGeom prst="rect">
            <a:avLst/>
          </a:prstGeom>
          <a:solidFill>
            <a:srgbClr val="005BA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3200" b="1">
              <a:solidFill>
                <a:prstClr val="white"/>
              </a:solidFill>
            </a:endParaRPr>
          </a:p>
        </p:txBody>
      </p:sp>
      <p:sp>
        <p:nvSpPr>
          <p:cNvPr id="11" name="任意多边形 10">
            <a:extLst>
              <a:ext uri="{FF2B5EF4-FFF2-40B4-BE49-F238E27FC236}">
                <a16:creationId xmlns:a16="http://schemas.microsoft.com/office/drawing/2014/main" id="{6809F24B-B5D1-48C5-A62B-0A9E1AD4D251}"/>
              </a:ext>
            </a:extLst>
          </p:cNvPr>
          <p:cNvSpPr>
            <a:spLocks noGrp="1"/>
          </p:cNvSpPr>
          <p:nvPr/>
        </p:nvSpPr>
        <p:spPr>
          <a:xfrm>
            <a:off x="2393370" y="1413933"/>
            <a:ext cx="9798631" cy="101600"/>
          </a:xfrm>
          <a:custGeom>
            <a:avLst/>
            <a:gdLst>
              <a:gd name="connsiteX0" fmla="*/ 68 w 11394"/>
              <a:gd name="connsiteY0" fmla="*/ 0 h 126"/>
              <a:gd name="connsiteX1" fmla="*/ 11394 w 11394"/>
              <a:gd name="connsiteY1" fmla="*/ 6 h 126"/>
              <a:gd name="connsiteX2" fmla="*/ 11394 w 11394"/>
              <a:gd name="connsiteY2" fmla="*/ 126 h 126"/>
              <a:gd name="connsiteX3" fmla="*/ 0 w 11394"/>
              <a:gd name="connsiteY3" fmla="*/ 126 h 126"/>
              <a:gd name="connsiteX4" fmla="*/ 68 w 11394"/>
              <a:gd name="connsiteY4" fmla="*/ 0 h 126"/>
            </a:gdLst>
            <a:ahLst/>
            <a:cxnLst/>
            <a:rect l="l" t="t" r="r" b="b"/>
            <a:pathLst>
              <a:path w="11394" h="126">
                <a:moveTo>
                  <a:pt x="68" y="0"/>
                </a:moveTo>
                <a:lnTo>
                  <a:pt x="11394" y="6"/>
                </a:lnTo>
                <a:lnTo>
                  <a:pt x="11394" y="126"/>
                </a:lnTo>
                <a:lnTo>
                  <a:pt x="0" y="126"/>
                </a:lnTo>
                <a:lnTo>
                  <a:pt x="68" y="0"/>
                </a:lnTo>
                <a:close/>
              </a:path>
            </a:pathLst>
          </a:custGeom>
          <a:solidFill>
            <a:srgbClr val="005BA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400"/>
          </a:p>
        </p:txBody>
      </p:sp>
      <p:sp>
        <p:nvSpPr>
          <p:cNvPr id="16" name="任意多边形 15">
            <a:extLst>
              <a:ext uri="{FF2B5EF4-FFF2-40B4-BE49-F238E27FC236}">
                <a16:creationId xmlns:a16="http://schemas.microsoft.com/office/drawing/2014/main" id="{AA37E693-00A9-4A40-A608-1C6383C928CB}"/>
              </a:ext>
            </a:extLst>
          </p:cNvPr>
          <p:cNvSpPr>
            <a:spLocks noGrp="1"/>
          </p:cNvSpPr>
          <p:nvPr/>
        </p:nvSpPr>
        <p:spPr>
          <a:xfrm>
            <a:off x="-2539" y="1414739"/>
            <a:ext cx="2395908" cy="100793"/>
          </a:xfrm>
          <a:custGeom>
            <a:avLst/>
            <a:gdLst>
              <a:gd name="connsiteX0" fmla="*/ 0 w 2693"/>
              <a:gd name="connsiteY0" fmla="*/ 0 h 119"/>
              <a:gd name="connsiteX1" fmla="*/ 2693 w 2693"/>
              <a:gd name="connsiteY1" fmla="*/ 0 h 119"/>
              <a:gd name="connsiteX2" fmla="*/ 2629 w 2693"/>
              <a:gd name="connsiteY2" fmla="*/ 119 h 119"/>
              <a:gd name="connsiteX3" fmla="*/ 0 w 2693"/>
              <a:gd name="connsiteY3" fmla="*/ 119 h 119"/>
              <a:gd name="connsiteX4" fmla="*/ 0 w 2693"/>
              <a:gd name="connsiteY4" fmla="*/ 0 h 119"/>
            </a:gdLst>
            <a:ahLst/>
            <a:cxnLst/>
            <a:rect l="l" t="t" r="r" b="b"/>
            <a:pathLst>
              <a:path w="2693" h="119">
                <a:moveTo>
                  <a:pt x="0" y="0"/>
                </a:moveTo>
                <a:lnTo>
                  <a:pt x="2693" y="0"/>
                </a:lnTo>
                <a:lnTo>
                  <a:pt x="2629" y="119"/>
                </a:lnTo>
                <a:lnTo>
                  <a:pt x="0" y="119"/>
                </a:lnTo>
                <a:lnTo>
                  <a:pt x="0" y="0"/>
                </a:lnTo>
                <a:close/>
              </a:path>
            </a:pathLst>
          </a:custGeom>
          <a:solidFill>
            <a:srgbClr val="F398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40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5.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43266A96-2003-4025-B2F8-B8F2F9ECB834}"/>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a:extLst>
              <a:ext uri="{FF2B5EF4-FFF2-40B4-BE49-F238E27FC236}">
                <a16:creationId xmlns:a16="http://schemas.microsoft.com/office/drawing/2014/main" id="{04983D7F-B2AC-4A42-9D2C-62EB1B677ECF}"/>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a:extLst>
              <a:ext uri="{FF2B5EF4-FFF2-40B4-BE49-F238E27FC236}">
                <a16:creationId xmlns:a16="http://schemas.microsoft.com/office/drawing/2014/main" id="{39914962-296F-427C-B8E8-7EDCE69C9B25}"/>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9F4852F6-D0EE-43FF-9758-4449F4064C7C}" type="datetimeFigureOut">
              <a:t>2026/9/7</a:t>
            </a:fld>
            <a:endParaRPr/>
          </a:p>
        </p:txBody>
      </p:sp>
      <p:sp>
        <p:nvSpPr>
          <p:cNvPr id="5" name="页脚占位符 4">
            <a:extLst>
              <a:ext uri="{FF2B5EF4-FFF2-40B4-BE49-F238E27FC236}">
                <a16:creationId xmlns:a16="http://schemas.microsoft.com/office/drawing/2014/main" id="{6E13DB23-E2DB-49F2-9F10-5147AE6EF39D}"/>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灯片编号占位符 5">
            <a:extLst>
              <a:ext uri="{FF2B5EF4-FFF2-40B4-BE49-F238E27FC236}">
                <a16:creationId xmlns:a16="http://schemas.microsoft.com/office/drawing/2014/main" id="{57432BD1-FB6C-40B0-9AA8-7ED1D01112C0}"/>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F60DD7EF-E908-4723-98EB-3DEAFF871F36}"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标题占位符 1">
            <a:extLst>
              <a:ext uri="{FF2B5EF4-FFF2-40B4-BE49-F238E27FC236}">
                <a16:creationId xmlns:a16="http://schemas.microsoft.com/office/drawing/2014/main" id="{FFA7703D-0678-4454-B923-F3F7A0E09E47}"/>
              </a:ext>
            </a:extLst>
          </p:cNvPr>
          <p:cNvSpPr>
            <a:spLocks noGrp="1"/>
          </p:cNvSpPr>
          <p:nvPr>
            <p:ph type="title"/>
          </p:nvPr>
        </p:nvSpPr>
        <p:spPr>
          <a:xfrm>
            <a:off x="838200" y="366186"/>
            <a:ext cx="10515600" cy="1325033"/>
          </a:xfrm>
          <a:prstGeom prst="rect">
            <a:avLst/>
          </a:prstGeom>
          <a:noFill/>
          <a:ln>
            <a:noFill/>
          </a:ln>
        </p:spPr>
        <p:txBody>
          <a:bodyPr vert="horz" wrap="square" lIns="65019" tIns="32509" rIns="65019" bIns="32509" anchor="ctr"/>
          <a:lstStyle/>
          <a:p>
            <a:pPr lvl="0">
              <a:buNone/>
            </a:pPr>
            <a:r>
              <a:t>单击此处编辑母版标题样式</a:t>
            </a:r>
          </a:p>
        </p:txBody>
      </p:sp>
      <p:sp>
        <p:nvSpPr>
          <p:cNvPr id="4099" name="文本占位符 2">
            <a:extLst>
              <a:ext uri="{FF2B5EF4-FFF2-40B4-BE49-F238E27FC236}">
                <a16:creationId xmlns:a16="http://schemas.microsoft.com/office/drawing/2014/main" id="{DF91456B-26C3-48E2-A393-7419A47BC1AB}"/>
              </a:ext>
            </a:extLst>
          </p:cNvPr>
          <p:cNvSpPr>
            <a:spLocks noGrp="1"/>
          </p:cNvSpPr>
          <p:nvPr>
            <p:ph type="body" idx="1"/>
          </p:nvPr>
        </p:nvSpPr>
        <p:spPr>
          <a:xfrm>
            <a:off x="838200" y="1826685"/>
            <a:ext cx="10515600" cy="4351867"/>
          </a:xfrm>
          <a:prstGeom prst="rect">
            <a:avLst/>
          </a:prstGeom>
          <a:noFill/>
          <a:ln>
            <a:noFill/>
          </a:ln>
        </p:spPr>
        <p:txBody>
          <a:bodyPr vert="horz" wrap="square" lIns="65019" tIns="32509" rIns="65019" bIns="32509" anchor="t"/>
          <a:lstStyle/>
          <a:p>
            <a:pPr lvl="0">
              <a:buNone/>
            </a:pPr>
            <a:r>
              <a:t>单击此处编辑母版文本样式</a:t>
            </a:r>
          </a:p>
          <a:p>
            <a:pPr lvl="1">
              <a:buNone/>
            </a:pPr>
            <a:r>
              <a:t>第二级</a:t>
            </a:r>
          </a:p>
          <a:p>
            <a:pPr lvl="2">
              <a:buNone/>
            </a:pPr>
            <a:r>
              <a:t>第三级</a:t>
            </a:r>
          </a:p>
          <a:p>
            <a:pPr lvl="3">
              <a:buNone/>
            </a:pPr>
            <a:r>
              <a:t>第四级</a:t>
            </a:r>
          </a:p>
          <a:p>
            <a:pPr lvl="4">
              <a:buNone/>
            </a:pPr>
            <a:r>
              <a:t>第五级</a:t>
            </a:r>
          </a:p>
        </p:txBody>
      </p:sp>
      <p:sp>
        <p:nvSpPr>
          <p:cNvPr id="4" name="日期占位符 3">
            <a:extLst>
              <a:ext uri="{FF2B5EF4-FFF2-40B4-BE49-F238E27FC236}">
                <a16:creationId xmlns:a16="http://schemas.microsoft.com/office/drawing/2014/main" id="{712558CF-41BB-4DD8-8273-786F324207D5}"/>
              </a:ext>
            </a:extLst>
          </p:cNvPr>
          <p:cNvSpPr>
            <a:spLocks noGrp="1"/>
          </p:cNvSpPr>
          <p:nvPr>
            <p:ph type="dt" idx="2"/>
          </p:nvPr>
        </p:nvSpPr>
        <p:spPr>
          <a:xfrm>
            <a:off x="838200" y="6356353"/>
            <a:ext cx="2743200" cy="364067"/>
          </a:xfrm>
          <a:prstGeom prst="rect">
            <a:avLst/>
          </a:prstGeom>
        </p:spPr>
        <p:txBody>
          <a:bodyPr vert="horz" lIns="65019" tIns="32509" rIns="65019" bIns="32509" anchor="ctr"/>
          <a:lstStyle>
            <a:lvl1pPr algn="l" defTabSz="1218565">
              <a:buNone/>
              <a:defRPr sz="1200">
                <a:solidFill>
                  <a:prstClr val="black">
                    <a:tint val="75000"/>
                  </a:prstClr>
                </a:solidFill>
                <a:latin typeface="+mn-lt"/>
                <a:ea typeface="+mn-lt"/>
                <a:cs typeface="+mn-lt"/>
              </a:defRPr>
            </a:lvl1pPr>
          </a:lstStyle>
          <a:p>
            <a:pPr>
              <a:buNone/>
            </a:pPr>
            <a:fld id="{292F71EF-02F8-4FDD-93F8-D030AB7FC83F}" type="datetimeFigureOut">
              <a:t>2026/9/7</a:t>
            </a:fld>
            <a:endParaRPr/>
          </a:p>
        </p:txBody>
      </p:sp>
      <p:sp>
        <p:nvSpPr>
          <p:cNvPr id="5" name="页脚占位符 4">
            <a:extLst>
              <a:ext uri="{FF2B5EF4-FFF2-40B4-BE49-F238E27FC236}">
                <a16:creationId xmlns:a16="http://schemas.microsoft.com/office/drawing/2014/main" id="{9375D491-3100-4AF4-B449-158D8E6C5293}"/>
              </a:ext>
            </a:extLst>
          </p:cNvPr>
          <p:cNvSpPr>
            <a:spLocks noGrp="1"/>
          </p:cNvSpPr>
          <p:nvPr>
            <p:ph type="ftr" idx="3"/>
          </p:nvPr>
        </p:nvSpPr>
        <p:spPr>
          <a:xfrm>
            <a:off x="4038600" y="6356353"/>
            <a:ext cx="4114800" cy="364067"/>
          </a:xfrm>
          <a:prstGeom prst="rect">
            <a:avLst/>
          </a:prstGeom>
        </p:spPr>
        <p:txBody>
          <a:bodyPr vert="horz" lIns="65019" tIns="32509" rIns="65019" bIns="32509" anchor="ctr"/>
          <a:lstStyle>
            <a:lvl1pPr algn="ctr" defTabSz="1218565">
              <a:buNone/>
              <a:defRPr sz="1200">
                <a:solidFill>
                  <a:prstClr val="black">
                    <a:tint val="75000"/>
                  </a:prstClr>
                </a:solidFill>
                <a:latin typeface="+mn-lt"/>
                <a:ea typeface="+mn-lt"/>
                <a:cs typeface="+mn-lt"/>
              </a:defRPr>
            </a:lvl1pPr>
          </a:lstStyle>
          <a:p>
            <a:pPr>
              <a:buNone/>
            </a:pPr>
            <a:endParaRPr/>
          </a:p>
        </p:txBody>
      </p:sp>
      <p:sp>
        <p:nvSpPr>
          <p:cNvPr id="6" name="灯片编号占位符 5">
            <a:extLst>
              <a:ext uri="{FF2B5EF4-FFF2-40B4-BE49-F238E27FC236}">
                <a16:creationId xmlns:a16="http://schemas.microsoft.com/office/drawing/2014/main" id="{E3A0ED3A-25B1-4D00-AC74-A03166EB8C26}"/>
              </a:ext>
            </a:extLst>
          </p:cNvPr>
          <p:cNvSpPr>
            <a:spLocks noGrp="1"/>
          </p:cNvSpPr>
          <p:nvPr>
            <p:ph type="sldNum" idx="4"/>
          </p:nvPr>
        </p:nvSpPr>
        <p:spPr>
          <a:xfrm>
            <a:off x="8610600" y="6356353"/>
            <a:ext cx="2743200" cy="364067"/>
          </a:xfrm>
          <a:prstGeom prst="rect">
            <a:avLst/>
          </a:prstGeom>
        </p:spPr>
        <p:txBody>
          <a:bodyPr vert="horz" wrap="square" lIns="65019" tIns="32509" rIns="65019" bIns="32509" anchor="ctr"/>
          <a:lstStyle>
            <a:lvl1pPr algn="r" defTabSz="1216660">
              <a:buNone/>
              <a:defRPr sz="1200">
                <a:solidFill>
                  <a:srgbClr val="898989"/>
                </a:solidFill>
              </a:defRPr>
            </a:lvl1pPr>
          </a:lstStyle>
          <a:p>
            <a:pPr>
              <a:buNone/>
            </a:pPr>
            <a:fld id="{D728AC88-674E-4151-AFDC-B7C47BAC839D}"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Lst>
  <p:txStyles>
    <p:titleStyle>
      <a:lvl1pPr algn="l" defTabSz="865505">
        <a:lnSpc>
          <a:spcPct val="90000"/>
        </a:lnSpc>
        <a:spcBef>
          <a:spcPct val="0"/>
        </a:spcBef>
        <a:spcAft>
          <a:spcPct val="0"/>
        </a:spcAft>
        <a:buNone/>
        <a:defRPr sz="4135" kern="1200">
          <a:solidFill>
            <a:schemeClr val="tx1"/>
          </a:solidFill>
          <a:latin typeface="Calibri"/>
          <a:ea typeface="Calibri"/>
          <a:cs typeface="Calibri"/>
        </a:defRPr>
      </a:lvl1pPr>
      <a:lvl2pPr algn="l" defTabSz="865505">
        <a:lnSpc>
          <a:spcPct val="90000"/>
        </a:lnSpc>
        <a:spcBef>
          <a:spcPct val="0"/>
        </a:spcBef>
        <a:spcAft>
          <a:spcPct val="0"/>
        </a:spcAft>
        <a:buNone/>
        <a:defRPr sz="4135">
          <a:solidFill>
            <a:schemeClr val="tx1"/>
          </a:solidFill>
          <a:latin typeface="Calibri Light"/>
          <a:ea typeface="Calibri Light"/>
          <a:cs typeface="Calibri Light"/>
        </a:defRPr>
      </a:lvl2pPr>
      <a:lvl3pPr algn="l" defTabSz="865505">
        <a:lnSpc>
          <a:spcPct val="90000"/>
        </a:lnSpc>
        <a:spcBef>
          <a:spcPct val="0"/>
        </a:spcBef>
        <a:spcAft>
          <a:spcPct val="0"/>
        </a:spcAft>
        <a:buNone/>
        <a:defRPr sz="4135">
          <a:solidFill>
            <a:schemeClr val="tx1"/>
          </a:solidFill>
          <a:latin typeface="Calibri Light"/>
          <a:ea typeface="Calibri Light"/>
          <a:cs typeface="Calibri Light"/>
        </a:defRPr>
      </a:lvl3pPr>
      <a:lvl4pPr algn="l" defTabSz="865505">
        <a:lnSpc>
          <a:spcPct val="90000"/>
        </a:lnSpc>
        <a:spcBef>
          <a:spcPct val="0"/>
        </a:spcBef>
        <a:spcAft>
          <a:spcPct val="0"/>
        </a:spcAft>
        <a:buNone/>
        <a:defRPr sz="4135">
          <a:solidFill>
            <a:schemeClr val="tx1"/>
          </a:solidFill>
          <a:latin typeface="Calibri Light"/>
          <a:ea typeface="Calibri Light"/>
          <a:cs typeface="Calibri Light"/>
        </a:defRPr>
      </a:lvl4pPr>
      <a:lvl5pPr algn="l" defTabSz="865505">
        <a:lnSpc>
          <a:spcPct val="90000"/>
        </a:lnSpc>
        <a:spcBef>
          <a:spcPct val="0"/>
        </a:spcBef>
        <a:spcAft>
          <a:spcPct val="0"/>
        </a:spcAft>
        <a:buNone/>
        <a:defRPr sz="4135">
          <a:solidFill>
            <a:schemeClr val="tx1"/>
          </a:solidFill>
          <a:latin typeface="Calibri Light"/>
          <a:ea typeface="Calibri Light"/>
          <a:cs typeface="Calibri Light"/>
        </a:defRPr>
      </a:lvl5pPr>
      <a:lvl6pPr marL="609600" algn="l" defTabSz="865505">
        <a:lnSpc>
          <a:spcPct val="90000"/>
        </a:lnSpc>
        <a:spcBef>
          <a:spcPct val="0"/>
        </a:spcBef>
        <a:spcAft>
          <a:spcPct val="0"/>
        </a:spcAft>
        <a:buNone/>
        <a:defRPr sz="4135">
          <a:solidFill>
            <a:schemeClr val="tx1"/>
          </a:solidFill>
          <a:latin typeface="Calibri Light"/>
          <a:ea typeface="Calibri Light"/>
          <a:cs typeface="Calibri Light"/>
        </a:defRPr>
      </a:lvl6pPr>
      <a:lvl7pPr marL="1219200" algn="l" defTabSz="865505">
        <a:lnSpc>
          <a:spcPct val="90000"/>
        </a:lnSpc>
        <a:spcBef>
          <a:spcPct val="0"/>
        </a:spcBef>
        <a:spcAft>
          <a:spcPct val="0"/>
        </a:spcAft>
        <a:buNone/>
        <a:defRPr sz="4135">
          <a:solidFill>
            <a:schemeClr val="tx1"/>
          </a:solidFill>
          <a:latin typeface="Calibri Light"/>
          <a:ea typeface="Calibri Light"/>
          <a:cs typeface="Calibri Light"/>
        </a:defRPr>
      </a:lvl7pPr>
      <a:lvl8pPr marL="1828800" algn="l" defTabSz="865505">
        <a:lnSpc>
          <a:spcPct val="90000"/>
        </a:lnSpc>
        <a:spcBef>
          <a:spcPct val="0"/>
        </a:spcBef>
        <a:spcAft>
          <a:spcPct val="0"/>
        </a:spcAft>
        <a:buNone/>
        <a:defRPr sz="4135">
          <a:solidFill>
            <a:schemeClr val="tx1"/>
          </a:solidFill>
          <a:latin typeface="Calibri Light"/>
          <a:ea typeface="Calibri Light"/>
          <a:cs typeface="Calibri Light"/>
        </a:defRPr>
      </a:lvl8pPr>
      <a:lvl9pPr marL="2438400" algn="l" defTabSz="865505">
        <a:lnSpc>
          <a:spcPct val="90000"/>
        </a:lnSpc>
        <a:spcBef>
          <a:spcPct val="0"/>
        </a:spcBef>
        <a:spcAft>
          <a:spcPct val="0"/>
        </a:spcAft>
        <a:buNone/>
        <a:defRPr sz="4135">
          <a:solidFill>
            <a:schemeClr val="tx1"/>
          </a:solidFill>
          <a:latin typeface="Calibri Light"/>
          <a:ea typeface="Calibri Light"/>
          <a:cs typeface="Calibri Light"/>
        </a:defRPr>
      </a:lvl9pPr>
    </p:titleStyle>
    <p:bodyStyle>
      <a:lvl1pPr marL="215900" indent="-215900" algn="l" defTabSz="865505">
        <a:lnSpc>
          <a:spcPct val="90000"/>
        </a:lnSpc>
        <a:spcBef>
          <a:spcPts val="955"/>
        </a:spcBef>
        <a:spcAft>
          <a:spcPct val="0"/>
        </a:spcAft>
        <a:buFont typeface="Arial"/>
        <a:buChar char="•"/>
        <a:defRPr sz="2665" kern="1200">
          <a:solidFill>
            <a:schemeClr val="tx1"/>
          </a:solidFill>
          <a:latin typeface="+mn-lt"/>
          <a:ea typeface="+mn-lt"/>
          <a:cs typeface="+mn-lt"/>
        </a:defRPr>
      </a:lvl1pPr>
      <a:lvl2pPr marL="650240" indent="-215900" algn="l" defTabSz="865505">
        <a:lnSpc>
          <a:spcPct val="90000"/>
        </a:lnSpc>
        <a:spcBef>
          <a:spcPts val="465"/>
        </a:spcBef>
        <a:spcAft>
          <a:spcPct val="0"/>
        </a:spcAft>
        <a:buFont typeface="Arial"/>
        <a:buChar char="•"/>
        <a:defRPr sz="2265" kern="1200">
          <a:solidFill>
            <a:schemeClr val="tx1"/>
          </a:solidFill>
          <a:latin typeface="+mn-lt"/>
          <a:ea typeface="+mn-lt"/>
          <a:cs typeface="+mn-lt"/>
        </a:defRPr>
      </a:lvl2pPr>
      <a:lvl3pPr marL="1082040" indent="-215900" algn="l" defTabSz="865505">
        <a:lnSpc>
          <a:spcPct val="90000"/>
        </a:lnSpc>
        <a:spcBef>
          <a:spcPts val="465"/>
        </a:spcBef>
        <a:spcAft>
          <a:spcPct val="0"/>
        </a:spcAft>
        <a:buFont typeface="Arial"/>
        <a:buChar char="•"/>
        <a:defRPr sz="1865" kern="1200">
          <a:solidFill>
            <a:schemeClr val="tx1"/>
          </a:solidFill>
          <a:latin typeface="+mn-lt"/>
          <a:ea typeface="+mn-lt"/>
          <a:cs typeface="+mn-lt"/>
        </a:defRPr>
      </a:lvl3pPr>
      <a:lvl4pPr marL="1515745" indent="-215900" algn="l" defTabSz="865505">
        <a:lnSpc>
          <a:spcPct val="90000"/>
        </a:lnSpc>
        <a:spcBef>
          <a:spcPts val="465"/>
        </a:spcBef>
        <a:spcAft>
          <a:spcPct val="0"/>
        </a:spcAft>
        <a:buFont typeface="Arial"/>
        <a:buChar char="•"/>
        <a:defRPr sz="1735" kern="1200">
          <a:solidFill>
            <a:schemeClr val="tx1"/>
          </a:solidFill>
          <a:latin typeface="+mn-lt"/>
          <a:ea typeface="+mn-lt"/>
          <a:cs typeface="+mn-lt"/>
        </a:defRPr>
      </a:lvl4pPr>
      <a:lvl5pPr marL="1950085" indent="-215900" algn="l" defTabSz="865505">
        <a:lnSpc>
          <a:spcPct val="90000"/>
        </a:lnSpc>
        <a:spcBef>
          <a:spcPts val="465"/>
        </a:spcBef>
        <a:spcAft>
          <a:spcPct val="0"/>
        </a:spcAft>
        <a:buFont typeface="Arial"/>
        <a:buChar char="•"/>
        <a:defRPr sz="1735" kern="1200">
          <a:solidFill>
            <a:schemeClr val="tx1"/>
          </a:solidFill>
          <a:latin typeface="+mn-lt"/>
          <a:ea typeface="+mn-lt"/>
          <a:cs typeface="+mn-lt"/>
        </a:defRPr>
      </a:lvl5pPr>
      <a:lvl6pPr marL="2384425" indent="-216535" algn="l" defTabSz="866140">
        <a:lnSpc>
          <a:spcPct val="90000"/>
        </a:lnSpc>
        <a:spcBef>
          <a:spcPts val="475"/>
        </a:spcBef>
        <a:buFont typeface="Arial"/>
        <a:buChar char="•"/>
        <a:defRPr sz="1735" kern="1200">
          <a:solidFill>
            <a:schemeClr val="tx1"/>
          </a:solidFill>
          <a:latin typeface="+mn-lt"/>
          <a:ea typeface="+mn-lt"/>
          <a:cs typeface="+mn-lt"/>
        </a:defRPr>
      </a:lvl6pPr>
      <a:lvl7pPr marL="2817495" indent="-216535" algn="l" defTabSz="866140">
        <a:lnSpc>
          <a:spcPct val="90000"/>
        </a:lnSpc>
        <a:spcBef>
          <a:spcPts val="475"/>
        </a:spcBef>
        <a:buFont typeface="Arial"/>
        <a:buChar char="•"/>
        <a:defRPr sz="1735" kern="1200">
          <a:solidFill>
            <a:schemeClr val="tx1"/>
          </a:solidFill>
          <a:latin typeface="+mn-lt"/>
          <a:ea typeface="+mn-lt"/>
          <a:cs typeface="+mn-lt"/>
        </a:defRPr>
      </a:lvl7pPr>
      <a:lvl8pPr marL="3251200" indent="-216535" algn="l" defTabSz="866140">
        <a:lnSpc>
          <a:spcPct val="90000"/>
        </a:lnSpc>
        <a:spcBef>
          <a:spcPts val="475"/>
        </a:spcBef>
        <a:buFont typeface="Arial"/>
        <a:buChar char="•"/>
        <a:defRPr sz="1735" kern="1200">
          <a:solidFill>
            <a:schemeClr val="tx1"/>
          </a:solidFill>
          <a:latin typeface="+mn-lt"/>
          <a:ea typeface="+mn-lt"/>
          <a:cs typeface="+mn-lt"/>
        </a:defRPr>
      </a:lvl8pPr>
      <a:lvl9pPr marL="3684905" indent="-216535" algn="l" defTabSz="866140">
        <a:lnSpc>
          <a:spcPct val="90000"/>
        </a:lnSpc>
        <a:spcBef>
          <a:spcPts val="475"/>
        </a:spcBef>
        <a:buFont typeface="Arial"/>
        <a:buChar char="•"/>
        <a:defRPr sz="1735" kern="1200">
          <a:solidFill>
            <a:schemeClr val="tx1"/>
          </a:solidFill>
          <a:latin typeface="+mn-lt"/>
          <a:ea typeface="+mn-lt"/>
          <a:cs typeface="+mn-lt"/>
        </a:defRPr>
      </a:lvl9pPr>
    </p:bodyStyle>
    <p:otherStyle>
      <a:lvl1pPr marL="0" algn="l" defTabSz="866140">
        <a:buNone/>
        <a:defRPr sz="1735" kern="1200">
          <a:solidFill>
            <a:schemeClr val="tx1"/>
          </a:solidFill>
          <a:latin typeface="+mn-lt"/>
          <a:ea typeface="+mn-lt"/>
          <a:cs typeface="+mn-lt"/>
        </a:defRPr>
      </a:lvl1pPr>
      <a:lvl2pPr marL="433705" algn="l" defTabSz="866140">
        <a:buNone/>
        <a:defRPr sz="1735" kern="1200">
          <a:solidFill>
            <a:schemeClr val="tx1"/>
          </a:solidFill>
          <a:latin typeface="+mn-lt"/>
          <a:ea typeface="+mn-lt"/>
          <a:cs typeface="+mn-lt"/>
        </a:defRPr>
      </a:lvl2pPr>
      <a:lvl3pPr marL="866775" algn="l" defTabSz="866140">
        <a:buNone/>
        <a:defRPr sz="1735" kern="1200">
          <a:solidFill>
            <a:schemeClr val="tx1"/>
          </a:solidFill>
          <a:latin typeface="+mn-lt"/>
          <a:ea typeface="+mn-lt"/>
          <a:cs typeface="+mn-lt"/>
        </a:defRPr>
      </a:lvl3pPr>
      <a:lvl4pPr marL="1300480" algn="l" defTabSz="866140">
        <a:buNone/>
        <a:defRPr sz="1735" kern="1200">
          <a:solidFill>
            <a:schemeClr val="tx1"/>
          </a:solidFill>
          <a:latin typeface="+mn-lt"/>
          <a:ea typeface="+mn-lt"/>
          <a:cs typeface="+mn-lt"/>
        </a:defRPr>
      </a:lvl4pPr>
      <a:lvl5pPr marL="1734185" algn="l" defTabSz="866140">
        <a:buNone/>
        <a:defRPr sz="1735" kern="1200">
          <a:solidFill>
            <a:schemeClr val="tx1"/>
          </a:solidFill>
          <a:latin typeface="+mn-lt"/>
          <a:ea typeface="+mn-lt"/>
          <a:cs typeface="+mn-lt"/>
        </a:defRPr>
      </a:lvl5pPr>
      <a:lvl6pPr marL="2167255" algn="l" defTabSz="866140">
        <a:buNone/>
        <a:defRPr sz="1735" kern="1200">
          <a:solidFill>
            <a:schemeClr val="tx1"/>
          </a:solidFill>
          <a:latin typeface="+mn-lt"/>
          <a:ea typeface="+mn-lt"/>
          <a:cs typeface="+mn-lt"/>
        </a:defRPr>
      </a:lvl6pPr>
      <a:lvl7pPr marL="2600960" algn="l" defTabSz="866140">
        <a:buNone/>
        <a:defRPr sz="1735" kern="1200">
          <a:solidFill>
            <a:schemeClr val="tx1"/>
          </a:solidFill>
          <a:latin typeface="+mn-lt"/>
          <a:ea typeface="+mn-lt"/>
          <a:cs typeface="+mn-lt"/>
        </a:defRPr>
      </a:lvl7pPr>
      <a:lvl8pPr marL="3034665" algn="l" defTabSz="866140">
        <a:buNone/>
        <a:defRPr sz="1735" kern="1200">
          <a:solidFill>
            <a:schemeClr val="tx1"/>
          </a:solidFill>
          <a:latin typeface="+mn-lt"/>
          <a:ea typeface="+mn-lt"/>
          <a:cs typeface="+mn-lt"/>
        </a:defRPr>
      </a:lvl8pPr>
      <a:lvl9pPr marL="3467735" algn="l" defTabSz="866140">
        <a:buNone/>
        <a:defRPr sz="1735" kern="12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标题占位符 1">
            <a:extLst>
              <a:ext uri="{FF2B5EF4-FFF2-40B4-BE49-F238E27FC236}">
                <a16:creationId xmlns:a16="http://schemas.microsoft.com/office/drawing/2014/main" id="{2DD986D5-7C62-452D-8061-B302A09E428C}"/>
              </a:ext>
            </a:extLst>
          </p:cNvPr>
          <p:cNvSpPr>
            <a:spLocks noGrp="1"/>
          </p:cNvSpPr>
          <p:nvPr>
            <p:ph type="title"/>
          </p:nvPr>
        </p:nvSpPr>
        <p:spPr>
          <a:xfrm>
            <a:off x="838200" y="366186"/>
            <a:ext cx="10515600" cy="1325033"/>
          </a:xfrm>
          <a:prstGeom prst="rect">
            <a:avLst/>
          </a:prstGeom>
          <a:noFill/>
          <a:ln>
            <a:noFill/>
          </a:ln>
        </p:spPr>
        <p:txBody>
          <a:bodyPr vert="horz" wrap="square" lIns="65019" tIns="32509" rIns="65019" bIns="32509" anchor="ctr"/>
          <a:lstStyle/>
          <a:p>
            <a:pPr lvl="0">
              <a:buNone/>
            </a:pPr>
            <a:r>
              <a:t>单击此处编辑母版标题样式</a:t>
            </a:r>
          </a:p>
        </p:txBody>
      </p:sp>
      <p:sp>
        <p:nvSpPr>
          <p:cNvPr id="4099" name="文本占位符 2">
            <a:extLst>
              <a:ext uri="{FF2B5EF4-FFF2-40B4-BE49-F238E27FC236}">
                <a16:creationId xmlns:a16="http://schemas.microsoft.com/office/drawing/2014/main" id="{86233082-5315-4B8B-AE57-8EC41B5E3B25}"/>
              </a:ext>
            </a:extLst>
          </p:cNvPr>
          <p:cNvSpPr>
            <a:spLocks noGrp="1"/>
          </p:cNvSpPr>
          <p:nvPr>
            <p:ph type="body" idx="1"/>
          </p:nvPr>
        </p:nvSpPr>
        <p:spPr>
          <a:xfrm>
            <a:off x="838200" y="1826685"/>
            <a:ext cx="10515600" cy="4351867"/>
          </a:xfrm>
          <a:prstGeom prst="rect">
            <a:avLst/>
          </a:prstGeom>
          <a:noFill/>
          <a:ln>
            <a:noFill/>
          </a:ln>
        </p:spPr>
        <p:txBody>
          <a:bodyPr vert="horz" wrap="square" lIns="65019" tIns="32509" rIns="65019" bIns="32509" anchor="t"/>
          <a:lstStyle/>
          <a:p>
            <a:pPr lvl="0">
              <a:buNone/>
            </a:pPr>
            <a:r>
              <a:t>单击此处编辑母版文本样式</a:t>
            </a:r>
          </a:p>
          <a:p>
            <a:pPr lvl="1">
              <a:buNone/>
            </a:pPr>
            <a:r>
              <a:t>第二级</a:t>
            </a:r>
          </a:p>
          <a:p>
            <a:pPr lvl="2">
              <a:buNone/>
            </a:pPr>
            <a:r>
              <a:t>第三级</a:t>
            </a:r>
          </a:p>
          <a:p>
            <a:pPr lvl="3">
              <a:buNone/>
            </a:pPr>
            <a:r>
              <a:t>第四级</a:t>
            </a:r>
          </a:p>
          <a:p>
            <a:pPr lvl="4">
              <a:buNone/>
            </a:pPr>
            <a:r>
              <a:t>第五级</a:t>
            </a:r>
          </a:p>
        </p:txBody>
      </p:sp>
      <p:sp>
        <p:nvSpPr>
          <p:cNvPr id="4" name="日期占位符 3">
            <a:extLst>
              <a:ext uri="{FF2B5EF4-FFF2-40B4-BE49-F238E27FC236}">
                <a16:creationId xmlns:a16="http://schemas.microsoft.com/office/drawing/2014/main" id="{00159EDC-FC9C-46E9-9B21-874A8A61675B}"/>
              </a:ext>
            </a:extLst>
          </p:cNvPr>
          <p:cNvSpPr>
            <a:spLocks noGrp="1"/>
          </p:cNvSpPr>
          <p:nvPr>
            <p:ph type="dt" idx="2"/>
          </p:nvPr>
        </p:nvSpPr>
        <p:spPr>
          <a:xfrm>
            <a:off x="838200" y="6356353"/>
            <a:ext cx="2743200" cy="364067"/>
          </a:xfrm>
          <a:prstGeom prst="rect">
            <a:avLst/>
          </a:prstGeom>
        </p:spPr>
        <p:txBody>
          <a:bodyPr vert="horz" lIns="65019" tIns="32509" rIns="65019" bIns="32509" anchor="ctr"/>
          <a:lstStyle>
            <a:lvl1pPr algn="l" defTabSz="1218323">
              <a:buNone/>
              <a:defRPr sz="1200">
                <a:solidFill>
                  <a:prstClr val="black">
                    <a:tint val="75000"/>
                  </a:prstClr>
                </a:solidFill>
                <a:latin typeface="+mn-lt"/>
                <a:ea typeface="+mn-lt"/>
                <a:cs typeface="+mn-lt"/>
              </a:defRPr>
            </a:lvl1pPr>
          </a:lstStyle>
          <a:p>
            <a:pPr>
              <a:buNone/>
            </a:pPr>
            <a:fld id="{292F71EF-02F8-4FDD-93F8-D030AB7FC83F}" type="datetimeFigureOut">
              <a:t>2026/9/7</a:t>
            </a:fld>
            <a:endParaRPr/>
          </a:p>
        </p:txBody>
      </p:sp>
      <p:sp>
        <p:nvSpPr>
          <p:cNvPr id="5" name="页脚占位符 4">
            <a:extLst>
              <a:ext uri="{FF2B5EF4-FFF2-40B4-BE49-F238E27FC236}">
                <a16:creationId xmlns:a16="http://schemas.microsoft.com/office/drawing/2014/main" id="{F7D6B1E0-9C14-4FFB-8B26-287FA97D068D}"/>
              </a:ext>
            </a:extLst>
          </p:cNvPr>
          <p:cNvSpPr>
            <a:spLocks noGrp="1"/>
          </p:cNvSpPr>
          <p:nvPr>
            <p:ph type="ftr" idx="3"/>
          </p:nvPr>
        </p:nvSpPr>
        <p:spPr>
          <a:xfrm>
            <a:off x="4038600" y="6356353"/>
            <a:ext cx="4114800" cy="364067"/>
          </a:xfrm>
          <a:prstGeom prst="rect">
            <a:avLst/>
          </a:prstGeom>
        </p:spPr>
        <p:txBody>
          <a:bodyPr vert="horz" lIns="65019" tIns="32509" rIns="65019" bIns="32509" anchor="ctr"/>
          <a:lstStyle>
            <a:lvl1pPr algn="ctr" defTabSz="1218323">
              <a:buNone/>
              <a:defRPr sz="1200">
                <a:solidFill>
                  <a:prstClr val="black">
                    <a:tint val="75000"/>
                  </a:prstClr>
                </a:solidFill>
                <a:latin typeface="+mn-lt"/>
                <a:ea typeface="+mn-lt"/>
                <a:cs typeface="+mn-lt"/>
              </a:defRPr>
            </a:lvl1pPr>
          </a:lstStyle>
          <a:p>
            <a:pPr>
              <a:buNone/>
            </a:pPr>
            <a:endParaRPr/>
          </a:p>
        </p:txBody>
      </p:sp>
      <p:sp>
        <p:nvSpPr>
          <p:cNvPr id="6" name="灯片编号占位符 5">
            <a:extLst>
              <a:ext uri="{FF2B5EF4-FFF2-40B4-BE49-F238E27FC236}">
                <a16:creationId xmlns:a16="http://schemas.microsoft.com/office/drawing/2014/main" id="{96171AD2-D63B-4944-8A4A-B20C7084E0B5}"/>
              </a:ext>
            </a:extLst>
          </p:cNvPr>
          <p:cNvSpPr>
            <a:spLocks noGrp="1"/>
          </p:cNvSpPr>
          <p:nvPr>
            <p:ph type="sldNum" idx="4"/>
          </p:nvPr>
        </p:nvSpPr>
        <p:spPr>
          <a:xfrm>
            <a:off x="8610600" y="6356353"/>
            <a:ext cx="2743200" cy="364067"/>
          </a:xfrm>
          <a:prstGeom prst="rect">
            <a:avLst/>
          </a:prstGeom>
        </p:spPr>
        <p:txBody>
          <a:bodyPr vert="horz" wrap="square" lIns="65019" tIns="32509" rIns="65019" bIns="32509" anchor="ctr"/>
          <a:lstStyle>
            <a:lvl1pPr algn="r" defTabSz="1216630">
              <a:buNone/>
              <a:defRPr sz="1200">
                <a:solidFill>
                  <a:srgbClr val="898989"/>
                </a:solidFill>
              </a:defRPr>
            </a:lvl1pPr>
          </a:lstStyle>
          <a:p>
            <a:pPr>
              <a:buNone/>
            </a:pPr>
            <a:fld id="{D728AC88-674E-4151-AFDC-B7C47BAC839D}" type="slidenum">
              <a:t>‹#›</a:t>
            </a:fld>
            <a:endParaRPr/>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Lst>
  <p:txStyles>
    <p:titleStyle>
      <a:lvl1pPr algn="l" defTabSz="865272">
        <a:lnSpc>
          <a:spcPct val="90000"/>
        </a:lnSpc>
        <a:spcBef>
          <a:spcPct val="0"/>
        </a:spcBef>
        <a:spcAft>
          <a:spcPct val="0"/>
        </a:spcAft>
        <a:buNone/>
        <a:defRPr sz="4133" kern="1200">
          <a:solidFill>
            <a:schemeClr val="tx1"/>
          </a:solidFill>
          <a:latin typeface="Calibri"/>
          <a:ea typeface="Calibri"/>
          <a:cs typeface="Calibri"/>
        </a:defRPr>
      </a:lvl1pPr>
      <a:lvl2pPr algn="l" defTabSz="865272">
        <a:lnSpc>
          <a:spcPct val="90000"/>
        </a:lnSpc>
        <a:spcBef>
          <a:spcPct val="0"/>
        </a:spcBef>
        <a:spcAft>
          <a:spcPct val="0"/>
        </a:spcAft>
        <a:buNone/>
        <a:defRPr sz="4133">
          <a:solidFill>
            <a:schemeClr val="tx1"/>
          </a:solidFill>
          <a:latin typeface="Calibri Light"/>
          <a:ea typeface="Calibri Light"/>
          <a:cs typeface="Calibri Light"/>
        </a:defRPr>
      </a:lvl2pPr>
      <a:lvl3pPr algn="l" defTabSz="865272">
        <a:lnSpc>
          <a:spcPct val="90000"/>
        </a:lnSpc>
        <a:spcBef>
          <a:spcPct val="0"/>
        </a:spcBef>
        <a:spcAft>
          <a:spcPct val="0"/>
        </a:spcAft>
        <a:buNone/>
        <a:defRPr sz="4133">
          <a:solidFill>
            <a:schemeClr val="tx1"/>
          </a:solidFill>
          <a:latin typeface="Calibri Light"/>
          <a:ea typeface="Calibri Light"/>
          <a:cs typeface="Calibri Light"/>
        </a:defRPr>
      </a:lvl3pPr>
      <a:lvl4pPr algn="l" defTabSz="865272">
        <a:lnSpc>
          <a:spcPct val="90000"/>
        </a:lnSpc>
        <a:spcBef>
          <a:spcPct val="0"/>
        </a:spcBef>
        <a:spcAft>
          <a:spcPct val="0"/>
        </a:spcAft>
        <a:buNone/>
        <a:defRPr sz="4133">
          <a:solidFill>
            <a:schemeClr val="tx1"/>
          </a:solidFill>
          <a:latin typeface="Calibri Light"/>
          <a:ea typeface="Calibri Light"/>
          <a:cs typeface="Calibri Light"/>
        </a:defRPr>
      </a:lvl4pPr>
      <a:lvl5pPr algn="l" defTabSz="865272">
        <a:lnSpc>
          <a:spcPct val="90000"/>
        </a:lnSpc>
        <a:spcBef>
          <a:spcPct val="0"/>
        </a:spcBef>
        <a:spcAft>
          <a:spcPct val="0"/>
        </a:spcAft>
        <a:buNone/>
        <a:defRPr sz="4133">
          <a:solidFill>
            <a:schemeClr val="tx1"/>
          </a:solidFill>
          <a:latin typeface="Calibri Light"/>
          <a:ea typeface="Calibri Light"/>
          <a:cs typeface="Calibri Light"/>
        </a:defRPr>
      </a:lvl5pPr>
      <a:lvl6pPr marL="609585" algn="l" defTabSz="865272">
        <a:lnSpc>
          <a:spcPct val="90000"/>
        </a:lnSpc>
        <a:spcBef>
          <a:spcPct val="0"/>
        </a:spcBef>
        <a:spcAft>
          <a:spcPct val="0"/>
        </a:spcAft>
        <a:buNone/>
        <a:defRPr sz="4133">
          <a:solidFill>
            <a:schemeClr val="tx1"/>
          </a:solidFill>
          <a:latin typeface="Calibri Light"/>
          <a:ea typeface="Calibri Light"/>
          <a:cs typeface="Calibri Light"/>
        </a:defRPr>
      </a:lvl6pPr>
      <a:lvl7pPr marL="1219170" algn="l" defTabSz="865272">
        <a:lnSpc>
          <a:spcPct val="90000"/>
        </a:lnSpc>
        <a:spcBef>
          <a:spcPct val="0"/>
        </a:spcBef>
        <a:spcAft>
          <a:spcPct val="0"/>
        </a:spcAft>
        <a:buNone/>
        <a:defRPr sz="4133">
          <a:solidFill>
            <a:schemeClr val="tx1"/>
          </a:solidFill>
          <a:latin typeface="Calibri Light"/>
          <a:ea typeface="Calibri Light"/>
          <a:cs typeface="Calibri Light"/>
        </a:defRPr>
      </a:lvl7pPr>
      <a:lvl8pPr marL="1828754" algn="l" defTabSz="865272">
        <a:lnSpc>
          <a:spcPct val="90000"/>
        </a:lnSpc>
        <a:spcBef>
          <a:spcPct val="0"/>
        </a:spcBef>
        <a:spcAft>
          <a:spcPct val="0"/>
        </a:spcAft>
        <a:buNone/>
        <a:defRPr sz="4133">
          <a:solidFill>
            <a:schemeClr val="tx1"/>
          </a:solidFill>
          <a:latin typeface="Calibri Light"/>
          <a:ea typeface="Calibri Light"/>
          <a:cs typeface="Calibri Light"/>
        </a:defRPr>
      </a:lvl8pPr>
      <a:lvl9pPr marL="2438339" algn="l" defTabSz="865272">
        <a:lnSpc>
          <a:spcPct val="90000"/>
        </a:lnSpc>
        <a:spcBef>
          <a:spcPct val="0"/>
        </a:spcBef>
        <a:spcAft>
          <a:spcPct val="0"/>
        </a:spcAft>
        <a:buNone/>
        <a:defRPr sz="4133">
          <a:solidFill>
            <a:schemeClr val="tx1"/>
          </a:solidFill>
          <a:latin typeface="Calibri Light"/>
          <a:ea typeface="Calibri Light"/>
          <a:cs typeface="Calibri Light"/>
        </a:defRPr>
      </a:lvl9pPr>
    </p:titleStyle>
    <p:bodyStyle>
      <a:lvl1pPr marL="215895" indent="-215895" algn="l" defTabSz="865272">
        <a:lnSpc>
          <a:spcPct val="90000"/>
        </a:lnSpc>
        <a:spcBef>
          <a:spcPts val="953"/>
        </a:spcBef>
        <a:spcAft>
          <a:spcPct val="0"/>
        </a:spcAft>
        <a:buFont typeface="Arial"/>
        <a:buChar char="•"/>
        <a:defRPr sz="2667" kern="1200">
          <a:solidFill>
            <a:schemeClr val="tx1"/>
          </a:solidFill>
          <a:latin typeface="+mn-lt"/>
          <a:ea typeface="+mn-lt"/>
          <a:cs typeface="+mn-lt"/>
        </a:defRPr>
      </a:lvl1pPr>
      <a:lvl2pPr marL="650224" indent="-215895" algn="l" defTabSz="865272">
        <a:lnSpc>
          <a:spcPct val="90000"/>
        </a:lnSpc>
        <a:spcBef>
          <a:spcPts val="467"/>
        </a:spcBef>
        <a:spcAft>
          <a:spcPct val="0"/>
        </a:spcAft>
        <a:buFont typeface="Arial"/>
        <a:buChar char="•"/>
        <a:defRPr sz="2267" kern="1200">
          <a:solidFill>
            <a:schemeClr val="tx1"/>
          </a:solidFill>
          <a:latin typeface="+mn-lt"/>
          <a:ea typeface="+mn-lt"/>
          <a:cs typeface="+mn-lt"/>
        </a:defRPr>
      </a:lvl2pPr>
      <a:lvl3pPr marL="1082013" indent="-215895" algn="l" defTabSz="865272">
        <a:lnSpc>
          <a:spcPct val="90000"/>
        </a:lnSpc>
        <a:spcBef>
          <a:spcPts val="467"/>
        </a:spcBef>
        <a:spcAft>
          <a:spcPct val="0"/>
        </a:spcAft>
        <a:buFont typeface="Arial"/>
        <a:buChar char="•"/>
        <a:defRPr sz="1867" kern="1200">
          <a:solidFill>
            <a:schemeClr val="tx1"/>
          </a:solidFill>
          <a:latin typeface="+mn-lt"/>
          <a:ea typeface="+mn-lt"/>
          <a:cs typeface="+mn-lt"/>
        </a:defRPr>
      </a:lvl3pPr>
      <a:lvl4pPr marL="1515495" indent="-215895" algn="l" defTabSz="865272">
        <a:lnSpc>
          <a:spcPct val="90000"/>
        </a:lnSpc>
        <a:spcBef>
          <a:spcPts val="467"/>
        </a:spcBef>
        <a:spcAft>
          <a:spcPct val="0"/>
        </a:spcAft>
        <a:buFont typeface="Arial"/>
        <a:buChar char="•"/>
        <a:defRPr sz="1733" kern="1200">
          <a:solidFill>
            <a:schemeClr val="tx1"/>
          </a:solidFill>
          <a:latin typeface="+mn-lt"/>
          <a:ea typeface="+mn-lt"/>
          <a:cs typeface="+mn-lt"/>
        </a:defRPr>
      </a:lvl4pPr>
      <a:lvl5pPr marL="1949825" indent="-215895" algn="l" defTabSz="865272">
        <a:lnSpc>
          <a:spcPct val="90000"/>
        </a:lnSpc>
        <a:spcBef>
          <a:spcPts val="467"/>
        </a:spcBef>
        <a:spcAft>
          <a:spcPct val="0"/>
        </a:spcAft>
        <a:buFont typeface="Arial"/>
        <a:buChar char="•"/>
        <a:defRPr sz="1733" kern="1200">
          <a:solidFill>
            <a:schemeClr val="tx1"/>
          </a:solidFill>
          <a:latin typeface="+mn-lt"/>
          <a:ea typeface="+mn-lt"/>
          <a:cs typeface="+mn-lt"/>
        </a:defRPr>
      </a:lvl5pPr>
      <a:lvl6pPr marL="2384154" indent="-216741" algn="l" defTabSz="866118">
        <a:lnSpc>
          <a:spcPct val="90000"/>
        </a:lnSpc>
        <a:spcBef>
          <a:spcPts val="473"/>
        </a:spcBef>
        <a:buFont typeface="Arial"/>
        <a:buChar char="•"/>
        <a:defRPr sz="1733" kern="1200">
          <a:solidFill>
            <a:schemeClr val="tx1"/>
          </a:solidFill>
          <a:latin typeface="+mn-lt"/>
          <a:ea typeface="+mn-lt"/>
          <a:cs typeface="+mn-lt"/>
        </a:defRPr>
      </a:lvl6pPr>
      <a:lvl7pPr marL="2817636" indent="-216741" algn="l" defTabSz="866118">
        <a:lnSpc>
          <a:spcPct val="90000"/>
        </a:lnSpc>
        <a:spcBef>
          <a:spcPts val="473"/>
        </a:spcBef>
        <a:buFont typeface="Arial"/>
        <a:buChar char="•"/>
        <a:defRPr sz="1733" kern="1200">
          <a:solidFill>
            <a:schemeClr val="tx1"/>
          </a:solidFill>
          <a:latin typeface="+mn-lt"/>
          <a:ea typeface="+mn-lt"/>
          <a:cs typeface="+mn-lt"/>
        </a:defRPr>
      </a:lvl7pPr>
      <a:lvl8pPr marL="3251119" indent="-216741" algn="l" defTabSz="866118">
        <a:lnSpc>
          <a:spcPct val="90000"/>
        </a:lnSpc>
        <a:spcBef>
          <a:spcPts val="473"/>
        </a:spcBef>
        <a:buFont typeface="Arial"/>
        <a:buChar char="•"/>
        <a:defRPr sz="1733" kern="1200">
          <a:solidFill>
            <a:schemeClr val="tx1"/>
          </a:solidFill>
          <a:latin typeface="+mn-lt"/>
          <a:ea typeface="+mn-lt"/>
          <a:cs typeface="+mn-lt"/>
        </a:defRPr>
      </a:lvl8pPr>
      <a:lvl9pPr marL="3684601" indent="-216741" algn="l" defTabSz="866118">
        <a:lnSpc>
          <a:spcPct val="90000"/>
        </a:lnSpc>
        <a:spcBef>
          <a:spcPts val="473"/>
        </a:spcBef>
        <a:buFont typeface="Arial"/>
        <a:buChar char="•"/>
        <a:defRPr sz="1733" kern="1200">
          <a:solidFill>
            <a:schemeClr val="tx1"/>
          </a:solidFill>
          <a:latin typeface="+mn-lt"/>
          <a:ea typeface="+mn-lt"/>
          <a:cs typeface="+mn-lt"/>
        </a:defRPr>
      </a:lvl9pPr>
    </p:bodyStyle>
    <p:otherStyle>
      <a:lvl1pPr marL="0" algn="l" defTabSz="866118">
        <a:buNone/>
        <a:defRPr sz="1733" kern="1200">
          <a:solidFill>
            <a:schemeClr val="tx1"/>
          </a:solidFill>
          <a:latin typeface="+mn-lt"/>
          <a:ea typeface="+mn-lt"/>
          <a:cs typeface="+mn-lt"/>
        </a:defRPr>
      </a:lvl1pPr>
      <a:lvl2pPr marL="433482" algn="l" defTabSz="866118">
        <a:buNone/>
        <a:defRPr sz="1733" kern="1200">
          <a:solidFill>
            <a:schemeClr val="tx1"/>
          </a:solidFill>
          <a:latin typeface="+mn-lt"/>
          <a:ea typeface="+mn-lt"/>
          <a:cs typeface="+mn-lt"/>
        </a:defRPr>
      </a:lvl2pPr>
      <a:lvl3pPr marL="866965" algn="l" defTabSz="866118">
        <a:buNone/>
        <a:defRPr sz="1733" kern="1200">
          <a:solidFill>
            <a:schemeClr val="tx1"/>
          </a:solidFill>
          <a:latin typeface="+mn-lt"/>
          <a:ea typeface="+mn-lt"/>
          <a:cs typeface="+mn-lt"/>
        </a:defRPr>
      </a:lvl3pPr>
      <a:lvl4pPr marL="1300447" algn="l" defTabSz="866118">
        <a:buNone/>
        <a:defRPr sz="1733" kern="1200">
          <a:solidFill>
            <a:schemeClr val="tx1"/>
          </a:solidFill>
          <a:latin typeface="+mn-lt"/>
          <a:ea typeface="+mn-lt"/>
          <a:cs typeface="+mn-lt"/>
        </a:defRPr>
      </a:lvl4pPr>
      <a:lvl5pPr marL="1733930" algn="l" defTabSz="866118">
        <a:buNone/>
        <a:defRPr sz="1733" kern="1200">
          <a:solidFill>
            <a:schemeClr val="tx1"/>
          </a:solidFill>
          <a:latin typeface="+mn-lt"/>
          <a:ea typeface="+mn-lt"/>
          <a:cs typeface="+mn-lt"/>
        </a:defRPr>
      </a:lvl5pPr>
      <a:lvl6pPr marL="2167412" algn="l" defTabSz="866118">
        <a:buNone/>
        <a:defRPr sz="1733" kern="1200">
          <a:solidFill>
            <a:schemeClr val="tx1"/>
          </a:solidFill>
          <a:latin typeface="+mn-lt"/>
          <a:ea typeface="+mn-lt"/>
          <a:cs typeface="+mn-lt"/>
        </a:defRPr>
      </a:lvl6pPr>
      <a:lvl7pPr marL="2600895" algn="l" defTabSz="866118">
        <a:buNone/>
        <a:defRPr sz="1733" kern="1200">
          <a:solidFill>
            <a:schemeClr val="tx1"/>
          </a:solidFill>
          <a:latin typeface="+mn-lt"/>
          <a:ea typeface="+mn-lt"/>
          <a:cs typeface="+mn-lt"/>
        </a:defRPr>
      </a:lvl7pPr>
      <a:lvl8pPr marL="3034377" algn="l" defTabSz="866118">
        <a:buNone/>
        <a:defRPr sz="1733" kern="1200">
          <a:solidFill>
            <a:schemeClr val="tx1"/>
          </a:solidFill>
          <a:latin typeface="+mn-lt"/>
          <a:ea typeface="+mn-lt"/>
          <a:cs typeface="+mn-lt"/>
        </a:defRPr>
      </a:lvl8pPr>
      <a:lvl9pPr marL="3467860" algn="l" defTabSz="866118">
        <a:buNone/>
        <a:defRPr sz="1733"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矩形 62">
            <a:extLst>
              <a:ext uri="{FF2B5EF4-FFF2-40B4-BE49-F238E27FC236}">
                <a16:creationId xmlns:a16="http://schemas.microsoft.com/office/drawing/2014/main" id="{2AFE1FA7-4B66-4A9F-984E-BB326964C74E}"/>
              </a:ext>
            </a:extLst>
          </p:cNvPr>
          <p:cNvSpPr>
            <a:spLocks noGrp="1"/>
          </p:cNvSpPr>
          <p:nvPr/>
        </p:nvSpPr>
        <p:spPr>
          <a:xfrm>
            <a:off x="0" y="1513114"/>
            <a:ext cx="12192000" cy="2376715"/>
          </a:xfrm>
          <a:prstGeom prst="rect">
            <a:avLst/>
          </a:prstGeom>
          <a:gradFill rotWithShape="1">
            <a:gsLst>
              <a:gs pos="91000">
                <a:schemeClr val="accent1">
                  <a:lumMod val="75000"/>
                </a:schemeClr>
              </a:gs>
              <a:gs pos="25000">
                <a:srgbClr val="376DC2"/>
              </a:gs>
              <a:gs pos="0">
                <a:srgbClr val="0268FE">
                  <a:lumMod val="75000"/>
                  <a:lumOff val="25000"/>
                </a:srgbClr>
              </a:gs>
            </a:gsLst>
            <a:path path="circle">
              <a:fillToRect l="100000" b="100000"/>
            </a:path>
            <a:tileRect t="-100000" r="-100000"/>
          </a:gradFill>
          <a:ln w="12700" cmpd="sng">
            <a:noFill/>
            <a:prstDash val="solid"/>
          </a:ln>
          <a:effectLst>
            <a:outerShdw blurRad="50800" dist="38100" dir="8100000" algn="tr" rotWithShape="0">
              <a:prstClr val="black">
                <a:alpha val="40000"/>
              </a:prstClr>
            </a:outerShdw>
          </a:effectLst>
        </p:spPr>
        <p:txBody>
          <a:bodyPr anchor="ctr"/>
          <a:lstStyle/>
          <a:p>
            <a:pPr algn="ctr">
              <a:buNone/>
            </a:pPr>
            <a:endParaRPr kern="0">
              <a:solidFill>
                <a:srgbClr val="FFFFFF"/>
              </a:solidFill>
              <a:latin typeface="等线"/>
              <a:ea typeface="等线"/>
              <a:cs typeface="等线"/>
            </a:endParaRPr>
          </a:p>
        </p:txBody>
      </p:sp>
      <p:sp>
        <p:nvSpPr>
          <p:cNvPr id="15" name="标题 8">
            <a:extLst>
              <a:ext uri="{FF2B5EF4-FFF2-40B4-BE49-F238E27FC236}">
                <a16:creationId xmlns:a16="http://schemas.microsoft.com/office/drawing/2014/main" id="{453F7129-0504-4CA9-9BFA-E5B0C91D7760}"/>
              </a:ext>
            </a:extLst>
          </p:cNvPr>
          <p:cNvSpPr>
            <a:spLocks noGrp="1"/>
          </p:cNvSpPr>
          <p:nvPr/>
        </p:nvSpPr>
        <p:spPr>
          <a:xfrm>
            <a:off x="4514780" y="4695050"/>
            <a:ext cx="3283986" cy="624044"/>
          </a:xfrm>
          <a:prstGeom prst="rect">
            <a:avLst/>
          </a:prstGeom>
        </p:spPr>
        <p:txBody>
          <a:bodyPr anchor="ctr">
            <a:noAutofit/>
          </a:bodyPr>
          <a:lstStyle>
            <a:lvl1pPr algn="ctr" defTabSz="914400">
              <a:lnSpc>
                <a:spcPct val="90000"/>
              </a:lnSpc>
              <a:spcBef>
                <a:spcPct val="0"/>
              </a:spcBef>
              <a:buNone/>
              <a:defRPr sz="5400" b="1" kern="1200">
                <a:solidFill>
                  <a:schemeClr val="accent1"/>
                </a:solidFill>
                <a:latin typeface="+mj-lt"/>
                <a:ea typeface="+mj-lt"/>
                <a:cs typeface="+mj-lt"/>
              </a:defRPr>
            </a:lvl1pPr>
          </a:lstStyle>
          <a:p>
            <a:pPr lvl="0">
              <a:lnSpc>
                <a:spcPct val="110000"/>
              </a:lnSpc>
              <a:spcBef>
                <a:spcPts val="0"/>
              </a:spcBef>
              <a:buNone/>
            </a:pPr>
            <a:r>
              <a:rPr sz="2800" i="0" u="none" cap="none">
                <a:ln>
                  <a:noFill/>
                </a:ln>
                <a:solidFill>
                  <a:schemeClr val="tx1"/>
                </a:solidFill>
                <a:latin typeface="汉仪文润宋韵 U"/>
                <a:ea typeface="汉仪文润宋韵 U"/>
                <a:cs typeface="汉仪文润宋韵 U"/>
              </a:rPr>
              <a:t>汇报人：魏鹏宇</a:t>
            </a:r>
          </a:p>
        </p:txBody>
      </p:sp>
      <p:sp>
        <p:nvSpPr>
          <p:cNvPr id="17" name="标题 8">
            <a:extLst>
              <a:ext uri="{FF2B5EF4-FFF2-40B4-BE49-F238E27FC236}">
                <a16:creationId xmlns:a16="http://schemas.microsoft.com/office/drawing/2014/main" id="{75A733F7-8760-4CC4-8DFD-EF4760B6CE4C}"/>
              </a:ext>
            </a:extLst>
          </p:cNvPr>
          <p:cNvSpPr>
            <a:spLocks noGrp="1"/>
          </p:cNvSpPr>
          <p:nvPr/>
        </p:nvSpPr>
        <p:spPr>
          <a:xfrm>
            <a:off x="4514780" y="5531496"/>
            <a:ext cx="3283986" cy="624044"/>
          </a:xfrm>
          <a:prstGeom prst="rect">
            <a:avLst/>
          </a:prstGeom>
        </p:spPr>
        <p:txBody>
          <a:bodyPr anchor="ctr">
            <a:noAutofit/>
          </a:bodyPr>
          <a:lstStyle>
            <a:lvl1pPr algn="ctr" defTabSz="914400">
              <a:lnSpc>
                <a:spcPct val="90000"/>
              </a:lnSpc>
              <a:spcBef>
                <a:spcPct val="0"/>
              </a:spcBef>
              <a:buNone/>
              <a:defRPr sz="5400" b="1" kern="1200">
                <a:solidFill>
                  <a:schemeClr val="accent1"/>
                </a:solidFill>
                <a:latin typeface="+mj-lt"/>
                <a:ea typeface="+mj-lt"/>
                <a:cs typeface="+mj-lt"/>
              </a:defRPr>
            </a:lvl1pPr>
          </a:lstStyle>
          <a:p>
            <a:pPr>
              <a:lnSpc>
                <a:spcPct val="110000"/>
              </a:lnSpc>
              <a:spcBef>
                <a:spcPts val="0"/>
              </a:spcBef>
              <a:buNone/>
            </a:pPr>
            <a:r>
              <a:rPr sz="2400" spc="300" dirty="0">
                <a:solidFill>
                  <a:schemeClr val="tx1"/>
                </a:solidFill>
                <a:latin typeface="汉仪文润宋韵 U"/>
                <a:ea typeface="汉仪文润宋韵 U"/>
                <a:cs typeface="汉仪文润宋韵 U"/>
              </a:rPr>
              <a:t>2026.09</a:t>
            </a:r>
            <a:r>
              <a:rPr lang="en-US" sz="2400" spc="300" dirty="0">
                <a:solidFill>
                  <a:schemeClr val="tx1"/>
                </a:solidFill>
                <a:latin typeface="汉仪文润宋韵 U"/>
                <a:ea typeface="汉仪文润宋韵 U"/>
                <a:cs typeface="汉仪文润宋韵 U"/>
              </a:rPr>
              <a:t>.7</a:t>
            </a:r>
            <a:endParaRPr sz="2400" spc="300" dirty="0">
              <a:solidFill>
                <a:schemeClr val="tx1"/>
              </a:solidFill>
              <a:latin typeface="汉仪文润宋韵 U"/>
              <a:ea typeface="汉仪文润宋韵 U"/>
              <a:cs typeface="汉仪文润宋韵 U"/>
            </a:endParaRPr>
          </a:p>
        </p:txBody>
      </p:sp>
      <p:sp>
        <p:nvSpPr>
          <p:cNvPr id="64" name="直接连接符 63">
            <a:extLst>
              <a:ext uri="{FF2B5EF4-FFF2-40B4-BE49-F238E27FC236}">
                <a16:creationId xmlns:a16="http://schemas.microsoft.com/office/drawing/2014/main" id="{AB104E52-D31B-4F84-930E-BB68DA292DA8}"/>
              </a:ext>
            </a:extLst>
          </p:cNvPr>
          <p:cNvSpPr>
            <a:spLocks noGrp="1"/>
          </p:cNvSpPr>
          <p:nvPr/>
        </p:nvSpPr>
        <p:spPr>
          <a:xfrm>
            <a:off x="0" y="4007608"/>
            <a:ext cx="12975771" cy="0"/>
          </a:xfrm>
          <a:prstGeom prst="line">
            <a:avLst/>
          </a:prstGeom>
          <a:noFill/>
          <a:ln w="25400">
            <a:gradFill rotWithShape="1">
              <a:gsLst>
                <a:gs pos="100000">
                  <a:schemeClr val="accent1">
                    <a:lumMod val="97000"/>
                  </a:schemeClr>
                </a:gs>
                <a:gs pos="0">
                  <a:schemeClr val="accent1">
                    <a:alpha val="0"/>
                  </a:schemeClr>
                </a:gs>
              </a:gsLst>
              <a:lin ang="10800000" scaled="1"/>
              <a:tileRect/>
            </a:gradFill>
            <a:tailEnd type="none" w="med" len="sm"/>
          </a:ln>
          <a:effectLst>
            <a:outerShdw blurRad="63500" dist="50800" dir="4800000" sx="102000" sy="102000" algn="ctr"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lstStyle/>
          <a:p>
            <a:endParaRPr lang="zh-CN" altLang="en-US"/>
          </a:p>
        </p:txBody>
      </p:sp>
      <p:sp>
        <p:nvSpPr>
          <p:cNvPr id="2" name="标题 8">
            <a:extLst>
              <a:ext uri="{FF2B5EF4-FFF2-40B4-BE49-F238E27FC236}">
                <a16:creationId xmlns:a16="http://schemas.microsoft.com/office/drawing/2014/main" id="{C744971D-495E-438A-B8C9-359A6F079A77}"/>
              </a:ext>
            </a:extLst>
          </p:cNvPr>
          <p:cNvSpPr>
            <a:spLocks noGrp="1"/>
          </p:cNvSpPr>
          <p:nvPr/>
        </p:nvSpPr>
        <p:spPr>
          <a:xfrm>
            <a:off x="161706" y="1887437"/>
            <a:ext cx="11932078" cy="1613551"/>
          </a:xfrm>
          <a:prstGeom prst="rect">
            <a:avLst/>
          </a:prstGeom>
        </p:spPr>
        <p:txBody>
          <a:bodyPr wrap="square" anchor="ctr">
            <a:noAutofit/>
          </a:bodyPr>
          <a:lstStyle>
            <a:lvl1pPr algn="ctr" defTabSz="914400">
              <a:lnSpc>
                <a:spcPct val="90000"/>
              </a:lnSpc>
              <a:spcBef>
                <a:spcPct val="0"/>
              </a:spcBef>
              <a:buNone/>
              <a:defRPr sz="5400" b="1" kern="1200">
                <a:solidFill>
                  <a:schemeClr val="accent1"/>
                </a:solidFill>
                <a:latin typeface="+mj-lt"/>
                <a:ea typeface="+mj-lt"/>
                <a:cs typeface="+mj-lt"/>
              </a:defRPr>
            </a:lvl1pPr>
          </a:lstStyle>
          <a:p>
            <a:pPr lvl="0" algn="ctr">
              <a:lnSpc>
                <a:spcPct val="125000"/>
              </a:lnSpc>
              <a:spcBef>
                <a:spcPts val="0"/>
              </a:spcBef>
              <a:buNone/>
              <a:defRPr sz="3750" b="1">
                <a:solidFill>
                  <a:srgbClr val="FFFFFF"/>
                </a:solidFill>
                <a:latin typeface="汉仪文润宋韵 U"/>
                <a:ea typeface="汉仪文润宋韵 U"/>
                <a:cs typeface="汉仪文润宋韵 U"/>
              </a:defRPr>
            </a:pPr>
            <a:r>
              <a:rPr sz="2800" b="1" i="0" u="none" cap="none" spc="0">
                <a:ln>
                  <a:noFill/>
                </a:ln>
                <a:solidFill>
                  <a:srgbClr val="FFFFFF"/>
                </a:solidFill>
                <a:latin typeface="汉仪文润宋韵 U"/>
                <a:ea typeface="汉仪文润宋韵 U"/>
                <a:cs typeface="汉仪文润宋韵 U"/>
              </a:rPr>
              <a:t>三大抽样分布与小样本估计
神经网络在 MDM 方法与直接参数估计中的研究</a:t>
            </a:r>
          </a:p>
        </p:txBody>
      </p:sp>
    </p:spTree>
    <p:extLst>
      <p:ext uri="{BB962C8B-B14F-4D97-AF65-F5344CB8AC3E}">
        <p14:creationId xmlns:p14="http://schemas.microsoft.com/office/powerpoint/2010/main" val="8410421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600" b="1" spc="-150">
                <a:solidFill>
                  <a:srgbClr val="FFFFFF"/>
                </a:solidFill>
                <a:latin typeface="汉仪文润宋韵 U"/>
                <a:ea typeface="汉仪文润宋韵 U"/>
                <a:cs typeface="汉仪文润宋韵 U"/>
              </a:rPr>
              <a:t>汇报目录</a:t>
            </a:r>
          </a:p>
        </p:txBody>
      </p:sp>
      <p:sp>
        <p:nvSpPr>
          <p:cNvPr id="7" name="content-weibull20260906s02-4">
            <a:extLst>
              <a:ext uri="{FF2B5EF4-FFF2-40B4-BE49-F238E27FC236}">
                <a16:creationId xmlns:a16="http://schemas.microsoft.com/office/drawing/2014/main" id="{1FEEDF1A-D2F3-48A5-B4B8-33F2E256EC2D}"/>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2 / 32</a:t>
            </a:r>
          </a:p>
        </p:txBody>
      </p:sp>
      <p:sp>
        <p:nvSpPr>
          <p:cNvPr id="8" name="TextBox 7"/>
          <p:cNvSpPr txBox="1"/>
          <p:nvPr/>
        </p:nvSpPr>
        <p:spPr>
          <a:xfrm>
            <a:off x="640080" y="1691640"/>
            <a:ext cx="10972800" cy="502920"/>
          </a:xfrm>
          <a:prstGeom prst="rect">
            <a:avLst/>
          </a:prstGeom>
          <a:noFill/>
        </p:spPr>
        <p:txBody>
          <a:bodyPr wrap="square">
            <a:spAutoFit/>
          </a:bodyPr>
          <a:lstStyle/>
          <a:p>
            <a:pPr>
              <a:defRPr sz="1800"/>
            </a:pPr>
            <a:r>
              <a:rPr sz="1800" dirty="0" err="1">
                <a:solidFill>
                  <a:srgbClr val="154F8C"/>
                </a:solidFill>
                <a:latin typeface="Microsoft YaHei"/>
              </a:rPr>
              <a:t>第一部分：MDM</a:t>
            </a:r>
            <a:r>
              <a:rPr sz="1800" dirty="0">
                <a:solidFill>
                  <a:srgbClr val="154F8C"/>
                </a:solidFill>
                <a:latin typeface="Microsoft YaHei"/>
              </a:rPr>
              <a:t> </a:t>
            </a:r>
            <a:r>
              <a:rPr sz="1800" dirty="0" err="1">
                <a:solidFill>
                  <a:srgbClr val="154F8C"/>
                </a:solidFill>
                <a:latin typeface="Microsoft YaHei"/>
              </a:rPr>
              <a:t>方法中偏移量的自适应调整</a:t>
            </a:r>
            <a:endParaRPr sz="2400" dirty="0">
              <a:solidFill>
                <a:srgbClr val="154F8C"/>
              </a:solidFill>
              <a:latin typeface="Microsoft YaHei"/>
            </a:endParaRPr>
          </a:p>
        </p:txBody>
      </p:sp>
      <p:sp>
        <p:nvSpPr>
          <p:cNvPr id="9" name="TextBox 8"/>
          <p:cNvSpPr txBox="1"/>
          <p:nvPr/>
        </p:nvSpPr>
        <p:spPr>
          <a:xfrm>
            <a:off x="868680" y="2240280"/>
            <a:ext cx="10424160" cy="594360"/>
          </a:xfrm>
          <a:prstGeom prst="rect">
            <a:avLst/>
          </a:prstGeom>
          <a:noFill/>
        </p:spPr>
        <p:txBody>
          <a:bodyPr wrap="square">
            <a:spAutoFit/>
          </a:bodyPr>
          <a:lstStyle/>
          <a:p>
            <a:pPr>
              <a:defRPr sz="1800"/>
            </a:pPr>
            <a:r>
              <a:rPr sz="1800" dirty="0" err="1">
                <a:solidFill>
                  <a:srgbClr val="222222"/>
                </a:solidFill>
                <a:latin typeface="Microsoft YaHei"/>
              </a:rPr>
              <a:t>统一取值有什么依据？当前样本能否支持进一步选择？</a:t>
            </a:r>
          </a:p>
        </p:txBody>
      </p:sp>
      <p:sp>
        <p:nvSpPr>
          <p:cNvPr id="10" name="TextBox 9"/>
          <p:cNvSpPr txBox="1"/>
          <p:nvPr/>
        </p:nvSpPr>
        <p:spPr>
          <a:xfrm>
            <a:off x="640080" y="3017520"/>
            <a:ext cx="10972800" cy="502920"/>
          </a:xfrm>
          <a:prstGeom prst="rect">
            <a:avLst/>
          </a:prstGeom>
          <a:noFill/>
        </p:spPr>
        <p:txBody>
          <a:bodyPr wrap="square">
            <a:spAutoFit/>
          </a:bodyPr>
          <a:lstStyle/>
          <a:p>
            <a:pPr>
              <a:defRPr sz="1800"/>
            </a:pPr>
            <a:r>
              <a:rPr sz="1800" dirty="0" err="1">
                <a:solidFill>
                  <a:srgbClr val="154F8C"/>
                </a:solidFill>
                <a:latin typeface="Microsoft YaHei"/>
              </a:rPr>
              <a:t>第二部分：直接参数估计与过程量优化的比较</a:t>
            </a:r>
            <a:endParaRPr sz="2400" dirty="0">
              <a:solidFill>
                <a:srgbClr val="154F8C"/>
              </a:solidFill>
              <a:latin typeface="Microsoft YaHei"/>
            </a:endParaRPr>
          </a:p>
        </p:txBody>
      </p:sp>
      <p:sp>
        <p:nvSpPr>
          <p:cNvPr id="11" name="TextBox 10"/>
          <p:cNvSpPr txBox="1"/>
          <p:nvPr/>
        </p:nvSpPr>
        <p:spPr>
          <a:xfrm>
            <a:off x="868680" y="3566160"/>
            <a:ext cx="10424160" cy="594360"/>
          </a:xfrm>
          <a:prstGeom prst="rect">
            <a:avLst/>
          </a:prstGeom>
          <a:noFill/>
        </p:spPr>
        <p:txBody>
          <a:bodyPr wrap="square">
            <a:spAutoFit/>
          </a:bodyPr>
          <a:lstStyle/>
          <a:p>
            <a:pPr>
              <a:defRPr sz="1800"/>
            </a:pPr>
            <a:r>
              <a:rPr sz="1800" dirty="0" err="1">
                <a:solidFill>
                  <a:srgbClr val="222222"/>
                </a:solidFill>
                <a:latin typeface="Microsoft YaHei"/>
              </a:rPr>
              <a:t>回应老师：直接估计若更好，优化</a:t>
            </a:r>
            <a:r>
              <a:rPr sz="1800" dirty="0">
                <a:solidFill>
                  <a:srgbClr val="222222"/>
                </a:solidFill>
                <a:latin typeface="Microsoft YaHei"/>
              </a:rPr>
              <a:t> MDM </a:t>
            </a:r>
            <a:r>
              <a:rPr sz="1800" dirty="0" err="1">
                <a:solidFill>
                  <a:srgbClr val="222222"/>
                </a:solidFill>
                <a:latin typeface="Microsoft YaHei"/>
              </a:rPr>
              <a:t>还有什么意义</a:t>
            </a:r>
            <a:r>
              <a:rPr sz="1800" dirty="0">
                <a:solidFill>
                  <a:srgbClr val="222222"/>
                </a:solidFill>
                <a:latin typeface="Microsoft YaHei"/>
              </a:rPr>
              <a:t>？</a:t>
            </a:r>
          </a:p>
        </p:txBody>
      </p:sp>
      <p:sp>
        <p:nvSpPr>
          <p:cNvPr id="12" name="TextBox 11"/>
          <p:cNvSpPr txBox="1"/>
          <p:nvPr/>
        </p:nvSpPr>
        <p:spPr>
          <a:xfrm>
            <a:off x="640080" y="4343400"/>
            <a:ext cx="10972800" cy="502920"/>
          </a:xfrm>
          <a:prstGeom prst="rect">
            <a:avLst/>
          </a:prstGeom>
          <a:noFill/>
        </p:spPr>
        <p:txBody>
          <a:bodyPr wrap="square">
            <a:spAutoFit/>
          </a:bodyPr>
          <a:lstStyle/>
          <a:p>
            <a:pPr>
              <a:defRPr sz="1800"/>
            </a:pPr>
            <a:r>
              <a:rPr sz="1800">
                <a:solidFill>
                  <a:srgbClr val="154F8C"/>
                </a:solidFill>
                <a:latin typeface="Microsoft YaHei"/>
              </a:rPr>
              <a:t>第三部分：直接估计中的参数目标与分位点目标</a:t>
            </a:r>
          </a:p>
        </p:txBody>
      </p:sp>
      <p:sp>
        <p:nvSpPr>
          <p:cNvPr id="13" name="TextBox 12"/>
          <p:cNvSpPr txBox="1"/>
          <p:nvPr/>
        </p:nvSpPr>
        <p:spPr>
          <a:xfrm>
            <a:off x="868680" y="4892040"/>
            <a:ext cx="10424160" cy="594360"/>
          </a:xfrm>
          <a:prstGeom prst="rect">
            <a:avLst/>
          </a:prstGeom>
          <a:noFill/>
        </p:spPr>
        <p:txBody>
          <a:bodyPr wrap="square">
            <a:spAutoFit/>
          </a:bodyPr>
          <a:lstStyle/>
          <a:p>
            <a:pPr>
              <a:defRPr sz="1800"/>
            </a:pPr>
            <a:r>
              <a:rPr sz="1800">
                <a:solidFill>
                  <a:srgbClr val="222222"/>
                </a:solidFill>
                <a:latin typeface="Microsoft YaHei"/>
              </a:rPr>
              <a:t>比较以参数准确或目标分位点准确为训练目标的差别。</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汇报安排</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00</a:t>
            </a:r>
          </a:p>
        </p:txBody>
      </p:sp>
    </p:spTree>
    <p:extLst>
      <p:ext uri="{BB962C8B-B14F-4D97-AF65-F5344CB8AC3E}">
        <p14:creationId xmlns:p14="http://schemas.microsoft.com/office/powerpoint/2010/main" val="7667939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已有经验值0.1，偏移量还能怎样选得更好？</a:t>
            </a:r>
          </a:p>
        </p:txBody>
      </p:sp>
      <p:sp>
        <p:nvSpPr>
          <p:cNvPr id="7" name="content-weibull20260906s03-4">
            <a:extLst>
              <a:ext uri="{FF2B5EF4-FFF2-40B4-BE49-F238E27FC236}">
                <a16:creationId xmlns:a16="http://schemas.microsoft.com/office/drawing/2014/main" id="{D3281064-3139-440D-BA85-813898CD4014}"/>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3 / 32</a:t>
            </a:r>
          </a:p>
        </p:txBody>
      </p:sp>
      <p:sp>
        <p:nvSpPr>
          <p:cNvPr id="8" name="TextBox 7"/>
          <p:cNvSpPr txBox="1"/>
          <p:nvPr/>
        </p:nvSpPr>
        <p:spPr>
          <a:xfrm>
            <a:off x="731520" y="1828800"/>
            <a:ext cx="10698480" cy="731520"/>
          </a:xfrm>
          <a:prstGeom prst="rect">
            <a:avLst/>
          </a:prstGeom>
          <a:noFill/>
        </p:spPr>
        <p:txBody>
          <a:bodyPr wrap="square">
            <a:spAutoFit/>
          </a:bodyPr>
          <a:lstStyle/>
          <a:p>
            <a:pPr>
              <a:defRPr sz="1800"/>
            </a:pPr>
            <a:r>
              <a:rPr sz="1800">
                <a:solidFill>
                  <a:srgbClr val="222222"/>
                </a:solidFill>
                <a:latin typeface="Microsoft YaHei"/>
              </a:rPr>
              <a:t>已有 MDM 用经验偏移量 δ = 0.1 改善小样本估计。</a:t>
            </a:r>
          </a:p>
        </p:txBody>
      </p:sp>
      <p:sp>
        <p:nvSpPr>
          <p:cNvPr id="9" name="TextBox 8"/>
          <p:cNvSpPr txBox="1"/>
          <p:nvPr/>
        </p:nvSpPr>
        <p:spPr>
          <a:xfrm>
            <a:off x="731520" y="2926080"/>
            <a:ext cx="10698480" cy="1371600"/>
          </a:xfrm>
          <a:prstGeom prst="rect">
            <a:avLst/>
          </a:prstGeom>
          <a:noFill/>
        </p:spPr>
        <p:txBody>
          <a:bodyPr wrap="square">
            <a:spAutoFit/>
          </a:bodyPr>
          <a:lstStyle/>
          <a:p>
            <a:pPr>
              <a:defRPr sz="1800"/>
            </a:pPr>
            <a:r>
              <a:rPr sz="1800">
                <a:solidFill>
                  <a:srgbClr val="154F8C"/>
                </a:solidFill>
                <a:latin typeface="Microsoft YaHei"/>
              </a:rPr>
              <a:t>这个经验值在什么条件下合适？</a:t>
            </a:r>
          </a:p>
          <a:p>
            <a:pPr>
              <a:defRPr sz="1800"/>
            </a:pPr>
            <a:r>
              <a:rPr sz="1800">
                <a:solidFill>
                  <a:srgbClr val="154F8C"/>
                </a:solidFill>
                <a:latin typeface="Microsoft YaHei"/>
              </a:rPr>
              <a:t>真参数未知时，能否根据当前样本进一步选择偏移量？</a:t>
            </a:r>
          </a:p>
        </p:txBody>
      </p:sp>
      <p:sp>
        <p:nvSpPr>
          <p:cNvPr id="10" name="TextBox 9"/>
          <p:cNvSpPr txBox="1"/>
          <p:nvPr/>
        </p:nvSpPr>
        <p:spPr>
          <a:xfrm>
            <a:off x="731520" y="4846320"/>
            <a:ext cx="10698480" cy="731520"/>
          </a:xfrm>
          <a:prstGeom prst="rect">
            <a:avLst/>
          </a:prstGeom>
          <a:noFill/>
        </p:spPr>
        <p:txBody>
          <a:bodyPr wrap="square">
            <a:spAutoFit/>
          </a:bodyPr>
          <a:lstStyle/>
          <a:p>
            <a:pPr>
              <a:defRPr sz="1800"/>
            </a:pPr>
            <a:r>
              <a:rPr sz="1800">
                <a:solidFill>
                  <a:srgbClr val="222222"/>
                </a:solidFill>
                <a:latin typeface="Microsoft YaHei"/>
              </a:rPr>
              <a:t>先检验统一取值的作用，再分析参数条件和样本差异，最后验证样本信息能否降低误差。</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MDM 方法中偏移量的自适应调整</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01</a:t>
            </a:r>
          </a:p>
        </p:txBody>
      </p:sp>
    </p:spTree>
    <p:extLst>
      <p:ext uri="{BB962C8B-B14F-4D97-AF65-F5344CB8AC3E}">
        <p14:creationId xmlns:p14="http://schemas.microsoft.com/office/powerpoint/2010/main" val="167056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当前参数域中，0.1已接近最佳统一偏移量</a:t>
            </a:r>
          </a:p>
        </p:txBody>
      </p:sp>
      <p:sp>
        <p:nvSpPr>
          <p:cNvPr id="7" name="content-weibull20260906s04-4">
            <a:extLst>
              <a:ext uri="{FF2B5EF4-FFF2-40B4-BE49-F238E27FC236}">
                <a16:creationId xmlns:a16="http://schemas.microsoft.com/office/drawing/2014/main" id="{AD6172CB-136D-4540-8469-29F423AF4112}"/>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4 / 32</a:t>
            </a:r>
          </a:p>
        </p:txBody>
      </p:sp>
      <p:pic>
        <p:nvPicPr>
          <p:cNvPr id="15" name="图片 14"/>
          <p:cNvPicPr>
            <a:picLocks noChangeAspect="1"/>
          </p:cNvPicPr>
          <p:nvPr/>
        </p:nvPicPr>
        <p:blipFill>
          <a:blip r:embed="rId3"/>
          <a:stretch/>
        </p:blipFill>
        <p:spPr>
          <a:xfrm>
            <a:off x="594360" y="2130296"/>
            <a:ext cx="7543800" cy="3420367"/>
          </a:xfrm>
          <a:prstGeom prst="rect">
            <a:avLst/>
          </a:prstGeom>
        </p:spPr>
      </p:pic>
      <p:sp>
        <p:nvSpPr>
          <p:cNvPr id="16" name="TextBox 15"/>
          <p:cNvSpPr txBox="1"/>
          <p:nvPr/>
        </p:nvSpPr>
        <p:spPr>
          <a:xfrm>
            <a:off x="594360" y="1417320"/>
            <a:ext cx="10972800" cy="548640"/>
          </a:xfrm>
          <a:prstGeom prst="rect">
            <a:avLst/>
          </a:prstGeom>
          <a:noFill/>
        </p:spPr>
        <p:txBody>
          <a:bodyPr wrap="square">
            <a:spAutoFit/>
          </a:bodyPr>
          <a:lstStyle/>
          <a:p>
            <a:pPr>
              <a:defRPr sz="1800"/>
            </a:pPr>
            <a:r>
              <a:rPr sz="1800">
                <a:solidFill>
                  <a:srgbClr val="234E78"/>
                </a:solidFill>
                <a:latin typeface="Microsoft YaHei"/>
              </a:rPr>
              <a:t>扫描26个候选偏移量，比较同一参数域中的联合误差。</a:t>
            </a:r>
          </a:p>
        </p:txBody>
      </p:sp>
      <p:sp>
        <p:nvSpPr>
          <p:cNvPr id="17" name="TextBox 16"/>
          <p:cNvSpPr txBox="1"/>
          <p:nvPr/>
        </p:nvSpPr>
        <p:spPr>
          <a:xfrm>
            <a:off x="8366760" y="2468880"/>
            <a:ext cx="3108960" cy="2468880"/>
          </a:xfrm>
          <a:prstGeom prst="rect">
            <a:avLst/>
          </a:prstGeom>
          <a:noFill/>
        </p:spPr>
        <p:txBody>
          <a:bodyPr wrap="square">
            <a:spAutoFit/>
          </a:bodyPr>
          <a:lstStyle/>
          <a:p>
            <a:pPr>
              <a:defRPr sz="1800"/>
            </a:pPr>
            <a:r>
              <a:rPr sz="1800">
                <a:solidFill>
                  <a:srgbClr val="234E78"/>
                </a:solidFill>
                <a:latin typeface="Microsoft YaHei"/>
              </a:rPr>
              <a:t>当前扫描最低点为0.06，0.10的联合误差仅高约0.93%。</a:t>
            </a:r>
          </a:p>
        </p:txBody>
      </p:sp>
      <p:sp>
        <p:nvSpPr>
          <p:cNvPr id="18" name="TextBox 17"/>
          <p:cNvSpPr txBox="1"/>
          <p:nvPr/>
        </p:nvSpPr>
        <p:spPr>
          <a:xfrm>
            <a:off x="594360" y="5669280"/>
            <a:ext cx="10972800" cy="594360"/>
          </a:xfrm>
          <a:prstGeom prst="rect">
            <a:avLst/>
          </a:prstGeom>
          <a:noFill/>
        </p:spPr>
        <p:txBody>
          <a:bodyPr wrap="square">
            <a:spAutoFit/>
          </a:bodyPr>
          <a:lstStyle/>
          <a:p>
            <a:pPr>
              <a:defRPr sz="1800"/>
            </a:pPr>
            <a:r>
              <a:rPr sz="1800">
                <a:solidFill>
                  <a:srgbClr val="234E78"/>
                </a:solidFill>
                <a:latin typeface="Microsoft YaHei"/>
              </a:rPr>
              <a:t>当前宽混合域中，更换统一常数的收益有限。</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MDM 方法中偏移量的自适应调整</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01</a:t>
            </a:r>
          </a:p>
        </p:txBody>
      </p:sp>
    </p:spTree>
    <p:extLst>
      <p:ext uri="{BB962C8B-B14F-4D97-AF65-F5344CB8AC3E}">
        <p14:creationId xmlns:p14="http://schemas.microsoft.com/office/powerpoint/2010/main" val="339590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参数空间改变后，最佳统一偏移量随之改变</a:t>
            </a:r>
          </a:p>
        </p:txBody>
      </p:sp>
      <p:sp>
        <p:nvSpPr>
          <p:cNvPr id="7" name="content-weibull20260906s05-4">
            <a:extLst>
              <a:ext uri="{FF2B5EF4-FFF2-40B4-BE49-F238E27FC236}">
                <a16:creationId xmlns:a16="http://schemas.microsoft.com/office/drawing/2014/main" id="{0A3E2724-0CB1-44DB-AD7B-3A1302A5D7F0}"/>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5 / 32</a:t>
            </a:r>
          </a:p>
        </p:txBody>
      </p:sp>
      <p:pic>
        <p:nvPicPr>
          <p:cNvPr id="15" name="图片 14"/>
          <p:cNvPicPr>
            <a:picLocks noChangeAspect="1"/>
          </p:cNvPicPr>
          <p:nvPr/>
        </p:nvPicPr>
        <p:blipFill>
          <a:blip r:embed="rId3"/>
          <a:stretch/>
        </p:blipFill>
        <p:spPr>
          <a:xfrm>
            <a:off x="415122" y="1524954"/>
            <a:ext cx="4685688" cy="5036180"/>
          </a:xfrm>
          <a:prstGeom prst="rect">
            <a:avLst/>
          </a:prstGeom>
        </p:spPr>
      </p:pic>
      <p:sp>
        <p:nvSpPr>
          <p:cNvPr id="16" name="TextBox 15"/>
          <p:cNvSpPr txBox="1"/>
          <p:nvPr/>
        </p:nvSpPr>
        <p:spPr>
          <a:xfrm>
            <a:off x="5548281" y="1997218"/>
            <a:ext cx="6231719" cy="548640"/>
          </a:xfrm>
          <a:prstGeom prst="rect">
            <a:avLst/>
          </a:prstGeom>
          <a:noFill/>
        </p:spPr>
        <p:txBody>
          <a:bodyPr wrap="square">
            <a:spAutoFit/>
          </a:bodyPr>
          <a:lstStyle/>
          <a:p>
            <a:pPr>
              <a:defRPr sz="1800"/>
            </a:pPr>
            <a:r>
              <a:rPr sz="1800" dirty="0" err="1">
                <a:solidFill>
                  <a:srgbClr val="234E78"/>
                </a:solidFill>
                <a:latin typeface="Microsoft YaHei"/>
              </a:rPr>
              <a:t>固定形状参数窗口的宽度，移动窗口位置，比较各窗口的风险曲线。</a:t>
            </a:r>
          </a:p>
        </p:txBody>
      </p:sp>
      <p:sp>
        <p:nvSpPr>
          <p:cNvPr id="17" name="TextBox 16"/>
          <p:cNvSpPr txBox="1"/>
          <p:nvPr/>
        </p:nvSpPr>
        <p:spPr>
          <a:xfrm>
            <a:off x="5548280" y="3426635"/>
            <a:ext cx="5622823" cy="369332"/>
          </a:xfrm>
          <a:prstGeom prst="rect">
            <a:avLst/>
          </a:prstGeom>
          <a:noFill/>
        </p:spPr>
        <p:txBody>
          <a:bodyPr wrap="square">
            <a:spAutoFit/>
          </a:bodyPr>
          <a:lstStyle/>
          <a:p>
            <a:pPr>
              <a:defRPr sz="1800"/>
            </a:pPr>
            <a:r>
              <a:rPr sz="1800" dirty="0">
                <a:solidFill>
                  <a:srgbClr val="234E78"/>
                </a:solidFill>
                <a:latin typeface="Microsoft YaHei"/>
              </a:rPr>
              <a:t>窗口位置改变后，最佳统一偏移量也发生变化。</a:t>
            </a:r>
          </a:p>
        </p:txBody>
      </p:sp>
      <p:sp>
        <p:nvSpPr>
          <p:cNvPr id="18" name="TextBox 17"/>
          <p:cNvSpPr txBox="1"/>
          <p:nvPr/>
        </p:nvSpPr>
        <p:spPr>
          <a:xfrm>
            <a:off x="5548281" y="5302501"/>
            <a:ext cx="4685688" cy="646331"/>
          </a:xfrm>
          <a:prstGeom prst="rect">
            <a:avLst/>
          </a:prstGeom>
          <a:noFill/>
        </p:spPr>
        <p:txBody>
          <a:bodyPr wrap="square">
            <a:spAutoFit/>
          </a:bodyPr>
          <a:lstStyle/>
          <a:p>
            <a:pPr>
              <a:defRPr sz="1800"/>
            </a:pPr>
            <a:r>
              <a:rPr sz="1800" dirty="0" err="1">
                <a:solidFill>
                  <a:srgbClr val="234E78"/>
                </a:solidFill>
                <a:latin typeface="Microsoft YaHei"/>
              </a:rPr>
              <a:t>统一取值反映给定参数域的平均风险折中，覆盖范围改变后需要重新评价。</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MDM 方法中偏移量的自适应调整</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01</a:t>
            </a:r>
          </a:p>
        </p:txBody>
      </p:sp>
    </p:spTree>
    <p:extLst>
      <p:ext uri="{BB962C8B-B14F-4D97-AF65-F5344CB8AC3E}">
        <p14:creationId xmlns:p14="http://schemas.microsoft.com/office/powerpoint/2010/main" val="1038824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按参数条件选择，比只按样本量调整收益更大</a:t>
            </a:r>
          </a:p>
        </p:txBody>
      </p:sp>
      <p:sp>
        <p:nvSpPr>
          <p:cNvPr id="7" name="content-weibull20260906s06-4">
            <a:extLst>
              <a:ext uri="{FF2B5EF4-FFF2-40B4-BE49-F238E27FC236}">
                <a16:creationId xmlns:a16="http://schemas.microsoft.com/office/drawing/2014/main" id="{C03BFF81-7FF5-46F6-9991-931E331CF904}"/>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6 / 32</a:t>
            </a:r>
          </a:p>
        </p:txBody>
      </p:sp>
      <p:pic>
        <p:nvPicPr>
          <p:cNvPr id="15" name="图片 14"/>
          <p:cNvPicPr>
            <a:picLocks noChangeAspect="1"/>
          </p:cNvPicPr>
          <p:nvPr/>
        </p:nvPicPr>
        <p:blipFill>
          <a:blip r:embed="rId3"/>
          <a:stretch/>
        </p:blipFill>
        <p:spPr>
          <a:xfrm>
            <a:off x="510760" y="1965960"/>
            <a:ext cx="6683254" cy="4157822"/>
          </a:xfrm>
          <a:prstGeom prst="rect">
            <a:avLst/>
          </a:prstGeom>
        </p:spPr>
      </p:pic>
      <p:sp>
        <p:nvSpPr>
          <p:cNvPr id="16" name="TextBox 15"/>
          <p:cNvSpPr txBox="1"/>
          <p:nvPr/>
        </p:nvSpPr>
        <p:spPr>
          <a:xfrm>
            <a:off x="594360" y="1417320"/>
            <a:ext cx="10972800" cy="548640"/>
          </a:xfrm>
          <a:prstGeom prst="rect">
            <a:avLst/>
          </a:prstGeom>
          <a:noFill/>
        </p:spPr>
        <p:txBody>
          <a:bodyPr wrap="square">
            <a:spAutoFit/>
          </a:bodyPr>
          <a:lstStyle/>
          <a:p>
            <a:pPr>
              <a:defRPr sz="1800"/>
            </a:pPr>
            <a:r>
              <a:rPr sz="1800">
                <a:solidFill>
                  <a:srgbClr val="234E78"/>
                </a:solidFill>
                <a:latin typeface="Microsoft YaHei"/>
              </a:rPr>
              <a:t>比较统一选择、按样本量选择和按真参数条件选择的误差。</a:t>
            </a:r>
          </a:p>
        </p:txBody>
      </p:sp>
      <p:sp>
        <p:nvSpPr>
          <p:cNvPr id="17" name="TextBox 16"/>
          <p:cNvSpPr txBox="1"/>
          <p:nvPr/>
        </p:nvSpPr>
        <p:spPr>
          <a:xfrm>
            <a:off x="8366760" y="2468880"/>
            <a:ext cx="3108960" cy="2468880"/>
          </a:xfrm>
          <a:prstGeom prst="rect">
            <a:avLst/>
          </a:prstGeom>
          <a:noFill/>
        </p:spPr>
        <p:txBody>
          <a:bodyPr wrap="square">
            <a:spAutoFit/>
          </a:bodyPr>
          <a:lstStyle/>
          <a:p>
            <a:pPr>
              <a:defRPr sz="1800"/>
            </a:pPr>
            <a:r>
              <a:rPr sz="1800" dirty="0">
                <a:solidFill>
                  <a:srgbClr val="234E78"/>
                </a:solidFill>
                <a:latin typeface="Microsoft YaHei"/>
              </a:rPr>
              <a:t>样本量规则改善1.17%，完整真参数条件规则改善7.79%。</a:t>
            </a:r>
          </a:p>
        </p:txBody>
      </p:sp>
      <p:sp>
        <p:nvSpPr>
          <p:cNvPr id="18" name="TextBox 17"/>
          <p:cNvSpPr txBox="1"/>
          <p:nvPr/>
        </p:nvSpPr>
        <p:spPr>
          <a:xfrm>
            <a:off x="628650" y="5939790"/>
            <a:ext cx="10972800" cy="594360"/>
          </a:xfrm>
          <a:prstGeom prst="rect">
            <a:avLst/>
          </a:prstGeom>
          <a:noFill/>
        </p:spPr>
        <p:txBody>
          <a:bodyPr wrap="square">
            <a:spAutoFit/>
          </a:bodyPr>
          <a:lstStyle/>
          <a:p>
            <a:pPr>
              <a:defRPr sz="1800"/>
            </a:pPr>
            <a:r>
              <a:rPr sz="1800" dirty="0" err="1">
                <a:solidFill>
                  <a:srgbClr val="234E78"/>
                </a:solidFill>
                <a:latin typeface="Microsoft YaHei"/>
              </a:rPr>
              <a:t>只按样本量调整收益较小，按参数条件选择可进一步降低误差。</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MDM 方法中偏移量的自适应调整</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01</a:t>
            </a:r>
          </a:p>
        </p:txBody>
      </p:sp>
    </p:spTree>
    <p:extLst>
      <p:ext uri="{BB962C8B-B14F-4D97-AF65-F5344CB8AC3E}">
        <p14:creationId xmlns:p14="http://schemas.microsoft.com/office/powerpoint/2010/main" val="7955320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真参数相同，不同样本仍有不同的低风险偏移量</a:t>
            </a:r>
          </a:p>
        </p:txBody>
      </p:sp>
      <p:sp>
        <p:nvSpPr>
          <p:cNvPr id="7" name="content-weibull20260906s07-4">
            <a:extLst>
              <a:ext uri="{FF2B5EF4-FFF2-40B4-BE49-F238E27FC236}">
                <a16:creationId xmlns:a16="http://schemas.microsoft.com/office/drawing/2014/main" id="{75D55094-FDDA-4408-92B1-30F8B1DC89D2}"/>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7 / 32</a:t>
            </a:r>
          </a:p>
        </p:txBody>
      </p:sp>
      <p:sp>
        <p:nvSpPr>
          <p:cNvPr id="8" name="TextBox 7"/>
          <p:cNvSpPr txBox="1"/>
          <p:nvPr/>
        </p:nvSpPr>
        <p:spPr>
          <a:xfrm>
            <a:off x="731520" y="1737360"/>
            <a:ext cx="10698480" cy="1188720"/>
          </a:xfrm>
          <a:prstGeom prst="rect">
            <a:avLst/>
          </a:prstGeom>
          <a:noFill/>
        </p:spPr>
        <p:txBody>
          <a:bodyPr wrap="square">
            <a:spAutoFit/>
          </a:bodyPr>
          <a:lstStyle/>
          <a:p>
            <a:pPr>
              <a:defRPr sz="1800"/>
            </a:pPr>
            <a:r>
              <a:rPr sz="1800">
                <a:solidFill>
                  <a:srgbClr val="222222"/>
                </a:solidFill>
                <a:latin typeface="Microsoft YaHei"/>
              </a:rPr>
              <a:t>L5：同一参数条件共用一个偏移量</a:t>
            </a:r>
          </a:p>
          <a:p>
            <a:pPr>
              <a:defRPr sz="1800"/>
            </a:pPr>
            <a:r>
              <a:rPr sz="1800">
                <a:solidFill>
                  <a:srgbClr val="222222"/>
                </a:solidFill>
                <a:latin typeface="Microsoft YaHei"/>
              </a:rPr>
              <a:t>L6：查看每个样本的真实候选损失，再逐样本选点</a:t>
            </a:r>
          </a:p>
        </p:txBody>
      </p:sp>
      <p:sp>
        <p:nvSpPr>
          <p:cNvPr id="9" name="TextBox 8"/>
          <p:cNvSpPr txBox="1"/>
          <p:nvPr/>
        </p:nvSpPr>
        <p:spPr>
          <a:xfrm>
            <a:off x="731520" y="3246120"/>
            <a:ext cx="10698480" cy="1097280"/>
          </a:xfrm>
          <a:prstGeom prst="rect">
            <a:avLst/>
          </a:prstGeom>
          <a:noFill/>
        </p:spPr>
        <p:txBody>
          <a:bodyPr wrap="square">
            <a:spAutoFit/>
          </a:bodyPr>
          <a:lstStyle/>
          <a:p>
            <a:pPr>
              <a:defRPr sz="1800"/>
            </a:pPr>
            <a:r>
              <a:rPr sz="1800">
                <a:solidFill>
                  <a:srgbClr val="154F8C"/>
                </a:solidFill>
                <a:latin typeface="Microsoft YaHei"/>
              </a:rPr>
              <a:t>相对固定 0.1 的误差降幅：7.79% → 21.91%</a:t>
            </a:r>
          </a:p>
          <a:p>
            <a:pPr>
              <a:defRPr sz="1800"/>
            </a:pPr>
            <a:r>
              <a:rPr sz="1800">
                <a:solidFill>
                  <a:srgbClr val="154F8C"/>
                </a:solidFill>
                <a:latin typeface="Microsoft YaHei"/>
              </a:rPr>
              <a:t>补充确认集的 L5 / L6 选点一致率：12.56%</a:t>
            </a:r>
          </a:p>
        </p:txBody>
      </p:sp>
      <p:sp>
        <p:nvSpPr>
          <p:cNvPr id="10" name="TextBox 9"/>
          <p:cNvSpPr txBox="1"/>
          <p:nvPr/>
        </p:nvSpPr>
        <p:spPr>
          <a:xfrm>
            <a:off x="731520" y="4892040"/>
            <a:ext cx="10698480" cy="868680"/>
          </a:xfrm>
          <a:prstGeom prst="rect">
            <a:avLst/>
          </a:prstGeom>
          <a:noFill/>
        </p:spPr>
        <p:txBody>
          <a:bodyPr wrap="square">
            <a:spAutoFit/>
          </a:bodyPr>
          <a:lstStyle/>
          <a:p>
            <a:pPr>
              <a:defRPr sz="1800"/>
            </a:pPr>
            <a:r>
              <a:rPr sz="1800">
                <a:solidFill>
                  <a:srgbClr val="222222"/>
                </a:solidFill>
                <a:latin typeface="Microsoft YaHei"/>
              </a:rPr>
              <a:t>同一参数条件内仍有逐样本选择空间，下一步检验这些差异怎样产生。</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MDM 方法中偏移量的自适应调整</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01</a:t>
            </a:r>
          </a:p>
        </p:txBody>
      </p:sp>
    </p:spTree>
    <p:extLst>
      <p:ext uri="{BB962C8B-B14F-4D97-AF65-F5344CB8AC3E}">
        <p14:creationId xmlns:p14="http://schemas.microsoft.com/office/powerpoint/2010/main" val="19119838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样本差异改变候选解路径和低风险偏移量</a:t>
            </a:r>
          </a:p>
        </p:txBody>
      </p:sp>
      <p:sp>
        <p:nvSpPr>
          <p:cNvPr id="7" name="content-weibull20260906s09-4">
            <a:extLst>
              <a:ext uri="{FF2B5EF4-FFF2-40B4-BE49-F238E27FC236}">
                <a16:creationId xmlns:a16="http://schemas.microsoft.com/office/drawing/2014/main" id="{5561D0AA-8709-4479-8F80-6D419FFC1DDD}"/>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8 / 32</a:t>
            </a:r>
          </a:p>
        </p:txBody>
      </p:sp>
      <p:pic>
        <p:nvPicPr>
          <p:cNvPr id="15" name="图片 14"/>
          <p:cNvPicPr>
            <a:picLocks noChangeAspect="1"/>
          </p:cNvPicPr>
          <p:nvPr/>
        </p:nvPicPr>
        <p:blipFill>
          <a:blip r:embed="rId3"/>
          <a:stretch/>
        </p:blipFill>
        <p:spPr>
          <a:xfrm>
            <a:off x="1624842" y="2103120"/>
            <a:ext cx="5482836" cy="3474720"/>
          </a:xfrm>
          <a:prstGeom prst="rect">
            <a:avLst/>
          </a:prstGeom>
        </p:spPr>
      </p:pic>
      <p:sp>
        <p:nvSpPr>
          <p:cNvPr id="16" name="TextBox 15"/>
          <p:cNvSpPr txBox="1"/>
          <p:nvPr/>
        </p:nvSpPr>
        <p:spPr>
          <a:xfrm>
            <a:off x="594360" y="1417320"/>
            <a:ext cx="10972800" cy="548640"/>
          </a:xfrm>
          <a:prstGeom prst="rect">
            <a:avLst/>
          </a:prstGeom>
          <a:noFill/>
        </p:spPr>
        <p:txBody>
          <a:bodyPr wrap="square">
            <a:spAutoFit/>
          </a:bodyPr>
          <a:lstStyle/>
          <a:p>
            <a:pPr>
              <a:defRPr sz="1800"/>
            </a:pPr>
            <a:r>
              <a:rPr sz="1800">
                <a:solidFill>
                  <a:srgbClr val="234E78"/>
                </a:solidFill>
                <a:latin typeface="Microsoft YaHei"/>
              </a:rPr>
              <a:t>比较同一真参数下不同样本的MDM估计路径和候选损失。</a:t>
            </a:r>
          </a:p>
        </p:txBody>
      </p:sp>
      <p:sp>
        <p:nvSpPr>
          <p:cNvPr id="17" name="TextBox 16"/>
          <p:cNvSpPr txBox="1"/>
          <p:nvPr/>
        </p:nvSpPr>
        <p:spPr>
          <a:xfrm>
            <a:off x="8366760" y="2468880"/>
            <a:ext cx="3108960" cy="2468880"/>
          </a:xfrm>
          <a:prstGeom prst="rect">
            <a:avLst/>
          </a:prstGeom>
          <a:noFill/>
        </p:spPr>
        <p:txBody>
          <a:bodyPr wrap="square">
            <a:spAutoFit/>
          </a:bodyPr>
          <a:lstStyle/>
          <a:p>
            <a:pPr>
              <a:defRPr sz="1800"/>
            </a:pPr>
            <a:r>
              <a:rPr sz="1800">
                <a:solidFill>
                  <a:srgbClr val="234E78"/>
                </a:solidFill>
                <a:latin typeface="Microsoft YaHei"/>
              </a:rPr>
              <a:t>样本不同，候选解路径和损失最低点也不同。</a:t>
            </a:r>
          </a:p>
        </p:txBody>
      </p:sp>
      <p:sp>
        <p:nvSpPr>
          <p:cNvPr id="18" name="TextBox 17"/>
          <p:cNvSpPr txBox="1"/>
          <p:nvPr/>
        </p:nvSpPr>
        <p:spPr>
          <a:xfrm>
            <a:off x="594360" y="5669280"/>
            <a:ext cx="10972800" cy="594360"/>
          </a:xfrm>
          <a:prstGeom prst="rect">
            <a:avLst/>
          </a:prstGeom>
          <a:noFill/>
        </p:spPr>
        <p:txBody>
          <a:bodyPr wrap="square">
            <a:spAutoFit/>
          </a:bodyPr>
          <a:lstStyle/>
          <a:p>
            <a:pPr>
              <a:defRPr sz="1800"/>
            </a:pPr>
            <a:r>
              <a:rPr sz="1800">
                <a:solidFill>
                  <a:srgbClr val="234E78"/>
                </a:solidFill>
                <a:latin typeface="Microsoft YaHei"/>
              </a:rPr>
              <a:t>偏移量调节的是当前样本的估计结果，样本差异提供了进一步选择的依据。</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MDM 方法中偏移量的自适应调整</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01</a:t>
            </a:r>
          </a:p>
        </p:txBody>
      </p:sp>
    </p:spTree>
    <p:extLst>
      <p:ext uri="{BB962C8B-B14F-4D97-AF65-F5344CB8AC3E}">
        <p14:creationId xmlns:p14="http://schemas.microsoft.com/office/powerpoint/2010/main" val="402322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不知道真参数，只看当前样本，怎样选偏移量？</a:t>
            </a:r>
          </a:p>
        </p:txBody>
      </p:sp>
      <p:sp>
        <p:nvSpPr>
          <p:cNvPr id="7" name="content-weibull20260906s07-4">
            <a:extLst>
              <a:ext uri="{FF2B5EF4-FFF2-40B4-BE49-F238E27FC236}">
                <a16:creationId xmlns:a16="http://schemas.microsoft.com/office/drawing/2014/main" id="{75D55094-FDDA-4408-92B1-30F8B1DC89D2}"/>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9 / 32</a:t>
            </a:r>
          </a:p>
        </p:txBody>
      </p:sp>
      <p:pic>
        <p:nvPicPr>
          <p:cNvPr id="19" name="图片 18"/>
          <p:cNvPicPr>
            <a:picLocks noChangeAspect="1"/>
          </p:cNvPicPr>
          <p:nvPr/>
        </p:nvPicPr>
        <p:blipFill>
          <a:blip r:embed="rId3"/>
          <a:stretch/>
        </p:blipFill>
        <p:spPr>
          <a:xfrm>
            <a:off x="415122" y="1592142"/>
            <a:ext cx="7448293" cy="4448287"/>
          </a:xfrm>
          <a:prstGeom prst="rect">
            <a:avLst/>
          </a:prstGeom>
        </p:spPr>
      </p:pic>
      <p:sp>
        <p:nvSpPr>
          <p:cNvPr id="20" name="TextBox 19"/>
          <p:cNvSpPr txBox="1"/>
          <p:nvPr/>
        </p:nvSpPr>
        <p:spPr>
          <a:xfrm>
            <a:off x="594360" y="1417320"/>
            <a:ext cx="10972800" cy="548640"/>
          </a:xfrm>
          <a:prstGeom prst="rect">
            <a:avLst/>
          </a:prstGeom>
          <a:noFill/>
        </p:spPr>
        <p:txBody>
          <a:bodyPr wrap="square">
            <a:spAutoFit/>
          </a:bodyPr>
          <a:lstStyle/>
          <a:p>
            <a:pPr>
              <a:defRPr sz="1800"/>
            </a:pPr>
            <a:r>
              <a:rPr sz="1800">
                <a:solidFill>
                  <a:srgbClr val="234E78"/>
                </a:solidFill>
                <a:latin typeface="Microsoft YaHei"/>
              </a:rPr>
              <a:t>用观测样本预测各候选偏移量的风险，选择预测风险最低的候选。</a:t>
            </a:r>
          </a:p>
        </p:txBody>
      </p:sp>
      <p:sp>
        <p:nvSpPr>
          <p:cNvPr id="21" name="TextBox 20"/>
          <p:cNvSpPr txBox="1"/>
          <p:nvPr/>
        </p:nvSpPr>
        <p:spPr>
          <a:xfrm>
            <a:off x="8366760" y="2468880"/>
            <a:ext cx="3108960" cy="2468880"/>
          </a:xfrm>
          <a:prstGeom prst="rect">
            <a:avLst/>
          </a:prstGeom>
          <a:noFill/>
        </p:spPr>
        <p:txBody>
          <a:bodyPr wrap="square">
            <a:spAutoFit/>
          </a:bodyPr>
          <a:lstStyle/>
          <a:p>
            <a:pPr>
              <a:defRPr sz="1800"/>
            </a:pPr>
            <a:r>
              <a:rPr sz="1800">
                <a:solidFill>
                  <a:srgbClr val="234E78"/>
                </a:solidFill>
                <a:latin typeface="Microsoft YaHei"/>
              </a:rPr>
              <a:t>模拟训练：用真参数计算候选损失。</a:t>
            </a:r>
          </a:p>
          <a:p>
            <a:pPr>
              <a:defRPr sz="1800"/>
            </a:pPr>
            <a:r>
              <a:rPr sz="1800">
                <a:solidFill>
                  <a:srgbClr val="234E78"/>
                </a:solidFill>
                <a:latin typeface="Microsoft YaHei"/>
              </a:rPr>
              <a:t>实际使用：只输入归一化排序样本。</a:t>
            </a:r>
          </a:p>
        </p:txBody>
      </p:sp>
      <p:sp>
        <p:nvSpPr>
          <p:cNvPr id="22" name="TextBox 21"/>
          <p:cNvSpPr txBox="1"/>
          <p:nvPr/>
        </p:nvSpPr>
        <p:spPr>
          <a:xfrm>
            <a:off x="502920" y="6139489"/>
            <a:ext cx="10972800" cy="594360"/>
          </a:xfrm>
          <a:prstGeom prst="rect">
            <a:avLst/>
          </a:prstGeom>
          <a:noFill/>
        </p:spPr>
        <p:txBody>
          <a:bodyPr wrap="square">
            <a:spAutoFit/>
          </a:bodyPr>
          <a:lstStyle/>
          <a:p>
            <a:pPr>
              <a:defRPr sz="1800"/>
            </a:pPr>
            <a:r>
              <a:rPr sz="1800" dirty="0" err="1">
                <a:solidFill>
                  <a:srgbClr val="234E78"/>
                </a:solidFill>
                <a:latin typeface="Microsoft YaHei"/>
              </a:rPr>
              <a:t>网络学习样本与候选损失的关系，所选偏移量仍交由MDM估计三个参数。</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MDM 方法中偏移量的自适应调整</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01</a:t>
            </a:r>
          </a:p>
        </p:txBody>
      </p:sp>
    </p:spTree>
    <p:extLst>
      <p:ext uri="{BB962C8B-B14F-4D97-AF65-F5344CB8AC3E}">
        <p14:creationId xmlns:p14="http://schemas.microsoft.com/office/powerpoint/2010/main" val="19119838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根据样本选择偏移量，联合误差降低7.27%</a:t>
            </a:r>
          </a:p>
        </p:txBody>
      </p:sp>
      <p:sp>
        <p:nvSpPr>
          <p:cNvPr id="7" name="content-weibull20260906s08-4">
            <a:extLst>
              <a:ext uri="{FF2B5EF4-FFF2-40B4-BE49-F238E27FC236}">
                <a16:creationId xmlns:a16="http://schemas.microsoft.com/office/drawing/2014/main" id="{88E91372-1795-48FC-910F-9B66FFC9E58D}"/>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10 / 32</a:t>
            </a:r>
          </a:p>
        </p:txBody>
      </p:sp>
      <p:pic>
        <p:nvPicPr>
          <p:cNvPr id="19" name="图片 18"/>
          <p:cNvPicPr>
            <a:picLocks noChangeAspect="1"/>
          </p:cNvPicPr>
          <p:nvPr/>
        </p:nvPicPr>
        <p:blipFill>
          <a:blip r:embed="rId3"/>
          <a:stretch/>
        </p:blipFill>
        <p:spPr>
          <a:xfrm>
            <a:off x="415121" y="1751266"/>
            <a:ext cx="7317049" cy="3918014"/>
          </a:xfrm>
          <a:prstGeom prst="rect">
            <a:avLst/>
          </a:prstGeom>
        </p:spPr>
      </p:pic>
      <p:sp>
        <p:nvSpPr>
          <p:cNvPr id="20" name="TextBox 19"/>
          <p:cNvSpPr txBox="1"/>
          <p:nvPr/>
        </p:nvSpPr>
        <p:spPr>
          <a:xfrm>
            <a:off x="594360" y="1417320"/>
            <a:ext cx="10972800" cy="548640"/>
          </a:xfrm>
          <a:prstGeom prst="rect">
            <a:avLst/>
          </a:prstGeom>
          <a:noFill/>
        </p:spPr>
        <p:txBody>
          <a:bodyPr wrap="square">
            <a:spAutoFit/>
          </a:bodyPr>
          <a:lstStyle/>
          <a:p>
            <a:pPr>
              <a:defRPr sz="1800"/>
            </a:pPr>
            <a:r>
              <a:rPr sz="1800">
                <a:solidFill>
                  <a:srgbClr val="234E78"/>
                </a:solidFill>
                <a:latin typeface="Microsoft YaHei"/>
              </a:rPr>
              <a:t>按位置尺度比水平留出，在同一批48,000组样本上比较自适应与固定偏移量。</a:t>
            </a:r>
          </a:p>
        </p:txBody>
      </p:sp>
      <p:sp>
        <p:nvSpPr>
          <p:cNvPr id="21" name="TextBox 20"/>
          <p:cNvSpPr txBox="1"/>
          <p:nvPr/>
        </p:nvSpPr>
        <p:spPr>
          <a:xfrm>
            <a:off x="8366760" y="2468880"/>
            <a:ext cx="3108960" cy="646331"/>
          </a:xfrm>
          <a:prstGeom prst="rect">
            <a:avLst/>
          </a:prstGeom>
          <a:noFill/>
        </p:spPr>
        <p:txBody>
          <a:bodyPr wrap="square">
            <a:spAutoFit/>
          </a:bodyPr>
          <a:lstStyle/>
          <a:p>
            <a:pPr>
              <a:defRPr sz="1800"/>
            </a:pPr>
            <a:r>
              <a:rPr sz="1800" dirty="0">
                <a:solidFill>
                  <a:srgbClr val="234E78"/>
                </a:solidFill>
                <a:latin typeface="Microsoft YaHei"/>
              </a:rPr>
              <a:t>联合误差由0.6304降至0.5846，降低7.27%。</a:t>
            </a:r>
          </a:p>
          <a:p>
            <a:pPr>
              <a:defRPr sz="1800"/>
            </a:pPr>
            <a:r>
              <a:rPr sz="1800" dirty="0">
                <a:solidFill>
                  <a:srgbClr val="234E78"/>
                </a:solidFill>
                <a:latin typeface="Microsoft YaHei"/>
              </a:rPr>
              <a:t>四个样本量均改善，三个参数的汇总RMSE均下降。</a:t>
            </a:r>
          </a:p>
        </p:txBody>
      </p:sp>
      <p:sp>
        <p:nvSpPr>
          <p:cNvPr id="22" name="TextBox 21"/>
          <p:cNvSpPr txBox="1"/>
          <p:nvPr/>
        </p:nvSpPr>
        <p:spPr>
          <a:xfrm>
            <a:off x="594360" y="5669280"/>
            <a:ext cx="10972800" cy="594360"/>
          </a:xfrm>
          <a:prstGeom prst="rect">
            <a:avLst/>
          </a:prstGeom>
          <a:noFill/>
        </p:spPr>
        <p:txBody>
          <a:bodyPr wrap="square">
            <a:spAutoFit/>
          </a:bodyPr>
          <a:lstStyle/>
          <a:p>
            <a:pPr>
              <a:defRPr sz="1800"/>
            </a:pPr>
            <a:r>
              <a:rPr sz="1800" dirty="0" err="1">
                <a:solidFill>
                  <a:srgbClr val="234E78"/>
                </a:solidFill>
                <a:latin typeface="Microsoft YaHei"/>
              </a:rPr>
              <a:t>观测样本提供了固定偏移量规则未充分利用的信息，并带来了实际估计收益。</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MDM 方法中偏移量的自适应调整</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01</a:t>
            </a:r>
          </a:p>
        </p:txBody>
      </p:sp>
    </p:spTree>
    <p:extLst>
      <p:ext uri="{BB962C8B-B14F-4D97-AF65-F5344CB8AC3E}">
        <p14:creationId xmlns:p14="http://schemas.microsoft.com/office/powerpoint/2010/main" val="10786494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三条结论：统一取值、自适应依据与实现方式</a:t>
            </a:r>
          </a:p>
        </p:txBody>
      </p:sp>
      <p:sp>
        <p:nvSpPr>
          <p:cNvPr id="7" name="content-weibull20260906s11-4">
            <a:extLst>
              <a:ext uri="{FF2B5EF4-FFF2-40B4-BE49-F238E27FC236}">
                <a16:creationId xmlns:a16="http://schemas.microsoft.com/office/drawing/2014/main" id="{76A23F00-45BF-4554-B9C2-905AAFF73618}"/>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11 / 32</a:t>
            </a:r>
          </a:p>
        </p:txBody>
      </p:sp>
      <p:sp>
        <p:nvSpPr>
          <p:cNvPr id="8" name="TextBox 7"/>
          <p:cNvSpPr txBox="1"/>
          <p:nvPr/>
        </p:nvSpPr>
        <p:spPr>
          <a:xfrm>
            <a:off x="731520" y="1828800"/>
            <a:ext cx="10698480" cy="731520"/>
          </a:xfrm>
          <a:prstGeom prst="rect">
            <a:avLst/>
          </a:prstGeom>
          <a:noFill/>
        </p:spPr>
        <p:txBody>
          <a:bodyPr wrap="square">
            <a:spAutoFit/>
          </a:bodyPr>
          <a:lstStyle/>
          <a:p>
            <a:pPr>
              <a:defRPr sz="1800"/>
            </a:pPr>
            <a:r>
              <a:rPr sz="1800">
                <a:solidFill>
                  <a:srgbClr val="222222"/>
                </a:solidFill>
                <a:latin typeface="Microsoft YaHei"/>
              </a:rPr>
              <a:t>1. 统一偏移量的本质是特定参数空间下的平均风险折中。</a:t>
            </a:r>
          </a:p>
          <a:p>
            <a:pPr>
              <a:defRPr sz="1800"/>
            </a:pPr>
            <a:r>
              <a:rPr sz="1800">
                <a:solidFill>
                  <a:srgbClr val="222222"/>
                </a:solidFill>
                <a:latin typeface="Microsoft YaHei"/>
              </a:rPr>
              <a:t>经验值0.1在本文宽混合参数域中接近最佳统一值，其适用性随参数域而变化。</a:t>
            </a:r>
          </a:p>
        </p:txBody>
      </p:sp>
      <p:sp>
        <p:nvSpPr>
          <p:cNvPr id="9" name="TextBox 8"/>
          <p:cNvSpPr txBox="1"/>
          <p:nvPr/>
        </p:nvSpPr>
        <p:spPr>
          <a:xfrm>
            <a:off x="731520" y="2788920"/>
            <a:ext cx="10698480" cy="731520"/>
          </a:xfrm>
          <a:prstGeom prst="rect">
            <a:avLst/>
          </a:prstGeom>
          <a:noFill/>
        </p:spPr>
        <p:txBody>
          <a:bodyPr wrap="square">
            <a:spAutoFit/>
          </a:bodyPr>
          <a:lstStyle/>
          <a:p>
            <a:pPr>
              <a:defRPr sz="1800"/>
            </a:pPr>
            <a:r>
              <a:rPr sz="1800">
                <a:solidFill>
                  <a:srgbClr val="222222"/>
                </a:solidFill>
                <a:latin typeface="Microsoft YaHei"/>
              </a:rPr>
              <a:t>2. 自适应选择的空间同时来自参数条件差异和样本实现差异。</a:t>
            </a:r>
          </a:p>
          <a:p>
            <a:pPr>
              <a:defRPr sz="1800"/>
            </a:pPr>
            <a:r>
              <a:rPr sz="1800">
                <a:solidFill>
                  <a:srgbClr val="222222"/>
                </a:solidFill>
                <a:latin typeface="Microsoft YaHei"/>
              </a:rPr>
              <a:t>即使真参数相同，不同样本也会形成不同的候选解路径和低风险偏移量。</a:t>
            </a:r>
          </a:p>
        </p:txBody>
      </p:sp>
      <p:sp>
        <p:nvSpPr>
          <p:cNvPr id="10" name="TextBox 9"/>
          <p:cNvSpPr txBox="1"/>
          <p:nvPr/>
        </p:nvSpPr>
        <p:spPr>
          <a:xfrm>
            <a:off x="731520" y="3749039"/>
            <a:ext cx="10698480" cy="731520"/>
          </a:xfrm>
          <a:prstGeom prst="rect">
            <a:avLst/>
          </a:prstGeom>
          <a:noFill/>
        </p:spPr>
        <p:txBody>
          <a:bodyPr wrap="square">
            <a:spAutoFit/>
          </a:bodyPr>
          <a:lstStyle/>
          <a:p>
            <a:pPr>
              <a:defRPr sz="1800"/>
            </a:pPr>
            <a:r>
              <a:rPr sz="1800">
                <a:solidFill>
                  <a:srgbClr val="222222"/>
                </a:solidFill>
                <a:latin typeface="Microsoft YaHei"/>
              </a:rPr>
              <a:t>3. 偏移量选择可以转化为基于当前样本的条件风险决策。</a:t>
            </a:r>
          </a:p>
          <a:p>
            <a:pPr>
              <a:defRPr sz="1800"/>
            </a:pPr>
            <a:r>
              <a:rPr sz="1800">
                <a:solidFill>
                  <a:srgbClr val="222222"/>
                </a:solidFill>
                <a:latin typeface="Microsoft YaHei"/>
              </a:rPr>
              <a:t>MLP预测候选损失并选择偏移量，无需真参数输入，联合误差降低7.27%。</a:t>
            </a:r>
          </a:p>
        </p:txBody>
      </p:sp>
      <p:sp>
        <p:nvSpPr>
          <p:cNvPr id="11" name="TextBox 10"/>
          <p:cNvSpPr txBox="1"/>
          <p:nvPr/>
        </p:nvSpPr>
        <p:spPr>
          <a:xfrm>
            <a:off x="731520" y="5029200"/>
            <a:ext cx="10698480" cy="822960"/>
          </a:xfrm>
          <a:prstGeom prst="rect">
            <a:avLst/>
          </a:prstGeom>
          <a:noFill/>
        </p:spPr>
        <p:txBody>
          <a:bodyPr wrap="square">
            <a:spAutoFit/>
          </a:bodyPr>
          <a:lstStyle/>
          <a:p>
            <a:pPr>
              <a:defRPr sz="1800"/>
            </a:pPr>
            <a:r>
              <a:rPr sz="1800">
                <a:solidFill>
                  <a:srgbClr val="154F8C"/>
                </a:solidFill>
                <a:latin typeface="Microsoft YaHei"/>
              </a:rPr>
              <a:t>统一取值的风险折中 → 参数与样本差异 → 基于样本的条件风险决策</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MDM 方法中偏移量的自适应调整</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01</a:t>
            </a:r>
          </a:p>
        </p:txBody>
      </p:sp>
    </p:spTree>
    <p:extLst>
      <p:ext uri="{BB962C8B-B14F-4D97-AF65-F5344CB8AC3E}">
        <p14:creationId xmlns:p14="http://schemas.microsoft.com/office/powerpoint/2010/main" val="3785403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411480" y="846307"/>
            <a:ext cx="11292840" cy="461665"/>
          </a:xfrm>
          <a:prstGeom prst="rect">
            <a:avLst/>
          </a:prstGeom>
          <a:noFill/>
        </p:spPr>
        <p:txBody>
          <a:bodyPr wrap="square" lIns="0">
            <a:noAutofit/>
          </a:bodyPr>
          <a:lstStyle/>
          <a:p>
            <a:pPr marL="0" lvl="0" indent="0" algn="l"/>
            <a:r>
              <a:rPr sz="2500" b="1">
                <a:solidFill>
                  <a:srgbClr val="FFFFFF"/>
                </a:solidFill>
              </a:rPr>
              <a:t>回应老师的问题：在什么参数空间比较两条路线？</a:t>
            </a:r>
          </a:p>
        </p:txBody>
      </p:sp>
      <p:sp>
        <p:nvSpPr>
          <p:cNvPr id="7" name="content-weibull20260906s12-4">
            <a:extLst>
              <a:ext uri="{FF2B5EF4-FFF2-40B4-BE49-F238E27FC236}">
                <a16:creationId xmlns:a16="http://schemas.microsoft.com/office/drawing/2014/main" id="{7151744D-6D46-455B-A44F-F3716EB849EB}"/>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12 / 32</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直接参数估计与过程量优化的比较</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02</a:t>
            </a:r>
          </a:p>
        </p:txBody>
      </p:sp>
      <p:sp>
        <p:nvSpPr>
          <p:cNvPr id="8" name="TextBox 7"/>
          <p:cNvSpPr txBox="1"/>
          <p:nvPr/>
        </p:nvSpPr>
        <p:spPr>
          <a:xfrm>
            <a:off x="594360" y="1417320"/>
            <a:ext cx="10972800" cy="502920"/>
          </a:xfrm>
          <a:prstGeom prst="rect">
            <a:avLst/>
          </a:prstGeom>
          <a:noFill/>
        </p:spPr>
        <p:txBody>
          <a:bodyPr wrap="square">
            <a:spAutoFit/>
          </a:bodyPr>
          <a:lstStyle/>
          <a:p>
            <a:r>
              <a:rPr sz="1800">
                <a:solidFill>
                  <a:srgbClr val="234E78"/>
                </a:solidFill>
                <a:latin typeface="Microsoft YaHei"/>
              </a:rPr>
              <a:t>老师您上回问：直接估计若更好，神经网络优化 MDM 还有什么意义？</a:t>
            </a:r>
          </a:p>
        </p:txBody>
      </p:sp>
      <p:graphicFrame>
        <p:nvGraphicFramePr>
          <p:cNvPr id="9" name="Table 8"/>
          <p:cNvGraphicFramePr>
            <a:graphicFrameLocks noGrp="1"/>
          </p:cNvGraphicFramePr>
          <p:nvPr/>
        </p:nvGraphicFramePr>
        <p:xfrm>
          <a:off x="594360" y="2011680"/>
          <a:ext cx="10881360" cy="324612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411480">
                <a:tc>
                  <a:txBody>
                    <a:bodyPr/>
                    <a:lstStyle/>
                    <a:p>
                      <a:r>
                        <a:rPr sz="1800">
                          <a:latin typeface="Microsoft YaHei"/>
                        </a:rPr>
                        <a:t>实验</a:t>
                      </a:r>
                    </a:p>
                  </a:txBody>
                  <a:tcPr marL="73152" marR="73152"/>
                </a:tc>
                <a:tc>
                  <a:txBody>
                    <a:bodyPr/>
                    <a:lstStyle/>
                    <a:p>
                      <a:r>
                        <a:rPr sz="1800">
                          <a:latin typeface="Microsoft YaHei"/>
                        </a:rPr>
                        <a:t>训练 β 空间</a:t>
                      </a:r>
                    </a:p>
                  </a:txBody>
                  <a:tcPr marL="73152" marR="73152"/>
                </a:tc>
                <a:tc>
                  <a:txBody>
                    <a:bodyPr/>
                    <a:lstStyle/>
                    <a:p>
                      <a:r>
                        <a:rPr sz="1800">
                          <a:latin typeface="Microsoft YaHei"/>
                        </a:rPr>
                        <a:t>测试 β 空间</a:t>
                      </a:r>
                    </a:p>
                  </a:txBody>
                  <a:tcPr marL="73152" marR="73152"/>
                </a:tc>
                <a:tc>
                  <a:txBody>
                    <a:bodyPr/>
                    <a:lstStyle/>
                    <a:p>
                      <a:r>
                        <a:rPr sz="1800">
                          <a:latin typeface="Microsoft YaHei"/>
                        </a:rPr>
                        <a:t>检验内容</a:t>
                      </a:r>
                    </a:p>
                  </a:txBody>
                  <a:tcPr marL="73152" marR="73152"/>
                </a:tc>
                <a:extLst>
                  <a:ext uri="{0D108BD9-81ED-4DB2-BD59-A6C34878D82A}">
                    <a16:rowId xmlns:a16="http://schemas.microsoft.com/office/drawing/2014/main" val="10000"/>
                  </a:ext>
                </a:extLst>
              </a:tr>
              <a:tr h="566928">
                <a:tc>
                  <a:txBody>
                    <a:bodyPr/>
                    <a:lstStyle/>
                    <a:p>
                      <a:r>
                        <a:rPr sz="1800">
                          <a:latin typeface="Microsoft YaHei"/>
                        </a:rPr>
                        <a:t>域内路线比较</a:t>
                      </a:r>
                    </a:p>
                  </a:txBody>
                  <a:tcPr marL="73152" marR="73152"/>
                </a:tc>
                <a:tc>
                  <a:txBody>
                    <a:bodyPr/>
                    <a:lstStyle/>
                    <a:p>
                      <a:r>
                        <a:rPr sz="1800">
                          <a:latin typeface="Microsoft YaHei"/>
                        </a:rPr>
                        <a:t>[1.5,5]，步长0.5</a:t>
                      </a:r>
                    </a:p>
                  </a:txBody>
                  <a:tcPr marL="73152" marR="73152"/>
                </a:tc>
                <a:tc>
                  <a:txBody>
                    <a:bodyPr/>
                    <a:lstStyle/>
                    <a:p>
                      <a:r>
                        <a:rPr sz="1800">
                          <a:latin typeface="Microsoft YaHei"/>
                        </a:rPr>
                        <a:t>原网格独立新样本</a:t>
                      </a:r>
                    </a:p>
                  </a:txBody>
                  <a:tcPr marL="73152" marR="73152"/>
                </a:tc>
                <a:tc>
                  <a:txBody>
                    <a:bodyPr/>
                    <a:lstStyle/>
                    <a:p>
                      <a:r>
                        <a:rPr sz="1800">
                          <a:latin typeface="Microsoft YaHei"/>
                        </a:rPr>
                        <a:t>匹配域内的路线精度</a:t>
                      </a:r>
                    </a:p>
                  </a:txBody>
                  <a:tcPr marL="73152" marR="73152"/>
                </a:tc>
                <a:extLst>
                  <a:ext uri="{0D108BD9-81ED-4DB2-BD59-A6C34878D82A}">
                    <a16:rowId xmlns:a16="http://schemas.microsoft.com/office/drawing/2014/main" val="10001"/>
                  </a:ext>
                </a:extLst>
              </a:tr>
              <a:tr h="566928">
                <a:tc>
                  <a:txBody>
                    <a:bodyPr/>
                    <a:lstStyle/>
                    <a:p>
                      <a:r>
                        <a:rPr sz="1800">
                          <a:latin typeface="Microsoft YaHei"/>
                        </a:rPr>
                        <a:t>域内插值检查</a:t>
                      </a:r>
                    </a:p>
                  </a:txBody>
                  <a:tcPr marL="73152" marR="73152"/>
                </a:tc>
                <a:tc>
                  <a:txBody>
                    <a:bodyPr/>
                    <a:lstStyle/>
                    <a:p>
                      <a:r>
                        <a:rPr sz="1800">
                          <a:latin typeface="Microsoft YaHei"/>
                        </a:rPr>
                        <a:t>沿用基础模型</a:t>
                      </a:r>
                    </a:p>
                  </a:txBody>
                  <a:tcPr marL="73152" marR="73152"/>
                </a:tc>
                <a:tc>
                  <a:txBody>
                    <a:bodyPr/>
                    <a:lstStyle/>
                    <a:p>
                      <a:r>
                        <a:rPr sz="1800">
                          <a:latin typeface="Microsoft YaHei"/>
                        </a:rPr>
                        <a:t>[1.75,4.75]，步长0.5</a:t>
                      </a:r>
                    </a:p>
                  </a:txBody>
                  <a:tcPr marL="73152" marR="73152"/>
                </a:tc>
                <a:tc>
                  <a:txBody>
                    <a:bodyPr/>
                    <a:lstStyle/>
                    <a:p>
                      <a:r>
                        <a:rPr sz="1800">
                          <a:latin typeface="Microsoft YaHei"/>
                        </a:rPr>
                        <a:t>新增内部点的相对优势</a:t>
                      </a:r>
                    </a:p>
                  </a:txBody>
                  <a:tcPr marL="73152" marR="73152"/>
                </a:tc>
                <a:extLst>
                  <a:ext uri="{0D108BD9-81ED-4DB2-BD59-A6C34878D82A}">
                    <a16:rowId xmlns:a16="http://schemas.microsoft.com/office/drawing/2014/main" val="10002"/>
                  </a:ext>
                </a:extLst>
              </a:tr>
              <a:tr h="777240">
                <a:tc>
                  <a:txBody>
                    <a:bodyPr/>
                    <a:lstStyle/>
                    <a:p>
                      <a:r>
                        <a:rPr sz="1800">
                          <a:latin typeface="Microsoft YaHei"/>
                        </a:rPr>
                        <a:t>双侧外推检查</a:t>
                      </a:r>
                    </a:p>
                  </a:txBody>
                  <a:tcPr marL="73152" marR="73152"/>
                </a:tc>
                <a:tc>
                  <a:txBody>
                    <a:bodyPr/>
                    <a:lstStyle/>
                    <a:p>
                      <a:r>
                        <a:rPr sz="1800">
                          <a:latin typeface="Microsoft YaHei"/>
                        </a:rPr>
                        <a:t>沿用基础模型</a:t>
                      </a:r>
                    </a:p>
                  </a:txBody>
                  <a:tcPr marL="73152" marR="73152"/>
                </a:tc>
                <a:tc>
                  <a:txBody>
                    <a:bodyPr/>
                    <a:lstStyle/>
                    <a:p>
                      <a:r>
                        <a:rPr sz="1800">
                          <a:latin typeface="Microsoft YaHei"/>
                        </a:rPr>
                        <a:t>[0.75,1.25]、[5.25,5.75]</a:t>
                      </a:r>
                    </a:p>
                    <a:p>
                      <a:r>
                        <a:rPr sz="1800">
                          <a:latin typeface="Microsoft YaHei"/>
                        </a:rPr>
                        <a:t>步长0.25</a:t>
                      </a:r>
                    </a:p>
                  </a:txBody>
                  <a:tcPr marL="73152" marR="73152"/>
                </a:tc>
                <a:tc>
                  <a:txBody>
                    <a:bodyPr/>
                    <a:lstStyle/>
                    <a:p>
                      <a:r>
                        <a:rPr sz="1800">
                          <a:latin typeface="Microsoft YaHei"/>
                        </a:rPr>
                        <a:t>外推方向是否改变优劣</a:t>
                      </a:r>
                    </a:p>
                  </a:txBody>
                  <a:tcPr marL="73152" marR="73152"/>
                </a:tc>
                <a:extLst>
                  <a:ext uri="{0D108BD9-81ED-4DB2-BD59-A6C34878D82A}">
                    <a16:rowId xmlns:a16="http://schemas.microsoft.com/office/drawing/2014/main" val="10003"/>
                  </a:ext>
                </a:extLst>
              </a:tr>
              <a:tr h="777240">
                <a:tc>
                  <a:txBody>
                    <a:bodyPr/>
                    <a:lstStyle/>
                    <a:p>
                      <a:r>
                        <a:rPr sz="1800">
                          <a:latin typeface="Microsoft YaHei"/>
                        </a:rPr>
                        <a:t>同中心扩宽</a:t>
                      </a:r>
                    </a:p>
                  </a:txBody>
                  <a:tcPr marL="73152" marR="73152"/>
                </a:tc>
                <a:tc>
                  <a:txBody>
                    <a:bodyPr/>
                    <a:lstStyle/>
                    <a:p>
                      <a:r>
                        <a:rPr sz="1800">
                          <a:latin typeface="Microsoft YaHei"/>
                        </a:rPr>
                        <a:t>[2.5,3.5]、[2,4]、</a:t>
                      </a:r>
                    </a:p>
                    <a:p>
                      <a:r>
                        <a:rPr sz="1800">
                          <a:latin typeface="Microsoft YaHei"/>
                        </a:rPr>
                        <a:t>[1,5]、[0.5,5.5]</a:t>
                      </a:r>
                    </a:p>
                  </a:txBody>
                  <a:tcPr marL="73152" marR="73152"/>
                </a:tc>
                <a:tc>
                  <a:txBody>
                    <a:bodyPr/>
                    <a:lstStyle/>
                    <a:p>
                      <a:r>
                        <a:rPr sz="1800">
                          <a:latin typeface="Microsoft YaHei"/>
                        </a:rPr>
                        <a:t>固定[2.5,3.5]</a:t>
                      </a:r>
                    </a:p>
                    <a:p>
                      <a:r>
                        <a:rPr sz="1800">
                          <a:latin typeface="Microsoft YaHei"/>
                        </a:rPr>
                        <a:t>同一批测试样本</a:t>
                      </a:r>
                    </a:p>
                  </a:txBody>
                  <a:tcPr marL="73152" marR="73152"/>
                </a:tc>
                <a:tc>
                  <a:txBody>
                    <a:bodyPr/>
                    <a:lstStyle/>
                    <a:p>
                      <a:r>
                        <a:rPr sz="1800">
                          <a:latin typeface="Microsoft YaHei"/>
                        </a:rPr>
                        <a:t>扩大覆盖的局部代价</a:t>
                      </a:r>
                    </a:p>
                  </a:txBody>
                  <a:tcPr marL="73152" marR="73152"/>
                </a:tc>
                <a:extLst>
                  <a:ext uri="{0D108BD9-81ED-4DB2-BD59-A6C34878D82A}">
                    <a16:rowId xmlns:a16="http://schemas.microsoft.com/office/drawing/2014/main" val="10004"/>
                  </a:ext>
                </a:extLst>
              </a:tr>
            </a:tbl>
          </a:graphicData>
        </a:graphic>
      </p:graphicFrame>
      <p:sp>
        <p:nvSpPr>
          <p:cNvPr id="10" name="TextBox 9"/>
          <p:cNvSpPr txBox="1"/>
          <p:nvPr/>
        </p:nvSpPr>
        <p:spPr>
          <a:xfrm>
            <a:off x="594360" y="5349240"/>
            <a:ext cx="10972800" cy="594360"/>
          </a:xfrm>
          <a:prstGeom prst="rect">
            <a:avLst/>
          </a:prstGeom>
          <a:noFill/>
        </p:spPr>
        <p:txBody>
          <a:bodyPr wrap="square">
            <a:spAutoFit/>
          </a:bodyPr>
          <a:lstStyle/>
          <a:p>
            <a:r>
              <a:rPr sz="1800">
                <a:solidFill>
                  <a:srgbClr val="234E78"/>
                </a:solidFill>
                <a:latin typeface="Microsoft YaHei"/>
              </a:rPr>
              <a:t>共同设置：η=1000；γ/η=0.10、0.25、0.50、0.75、1.00；n=7、10、15、20。</a:t>
            </a:r>
          </a:p>
        </p:txBody>
      </p:sp>
      <p:sp>
        <p:nvSpPr>
          <p:cNvPr id="11" name="TextBox 10"/>
          <p:cNvSpPr txBox="1"/>
          <p:nvPr/>
        </p:nvSpPr>
        <p:spPr>
          <a:xfrm>
            <a:off x="594360" y="5852160"/>
            <a:ext cx="10972800" cy="457200"/>
          </a:xfrm>
          <a:prstGeom prst="rect">
            <a:avLst/>
          </a:prstGeom>
          <a:noFill/>
        </p:spPr>
        <p:txBody>
          <a:bodyPr wrap="square">
            <a:spAutoFit/>
          </a:bodyPr>
          <a:lstStyle/>
          <a:p>
            <a:r>
              <a:rPr sz="1800">
                <a:solidFill>
                  <a:srgbClr val="234E78"/>
                </a:solidFill>
                <a:latin typeface="Microsoft YaHei"/>
              </a:rPr>
              <a:t>测试样本与训练独立；每项实验内各方法共用测试样本。扩宽分别控制总量与单元密度。</a:t>
            </a:r>
          </a:p>
        </p:txBody>
      </p:sp>
    </p:spTree>
    <p:extLst>
      <p:ext uri="{BB962C8B-B14F-4D97-AF65-F5344CB8AC3E}">
        <p14:creationId xmlns:p14="http://schemas.microsoft.com/office/powerpoint/2010/main" val="7508444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411480" y="846307"/>
            <a:ext cx="11292840" cy="461665"/>
          </a:xfrm>
          <a:prstGeom prst="rect">
            <a:avLst/>
          </a:prstGeom>
          <a:noFill/>
        </p:spPr>
        <p:txBody>
          <a:bodyPr wrap="square" lIns="0">
            <a:noAutofit/>
          </a:bodyPr>
          <a:lstStyle/>
          <a:p>
            <a:pPr marL="0" lvl="0" indent="0" algn="l"/>
            <a:r>
              <a:rPr sz="2500" b="1">
                <a:solidFill>
                  <a:srgbClr val="FFFFFF"/>
                </a:solidFill>
              </a:rPr>
              <a:t>在同一域内测试设计中，直接估计更准确</a:t>
            </a:r>
          </a:p>
        </p:txBody>
      </p:sp>
      <p:sp>
        <p:nvSpPr>
          <p:cNvPr id="7" name="content-weibull20260906s13-4">
            <a:extLst>
              <a:ext uri="{FF2B5EF4-FFF2-40B4-BE49-F238E27FC236}">
                <a16:creationId xmlns:a16="http://schemas.microsoft.com/office/drawing/2014/main" id="{B1F3C25E-4569-45F8-B5FD-1919955C5B6C}"/>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13 / 32</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直接参数估计与过程量优化的比较</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02</a:t>
            </a:r>
          </a:p>
        </p:txBody>
      </p:sp>
      <p:sp>
        <p:nvSpPr>
          <p:cNvPr id="8" name="TextBox 7"/>
          <p:cNvSpPr txBox="1"/>
          <p:nvPr/>
        </p:nvSpPr>
        <p:spPr>
          <a:xfrm>
            <a:off x="594360" y="1463040"/>
            <a:ext cx="10972800" cy="594360"/>
          </a:xfrm>
          <a:prstGeom prst="rect">
            <a:avLst/>
          </a:prstGeom>
          <a:noFill/>
        </p:spPr>
        <p:txBody>
          <a:bodyPr wrap="square">
            <a:spAutoFit/>
          </a:bodyPr>
          <a:lstStyle/>
          <a:p>
            <a:r>
              <a:rPr sz="1800">
                <a:solidFill>
                  <a:srgbClr val="234E78"/>
                </a:solidFill>
                <a:latin typeface="Microsoft YaHei"/>
              </a:rPr>
              <a:t>β=1.5,2.0,…,5.0；其余设置同前页。五种方法使用同一批48,000组独立新样本。</a:t>
            </a:r>
          </a:p>
        </p:txBody>
      </p:sp>
      <p:graphicFrame>
        <p:nvGraphicFramePr>
          <p:cNvPr id="9" name="Table 8"/>
          <p:cNvGraphicFramePr>
            <a:graphicFrameLocks noGrp="1"/>
          </p:cNvGraphicFramePr>
          <p:nvPr/>
        </p:nvGraphicFramePr>
        <p:xfrm>
          <a:off x="594360" y="2194560"/>
          <a:ext cx="10972800" cy="27432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457200">
                <a:tc>
                  <a:txBody>
                    <a:bodyPr/>
                    <a:lstStyle/>
                    <a:p>
                      <a:r>
                        <a:rPr sz="1800">
                          <a:latin typeface="Microsoft YaHei"/>
                        </a:rPr>
                        <a:t>方案</a:t>
                      </a:r>
                    </a:p>
                  </a:txBody>
                  <a:tcPr marL="73152" marR="73152"/>
                </a:tc>
                <a:tc>
                  <a:txBody>
                    <a:bodyPr/>
                    <a:lstStyle/>
                    <a:p>
                      <a:r>
                        <a:rPr sz="1800">
                          <a:latin typeface="Microsoft YaHei"/>
                        </a:rPr>
                        <a:t>联合参数误差 J₁</a:t>
                      </a:r>
                    </a:p>
                  </a:txBody>
                  <a:tcPr marL="73152" marR="73152"/>
                </a:tc>
                <a:extLst>
                  <a:ext uri="{0D108BD9-81ED-4DB2-BD59-A6C34878D82A}">
                    <a16:rowId xmlns:a16="http://schemas.microsoft.com/office/drawing/2014/main" val="10000"/>
                  </a:ext>
                </a:extLst>
              </a:tr>
              <a:tr h="457200">
                <a:tc>
                  <a:txBody>
                    <a:bodyPr/>
                    <a:lstStyle/>
                    <a:p>
                      <a:r>
                        <a:rPr sz="1800">
                          <a:latin typeface="Microsoft YaHei"/>
                        </a:rPr>
                        <a:t>Direct-P</a:t>
                      </a:r>
                    </a:p>
                  </a:txBody>
                  <a:tcPr marL="73152" marR="73152"/>
                </a:tc>
                <a:tc>
                  <a:txBody>
                    <a:bodyPr/>
                    <a:lstStyle/>
                    <a:p>
                      <a:r>
                        <a:rPr sz="1800">
                          <a:latin typeface="Microsoft YaHei"/>
                        </a:rPr>
                        <a:t>0.3658</a:t>
                      </a:r>
                    </a:p>
                  </a:txBody>
                  <a:tcPr marL="73152" marR="73152"/>
                </a:tc>
                <a:extLst>
                  <a:ext uri="{0D108BD9-81ED-4DB2-BD59-A6C34878D82A}">
                    <a16:rowId xmlns:a16="http://schemas.microsoft.com/office/drawing/2014/main" val="10001"/>
                  </a:ext>
                </a:extLst>
              </a:tr>
              <a:tr h="457200">
                <a:tc>
                  <a:txBody>
                    <a:bodyPr/>
                    <a:lstStyle/>
                    <a:p>
                      <a:r>
                        <a:rPr sz="1800">
                          <a:latin typeface="Microsoft YaHei"/>
                        </a:rPr>
                        <a:t>自适应 MDM</a:t>
                      </a:r>
                    </a:p>
                  </a:txBody>
                  <a:tcPr marL="73152" marR="73152"/>
                </a:tc>
                <a:tc>
                  <a:txBody>
                    <a:bodyPr/>
                    <a:lstStyle/>
                    <a:p>
                      <a:r>
                        <a:rPr sz="1800">
                          <a:latin typeface="Microsoft YaHei"/>
                        </a:rPr>
                        <a:t>0.5696</a:t>
                      </a:r>
                    </a:p>
                  </a:txBody>
                  <a:tcPr marL="73152" marR="73152"/>
                </a:tc>
                <a:extLst>
                  <a:ext uri="{0D108BD9-81ED-4DB2-BD59-A6C34878D82A}">
                    <a16:rowId xmlns:a16="http://schemas.microsoft.com/office/drawing/2014/main" val="10002"/>
                  </a:ext>
                </a:extLst>
              </a:tr>
              <a:tr h="457200">
                <a:tc>
                  <a:txBody>
                    <a:bodyPr/>
                    <a:lstStyle/>
                    <a:p>
                      <a:r>
                        <a:rPr sz="1800">
                          <a:latin typeface="Microsoft YaHei"/>
                        </a:rPr>
                        <a:t>固定 MDM-0.1</a:t>
                      </a:r>
                    </a:p>
                  </a:txBody>
                  <a:tcPr marL="73152" marR="73152"/>
                </a:tc>
                <a:tc>
                  <a:txBody>
                    <a:bodyPr/>
                    <a:lstStyle/>
                    <a:p>
                      <a:r>
                        <a:rPr sz="1800">
                          <a:latin typeface="Microsoft YaHei"/>
                        </a:rPr>
                        <a:t>0.6285</a:t>
                      </a:r>
                    </a:p>
                  </a:txBody>
                  <a:tcPr marL="73152" marR="73152"/>
                </a:tc>
                <a:extLst>
                  <a:ext uri="{0D108BD9-81ED-4DB2-BD59-A6C34878D82A}">
                    <a16:rowId xmlns:a16="http://schemas.microsoft.com/office/drawing/2014/main" val="10003"/>
                  </a:ext>
                </a:extLst>
              </a:tr>
              <a:tr h="457200">
                <a:tc>
                  <a:txBody>
                    <a:bodyPr/>
                    <a:lstStyle/>
                    <a:p>
                      <a:r>
                        <a:rPr sz="1800">
                          <a:latin typeface="Microsoft YaHei"/>
                        </a:rPr>
                        <a:t>WMLE</a:t>
                      </a:r>
                    </a:p>
                  </a:txBody>
                  <a:tcPr marL="73152" marR="73152"/>
                </a:tc>
                <a:tc>
                  <a:txBody>
                    <a:bodyPr/>
                    <a:lstStyle/>
                    <a:p>
                      <a:r>
                        <a:rPr sz="1800">
                          <a:latin typeface="Microsoft YaHei"/>
                        </a:rPr>
                        <a:t>0.7731</a:t>
                      </a:r>
                    </a:p>
                  </a:txBody>
                  <a:tcPr marL="73152" marR="73152"/>
                </a:tc>
                <a:extLst>
                  <a:ext uri="{0D108BD9-81ED-4DB2-BD59-A6C34878D82A}">
                    <a16:rowId xmlns:a16="http://schemas.microsoft.com/office/drawing/2014/main" val="10004"/>
                  </a:ext>
                </a:extLst>
              </a:tr>
              <a:tr h="457200">
                <a:tc>
                  <a:txBody>
                    <a:bodyPr/>
                    <a:lstStyle/>
                    <a:p>
                      <a:r>
                        <a:rPr sz="1800">
                          <a:latin typeface="Microsoft YaHei"/>
                        </a:rPr>
                        <a:t>LSE</a:t>
                      </a:r>
                    </a:p>
                  </a:txBody>
                  <a:tcPr marL="73152" marR="73152"/>
                </a:tc>
                <a:tc>
                  <a:txBody>
                    <a:bodyPr/>
                    <a:lstStyle/>
                    <a:p>
                      <a:r>
                        <a:rPr sz="1800">
                          <a:latin typeface="Microsoft YaHei"/>
                        </a:rPr>
                        <a:t>0.8793</a:t>
                      </a:r>
                    </a:p>
                  </a:txBody>
                  <a:tcPr marL="73152" marR="73152"/>
                </a:tc>
                <a:extLst>
                  <a:ext uri="{0D108BD9-81ED-4DB2-BD59-A6C34878D82A}">
                    <a16:rowId xmlns:a16="http://schemas.microsoft.com/office/drawing/2014/main" val="10005"/>
                  </a:ext>
                </a:extLst>
              </a:tr>
            </a:tbl>
          </a:graphicData>
        </a:graphic>
      </p:graphicFrame>
      <p:sp>
        <p:nvSpPr>
          <p:cNvPr id="10" name="TextBox 9"/>
          <p:cNvSpPr txBox="1"/>
          <p:nvPr/>
        </p:nvSpPr>
        <p:spPr>
          <a:xfrm>
            <a:off x="594360" y="5440680"/>
            <a:ext cx="10972800" cy="640080"/>
          </a:xfrm>
          <a:prstGeom prst="rect">
            <a:avLst/>
          </a:prstGeom>
          <a:noFill/>
        </p:spPr>
        <p:txBody>
          <a:bodyPr wrap="square">
            <a:spAutoFit/>
          </a:bodyPr>
          <a:lstStyle/>
          <a:p>
            <a:r>
              <a:rPr sz="1800">
                <a:solidFill>
                  <a:srgbClr val="234E78"/>
                </a:solidFill>
                <a:latin typeface="Microsoft YaHei"/>
              </a:rPr>
              <a:t>Direct-P相对自适应MDM降低35.8%；域内新增点检查中，相对优势仍保留。</a:t>
            </a:r>
          </a:p>
        </p:txBody>
      </p:sp>
    </p:spTree>
    <p:extLst>
      <p:ext uri="{BB962C8B-B14F-4D97-AF65-F5344CB8AC3E}">
        <p14:creationId xmlns:p14="http://schemas.microsoft.com/office/powerpoint/2010/main" val="20103955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600" b="1" spc="-150">
                <a:solidFill>
                  <a:srgbClr val="FFFFFF"/>
                </a:solidFill>
                <a:latin typeface="汉仪文润宋韵 U"/>
                <a:ea typeface="汉仪文润宋韵 U"/>
                <a:cs typeface="汉仪文润宋韵 U"/>
              </a:rPr>
              <a:t>外推具有方向性：低侧反转，高侧仍有优势</a:t>
            </a:r>
          </a:p>
        </p:txBody>
      </p:sp>
      <p:sp>
        <p:nvSpPr>
          <p:cNvPr id="7" name="content-weibull20260906s14-4">
            <a:extLst>
              <a:ext uri="{FF2B5EF4-FFF2-40B4-BE49-F238E27FC236}">
                <a16:creationId xmlns:a16="http://schemas.microsoft.com/office/drawing/2014/main" id="{1EDBAE78-87A0-48B7-8880-450C1886839E}"/>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14 / 32</a:t>
            </a:r>
          </a:p>
        </p:txBody>
      </p:sp>
      <p:pic>
        <p:nvPicPr>
          <p:cNvPr id="15" name="图片 14"/>
          <p:cNvPicPr>
            <a:picLocks noChangeAspect="1"/>
          </p:cNvPicPr>
          <p:nvPr/>
        </p:nvPicPr>
        <p:blipFill>
          <a:blip r:embed="rId3"/>
          <a:stretch/>
        </p:blipFill>
        <p:spPr>
          <a:xfrm>
            <a:off x="644597" y="2103120"/>
            <a:ext cx="7443326" cy="3474720"/>
          </a:xfrm>
          <a:prstGeom prst="rect">
            <a:avLst/>
          </a:prstGeom>
        </p:spPr>
      </p:pic>
      <p:sp>
        <p:nvSpPr>
          <p:cNvPr id="16" name="TextBox 15"/>
          <p:cNvSpPr txBox="1"/>
          <p:nvPr/>
        </p:nvSpPr>
        <p:spPr>
          <a:xfrm>
            <a:off x="594360" y="1417320"/>
            <a:ext cx="10972800" cy="548640"/>
          </a:xfrm>
          <a:prstGeom prst="rect">
            <a:avLst/>
          </a:prstGeom>
          <a:noFill/>
        </p:spPr>
        <p:txBody>
          <a:bodyPr wrap="square">
            <a:spAutoFit/>
          </a:bodyPr>
          <a:lstStyle/>
          <a:p>
            <a:pPr>
              <a:defRPr sz="1800"/>
            </a:pPr>
            <a:r>
              <a:rPr sz="1800">
                <a:solidFill>
                  <a:srgbClr val="234E78"/>
                </a:solidFill>
                <a:latin typeface="Microsoft YaHei"/>
              </a:rPr>
              <a:t>检验两条路线的优劣是否随外推方向改变。</a:t>
            </a:r>
          </a:p>
        </p:txBody>
      </p:sp>
      <p:sp>
        <p:nvSpPr>
          <p:cNvPr id="17" name="TextBox 16"/>
          <p:cNvSpPr txBox="1"/>
          <p:nvPr/>
        </p:nvSpPr>
        <p:spPr>
          <a:xfrm>
            <a:off x="8366760" y="2468880"/>
            <a:ext cx="3108960" cy="2468880"/>
          </a:xfrm>
          <a:prstGeom prst="rect">
            <a:avLst/>
          </a:prstGeom>
          <a:noFill/>
        </p:spPr>
        <p:txBody>
          <a:bodyPr wrap="square">
            <a:spAutoFit/>
          </a:bodyPr>
          <a:lstStyle/>
          <a:p>
            <a:pPr>
              <a:defRPr sz="1800"/>
            </a:pPr>
            <a:r>
              <a:rPr sz="1800">
                <a:solidFill>
                  <a:srgbClr val="234E78"/>
                </a:solidFill>
                <a:latin typeface="Microsoft YaHei"/>
              </a:rPr>
              <a:t>低侧β=0.75时Direct-P误差高70.5%，高侧β=5.75时仍低约40%。</a:t>
            </a:r>
          </a:p>
        </p:txBody>
      </p:sp>
      <p:sp>
        <p:nvSpPr>
          <p:cNvPr id="18" name="TextBox 17"/>
          <p:cNvSpPr txBox="1"/>
          <p:nvPr/>
        </p:nvSpPr>
        <p:spPr>
          <a:xfrm>
            <a:off x="594360" y="5669280"/>
            <a:ext cx="10972800" cy="594360"/>
          </a:xfrm>
          <a:prstGeom prst="rect">
            <a:avLst/>
          </a:prstGeom>
          <a:noFill/>
        </p:spPr>
        <p:txBody>
          <a:bodyPr wrap="square">
            <a:spAutoFit/>
          </a:bodyPr>
          <a:lstStyle/>
          <a:p>
            <a:pPr>
              <a:defRPr sz="1800"/>
            </a:pPr>
            <a:r>
              <a:rPr sz="1800">
                <a:solidFill>
                  <a:srgbClr val="234E78"/>
                </a:solidFill>
                <a:latin typeface="Microsoft YaHei"/>
              </a:rPr>
              <a:t>低形状参数方向出现反转，高形状参数方向仍保持优势。</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直接参数估计与过程量优化的比较</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02</a:t>
            </a:r>
          </a:p>
        </p:txBody>
      </p:sp>
    </p:spTree>
    <p:extLst>
      <p:ext uri="{BB962C8B-B14F-4D97-AF65-F5344CB8AC3E}">
        <p14:creationId xmlns:p14="http://schemas.microsoft.com/office/powerpoint/2010/main" val="19816226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600" b="1" spc="-150">
                <a:solidFill>
                  <a:srgbClr val="FFFFFF"/>
                </a:solidFill>
                <a:latin typeface="汉仪文润宋韵 U"/>
                <a:ea typeface="汉仪文润宋韵 U"/>
                <a:cs typeface="汉仪文润宋韵 U"/>
              </a:rPr>
              <a:t>扩大训练覆盖，在共同区间付出局部参数精度代价</a:t>
            </a:r>
          </a:p>
        </p:txBody>
      </p:sp>
      <p:sp>
        <p:nvSpPr>
          <p:cNvPr id="7" name="content-weibull20260906s15-4">
            <a:extLst>
              <a:ext uri="{FF2B5EF4-FFF2-40B4-BE49-F238E27FC236}">
                <a16:creationId xmlns:a16="http://schemas.microsoft.com/office/drawing/2014/main" id="{69A5A734-9D81-4944-9E5E-6FEFF6CB582E}"/>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15 / 32</a:t>
            </a:r>
          </a:p>
        </p:txBody>
      </p:sp>
      <p:pic>
        <p:nvPicPr>
          <p:cNvPr id="18" name="图片 17"/>
          <p:cNvPicPr>
            <a:picLocks noChangeAspect="1"/>
          </p:cNvPicPr>
          <p:nvPr/>
        </p:nvPicPr>
        <p:blipFill>
          <a:blip r:embed="rId3"/>
          <a:stretch/>
        </p:blipFill>
        <p:spPr>
          <a:xfrm>
            <a:off x="594360" y="1848320"/>
            <a:ext cx="6161442" cy="4175284"/>
          </a:xfrm>
          <a:prstGeom prst="rect">
            <a:avLst/>
          </a:prstGeom>
        </p:spPr>
      </p:pic>
      <p:sp>
        <p:nvSpPr>
          <p:cNvPr id="19" name="TextBox 18"/>
          <p:cNvSpPr txBox="1"/>
          <p:nvPr/>
        </p:nvSpPr>
        <p:spPr>
          <a:xfrm>
            <a:off x="594360" y="1417320"/>
            <a:ext cx="10972800" cy="548640"/>
          </a:xfrm>
          <a:prstGeom prst="rect">
            <a:avLst/>
          </a:prstGeom>
          <a:noFill/>
        </p:spPr>
        <p:txBody>
          <a:bodyPr wrap="square">
            <a:spAutoFit/>
          </a:bodyPr>
          <a:lstStyle/>
          <a:p>
            <a:pPr>
              <a:defRPr sz="1800"/>
            </a:pPr>
            <a:r>
              <a:rPr sz="1800">
                <a:solidFill>
                  <a:srgbClr val="234E78"/>
                </a:solidFill>
                <a:latin typeface="Microsoft YaHei"/>
              </a:rPr>
              <a:t>检验扩大训练覆盖是否影响共同区间精度。</a:t>
            </a:r>
          </a:p>
        </p:txBody>
      </p:sp>
      <p:sp>
        <p:nvSpPr>
          <p:cNvPr id="20" name="TextBox 19"/>
          <p:cNvSpPr txBox="1"/>
          <p:nvPr/>
        </p:nvSpPr>
        <p:spPr>
          <a:xfrm>
            <a:off x="7479254" y="2381469"/>
            <a:ext cx="4225066" cy="646331"/>
          </a:xfrm>
          <a:prstGeom prst="rect">
            <a:avLst/>
          </a:prstGeom>
          <a:noFill/>
        </p:spPr>
        <p:txBody>
          <a:bodyPr wrap="square">
            <a:spAutoFit/>
          </a:bodyPr>
          <a:lstStyle/>
          <a:p>
            <a:pPr>
              <a:defRPr sz="1800"/>
            </a:pPr>
            <a:r>
              <a:rPr lang="zh-CN" altLang="en-US" sz="1800" dirty="0">
                <a:solidFill>
                  <a:srgbClr val="234E78"/>
                </a:solidFill>
                <a:latin typeface="Microsoft YaHei"/>
              </a:rPr>
              <a:t>训练窗口变宽后，局部参数误差增大。按比例增加样本后，这一现象仍然存在。</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直接参数估计与过程量优化的比较</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02</a:t>
            </a:r>
          </a:p>
        </p:txBody>
      </p:sp>
      <p:sp>
        <p:nvSpPr>
          <p:cNvPr id="8" name="文本框 7">
            <a:extLst>
              <a:ext uri="{FF2B5EF4-FFF2-40B4-BE49-F238E27FC236}">
                <a16:creationId xmlns:a16="http://schemas.microsoft.com/office/drawing/2014/main" id="{66BFF44D-C5F5-2B47-1AC0-263407B587DA}"/>
              </a:ext>
            </a:extLst>
          </p:cNvPr>
          <p:cNvSpPr txBox="1"/>
          <p:nvPr/>
        </p:nvSpPr>
        <p:spPr>
          <a:xfrm>
            <a:off x="7479254" y="4388684"/>
            <a:ext cx="4118386" cy="923330"/>
          </a:xfrm>
          <a:prstGeom prst="rect">
            <a:avLst/>
          </a:prstGeom>
          <a:noFill/>
        </p:spPr>
        <p:txBody>
          <a:bodyPr wrap="square">
            <a:spAutoFit/>
          </a:bodyPr>
          <a:lstStyle/>
          <a:p>
            <a:r>
              <a:rPr lang="zh-CN" altLang="zh-CN" dirty="0"/>
              <a:t>训练范围变宽后，网络需要兼顾更多参数条件，因此在原来局部区间里的估计折中发生了变化。</a:t>
            </a:r>
            <a:endParaRPr lang="zh-CN" altLang="en-US" dirty="0"/>
          </a:p>
        </p:txBody>
      </p:sp>
    </p:spTree>
    <p:extLst>
      <p:ext uri="{BB962C8B-B14F-4D97-AF65-F5344CB8AC3E}">
        <p14:creationId xmlns:p14="http://schemas.microsoft.com/office/powerpoint/2010/main" val="16043688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训练范围改变，网络的估计折中也随之变化</a:t>
            </a:r>
          </a:p>
        </p:txBody>
      </p:sp>
      <p:sp>
        <p:nvSpPr>
          <p:cNvPr id="7" name="content-weibull20260906s16-4">
            <a:extLst>
              <a:ext uri="{FF2B5EF4-FFF2-40B4-BE49-F238E27FC236}">
                <a16:creationId xmlns:a16="http://schemas.microsoft.com/office/drawing/2014/main" id="{FCE97DCE-7161-492C-8BA6-55AD2D7C0D74}"/>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16 / 32</a:t>
            </a:r>
          </a:p>
        </p:txBody>
      </p:sp>
      <mc:AlternateContent xmlns:mc="http://schemas.openxmlformats.org/markup-compatibility/2006" xmlns:a14="http://schemas.microsoft.com/office/drawing/2010/main">
        <mc:Choice Requires="a14">
          <p:sp>
            <p:nvSpPr>
              <p:cNvPr id="8" name="content-weibull20260906s16-5">
                <a:extLst>
                  <a:ext uri="{FF2B5EF4-FFF2-40B4-BE49-F238E27FC236}">
                    <a16:creationId xmlns:a16="http://schemas.microsoft.com/office/drawing/2014/main" id="{219E1CB4-CA7A-44B5-B789-97D66222FE53}"/>
                  </a:ext>
                </a:extLst>
              </p:cNvPr>
              <p:cNvSpPr>
                <a:spLocks noGrp="1"/>
              </p:cNvSpPr>
              <p:nvPr/>
            </p:nvSpPr>
            <p:spPr>
              <a:xfrm>
                <a:off x="762000" y="2000250"/>
                <a:ext cx="10668000" cy="904875"/>
              </a:xfrm>
              <a:prstGeom prst="rect">
                <a:avLst/>
              </a:prstGeom>
              <a:noFill/>
              <a:ln w="0">
                <a:noFill/>
              </a:ln>
            </p:spPr>
            <p:txBody>
              <a:bodyPr wrap="square" lIns="0" tIns="0" rIns="0" bIns="0" anchor="t">
                <a:noAutofit/>
              </a:bodyPr>
              <a:lstStyle/>
              <a:p>
                <a:pPr marL="0" lvl="0" indent="0" algn="ctr">
                  <a:buNone/>
                  <a:defRPr sz="2800">
                    <a:latin typeface="Cambria Math"/>
                  </a:defRPr>
                </a:pPr>
                <a14:m>
                  <m:oMathPara xmlns:m="http://schemas.openxmlformats.org/officeDocument/2006/math">
                    <m:oMathParaPr>
                      <m:jc m:val="center"/>
                    </m:oMathParaPr>
                    <m:oMath xmlns:m="http://schemas.openxmlformats.org/officeDocument/2006/math">
                      <m:sSubSup>
                        <m:sSubSupPr>
                          <m:ctrlPr>
                            <a:rPr sz="2800" i="1">
                              <a:latin typeface="Cambria Math" panose="02040503050406030204" pitchFamily="18" charset="0"/>
                            </a:rPr>
                          </m:ctrlPr>
                        </m:sSubSupPr>
                        <m:e>
                          <m:r>
                            <a:rPr sz="2800">
                              <a:latin typeface="Cambria Math"/>
                            </a:rPr>
                            <m:t>𝑎</m:t>
                          </m:r>
                        </m:e>
                        <m:sub>
                          <m:r>
                            <a:rPr sz="2800">
                              <a:latin typeface="Cambria Math"/>
                            </a:rPr>
                            <m:t>𝐿</m:t>
                          </m:r>
                        </m:sub>
                        <m:sup>
                          <m:r>
                            <a:rPr sz="2800">
                              <a:latin typeface="Cambria Math"/>
                            </a:rPr>
                            <m:t>∗</m:t>
                          </m:r>
                        </m:sup>
                      </m:sSubSup>
                      <m:r>
                        <a:rPr sz="2800">
                          <a:latin typeface="Cambria Math"/>
                        </a:rPr>
                        <m:t>(</m:t>
                      </m:r>
                      <m:r>
                        <a:rPr sz="2800">
                          <a:latin typeface="Cambria Math"/>
                        </a:rPr>
                        <m:t>𝑧</m:t>
                      </m:r>
                      <m:r>
                        <a:rPr sz="2800">
                          <a:latin typeface="Cambria Math"/>
                        </a:rPr>
                        <m:t>)=</m:t>
                      </m:r>
                      <m:r>
                        <m:rPr>
                          <m:sty m:val="p"/>
                        </m:rPr>
                        <a:rPr sz="2800">
                          <a:latin typeface="Cambria Math"/>
                        </a:rPr>
                        <m:t>arg</m:t>
                      </m:r>
                      <m:limLow>
                        <m:limLowPr>
                          <m:ctrlPr>
                            <a:rPr sz="2800" i="1">
                              <a:latin typeface="Cambria Math" panose="02040503050406030204" pitchFamily="18" charset="0"/>
                            </a:rPr>
                          </m:ctrlPr>
                        </m:limLowPr>
                        <m:e>
                          <m:r>
                            <m:rPr>
                              <m:sty m:val="p"/>
                            </m:rPr>
                            <a:rPr sz="2800">
                              <a:latin typeface="Cambria Math"/>
                            </a:rPr>
                            <m:t>min</m:t>
                          </m:r>
                        </m:e>
                        <m:lim>
                          <m:r>
                            <a:rPr sz="2800">
                              <a:latin typeface="Cambria Math"/>
                            </a:rPr>
                            <m:t>𝑎</m:t>
                          </m:r>
                        </m:lim>
                      </m:limLow>
                      <m:sSub>
                        <m:sSubPr>
                          <m:ctrlPr>
                            <a:rPr sz="2800" i="1">
                              <a:latin typeface="Cambria Math" panose="02040503050406030204" pitchFamily="18" charset="0"/>
                            </a:rPr>
                          </m:ctrlPr>
                        </m:sSubPr>
                        <m:e>
                          <m:r>
                            <m:rPr>
                              <m:sty m:val="p"/>
                            </m:rPr>
                            <a:rPr sz="2800">
                              <a:latin typeface="Cambria Math"/>
                            </a:rPr>
                            <m:t>E</m:t>
                          </m:r>
                        </m:e>
                        <m:sub>
                          <m:sSub>
                            <m:sSubPr>
                              <m:ctrlPr>
                                <a:rPr sz="2800" i="1">
                                  <a:latin typeface="Cambria Math" panose="02040503050406030204" pitchFamily="18" charset="0"/>
                                </a:rPr>
                              </m:ctrlPr>
                            </m:sSubPr>
                            <m:e>
                              <m:r>
                                <a:rPr sz="2800">
                                  <a:latin typeface="Cambria Math"/>
                                </a:rPr>
                                <m:t>𝜋</m:t>
                              </m:r>
                            </m:e>
                            <m:sub>
                              <m:r>
                                <m:rPr>
                                  <m:sty m:val="p"/>
                                </m:rPr>
                                <a:rPr sz="2800">
                                  <a:latin typeface="Cambria Math"/>
                                </a:rPr>
                                <m:t>train</m:t>
                              </m:r>
                            </m:sub>
                          </m:sSub>
                        </m:sub>
                      </m:sSub>
                      <m:r>
                        <a:rPr sz="2800">
                          <a:latin typeface="Cambria Math"/>
                        </a:rPr>
                        <m:t>[</m:t>
                      </m:r>
                      <m:r>
                        <a:rPr sz="2800">
                          <a:latin typeface="Cambria Math"/>
                        </a:rPr>
                        <m:t>𝐿</m:t>
                      </m:r>
                      <m:r>
                        <a:rPr sz="2800">
                          <a:latin typeface="Cambria Math"/>
                        </a:rPr>
                        <m:t>(</m:t>
                      </m:r>
                      <m:r>
                        <a:rPr sz="2800">
                          <a:latin typeface="Cambria Math"/>
                        </a:rPr>
                        <m:t>𝑎</m:t>
                      </m:r>
                      <m:r>
                        <a:rPr sz="2800">
                          <a:latin typeface="Cambria Math"/>
                        </a:rPr>
                        <m:t>,</m:t>
                      </m:r>
                      <m:r>
                        <a:rPr sz="2800">
                          <a:latin typeface="Cambria Math"/>
                        </a:rPr>
                        <m:t>𝜃</m:t>
                      </m:r>
                      <m:r>
                        <a:rPr sz="2800">
                          <a:latin typeface="Cambria Math"/>
                        </a:rPr>
                        <m:t>)∣</m:t>
                      </m:r>
                      <m:r>
                        <a:rPr sz="2800">
                          <a:latin typeface="Cambria Math"/>
                        </a:rPr>
                        <m:t>𝑧</m:t>
                      </m:r>
                      <m:r>
                        <a:rPr sz="2800">
                          <a:latin typeface="Cambria Math"/>
                        </a:rPr>
                        <m:t>].</m:t>
                      </m:r>
                    </m:oMath>
                  </m:oMathPara>
                </a14:m>
                <a:endParaRPr/>
              </a:p>
            </p:txBody>
          </p:sp>
        </mc:Choice>
        <mc:Fallback xmlns="">
          <p:sp>
            <p:nvSpPr>
              <p:cNvPr id="1000" name="content-weibull20260906s16-5">
                <a:extLst>
                  <a:ext uri="{FF2B5EF4-FFF2-40B4-BE49-F238E27FC236}">
                    <a16:creationId xmlns:a16="http://schemas.microsoft.com/office/drawing/2014/main" id="{219E1CB4-CA7A-44B5-B789-97D66222FE53}"/>
                  </a:ext>
                </a:extLst>
              </p:cNvPr>
              <p:cNvSpPr>
                <a:spLocks noGrp="1" noRot="1" noChangeAspect="1" noMove="1" noResize="1" noEditPoints="1" noAdjustHandles="1" noChangeArrowheads="1" noChangeShapeType="1" noTextEdit="1"/>
              </p:cNvSpPr>
              <p:nvPr/>
            </p:nvSpPr>
            <p:spPr>
              <a:xfrm>
                <a:off x="762000" y="2000250"/>
                <a:ext cx="10668000" cy="904875"/>
              </a:xfrm>
              <a:prstGeom prst="rect">
                <a:avLst/>
              </a:prstGeom>
              <a:blipFill>
                <a:blip r:embed="rId3"/>
                <a:stretch>
                  <a:fillRect/>
                </a:stretch>
              </a:blipFill>
              <a:ln w="0">
                <a:noFill/>
              </a:ln>
            </p:spPr>
            <p:txBody>
              <a:bodyPr/>
              <a:lstStyle/>
              <a:p>
                <a:r>
                  <a:rPr lang="zh-CN" altLang="en-US">
                    <a:noFill/>
                  </a:rPr>
                  <a:t> </a:t>
                </a:r>
              </a:p>
            </p:txBody>
          </p:sp>
        </mc:Fallback>
      </mc:AlternateContent>
      <p:sp>
        <p:nvSpPr>
          <p:cNvPr id="9" name="content-weibull20260906s16-6">
            <a:extLst>
              <a:ext uri="{FF2B5EF4-FFF2-40B4-BE49-F238E27FC236}">
                <a16:creationId xmlns:a16="http://schemas.microsoft.com/office/drawing/2014/main" id="{05946B49-E45E-48E1-ADEB-3DF3E3EEC4AD}"/>
              </a:ext>
            </a:extLst>
          </p:cNvPr>
          <p:cNvSpPr>
            <a:spLocks noGrp="1"/>
          </p:cNvSpPr>
          <p:nvPr/>
        </p:nvSpPr>
        <p:spPr>
          <a:xfrm>
            <a:off x="552450" y="3238500"/>
            <a:ext cx="11049000" cy="742950"/>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相似小样本可与多组参数相容</a:t>
            </a:r>
          </a:p>
        </p:txBody>
      </p:sp>
      <p:sp>
        <p:nvSpPr>
          <p:cNvPr id="10" name="content-weibull20260906s16-7">
            <a:extLst>
              <a:ext uri="{FF2B5EF4-FFF2-40B4-BE49-F238E27FC236}">
                <a16:creationId xmlns:a16="http://schemas.microsoft.com/office/drawing/2014/main" id="{845DD6E1-DAEF-4034-8CAE-993C87629E95}"/>
              </a:ext>
            </a:extLst>
          </p:cNvPr>
          <p:cNvSpPr>
            <a:spLocks noGrp="1"/>
          </p:cNvSpPr>
          <p:nvPr/>
        </p:nvSpPr>
        <p:spPr>
          <a:xfrm>
            <a:off x="552450" y="4076700"/>
            <a:ext cx="11049000" cy="742950"/>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训练分布改变这些参数的条件权重</a:t>
            </a:r>
          </a:p>
        </p:txBody>
      </p:sp>
      <p:sp>
        <p:nvSpPr>
          <p:cNvPr id="11" name="content-weibull20260906s16-8">
            <a:extLst>
              <a:ext uri="{FF2B5EF4-FFF2-40B4-BE49-F238E27FC236}">
                <a16:creationId xmlns:a16="http://schemas.microsoft.com/office/drawing/2014/main" id="{750863D8-3DE9-41C1-9750-3151D97ECAED}"/>
              </a:ext>
            </a:extLst>
          </p:cNvPr>
          <p:cNvSpPr>
            <a:spLocks noGrp="1"/>
          </p:cNvSpPr>
          <p:nvPr/>
        </p:nvSpPr>
        <p:spPr>
          <a:xfrm>
            <a:off x="552450" y="4914900"/>
            <a:ext cx="11049000" cy="742950"/>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网络需要兼顾不同参数条件，预测结果随训练范围调整</a:t>
            </a:r>
          </a:p>
        </p:txBody>
      </p:sp>
      <p:sp>
        <p:nvSpPr>
          <p:cNvPr id="12" name="content-weibull20260906s16-9">
            <a:extLst>
              <a:ext uri="{FF2B5EF4-FFF2-40B4-BE49-F238E27FC236}">
                <a16:creationId xmlns:a16="http://schemas.microsoft.com/office/drawing/2014/main" id="{C0935DCE-479F-42FB-ACB5-45913C172829}"/>
              </a:ext>
            </a:extLst>
          </p:cNvPr>
          <p:cNvSpPr>
            <a:spLocks noGrp="1"/>
          </p:cNvSpPr>
          <p:nvPr/>
        </p:nvSpPr>
        <p:spPr>
          <a:xfrm>
            <a:off x="590550" y="5905500"/>
            <a:ext cx="11010900" cy="552450"/>
          </a:xfrm>
          <a:prstGeom prst="rect">
            <a:avLst/>
          </a:prstGeom>
          <a:noFill/>
          <a:ln w="0">
            <a:noFill/>
          </a:ln>
        </p:spPr>
        <p:txBody>
          <a:bodyPr wrap="square" lIns="0" tIns="0" rIns="0" bIns="0" anchor="t">
            <a:noAutofit/>
          </a:bodyPr>
          <a:lstStyle/>
          <a:p>
            <a:pPr algn="l">
              <a:defRPr sz="1800" b="0">
                <a:solidFill>
                  <a:srgbClr val="315DA7"/>
                </a:solidFill>
                <a:latin typeface="汉仪粗宋简"/>
                <a:ea typeface="汉仪粗宋简"/>
                <a:cs typeface="汉仪粗宋简"/>
              </a:defRPr>
            </a:pPr>
            <a:r>
              <a:rPr sz="1800" b="0">
                <a:solidFill>
                  <a:srgbClr val="315DA7"/>
                </a:solidFill>
                <a:latin typeface="汉仪粗宋简"/>
                <a:ea typeface="汉仪粗宋简"/>
                <a:cs typeface="汉仪粗宋简"/>
              </a:rPr>
              <a:t>训练分布改变相似样本所对应的参数权重，从而改变预测折中。</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直接参数估计与过程量优化的比较</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02</a:t>
            </a:r>
          </a:p>
        </p:txBody>
      </p:sp>
    </p:spTree>
    <p:extLst>
      <p:ext uri="{BB962C8B-B14F-4D97-AF65-F5344CB8AC3E}">
        <p14:creationId xmlns:p14="http://schemas.microsoft.com/office/powerpoint/2010/main" val="1993301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411480" y="846307"/>
            <a:ext cx="11292840" cy="461665"/>
          </a:xfrm>
          <a:prstGeom prst="rect">
            <a:avLst/>
          </a:prstGeom>
          <a:noFill/>
        </p:spPr>
        <p:txBody>
          <a:bodyPr wrap="square" lIns="0">
            <a:noAutofit/>
          </a:bodyPr>
          <a:lstStyle/>
          <a:p>
            <a:pPr marL="0" lvl="0" indent="0" algn="l"/>
            <a:r>
              <a:rPr sz="2500" b="1">
                <a:solidFill>
                  <a:srgbClr val="FFFFFF"/>
                </a:solidFill>
              </a:rPr>
              <a:t>参数收益与寿命点收益不按同一比例变化</a:t>
            </a:r>
          </a:p>
        </p:txBody>
      </p:sp>
      <p:sp>
        <p:nvSpPr>
          <p:cNvPr id="7" name="content-weibull20260906s17-4">
            <a:extLst>
              <a:ext uri="{FF2B5EF4-FFF2-40B4-BE49-F238E27FC236}">
                <a16:creationId xmlns:a16="http://schemas.microsoft.com/office/drawing/2014/main" id="{05564520-8A90-4F19-9556-715D9242A1B6}"/>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17 / 32</a:t>
            </a:r>
          </a:p>
        </p:txBody>
      </p:sp>
      <p:pic>
        <p:nvPicPr>
          <p:cNvPr id="16" name="图片 15"/>
          <p:cNvPicPr>
            <a:picLocks noChangeAspect="1"/>
          </p:cNvPicPr>
          <p:nvPr/>
        </p:nvPicPr>
        <p:blipFill>
          <a:blip r:embed="rId3"/>
          <a:stretch/>
        </p:blipFill>
        <p:spPr>
          <a:xfrm>
            <a:off x="5486400" y="2269950"/>
            <a:ext cx="6080760" cy="2500980"/>
          </a:xfrm>
          <a:prstGeom prst="rect">
            <a:avLst/>
          </a:prstGeom>
        </p:spPr>
      </p:pic>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直接参数估计与过程量优化的比较</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02</a:t>
            </a:r>
          </a:p>
        </p:txBody>
      </p:sp>
      <p:sp>
        <p:nvSpPr>
          <p:cNvPr id="17" name="TextBox 16"/>
          <p:cNvSpPr txBox="1"/>
          <p:nvPr/>
        </p:nvSpPr>
        <p:spPr>
          <a:xfrm>
            <a:off x="594360" y="1463040"/>
            <a:ext cx="10972800" cy="548640"/>
          </a:xfrm>
          <a:prstGeom prst="rect">
            <a:avLst/>
          </a:prstGeom>
          <a:noFill/>
        </p:spPr>
        <p:txBody>
          <a:bodyPr wrap="square">
            <a:spAutoFit/>
          </a:bodyPr>
          <a:lstStyle/>
          <a:p>
            <a:r>
              <a:rPr sz="1800">
                <a:solidFill>
                  <a:srgbClr val="234E78"/>
                </a:solidFill>
                <a:latin typeface="Microsoft YaHei"/>
              </a:rPr>
              <a:t>沿用第13页的同一域内测试设计，比较Direct-P相对自适应MDM的收益。</a:t>
            </a:r>
          </a:p>
        </p:txBody>
      </p:sp>
      <p:graphicFrame>
        <p:nvGraphicFramePr>
          <p:cNvPr id="18" name="Table 17"/>
          <p:cNvGraphicFramePr>
            <a:graphicFrameLocks noGrp="1"/>
          </p:cNvGraphicFramePr>
          <p:nvPr/>
        </p:nvGraphicFramePr>
        <p:xfrm>
          <a:off x="594360" y="2423160"/>
          <a:ext cx="4709160" cy="2057400"/>
        </p:xfrm>
        <a:graphic>
          <a:graphicData uri="http://schemas.openxmlformats.org/drawingml/2006/table">
            <a:tbl>
              <a:tblPr firstRow="1" bandRow="1">
                <a:tableStyleId>{5C22544A-7EE6-4342-B048-85BDC9FD1C3A}</a:tableStyleId>
              </a:tblPr>
              <a:tblGrid>
                <a:gridCol w="30632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594360">
                <a:tc>
                  <a:txBody>
                    <a:bodyPr/>
                    <a:lstStyle/>
                    <a:p>
                      <a:r>
                        <a:rPr sz="1800">
                          <a:latin typeface="Microsoft YaHei"/>
                        </a:rPr>
                        <a:t>评价指标</a:t>
                      </a:r>
                    </a:p>
                  </a:txBody>
                  <a:tcPr marL="73152" marR="73152"/>
                </a:tc>
                <a:tc>
                  <a:txBody>
                    <a:bodyPr/>
                    <a:lstStyle/>
                    <a:p>
                      <a:r>
                        <a:rPr sz="1800">
                          <a:latin typeface="Microsoft YaHei"/>
                        </a:rPr>
                        <a:t>相对误差降幅</a:t>
                      </a:r>
                    </a:p>
                  </a:txBody>
                  <a:tcPr marL="73152" marR="73152"/>
                </a:tc>
                <a:extLst>
                  <a:ext uri="{0D108BD9-81ED-4DB2-BD59-A6C34878D82A}">
                    <a16:rowId xmlns:a16="http://schemas.microsoft.com/office/drawing/2014/main" val="10000"/>
                  </a:ext>
                </a:extLst>
              </a:tr>
              <a:tr h="731520">
                <a:tc>
                  <a:txBody>
                    <a:bodyPr/>
                    <a:lstStyle/>
                    <a:p>
                      <a:r>
                        <a:rPr sz="1800">
                          <a:latin typeface="Microsoft YaHei"/>
                        </a:rPr>
                        <a:t>联合参数误差 J₁</a:t>
                      </a:r>
                    </a:p>
                  </a:txBody>
                  <a:tcPr marL="73152" marR="73152"/>
                </a:tc>
                <a:tc>
                  <a:txBody>
                    <a:bodyPr/>
                    <a:lstStyle/>
                    <a:p>
                      <a:r>
                        <a:rPr sz="1800">
                          <a:latin typeface="Microsoft YaHei"/>
                        </a:rPr>
                        <a:t>35.8%</a:t>
                      </a:r>
                    </a:p>
                  </a:txBody>
                  <a:tcPr marL="73152" marR="73152"/>
                </a:tc>
                <a:extLst>
                  <a:ext uri="{0D108BD9-81ED-4DB2-BD59-A6C34878D82A}">
                    <a16:rowId xmlns:a16="http://schemas.microsoft.com/office/drawing/2014/main" val="10001"/>
                  </a:ext>
                </a:extLst>
              </a:tr>
              <a:tr h="731520">
                <a:tc>
                  <a:txBody>
                    <a:bodyPr/>
                    <a:lstStyle/>
                    <a:p>
                      <a:r>
                        <a:rPr sz="1800">
                          <a:latin typeface="Microsoft YaHei"/>
                        </a:rPr>
                        <a:t>x₀.₉₅ 相对RMSE</a:t>
                      </a:r>
                    </a:p>
                  </a:txBody>
                  <a:tcPr marL="73152" marR="73152"/>
                </a:tc>
                <a:tc>
                  <a:txBody>
                    <a:bodyPr/>
                    <a:lstStyle/>
                    <a:p>
                      <a:r>
                        <a:rPr sz="1800">
                          <a:latin typeface="Microsoft YaHei"/>
                        </a:rPr>
                        <a:t>14.9%</a:t>
                      </a:r>
                    </a:p>
                  </a:txBody>
                  <a:tcPr marL="73152" marR="73152"/>
                </a:tc>
                <a:extLst>
                  <a:ext uri="{0D108BD9-81ED-4DB2-BD59-A6C34878D82A}">
                    <a16:rowId xmlns:a16="http://schemas.microsoft.com/office/drawing/2014/main" val="10002"/>
                  </a:ext>
                </a:extLst>
              </a:tr>
            </a:tbl>
          </a:graphicData>
        </a:graphic>
      </p:graphicFrame>
      <p:sp>
        <p:nvSpPr>
          <p:cNvPr id="19" name="TextBox 18"/>
          <p:cNvSpPr txBox="1"/>
          <p:nvPr/>
        </p:nvSpPr>
        <p:spPr>
          <a:xfrm>
            <a:off x="594360" y="5623560"/>
            <a:ext cx="10972800" cy="548640"/>
          </a:xfrm>
          <a:prstGeom prst="rect">
            <a:avLst/>
          </a:prstGeom>
          <a:noFill/>
        </p:spPr>
        <p:txBody>
          <a:bodyPr wrap="square">
            <a:spAutoFit/>
          </a:bodyPr>
          <a:lstStyle/>
          <a:p>
            <a:r>
              <a:rPr sz="1800">
                <a:solidFill>
                  <a:srgbClr val="234E78"/>
                </a:solidFill>
                <a:latin typeface="Microsoft YaHei"/>
              </a:rPr>
              <a:t>参数误差的收益向寿命点传递后缩小；两类精度需要分别评价。</a:t>
            </a:r>
          </a:p>
        </p:txBody>
      </p:sp>
    </p:spTree>
    <p:extLst>
      <p:ext uri="{BB962C8B-B14F-4D97-AF65-F5344CB8AC3E}">
        <p14:creationId xmlns:p14="http://schemas.microsoft.com/office/powerpoint/2010/main" val="19733584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600" b="1" spc="-150">
                <a:solidFill>
                  <a:srgbClr val="FFFFFF"/>
                </a:solidFill>
                <a:latin typeface="汉仪文润宋韵 U"/>
                <a:ea typeface="汉仪文润宋韵 U"/>
                <a:cs typeface="汉仪文润宋韵 U"/>
              </a:rPr>
              <a:t>参数误差方向提供补偿线索，解析导数只作局部诊断</a:t>
            </a:r>
          </a:p>
        </p:txBody>
      </p:sp>
      <p:sp>
        <p:nvSpPr>
          <p:cNvPr id="7" name="content-weibull20260906s18-4">
            <a:extLst>
              <a:ext uri="{FF2B5EF4-FFF2-40B4-BE49-F238E27FC236}">
                <a16:creationId xmlns:a16="http://schemas.microsoft.com/office/drawing/2014/main" id="{CF18E061-BC84-4D9C-B170-013DA42E9D2D}"/>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18 / 32</a:t>
            </a:r>
          </a:p>
        </p:txBody>
      </p:sp>
      <p:pic>
        <p:nvPicPr>
          <p:cNvPr id="15" name="图片 14"/>
          <p:cNvPicPr>
            <a:picLocks noChangeAspect="1"/>
          </p:cNvPicPr>
          <p:nvPr/>
        </p:nvPicPr>
        <p:blipFill>
          <a:blip r:embed="rId3"/>
          <a:stretch/>
        </p:blipFill>
        <p:spPr>
          <a:xfrm>
            <a:off x="594360" y="2205694"/>
            <a:ext cx="7543800" cy="3269571"/>
          </a:xfrm>
          <a:prstGeom prst="rect">
            <a:avLst/>
          </a:prstGeom>
        </p:spPr>
      </p:pic>
      <p:sp>
        <p:nvSpPr>
          <p:cNvPr id="16" name="TextBox 15"/>
          <p:cNvSpPr txBox="1"/>
          <p:nvPr/>
        </p:nvSpPr>
        <p:spPr>
          <a:xfrm>
            <a:off x="594360" y="1417320"/>
            <a:ext cx="10972800" cy="548640"/>
          </a:xfrm>
          <a:prstGeom prst="rect">
            <a:avLst/>
          </a:prstGeom>
          <a:noFill/>
        </p:spPr>
        <p:txBody>
          <a:bodyPr wrap="square">
            <a:spAutoFit/>
          </a:bodyPr>
          <a:lstStyle/>
          <a:p>
            <a:pPr>
              <a:defRPr sz="1800"/>
            </a:pPr>
            <a:r>
              <a:rPr sz="1800">
                <a:solidFill>
                  <a:srgbClr val="234E78"/>
                </a:solidFill>
                <a:latin typeface="Microsoft YaHei"/>
              </a:rPr>
              <a:t>检查参数误差补偿与局部敏感度的解释线索。</a:t>
            </a:r>
          </a:p>
        </p:txBody>
      </p:sp>
      <p:sp>
        <p:nvSpPr>
          <p:cNvPr id="17" name="TextBox 16"/>
          <p:cNvSpPr txBox="1"/>
          <p:nvPr/>
        </p:nvSpPr>
        <p:spPr>
          <a:xfrm>
            <a:off x="8366760" y="2468880"/>
            <a:ext cx="3108960" cy="2468880"/>
          </a:xfrm>
          <a:prstGeom prst="rect">
            <a:avLst/>
          </a:prstGeom>
          <a:noFill/>
        </p:spPr>
        <p:txBody>
          <a:bodyPr wrap="square">
            <a:spAutoFit/>
          </a:bodyPr>
          <a:lstStyle/>
          <a:p>
            <a:pPr>
              <a:defRPr sz="1800"/>
            </a:pPr>
            <a:r>
              <a:rPr sz="1800">
                <a:solidFill>
                  <a:srgbClr val="234E78"/>
                </a:solidFill>
                <a:latin typeface="Microsoft YaHei"/>
              </a:rPr>
              <a:t>大形状区常见形状、尺度偏低而位置偏高；误差可能在寿命函数中抵消。</a:t>
            </a:r>
          </a:p>
        </p:txBody>
      </p:sp>
      <p:sp>
        <p:nvSpPr>
          <p:cNvPr id="18" name="TextBox 17"/>
          <p:cNvSpPr txBox="1"/>
          <p:nvPr/>
        </p:nvSpPr>
        <p:spPr>
          <a:xfrm>
            <a:off x="594360" y="5669280"/>
            <a:ext cx="10972800" cy="594360"/>
          </a:xfrm>
          <a:prstGeom prst="rect">
            <a:avLst/>
          </a:prstGeom>
          <a:noFill/>
        </p:spPr>
        <p:txBody>
          <a:bodyPr wrap="square">
            <a:spAutoFit/>
          </a:bodyPr>
          <a:lstStyle/>
          <a:p>
            <a:pPr>
              <a:defRPr sz="1800"/>
            </a:pPr>
            <a:r>
              <a:rPr sz="1800">
                <a:solidFill>
                  <a:srgbClr val="234E78"/>
                </a:solidFill>
                <a:latin typeface="Microsoft YaHei"/>
              </a:rPr>
              <a:t>模拟结果显示参数误差的联动，解析诊断给出局部敏感度解释。</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直接参数估计与过程量优化的比较</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02</a:t>
            </a:r>
          </a:p>
        </p:txBody>
      </p:sp>
    </p:spTree>
    <p:extLst>
      <p:ext uri="{BB962C8B-B14F-4D97-AF65-F5344CB8AC3E}">
        <p14:creationId xmlns:p14="http://schemas.microsoft.com/office/powerpoint/2010/main" val="14353437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600" b="1" spc="-150">
                <a:solidFill>
                  <a:srgbClr val="FFFFFF"/>
                </a:solidFill>
                <a:latin typeface="汉仪文润宋韵 U"/>
                <a:ea typeface="汉仪文润宋韵 U"/>
                <a:cs typeface="汉仪文润宋韵 U"/>
              </a:rPr>
              <a:t>同比例缩放样本后，估计结果保持比例关系</a:t>
            </a:r>
          </a:p>
        </p:txBody>
      </p:sp>
      <p:sp>
        <p:nvSpPr>
          <p:cNvPr id="7" name="content-weibull20260906s19-4">
            <a:extLst>
              <a:ext uri="{FF2B5EF4-FFF2-40B4-BE49-F238E27FC236}">
                <a16:creationId xmlns:a16="http://schemas.microsoft.com/office/drawing/2014/main" id="{4C079513-FB70-4AE1-8821-2CF5EF5E1FEC}"/>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19 / 32</a:t>
            </a:r>
          </a:p>
        </p:txBody>
      </p:sp>
      <p:sp>
        <p:nvSpPr>
          <p:cNvPr id="8" name="content-weibull20260906s19-5">
            <a:extLst>
              <a:ext uri="{FF2B5EF4-FFF2-40B4-BE49-F238E27FC236}">
                <a16:creationId xmlns:a16="http://schemas.microsoft.com/office/drawing/2014/main" id="{FE3712CB-D79C-4F58-9C4D-5CBE5BE90AAF}"/>
              </a:ext>
            </a:extLst>
          </p:cNvPr>
          <p:cNvSpPr>
            <a:spLocks noGrp="1"/>
          </p:cNvSpPr>
          <p:nvPr/>
        </p:nvSpPr>
        <p:spPr>
          <a:xfrm>
            <a:off x="552450" y="2095500"/>
            <a:ext cx="11049000" cy="923925"/>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同比例尺度变化：η = 1 至 10⁶，成对审计 J₁ = 0.4705367 不变</a:t>
            </a:r>
          </a:p>
        </p:txBody>
      </p:sp>
      <p:sp>
        <p:nvSpPr>
          <p:cNvPr id="9" name="content-weibull20260906s19-6">
            <a:extLst>
              <a:ext uri="{FF2B5EF4-FFF2-40B4-BE49-F238E27FC236}">
                <a16:creationId xmlns:a16="http://schemas.microsoft.com/office/drawing/2014/main" id="{A8F86814-2FC2-4AF7-AE01-91845B381A74}"/>
              </a:ext>
            </a:extLst>
          </p:cNvPr>
          <p:cNvSpPr>
            <a:spLocks noGrp="1"/>
          </p:cNvSpPr>
          <p:nvPr/>
        </p:nvSpPr>
        <p:spPr>
          <a:xfrm>
            <a:off x="552450" y="3114675"/>
            <a:ext cx="11049000" cy="923925"/>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已见网格中，n = 7 至 20，相对优势由 41.3% 收窄至 28.3%</a:t>
            </a:r>
          </a:p>
        </p:txBody>
      </p:sp>
      <p:sp>
        <p:nvSpPr>
          <p:cNvPr id="10" name="content-weibull20260906s19-7">
            <a:extLst>
              <a:ext uri="{FF2B5EF4-FFF2-40B4-BE49-F238E27FC236}">
                <a16:creationId xmlns:a16="http://schemas.microsoft.com/office/drawing/2014/main" id="{D6DE2710-3333-440B-9B13-F5C2D2384FAF}"/>
              </a:ext>
            </a:extLst>
          </p:cNvPr>
          <p:cNvSpPr>
            <a:spLocks noGrp="1"/>
          </p:cNvSpPr>
          <p:nvPr/>
        </p:nvSpPr>
        <p:spPr>
          <a:xfrm>
            <a:off x="552450" y="4133850"/>
            <a:ext cx="11049000" cy="923925"/>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样本量增加时，两条路线的误差均下降，相对差距收窄</a:t>
            </a:r>
          </a:p>
        </p:txBody>
      </p:sp>
      <p:sp>
        <p:nvSpPr>
          <p:cNvPr id="11" name="content-weibull20260906s19-8">
            <a:extLst>
              <a:ext uri="{FF2B5EF4-FFF2-40B4-BE49-F238E27FC236}">
                <a16:creationId xmlns:a16="http://schemas.microsoft.com/office/drawing/2014/main" id="{2FCC182D-A725-4234-8960-C956D7B37B18}"/>
              </a:ext>
            </a:extLst>
          </p:cNvPr>
          <p:cNvSpPr>
            <a:spLocks noGrp="1"/>
          </p:cNvSpPr>
          <p:nvPr/>
        </p:nvSpPr>
        <p:spPr>
          <a:xfrm>
            <a:off x="590550" y="5905500"/>
            <a:ext cx="11010900" cy="552450"/>
          </a:xfrm>
          <a:prstGeom prst="rect">
            <a:avLst/>
          </a:prstGeom>
          <a:noFill/>
          <a:ln w="0">
            <a:noFill/>
          </a:ln>
        </p:spPr>
        <p:txBody>
          <a:bodyPr wrap="square" lIns="0" tIns="0" rIns="0" bIns="0" anchor="t">
            <a:noAutofit/>
          </a:bodyPr>
          <a:lstStyle/>
          <a:p>
            <a:pPr algn="l">
              <a:defRPr sz="1800" b="0">
                <a:solidFill>
                  <a:srgbClr val="315DA7"/>
                </a:solidFill>
                <a:latin typeface="汉仪粗宋简"/>
                <a:ea typeface="汉仪粗宋简"/>
                <a:cs typeface="汉仪粗宋简"/>
              </a:defRPr>
            </a:pPr>
            <a:r>
              <a:rPr sz="1800" b="0">
                <a:solidFill>
                  <a:srgbClr val="315DA7"/>
                </a:solidFill>
                <a:latin typeface="汉仪粗宋简"/>
                <a:ea typeface="汉仪粗宋简"/>
                <a:cs typeface="汉仪粗宋简"/>
              </a:rPr>
              <a:t>同比例缩放样本后，估计参数和寿命点也按相同比例变化。</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直接参数估计与过程量优化的比较</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02</a:t>
            </a:r>
          </a:p>
        </p:txBody>
      </p:sp>
    </p:spTree>
    <p:extLst>
      <p:ext uri="{BB962C8B-B14F-4D97-AF65-F5344CB8AC3E}">
        <p14:creationId xmlns:p14="http://schemas.microsoft.com/office/powerpoint/2010/main" val="1095803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600" b="1" spc="-150">
                <a:solidFill>
                  <a:srgbClr val="FFFFFF"/>
                </a:solidFill>
                <a:latin typeface="汉仪文润宋韵 U"/>
                <a:ea typeface="汉仪文润宋韵 U"/>
                <a:cs typeface="汉仪文润宋韵 U"/>
              </a:rPr>
              <a:t>确定使用直接网络之后，还要确定训练什么</a:t>
            </a:r>
          </a:p>
        </p:txBody>
      </p:sp>
      <p:sp>
        <p:nvSpPr>
          <p:cNvPr id="7" name="content-weibull20260906s20-4">
            <a:extLst>
              <a:ext uri="{FF2B5EF4-FFF2-40B4-BE49-F238E27FC236}">
                <a16:creationId xmlns:a16="http://schemas.microsoft.com/office/drawing/2014/main" id="{4024B700-8832-41B8-98A2-EF1343B621B2}"/>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20 / 32</a:t>
            </a:r>
          </a:p>
        </p:txBody>
      </p:sp>
      <p:sp>
        <p:nvSpPr>
          <p:cNvPr id="8" name="content-weibull20260906s20-5">
            <a:extLst>
              <a:ext uri="{FF2B5EF4-FFF2-40B4-BE49-F238E27FC236}">
                <a16:creationId xmlns:a16="http://schemas.microsoft.com/office/drawing/2014/main" id="{955FF38B-6060-4B5C-A382-0C3BB17BE5B3}"/>
              </a:ext>
            </a:extLst>
          </p:cNvPr>
          <p:cNvSpPr>
            <a:spLocks noGrp="1"/>
          </p:cNvSpPr>
          <p:nvPr/>
        </p:nvSpPr>
        <p:spPr>
          <a:xfrm>
            <a:off x="552450" y="1952625"/>
            <a:ext cx="11049000" cy="781050"/>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当前域内点估计中，Direct-P 更准确</a:t>
            </a:r>
          </a:p>
        </p:txBody>
      </p:sp>
      <p:sp>
        <p:nvSpPr>
          <p:cNvPr id="9" name="content-weibull20260906s20-6">
            <a:extLst>
              <a:ext uri="{FF2B5EF4-FFF2-40B4-BE49-F238E27FC236}">
                <a16:creationId xmlns:a16="http://schemas.microsoft.com/office/drawing/2014/main" id="{BBA12EB9-56B7-413E-A9BA-03245A08BDAF}"/>
              </a:ext>
            </a:extLst>
          </p:cNvPr>
          <p:cNvSpPr>
            <a:spLocks noGrp="1"/>
          </p:cNvSpPr>
          <p:nvPr/>
        </p:nvSpPr>
        <p:spPr>
          <a:xfrm>
            <a:off x="552450" y="2828925"/>
            <a:ext cx="11049000" cy="781050"/>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外推方向与训练覆盖影响其风险</a:t>
            </a:r>
          </a:p>
        </p:txBody>
      </p:sp>
      <p:sp>
        <p:nvSpPr>
          <p:cNvPr id="10" name="content-weibull20260906s20-7">
            <a:extLst>
              <a:ext uri="{FF2B5EF4-FFF2-40B4-BE49-F238E27FC236}">
                <a16:creationId xmlns:a16="http://schemas.microsoft.com/office/drawing/2014/main" id="{78DFDC93-2E8E-443C-BFAB-AAFB2B7A0553}"/>
              </a:ext>
            </a:extLst>
          </p:cNvPr>
          <p:cNvSpPr>
            <a:spLocks noGrp="1"/>
          </p:cNvSpPr>
          <p:nvPr/>
        </p:nvSpPr>
        <p:spPr>
          <a:xfrm>
            <a:off x="552450" y="3705225"/>
            <a:ext cx="11049000" cy="781050"/>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参数精度收益并不等比例传递到寿命点</a:t>
            </a:r>
          </a:p>
        </p:txBody>
      </p:sp>
      <p:sp>
        <p:nvSpPr>
          <p:cNvPr id="11" name="content-weibull20260906s20-8">
            <a:extLst>
              <a:ext uri="{FF2B5EF4-FFF2-40B4-BE49-F238E27FC236}">
                <a16:creationId xmlns:a16="http://schemas.microsoft.com/office/drawing/2014/main" id="{AF4E1216-AC20-4287-A763-384385EF9714}"/>
              </a:ext>
            </a:extLst>
          </p:cNvPr>
          <p:cNvSpPr>
            <a:spLocks noGrp="1"/>
          </p:cNvSpPr>
          <p:nvPr/>
        </p:nvSpPr>
        <p:spPr>
          <a:xfrm>
            <a:off x="619125" y="5238750"/>
            <a:ext cx="10906125" cy="781050"/>
          </a:xfrm>
          <a:prstGeom prst="rect">
            <a:avLst/>
          </a:prstGeom>
          <a:noFill/>
          <a:ln w="0">
            <a:noFill/>
          </a:ln>
        </p:spPr>
        <p:txBody>
          <a:bodyPr wrap="square" lIns="0" tIns="0" rIns="0" bIns="0" anchor="t">
            <a:noAutofit/>
          </a:bodyPr>
          <a:lstStyle/>
          <a:p>
            <a:pPr algn="l">
              <a:defRPr sz="1800" b="1">
                <a:solidFill>
                  <a:srgbClr val="315DA7"/>
                </a:solidFill>
                <a:latin typeface="汉仪粗宋简"/>
                <a:ea typeface="汉仪粗宋简"/>
                <a:cs typeface="汉仪粗宋简"/>
              </a:defRPr>
            </a:pPr>
            <a:r>
              <a:rPr sz="1800" b="1">
                <a:solidFill>
                  <a:srgbClr val="315DA7"/>
                </a:solidFill>
                <a:latin typeface="汉仪粗宋简"/>
                <a:ea typeface="汉仪粗宋简"/>
                <a:cs typeface="汉仪粗宋简"/>
              </a:rPr>
              <a:t>下一问：直接用最终关心的寿命点训练，会得到什么收益与代价？</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直接参数估计与过程量优化的比较</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02</a:t>
            </a:r>
          </a:p>
        </p:txBody>
      </p:sp>
    </p:spTree>
    <p:extLst>
      <p:ext uri="{BB962C8B-B14F-4D97-AF65-F5344CB8AC3E}">
        <p14:creationId xmlns:p14="http://schemas.microsoft.com/office/powerpoint/2010/main" val="5376043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最终要用的是寿命点，直接按它的误差训练会更准吗？</a:t>
            </a:r>
          </a:p>
        </p:txBody>
      </p:sp>
      <p:sp>
        <p:nvSpPr>
          <p:cNvPr id="7" name="content-weibull20260906s21-4">
            <a:extLst>
              <a:ext uri="{FF2B5EF4-FFF2-40B4-BE49-F238E27FC236}">
                <a16:creationId xmlns:a16="http://schemas.microsoft.com/office/drawing/2014/main" id="{DCFE7F60-CD51-4AEC-B237-56385E830209}"/>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21 / 32</a:t>
            </a:r>
          </a:p>
        </p:txBody>
      </p:sp>
      <mc:AlternateContent xmlns:mc="http://schemas.openxmlformats.org/markup-compatibility/2006" xmlns:a14="http://schemas.microsoft.com/office/drawing/2010/main">
        <mc:Choice Requires="a14">
          <p:sp>
            <p:nvSpPr>
              <p:cNvPr id="8" name="content-weibull20260906s21-5">
                <a:extLst>
                  <a:ext uri="{FF2B5EF4-FFF2-40B4-BE49-F238E27FC236}">
                    <a16:creationId xmlns:a16="http://schemas.microsoft.com/office/drawing/2014/main" id="{E37B044D-F44A-4B5D-B250-9163D4166C3A}"/>
                  </a:ext>
                </a:extLst>
              </p:cNvPr>
              <p:cNvSpPr>
                <a:spLocks noGrp="1"/>
              </p:cNvSpPr>
              <p:nvPr/>
            </p:nvSpPr>
            <p:spPr>
              <a:xfrm>
                <a:off x="666750" y="1809750"/>
                <a:ext cx="10858500" cy="809625"/>
              </a:xfrm>
              <a:prstGeom prst="rect">
                <a:avLst/>
              </a:prstGeom>
              <a:noFill/>
              <a:ln w="0">
                <a:noFill/>
              </a:ln>
            </p:spPr>
            <p:txBody>
              <a:bodyPr wrap="square" lIns="0" tIns="0" rIns="0" bIns="0" anchor="t">
                <a:noAutofit/>
              </a:bodyPr>
              <a:lstStyle/>
              <a:p>
                <a:pPr marL="0" lvl="0" indent="0" algn="ctr">
                  <a:buNone/>
                  <a:defRPr sz="2700">
                    <a:latin typeface="Cambria Math"/>
                  </a:defRPr>
                </a:pPr>
                <a14:m>
                  <m:oMathPara xmlns:m="http://schemas.openxmlformats.org/officeDocument/2006/math">
                    <m:oMathParaPr>
                      <m:jc m:val="center"/>
                    </m:oMathParaPr>
                    <m:oMath xmlns:m="http://schemas.openxmlformats.org/officeDocument/2006/math">
                      <m:sSub>
                        <m:sSubPr>
                          <m:ctrlPr>
                            <a:rPr sz="2700" i="1">
                              <a:latin typeface="Cambria Math" panose="02040503050406030204" pitchFamily="18" charset="0"/>
                            </a:rPr>
                          </m:ctrlPr>
                        </m:sSubPr>
                        <m:e>
                          <m:r>
                            <a:rPr sz="2700">
                              <a:latin typeface="Cambria Math"/>
                            </a:rPr>
                            <m:t>𝑥</m:t>
                          </m:r>
                        </m:e>
                        <m:sub>
                          <m:r>
                            <a:rPr sz="2700">
                              <a:latin typeface="Cambria Math"/>
                            </a:rPr>
                            <m:t>𝑅</m:t>
                          </m:r>
                        </m:sub>
                      </m:sSub>
                      <m:r>
                        <a:rPr sz="2700">
                          <a:latin typeface="Cambria Math"/>
                        </a:rPr>
                        <m:t>=</m:t>
                      </m:r>
                      <m:r>
                        <a:rPr sz="2700">
                          <a:latin typeface="Cambria Math"/>
                        </a:rPr>
                        <m:t>𝛾</m:t>
                      </m:r>
                      <m:r>
                        <a:rPr sz="2700">
                          <a:latin typeface="Cambria Math"/>
                        </a:rPr>
                        <m:t>+</m:t>
                      </m:r>
                      <m:r>
                        <a:rPr sz="2700">
                          <a:latin typeface="Cambria Math"/>
                        </a:rPr>
                        <m:t>𝜂</m:t>
                      </m:r>
                      <m:r>
                        <a:rPr sz="2700">
                          <a:latin typeface="Cambria Math"/>
                        </a:rPr>
                        <m:t>[−</m:t>
                      </m:r>
                      <m:r>
                        <m:rPr>
                          <m:sty m:val="p"/>
                        </m:rPr>
                        <a:rPr sz="2700">
                          <a:latin typeface="Cambria Math"/>
                        </a:rPr>
                        <m:t>ln</m:t>
                      </m:r>
                      <m:r>
                        <a:rPr sz="2700">
                          <a:latin typeface="Cambria Math"/>
                        </a:rPr>
                        <m:t>𝑅</m:t>
                      </m:r>
                      <m:sSup>
                        <m:sSupPr>
                          <m:ctrlPr>
                            <a:rPr sz="2700" i="1">
                              <a:latin typeface="Cambria Math" panose="02040503050406030204" pitchFamily="18" charset="0"/>
                            </a:rPr>
                          </m:ctrlPr>
                        </m:sSupPr>
                        <m:e>
                          <m:r>
                            <a:rPr sz="2700">
                              <a:latin typeface="Cambria Math"/>
                            </a:rPr>
                            <m:t>]</m:t>
                          </m:r>
                        </m:e>
                        <m:sup>
                          <m:r>
                            <a:rPr sz="2700">
                              <a:latin typeface="Cambria Math"/>
                            </a:rPr>
                            <m:t>1/</m:t>
                          </m:r>
                          <m:r>
                            <a:rPr sz="2700">
                              <a:latin typeface="Cambria Math"/>
                            </a:rPr>
                            <m:t>𝛽</m:t>
                          </m:r>
                        </m:sup>
                      </m:sSup>
                      <m:r>
                        <a:rPr sz="2700">
                          <a:latin typeface="Cambria Math"/>
                        </a:rPr>
                        <m:t>,  </m:t>
                      </m:r>
                      <m:r>
                        <a:rPr sz="2700">
                          <a:latin typeface="Cambria Math"/>
                        </a:rPr>
                        <m:t>𝑃</m:t>
                      </m:r>
                      <m:r>
                        <a:rPr sz="2700">
                          <a:latin typeface="Cambria Math"/>
                        </a:rPr>
                        <m:t>(</m:t>
                      </m:r>
                      <m:r>
                        <a:rPr sz="2700">
                          <a:latin typeface="Cambria Math"/>
                        </a:rPr>
                        <m:t>𝑇</m:t>
                      </m:r>
                      <m:r>
                        <a:rPr sz="2700">
                          <a:latin typeface="Cambria Math"/>
                        </a:rPr>
                        <m:t>&gt;</m:t>
                      </m:r>
                      <m:sSub>
                        <m:sSubPr>
                          <m:ctrlPr>
                            <a:rPr sz="2700" i="1">
                              <a:latin typeface="Cambria Math" panose="02040503050406030204" pitchFamily="18" charset="0"/>
                            </a:rPr>
                          </m:ctrlPr>
                        </m:sSubPr>
                        <m:e>
                          <m:r>
                            <a:rPr sz="2700">
                              <a:latin typeface="Cambria Math"/>
                            </a:rPr>
                            <m:t>𝑥</m:t>
                          </m:r>
                        </m:e>
                        <m:sub>
                          <m:r>
                            <a:rPr sz="2700">
                              <a:latin typeface="Cambria Math"/>
                            </a:rPr>
                            <m:t>𝑅</m:t>
                          </m:r>
                        </m:sub>
                      </m:sSub>
                      <m:r>
                        <a:rPr sz="2700">
                          <a:latin typeface="Cambria Math"/>
                        </a:rPr>
                        <m:t>)=</m:t>
                      </m:r>
                      <m:r>
                        <a:rPr sz="2700">
                          <a:latin typeface="Cambria Math"/>
                        </a:rPr>
                        <m:t>𝑅</m:t>
                      </m:r>
                      <m:r>
                        <a:rPr sz="2700">
                          <a:latin typeface="Cambria Math"/>
                        </a:rPr>
                        <m:t>.</m:t>
                      </m:r>
                    </m:oMath>
                  </m:oMathPara>
                </a14:m>
                <a:endParaRPr/>
              </a:p>
            </p:txBody>
          </p:sp>
        </mc:Choice>
        <mc:Fallback xmlns="">
          <p:sp>
            <p:nvSpPr>
              <p:cNvPr id="1000" name="content-weibull20260906s21-5">
                <a:extLst>
                  <a:ext uri="{FF2B5EF4-FFF2-40B4-BE49-F238E27FC236}">
                    <a16:creationId xmlns:a16="http://schemas.microsoft.com/office/drawing/2014/main" id="{E37B044D-F44A-4B5D-B250-9163D4166C3A}"/>
                  </a:ext>
                </a:extLst>
              </p:cNvPr>
              <p:cNvSpPr>
                <a:spLocks noGrp="1" noRot="1" noChangeAspect="1" noMove="1" noResize="1" noEditPoints="1" noAdjustHandles="1" noChangeArrowheads="1" noChangeShapeType="1" noTextEdit="1"/>
              </p:cNvSpPr>
              <p:nvPr/>
            </p:nvSpPr>
            <p:spPr>
              <a:xfrm>
                <a:off x="666750" y="1809750"/>
                <a:ext cx="10858500" cy="809625"/>
              </a:xfrm>
              <a:prstGeom prst="rect">
                <a:avLst/>
              </a:prstGeom>
              <a:blipFill>
                <a:blip r:embed="rId3"/>
                <a:stretch>
                  <a:fillRect/>
                </a:stretch>
              </a:blipFill>
              <a:ln w="0">
                <a:noFill/>
              </a:ln>
            </p:spPr>
            <p:txBody>
              <a:bodyPr/>
              <a:lstStyle/>
              <a:p>
                <a:r>
                  <a:rPr lang="zh-CN" altLang="en-US">
                    <a:noFill/>
                  </a:rPr>
                  <a:t> </a:t>
                </a:r>
              </a:p>
            </p:txBody>
          </p:sp>
        </mc:Fallback>
      </mc:AlternateContent>
      <p:sp>
        <p:nvSpPr>
          <p:cNvPr id="9" name="content-weibull20260906s21-6">
            <a:extLst>
              <a:ext uri="{FF2B5EF4-FFF2-40B4-BE49-F238E27FC236}">
                <a16:creationId xmlns:a16="http://schemas.microsoft.com/office/drawing/2014/main" id="{91ED6AD1-4881-4D85-9C80-A7FAAF14732C}"/>
              </a:ext>
            </a:extLst>
          </p:cNvPr>
          <p:cNvSpPr>
            <a:spLocks noGrp="1"/>
          </p:cNvSpPr>
          <p:nvPr/>
        </p:nvSpPr>
        <p:spPr>
          <a:xfrm>
            <a:off x="666750" y="2857500"/>
            <a:ext cx="10858500" cy="571500"/>
          </a:xfrm>
          <a:prstGeom prst="rect">
            <a:avLst/>
          </a:prstGeom>
          <a:noFill/>
          <a:ln w="0">
            <a:noFill/>
          </a:ln>
        </p:spPr>
        <p:txBody>
          <a:bodyPr wrap="square" lIns="0" tIns="0" rIns="0" bIns="0" anchor="t">
            <a:noAutofit/>
          </a:bodyPr>
          <a:lstStyle/>
          <a:p>
            <a:pPr algn="l">
              <a:defRPr sz="1800" b="1">
                <a:solidFill>
                  <a:srgbClr val="161616"/>
                </a:solidFill>
                <a:latin typeface="汉仪粗宋简"/>
                <a:ea typeface="汉仪粗宋简"/>
                <a:cs typeface="汉仪粗宋简"/>
              </a:defRPr>
            </a:pPr>
            <a:r>
              <a:rPr sz="1800" b="1">
                <a:solidFill>
                  <a:srgbClr val="161616"/>
                </a:solidFill>
                <a:latin typeface="汉仪粗宋简"/>
                <a:ea typeface="汉仪粗宋简"/>
                <a:cs typeface="汉仪粗宋简"/>
              </a:rPr>
              <a:t>P：训练时要求三个参数分别准确。</a:t>
            </a:r>
          </a:p>
        </p:txBody>
      </p:sp>
      <mc:AlternateContent xmlns:mc="http://schemas.openxmlformats.org/markup-compatibility/2006" xmlns:a14="http://schemas.microsoft.com/office/drawing/2010/main">
        <mc:Choice Requires="a14">
          <p:sp>
            <p:nvSpPr>
              <p:cNvPr id="10" name="content-weibull20260906s21-7">
                <a:extLst>
                  <a:ext uri="{FF2B5EF4-FFF2-40B4-BE49-F238E27FC236}">
                    <a16:creationId xmlns:a16="http://schemas.microsoft.com/office/drawing/2014/main" id="{C54A5CB9-ACB9-4913-9416-E6418AB9AA95}"/>
                  </a:ext>
                </a:extLst>
              </p:cNvPr>
              <p:cNvSpPr>
                <a:spLocks noGrp="1"/>
              </p:cNvSpPr>
              <p:nvPr/>
            </p:nvSpPr>
            <p:spPr>
              <a:xfrm>
                <a:off x="666750" y="3276600"/>
                <a:ext cx="10858500" cy="857250"/>
              </a:xfrm>
              <a:prstGeom prst="rect">
                <a:avLst/>
              </a:prstGeom>
              <a:noFill/>
              <a:ln w="0">
                <a:noFill/>
              </a:ln>
            </p:spPr>
            <p:txBody>
              <a:bodyPr wrap="square" lIns="0" tIns="0" rIns="0" bIns="0" anchor="t">
                <a:noAutofit/>
              </a:bodyPr>
              <a:lstStyle/>
              <a:p>
                <a:pPr marL="0" lvl="0" indent="0" algn="ctr">
                  <a:buNone/>
                  <a:defRPr sz="2100">
                    <a:latin typeface="Cambria Math"/>
                  </a:defRPr>
                </a:pPr>
                <a14:m>
                  <m:oMathPara xmlns:m="http://schemas.openxmlformats.org/officeDocument/2006/math">
                    <m:oMathParaPr>
                      <m:jc m:val="center"/>
                    </m:oMathParaPr>
                    <m:oMath xmlns:m="http://schemas.openxmlformats.org/officeDocument/2006/math">
                      <m:sSub>
                        <m:sSubPr>
                          <m:ctrlPr>
                            <a:rPr sz="2100" i="1">
                              <a:latin typeface="Cambria Math" panose="02040503050406030204" pitchFamily="18" charset="0"/>
                            </a:rPr>
                          </m:ctrlPr>
                        </m:sSubPr>
                        <m:e>
                          <m:r>
                            <a:rPr sz="2100">
                              <a:latin typeface="Cambria Math"/>
                            </a:rPr>
                            <m:t>𝐿</m:t>
                          </m:r>
                        </m:e>
                        <m:sub>
                          <m:r>
                            <a:rPr sz="2100">
                              <a:latin typeface="Cambria Math"/>
                            </a:rPr>
                            <m:t>𝑃</m:t>
                          </m:r>
                        </m:sub>
                      </m:sSub>
                      <m:r>
                        <a:rPr sz="2100">
                          <a:latin typeface="Cambria Math"/>
                        </a:rPr>
                        <m:t>=</m:t>
                      </m:r>
                      <m:r>
                        <m:rPr>
                          <m:sty m:val="p"/>
                        </m:rPr>
                        <a:rPr sz="2100">
                          <a:latin typeface="Cambria Math"/>
                        </a:rPr>
                        <m:t>mean</m:t>
                      </m:r>
                      <m:d>
                        <m:dPr>
                          <m:begChr m:val="["/>
                          <m:endChr m:val="]"/>
                          <m:ctrlPr>
                            <a:rPr sz="2100" i="1">
                              <a:latin typeface="Cambria Math" panose="02040503050406030204" pitchFamily="18" charset="0"/>
                            </a:rPr>
                          </m:ctrlPr>
                        </m:dPr>
                        <m:e>
                          <m:sSup>
                            <m:sSupPr>
                              <m:ctrlPr>
                                <a:rPr sz="2100" i="1">
                                  <a:latin typeface="Cambria Math" panose="02040503050406030204" pitchFamily="18" charset="0"/>
                                </a:rPr>
                              </m:ctrlPr>
                            </m:sSupPr>
                            <m:e>
                              <m:d>
                                <m:dPr>
                                  <m:ctrlPr>
                                    <a:rPr sz="2100" i="1">
                                      <a:latin typeface="Cambria Math" panose="02040503050406030204" pitchFamily="18" charset="0"/>
                                    </a:rPr>
                                  </m:ctrlPr>
                                </m:dPr>
                                <m:e>
                                  <m:f>
                                    <m:fPr>
                                      <m:ctrlPr>
                                        <a:rPr sz="2100" i="1">
                                          <a:latin typeface="Cambria Math" panose="02040503050406030204" pitchFamily="18" charset="0"/>
                                        </a:rPr>
                                      </m:ctrlPr>
                                    </m:fPr>
                                    <m:num>
                                      <m:acc>
                                        <m:accPr>
                                          <m:chr m:val="̂"/>
                                          <m:ctrlPr>
                                            <a:rPr sz="2100" i="1">
                                              <a:latin typeface="Cambria Math" panose="02040503050406030204" pitchFamily="18" charset="0"/>
                                            </a:rPr>
                                          </m:ctrlPr>
                                        </m:accPr>
                                        <m:e>
                                          <m:r>
                                            <a:rPr sz="2100">
                                              <a:latin typeface="Cambria Math"/>
                                            </a:rPr>
                                            <m:t>𝛽</m:t>
                                          </m:r>
                                        </m:e>
                                      </m:acc>
                                      <m:r>
                                        <a:rPr sz="2100">
                                          <a:latin typeface="Cambria Math"/>
                                        </a:rPr>
                                        <m:t>−</m:t>
                                      </m:r>
                                      <m:r>
                                        <a:rPr sz="2100">
                                          <a:latin typeface="Cambria Math"/>
                                        </a:rPr>
                                        <m:t>𝛽</m:t>
                                      </m:r>
                                    </m:num>
                                    <m:den>
                                      <m:r>
                                        <a:rPr sz="2100">
                                          <a:latin typeface="Cambria Math"/>
                                        </a:rPr>
                                        <m:t>𝛽</m:t>
                                      </m:r>
                                    </m:den>
                                  </m:f>
                                </m:e>
                              </m:d>
                            </m:e>
                            <m:sup>
                              <m:r>
                                <a:rPr sz="2100">
                                  <a:latin typeface="Cambria Math"/>
                                </a:rPr>
                                <m:t>2</m:t>
                              </m:r>
                            </m:sup>
                          </m:sSup>
                          <m:r>
                            <a:rPr sz="2100">
                              <a:latin typeface="Cambria Math"/>
                            </a:rPr>
                            <m:t>+</m:t>
                          </m:r>
                          <m:sSup>
                            <m:sSupPr>
                              <m:ctrlPr>
                                <a:rPr sz="2100" i="1">
                                  <a:latin typeface="Cambria Math" panose="02040503050406030204" pitchFamily="18" charset="0"/>
                                </a:rPr>
                              </m:ctrlPr>
                            </m:sSupPr>
                            <m:e>
                              <m:d>
                                <m:dPr>
                                  <m:ctrlPr>
                                    <a:rPr sz="2100" i="1">
                                      <a:latin typeface="Cambria Math" panose="02040503050406030204" pitchFamily="18" charset="0"/>
                                    </a:rPr>
                                  </m:ctrlPr>
                                </m:dPr>
                                <m:e>
                                  <m:f>
                                    <m:fPr>
                                      <m:ctrlPr>
                                        <a:rPr sz="2100" i="1">
                                          <a:latin typeface="Cambria Math" panose="02040503050406030204" pitchFamily="18" charset="0"/>
                                        </a:rPr>
                                      </m:ctrlPr>
                                    </m:fPr>
                                    <m:num>
                                      <m:acc>
                                        <m:accPr>
                                          <m:chr m:val="̂"/>
                                          <m:ctrlPr>
                                            <a:rPr sz="2100" i="1">
                                              <a:latin typeface="Cambria Math" panose="02040503050406030204" pitchFamily="18" charset="0"/>
                                            </a:rPr>
                                          </m:ctrlPr>
                                        </m:accPr>
                                        <m:e>
                                          <m:r>
                                            <a:rPr sz="2100">
                                              <a:latin typeface="Cambria Math"/>
                                            </a:rPr>
                                            <m:t>𝜂</m:t>
                                          </m:r>
                                        </m:e>
                                      </m:acc>
                                      <m:r>
                                        <a:rPr sz="2100">
                                          <a:latin typeface="Cambria Math"/>
                                        </a:rPr>
                                        <m:t>−</m:t>
                                      </m:r>
                                      <m:r>
                                        <a:rPr sz="2100">
                                          <a:latin typeface="Cambria Math"/>
                                        </a:rPr>
                                        <m:t>𝜂</m:t>
                                      </m:r>
                                    </m:num>
                                    <m:den>
                                      <m:r>
                                        <a:rPr sz="2100">
                                          <a:latin typeface="Cambria Math"/>
                                        </a:rPr>
                                        <m:t>𝜂</m:t>
                                      </m:r>
                                    </m:den>
                                  </m:f>
                                </m:e>
                              </m:d>
                            </m:e>
                            <m:sup>
                              <m:r>
                                <a:rPr sz="2100">
                                  <a:latin typeface="Cambria Math"/>
                                </a:rPr>
                                <m:t>2</m:t>
                              </m:r>
                            </m:sup>
                          </m:sSup>
                          <m:r>
                            <a:rPr sz="2100">
                              <a:latin typeface="Cambria Math"/>
                            </a:rPr>
                            <m:t>+</m:t>
                          </m:r>
                          <m:sSup>
                            <m:sSupPr>
                              <m:ctrlPr>
                                <a:rPr sz="2100" i="1">
                                  <a:latin typeface="Cambria Math" panose="02040503050406030204" pitchFamily="18" charset="0"/>
                                </a:rPr>
                              </m:ctrlPr>
                            </m:sSupPr>
                            <m:e>
                              <m:d>
                                <m:dPr>
                                  <m:ctrlPr>
                                    <a:rPr sz="2100" i="1">
                                      <a:latin typeface="Cambria Math" panose="02040503050406030204" pitchFamily="18" charset="0"/>
                                    </a:rPr>
                                  </m:ctrlPr>
                                </m:dPr>
                                <m:e>
                                  <m:f>
                                    <m:fPr>
                                      <m:ctrlPr>
                                        <a:rPr sz="2100" i="1">
                                          <a:latin typeface="Cambria Math" panose="02040503050406030204" pitchFamily="18" charset="0"/>
                                        </a:rPr>
                                      </m:ctrlPr>
                                    </m:fPr>
                                    <m:num>
                                      <m:acc>
                                        <m:accPr>
                                          <m:chr m:val="̂"/>
                                          <m:ctrlPr>
                                            <a:rPr sz="2100" i="1">
                                              <a:latin typeface="Cambria Math" panose="02040503050406030204" pitchFamily="18" charset="0"/>
                                            </a:rPr>
                                          </m:ctrlPr>
                                        </m:accPr>
                                        <m:e>
                                          <m:r>
                                            <a:rPr sz="2100">
                                              <a:latin typeface="Cambria Math"/>
                                            </a:rPr>
                                            <m:t>𝛾</m:t>
                                          </m:r>
                                        </m:e>
                                      </m:acc>
                                      <m:r>
                                        <a:rPr sz="2100">
                                          <a:latin typeface="Cambria Math"/>
                                        </a:rPr>
                                        <m:t>−</m:t>
                                      </m:r>
                                      <m:r>
                                        <a:rPr sz="2100">
                                          <a:latin typeface="Cambria Math"/>
                                        </a:rPr>
                                        <m:t>𝛾</m:t>
                                      </m:r>
                                    </m:num>
                                    <m:den>
                                      <m:r>
                                        <a:rPr sz="2100">
                                          <a:latin typeface="Cambria Math"/>
                                        </a:rPr>
                                        <m:t>𝜂</m:t>
                                      </m:r>
                                    </m:den>
                                  </m:f>
                                </m:e>
                              </m:d>
                            </m:e>
                            <m:sup>
                              <m:r>
                                <a:rPr sz="2100">
                                  <a:latin typeface="Cambria Math"/>
                                </a:rPr>
                                <m:t>2</m:t>
                              </m:r>
                            </m:sup>
                          </m:sSup>
                        </m:e>
                      </m:d>
                      <m:r>
                        <a:rPr sz="2100">
                          <a:latin typeface="Cambria Math"/>
                        </a:rPr>
                        <m:t>.</m:t>
                      </m:r>
                    </m:oMath>
                  </m:oMathPara>
                </a14:m>
                <a:endParaRPr/>
              </a:p>
            </p:txBody>
          </p:sp>
        </mc:Choice>
        <mc:Fallback xmlns="">
          <p:sp>
            <p:nvSpPr>
              <p:cNvPr id="1001" name="content-weibull20260906s21-7">
                <a:extLst>
                  <a:ext uri="{FF2B5EF4-FFF2-40B4-BE49-F238E27FC236}">
                    <a16:creationId xmlns:a16="http://schemas.microsoft.com/office/drawing/2014/main" id="{C54A5CB9-ACB9-4913-9416-E6418AB9AA95}"/>
                  </a:ext>
                </a:extLst>
              </p:cNvPr>
              <p:cNvSpPr>
                <a:spLocks noGrp="1" noRot="1" noChangeAspect="1" noMove="1" noResize="1" noEditPoints="1" noAdjustHandles="1" noChangeArrowheads="1" noChangeShapeType="1" noTextEdit="1"/>
              </p:cNvSpPr>
              <p:nvPr/>
            </p:nvSpPr>
            <p:spPr>
              <a:xfrm>
                <a:off x="666750" y="3276600"/>
                <a:ext cx="10858500" cy="857250"/>
              </a:xfrm>
              <a:prstGeom prst="rect">
                <a:avLst/>
              </a:prstGeom>
              <a:blipFill>
                <a:blip r:embed="rId4"/>
                <a:stretch>
                  <a:fillRect b="-1429"/>
                </a:stretch>
              </a:blipFill>
              <a:ln w="0">
                <a:noFill/>
              </a:ln>
            </p:spPr>
            <p:txBody>
              <a:bodyPr/>
              <a:lstStyle/>
              <a:p>
                <a:r>
                  <a:rPr lang="zh-CN" altLang="en-US">
                    <a:noFill/>
                  </a:rPr>
                  <a:t> </a:t>
                </a:r>
              </a:p>
            </p:txBody>
          </p:sp>
        </mc:Fallback>
      </mc:AlternateContent>
      <p:sp>
        <p:nvSpPr>
          <p:cNvPr id="11" name="content-weibull20260906s21-8">
            <a:extLst>
              <a:ext uri="{FF2B5EF4-FFF2-40B4-BE49-F238E27FC236}">
                <a16:creationId xmlns:a16="http://schemas.microsoft.com/office/drawing/2014/main" id="{B32D210D-EAA4-40FB-B993-146D04ABE73F}"/>
              </a:ext>
            </a:extLst>
          </p:cNvPr>
          <p:cNvSpPr>
            <a:spLocks noGrp="1"/>
          </p:cNvSpPr>
          <p:nvPr/>
        </p:nvSpPr>
        <p:spPr>
          <a:xfrm>
            <a:off x="666750" y="4352925"/>
            <a:ext cx="10858500" cy="571500"/>
          </a:xfrm>
          <a:prstGeom prst="rect">
            <a:avLst/>
          </a:prstGeom>
          <a:noFill/>
          <a:ln w="0">
            <a:noFill/>
          </a:ln>
        </p:spPr>
        <p:txBody>
          <a:bodyPr wrap="square" lIns="0" tIns="0" rIns="0" bIns="0" anchor="t">
            <a:noAutofit/>
          </a:bodyPr>
          <a:lstStyle/>
          <a:p>
            <a:pPr algn="l">
              <a:defRPr sz="1800" b="1">
                <a:solidFill>
                  <a:srgbClr val="161616"/>
                </a:solidFill>
                <a:latin typeface="汉仪粗宋简"/>
                <a:ea typeface="汉仪粗宋简"/>
                <a:cs typeface="汉仪粗宋简"/>
              </a:defRPr>
            </a:pPr>
            <a:r>
              <a:rPr sz="1800" b="1">
                <a:solidFill>
                  <a:srgbClr val="161616"/>
                </a:solidFill>
                <a:latin typeface="汉仪粗宋简"/>
                <a:ea typeface="汉仪粗宋简"/>
                <a:cs typeface="汉仪粗宋简"/>
              </a:rPr>
              <a:t>Q：仍输出三个参数，训练时要求算出的目标寿命点准确。</a:t>
            </a:r>
          </a:p>
        </p:txBody>
      </p:sp>
      <mc:AlternateContent xmlns:mc="http://schemas.openxmlformats.org/markup-compatibility/2006" xmlns:a14="http://schemas.microsoft.com/office/drawing/2010/main">
        <mc:Choice Requires="a14">
          <p:sp>
            <p:nvSpPr>
              <p:cNvPr id="12" name="content-weibull20260906s21-9">
                <a:extLst>
                  <a:ext uri="{FF2B5EF4-FFF2-40B4-BE49-F238E27FC236}">
                    <a16:creationId xmlns:a16="http://schemas.microsoft.com/office/drawing/2014/main" id="{41463446-2690-4FF8-B95C-40EA34D05478}"/>
                  </a:ext>
                </a:extLst>
              </p:cNvPr>
              <p:cNvSpPr>
                <a:spLocks noGrp="1"/>
              </p:cNvSpPr>
              <p:nvPr/>
            </p:nvSpPr>
            <p:spPr>
              <a:xfrm>
                <a:off x="666750" y="5000625"/>
                <a:ext cx="10858500" cy="790575"/>
              </a:xfrm>
              <a:prstGeom prst="rect">
                <a:avLst/>
              </a:prstGeom>
              <a:noFill/>
              <a:ln w="0">
                <a:noFill/>
              </a:ln>
            </p:spPr>
            <p:txBody>
              <a:bodyPr wrap="square" lIns="0" tIns="0" rIns="0" bIns="0" anchor="t">
                <a:noAutofit/>
              </a:bodyPr>
              <a:lstStyle/>
              <a:p>
                <a:pPr marL="0" lvl="0" indent="0" algn="ctr">
                  <a:buNone/>
                  <a:defRPr sz="2200">
                    <a:latin typeface="Cambria Math"/>
                  </a:defRPr>
                </a:pPr>
                <a14:m>
                  <m:oMathPara xmlns:m="http://schemas.openxmlformats.org/officeDocument/2006/math">
                    <m:oMathParaPr>
                      <m:jc m:val="center"/>
                    </m:oMathParaPr>
                    <m:oMath xmlns:m="http://schemas.openxmlformats.org/officeDocument/2006/math">
                      <m:sSub>
                        <m:sSubPr>
                          <m:ctrlPr>
                            <a:rPr sz="2200" i="1">
                              <a:latin typeface="Cambria Math" panose="02040503050406030204" pitchFamily="18" charset="0"/>
                            </a:rPr>
                          </m:ctrlPr>
                        </m:sSubPr>
                        <m:e>
                          <m:r>
                            <a:rPr sz="2200">
                              <a:latin typeface="Cambria Math"/>
                            </a:rPr>
                            <m:t>𝐿</m:t>
                          </m:r>
                        </m:e>
                        <m:sub>
                          <m:r>
                            <a:rPr sz="2200">
                              <a:latin typeface="Cambria Math"/>
                            </a:rPr>
                            <m:t>𝑄</m:t>
                          </m:r>
                        </m:sub>
                      </m:sSub>
                      <m:r>
                        <a:rPr sz="2200">
                          <a:latin typeface="Cambria Math"/>
                        </a:rPr>
                        <m:t>=</m:t>
                      </m:r>
                      <m:r>
                        <m:rPr>
                          <m:sty m:val="p"/>
                        </m:rPr>
                        <a:rPr sz="2200">
                          <a:latin typeface="Cambria Math"/>
                        </a:rPr>
                        <m:t>mean</m:t>
                      </m:r>
                      <m:d>
                        <m:dPr>
                          <m:begChr m:val="["/>
                          <m:endChr m:val="]"/>
                          <m:ctrlPr>
                            <a:rPr sz="2200" i="1">
                              <a:latin typeface="Cambria Math" panose="02040503050406030204" pitchFamily="18" charset="0"/>
                            </a:rPr>
                          </m:ctrlPr>
                        </m:dPr>
                        <m:e>
                          <m:sSup>
                            <m:sSupPr>
                              <m:ctrlPr>
                                <a:rPr sz="2200" i="1">
                                  <a:latin typeface="Cambria Math" panose="02040503050406030204" pitchFamily="18" charset="0"/>
                                </a:rPr>
                              </m:ctrlPr>
                            </m:sSupPr>
                            <m:e>
                              <m:d>
                                <m:dPr>
                                  <m:ctrlPr>
                                    <a:rPr sz="2200" i="1">
                                      <a:latin typeface="Cambria Math" panose="02040503050406030204" pitchFamily="18" charset="0"/>
                                    </a:rPr>
                                  </m:ctrlPr>
                                </m:dPr>
                                <m:e>
                                  <m:f>
                                    <m:fPr>
                                      <m:ctrlPr>
                                        <a:rPr sz="2200" i="1">
                                          <a:latin typeface="Cambria Math" panose="02040503050406030204" pitchFamily="18" charset="0"/>
                                        </a:rPr>
                                      </m:ctrlPr>
                                    </m:fPr>
                                    <m:num>
                                      <m:sSub>
                                        <m:sSubPr>
                                          <m:ctrlPr>
                                            <a:rPr sz="2200" i="1">
                                              <a:latin typeface="Cambria Math" panose="02040503050406030204" pitchFamily="18" charset="0"/>
                                            </a:rPr>
                                          </m:ctrlPr>
                                        </m:sSubPr>
                                        <m:e>
                                          <m:acc>
                                            <m:accPr>
                                              <m:chr m:val="̂"/>
                                              <m:ctrlPr>
                                                <a:rPr sz="2200" i="1">
                                                  <a:latin typeface="Cambria Math" panose="02040503050406030204" pitchFamily="18" charset="0"/>
                                                </a:rPr>
                                              </m:ctrlPr>
                                            </m:accPr>
                                            <m:e>
                                              <m:r>
                                                <a:rPr sz="2200">
                                                  <a:latin typeface="Cambria Math"/>
                                                </a:rPr>
                                                <m:t>𝑥</m:t>
                                              </m:r>
                                            </m:e>
                                          </m:acc>
                                        </m:e>
                                        <m:sub>
                                          <m:r>
                                            <a:rPr sz="2200">
                                              <a:latin typeface="Cambria Math"/>
                                            </a:rPr>
                                            <m:t>0.95</m:t>
                                          </m:r>
                                        </m:sub>
                                      </m:sSub>
                                      <m:r>
                                        <a:rPr sz="2200">
                                          <a:latin typeface="Cambria Math"/>
                                        </a:rPr>
                                        <m:t>−</m:t>
                                      </m:r>
                                      <m:sSub>
                                        <m:sSubPr>
                                          <m:ctrlPr>
                                            <a:rPr sz="2200" i="1">
                                              <a:latin typeface="Cambria Math" panose="02040503050406030204" pitchFamily="18" charset="0"/>
                                            </a:rPr>
                                          </m:ctrlPr>
                                        </m:sSubPr>
                                        <m:e>
                                          <m:r>
                                            <a:rPr sz="2200">
                                              <a:latin typeface="Cambria Math"/>
                                            </a:rPr>
                                            <m:t>𝑥</m:t>
                                          </m:r>
                                        </m:e>
                                        <m:sub>
                                          <m:r>
                                            <a:rPr sz="2200">
                                              <a:latin typeface="Cambria Math"/>
                                            </a:rPr>
                                            <m:t>0.95</m:t>
                                          </m:r>
                                        </m:sub>
                                      </m:sSub>
                                    </m:num>
                                    <m:den>
                                      <m:sSub>
                                        <m:sSubPr>
                                          <m:ctrlPr>
                                            <a:rPr sz="2200" i="1">
                                              <a:latin typeface="Cambria Math" panose="02040503050406030204" pitchFamily="18" charset="0"/>
                                            </a:rPr>
                                          </m:ctrlPr>
                                        </m:sSubPr>
                                        <m:e>
                                          <m:r>
                                            <a:rPr sz="2200">
                                              <a:latin typeface="Cambria Math"/>
                                            </a:rPr>
                                            <m:t>𝑥</m:t>
                                          </m:r>
                                        </m:e>
                                        <m:sub>
                                          <m:r>
                                            <a:rPr sz="2200">
                                              <a:latin typeface="Cambria Math"/>
                                            </a:rPr>
                                            <m:t>0.95</m:t>
                                          </m:r>
                                        </m:sub>
                                      </m:sSub>
                                    </m:den>
                                  </m:f>
                                </m:e>
                              </m:d>
                            </m:e>
                            <m:sup>
                              <m:r>
                                <a:rPr sz="2200">
                                  <a:latin typeface="Cambria Math"/>
                                </a:rPr>
                                <m:t>2</m:t>
                              </m:r>
                            </m:sup>
                          </m:sSup>
                        </m:e>
                      </m:d>
                      <m:r>
                        <a:rPr sz="2200">
                          <a:latin typeface="Cambria Math"/>
                        </a:rPr>
                        <m:t>.</m:t>
                      </m:r>
                    </m:oMath>
                  </m:oMathPara>
                </a14:m>
                <a:endParaRPr/>
              </a:p>
            </p:txBody>
          </p:sp>
        </mc:Choice>
        <mc:Fallback xmlns="">
          <p:sp>
            <p:nvSpPr>
              <p:cNvPr id="1002" name="content-weibull20260906s21-9">
                <a:extLst>
                  <a:ext uri="{FF2B5EF4-FFF2-40B4-BE49-F238E27FC236}">
                    <a16:creationId xmlns:a16="http://schemas.microsoft.com/office/drawing/2014/main" id="{41463446-2690-4FF8-B95C-40EA34D05478}"/>
                  </a:ext>
                </a:extLst>
              </p:cNvPr>
              <p:cNvSpPr>
                <a:spLocks noGrp="1" noRot="1" noChangeAspect="1" noMove="1" noResize="1" noEditPoints="1" noAdjustHandles="1" noChangeArrowheads="1" noChangeShapeType="1" noTextEdit="1"/>
              </p:cNvSpPr>
              <p:nvPr/>
            </p:nvSpPr>
            <p:spPr>
              <a:xfrm>
                <a:off x="666750" y="5000625"/>
                <a:ext cx="10858500" cy="790575"/>
              </a:xfrm>
              <a:prstGeom prst="rect">
                <a:avLst/>
              </a:prstGeom>
              <a:blipFill>
                <a:blip r:embed="rId5"/>
                <a:stretch>
                  <a:fillRect b="-10769"/>
                </a:stretch>
              </a:blipFill>
              <a:ln w="0">
                <a:noFill/>
              </a:ln>
            </p:spPr>
            <p:txBody>
              <a:bodyPr/>
              <a:lstStyle/>
              <a:p>
                <a:r>
                  <a:rPr lang="zh-CN" altLang="en-US">
                    <a:noFill/>
                  </a:rPr>
                  <a:t> </a:t>
                </a:r>
              </a:p>
            </p:txBody>
          </p:sp>
        </mc:Fallback>
      </mc:AlternateContent>
      <p:sp>
        <p:nvSpPr>
          <p:cNvPr id="13" name="content-weibull20260906s21-10">
            <a:extLst>
              <a:ext uri="{FF2B5EF4-FFF2-40B4-BE49-F238E27FC236}">
                <a16:creationId xmlns:a16="http://schemas.microsoft.com/office/drawing/2014/main" id="{E1F5251C-AB18-4F90-82A6-383517EEB980}"/>
              </a:ext>
            </a:extLst>
          </p:cNvPr>
          <p:cNvSpPr>
            <a:spLocks noGrp="1"/>
          </p:cNvSpPr>
          <p:nvPr/>
        </p:nvSpPr>
        <p:spPr>
          <a:xfrm>
            <a:off x="590550" y="5905500"/>
            <a:ext cx="11010900" cy="552450"/>
          </a:xfrm>
          <a:prstGeom prst="rect">
            <a:avLst/>
          </a:prstGeom>
          <a:noFill/>
          <a:ln w="0">
            <a:noFill/>
          </a:ln>
        </p:spPr>
        <p:txBody>
          <a:bodyPr wrap="square" lIns="0" tIns="0" rIns="0" bIns="0" anchor="t">
            <a:noAutofit/>
          </a:bodyPr>
          <a:lstStyle/>
          <a:p>
            <a:pPr algn="l">
              <a:defRPr sz="1800" b="0">
                <a:solidFill>
                  <a:srgbClr val="315DA7"/>
                </a:solidFill>
                <a:latin typeface="汉仪粗宋简"/>
                <a:ea typeface="汉仪粗宋简"/>
                <a:cs typeface="汉仪粗宋简"/>
              </a:defRPr>
            </a:pPr>
            <a:r>
              <a:rPr sz="1800" b="0">
                <a:solidFill>
                  <a:srgbClr val="315DA7"/>
                </a:solidFill>
                <a:latin typeface="汉仪粗宋简"/>
                <a:ea typeface="汉仪粗宋简"/>
                <a:cs typeface="汉仪粗宋简"/>
              </a:rPr>
              <a:t>两种方法都估计三个参数，比较它们算出的寿命点误差。</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直接估计中的参数目标与分位点目标</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03</a:t>
            </a:r>
          </a:p>
        </p:txBody>
      </p:sp>
    </p:spTree>
    <p:extLst>
      <p:ext uri="{BB962C8B-B14F-4D97-AF65-F5344CB8AC3E}">
        <p14:creationId xmlns:p14="http://schemas.microsoft.com/office/powerpoint/2010/main" val="20219770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怎样比较按参数训练和按寿命点训练？</a:t>
            </a:r>
          </a:p>
        </p:txBody>
      </p:sp>
      <p:sp>
        <p:nvSpPr>
          <p:cNvPr id="7" name="content-weibull20260906s22-4">
            <a:extLst>
              <a:ext uri="{FF2B5EF4-FFF2-40B4-BE49-F238E27FC236}">
                <a16:creationId xmlns:a16="http://schemas.microsoft.com/office/drawing/2014/main" id="{725DA54E-2FFB-4595-A7D7-991FD5930ED6}"/>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22 / 32</a:t>
            </a:r>
          </a:p>
        </p:txBody>
      </p:sp>
      <p:pic>
        <p:nvPicPr>
          <p:cNvPr id="4" name="图片 3"/>
          <p:cNvPicPr>
            <a:picLocks noChangeAspect="1"/>
          </p:cNvPicPr>
          <p:nvPr/>
        </p:nvPicPr>
        <p:blipFill>
          <a:blip r:embed="rId3"/>
          <a:stretch/>
        </p:blipFill>
        <p:spPr>
          <a:xfrm>
            <a:off x="2092115" y="2103120"/>
            <a:ext cx="4548289" cy="3474720"/>
          </a:xfrm>
          <a:prstGeom prst="rect">
            <a:avLst/>
          </a:prstGeom>
        </p:spPr>
      </p:pic>
      <p:sp>
        <p:nvSpPr>
          <p:cNvPr id="8" name="TextBox 7"/>
          <p:cNvSpPr txBox="1"/>
          <p:nvPr/>
        </p:nvSpPr>
        <p:spPr>
          <a:xfrm>
            <a:off x="594360" y="1417320"/>
            <a:ext cx="10972800" cy="548640"/>
          </a:xfrm>
          <a:prstGeom prst="rect">
            <a:avLst/>
          </a:prstGeom>
          <a:noFill/>
        </p:spPr>
        <p:txBody>
          <a:bodyPr wrap="square">
            <a:spAutoFit/>
          </a:bodyPr>
          <a:lstStyle/>
          <a:p>
            <a:pPr>
              <a:defRPr sz="1800"/>
            </a:pPr>
            <a:r>
              <a:rPr sz="1800">
                <a:solidFill>
                  <a:srgbClr val="234E78"/>
                </a:solidFill>
                <a:latin typeface="Microsoft YaHei"/>
              </a:rPr>
              <a:t>使用同一批样本、相同网络和配对初始化，比较P与Q。</a:t>
            </a:r>
          </a:p>
        </p:txBody>
      </p:sp>
      <p:sp>
        <p:nvSpPr>
          <p:cNvPr id="9" name="TextBox 8"/>
          <p:cNvSpPr txBox="1"/>
          <p:nvPr/>
        </p:nvSpPr>
        <p:spPr>
          <a:xfrm>
            <a:off x="8366760" y="2468880"/>
            <a:ext cx="3108960" cy="2468880"/>
          </a:xfrm>
          <a:prstGeom prst="rect">
            <a:avLst/>
          </a:prstGeom>
          <a:noFill/>
        </p:spPr>
        <p:txBody>
          <a:bodyPr wrap="square">
            <a:spAutoFit/>
          </a:bodyPr>
          <a:lstStyle/>
          <a:p>
            <a:pPr>
              <a:defRPr sz="1800"/>
            </a:pPr>
            <a:r>
              <a:rPr sz="1800">
                <a:solidFill>
                  <a:srgbClr val="234E78"/>
                </a:solidFill>
                <a:latin typeface="Microsoft YaHei"/>
              </a:rPr>
              <a:t>48,000组模拟样本</a:t>
            </a:r>
          </a:p>
          <a:p>
            <a:pPr>
              <a:defRPr sz="1800"/>
            </a:pPr>
            <a:r>
              <a:rPr sz="1800">
                <a:solidFill>
                  <a:srgbClr val="234E78"/>
                </a:solidFill>
                <a:latin typeface="Microsoft YaHei"/>
              </a:rPr>
              <a:t>4个样本量、5折、10个种子</a:t>
            </a:r>
          </a:p>
          <a:p>
            <a:pPr>
              <a:defRPr sz="1800"/>
            </a:pPr>
            <a:r>
              <a:rPr sz="1800">
                <a:solidFill>
                  <a:srgbClr val="234E78"/>
                </a:solidFill>
                <a:latin typeface="Microsoft YaHei"/>
              </a:rPr>
              <a:t>每条路线200个模型</a:t>
            </a:r>
          </a:p>
        </p:txBody>
      </p:sp>
      <p:sp>
        <p:nvSpPr>
          <p:cNvPr id="10" name="TextBox 9"/>
          <p:cNvSpPr txBox="1"/>
          <p:nvPr/>
        </p:nvSpPr>
        <p:spPr>
          <a:xfrm>
            <a:off x="594360" y="5669280"/>
            <a:ext cx="10972800" cy="594360"/>
          </a:xfrm>
          <a:prstGeom prst="rect">
            <a:avLst/>
          </a:prstGeom>
          <a:noFill/>
        </p:spPr>
        <p:txBody>
          <a:bodyPr wrap="square">
            <a:spAutoFit/>
          </a:bodyPr>
          <a:lstStyle/>
          <a:p>
            <a:pPr>
              <a:defRPr sz="1800"/>
            </a:pPr>
            <a:r>
              <a:rPr sz="1800">
                <a:solidFill>
                  <a:srgbClr val="234E78"/>
                </a:solidFill>
                <a:latin typeface="Microsoft YaHei"/>
              </a:rPr>
              <a:t>先比较两套训练流程，再用共同的模型选择标准检查训练目标的作用。</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直接估计中的参数目标与分位点目标</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1000"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03</a:t>
            </a:r>
          </a:p>
        </p:txBody>
      </p:sp>
    </p:spTree>
    <p:extLst>
      <p:ext uri="{BB962C8B-B14F-4D97-AF65-F5344CB8AC3E}">
        <p14:creationId xmlns:p14="http://schemas.microsoft.com/office/powerpoint/2010/main" val="1875723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按寿命点训练，目标点误差降低2.07%</a:t>
            </a:r>
          </a:p>
        </p:txBody>
      </p:sp>
      <p:sp>
        <p:nvSpPr>
          <p:cNvPr id="7" name="content-weibull20260906s23-4">
            <a:extLst>
              <a:ext uri="{FF2B5EF4-FFF2-40B4-BE49-F238E27FC236}">
                <a16:creationId xmlns:a16="http://schemas.microsoft.com/office/drawing/2014/main" id="{9C2446B4-97B3-4394-A37E-CB181C5EC8BE}"/>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23 / 32</a:t>
            </a:r>
          </a:p>
        </p:txBody>
      </p:sp>
      <p:graphicFrame>
        <p:nvGraphicFramePr>
          <p:cNvPr id="16" name="表格 15"/>
          <p:cNvGraphicFramePr/>
          <p:nvPr/>
        </p:nvGraphicFramePr>
        <p:xfrm>
          <a:off x="1238250" y="2000250"/>
          <a:ext cx="9715500" cy="2047875"/>
        </p:xfrm>
        <a:graphic>
          <a:graphicData uri="http://schemas.openxmlformats.org/drawingml/2006/table">
            <a:tbl>
              <a:tblPr/>
              <a:tblGrid>
                <a:gridCol w="6191250">
                  <a:extLst>
                    <a:ext uri="{9D8B030D-6E8A-4147-A177-3AD203B41FA5}">
                      <a16:colId xmlns:a16="http://schemas.microsoft.com/office/drawing/2014/main" val="20000"/>
                    </a:ext>
                  </a:extLst>
                </a:gridCol>
                <a:gridCol w="3524250">
                  <a:extLst>
                    <a:ext uri="{9D8B030D-6E8A-4147-A177-3AD203B41FA5}">
                      <a16:colId xmlns:a16="http://schemas.microsoft.com/office/drawing/2014/main" val="20001"/>
                    </a:ext>
                  </a:extLst>
                </a:gridCol>
              </a:tblGrid>
              <a:tr h="682625">
                <a:tc>
                  <a:txBody>
                    <a:bodyPr/>
                    <a:lstStyle/>
                    <a:p>
                      <a:pPr algn="l">
                        <a:defRPr sz="1800"/>
                      </a:pPr>
                      <a:r>
                        <a:rPr sz="1800" b="1">
                          <a:solidFill>
                            <a:srgbClr val="FFFFFF"/>
                          </a:solidFill>
                          <a:latin typeface="汉仪粗宋简"/>
                          <a:ea typeface="汉仪粗宋简"/>
                          <a:cs typeface="汉仪粗宋简"/>
                        </a:rPr>
                        <a:t>路线</a:t>
                      </a:r>
                    </a:p>
                  </a:txBody>
                  <a:tcPr anchor="ctr">
                    <a:solidFill>
                      <a:srgbClr val="315DA7"/>
                    </a:solidFill>
                  </a:tcPr>
                </a:tc>
                <a:tc>
                  <a:txBody>
                    <a:bodyPr/>
                    <a:lstStyle/>
                    <a:p>
                      <a:pPr algn="ctr">
                        <a:defRPr sz="1800"/>
                      </a:pPr>
                      <a:r>
                        <a:rPr sz="1800" b="1">
                          <a:solidFill>
                            <a:srgbClr val="FFFFFF"/>
                          </a:solidFill>
                          <a:latin typeface="汉仪粗宋简"/>
                          <a:ea typeface="汉仪粗宋简"/>
                          <a:cs typeface="汉仪粗宋简"/>
                        </a:rPr>
                        <a:t>x</a:t>
                      </a:r>
                      <a:r>
                        <a:rPr sz="1800" b="1" baseline="-25000">
                          <a:solidFill>
                            <a:srgbClr val="FFFFFF"/>
                          </a:solidFill>
                          <a:latin typeface="汉仪粗宋简"/>
                          <a:ea typeface="汉仪粗宋简"/>
                          <a:cs typeface="汉仪粗宋简"/>
                        </a:rPr>
                        <a:t>0.95</a:t>
                      </a:r>
                      <a:r>
                        <a:rPr sz="1800" b="1">
                          <a:solidFill>
                            <a:srgbClr val="FFFFFF"/>
                          </a:solidFill>
                          <a:latin typeface="汉仪粗宋简"/>
                          <a:ea typeface="汉仪粗宋简"/>
                          <a:cs typeface="汉仪粗宋简"/>
                        </a:rPr>
                        <a:t> RMSRE</a:t>
                      </a:r>
                    </a:p>
                  </a:txBody>
                  <a:tcPr anchor="ctr">
                    <a:solidFill>
                      <a:srgbClr val="315DA7"/>
                    </a:solidFill>
                  </a:tcPr>
                </a:tc>
                <a:extLst>
                  <a:ext uri="{0D108BD9-81ED-4DB2-BD59-A6C34878D82A}">
                    <a16:rowId xmlns:a16="http://schemas.microsoft.com/office/drawing/2014/main" val="10000"/>
                  </a:ext>
                </a:extLst>
              </a:tr>
              <a:tr h="682625">
                <a:tc>
                  <a:txBody>
                    <a:bodyPr/>
                    <a:lstStyle/>
                    <a:p>
                      <a:pPr algn="l">
                        <a:defRPr sz="1800"/>
                      </a:pPr>
                      <a:r>
                        <a:rPr sz="1800" b="0">
                          <a:solidFill>
                            <a:srgbClr val="161616"/>
                          </a:solidFill>
                          <a:latin typeface="汉仪粗宋简"/>
                          <a:ea typeface="汉仪粗宋简"/>
                          <a:cs typeface="汉仪粗宋简"/>
                        </a:rPr>
                        <a:t>P：参数导向</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16.43%</a:t>
                      </a:r>
                    </a:p>
                  </a:txBody>
                  <a:tcPr anchor="ctr">
                    <a:solidFill>
                      <a:srgbClr val="FFFFFF"/>
                    </a:solidFill>
                  </a:tcPr>
                </a:tc>
                <a:extLst>
                  <a:ext uri="{0D108BD9-81ED-4DB2-BD59-A6C34878D82A}">
                    <a16:rowId xmlns:a16="http://schemas.microsoft.com/office/drawing/2014/main" val="10001"/>
                  </a:ext>
                </a:extLst>
              </a:tr>
              <a:tr h="682625">
                <a:tc>
                  <a:txBody>
                    <a:bodyPr/>
                    <a:lstStyle/>
                    <a:p>
                      <a:pPr algn="l">
                        <a:defRPr sz="1800"/>
                      </a:pPr>
                      <a:r>
                        <a:rPr sz="1800" b="0">
                          <a:solidFill>
                            <a:srgbClr val="161616"/>
                          </a:solidFill>
                          <a:latin typeface="汉仪粗宋简"/>
                          <a:ea typeface="汉仪粗宋简"/>
                          <a:cs typeface="汉仪粗宋简"/>
                        </a:rPr>
                        <a:t>Q：目标点导向</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16.09%</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9" name="content-weibull20260906s23-5">
            <a:extLst>
              <a:ext uri="{FF2B5EF4-FFF2-40B4-BE49-F238E27FC236}">
                <a16:creationId xmlns:a16="http://schemas.microsoft.com/office/drawing/2014/main" id="{B311DBE7-8C5F-4A13-91EB-43BB13C03B91}"/>
              </a:ext>
            </a:extLst>
          </p:cNvPr>
          <p:cNvSpPr>
            <a:spLocks noGrp="1"/>
          </p:cNvSpPr>
          <p:nvPr/>
        </p:nvSpPr>
        <p:spPr>
          <a:xfrm>
            <a:off x="1238250" y="4524375"/>
            <a:ext cx="9715500" cy="704850"/>
          </a:xfrm>
          <a:prstGeom prst="rect">
            <a:avLst/>
          </a:prstGeom>
          <a:noFill/>
          <a:ln w="0">
            <a:noFill/>
          </a:ln>
        </p:spPr>
        <p:txBody>
          <a:bodyPr wrap="square" lIns="0" tIns="0" rIns="0" bIns="0" anchor="t">
            <a:noAutofit/>
          </a:bodyPr>
          <a:lstStyle/>
          <a:p>
            <a:pPr algn="ctr">
              <a:defRPr sz="1800" b="1">
                <a:solidFill>
                  <a:srgbClr val="315DA7"/>
                </a:solidFill>
                <a:latin typeface="汉仪粗宋简"/>
                <a:ea typeface="汉仪粗宋简"/>
                <a:cs typeface="汉仪粗宋简"/>
              </a:defRPr>
            </a:pPr>
            <a:r>
              <a:rPr sz="1800" b="1">
                <a:solidFill>
                  <a:srgbClr val="315DA7"/>
                </a:solidFill>
                <a:latin typeface="汉仪粗宋简"/>
                <a:ea typeface="汉仪粗宋简"/>
                <a:cs typeface="汉仪粗宋简"/>
              </a:rPr>
              <a:t>相对改善 2.07%</a:t>
            </a:r>
          </a:p>
        </p:txBody>
      </p:sp>
      <p:sp>
        <p:nvSpPr>
          <p:cNvPr id="10" name="content-weibull20260906s23-6">
            <a:extLst>
              <a:ext uri="{FF2B5EF4-FFF2-40B4-BE49-F238E27FC236}">
                <a16:creationId xmlns:a16="http://schemas.microsoft.com/office/drawing/2014/main" id="{8187537B-B158-4862-8E5F-947DC1799471}"/>
              </a:ext>
            </a:extLst>
          </p:cNvPr>
          <p:cNvSpPr>
            <a:spLocks noGrp="1"/>
          </p:cNvSpPr>
          <p:nvPr/>
        </p:nvSpPr>
        <p:spPr>
          <a:xfrm>
            <a:off x="590550" y="5905500"/>
            <a:ext cx="11010900" cy="552450"/>
          </a:xfrm>
          <a:prstGeom prst="rect">
            <a:avLst/>
          </a:prstGeom>
          <a:noFill/>
          <a:ln w="0">
            <a:noFill/>
          </a:ln>
        </p:spPr>
        <p:txBody>
          <a:bodyPr wrap="square" lIns="0" tIns="0" rIns="0" bIns="0" anchor="t">
            <a:noAutofit/>
          </a:bodyPr>
          <a:lstStyle/>
          <a:p>
            <a:pPr algn="l">
              <a:defRPr sz="1800" b="0">
                <a:solidFill>
                  <a:srgbClr val="315DA7"/>
                </a:solidFill>
                <a:latin typeface="汉仪粗宋简"/>
                <a:ea typeface="汉仪粗宋简"/>
                <a:cs typeface="汉仪粗宋简"/>
              </a:defRPr>
            </a:pPr>
            <a:r>
              <a:rPr sz="1800" b="0">
                <a:solidFill>
                  <a:srgbClr val="315DA7"/>
                </a:solidFill>
                <a:latin typeface="汉仪粗宋简"/>
                <a:ea typeface="汉仪粗宋简"/>
                <a:cs typeface="汉仪粗宋简"/>
              </a:rPr>
              <a:t>目标点误差略有下降，接着检查参数和其他寿命点。</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直接估计中的参数目标与分位点目标</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03</a:t>
            </a:r>
          </a:p>
        </p:txBody>
      </p:sp>
    </p:spTree>
    <p:extLst>
      <p:ext uri="{BB962C8B-B14F-4D97-AF65-F5344CB8AC3E}">
        <p14:creationId xmlns:p14="http://schemas.microsoft.com/office/powerpoint/2010/main" val="21037081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为什么参数偏差很大，目标寿命点仍能比较准？</a:t>
            </a:r>
          </a:p>
        </p:txBody>
      </p:sp>
      <p:sp>
        <p:nvSpPr>
          <p:cNvPr id="7" name="content-weibull20260906s24-4">
            <a:extLst>
              <a:ext uri="{FF2B5EF4-FFF2-40B4-BE49-F238E27FC236}">
                <a16:creationId xmlns:a16="http://schemas.microsoft.com/office/drawing/2014/main" id="{A89F9B1A-EFE7-4DA7-9FB3-4EF7F24E7F69}"/>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24 / 32</a:t>
            </a:r>
          </a:p>
        </p:txBody>
      </p:sp>
      <p:pic>
        <p:nvPicPr>
          <p:cNvPr id="19" name="图片 18"/>
          <p:cNvPicPr>
            <a:picLocks noChangeAspect="1"/>
          </p:cNvPicPr>
          <p:nvPr/>
        </p:nvPicPr>
        <p:blipFill>
          <a:blip r:embed="rId3"/>
          <a:stretch/>
        </p:blipFill>
        <p:spPr>
          <a:xfrm>
            <a:off x="2723918" y="2103120"/>
            <a:ext cx="3284683" cy="3474720"/>
          </a:xfrm>
          <a:prstGeom prst="rect">
            <a:avLst/>
          </a:prstGeom>
        </p:spPr>
      </p:pic>
      <mc:AlternateContent xmlns:mc="http://schemas.openxmlformats.org/markup-compatibility/2006" xmlns:a14="http://schemas.microsoft.com/office/drawing/2010/main">
        <mc:Choice Requires="a14">
          <p:sp>
            <p:nvSpPr>
              <p:cNvPr id="10" name="content-weibull20260906s24-6">
                <a:extLst>
                  <a:ext uri="{FF2B5EF4-FFF2-40B4-BE49-F238E27FC236}">
                    <a16:creationId xmlns:a16="http://schemas.microsoft.com/office/drawing/2014/main" id="{F847F6D5-5B59-4E20-AABD-165FE99A7194}"/>
                  </a:ext>
                </a:extLst>
              </p:cNvPr>
              <p:cNvSpPr>
                <a:spLocks noGrp="1"/>
              </p:cNvSpPr>
              <p:nvPr/>
            </p:nvSpPr>
            <p:spPr>
              <a:xfrm>
                <a:off x="8366760" y="4343400"/>
                <a:ext cx="3238500" cy="590550"/>
              </a:xfrm>
              <a:prstGeom prst="rect">
                <a:avLst/>
              </a:prstGeom>
              <a:noFill/>
              <a:ln w="0">
                <a:noFill/>
              </a:ln>
            </p:spPr>
            <p:txBody>
              <a:bodyPr wrap="square" lIns="0" tIns="0" rIns="0" bIns="0" anchor="t">
                <a:noAutofit/>
              </a:bodyPr>
              <a:lstStyle/>
              <a:p>
                <a:pPr marL="0" lvl="0" indent="0" algn="l">
                  <a:buNone/>
                  <a:defRPr sz="2100">
                    <a:latin typeface="Cambria Math"/>
                  </a:defRPr>
                </a:pPr>
                <a14:m>
                  <m:oMathPara xmlns:m="http://schemas.openxmlformats.org/officeDocument/2006/math">
                    <m:oMathParaPr>
                      <m:jc m:val="center"/>
                    </m:oMathParaPr>
                    <m:oMath xmlns:m="http://schemas.openxmlformats.org/officeDocument/2006/math">
                      <m:sSub>
                        <m:sSubPr>
                          <m:ctrlPr>
                            <a:rPr sz="2100" i="1">
                              <a:latin typeface="Cambria Math" panose="02040503050406030204" pitchFamily="18" charset="0"/>
                            </a:rPr>
                          </m:ctrlPr>
                        </m:sSubPr>
                        <m:e>
                          <m:r>
                            <a:rPr sz="2100">
                              <a:latin typeface="Cambria Math"/>
                            </a:rPr>
                            <m:t>𝐻</m:t>
                          </m:r>
                        </m:e>
                        <m:sub>
                          <m:r>
                            <a:rPr sz="2100">
                              <a:latin typeface="Cambria Math"/>
                            </a:rPr>
                            <m:t>𝑄</m:t>
                          </m:r>
                        </m:sub>
                      </m:sSub>
                      <m:r>
                        <a:rPr sz="2100">
                          <a:latin typeface="Cambria Math"/>
                        </a:rPr>
                        <m:t>(0)=2</m:t>
                      </m:r>
                      <m:sSub>
                        <m:sSubPr>
                          <m:ctrlPr>
                            <a:rPr sz="2100" i="1">
                              <a:latin typeface="Cambria Math" panose="02040503050406030204" pitchFamily="18" charset="0"/>
                            </a:rPr>
                          </m:ctrlPr>
                        </m:sSubPr>
                        <m:e>
                          <m:r>
                            <a:rPr sz="2100">
                              <a:latin typeface="Cambria Math"/>
                            </a:rPr>
                            <m:t>𝑠</m:t>
                          </m:r>
                        </m:e>
                        <m:sub>
                          <m:r>
                            <a:rPr sz="2100">
                              <a:latin typeface="Cambria Math"/>
                            </a:rPr>
                            <m:t>0</m:t>
                          </m:r>
                        </m:sub>
                      </m:sSub>
                      <m:sSubSup>
                        <m:sSubSupPr>
                          <m:ctrlPr>
                            <a:rPr sz="2100" i="1">
                              <a:latin typeface="Cambria Math" panose="02040503050406030204" pitchFamily="18" charset="0"/>
                            </a:rPr>
                          </m:ctrlPr>
                        </m:sSubSupPr>
                        <m:e>
                          <m:r>
                            <a:rPr sz="2100">
                              <a:latin typeface="Cambria Math"/>
                            </a:rPr>
                            <m:t>𝑠</m:t>
                          </m:r>
                        </m:e>
                        <m:sub>
                          <m:r>
                            <a:rPr sz="2100">
                              <a:latin typeface="Cambria Math"/>
                            </a:rPr>
                            <m:t>0</m:t>
                          </m:r>
                        </m:sub>
                        <m:sup>
                          <m:r>
                            <a:rPr sz="2100">
                              <a:latin typeface="Cambria Math"/>
                            </a:rPr>
                            <m:t>𝖳</m:t>
                          </m:r>
                        </m:sup>
                      </m:sSubSup>
                    </m:oMath>
                  </m:oMathPara>
                </a14:m>
                <a:endParaRPr/>
              </a:p>
            </p:txBody>
          </p:sp>
        </mc:Choice>
        <mc:Fallback xmlns="">
          <p:sp>
            <p:nvSpPr>
              <p:cNvPr id="1000" name="content-weibull20260906s24-6">
                <a:extLst>
                  <a:ext uri="{FF2B5EF4-FFF2-40B4-BE49-F238E27FC236}">
                    <a16:creationId xmlns:a16="http://schemas.microsoft.com/office/drawing/2014/main" id="{F847F6D5-5B59-4E20-AABD-165FE99A7194}"/>
                  </a:ext>
                </a:extLst>
              </p:cNvPr>
              <p:cNvSpPr>
                <a:spLocks noGrp="1" noRot="1" noChangeAspect="1" noMove="1" noResize="1" noEditPoints="1" noAdjustHandles="1" noChangeArrowheads="1" noChangeShapeType="1" noTextEdit="1"/>
              </p:cNvSpPr>
              <p:nvPr/>
            </p:nvSpPr>
            <p:spPr>
              <a:xfrm>
                <a:off x="8366760" y="4343400"/>
                <a:ext cx="3238500" cy="590550"/>
              </a:xfrm>
              <a:prstGeom prst="rect">
                <a:avLst/>
              </a:prstGeom>
              <a:blipFill>
                <a:blip r:embed="rId4"/>
                <a:stretch>
                  <a:fillRect/>
                </a:stretch>
              </a:blipFill>
              <a:ln w="0">
                <a:noFill/>
              </a:ln>
            </p:spPr>
            <p:txBody>
              <a:bodyPr/>
              <a:lstStyle/>
              <a:p>
                <a:r>
                  <a:rPr lang="zh-CN" altLang="en-US">
                    <a:noFill/>
                  </a:rPr>
                  <a:t> </a:t>
                </a:r>
              </a:p>
            </p:txBody>
          </p:sp>
        </mc:Fallback>
      </mc:AlternateContent>
      <p:sp>
        <p:nvSpPr>
          <p:cNvPr id="20" name="TextBox 19"/>
          <p:cNvSpPr txBox="1"/>
          <p:nvPr/>
        </p:nvSpPr>
        <p:spPr>
          <a:xfrm>
            <a:off x="594360" y="1417320"/>
            <a:ext cx="10972800" cy="548640"/>
          </a:xfrm>
          <a:prstGeom prst="rect">
            <a:avLst/>
          </a:prstGeom>
          <a:noFill/>
        </p:spPr>
        <p:txBody>
          <a:bodyPr wrap="square">
            <a:spAutoFit/>
          </a:bodyPr>
          <a:lstStyle/>
          <a:p>
            <a:pPr>
              <a:defRPr sz="1800"/>
            </a:pPr>
            <a:r>
              <a:rPr sz="1800">
                <a:solidFill>
                  <a:srgbClr val="234E78"/>
                </a:solidFill>
                <a:latin typeface="Microsoft YaHei"/>
              </a:rPr>
              <a:t>检查预测参数的偏离，以及它们对目标寿命点误差的贡献。</a:t>
            </a:r>
          </a:p>
        </p:txBody>
      </p:sp>
      <p:sp>
        <p:nvSpPr>
          <p:cNvPr id="21" name="TextBox 20"/>
          <p:cNvSpPr txBox="1"/>
          <p:nvPr/>
        </p:nvSpPr>
        <p:spPr>
          <a:xfrm>
            <a:off x="8366760" y="2468880"/>
            <a:ext cx="3108960" cy="2468880"/>
          </a:xfrm>
          <a:prstGeom prst="rect">
            <a:avLst/>
          </a:prstGeom>
          <a:noFill/>
        </p:spPr>
        <p:txBody>
          <a:bodyPr wrap="square">
            <a:spAutoFit/>
          </a:bodyPr>
          <a:lstStyle/>
          <a:p>
            <a:pPr>
              <a:defRPr sz="1800"/>
            </a:pPr>
            <a:r>
              <a:rPr sz="1800">
                <a:solidFill>
                  <a:srgbClr val="234E78"/>
                </a:solidFill>
                <a:latin typeface="Microsoft YaHei"/>
              </a:rPr>
              <a:t>Q的参数误差明显增大，参数之间的误差抵消也更强。</a:t>
            </a:r>
          </a:p>
        </p:txBody>
      </p:sp>
      <p:sp>
        <p:nvSpPr>
          <p:cNvPr id="22" name="TextBox 21"/>
          <p:cNvSpPr txBox="1"/>
          <p:nvPr/>
        </p:nvSpPr>
        <p:spPr>
          <a:xfrm>
            <a:off x="594360" y="5669280"/>
            <a:ext cx="10972800" cy="594360"/>
          </a:xfrm>
          <a:prstGeom prst="rect">
            <a:avLst/>
          </a:prstGeom>
          <a:noFill/>
        </p:spPr>
        <p:txBody>
          <a:bodyPr wrap="square">
            <a:spAutoFit/>
          </a:bodyPr>
          <a:lstStyle/>
          <a:p>
            <a:pPr>
              <a:defRPr sz="1800"/>
            </a:pPr>
            <a:r>
              <a:rPr sz="1800">
                <a:solidFill>
                  <a:srgbClr val="234E78"/>
                </a:solidFill>
                <a:latin typeface="Microsoft YaHei"/>
              </a:rPr>
              <a:t>多组不同参数可以算出相同寿命点，只要求一个点准确，会允许参数误差相互抵消。</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直接估计中的参数目标与分位点目标</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03</a:t>
            </a:r>
          </a:p>
        </p:txBody>
      </p:sp>
    </p:spTree>
    <p:extLst>
      <p:ext uri="{BB962C8B-B14F-4D97-AF65-F5344CB8AC3E}">
        <p14:creationId xmlns:p14="http://schemas.microsoft.com/office/powerpoint/2010/main" val="10205182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目标点略有改善，另外两个寿命点误差增大</a:t>
            </a:r>
          </a:p>
        </p:txBody>
      </p:sp>
      <p:sp>
        <p:nvSpPr>
          <p:cNvPr id="7" name="content-weibull20260906s25-4">
            <a:extLst>
              <a:ext uri="{FF2B5EF4-FFF2-40B4-BE49-F238E27FC236}">
                <a16:creationId xmlns:a16="http://schemas.microsoft.com/office/drawing/2014/main" id="{AD874159-497F-4E34-8410-5E113D5E33B2}"/>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25 / 32</a:t>
            </a:r>
          </a:p>
        </p:txBody>
      </p:sp>
      <p:graphicFrame>
        <p:nvGraphicFramePr>
          <p:cNvPr id="15" name="表格 14"/>
          <p:cNvGraphicFramePr/>
          <p:nvPr/>
        </p:nvGraphicFramePr>
        <p:xfrm>
          <a:off x="619125" y="2190750"/>
          <a:ext cx="10906125" cy="2667000"/>
        </p:xfrm>
        <a:graphic>
          <a:graphicData uri="http://schemas.openxmlformats.org/drawingml/2006/table">
            <a:tbl>
              <a:tblPr/>
              <a:tblGrid>
                <a:gridCol w="1952625">
                  <a:extLst>
                    <a:ext uri="{9D8B030D-6E8A-4147-A177-3AD203B41FA5}">
                      <a16:colId xmlns:a16="http://schemas.microsoft.com/office/drawing/2014/main" val="20000"/>
                    </a:ext>
                  </a:extLst>
                </a:gridCol>
                <a:gridCol w="2571750">
                  <a:extLst>
                    <a:ext uri="{9D8B030D-6E8A-4147-A177-3AD203B41FA5}">
                      <a16:colId xmlns:a16="http://schemas.microsoft.com/office/drawing/2014/main" val="20001"/>
                    </a:ext>
                  </a:extLst>
                </a:gridCol>
                <a:gridCol w="2571750">
                  <a:extLst>
                    <a:ext uri="{9D8B030D-6E8A-4147-A177-3AD203B41FA5}">
                      <a16:colId xmlns:a16="http://schemas.microsoft.com/office/drawing/2014/main" val="20002"/>
                    </a:ext>
                  </a:extLst>
                </a:gridCol>
                <a:gridCol w="3810000">
                  <a:extLst>
                    <a:ext uri="{9D8B030D-6E8A-4147-A177-3AD203B41FA5}">
                      <a16:colId xmlns:a16="http://schemas.microsoft.com/office/drawing/2014/main" val="20003"/>
                    </a:ext>
                  </a:extLst>
                </a:gridCol>
              </a:tblGrid>
              <a:tr h="666750">
                <a:tc>
                  <a:txBody>
                    <a:bodyPr/>
                    <a:lstStyle/>
                    <a:p>
                      <a:pPr algn="l">
                        <a:defRPr sz="1800"/>
                      </a:pPr>
                      <a:r>
                        <a:rPr sz="1800" b="1">
                          <a:solidFill>
                            <a:srgbClr val="FFFFFF"/>
                          </a:solidFill>
                          <a:latin typeface="汉仪粗宋简"/>
                          <a:ea typeface="汉仪粗宋简"/>
                          <a:cs typeface="汉仪粗宋简"/>
                        </a:rPr>
                        <a:t>寿命点</a:t>
                      </a:r>
                    </a:p>
                  </a:txBody>
                  <a:tcPr anchor="ctr">
                    <a:solidFill>
                      <a:srgbClr val="315DA7"/>
                    </a:solidFill>
                  </a:tcPr>
                </a:tc>
                <a:tc>
                  <a:txBody>
                    <a:bodyPr/>
                    <a:lstStyle/>
                    <a:p>
                      <a:pPr algn="ctr">
                        <a:defRPr sz="1800"/>
                      </a:pPr>
                      <a:r>
                        <a:rPr sz="1800" b="1">
                          <a:solidFill>
                            <a:srgbClr val="FFFFFF"/>
                          </a:solidFill>
                          <a:latin typeface="汉仪粗宋简"/>
                          <a:ea typeface="汉仪粗宋简"/>
                          <a:cs typeface="汉仪粗宋简"/>
                        </a:rPr>
                        <a:t>P RMSRE</a:t>
                      </a:r>
                    </a:p>
                  </a:txBody>
                  <a:tcPr anchor="ctr">
                    <a:solidFill>
                      <a:srgbClr val="315DA7"/>
                    </a:solidFill>
                  </a:tcPr>
                </a:tc>
                <a:tc>
                  <a:txBody>
                    <a:bodyPr/>
                    <a:lstStyle/>
                    <a:p>
                      <a:pPr algn="ctr">
                        <a:defRPr sz="1800"/>
                      </a:pPr>
                      <a:r>
                        <a:rPr sz="1800" b="1">
                          <a:solidFill>
                            <a:srgbClr val="FFFFFF"/>
                          </a:solidFill>
                          <a:latin typeface="汉仪粗宋简"/>
                          <a:ea typeface="汉仪粗宋简"/>
                          <a:cs typeface="汉仪粗宋简"/>
                        </a:rPr>
                        <a:t>Q RMSRE</a:t>
                      </a:r>
                    </a:p>
                  </a:txBody>
                  <a:tcPr anchor="ctr">
                    <a:solidFill>
                      <a:srgbClr val="315DA7"/>
                    </a:solidFill>
                  </a:tcPr>
                </a:tc>
                <a:tc>
                  <a:txBody>
                    <a:bodyPr/>
                    <a:lstStyle/>
                    <a:p>
                      <a:pPr algn="ctr">
                        <a:defRPr sz="1800"/>
                      </a:pPr>
                      <a:r>
                        <a:rPr sz="1800" b="1">
                          <a:solidFill>
                            <a:srgbClr val="FFFFFF"/>
                          </a:solidFill>
                          <a:latin typeface="汉仪粗宋简"/>
                          <a:ea typeface="汉仪粗宋简"/>
                          <a:cs typeface="汉仪粗宋简"/>
                        </a:rPr>
                        <a:t>Q 相对 P</a:t>
                      </a:r>
                    </a:p>
                  </a:txBody>
                  <a:tcPr anchor="ctr">
                    <a:solidFill>
                      <a:srgbClr val="315DA7"/>
                    </a:solidFill>
                  </a:tcPr>
                </a:tc>
                <a:extLst>
                  <a:ext uri="{0D108BD9-81ED-4DB2-BD59-A6C34878D82A}">
                    <a16:rowId xmlns:a16="http://schemas.microsoft.com/office/drawing/2014/main" val="10000"/>
                  </a:ext>
                </a:extLst>
              </a:tr>
              <a:tr h="666750">
                <a:tc>
                  <a:txBody>
                    <a:bodyPr/>
                    <a:lstStyle/>
                    <a:p>
                      <a:pPr algn="l">
                        <a:defRPr sz="1800"/>
                      </a:pPr>
                      <a:r>
                        <a:rPr sz="1800" b="0">
                          <a:solidFill>
                            <a:srgbClr val="161616"/>
                          </a:solidFill>
                          <a:latin typeface="汉仪粗宋简"/>
                          <a:ea typeface="汉仪粗宋简"/>
                          <a:cs typeface="汉仪粗宋简"/>
                        </a:rPr>
                        <a:t>x</a:t>
                      </a:r>
                      <a:r>
                        <a:rPr sz="1800" b="0" baseline="-25000">
                          <a:solidFill>
                            <a:srgbClr val="161616"/>
                          </a:solidFill>
                          <a:latin typeface="汉仪粗宋简"/>
                          <a:ea typeface="汉仪粗宋简"/>
                          <a:cs typeface="汉仪粗宋简"/>
                        </a:rPr>
                        <a:t>0.90</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13.66%</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18.63%</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误差增加 36.41%</a:t>
                      </a:r>
                    </a:p>
                  </a:txBody>
                  <a:tcPr anchor="ctr">
                    <a:solidFill>
                      <a:srgbClr val="FFFFFF"/>
                    </a:solidFill>
                  </a:tcPr>
                </a:tc>
                <a:extLst>
                  <a:ext uri="{0D108BD9-81ED-4DB2-BD59-A6C34878D82A}">
                    <a16:rowId xmlns:a16="http://schemas.microsoft.com/office/drawing/2014/main" val="10001"/>
                  </a:ext>
                </a:extLst>
              </a:tr>
              <a:tr h="666750">
                <a:tc>
                  <a:txBody>
                    <a:bodyPr/>
                    <a:lstStyle/>
                    <a:p>
                      <a:pPr algn="l">
                        <a:defRPr sz="1800"/>
                      </a:pPr>
                      <a:r>
                        <a:rPr sz="1800" b="0">
                          <a:solidFill>
                            <a:srgbClr val="161616"/>
                          </a:solidFill>
                          <a:latin typeface="汉仪粗宋简"/>
                          <a:ea typeface="汉仪粗宋简"/>
                          <a:cs typeface="汉仪粗宋简"/>
                        </a:rPr>
                        <a:t>x</a:t>
                      </a:r>
                      <a:r>
                        <a:rPr sz="1800" b="0" baseline="-25000">
                          <a:solidFill>
                            <a:srgbClr val="161616"/>
                          </a:solidFill>
                          <a:latin typeface="汉仪粗宋简"/>
                          <a:ea typeface="汉仪粗宋简"/>
                          <a:cs typeface="汉仪粗宋简"/>
                        </a:rPr>
                        <a:t>0.95</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16.43%</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16.09%</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误差降低 2.07%</a:t>
                      </a:r>
                    </a:p>
                  </a:txBody>
                  <a:tcPr anchor="ctr">
                    <a:solidFill>
                      <a:srgbClr val="FFFFFF"/>
                    </a:solidFill>
                  </a:tcPr>
                </a:tc>
                <a:extLst>
                  <a:ext uri="{0D108BD9-81ED-4DB2-BD59-A6C34878D82A}">
                    <a16:rowId xmlns:a16="http://schemas.microsoft.com/office/drawing/2014/main" val="10002"/>
                  </a:ext>
                </a:extLst>
              </a:tr>
              <a:tr h="666750">
                <a:tc>
                  <a:txBody>
                    <a:bodyPr/>
                    <a:lstStyle/>
                    <a:p>
                      <a:pPr algn="l">
                        <a:defRPr sz="1800"/>
                      </a:pPr>
                      <a:r>
                        <a:rPr sz="1800" b="0">
                          <a:solidFill>
                            <a:srgbClr val="161616"/>
                          </a:solidFill>
                          <a:latin typeface="汉仪粗宋简"/>
                          <a:ea typeface="汉仪粗宋简"/>
                          <a:cs typeface="汉仪粗宋简"/>
                        </a:rPr>
                        <a:t>x</a:t>
                      </a:r>
                      <a:r>
                        <a:rPr sz="1800" b="0" baseline="-25000">
                          <a:solidFill>
                            <a:srgbClr val="161616"/>
                          </a:solidFill>
                          <a:latin typeface="汉仪粗宋简"/>
                          <a:ea typeface="汉仪粗宋简"/>
                          <a:cs typeface="汉仪粗宋简"/>
                        </a:rPr>
                        <a:t>0.99</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21.96%</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35.82%</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误差增加 63.11%</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9" name="content-weibull20260906s25-5">
            <a:extLst>
              <a:ext uri="{FF2B5EF4-FFF2-40B4-BE49-F238E27FC236}">
                <a16:creationId xmlns:a16="http://schemas.microsoft.com/office/drawing/2014/main" id="{32B55F76-68C8-4346-A9F1-6788A6F8BAEF}"/>
              </a:ext>
            </a:extLst>
          </p:cNvPr>
          <p:cNvSpPr>
            <a:spLocks noGrp="1"/>
          </p:cNvSpPr>
          <p:nvPr/>
        </p:nvSpPr>
        <p:spPr>
          <a:xfrm>
            <a:off x="590550" y="5905500"/>
            <a:ext cx="11010900" cy="552450"/>
          </a:xfrm>
          <a:prstGeom prst="rect">
            <a:avLst/>
          </a:prstGeom>
          <a:noFill/>
          <a:ln w="0">
            <a:noFill/>
          </a:ln>
        </p:spPr>
        <p:txBody>
          <a:bodyPr wrap="square" lIns="0" tIns="0" rIns="0" bIns="0" anchor="t">
            <a:noAutofit/>
          </a:bodyPr>
          <a:lstStyle/>
          <a:p>
            <a:pPr algn="l">
              <a:defRPr sz="1800" b="0">
                <a:solidFill>
                  <a:srgbClr val="315DA7"/>
                </a:solidFill>
                <a:latin typeface="汉仪粗宋简"/>
                <a:ea typeface="汉仪粗宋简"/>
                <a:cs typeface="汉仪粗宋简"/>
              </a:defRPr>
            </a:pPr>
            <a:r>
              <a:rPr sz="1800" b="0">
                <a:solidFill>
                  <a:srgbClr val="315DA7"/>
                </a:solidFill>
                <a:latin typeface="汉仪粗宋简"/>
                <a:ea typeface="汉仪粗宋简"/>
                <a:cs typeface="汉仪粗宋简"/>
              </a:rPr>
              <a:t>另外两个寿命点的误差明显增大，目标点上的抵消没有保持到其他点。</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直接估计中的参数目标与分位点目标</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03</a:t>
            </a:r>
          </a:p>
        </p:txBody>
      </p:sp>
    </p:spTree>
    <p:extLst>
      <p:ext uri="{BB962C8B-B14F-4D97-AF65-F5344CB8AC3E}">
        <p14:creationId xmlns:p14="http://schemas.microsoft.com/office/powerpoint/2010/main" val="20257053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能不能保留目标点收益，又让参数别偏得太远？</a:t>
            </a:r>
          </a:p>
        </p:txBody>
      </p:sp>
      <p:sp>
        <p:nvSpPr>
          <p:cNvPr id="7" name="content-weibull20260906s26-4">
            <a:extLst>
              <a:ext uri="{FF2B5EF4-FFF2-40B4-BE49-F238E27FC236}">
                <a16:creationId xmlns:a16="http://schemas.microsoft.com/office/drawing/2014/main" id="{EB64BDDF-3608-40B5-86EB-47F45F68C8DF}"/>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26 / 32</a:t>
            </a:r>
          </a:p>
        </p:txBody>
      </p:sp>
      <mc:AlternateContent xmlns:mc="http://schemas.openxmlformats.org/markup-compatibility/2006" xmlns:a14="http://schemas.microsoft.com/office/drawing/2010/main">
        <mc:Choice Requires="a14">
          <p:sp>
            <p:nvSpPr>
              <p:cNvPr id="8" name="content-weibull20260906s26-5">
                <a:extLst>
                  <a:ext uri="{FF2B5EF4-FFF2-40B4-BE49-F238E27FC236}">
                    <a16:creationId xmlns:a16="http://schemas.microsoft.com/office/drawing/2014/main" id="{A22D44D3-C84A-40C5-AC2A-C86156B44139}"/>
                  </a:ext>
                </a:extLst>
              </p:cNvPr>
              <p:cNvSpPr>
                <a:spLocks noGrp="1"/>
              </p:cNvSpPr>
              <p:nvPr/>
            </p:nvSpPr>
            <p:spPr>
              <a:xfrm>
                <a:off x="571500" y="1952625"/>
                <a:ext cx="11049000" cy="952500"/>
              </a:xfrm>
              <a:prstGeom prst="rect">
                <a:avLst/>
              </a:prstGeom>
              <a:noFill/>
              <a:ln w="0">
                <a:noFill/>
              </a:ln>
            </p:spPr>
            <p:txBody>
              <a:bodyPr wrap="square" lIns="0" tIns="0" rIns="0" bIns="0" anchor="t">
                <a:noAutofit/>
              </a:bodyPr>
              <a:lstStyle/>
              <a:p>
                <a:pPr marL="0" lvl="0" indent="0" algn="ctr">
                  <a:buNone/>
                  <a:defRPr sz="2600">
                    <a:latin typeface="Cambria Math"/>
                  </a:defRPr>
                </a:pPr>
                <a14:m>
                  <m:oMathPara xmlns:m="http://schemas.openxmlformats.org/officeDocument/2006/math">
                    <m:oMathParaPr>
                      <m:jc m:val="center"/>
                    </m:oMathParaPr>
                    <m:oMath xmlns:m="http://schemas.openxmlformats.org/officeDocument/2006/math">
                      <m:limLow>
                        <m:limLowPr>
                          <m:ctrlPr>
                            <a:rPr sz="2600" i="1">
                              <a:latin typeface="Cambria Math" panose="02040503050406030204" pitchFamily="18" charset="0"/>
                            </a:rPr>
                          </m:ctrlPr>
                        </m:limLowPr>
                        <m:e>
                          <m:r>
                            <m:rPr>
                              <m:sty m:val="p"/>
                            </m:rPr>
                            <a:rPr sz="2600">
                              <a:latin typeface="Cambria Math"/>
                            </a:rPr>
                            <m:t>min</m:t>
                          </m:r>
                        </m:e>
                        <m:lim>
                          <m:r>
                            <a:rPr sz="2600">
                              <a:latin typeface="Cambria Math"/>
                            </a:rPr>
                            <m:t>𝜃</m:t>
                          </m:r>
                        </m:lim>
                      </m:limLow>
                      <m:sSub>
                        <m:sSubPr>
                          <m:ctrlPr>
                            <a:rPr sz="2600" i="1">
                              <a:latin typeface="Cambria Math" panose="02040503050406030204" pitchFamily="18" charset="0"/>
                            </a:rPr>
                          </m:ctrlPr>
                        </m:sSubPr>
                        <m:e>
                          <m:r>
                            <a:rPr sz="2600">
                              <a:latin typeface="Cambria Math"/>
                            </a:rPr>
                            <m:t>𝐿</m:t>
                          </m:r>
                        </m:e>
                        <m:sub>
                          <m:r>
                            <a:rPr sz="2600">
                              <a:latin typeface="Cambria Math"/>
                            </a:rPr>
                            <m:t>𝑄</m:t>
                          </m:r>
                        </m:sub>
                      </m:sSub>
                      <m:r>
                        <a:rPr sz="2600">
                          <a:latin typeface="Cambria Math"/>
                        </a:rPr>
                        <m:t>(</m:t>
                      </m:r>
                      <m:r>
                        <a:rPr sz="2600">
                          <a:latin typeface="Cambria Math"/>
                        </a:rPr>
                        <m:t>𝜃</m:t>
                      </m:r>
                      <m:r>
                        <a:rPr sz="2600">
                          <a:latin typeface="Cambria Math"/>
                        </a:rPr>
                        <m:t>) </m:t>
                      </m:r>
                      <m:r>
                        <m:rPr>
                          <m:sty m:val="p"/>
                        </m:rPr>
                        <a:rPr sz="2600">
                          <a:latin typeface="Cambria Math"/>
                        </a:rPr>
                        <m:t>s</m:t>
                      </m:r>
                      <m:r>
                        <a:rPr sz="2600">
                          <a:latin typeface="Cambria Math"/>
                        </a:rPr>
                        <m:t>.</m:t>
                      </m:r>
                      <m:r>
                        <m:rPr>
                          <m:sty m:val="p"/>
                        </m:rPr>
                        <a:rPr sz="2600">
                          <a:latin typeface="Cambria Math"/>
                        </a:rPr>
                        <m:t>t</m:t>
                      </m:r>
                      <m:r>
                        <a:rPr sz="2600">
                          <a:latin typeface="Cambria Math"/>
                        </a:rPr>
                        <m:t>. </m:t>
                      </m:r>
                      <m:sSub>
                        <m:sSubPr>
                          <m:ctrlPr>
                            <a:rPr sz="2600" i="1">
                              <a:latin typeface="Cambria Math" panose="02040503050406030204" pitchFamily="18" charset="0"/>
                            </a:rPr>
                          </m:ctrlPr>
                        </m:sSubPr>
                        <m:e>
                          <m:r>
                            <a:rPr sz="2600">
                              <a:latin typeface="Cambria Math"/>
                            </a:rPr>
                            <m:t>𝐿</m:t>
                          </m:r>
                        </m:e>
                        <m:sub>
                          <m:r>
                            <a:rPr sz="2600">
                              <a:latin typeface="Cambria Math"/>
                            </a:rPr>
                            <m:t>𝑃</m:t>
                          </m:r>
                        </m:sub>
                      </m:sSub>
                      <m:r>
                        <a:rPr sz="2600">
                          <a:latin typeface="Cambria Math"/>
                        </a:rPr>
                        <m:t>(</m:t>
                      </m:r>
                      <m:r>
                        <a:rPr sz="2600">
                          <a:latin typeface="Cambria Math"/>
                        </a:rPr>
                        <m:t>𝜃</m:t>
                      </m:r>
                      <m:r>
                        <a:rPr sz="2600">
                          <a:latin typeface="Cambria Math"/>
                        </a:rPr>
                        <m:t>)≤</m:t>
                      </m:r>
                      <m:sSub>
                        <m:sSubPr>
                          <m:ctrlPr>
                            <a:rPr sz="2600" i="1">
                              <a:latin typeface="Cambria Math" panose="02040503050406030204" pitchFamily="18" charset="0"/>
                            </a:rPr>
                          </m:ctrlPr>
                        </m:sSubPr>
                        <m:e>
                          <m:r>
                            <a:rPr sz="2600">
                              <a:latin typeface="Cambria Math"/>
                            </a:rPr>
                            <m:t>𝜏</m:t>
                          </m:r>
                        </m:e>
                        <m:sub>
                          <m:r>
                            <a:rPr sz="2600">
                              <a:latin typeface="Cambria Math"/>
                            </a:rPr>
                            <m:t>𝑗</m:t>
                          </m:r>
                        </m:sub>
                      </m:sSub>
                      <m:r>
                        <a:rPr sz="2600">
                          <a:latin typeface="Cambria Math"/>
                        </a:rPr>
                        <m:t>,  </m:t>
                      </m:r>
                      <m:sSub>
                        <m:sSubPr>
                          <m:ctrlPr>
                            <a:rPr sz="2600" i="1">
                              <a:latin typeface="Cambria Math" panose="02040503050406030204" pitchFamily="18" charset="0"/>
                            </a:rPr>
                          </m:ctrlPr>
                        </m:sSubPr>
                        <m:e>
                          <m:r>
                            <a:rPr sz="2600">
                              <a:latin typeface="Cambria Math"/>
                            </a:rPr>
                            <m:t>𝜏</m:t>
                          </m:r>
                        </m:e>
                        <m:sub>
                          <m:r>
                            <a:rPr sz="2600">
                              <a:latin typeface="Cambria Math"/>
                            </a:rPr>
                            <m:t>𝑗</m:t>
                          </m:r>
                        </m:sub>
                      </m:sSub>
                      <m:r>
                        <a:rPr sz="2600">
                          <a:latin typeface="Cambria Math"/>
                        </a:rPr>
                        <m:t>=1.5</m:t>
                      </m:r>
                      <m:sSub>
                        <m:sSubPr>
                          <m:ctrlPr>
                            <a:rPr sz="2600" i="1">
                              <a:latin typeface="Cambria Math" panose="02040503050406030204" pitchFamily="18" charset="0"/>
                            </a:rPr>
                          </m:ctrlPr>
                        </m:sSubPr>
                        <m:e>
                          <m:r>
                            <a:rPr sz="2600">
                              <a:latin typeface="Cambria Math"/>
                            </a:rPr>
                            <m:t>𝐿</m:t>
                          </m:r>
                        </m:e>
                        <m:sub>
                          <m:r>
                            <a:rPr sz="2600">
                              <a:latin typeface="Cambria Math"/>
                            </a:rPr>
                            <m:t>𝑃</m:t>
                          </m:r>
                          <m:r>
                            <a:rPr sz="2600">
                              <a:latin typeface="Cambria Math"/>
                            </a:rPr>
                            <m:t>,</m:t>
                          </m:r>
                          <m:r>
                            <m:rPr>
                              <m:sty m:val="p"/>
                            </m:rPr>
                            <a:rPr sz="2600">
                              <a:latin typeface="Cambria Math"/>
                            </a:rPr>
                            <m:t>ref</m:t>
                          </m:r>
                          <m:r>
                            <a:rPr sz="2600">
                              <a:latin typeface="Cambria Math"/>
                            </a:rPr>
                            <m:t>,</m:t>
                          </m:r>
                          <m:r>
                            <a:rPr sz="2600">
                              <a:latin typeface="Cambria Math"/>
                            </a:rPr>
                            <m:t>𝑗</m:t>
                          </m:r>
                        </m:sub>
                      </m:sSub>
                      <m:r>
                        <a:rPr sz="2600">
                          <a:latin typeface="Cambria Math"/>
                        </a:rPr>
                        <m:t>.</m:t>
                      </m:r>
                    </m:oMath>
                  </m:oMathPara>
                </a14:m>
                <a:endParaRPr/>
              </a:p>
            </p:txBody>
          </p:sp>
        </mc:Choice>
        <mc:Fallback xmlns="">
          <p:sp>
            <p:nvSpPr>
              <p:cNvPr id="1000" name="content-weibull20260906s26-5">
                <a:extLst>
                  <a:ext uri="{FF2B5EF4-FFF2-40B4-BE49-F238E27FC236}">
                    <a16:creationId xmlns:a16="http://schemas.microsoft.com/office/drawing/2014/main" id="{A22D44D3-C84A-40C5-AC2A-C86156B44139}"/>
                  </a:ext>
                </a:extLst>
              </p:cNvPr>
              <p:cNvSpPr>
                <a:spLocks noGrp="1" noRot="1" noChangeAspect="1" noMove="1" noResize="1" noEditPoints="1" noAdjustHandles="1" noChangeArrowheads="1" noChangeShapeType="1" noTextEdit="1"/>
              </p:cNvSpPr>
              <p:nvPr/>
            </p:nvSpPr>
            <p:spPr>
              <a:xfrm>
                <a:off x="571500" y="1952625"/>
                <a:ext cx="11049000" cy="952500"/>
              </a:xfrm>
              <a:prstGeom prst="rect">
                <a:avLst/>
              </a:prstGeom>
              <a:blipFill>
                <a:blip r:embed="rId3"/>
                <a:stretch>
                  <a:fillRect/>
                </a:stretch>
              </a:blipFill>
              <a:ln w="0">
                <a:noFill/>
              </a:ln>
            </p:spPr>
            <p:txBody>
              <a:bodyPr/>
              <a:lstStyle/>
              <a:p>
                <a:r>
                  <a:rPr lang="zh-CN" altLang="en-US">
                    <a:noFill/>
                  </a:rPr>
                  <a:t> </a:t>
                </a:r>
              </a:p>
            </p:txBody>
          </p:sp>
        </mc:Fallback>
      </mc:AlternateContent>
      <p:sp>
        <p:nvSpPr>
          <p:cNvPr id="9" name="content-weibull20260906s26-6">
            <a:extLst>
              <a:ext uri="{FF2B5EF4-FFF2-40B4-BE49-F238E27FC236}">
                <a16:creationId xmlns:a16="http://schemas.microsoft.com/office/drawing/2014/main" id="{7134C6A9-24C2-4F2C-9EF6-9E4F7B59FF33}"/>
              </a:ext>
            </a:extLst>
          </p:cNvPr>
          <p:cNvSpPr>
            <a:spLocks noGrp="1"/>
          </p:cNvSpPr>
          <p:nvPr/>
        </p:nvSpPr>
        <p:spPr>
          <a:xfrm>
            <a:off x="552450" y="3143250"/>
            <a:ext cx="11049000" cy="714375"/>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以参数训练模型为参考，设定平均参数误差的上限。</a:t>
            </a:r>
          </a:p>
        </p:txBody>
      </p:sp>
      <p:sp>
        <p:nvSpPr>
          <p:cNvPr id="10" name="content-weibull20260906s26-7">
            <a:extLst>
              <a:ext uri="{FF2B5EF4-FFF2-40B4-BE49-F238E27FC236}">
                <a16:creationId xmlns:a16="http://schemas.microsoft.com/office/drawing/2014/main" id="{A76E5FCB-4388-4B0E-9FBC-7A5C7581BF7B}"/>
              </a:ext>
            </a:extLst>
          </p:cNvPr>
          <p:cNvSpPr>
            <a:spLocks noGrp="1"/>
          </p:cNvSpPr>
          <p:nvPr/>
        </p:nvSpPr>
        <p:spPr>
          <a:xfrm>
            <a:off x="552450" y="3952875"/>
            <a:ext cx="11049000" cy="714375"/>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训练时同时限制参数偏离。</a:t>
            </a:r>
          </a:p>
        </p:txBody>
      </p:sp>
      <p:sp>
        <p:nvSpPr>
          <p:cNvPr id="11" name="content-weibull20260906s26-8">
            <a:extLst>
              <a:ext uri="{FF2B5EF4-FFF2-40B4-BE49-F238E27FC236}">
                <a16:creationId xmlns:a16="http://schemas.microsoft.com/office/drawing/2014/main" id="{3EF8805C-6ED4-44F3-A23A-087ACF16D130}"/>
              </a:ext>
            </a:extLst>
          </p:cNvPr>
          <p:cNvSpPr>
            <a:spLocks noGrp="1"/>
          </p:cNvSpPr>
          <p:nvPr/>
        </p:nvSpPr>
        <p:spPr>
          <a:xfrm>
            <a:off x="552450" y="4762500"/>
            <a:ext cx="11049000" cy="714375"/>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先筛选满足参数误差要求的模型，再选目标点误差最低的模型。</a:t>
            </a:r>
          </a:p>
        </p:txBody>
      </p:sp>
      <p:sp>
        <p:nvSpPr>
          <p:cNvPr id="12" name="content-weibull20260906s26-9">
            <a:extLst>
              <a:ext uri="{FF2B5EF4-FFF2-40B4-BE49-F238E27FC236}">
                <a16:creationId xmlns:a16="http://schemas.microsoft.com/office/drawing/2014/main" id="{08F4C381-50A1-4504-BDA6-F0369FD120FB}"/>
              </a:ext>
            </a:extLst>
          </p:cNvPr>
          <p:cNvSpPr>
            <a:spLocks noGrp="1"/>
          </p:cNvSpPr>
          <p:nvPr/>
        </p:nvSpPr>
        <p:spPr>
          <a:xfrm>
            <a:off x="590550" y="5905500"/>
            <a:ext cx="11010900" cy="552450"/>
          </a:xfrm>
          <a:prstGeom prst="rect">
            <a:avLst/>
          </a:prstGeom>
          <a:noFill/>
          <a:ln w="0">
            <a:noFill/>
          </a:ln>
        </p:spPr>
        <p:txBody>
          <a:bodyPr wrap="square" lIns="0" tIns="0" rIns="0" bIns="0" anchor="t">
            <a:noAutofit/>
          </a:bodyPr>
          <a:lstStyle/>
          <a:p>
            <a:pPr algn="l">
              <a:defRPr sz="1800" b="0">
                <a:solidFill>
                  <a:srgbClr val="315DA7"/>
                </a:solidFill>
                <a:latin typeface="汉仪粗宋简"/>
                <a:ea typeface="汉仪粗宋简"/>
                <a:cs typeface="汉仪粗宋简"/>
              </a:defRPr>
            </a:pPr>
            <a:r>
              <a:rPr sz="1800" b="0">
                <a:solidFill>
                  <a:srgbClr val="315DA7"/>
                </a:solidFill>
                <a:latin typeface="汉仪粗宋简"/>
                <a:ea typeface="汉仪粗宋简"/>
                <a:cs typeface="汉仪粗宋简"/>
              </a:rPr>
              <a:t>在验证集平均参数误差满足要求的前提下，继续优化目标寿命点。</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直接估计中的参数目标与分位点目标</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03</a:t>
            </a:r>
          </a:p>
        </p:txBody>
      </p:sp>
    </p:spTree>
    <p:extLst>
      <p:ext uri="{BB962C8B-B14F-4D97-AF65-F5344CB8AC3E}">
        <p14:creationId xmlns:p14="http://schemas.microsoft.com/office/powerpoint/2010/main" val="1947844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加入参数要求后，三个寿命点的误差均下降</a:t>
            </a:r>
          </a:p>
        </p:txBody>
      </p:sp>
      <p:sp>
        <p:nvSpPr>
          <p:cNvPr id="7" name="content-weibull20260906s27-4">
            <a:extLst>
              <a:ext uri="{FF2B5EF4-FFF2-40B4-BE49-F238E27FC236}">
                <a16:creationId xmlns:a16="http://schemas.microsoft.com/office/drawing/2014/main" id="{FCB3B1AE-C171-4D3F-BD5F-A211CC928CF7}"/>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27 / 32</a:t>
            </a:r>
          </a:p>
        </p:txBody>
      </p:sp>
      <p:pic>
        <p:nvPicPr>
          <p:cNvPr id="15" name="图片 14"/>
          <p:cNvPicPr>
            <a:picLocks noChangeAspect="1"/>
          </p:cNvPicPr>
          <p:nvPr/>
        </p:nvPicPr>
        <p:blipFill>
          <a:blip r:embed="rId3"/>
          <a:stretch/>
        </p:blipFill>
        <p:spPr>
          <a:xfrm>
            <a:off x="1483917" y="2103120"/>
            <a:ext cx="5764686" cy="3474720"/>
          </a:xfrm>
          <a:prstGeom prst="rect">
            <a:avLst/>
          </a:prstGeom>
        </p:spPr>
      </p:pic>
      <p:sp>
        <p:nvSpPr>
          <p:cNvPr id="16" name="TextBox 15"/>
          <p:cNvSpPr txBox="1"/>
          <p:nvPr/>
        </p:nvSpPr>
        <p:spPr>
          <a:xfrm>
            <a:off x="594360" y="1417320"/>
            <a:ext cx="10972800" cy="548640"/>
          </a:xfrm>
          <a:prstGeom prst="rect">
            <a:avLst/>
          </a:prstGeom>
          <a:noFill/>
        </p:spPr>
        <p:txBody>
          <a:bodyPr wrap="square">
            <a:spAutoFit/>
          </a:bodyPr>
          <a:lstStyle/>
          <a:p>
            <a:pPr>
              <a:defRPr sz="1800"/>
            </a:pPr>
            <a:r>
              <a:rPr sz="1800">
                <a:solidFill>
                  <a:srgbClr val="234E78"/>
                </a:solidFill>
                <a:latin typeface="Microsoft YaHei"/>
              </a:rPr>
              <a:t>在同一批测试样本上，比较加入参数约束前后的三个寿命点误差。</a:t>
            </a:r>
          </a:p>
        </p:txBody>
      </p:sp>
      <p:sp>
        <p:nvSpPr>
          <p:cNvPr id="17" name="TextBox 16"/>
          <p:cNvSpPr txBox="1"/>
          <p:nvPr/>
        </p:nvSpPr>
        <p:spPr>
          <a:xfrm>
            <a:off x="8366760" y="2468880"/>
            <a:ext cx="3108960" cy="2468880"/>
          </a:xfrm>
          <a:prstGeom prst="rect">
            <a:avLst/>
          </a:prstGeom>
          <a:noFill/>
        </p:spPr>
        <p:txBody>
          <a:bodyPr wrap="square">
            <a:spAutoFit/>
          </a:bodyPr>
          <a:lstStyle/>
          <a:p>
            <a:pPr>
              <a:defRPr sz="1800"/>
            </a:pPr>
            <a:r>
              <a:rPr sz="1800">
                <a:solidFill>
                  <a:srgbClr val="234E78"/>
                </a:solidFill>
                <a:latin typeface="Microsoft YaHei"/>
              </a:rPr>
              <a:t>QCP在三个寿命点的误差均低于P和Q。</a:t>
            </a:r>
          </a:p>
          <a:p>
            <a:pPr>
              <a:defRPr sz="1800"/>
            </a:pPr>
            <a:r>
              <a:rPr sz="1800">
                <a:solidFill>
                  <a:srgbClr val="234E78"/>
                </a:solidFill>
                <a:latin typeface="Microsoft YaHei"/>
              </a:rPr>
              <a:t>平均参数损失回到约0.0552。</a:t>
            </a:r>
          </a:p>
        </p:txBody>
      </p:sp>
      <p:sp>
        <p:nvSpPr>
          <p:cNvPr id="18" name="TextBox 17"/>
          <p:cNvSpPr txBox="1"/>
          <p:nvPr/>
        </p:nvSpPr>
        <p:spPr>
          <a:xfrm>
            <a:off x="594360" y="5669280"/>
            <a:ext cx="10972800" cy="594360"/>
          </a:xfrm>
          <a:prstGeom prst="rect">
            <a:avLst/>
          </a:prstGeom>
          <a:noFill/>
        </p:spPr>
        <p:txBody>
          <a:bodyPr wrap="square">
            <a:spAutoFit/>
          </a:bodyPr>
          <a:lstStyle/>
          <a:p>
            <a:pPr>
              <a:defRPr sz="1800"/>
            </a:pPr>
            <a:r>
              <a:rPr sz="1800">
                <a:solidFill>
                  <a:srgbClr val="234E78"/>
                </a:solidFill>
                <a:latin typeface="Microsoft YaHei"/>
              </a:rPr>
              <a:t>限制参数偏离后，目标点收益得以保留，另外两个寿命点的误差也降了下来。</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直接估计中的参数目标与分位点目标</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03</a:t>
            </a:r>
          </a:p>
        </p:txBody>
      </p:sp>
    </p:spTree>
    <p:extLst>
      <p:ext uri="{BB962C8B-B14F-4D97-AF65-F5344CB8AC3E}">
        <p14:creationId xmlns:p14="http://schemas.microsoft.com/office/powerpoint/2010/main" val="11690241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统一模型选择标准后，目标点收益仍然存在</a:t>
            </a:r>
          </a:p>
        </p:txBody>
      </p:sp>
      <p:sp>
        <p:nvSpPr>
          <p:cNvPr id="7" name="content-weibull20260906s28-4">
            <a:extLst>
              <a:ext uri="{FF2B5EF4-FFF2-40B4-BE49-F238E27FC236}">
                <a16:creationId xmlns:a16="http://schemas.microsoft.com/office/drawing/2014/main" id="{FFFBEA6F-FD41-482E-925E-8F2D5DF61180}"/>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28 / 32</a:t>
            </a:r>
          </a:p>
        </p:txBody>
      </p:sp>
      <p:graphicFrame>
        <p:nvGraphicFramePr>
          <p:cNvPr id="16" name="表格 15"/>
          <p:cNvGraphicFramePr/>
          <p:nvPr/>
        </p:nvGraphicFramePr>
        <p:xfrm>
          <a:off x="619125" y="1857375"/>
          <a:ext cx="10906125" cy="2619375"/>
        </p:xfrm>
        <a:graphic>
          <a:graphicData uri="http://schemas.openxmlformats.org/drawingml/2006/table">
            <a:tbl>
              <a:tblPr/>
              <a:tblGrid>
                <a:gridCol w="3524250">
                  <a:extLst>
                    <a:ext uri="{9D8B030D-6E8A-4147-A177-3AD203B41FA5}">
                      <a16:colId xmlns:a16="http://schemas.microsoft.com/office/drawing/2014/main" val="20000"/>
                    </a:ext>
                  </a:extLst>
                </a:gridCol>
                <a:gridCol w="3524250">
                  <a:extLst>
                    <a:ext uri="{9D8B030D-6E8A-4147-A177-3AD203B41FA5}">
                      <a16:colId xmlns:a16="http://schemas.microsoft.com/office/drawing/2014/main" val="20001"/>
                    </a:ext>
                  </a:extLst>
                </a:gridCol>
                <a:gridCol w="3857625">
                  <a:extLst>
                    <a:ext uri="{9D8B030D-6E8A-4147-A177-3AD203B41FA5}">
                      <a16:colId xmlns:a16="http://schemas.microsoft.com/office/drawing/2014/main" val="20002"/>
                    </a:ext>
                  </a:extLst>
                </a:gridCol>
              </a:tblGrid>
              <a:tr h="654844">
                <a:tc>
                  <a:txBody>
                    <a:bodyPr/>
                    <a:lstStyle/>
                    <a:p>
                      <a:pPr algn="l">
                        <a:defRPr sz="1800"/>
                      </a:pPr>
                      <a:r>
                        <a:rPr sz="1800" b="1">
                          <a:solidFill>
                            <a:srgbClr val="FFFFFF"/>
                          </a:solidFill>
                          <a:latin typeface="汉仪粗宋简"/>
                          <a:ea typeface="汉仪粗宋简"/>
                          <a:cs typeface="汉仪粗宋简"/>
                        </a:rPr>
                        <a:t>训练目标</a:t>
                      </a:r>
                    </a:p>
                  </a:txBody>
                  <a:tcPr anchor="ctr">
                    <a:solidFill>
                      <a:srgbClr val="315DA7"/>
                    </a:solidFill>
                  </a:tcPr>
                </a:tc>
                <a:tc>
                  <a:txBody>
                    <a:bodyPr/>
                    <a:lstStyle/>
                    <a:p>
                      <a:pPr algn="ctr">
                        <a:defRPr sz="1800"/>
                      </a:pPr>
                      <a:r>
                        <a:rPr sz="1800" b="1">
                          <a:solidFill>
                            <a:srgbClr val="FFFFFF"/>
                          </a:solidFill>
                          <a:latin typeface="汉仪粗宋简"/>
                          <a:ea typeface="汉仪粗宋简"/>
                          <a:cs typeface="汉仪粗宋简"/>
                        </a:rPr>
                        <a:t>验证目标</a:t>
                      </a:r>
                    </a:p>
                  </a:txBody>
                  <a:tcPr anchor="ctr">
                    <a:solidFill>
                      <a:srgbClr val="315DA7"/>
                    </a:solidFill>
                  </a:tcPr>
                </a:tc>
                <a:tc>
                  <a:txBody>
                    <a:bodyPr/>
                    <a:lstStyle/>
                    <a:p>
                      <a:pPr algn="ctr">
                        <a:defRPr sz="1800"/>
                      </a:pPr>
                      <a:r>
                        <a:rPr sz="1800" b="1">
                          <a:solidFill>
                            <a:srgbClr val="FFFFFF"/>
                          </a:solidFill>
                          <a:latin typeface="汉仪粗宋简"/>
                          <a:ea typeface="汉仪粗宋简"/>
                          <a:cs typeface="汉仪粗宋简"/>
                        </a:rPr>
                        <a:t>x</a:t>
                      </a:r>
                      <a:r>
                        <a:rPr sz="1800" b="1" baseline="-25000">
                          <a:solidFill>
                            <a:srgbClr val="FFFFFF"/>
                          </a:solidFill>
                          <a:latin typeface="汉仪粗宋简"/>
                          <a:ea typeface="汉仪粗宋简"/>
                          <a:cs typeface="汉仪粗宋简"/>
                        </a:rPr>
                        <a:t>0.95</a:t>
                      </a:r>
                      <a:r>
                        <a:rPr sz="1800" b="1">
                          <a:solidFill>
                            <a:srgbClr val="FFFFFF"/>
                          </a:solidFill>
                          <a:latin typeface="汉仪粗宋简"/>
                          <a:ea typeface="汉仪粗宋简"/>
                          <a:cs typeface="汉仪粗宋简"/>
                        </a:rPr>
                        <a:t> RMSRE</a:t>
                      </a:r>
                    </a:p>
                  </a:txBody>
                  <a:tcPr anchor="ctr">
                    <a:solidFill>
                      <a:srgbClr val="315DA7"/>
                    </a:solidFill>
                  </a:tcPr>
                </a:tc>
                <a:extLst>
                  <a:ext uri="{0D108BD9-81ED-4DB2-BD59-A6C34878D82A}">
                    <a16:rowId xmlns:a16="http://schemas.microsoft.com/office/drawing/2014/main" val="10000"/>
                  </a:ext>
                </a:extLst>
              </a:tr>
              <a:tr h="654844">
                <a:tc>
                  <a:txBody>
                    <a:bodyPr/>
                    <a:lstStyle/>
                    <a:p>
                      <a:pPr algn="l">
                        <a:defRPr sz="1800"/>
                      </a:pPr>
                      <a:r>
                        <a:rPr sz="1800" b="0">
                          <a:solidFill>
                            <a:srgbClr val="161616"/>
                          </a:solidFill>
                          <a:latin typeface="汉仪粗宋简"/>
                          <a:ea typeface="汉仪粗宋简"/>
                          <a:cs typeface="汉仪粗宋简"/>
                        </a:rPr>
                        <a:t>P</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P</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16.432%</a:t>
                      </a:r>
                    </a:p>
                  </a:txBody>
                  <a:tcPr anchor="ctr">
                    <a:solidFill>
                      <a:srgbClr val="FFFFFF"/>
                    </a:solidFill>
                  </a:tcPr>
                </a:tc>
                <a:extLst>
                  <a:ext uri="{0D108BD9-81ED-4DB2-BD59-A6C34878D82A}">
                    <a16:rowId xmlns:a16="http://schemas.microsoft.com/office/drawing/2014/main" val="10001"/>
                  </a:ext>
                </a:extLst>
              </a:tr>
              <a:tr h="654844">
                <a:tc>
                  <a:txBody>
                    <a:bodyPr/>
                    <a:lstStyle/>
                    <a:p>
                      <a:pPr algn="l">
                        <a:defRPr sz="1800"/>
                      </a:pPr>
                      <a:r>
                        <a:rPr sz="1800" b="0">
                          <a:solidFill>
                            <a:srgbClr val="161616"/>
                          </a:solidFill>
                          <a:latin typeface="汉仪粗宋简"/>
                          <a:ea typeface="汉仪粗宋简"/>
                          <a:cs typeface="汉仪粗宋简"/>
                        </a:rPr>
                        <a:t>P</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Q</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16.3077%</a:t>
                      </a:r>
                    </a:p>
                  </a:txBody>
                  <a:tcPr anchor="ctr">
                    <a:solidFill>
                      <a:srgbClr val="FFFFFF"/>
                    </a:solidFill>
                  </a:tcPr>
                </a:tc>
                <a:extLst>
                  <a:ext uri="{0D108BD9-81ED-4DB2-BD59-A6C34878D82A}">
                    <a16:rowId xmlns:a16="http://schemas.microsoft.com/office/drawing/2014/main" val="10002"/>
                  </a:ext>
                </a:extLst>
              </a:tr>
              <a:tr h="654844">
                <a:tc>
                  <a:txBody>
                    <a:bodyPr/>
                    <a:lstStyle/>
                    <a:p>
                      <a:pPr algn="l">
                        <a:defRPr sz="1800"/>
                      </a:pPr>
                      <a:r>
                        <a:rPr sz="1800" b="0">
                          <a:solidFill>
                            <a:srgbClr val="161616"/>
                          </a:solidFill>
                          <a:latin typeface="汉仪粗宋简"/>
                          <a:ea typeface="汉仪粗宋简"/>
                          <a:cs typeface="汉仪粗宋简"/>
                        </a:rPr>
                        <a:t>Q</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Q</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16.092%</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9" name="content-weibull20260906s28-5">
            <a:extLst>
              <a:ext uri="{FF2B5EF4-FFF2-40B4-BE49-F238E27FC236}">
                <a16:creationId xmlns:a16="http://schemas.microsoft.com/office/drawing/2014/main" id="{CF46C2DC-A937-4AE8-8CBD-6A1EC6C11E4E}"/>
              </a:ext>
            </a:extLst>
          </p:cNvPr>
          <p:cNvSpPr>
            <a:spLocks noGrp="1"/>
          </p:cNvSpPr>
          <p:nvPr/>
        </p:nvSpPr>
        <p:spPr>
          <a:xfrm>
            <a:off x="619125" y="4857750"/>
            <a:ext cx="10906125" cy="714375"/>
          </a:xfrm>
          <a:prstGeom prst="rect">
            <a:avLst/>
          </a:prstGeom>
          <a:noFill/>
          <a:ln w="0">
            <a:noFill/>
          </a:ln>
        </p:spPr>
        <p:txBody>
          <a:bodyPr wrap="square" lIns="0" tIns="0" rIns="0" bIns="0" anchor="t">
            <a:noAutofit/>
          </a:bodyPr>
          <a:lstStyle/>
          <a:p>
            <a:pPr algn="l">
              <a:defRPr sz="1800" b="1">
                <a:solidFill>
                  <a:srgbClr val="315DA7"/>
                </a:solidFill>
                <a:latin typeface="汉仪粗宋简"/>
                <a:ea typeface="汉仪粗宋简"/>
                <a:cs typeface="汉仪粗宋简"/>
              </a:defRPr>
            </a:pPr>
            <a:r>
              <a:rPr sz="1800" b="1">
                <a:solidFill>
                  <a:srgbClr val="315DA7"/>
                </a:solidFill>
                <a:latin typeface="汉仪粗宋简"/>
                <a:ea typeface="汉仪粗宋简"/>
                <a:cs typeface="汉仪粗宋简"/>
              </a:rPr>
              <a:t>统一按目标点误差选模型后，Q相对P仍改善1.32%。</a:t>
            </a:r>
          </a:p>
        </p:txBody>
      </p:sp>
      <p:sp>
        <p:nvSpPr>
          <p:cNvPr id="10" name="content-weibull20260906s28-6">
            <a:extLst>
              <a:ext uri="{FF2B5EF4-FFF2-40B4-BE49-F238E27FC236}">
                <a16:creationId xmlns:a16="http://schemas.microsoft.com/office/drawing/2014/main" id="{7A5A5C8E-9381-4392-A533-3EFD427B16BB}"/>
              </a:ext>
            </a:extLst>
          </p:cNvPr>
          <p:cNvSpPr>
            <a:spLocks noGrp="1"/>
          </p:cNvSpPr>
          <p:nvPr/>
        </p:nvSpPr>
        <p:spPr>
          <a:xfrm>
            <a:off x="590550" y="5905500"/>
            <a:ext cx="11010900" cy="552450"/>
          </a:xfrm>
          <a:prstGeom prst="rect">
            <a:avLst/>
          </a:prstGeom>
          <a:noFill/>
          <a:ln w="0">
            <a:noFill/>
          </a:ln>
        </p:spPr>
        <p:txBody>
          <a:bodyPr wrap="square" lIns="0" tIns="0" rIns="0" bIns="0" anchor="t">
            <a:noAutofit/>
          </a:bodyPr>
          <a:lstStyle/>
          <a:p>
            <a:pPr algn="l">
              <a:defRPr sz="1800" b="0">
                <a:solidFill>
                  <a:srgbClr val="315DA7"/>
                </a:solidFill>
                <a:latin typeface="汉仪粗宋简"/>
                <a:ea typeface="汉仪粗宋简"/>
                <a:cs typeface="汉仪粗宋简"/>
              </a:defRPr>
            </a:pPr>
            <a:r>
              <a:rPr sz="1800" b="0">
                <a:solidFill>
                  <a:srgbClr val="315DA7"/>
                </a:solidFill>
                <a:latin typeface="汉仪粗宋简"/>
                <a:ea typeface="汉仪粗宋简"/>
                <a:cs typeface="汉仪粗宋简"/>
              </a:rPr>
              <a:t>改变训练目标仍有收益，原来的差异也包含模型选择标准的作用。</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直接估计中的参数目标与分位点目标</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03</a:t>
            </a:r>
          </a:p>
        </p:txBody>
      </p:sp>
    </p:spTree>
    <p:extLst>
      <p:ext uri="{BB962C8B-B14F-4D97-AF65-F5344CB8AC3E}">
        <p14:creationId xmlns:p14="http://schemas.microsoft.com/office/powerpoint/2010/main" val="9523317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简单加权与参数约束取得接近的效果</a:t>
            </a:r>
          </a:p>
        </p:txBody>
      </p:sp>
      <p:sp>
        <p:nvSpPr>
          <p:cNvPr id="7" name="content-weibull20260906s29-4">
            <a:extLst>
              <a:ext uri="{FF2B5EF4-FFF2-40B4-BE49-F238E27FC236}">
                <a16:creationId xmlns:a16="http://schemas.microsoft.com/office/drawing/2014/main" id="{D0CC5D32-391A-42F7-8AF6-B735E77D2201}"/>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29 / 32</a:t>
            </a:r>
          </a:p>
        </p:txBody>
      </p:sp>
      <p:graphicFrame>
        <p:nvGraphicFramePr>
          <p:cNvPr id="16" name="表格 15"/>
          <p:cNvGraphicFramePr/>
          <p:nvPr/>
        </p:nvGraphicFramePr>
        <p:xfrm>
          <a:off x="619125" y="1905000"/>
          <a:ext cx="10906125" cy="2619375"/>
        </p:xfrm>
        <a:graphic>
          <a:graphicData uri="http://schemas.openxmlformats.org/drawingml/2006/table">
            <a:tbl>
              <a:tblPr/>
              <a:tblGrid>
                <a:gridCol w="3143250">
                  <a:extLst>
                    <a:ext uri="{9D8B030D-6E8A-4147-A177-3AD203B41FA5}">
                      <a16:colId xmlns:a16="http://schemas.microsoft.com/office/drawing/2014/main" val="20000"/>
                    </a:ext>
                  </a:extLst>
                </a:gridCol>
                <a:gridCol w="2857500">
                  <a:extLst>
                    <a:ext uri="{9D8B030D-6E8A-4147-A177-3AD203B41FA5}">
                      <a16:colId xmlns:a16="http://schemas.microsoft.com/office/drawing/2014/main" val="20001"/>
                    </a:ext>
                  </a:extLst>
                </a:gridCol>
                <a:gridCol w="4905375">
                  <a:extLst>
                    <a:ext uri="{9D8B030D-6E8A-4147-A177-3AD203B41FA5}">
                      <a16:colId xmlns:a16="http://schemas.microsoft.com/office/drawing/2014/main" val="20002"/>
                    </a:ext>
                  </a:extLst>
                </a:gridCol>
              </a:tblGrid>
              <a:tr h="654844">
                <a:tc>
                  <a:txBody>
                    <a:bodyPr/>
                    <a:lstStyle/>
                    <a:p>
                      <a:pPr algn="l">
                        <a:defRPr sz="1800"/>
                      </a:pPr>
                      <a:r>
                        <a:rPr sz="1800" b="1">
                          <a:solidFill>
                            <a:srgbClr val="FFFFFF"/>
                          </a:solidFill>
                          <a:latin typeface="汉仪粗宋简"/>
                          <a:ea typeface="汉仪粗宋简"/>
                          <a:cs typeface="汉仪粗宋简"/>
                        </a:rPr>
                        <a:t>方案</a:t>
                      </a:r>
                    </a:p>
                  </a:txBody>
                  <a:tcPr anchor="ctr">
                    <a:solidFill>
                      <a:srgbClr val="315DA7"/>
                    </a:solidFill>
                  </a:tcPr>
                </a:tc>
                <a:tc>
                  <a:txBody>
                    <a:bodyPr/>
                    <a:lstStyle/>
                    <a:p>
                      <a:pPr algn="ctr">
                        <a:defRPr sz="1800"/>
                      </a:pPr>
                      <a:r>
                        <a:rPr sz="1800" b="1">
                          <a:solidFill>
                            <a:srgbClr val="FFFFFF"/>
                          </a:solidFill>
                          <a:latin typeface="汉仪粗宋简"/>
                          <a:ea typeface="汉仪粗宋简"/>
                          <a:cs typeface="汉仪粗宋简"/>
                        </a:rPr>
                        <a:t>x</a:t>
                      </a:r>
                      <a:r>
                        <a:rPr sz="1800" b="1" baseline="-25000">
                          <a:solidFill>
                            <a:srgbClr val="FFFFFF"/>
                          </a:solidFill>
                          <a:latin typeface="汉仪粗宋简"/>
                          <a:ea typeface="汉仪粗宋简"/>
                          <a:cs typeface="汉仪粗宋简"/>
                        </a:rPr>
                        <a:t>0.95</a:t>
                      </a:r>
                      <a:r>
                        <a:rPr sz="1800" b="1">
                          <a:solidFill>
                            <a:srgbClr val="FFFFFF"/>
                          </a:solidFill>
                          <a:latin typeface="汉仪粗宋简"/>
                          <a:ea typeface="汉仪粗宋简"/>
                          <a:cs typeface="汉仪粗宋简"/>
                        </a:rPr>
                        <a:t> RMSRE</a:t>
                      </a:r>
                    </a:p>
                  </a:txBody>
                  <a:tcPr anchor="ctr">
                    <a:solidFill>
                      <a:srgbClr val="315DA7"/>
                    </a:solidFill>
                  </a:tcPr>
                </a:tc>
                <a:tc>
                  <a:txBody>
                    <a:bodyPr/>
                    <a:lstStyle/>
                    <a:p>
                      <a:pPr algn="ctr">
                        <a:defRPr sz="1800"/>
                      </a:pPr>
                      <a:r>
                        <a:rPr sz="1800" b="1">
                          <a:solidFill>
                            <a:srgbClr val="FFFFFF"/>
                          </a:solidFill>
                          <a:latin typeface="汉仪粗宋简"/>
                          <a:ea typeface="汉仪粗宋简"/>
                          <a:cs typeface="汉仪粗宋简"/>
                        </a:rPr>
                        <a:t>检验内容</a:t>
                      </a:r>
                    </a:p>
                  </a:txBody>
                  <a:tcPr anchor="ctr">
                    <a:solidFill>
                      <a:srgbClr val="315DA7"/>
                    </a:solidFill>
                  </a:tcPr>
                </a:tc>
                <a:extLst>
                  <a:ext uri="{0D108BD9-81ED-4DB2-BD59-A6C34878D82A}">
                    <a16:rowId xmlns:a16="http://schemas.microsoft.com/office/drawing/2014/main" val="10000"/>
                  </a:ext>
                </a:extLst>
              </a:tr>
              <a:tr h="654844">
                <a:tc>
                  <a:txBody>
                    <a:bodyPr/>
                    <a:lstStyle/>
                    <a:p>
                      <a:pPr algn="l">
                        <a:defRPr sz="1800"/>
                      </a:pPr>
                      <a:r>
                        <a:rPr sz="1800" b="0">
                          <a:solidFill>
                            <a:srgbClr val="161616"/>
                          </a:solidFill>
                          <a:latin typeface="汉仪粗宋简"/>
                          <a:ea typeface="汉仪粗宋简"/>
                          <a:cs typeface="汉仪粗宋简"/>
                        </a:rPr>
                        <a:t>固定加权 QP</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15.8505%</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参数正则化是否足以修复</a:t>
                      </a:r>
                    </a:p>
                  </a:txBody>
                  <a:tcPr anchor="ctr">
                    <a:solidFill>
                      <a:srgbClr val="FFFFFF"/>
                    </a:solidFill>
                  </a:tcPr>
                </a:tc>
                <a:extLst>
                  <a:ext uri="{0D108BD9-81ED-4DB2-BD59-A6C34878D82A}">
                    <a16:rowId xmlns:a16="http://schemas.microsoft.com/office/drawing/2014/main" val="10001"/>
                  </a:ext>
                </a:extLst>
              </a:tr>
              <a:tr h="654844">
                <a:tc>
                  <a:txBody>
                    <a:bodyPr/>
                    <a:lstStyle/>
                    <a:p>
                      <a:pPr algn="l">
                        <a:defRPr sz="1800"/>
                      </a:pPr>
                      <a:r>
                        <a:rPr sz="1800" b="0">
                          <a:solidFill>
                            <a:srgbClr val="161616"/>
                          </a:solidFill>
                          <a:latin typeface="汉仪粗宋简"/>
                          <a:ea typeface="汉仪粗宋简"/>
                          <a:cs typeface="汉仪粗宋简"/>
                        </a:rPr>
                        <a:t>参数约束 QCP</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15.8406%</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显式可行性控制</a:t>
                      </a:r>
                    </a:p>
                  </a:txBody>
                  <a:tcPr anchor="ctr">
                    <a:solidFill>
                      <a:srgbClr val="FFFFFF"/>
                    </a:solidFill>
                  </a:tcPr>
                </a:tc>
                <a:extLst>
                  <a:ext uri="{0D108BD9-81ED-4DB2-BD59-A6C34878D82A}">
                    <a16:rowId xmlns:a16="http://schemas.microsoft.com/office/drawing/2014/main" val="10002"/>
                  </a:ext>
                </a:extLst>
              </a:tr>
              <a:tr h="654844">
                <a:tc>
                  <a:txBody>
                    <a:bodyPr/>
                    <a:lstStyle/>
                    <a:p>
                      <a:pPr algn="l">
                        <a:defRPr sz="1800"/>
                      </a:pPr>
                      <a:r>
                        <a:rPr sz="1800" b="0">
                          <a:solidFill>
                            <a:srgbClr val="161616"/>
                          </a:solidFill>
                          <a:latin typeface="汉仪粗宋简"/>
                          <a:ea typeface="汉仪粗宋简"/>
                          <a:cs typeface="汉仪粗宋简"/>
                        </a:rPr>
                        <a:t>三点等权监督</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16.0977%</a:t>
                      </a:r>
                    </a:p>
                  </a:txBody>
                  <a:tcPr anchor="ctr">
                    <a:solidFill>
                      <a:srgbClr val="FFFFFF"/>
                    </a:solidFill>
                  </a:tcPr>
                </a:tc>
                <a:tc>
                  <a:txBody>
                    <a:bodyPr/>
                    <a:lstStyle/>
                    <a:p>
                      <a:pPr algn="ctr">
                        <a:defRPr sz="1800"/>
                      </a:pPr>
                      <a:r>
                        <a:rPr sz="1800" b="0">
                          <a:solidFill>
                            <a:srgbClr val="161616"/>
                          </a:solidFill>
                          <a:latin typeface="汉仪粗宋简"/>
                          <a:ea typeface="汉仪粗宋简"/>
                          <a:cs typeface="汉仪粗宋简"/>
                        </a:rPr>
                        <a:t>增加寿命点监督</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9" name="content-weibull20260906s29-5">
            <a:extLst>
              <a:ext uri="{FF2B5EF4-FFF2-40B4-BE49-F238E27FC236}">
                <a16:creationId xmlns:a16="http://schemas.microsoft.com/office/drawing/2014/main" id="{B6BA9E50-4863-492E-A593-7159B6A00F63}"/>
              </a:ext>
            </a:extLst>
          </p:cNvPr>
          <p:cNvSpPr>
            <a:spLocks noGrp="1"/>
          </p:cNvSpPr>
          <p:nvPr/>
        </p:nvSpPr>
        <p:spPr>
          <a:xfrm>
            <a:off x="619125" y="4905375"/>
            <a:ext cx="10906125" cy="609600"/>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简单加权QP与参数约束QCP的目标点误差接近。</a:t>
            </a:r>
          </a:p>
        </p:txBody>
      </p:sp>
      <p:sp>
        <p:nvSpPr>
          <p:cNvPr id="10" name="content-weibull20260906s29-6">
            <a:extLst>
              <a:ext uri="{FF2B5EF4-FFF2-40B4-BE49-F238E27FC236}">
                <a16:creationId xmlns:a16="http://schemas.microsoft.com/office/drawing/2014/main" id="{7D7F050C-422B-41B0-99A4-2BE4C3AB3E71}"/>
              </a:ext>
            </a:extLst>
          </p:cNvPr>
          <p:cNvSpPr>
            <a:spLocks noGrp="1"/>
          </p:cNvSpPr>
          <p:nvPr/>
        </p:nvSpPr>
        <p:spPr>
          <a:xfrm>
            <a:off x="590550" y="5905500"/>
            <a:ext cx="11010900" cy="552450"/>
          </a:xfrm>
          <a:prstGeom prst="rect">
            <a:avLst/>
          </a:prstGeom>
          <a:noFill/>
          <a:ln w="0">
            <a:noFill/>
          </a:ln>
        </p:spPr>
        <p:txBody>
          <a:bodyPr wrap="square" lIns="0" tIns="0" rIns="0" bIns="0" anchor="t">
            <a:noAutofit/>
          </a:bodyPr>
          <a:lstStyle/>
          <a:p>
            <a:pPr algn="l">
              <a:defRPr sz="1800" b="0">
                <a:solidFill>
                  <a:srgbClr val="315DA7"/>
                </a:solidFill>
                <a:latin typeface="汉仪粗宋简"/>
                <a:ea typeface="汉仪粗宋简"/>
                <a:cs typeface="汉仪粗宋简"/>
              </a:defRPr>
            </a:pPr>
            <a:r>
              <a:rPr sz="1800" b="0">
                <a:solidFill>
                  <a:srgbClr val="315DA7"/>
                </a:solidFill>
                <a:latin typeface="汉仪粗宋简"/>
                <a:ea typeface="汉仪粗宋简"/>
                <a:cs typeface="汉仪粗宋简"/>
              </a:rPr>
              <a:t>把参数误差加入训练目标，也能有效限制参数偏离。</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直接估计中的参数目标与分位点目标</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03</a:t>
            </a:r>
          </a:p>
        </p:txBody>
      </p:sp>
    </p:spTree>
    <p:extLst>
      <p:ext uri="{BB962C8B-B14F-4D97-AF65-F5344CB8AC3E}">
        <p14:creationId xmlns:p14="http://schemas.microsoft.com/office/powerpoint/2010/main" val="2610895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总体收益主要来自少数高误差条件的改善</a:t>
            </a:r>
          </a:p>
        </p:txBody>
      </p:sp>
      <p:sp>
        <p:nvSpPr>
          <p:cNvPr id="7" name="content-weibull20260906s30-4">
            <a:extLst>
              <a:ext uri="{FF2B5EF4-FFF2-40B4-BE49-F238E27FC236}">
                <a16:creationId xmlns:a16="http://schemas.microsoft.com/office/drawing/2014/main" id="{EDBCAC6E-8F5F-4F76-86FC-92484E707675}"/>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30 / 32</a:t>
            </a:r>
          </a:p>
        </p:txBody>
      </p:sp>
      <p:pic>
        <p:nvPicPr>
          <p:cNvPr id="18" name="图片 17"/>
          <p:cNvPicPr>
            <a:picLocks noChangeAspect="1"/>
          </p:cNvPicPr>
          <p:nvPr/>
        </p:nvPicPr>
        <p:blipFill>
          <a:blip r:embed="rId3"/>
          <a:stretch/>
        </p:blipFill>
        <p:spPr>
          <a:xfrm>
            <a:off x="1551737" y="2103120"/>
            <a:ext cx="5629046" cy="3474719"/>
          </a:xfrm>
          <a:prstGeom prst="rect">
            <a:avLst/>
          </a:prstGeom>
        </p:spPr>
      </p:pic>
      <p:sp>
        <p:nvSpPr>
          <p:cNvPr id="19" name="TextBox 18"/>
          <p:cNvSpPr txBox="1"/>
          <p:nvPr/>
        </p:nvSpPr>
        <p:spPr>
          <a:xfrm>
            <a:off x="594360" y="1417320"/>
            <a:ext cx="10972800" cy="548640"/>
          </a:xfrm>
          <a:prstGeom prst="rect">
            <a:avLst/>
          </a:prstGeom>
          <a:noFill/>
        </p:spPr>
        <p:txBody>
          <a:bodyPr wrap="square">
            <a:spAutoFit/>
          </a:bodyPr>
          <a:lstStyle/>
          <a:p>
            <a:pPr>
              <a:defRPr sz="1800"/>
            </a:pPr>
            <a:r>
              <a:rPr sz="1800">
                <a:solidFill>
                  <a:srgbClr val="234E78"/>
                </a:solidFill>
                <a:latin typeface="Microsoft YaHei"/>
              </a:rPr>
              <a:t>逐个比较160个参数条件，查看哪些条件贡献了总体收益。</a:t>
            </a:r>
          </a:p>
        </p:txBody>
      </p:sp>
      <p:sp>
        <p:nvSpPr>
          <p:cNvPr id="20" name="TextBox 19"/>
          <p:cNvSpPr txBox="1"/>
          <p:nvPr/>
        </p:nvSpPr>
        <p:spPr>
          <a:xfrm>
            <a:off x="8366760" y="2468880"/>
            <a:ext cx="3108960" cy="2468880"/>
          </a:xfrm>
          <a:prstGeom prst="rect">
            <a:avLst/>
          </a:prstGeom>
          <a:noFill/>
        </p:spPr>
        <p:txBody>
          <a:bodyPr wrap="square">
            <a:spAutoFit/>
          </a:bodyPr>
          <a:lstStyle/>
          <a:p>
            <a:pPr>
              <a:defRPr sz="1800"/>
            </a:pPr>
            <a:r>
              <a:rPr sz="1800">
                <a:solidFill>
                  <a:srgbClr val="234E78"/>
                </a:solidFill>
                <a:latin typeface="Microsoft YaHei"/>
              </a:rPr>
              <a:t>Q在42个条件下优于P，QCP在76个条件下优于P。</a:t>
            </a:r>
          </a:p>
        </p:txBody>
      </p:sp>
      <p:sp>
        <p:nvSpPr>
          <p:cNvPr id="21" name="TextBox 20"/>
          <p:cNvSpPr txBox="1"/>
          <p:nvPr/>
        </p:nvSpPr>
        <p:spPr>
          <a:xfrm>
            <a:off x="594360" y="5669280"/>
            <a:ext cx="10972800" cy="594360"/>
          </a:xfrm>
          <a:prstGeom prst="rect">
            <a:avLst/>
          </a:prstGeom>
          <a:noFill/>
        </p:spPr>
        <p:txBody>
          <a:bodyPr wrap="square">
            <a:spAutoFit/>
          </a:bodyPr>
          <a:lstStyle/>
          <a:p>
            <a:pPr>
              <a:defRPr sz="1800"/>
            </a:pPr>
            <a:r>
              <a:rPr sz="1800">
                <a:solidFill>
                  <a:srgbClr val="234E78"/>
                </a:solidFill>
                <a:latin typeface="Microsoft YaHei"/>
              </a:rPr>
              <a:t>总体收益主要来自少数高误差条件的大幅改善，其他条件有改善也有退化。</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直接估计中的参数目标与分位点目标</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03</a:t>
            </a:r>
          </a:p>
        </p:txBody>
      </p:sp>
    </p:spTree>
    <p:extLst>
      <p:ext uri="{BB962C8B-B14F-4D97-AF65-F5344CB8AC3E}">
        <p14:creationId xmlns:p14="http://schemas.microsoft.com/office/powerpoint/2010/main" val="10045002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500" b="1" spc="-150">
                <a:solidFill>
                  <a:srgbClr val="FFFFFF"/>
                </a:solidFill>
                <a:latin typeface="汉仪文润宋韵 U"/>
                <a:ea typeface="汉仪文润宋韵 U"/>
                <a:cs typeface="汉仪文润宋韵 U"/>
              </a:rPr>
              <a:t>三条结论：训练时应该要求什么？</a:t>
            </a:r>
          </a:p>
        </p:txBody>
      </p:sp>
      <p:sp>
        <p:nvSpPr>
          <p:cNvPr id="7" name="content-weibull20260906s31-4">
            <a:extLst>
              <a:ext uri="{FF2B5EF4-FFF2-40B4-BE49-F238E27FC236}">
                <a16:creationId xmlns:a16="http://schemas.microsoft.com/office/drawing/2014/main" id="{71A268D7-5AA7-481B-AF64-5D3398D9262A}"/>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31 / 32</a:t>
            </a:r>
          </a:p>
        </p:txBody>
      </p:sp>
      <p:sp>
        <p:nvSpPr>
          <p:cNvPr id="8" name="content-weibull20260906s31-5">
            <a:extLst>
              <a:ext uri="{FF2B5EF4-FFF2-40B4-BE49-F238E27FC236}">
                <a16:creationId xmlns:a16="http://schemas.microsoft.com/office/drawing/2014/main" id="{6E8A49B1-F7A8-4981-B0A3-D9D00DB71D60}"/>
              </a:ext>
            </a:extLst>
          </p:cNvPr>
          <p:cNvSpPr>
            <a:spLocks noGrp="1"/>
          </p:cNvSpPr>
          <p:nvPr/>
        </p:nvSpPr>
        <p:spPr>
          <a:xfrm>
            <a:off x="552450" y="1952625"/>
            <a:ext cx="11049000" cy="838200"/>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1. 按目标寿命点训练，可以小幅降低该点的总体误差。</a:t>
            </a:r>
          </a:p>
        </p:txBody>
      </p:sp>
      <p:sp>
        <p:nvSpPr>
          <p:cNvPr id="9" name="content-weibull20260906s31-6">
            <a:extLst>
              <a:ext uri="{FF2B5EF4-FFF2-40B4-BE49-F238E27FC236}">
                <a16:creationId xmlns:a16="http://schemas.microsoft.com/office/drawing/2014/main" id="{A74A751F-69D1-4347-B3D4-96FC975EA39B}"/>
              </a:ext>
            </a:extLst>
          </p:cNvPr>
          <p:cNvSpPr>
            <a:spLocks noGrp="1"/>
          </p:cNvSpPr>
          <p:nvPr/>
        </p:nvSpPr>
        <p:spPr>
          <a:xfrm>
            <a:off x="552450" y="2886075"/>
            <a:ext cx="11049000" cy="838200"/>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2. 只要求一个点准确，会允许参数误差抵消，其他寿命点可能变差。</a:t>
            </a:r>
          </a:p>
        </p:txBody>
      </p:sp>
      <p:sp>
        <p:nvSpPr>
          <p:cNvPr id="10" name="content-weibull20260906s31-7">
            <a:extLst>
              <a:ext uri="{FF2B5EF4-FFF2-40B4-BE49-F238E27FC236}">
                <a16:creationId xmlns:a16="http://schemas.microsoft.com/office/drawing/2014/main" id="{103EE313-AAF3-4793-936C-F1CBBE395B8A}"/>
              </a:ext>
            </a:extLst>
          </p:cNvPr>
          <p:cNvSpPr>
            <a:spLocks noGrp="1"/>
          </p:cNvSpPr>
          <p:nvPr/>
        </p:nvSpPr>
        <p:spPr>
          <a:xfrm>
            <a:off x="552450" y="3819525"/>
            <a:ext cx="11049000" cy="838200"/>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3. 同时要求参数准确，可以保留目标收益并改善其他寿命点。</a:t>
            </a:r>
          </a:p>
        </p:txBody>
      </p:sp>
      <p:sp>
        <p:nvSpPr>
          <p:cNvPr id="11" name="content-weibull20260906s31-8">
            <a:extLst>
              <a:ext uri="{FF2B5EF4-FFF2-40B4-BE49-F238E27FC236}">
                <a16:creationId xmlns:a16="http://schemas.microsoft.com/office/drawing/2014/main" id="{8EE6F15F-C831-4DC2-ABCE-F639AB320950}"/>
              </a:ext>
            </a:extLst>
          </p:cNvPr>
          <p:cNvSpPr>
            <a:spLocks noGrp="1"/>
          </p:cNvSpPr>
          <p:nvPr/>
        </p:nvSpPr>
        <p:spPr>
          <a:xfrm>
            <a:off x="552450" y="4752975"/>
            <a:ext cx="11049000" cy="838200"/>
          </a:xfrm>
          <a:prstGeom prst="rect">
            <a:avLst/>
          </a:prstGeom>
          <a:noFill/>
          <a:ln w="0">
            <a:noFill/>
          </a:ln>
        </p:spPr>
        <p:txBody>
          <a:bodyPr wrap="square" lIns="0" tIns="0" rIns="0" bIns="0" anchor="t">
            <a:noAutofit/>
          </a:bodyPr>
          <a:lstStyle/>
          <a:p>
            <a:pPr algn="l">
              <a:defRPr sz="1800" b="0">
                <a:solidFill>
                  <a:srgbClr val="161616"/>
                </a:solidFill>
                <a:latin typeface="汉仪粗宋简"/>
                <a:ea typeface="汉仪粗宋简"/>
                <a:cs typeface="汉仪粗宋简"/>
              </a:defRPr>
            </a:pPr>
            <a:r>
              <a:rPr sz="1800" b="0">
                <a:solidFill>
                  <a:srgbClr val="161616"/>
                </a:solidFill>
                <a:latin typeface="汉仪粗宋简"/>
                <a:ea typeface="汉仪粗宋简"/>
                <a:cs typeface="汉仪粗宋简"/>
              </a:rPr>
              <a:t>简单加权与参数约束的效果接近，两种方式都能发挥作用。</a:t>
            </a:r>
          </a:p>
        </p:txBody>
      </p:sp>
      <p:sp>
        <p:nvSpPr>
          <p:cNvPr id="12" name="content-weibull20260906s31-9">
            <a:extLst>
              <a:ext uri="{FF2B5EF4-FFF2-40B4-BE49-F238E27FC236}">
                <a16:creationId xmlns:a16="http://schemas.microsoft.com/office/drawing/2014/main" id="{B3259A6A-0345-45E3-B059-06AE20DC5D21}"/>
              </a:ext>
            </a:extLst>
          </p:cNvPr>
          <p:cNvSpPr>
            <a:spLocks noGrp="1"/>
          </p:cNvSpPr>
          <p:nvPr/>
        </p:nvSpPr>
        <p:spPr>
          <a:xfrm>
            <a:off x="590550" y="5905500"/>
            <a:ext cx="11010900" cy="552450"/>
          </a:xfrm>
          <a:prstGeom prst="rect">
            <a:avLst/>
          </a:prstGeom>
          <a:noFill/>
          <a:ln w="0">
            <a:noFill/>
          </a:ln>
        </p:spPr>
        <p:txBody>
          <a:bodyPr wrap="square" lIns="0" tIns="0" rIns="0" bIns="0" anchor="t">
            <a:noAutofit/>
          </a:bodyPr>
          <a:lstStyle/>
          <a:p>
            <a:pPr algn="l">
              <a:defRPr sz="1800" b="0">
                <a:solidFill>
                  <a:srgbClr val="315DA7"/>
                </a:solidFill>
                <a:latin typeface="汉仪粗宋简"/>
                <a:ea typeface="汉仪粗宋简"/>
                <a:cs typeface="汉仪粗宋简"/>
              </a:defRPr>
            </a:pPr>
            <a:r>
              <a:rPr sz="1800" b="0">
                <a:solidFill>
                  <a:srgbClr val="315DA7"/>
                </a:solidFill>
                <a:latin typeface="汉仪粗宋简"/>
                <a:ea typeface="汉仪粗宋简"/>
                <a:cs typeface="汉仪粗宋简"/>
              </a:rPr>
              <a:t>训练目标要对应最终用途：既看目标寿命点，也看这些参数还要用来做什么。</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直接估计中的参数目标与分位点目标</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03</a:t>
            </a:r>
          </a:p>
        </p:txBody>
      </p:sp>
    </p:spTree>
    <p:extLst>
      <p:ext uri="{BB962C8B-B14F-4D97-AF65-F5344CB8AC3E}">
        <p14:creationId xmlns:p14="http://schemas.microsoft.com/office/powerpoint/2010/main" val="19921253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EA4CF01F-AF0B-A3FF-7A95-E6E7A8D4B5CD}"/>
              </a:ext>
            </a:extLst>
          </p:cNvPr>
          <p:cNvSpPr>
            <a:spLocks noGrp="1"/>
          </p:cNvSpPr>
          <p:nvPr/>
        </p:nvSpPr>
        <p:spPr>
          <a:xfrm>
            <a:off x="86140" y="846307"/>
            <a:ext cx="11911467" cy="461665"/>
          </a:xfrm>
          <a:prstGeom prst="rect">
            <a:avLst/>
          </a:prstGeom>
          <a:noFill/>
        </p:spPr>
        <p:txBody>
          <a:bodyPr wrap="square">
            <a:noAutofit/>
          </a:bodyPr>
          <a:lstStyle/>
          <a:p>
            <a:pPr marL="323850">
              <a:buNone/>
              <a:defRPr sz="2400">
                <a:latin typeface="汉仪文润宋韵 U"/>
                <a:ea typeface="汉仪文润宋韵 U"/>
                <a:cs typeface="汉仪文润宋韵 U"/>
              </a:defRPr>
            </a:pPr>
            <a:r>
              <a:rPr sz="2600" b="1" spc="-150">
                <a:solidFill>
                  <a:srgbClr val="FFFFFF"/>
                </a:solidFill>
                <a:latin typeface="汉仪文润宋韵 U"/>
                <a:ea typeface="汉仪文润宋韵 U"/>
                <a:cs typeface="汉仪文润宋韵 U"/>
              </a:rPr>
              <a:t>三个部分的主要结果与下一步</a:t>
            </a:r>
          </a:p>
        </p:txBody>
      </p:sp>
      <p:sp>
        <p:nvSpPr>
          <p:cNvPr id="7" name="content-weibull20260906s32-4">
            <a:extLst>
              <a:ext uri="{FF2B5EF4-FFF2-40B4-BE49-F238E27FC236}">
                <a16:creationId xmlns:a16="http://schemas.microsoft.com/office/drawing/2014/main" id="{1D39A273-61C8-425C-B05E-D2D399D05157}"/>
              </a:ext>
            </a:extLst>
          </p:cNvPr>
          <p:cNvSpPr>
            <a:spLocks noGrp="1"/>
          </p:cNvSpPr>
          <p:nvPr/>
        </p:nvSpPr>
        <p:spPr>
          <a:xfrm>
            <a:off x="10934700" y="6324600"/>
            <a:ext cx="666750" cy="209550"/>
          </a:xfrm>
          <a:prstGeom prst="rect">
            <a:avLst/>
          </a:prstGeom>
          <a:noFill/>
          <a:ln w="0">
            <a:noFill/>
          </a:ln>
        </p:spPr>
        <p:txBody>
          <a:bodyPr wrap="square" lIns="0" tIns="0" rIns="0" bIns="0" anchor="t">
            <a:noAutofit/>
          </a:bodyPr>
          <a:lstStyle/>
          <a:p>
            <a:pPr algn="r">
              <a:defRPr sz="1275" b="0">
                <a:solidFill>
                  <a:srgbClr val="737373"/>
                </a:solidFill>
                <a:latin typeface="汉仪粗宋简"/>
                <a:ea typeface="汉仪粗宋简"/>
                <a:cs typeface="汉仪粗宋简"/>
              </a:defRPr>
            </a:pPr>
            <a:r>
              <a:rPr sz="1275" b="0">
                <a:solidFill>
                  <a:srgbClr val="737373"/>
                </a:solidFill>
                <a:latin typeface="汉仪粗宋简"/>
                <a:ea typeface="汉仪粗宋简"/>
                <a:cs typeface="汉仪粗宋简"/>
              </a:rPr>
              <a:t>32 / 32</a:t>
            </a:r>
          </a:p>
        </p:txBody>
      </p:sp>
      <p:sp>
        <p:nvSpPr>
          <p:cNvPr id="8" name="TextBox 7"/>
          <p:cNvSpPr txBox="1"/>
          <p:nvPr/>
        </p:nvSpPr>
        <p:spPr>
          <a:xfrm>
            <a:off x="640080" y="1645920"/>
            <a:ext cx="10972800" cy="502920"/>
          </a:xfrm>
          <a:prstGeom prst="rect">
            <a:avLst/>
          </a:prstGeom>
          <a:noFill/>
        </p:spPr>
        <p:txBody>
          <a:bodyPr wrap="square">
            <a:spAutoFit/>
          </a:bodyPr>
          <a:lstStyle/>
          <a:p>
            <a:pPr>
              <a:defRPr sz="1800"/>
            </a:pPr>
            <a:r>
              <a:rPr sz="1800">
                <a:solidFill>
                  <a:srgbClr val="154F8C"/>
                </a:solidFill>
                <a:latin typeface="Microsoft YaHei"/>
              </a:rPr>
              <a:t>第一部分：MDM 方法中偏移量的自适应调整</a:t>
            </a:r>
          </a:p>
        </p:txBody>
      </p:sp>
      <p:sp>
        <p:nvSpPr>
          <p:cNvPr id="9" name="TextBox 8"/>
          <p:cNvSpPr txBox="1"/>
          <p:nvPr/>
        </p:nvSpPr>
        <p:spPr>
          <a:xfrm>
            <a:off x="777240" y="2194560"/>
            <a:ext cx="10698480" cy="640080"/>
          </a:xfrm>
          <a:prstGeom prst="rect">
            <a:avLst/>
          </a:prstGeom>
          <a:noFill/>
        </p:spPr>
        <p:txBody>
          <a:bodyPr wrap="square">
            <a:spAutoFit/>
          </a:bodyPr>
          <a:lstStyle/>
          <a:p>
            <a:pPr>
              <a:defRPr sz="1800"/>
            </a:pPr>
            <a:r>
              <a:rPr sz="1800">
                <a:solidFill>
                  <a:srgbClr val="222222"/>
                </a:solidFill>
                <a:latin typeface="Microsoft YaHei"/>
              </a:rPr>
              <a:t>统一值反映参数域的风险折中，当前样本提供进一步选择的依据。</a:t>
            </a:r>
          </a:p>
        </p:txBody>
      </p:sp>
      <p:sp>
        <p:nvSpPr>
          <p:cNvPr id="10" name="TextBox 9"/>
          <p:cNvSpPr txBox="1"/>
          <p:nvPr/>
        </p:nvSpPr>
        <p:spPr>
          <a:xfrm>
            <a:off x="640080" y="2926080"/>
            <a:ext cx="10972800" cy="502920"/>
          </a:xfrm>
          <a:prstGeom prst="rect">
            <a:avLst/>
          </a:prstGeom>
          <a:noFill/>
        </p:spPr>
        <p:txBody>
          <a:bodyPr wrap="square">
            <a:spAutoFit/>
          </a:bodyPr>
          <a:lstStyle/>
          <a:p>
            <a:pPr>
              <a:defRPr sz="1800"/>
            </a:pPr>
            <a:r>
              <a:rPr sz="1800">
                <a:solidFill>
                  <a:srgbClr val="154F8C"/>
                </a:solidFill>
                <a:latin typeface="Microsoft YaHei"/>
              </a:rPr>
              <a:t>第二部分：直接参数估计与过程量优化的比较</a:t>
            </a:r>
          </a:p>
        </p:txBody>
      </p:sp>
      <p:sp>
        <p:nvSpPr>
          <p:cNvPr id="11" name="TextBox 10"/>
          <p:cNvSpPr txBox="1"/>
          <p:nvPr/>
        </p:nvSpPr>
        <p:spPr>
          <a:xfrm>
            <a:off x="777240" y="3474720"/>
            <a:ext cx="10698480" cy="640080"/>
          </a:xfrm>
          <a:prstGeom prst="rect">
            <a:avLst/>
          </a:prstGeom>
          <a:noFill/>
        </p:spPr>
        <p:txBody>
          <a:bodyPr wrap="square">
            <a:spAutoFit/>
          </a:bodyPr>
          <a:lstStyle/>
          <a:p>
            <a:pPr>
              <a:defRPr sz="1800"/>
            </a:pPr>
            <a:r>
              <a:rPr sz="1800">
                <a:solidFill>
                  <a:srgbClr val="222222"/>
                </a:solidFill>
                <a:latin typeface="Microsoft YaHei"/>
              </a:rPr>
              <a:t>直接估计在当前域内更准确，优势受外推方向与训练覆盖影响。</a:t>
            </a:r>
          </a:p>
        </p:txBody>
      </p:sp>
      <p:sp>
        <p:nvSpPr>
          <p:cNvPr id="12" name="TextBox 11"/>
          <p:cNvSpPr txBox="1"/>
          <p:nvPr/>
        </p:nvSpPr>
        <p:spPr>
          <a:xfrm>
            <a:off x="640080" y="4206240"/>
            <a:ext cx="10972800" cy="502920"/>
          </a:xfrm>
          <a:prstGeom prst="rect">
            <a:avLst/>
          </a:prstGeom>
          <a:noFill/>
        </p:spPr>
        <p:txBody>
          <a:bodyPr wrap="square">
            <a:spAutoFit/>
          </a:bodyPr>
          <a:lstStyle/>
          <a:p>
            <a:pPr>
              <a:defRPr sz="1800"/>
            </a:pPr>
            <a:r>
              <a:rPr sz="1800">
                <a:solidFill>
                  <a:srgbClr val="154F8C"/>
                </a:solidFill>
                <a:latin typeface="Microsoft YaHei"/>
              </a:rPr>
              <a:t>第三部分：直接估计中的参数目标与分位点目标</a:t>
            </a:r>
          </a:p>
        </p:txBody>
      </p:sp>
      <p:sp>
        <p:nvSpPr>
          <p:cNvPr id="13" name="TextBox 12"/>
          <p:cNvSpPr txBox="1"/>
          <p:nvPr/>
        </p:nvSpPr>
        <p:spPr>
          <a:xfrm>
            <a:off x="777240" y="4754879"/>
            <a:ext cx="10698480" cy="640080"/>
          </a:xfrm>
          <a:prstGeom prst="rect">
            <a:avLst/>
          </a:prstGeom>
          <a:noFill/>
        </p:spPr>
        <p:txBody>
          <a:bodyPr wrap="square">
            <a:spAutoFit/>
          </a:bodyPr>
          <a:lstStyle/>
          <a:p>
            <a:pPr>
              <a:defRPr sz="1800"/>
            </a:pPr>
            <a:r>
              <a:rPr sz="1800">
                <a:solidFill>
                  <a:srgbClr val="222222"/>
                </a:solidFill>
                <a:latin typeface="Microsoft YaHei"/>
              </a:rPr>
              <a:t>目标对齐有收益，也有参数与跨寿命点代价；简单加权同样值得比较。</a:t>
            </a:r>
          </a:p>
        </p:txBody>
      </p:sp>
      <p:sp>
        <p:nvSpPr>
          <p:cNvPr id="14" name="TextBox 13"/>
          <p:cNvSpPr txBox="1"/>
          <p:nvPr/>
        </p:nvSpPr>
        <p:spPr>
          <a:xfrm>
            <a:off x="685800" y="5669280"/>
            <a:ext cx="10698480" cy="502920"/>
          </a:xfrm>
          <a:prstGeom prst="rect">
            <a:avLst/>
          </a:prstGeom>
          <a:noFill/>
        </p:spPr>
        <p:txBody>
          <a:bodyPr wrap="square">
            <a:spAutoFit/>
          </a:bodyPr>
          <a:lstStyle/>
          <a:p>
            <a:pPr>
              <a:defRPr sz="1800"/>
            </a:pPr>
            <a:r>
              <a:rPr sz="1800">
                <a:solidFill>
                  <a:srgbClr val="222222"/>
                </a:solidFill>
                <a:latin typeface="Microsoft YaHei"/>
              </a:rPr>
              <a:t>下一步：冻结方案后的独立确认，以及与实际用途匹配的验证。</a:t>
            </a:r>
          </a:p>
        </p:txBody>
      </p:sp>
      <p:sp>
        <p:nvSpPr>
          <p:cNvPr id="2" name="文本框 1">
            <a:extLst>
              <a:ext uri="{FF2B5EF4-FFF2-40B4-BE49-F238E27FC236}">
                <a16:creationId xmlns:a16="http://schemas.microsoft.com/office/drawing/2014/main" id="{F2F100AD-8EEA-E54D-497A-E5733B4A2470}"/>
              </a:ext>
            </a:extLst>
          </p:cNvPr>
          <p:cNvSpPr>
            <a:spLocks noGrp="1"/>
          </p:cNvSpPr>
          <p:nvPr/>
        </p:nvSpPr>
        <p:spPr>
          <a:xfrm>
            <a:off x="1065043" y="352424"/>
            <a:ext cx="8778240" cy="409575"/>
          </a:xfrm>
          <a:prstGeom prst="rect">
            <a:avLst/>
          </a:prstGeom>
          <a:noFill/>
        </p:spPr>
        <p:txBody>
          <a:bodyPr wrap="square">
            <a:noAutofit/>
          </a:bodyPr>
          <a:lstStyle/>
          <a:p>
            <a:r>
              <a:rPr sz="1800">
                <a:latin typeface="Microsoft YaHei"/>
              </a:rPr>
              <a:t>汇报总结</a:t>
            </a:r>
          </a:p>
        </p:txBody>
      </p:sp>
      <p:sp>
        <p:nvSpPr>
          <p:cNvPr id="3" name="直接连接符 2">
            <a:extLst>
              <a:ext uri="{FF2B5EF4-FFF2-40B4-BE49-F238E27FC236}">
                <a16:creationId xmlns:a16="http://schemas.microsoft.com/office/drawing/2014/main" id="{B332345A-FC89-426E-867E-27E731665D0F}"/>
              </a:ext>
            </a:extLst>
          </p:cNvPr>
          <p:cNvSpPr>
            <a:spLocks noGrp="1"/>
          </p:cNvSpPr>
          <p:nvPr/>
        </p:nvSpPr>
        <p:spPr>
          <a:xfrm flipV="1">
            <a:off x="925195" y="400251"/>
            <a:ext cx="0" cy="2676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zh-CN" altLang="en-US"/>
          </a:p>
        </p:txBody>
      </p:sp>
      <p:sp>
        <p:nvSpPr>
          <p:cNvPr id="4" name="文本框 1">
            <a:extLst>
              <a:ext uri="{FF2B5EF4-FFF2-40B4-BE49-F238E27FC236}">
                <a16:creationId xmlns:a16="http://schemas.microsoft.com/office/drawing/2014/main" id="{A83588D7-5127-FC1F-5DBA-6734A18BE58E}"/>
              </a:ext>
            </a:extLst>
          </p:cNvPr>
          <p:cNvSpPr>
            <a:spLocks noGrp="1"/>
          </p:cNvSpPr>
          <p:nvPr/>
        </p:nvSpPr>
        <p:spPr>
          <a:xfrm>
            <a:off x="415122" y="352424"/>
            <a:ext cx="1299843" cy="409575"/>
          </a:xfrm>
          <a:prstGeom prst="rect">
            <a:avLst/>
          </a:prstGeom>
          <a:noFill/>
        </p:spPr>
        <p:txBody>
          <a:bodyPr wrap="square">
            <a:noAutofit/>
          </a:bodyPr>
          <a:lstStyle/>
          <a:p>
            <a:r>
              <a:rPr sz="1800">
                <a:latin typeface="Microsoft YaHei"/>
              </a:rPr>
              <a:t>04</a:t>
            </a:r>
          </a:p>
        </p:txBody>
      </p:sp>
    </p:spTree>
    <p:extLst>
      <p:ext uri="{BB962C8B-B14F-4D97-AF65-F5344CB8AC3E}">
        <p14:creationId xmlns:p14="http://schemas.microsoft.com/office/powerpoint/2010/main" val="291684023"/>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2_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3_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TotalTime>
  <Words>1998</Words>
  <Application>Microsoft Office PowerPoint</Application>
  <DocSecurity>0</DocSecurity>
  <PresentationFormat>宽屏</PresentationFormat>
  <Paragraphs>361</Paragraphs>
  <Slides>32</Slides>
  <Notes>32</Notes>
  <HiddenSlides>0</HiddenSlides>
  <MMClips>0</MMClips>
  <ScaleCrop>false</ScaleCrop>
  <HeadingPairs>
    <vt:vector size="6" baseType="variant">
      <vt:variant>
        <vt:lpstr>已用的字体</vt:lpstr>
      </vt:variant>
      <vt:variant>
        <vt:i4>10</vt:i4>
      </vt:variant>
      <vt:variant>
        <vt:lpstr>主题</vt:lpstr>
      </vt:variant>
      <vt:variant>
        <vt:i4>3</vt:i4>
      </vt:variant>
      <vt:variant>
        <vt:lpstr>幻灯片标题</vt:lpstr>
      </vt:variant>
      <vt:variant>
        <vt:i4>32</vt:i4>
      </vt:variant>
    </vt:vector>
  </HeadingPairs>
  <TitlesOfParts>
    <vt:vector size="45" baseType="lpstr">
      <vt:lpstr>等线</vt:lpstr>
      <vt:lpstr>等线 Light</vt:lpstr>
      <vt:lpstr>汉仪粗宋简</vt:lpstr>
      <vt:lpstr>汉仪文润宋韵 U</vt:lpstr>
      <vt:lpstr>微软雅黑</vt:lpstr>
      <vt:lpstr>微软雅黑</vt:lpstr>
      <vt:lpstr>Arial</vt:lpstr>
      <vt:lpstr>Calibri</vt:lpstr>
      <vt:lpstr>Calibri Light</vt:lpstr>
      <vt:lpstr>Cambria Math</vt:lpstr>
      <vt:lpstr>Office 主题​​</vt:lpstr>
      <vt:lpstr>2_自定义设计方案</vt:lpstr>
      <vt:lpstr>3_自定义设计方案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H60655@365mak.com</cp:lastModifiedBy>
  <cp:revision>4</cp:revision>
  <dcterms:created xsi:type="dcterms:W3CDTF">2026-09-06T04:22:26Z</dcterms:created>
  <dcterms:modified xsi:type="dcterms:W3CDTF">2026-09-07T08:11:22Z</dcterms:modified>
</cp:coreProperties>
</file>