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汇报沿三个连续问题展开。第一，传统MDM中的偏移量怎样根据参数域和当前样本选择；第二，如果允许网络直接输出三个参数，它在什么条件下更准确；第三，使用直接网络以后，训练目标应该服务参数恢复，还是最终关心的寿命点。三项研究分别回答不同问题，相互衔接，但各自的实验协议和比较对象独立。</a:t>
            </a:r>
          </a:p>
          <a:p>
            <a:endParaRPr/>
          </a:p>
          <a:p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y01的主要收益数值没有改变，新稿把“为什么有效”解释得更具体。Research04把最新同中心结果与完整方案比较串起来，也把尚未识别的机制贡献说明白。Study02新增对照后，对Q收益来源和QCP必要性的判断更清楚。下面依次说明问题、证据和当前认识。</a:t>
            </a:r>
          </a:p>
          <a:p>
            <a:endParaRPr/>
          </a:p>
          <a:p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部分要回答：为什么需要偏移量、统一取多少，以及能不能根据当前样本选择。偏移量不是总体的第四个参数，而是估计规则的调节量。它虽然出现在位置参数的搜索判据中，却会带动三个估计量一起变化，所以评价时需要看三参数联合误差。相同真值下，不同样本也可能对应不同的低风险偏移量。</a:t>
            </a:r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补充的解释比原来只说“标准差下降”更完整。我们先在每个固定参数组合内计算重复抽样的偏差与方差，再对组合等权汇总。偏移量从0增至0.10时，方差下降的收益超过偏差增加的代价；继续加大，估计更集中，但中心偏离真值，联合误差反而上升。因此，不能把越稳定直接理解成越准确。</a:t>
            </a:r>
          </a:p>
          <a:p>
            <a:endParaRPr/>
          </a:p>
          <a:p>
            <a:r>
              <a:t>补充页面数据</a:t>
            </a:r>
          </a:p>
          <a:p>
            <a:r>
              <a:t>偏移量 | 联合误差 J₁ | 观察 |</a:t>
            </a:r>
          </a:p>
          <a:p>
            <a:r>
              <a:t>|---|---:|---|</a:t>
            </a:r>
          </a:p>
          <a:p>
            <a:r>
              <a:t>| 0 | 0.9481 | 抽样波动较大 |</a:t>
            </a:r>
          </a:p>
          <a:p>
            <a:r>
              <a:t>| 0.10 | 0.6304 | 方差下降超过偏差增加 |</a:t>
            </a:r>
          </a:p>
          <a:p>
            <a:r>
              <a:t>| 0.50 | 0.7619 | 方差继续下降，偏差代价增大 |</a:t>
            </a:r>
          </a:p>
          <a:p>
            <a:endParaRPr/>
          </a:p>
          <a:p>
            <a:r>
              <a:t>J₁² = B² + V.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D:\weibull\docs\组会汇报\2026-09-三项研究更新汇报\assets\study01\fig2_offset_risk_decomposition_v112.png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当前宽混合设计中，把0.10换成另一个统一常数，可得到的收益不大。但如果应用域事先明确，统一值可以随该域重新确定。这两点并不矛盾：0.10在当前混合域中是稳健默认值，却不是脱离参数域的唯一最优值。图中的窗口保持宽度相同，便于看清位置变化对应的风险谷底移动。</a:t>
            </a:r>
          </a:p>
          <a:p>
            <a:endParaRPr/>
          </a:p>
          <a:p>
            <a:r>
              <a:t>补充页面数据</a:t>
            </a:r>
          </a:p>
          <a:p>
            <a:r>
              <a:t>- 宽混合域：最低扫描点为0.06，经验值0.10的 J₁ 仅高0.93%。</a:t>
            </a:r>
          </a:p>
          <a:p>
            <a:r>
              <a:t>- 固定窗口宽度、沿形状参数平移：最佳统一值由0.18移至0.04。</a:t>
            </a:r>
          </a:p>
          <a:p>
            <a:r>
              <a:t>- 统一值是给定参数域下的平均风险折中。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D:\weibull\docs\组会汇报\2026-09-三项研究更新汇报\assets\study01\fig3_beta_domain_restored_3d.png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规则用于判断选择空间来自哪里。只按样本量分类的收益很小，参数条件提供更多信息，但同一参数条件内仍有很大的样本差异。最后一行是L6：它在样本抽出后查看所有候选的真实损失，属于事后参照。它与前几行的信息性质不同；只知样本量与只知形状参数也不是包含关系，不能把每两行之差都解释成增加单一信息的净收益。</a:t>
            </a:r>
          </a:p>
          <a:p>
            <a:endParaRPr/>
          </a:p>
          <a:p>
            <a:r>
              <a:t>补充页面数据</a:t>
            </a:r>
          </a:p>
          <a:p>
            <a:r>
              <a:t>可用信息 | 相对固定0.10的 J₁ 降幅 |</a:t>
            </a:r>
          </a:p>
          <a:p>
            <a:r>
              <a:t>|---|---:|</a:t>
            </a:r>
          </a:p>
          <a:p>
            <a:r>
              <a:t>| 全局统一规则 | 0.83% |</a:t>
            </a:r>
          </a:p>
          <a:p>
            <a:r>
              <a:t>样本量 n | 1.17% |</a:t>
            </a:r>
          </a:p>
          <a:p>
            <a:r>
              <a:t>真形状参数 β | 6.33% |</a:t>
            </a:r>
          </a:p>
          <a:p>
            <a:r>
              <a:t>真 (β, n) | 6.65% |</a:t>
            </a:r>
          </a:p>
          <a:p>
            <a:r>
              <a:t>真 (β, γ/η, n) | 7.79% |</a:t>
            </a:r>
          </a:p>
          <a:p>
            <a:r>
              <a:t>| 查看本次样本全部真实损失后选点 | 21.91% |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D:\weibull\docs\组会汇报\2026-09-三项研究更新汇报\assets\study01\fig5_information_level_results.png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预测整条曲线，是因为相邻偏移量经常落在同一低损失平台上。将最低点当成硬分类标签，会把风险接近的两个选择分成对和错。损失曲线保留了这种接近程度，最后仍由MDM求解参数。网络是否有效，要看所选偏移量造成的实际估计误差，而不是选点能否精确命中事后最低格点。</a:t>
            </a:r>
          </a:p>
          <a:p>
            <a:endParaRPr/>
          </a:p>
          <a:p>
            <a:r>
              <a:t>补充页面数据</a:t>
            </a:r>
          </a:p>
          <a:p>
            <a:r>
              <a:t>`排序样本 ÷ 样本均值 → 26点损失曲线 → 选择低风险δ → MDM三参数估计`</a:t>
            </a:r>
          </a:p>
          <a:p>
            <a:endParaRPr/>
          </a:p>
          <a:p>
            <a:r>
              <a:t>- 每个 n 单独训练；标准化在当前训练折拟合。</a:t>
            </a:r>
          </a:p>
          <a:p>
            <a:r>
              <a:t>- 候选网格为 0, 0.02, …, 0.50。</a:t>
            </a:r>
          </a:p>
          <a:p>
            <a:r>
              <a:t>- 应用时输入只有寿命样本，不需要真参数。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D:\weibull\docs\组会汇报\2026-09-三项研究更新汇报\assets\study01\fig1_adaptive_selection_drawio_v111.png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按位置尺度比水平留出的折外比较。三个参数的汇总标准化偏差绝对值、混合设计误差SD和RMSE也都下降，因此联合风险改善落实到了三个参数。与此同时，35个退化单元提醒我们，总体获益不保证每个参数条件获益。区间条件于现有选择器，且输入表示筛选复用了这批折外评价数据；冻结全部选择后再用独立新样本确认，仍是后续工作。</a:t>
            </a:r>
          </a:p>
          <a:p>
            <a:endParaRPr/>
          </a:p>
          <a:p>
            <a:r>
              <a:t>补充页面数据</a:t>
            </a:r>
          </a:p>
          <a:p>
            <a:r>
              <a:t>- 48,000个测试样本：J₁ 由0.6304降至0.5846。</a:t>
            </a:r>
          </a:p>
          <a:p>
            <a:r>
              <a:t>- 相对下降7.27%，配对重复块bootstrap 95%区间为6.94%—7.64%。</a:t>
            </a:r>
          </a:p>
          <a:p>
            <a:r>
              <a:t>- 四个样本量均改善，失败率0%。</a:t>
            </a:r>
          </a:p>
          <a:p>
            <a:r>
              <a:t>- 160个参数单元中，125个改善、35个退化。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D:\weibull\docs\组会汇报\2026-09-三项研究更新汇报\assets\study01\fig6_per_n_J1.png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每一列看，同一个样本的偏移量先改变位置估计，联合损失随之改变；横向比较，三个样本的真参数相同，较低损失却分别对应上调、下调或零偏移量。诊断使用20个预设单元的2,000个确认样本，分组统计进一步支持这种联系。边界解占7.1%，仅靠边界截断不能概括全部变化。相关性和路径图共同提供机制证据，但并不意味着可以从某一个统计量精确恢复每次最优选点。</a:t>
            </a:r>
          </a:p>
          <a:p>
            <a:endParaRPr/>
          </a:p>
          <a:p>
            <a:r>
              <a:t>补充页面数据</a:t>
            </a:r>
          </a:p>
          <a:p>
            <a:r>
              <a:t>- 同一参数组合的三个样本，低风险偏移量分别在不同位置。</a:t>
            </a:r>
          </a:p>
          <a:p>
            <a:r>
              <a:t>- 20个诊断单元中，固定偏移量下的位置估计与事后选点均负相关。</a:t>
            </a:r>
          </a:p>
          <a:p>
            <a:r>
              <a:t>- 单元内相关中位数为−0.765。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D:\weibull\docs\组会汇报\2026-09-三项研究更新汇报\assets\study01\fig7_sample_columns_v112.png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数联合误差与寿命点误差给出了不同的方法排序。寿命点由三个参数共同决定，误差方向和协方差都会影响最终结果，所以三个参数各自更准，并不保证每一个寿命点同比例更准。这里的排序只对应本部分的设计与方法实现；第二部分采用新的训练与测试协议，不能直接把两部分的数字拼成同一个排行榜。</a:t>
            </a:r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第一部分建立的是MDM内部选择的依据与收益。下一部分把问题扩大到完整估计路线，直接面对神经网络能否取得更低误差，而不预先假定保留传统求解一定更好。</a:t>
            </a:r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部分分别检查域内未训练点和双侧域外点，再改变训练域宽度。基础训练资源共48,000个样本，包含内部验证；每个样本量单独训练，模型种子固定为42。两条神经路线虽然使用相同隐藏层和归一化输入形式，监督目标、验证选点和内部划分实现仍有差异，因此这里比较完整方案，不将风险差直接解释成MDM求解结构的净效应。本部分也不是复用Study01的折外模型来增加测试点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见网格指参数水平在训练中出现过，测试观测仍为独立新样本。域内未训练点是在原形状网格之间增加的新水平，结果说明优势没有局限在原网格点上。传统参照加入后域内排序不变。不过，新点只沿形状轴增加，不能由此推到任意三参数连续空间。J₁包含统一失败惩罚，成功子集误差另行报告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A显示逐点风险，图B为Direct-P减去对应MDM的配对差，负值表示直接估计更好。灰色部分是训练域；A中实心是训练形状点，空心是新增点。B的误差线是条件于固定模型的95%配对bootstrap区间，两个标记略作水平错位以便阅读。左右两侧的风险趋势不同，因此“远域外平均表现”不足以描述外推边界，更不能笼统说域外全部反转。</a:t>
            </a:r>
          </a:p>
          <a:p>
            <a:endParaRPr/>
          </a:p>
          <a:p>
            <a:r>
              <a:t>补充页面数据</a:t>
            </a:r>
          </a:p>
          <a:p>
            <a:r>
              <a:t>- β = 1.25：Direct-P相对自适应MDM的 J₁ 高7.6%。</a:t>
            </a:r>
          </a:p>
          <a:p>
            <a:r>
              <a:t>- β = 0.75：高70.5%。</a:t>
            </a:r>
          </a:p>
          <a:p>
            <a:r>
              <a:t>- β = 5.75：仍低约40.0%。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  <a:p>
            <a:r>
              <a:t>D:\weibull\docs\组会汇报\2026-09-三项研究更新汇报\assets\research04\fig1_domain_risk.png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上排。两种预算下，训练窗口扩宽都伴随共同区间的参数误差上升。固定密度时，每个样本量的训练资源从4,500增至16,500，约为原来的3.67倍，仍存在局部代价。因此，单纯将现象解释为固定总量下的样本摊薄并不充分。图中只有冻结模型的点估计，没有跨重新训练的区间。旧的嵌套域实验同时改变中心，保留作补充，不与这里合并。</a:t>
            </a:r>
          </a:p>
          <a:p>
            <a:endParaRPr/>
          </a:p>
          <a:p>
            <a:r>
              <a:t>补充页面数据</a:t>
            </a:r>
          </a:p>
          <a:p>
            <a:r>
              <a:t>- 四个窗口中心都为3：[2.5, 3.5]、[2, 4]、[1, 5]、[0.5, 5.5]。</a:t>
            </a:r>
          </a:p>
          <a:p>
            <a:r>
              <a:t>- 始终在共同真实区间 [2.5, 3.5] 的30,000个样本上评价。</a:t>
            </a:r>
          </a:p>
          <a:p>
            <a:r>
              <a:t>- 最宽相对最窄：固定总量 J₁ 增加54.3%；固定单元密度增加52.4%。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  <a:p>
            <a:r>
              <a:t>D:\weibull\docs\组会汇报\2026-09-三项研究更新汇报\assets\research04\fig2_centered_width.png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表达说明，在给定训练分布和损失下，理想点决策也有其条件性。普通平方损失对应条件均值；这里的相对平方损失含真参数相关权重，对应加权折中。更大的网络可能降低逼近误差，更多数据也可能改善训练，但当前没有通过容量对照测定各部分贡献。因此可以说训练分布依赖是有依据的解释，不能说已经证明观察到的全部代价都不可消除，或者更大网络一定没有作用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域内三个参数的边际误差得到改善，但这些收益传到寿命点后明显缩小。再回看上一张宽度图的下排，固定总量下扩宽窗口，x_(0.90)和x_(0.95)误差升高，x_(0.99)反而略降。这表明联合参数目标与各寿命量之间不是固定换算关系。位置参数的误差用真实尺度参数标准化，图中三个纵轴均明确表示RMSE。</a:t>
            </a:r>
          </a:p>
          <a:p>
            <a:endParaRPr/>
          </a:p>
          <a:p>
            <a:r>
              <a:t>补充页面数据</a:t>
            </a:r>
          </a:p>
          <a:p>
            <a:r>
              <a:t>域内位置 | 联合参数误差降幅 | x_(0.95) 相对RMSE降幅 |</a:t>
            </a:r>
          </a:p>
          <a:p>
            <a:r>
              <a:t>|---|---:|---:|</a:t>
            </a:r>
          </a:p>
          <a:p>
            <a:r>
              <a:t>| 已见网格 | 35.8% | 14.9% |</a:t>
            </a:r>
          </a:p>
          <a:p>
            <a:r>
              <a:t>| 域内未训练点 | 37.5% | 16.5% |</a:t>
            </a:r>
          </a:p>
          <a:p>
            <a:endParaRPr/>
          </a:p>
          <a:p>
            <a:r>
              <a:t>- 同中心扩宽时，三个可靠度寿命点的变化方向也不一致。</a:t>
            </a:r>
          </a:p>
          <a:p>
            <a:r>
              <a:t>- 参数恢复与寿命点精度需要分别评价。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  <a:p>
            <a:r>
              <a:t>D:\weibull\docs\组会汇报\2026-09-三项研究更新汇报\assets\research04\fig3_parameter_rmse.png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A与B是模拟统计，图C是解析诊断，两者证据性质不同。大形状区的误差方向与补偿解释一致，但混合相关还包含参数单元之间的差异。导数描述的是特定坐标下的局部敏感度，不是完整估计器曲率，也不能单独确定偏差方向。与旧汇报相比，这里保留有用解释，同时明确哪些还只是线索。</a:t>
            </a:r>
          </a:p>
          <a:p>
            <a:endParaRPr/>
          </a:p>
          <a:p>
            <a:r>
              <a:t>补充页面数据</a:t>
            </a:r>
          </a:p>
          <a:p>
            <a:r>
              <a:t>- 大形状区域，自适应MDM常见形状、尺度偏低而位置偏高。</a:t>
            </a:r>
          </a:p>
          <a:p>
            <a:r>
              <a:t>- 参数误差可以在寿命函数中部分抵消。</a:t>
            </a:r>
          </a:p>
          <a:p>
            <a:r>
              <a:t>- 对数伪尺度的局部敏感度随 1/β² 衰减。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  <a:p>
            <a:r>
              <a:t>D:\weibull\docs\组会汇报\2026-09-三项研究更新汇报\assets\research04\fig4_mdm_diagnostic.png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均值归一化与尺度还原使本方案具有比例缩放等变性，完整成对审计支持这一实现性质。它解决计量单位和同比例变化，却不会消除形状、位置尺度比分布或数据机制变化。样本量增加时两条路线都改善，相对差距收窄；各样本量使用独立模型，因此也不能直接推断更大样本量下的极限。可观测风险诊断目前只作探索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arch04给出的是具体方案的条件性能与解释线索。下一部分把网络结构和数据协议在研究内部配对，集中研究监督目标。Study02的原始量纲输入、参数解码和训练设计与这里不同，因而它的P不是这里Direct-P结果的直接续表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95%可靠度寿命点对应失效分布的5%分位点，不是95%置信下限。P是透明的参数恢复目标，三个标准化误差等系数相加；Q仍输出三个参数，但通过寿命公式回传误差。我们研究的是，最终任务改变以后，参数的作用和相互补偿怎样改变，以及是否需要额外限制参数偏离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的输入保留原始量纲，标准化只用当前训练折；不同于Research04的逐样本均值归一化。每条路线有480,000条预测，是48,000组样本在10个训练种子下的重复预测，不能说成48万个独立测试样本。主比较统一最多600轮、早停耐心60轮，但实际训练时间不同。原P/Q还同时改变了验证选点规则，稍后用补充对照把这一因素进一步拆开。</a:t>
            </a:r>
          </a:p>
          <a:p>
            <a:endParaRPr/>
          </a:p>
          <a:p>
            <a:r>
              <a:t>补充页面数据</a:t>
            </a:r>
          </a:p>
          <a:p>
            <a:r>
              <a:t>- 160个真值单元、48,000组模拟样本；固定 η = 1000。</a:t>
            </a:r>
          </a:p>
          <a:p>
            <a:r>
              <a:t>- 每条路线：4个样本量×5折×10种子＝200个模型单元。</a:t>
            </a:r>
          </a:p>
          <a:p>
            <a:r>
              <a:t>- 同一配对单元共享数据划分、标准化和初始化。</a:t>
            </a:r>
          </a:p>
          <a:p>
            <a:r>
              <a:t>- P按验证参数损失选点，Q按验证寿命点损失选点。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  <a:p>
            <a:r>
              <a:t>D:\weibull\docs\组会汇报\2026-09-三项研究更新汇报\assets\study02\study02-framework-zh.png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益存在，但幅度温和。P本身已经能较好地估计插件寿命点，所以任务对齐带来的额外收益并不大。区间按照模型单元配对并保留种子和折次结构；由于训练集在折间重叠、种子数有限，属于当前设计下的经验近似。这里先确认目标点收益，下一页检查同一组三参数在其他使用量上是否也可靠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重点看子图 (a)、(c)、(d)。等寿命点曲面上，多组参数可以给出相同目标值；逐预测贡献分解则显示，这种可能性确实出现在Q的预测中。P的平均参数损失约0.0539，Q达到71.7；补偿指数从0.332升至0.915。局部秩一描述的是单点监督在输出误差空间留下的自由度，不能说成Weibull分布本身不可识别。子图 (b) 的验证可行性将在介绍QCP时解释。</a:t>
            </a:r>
          </a:p>
          <a:p>
            <a:endParaRPr/>
          </a:p>
          <a:p>
            <a:r>
              <a:t>补充页面数据</a:t>
            </a:r>
          </a:p>
          <a:p>
            <a:r>
              <a:t>- 一个寿命点只提供一个标量监督。</a:t>
            </a:r>
          </a:p>
          <a:p>
            <a:r>
              <a:t>- 真值处局部曲率为 H_(Q)(0) = 2s₀s₀^(T)，秩为1。</a:t>
            </a:r>
          </a:p>
          <a:p>
            <a:r>
              <a:t>- 实际Q预测出现较大参数偏离，同时具有较强的目标误差抵消。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  <a:p>
            <a:r>
              <a:t>D:\weibull\docs\组会汇报\2026-09-三项研究更新汇报\assets\study02\fig2_parameter_compensation.png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个目标点相近，并不保证对应的分布形状相近。参数沿补偿方向移动以后，其他可靠度下的寿命点明显改变。这两个非目标点来自既有参数预测的事后机制分析，没有参与原Q训练。如果预测只用于一个目标值，参数补偿可以与低目标风险并存；但如果参数还要用于分布解释或其他寿命决策，就需要额外约束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的j是样本量、折次和种子组成的模型单元，不是每个未知真参数组合。阈值和约束设置在对应阶段通过验证确定。200个选定QCP模型均满足验证集平均参数损失约束；这并不保证每一个测试样本的参数误差都低于阈值。真参数用于模拟监督与验证，训练完成后推理只需要寿命样本。真实应用中的主要问题是训练域与数据机制是否匹配，不能说每次推理都需要真参数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CP相对Q在目标点再改善1.56%，在另外两个点改善28.42%和42.36%，主要价值体现在跨点退化的修复。补偿指数回到0.345，按P为参照计算，Q的超额补偿减少97.8%；这个比例属于机制指标，不是寿命精度提高97.8%。当前直接验证了三个寿命点，不能把结果说成已经恢复整条分布曲线或完成覆盖率验证。</a:t>
            </a:r>
          </a:p>
          <a:p>
            <a:endParaRPr/>
          </a:p>
          <a:p>
            <a:r>
              <a:t>补充页面数据</a:t>
            </a:r>
          </a:p>
          <a:p>
            <a:r>
              <a:t>| 寿命点 | P | Q | QCP |</a:t>
            </a:r>
          </a:p>
          <a:p>
            <a:r>
              <a:t>|---|---:|---:|---:|</a:t>
            </a:r>
          </a:p>
          <a:p>
            <a:r>
              <a:t>x_(0.90) | 13.66% | 18.63% | 13.34% |</a:t>
            </a:r>
          </a:p>
          <a:p>
            <a:r>
              <a:t>x_(0.95) | 16.43% | 16.09% | 15.84% |</a:t>
            </a:r>
          </a:p>
          <a:p>
            <a:r>
              <a:t>x_(0.99) | 21.96% | 35.82% | 20.65% |</a:t>
            </a:r>
          </a:p>
          <a:p>
            <a:endParaRPr/>
          </a:p>
          <a:p>
            <a:r>
              <a:t>上表均为RMSRE；QCP平均参数损失回到约0.0552。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  <a:p>
            <a:r>
              <a:t>D:\weibull\docs\组会汇报\2026-09-三项研究更新汇报\assets\study02\fig3_cross_life_performance.png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对照说明原来的差异同时包含训练目标与验证选点作用。只改变P的选点准则已有0.757%的改善；统一按Q验证以后，Q训练仍保留1.322%的收益。另一方面，在重跑的原生Q轨迹中，仅靠筛选可行轮次没有得到模型。这个结论只针对当前阈值和原生早停轨迹，不能推广到所有更长训练或所有阈值。补充实验复用原有数据，不是独立新样本确认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QP采用 L_(Q) + L_(P)，权重1.0来自早期验证筛选，按验证 L_(Q) 选点，取得与QCP接近的结果。QCP的特点是能明确检查验证可行性，但还需要参考模型与约束求解成本。三点监督也显著缓解两个非目标点的退化，说明修复并非只有一条路线；不过本次等权设置的三个寿命点误差及参数恢复都弱于QP、QCP。因此，新增对照支持“参数恢复要求有作用”，而不支持“必须采用更复杂约束算法”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MSRE对较大误差更敏感，少数困难单元的大幅改善可以决定总体排序。102.6%超过100%，是因为其余单元合计抵消了一部分收益，不是统计错误。P在典型绝对误差上仍更好，QCP也有更高训练成本。组会结论应当是目标、参数解释和资源之间的取舍，而不是挑一个汇总指标宣布普遍赢家。</a:t>
            </a:r>
          </a:p>
          <a:p>
            <a:endParaRPr/>
          </a:p>
          <a:p>
            <a:r>
              <a:t>补充页面数据</a:t>
            </a:r>
          </a:p>
          <a:p>
            <a:r>
              <a:t>- 目标点上：Q优于P为42/160个单元，QCP优于P为76/160。</a:t>
            </a:r>
          </a:p>
          <a:p>
            <a:r>
              <a:t>- QCP相对P，前5个单元贡献全部净改善的102.6%。</a:t>
            </a:r>
          </a:p>
          <a:p>
            <a:r>
              <a:t>- 典型绝对相对误差中位数：P 7.69%，QCP 7.86%。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  <a:p>
            <a:r>
              <a:t>D:\weibull\docs\组会汇报\2026-09-三项研究更新汇报\assets\study02\fig4_cell_heterogeneity.png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y02现在的认识比原来更完整：不仅知道Q有收益、QCP能修复，还知道验证选点贡献了一部分差异，以及更简单的QP也能取得接近结果。这些结论限于固定尺度、同一参数网格内新样本和当前训练协议。变化尺度、独立新数据、完整分布或置信下限的评价，需要与各自目标相符的新证据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三项工作共同把“哪个方法更好”推进到“在什么条件和目标下更好”。Study01已有清楚的内部选择依据，Research04建立了条件性能边界，Study02揭示了任务收益与参数解释的取舍。下一步优先补会改变判断的证据，并继续收敛中文论证与工程联系；本次汇报希望讨论的是这些工作的优先级，而不是继续堆积模型和实验。</a:t>
            </a:r>
          </a:p>
          <a:p>
            <a:endParaRPr/>
          </a:p>
          <a:p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 dirty="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</a:t>
            </a:r>
            <a:r>
              <a:rPr lang="en-US" sz="2400" spc="300" dirty="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.7</a:t>
            </a:r>
            <a:endParaRPr sz="2400" spc="300" dirty="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08"/>
            <a:ext cx="12975771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小样本估计</a:t>
            </a:r>
          </a:p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偏移量选择、训练域与寿命点任务</a:t>
            </a:r>
          </a:p>
        </p:txBody>
      </p:sp>
    </p:spTree>
    <p:extLst>
      <p:ext uri="{BB962C8B-B14F-4D97-AF65-F5344CB8AC3E}">
        <p14:creationId xmlns:p14="http://schemas.microsoft.com/office/powerpoint/2010/main" val="841042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三项研究的核心问题与本次重点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汇报安排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00</a:t>
            </a:r>
          </a:p>
        </p:txBody>
      </p:sp>
      <p:sp>
        <p:nvSpPr>
          <p:cNvPr id="7" name="content-weibull20260906s02-4">
            <a:extLst>
              <a:ext uri="{FF2B5EF4-FFF2-40B4-BE49-F238E27FC236}">
                <a16:creationId xmlns:a16="http://schemas.microsoft.com/office/drawing/2014/main" id="{1FEEDF1A-D2F3-48A5-B4B8-33F2E256EC2D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 / 32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38474441"/>
              </p:ext>
            </p:extLst>
          </p:nvPr>
        </p:nvGraphicFramePr>
        <p:xfrm>
          <a:off x="619125" y="2095500"/>
          <a:ext cx="10906125" cy="2809876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  <a:endParaRPr sz="2100" b="1" dirty="0">
                        <a:solidFill>
                          <a:srgbClr val="FFFFFF"/>
                        </a:solidFill>
                        <a:latin typeface="汉仪粗宋简"/>
                        <a:ea typeface="汉仪粗宋简"/>
                        <a:cs typeface="汉仪粗宋简"/>
                      </a:endParaRP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核心问题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本次重点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偏移量怎样选择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条件偏差与方差、同样本估计路径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直接估计何时更好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方向性外推、同中心扩宽代价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dirty="0" err="1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使用量怎样影响训练</a:t>
                      </a:r>
                      <a:endParaRPr sz="2100" b="0" dirty="0">
                        <a:solidFill>
                          <a:srgbClr val="161616"/>
                        </a:solidFill>
                        <a:latin typeface="汉仪粗宋简"/>
                        <a:ea typeface="汉仪粗宋简"/>
                        <a:cs typeface="汉仪粗宋简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dirty="0" err="1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共同验证、简单加权、多点监督</a:t>
                      </a:r>
                      <a:endParaRPr sz="2100" b="0" dirty="0">
                        <a:solidFill>
                          <a:srgbClr val="161616"/>
                        </a:solidFill>
                        <a:latin typeface="汉仪粗宋简"/>
                        <a:ea typeface="汉仪粗宋简"/>
                        <a:cs typeface="汉仪粗宋简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02-5">
            <a:extLst>
              <a:ext uri="{FF2B5EF4-FFF2-40B4-BE49-F238E27FC236}">
                <a16:creationId xmlns:a16="http://schemas.microsoft.com/office/drawing/2014/main" id="{1DE2938B-795E-4F77-AEBE-C29C8D4E1EE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lang="zh-CN" altLang="en-US" sz="2100" b="0" dirty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三部分实验协议独立，绝对误差不作跨研究排名</a:t>
            </a:r>
          </a:p>
        </p:txBody>
      </p:sp>
    </p:spTree>
    <p:extLst>
      <p:ext uri="{BB962C8B-B14F-4D97-AF65-F5344CB8AC3E}">
        <p14:creationId xmlns:p14="http://schemas.microsoft.com/office/powerpoint/2010/main" val="766793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偏移量调节同一样本的三参数估计路径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3-4">
            <a:extLst>
              <a:ext uri="{FF2B5EF4-FFF2-40B4-BE49-F238E27FC236}">
                <a16:creationId xmlns:a16="http://schemas.microsoft.com/office/drawing/2014/main" id="{D3281064-3139-440D-BA85-813898CD4014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 / 32</a:t>
            </a:r>
          </a:p>
        </p:txBody>
      </p:sp>
      <p:sp>
        <p:nvSpPr>
          <p:cNvPr id="8" name="content-weibull20260906s03-5">
            <a:extLst>
              <a:ext uri="{FF2B5EF4-FFF2-40B4-BE49-F238E27FC236}">
                <a16:creationId xmlns:a16="http://schemas.microsoft.com/office/drawing/2014/main" id="{A5EDE0D4-7BCC-493C-8BDA-A8E14AB73FAB}"/>
              </a:ext>
            </a:extLst>
          </p:cNvPr>
          <p:cNvSpPr>
            <a:spLocks noGrp="1"/>
          </p:cNvSpPr>
          <p:nvPr/>
        </p:nvSpPr>
        <p:spPr>
          <a:xfrm>
            <a:off x="552450" y="204787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MDM 沿位置参数形成一组候选解</a:t>
            </a:r>
          </a:p>
        </p:txBody>
      </p:sp>
      <p:sp>
        <p:nvSpPr>
          <p:cNvPr id="9" name="content-weibull20260906s03-6">
            <a:extLst>
              <a:ext uri="{FF2B5EF4-FFF2-40B4-BE49-F238E27FC236}">
                <a16:creationId xmlns:a16="http://schemas.microsoft.com/office/drawing/2014/main" id="{84473684-9037-40F4-BE34-AA7C013EF1E2}"/>
              </a:ext>
            </a:extLst>
          </p:cNvPr>
          <p:cNvSpPr>
            <a:spLocks noGrp="1"/>
          </p:cNvSpPr>
          <p:nvPr/>
        </p:nvSpPr>
        <p:spPr>
          <a:xfrm>
            <a:off x="552450" y="292417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偏移量改变梯度判据的搜索落点</a:t>
            </a:r>
          </a:p>
        </p:txBody>
      </p:sp>
      <p:sp>
        <p:nvSpPr>
          <p:cNvPr id="10" name="content-weibull20260906s03-7">
            <a:extLst>
              <a:ext uri="{FF2B5EF4-FFF2-40B4-BE49-F238E27FC236}">
                <a16:creationId xmlns:a16="http://schemas.microsoft.com/office/drawing/2014/main" id="{50A8D1BA-AA67-445A-AD72-4EEABEB1A1C4}"/>
              </a:ext>
            </a:extLst>
          </p:cNvPr>
          <p:cNvSpPr>
            <a:spLocks noGrp="1"/>
          </p:cNvSpPr>
          <p:nvPr/>
        </p:nvSpPr>
        <p:spPr>
          <a:xfrm>
            <a:off x="552450" y="380047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位置改变后，形状与尺度估计随之变化</a:t>
            </a:r>
          </a:p>
        </p:txBody>
      </p:sp>
      <p:sp>
        <p:nvSpPr>
          <p:cNvPr id="11" name="content-weibull20260906s03-8">
            <a:extLst>
              <a:ext uri="{FF2B5EF4-FFF2-40B4-BE49-F238E27FC236}">
                <a16:creationId xmlns:a16="http://schemas.microsoft.com/office/drawing/2014/main" id="{14B51CD1-6996-4FD8-85D6-21BB844CDA0C}"/>
              </a:ext>
            </a:extLst>
          </p:cNvPr>
          <p:cNvSpPr>
            <a:spLocks noGrp="1"/>
          </p:cNvSpPr>
          <p:nvPr/>
        </p:nvSpPr>
        <p:spPr>
          <a:xfrm>
            <a:off x="714375" y="51435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样本 X  →  候选解路径  →  由 δ 选择三参数估计</a:t>
            </a:r>
          </a:p>
        </p:txBody>
      </p:sp>
    </p:spTree>
    <p:extLst>
      <p:ext uri="{BB962C8B-B14F-4D97-AF65-F5344CB8AC3E}">
        <p14:creationId xmlns:p14="http://schemas.microsoft.com/office/powerpoint/2010/main" val="16705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正偏移量通过偏差与方差折中降低误差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4-4">
            <a:extLst>
              <a:ext uri="{FF2B5EF4-FFF2-40B4-BE49-F238E27FC236}">
                <a16:creationId xmlns:a16="http://schemas.microsoft.com/office/drawing/2014/main" id="{AD6172CB-136D-4540-8469-29F423AF4112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4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95281" y="1810139"/>
            <a:ext cx="8401439" cy="3809222"/>
          </a:xfrm>
          <a:prstGeom prst="rect">
            <a:avLst/>
          </a:prstGeom>
        </p:spPr>
      </p:pic>
      <p:sp>
        <p:nvSpPr>
          <p:cNvPr id="9" name="content-weibull20260906s04-5">
            <a:extLst>
              <a:ext uri="{FF2B5EF4-FFF2-40B4-BE49-F238E27FC236}">
                <a16:creationId xmlns:a16="http://schemas.microsoft.com/office/drawing/2014/main" id="{47786A51-ED34-4C09-8764-371114F8F203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δ = 0、0.10、0.50 时，J₁ 分别为 0.9481、0.6304、0.7619；J₁² = B² + V</a:t>
            </a:r>
          </a:p>
        </p:txBody>
      </p:sp>
    </p:spTree>
    <p:extLst>
      <p:ext uri="{BB962C8B-B14F-4D97-AF65-F5344CB8AC3E}">
        <p14:creationId xmlns:p14="http://schemas.microsoft.com/office/powerpoint/2010/main" val="33959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最佳统一取值随所针对的参数域改变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5-4">
            <a:extLst>
              <a:ext uri="{FF2B5EF4-FFF2-40B4-BE49-F238E27FC236}">
                <a16:creationId xmlns:a16="http://schemas.microsoft.com/office/drawing/2014/main" id="{0A3E2724-0CB1-44DB-AD7B-3A1302A5D7F0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5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12199" y="1905000"/>
            <a:ext cx="3367602" cy="3619500"/>
          </a:xfrm>
          <a:prstGeom prst="rect">
            <a:avLst/>
          </a:prstGeom>
        </p:spPr>
      </p:pic>
      <p:sp>
        <p:nvSpPr>
          <p:cNvPr id="9" name="content-weibull20260906s05-5">
            <a:extLst>
              <a:ext uri="{FF2B5EF4-FFF2-40B4-BE49-F238E27FC236}">
                <a16:creationId xmlns:a16="http://schemas.microsoft.com/office/drawing/2014/main" id="{807521AA-ABAE-4A5C-ABE2-53A2D5FC3C5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宽混合域最低扫描点为 0.06；固定宽度窗口平移时，最佳统一值由 0.18 移至 0.04</a:t>
            </a:r>
          </a:p>
        </p:txBody>
      </p:sp>
    </p:spTree>
    <p:extLst>
      <p:ext uri="{BB962C8B-B14F-4D97-AF65-F5344CB8AC3E}">
        <p14:creationId xmlns:p14="http://schemas.microsoft.com/office/powerpoint/2010/main" val="1038824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参数条件与本次抽样都影响低风险偏移量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6-4">
            <a:extLst>
              <a:ext uri="{FF2B5EF4-FFF2-40B4-BE49-F238E27FC236}">
                <a16:creationId xmlns:a16="http://schemas.microsoft.com/office/drawing/2014/main" id="{C03BFF81-7FF5-46F6-9991-931E331CF904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6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80812" y="1714500"/>
            <a:ext cx="6430376" cy="4000500"/>
          </a:xfrm>
          <a:prstGeom prst="rect">
            <a:avLst/>
          </a:prstGeom>
        </p:spPr>
      </p:pic>
      <p:sp>
        <p:nvSpPr>
          <p:cNvPr id="9" name="content-weibull20260906s06-5">
            <a:extLst>
              <a:ext uri="{FF2B5EF4-FFF2-40B4-BE49-F238E27FC236}">
                <a16:creationId xmlns:a16="http://schemas.microsoft.com/office/drawing/2014/main" id="{C60A2E01-7010-4884-8B52-550360B71969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统一规则改善 0.83%，真参数条件改善至 7.79%；逐样本事后参照为 21.91%</a:t>
            </a:r>
          </a:p>
        </p:txBody>
      </p:sp>
    </p:spTree>
    <p:extLst>
      <p:ext uri="{BB962C8B-B14F-4D97-AF65-F5344CB8AC3E}">
        <p14:creationId xmlns:p14="http://schemas.microsoft.com/office/powerpoint/2010/main" val="795532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根据观测样本预测候选损失，再由 MDM 求解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7-4">
            <a:extLst>
              <a:ext uri="{FF2B5EF4-FFF2-40B4-BE49-F238E27FC236}">
                <a16:creationId xmlns:a16="http://schemas.microsoft.com/office/drawing/2014/main" id="{75D55094-FDDA-4408-92B1-30F8B1DC89D2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7 / 32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8993" y="1810574"/>
            <a:ext cx="6536264" cy="3903602"/>
          </a:xfrm>
          <a:prstGeom prst="rect">
            <a:avLst/>
          </a:prstGeom>
        </p:spPr>
      </p:pic>
      <p:sp>
        <p:nvSpPr>
          <p:cNvPr id="9" name="content-weibull20260906s07-5">
            <a:extLst>
              <a:ext uri="{FF2B5EF4-FFF2-40B4-BE49-F238E27FC236}">
                <a16:creationId xmlns:a16="http://schemas.microsoft.com/office/drawing/2014/main" id="{0E65D5E2-9DD7-4776-924A-EE4E687DC7CD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每个 n 单独训练</a:t>
            </a:r>
          </a:p>
        </p:txBody>
      </p:sp>
      <p:sp>
        <p:nvSpPr>
          <p:cNvPr id="10" name="content-weibull20260906s07-6">
            <a:extLst>
              <a:ext uri="{FF2B5EF4-FFF2-40B4-BE49-F238E27FC236}">
                <a16:creationId xmlns:a16="http://schemas.microsoft.com/office/drawing/2014/main" id="{AF59F237-9CF6-4FED-9B2F-D7521C6DC8C5}"/>
              </a:ext>
            </a:extLst>
          </p:cNvPr>
          <p:cNvSpPr>
            <a:spLocks noGrp="1"/>
          </p:cNvSpPr>
          <p:nvPr/>
        </p:nvSpPr>
        <p:spPr>
          <a:xfrm>
            <a:off x="571500" y="2952750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26 点候选损失</a:t>
            </a:r>
          </a:p>
        </p:txBody>
      </p:sp>
      <p:sp>
        <p:nvSpPr>
          <p:cNvPr id="11" name="content-weibull20260906s07-7">
            <a:extLst>
              <a:ext uri="{FF2B5EF4-FFF2-40B4-BE49-F238E27FC236}">
                <a16:creationId xmlns:a16="http://schemas.microsoft.com/office/drawing/2014/main" id="{8A5C9534-90F8-4C13-BEBB-44D7912074D4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δ = 0～0.50</a:t>
            </a:r>
          </a:p>
        </p:txBody>
      </p:sp>
      <p:sp>
        <p:nvSpPr>
          <p:cNvPr id="12" name="content-weibull20260906s07-8">
            <a:extLst>
              <a:ext uri="{FF2B5EF4-FFF2-40B4-BE49-F238E27FC236}">
                <a16:creationId xmlns:a16="http://schemas.microsoft.com/office/drawing/2014/main" id="{1BBAA0C6-AA8E-4C9D-ABEF-9C16BEED0772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推理仅需寿命样本</a:t>
            </a:r>
          </a:p>
        </p:txBody>
      </p:sp>
      <p:sp>
        <p:nvSpPr>
          <p:cNvPr id="13" name="content-weibull20260906s07-9">
            <a:extLst>
              <a:ext uri="{FF2B5EF4-FFF2-40B4-BE49-F238E27FC236}">
                <a16:creationId xmlns:a16="http://schemas.microsoft.com/office/drawing/2014/main" id="{5E825C58-D0B5-48DE-B652-5F17BD0F59B2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选点质量由实际参数估计误差判断，不要求精确命中事后最低格点</a:t>
            </a:r>
          </a:p>
        </p:txBody>
      </p:sp>
    </p:spTree>
    <p:extLst>
      <p:ext uri="{BB962C8B-B14F-4D97-AF65-F5344CB8AC3E}">
        <p14:creationId xmlns:p14="http://schemas.microsoft.com/office/powerpoint/2010/main" val="191198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样本自适应选择使联合误差下降 7.27%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8-4">
            <a:extLst>
              <a:ext uri="{FF2B5EF4-FFF2-40B4-BE49-F238E27FC236}">
                <a16:creationId xmlns:a16="http://schemas.microsoft.com/office/drawing/2014/main" id="{88E91372-1795-48FC-910F-9B66FFC9E58D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8 / 32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12100" y="1880644"/>
            <a:ext cx="7206301" cy="3858712"/>
          </a:xfrm>
          <a:prstGeom prst="rect">
            <a:avLst/>
          </a:prstGeom>
        </p:spPr>
      </p:pic>
      <p:sp>
        <p:nvSpPr>
          <p:cNvPr id="9" name="content-weibull20260906s08-5">
            <a:extLst>
              <a:ext uri="{FF2B5EF4-FFF2-40B4-BE49-F238E27FC236}">
                <a16:creationId xmlns:a16="http://schemas.microsoft.com/office/drawing/2014/main" id="{584E9438-48E6-4449-A8A1-8772E8D0CFBF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3095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48,000 个测试样本</a:t>
            </a:r>
          </a:p>
        </p:txBody>
      </p:sp>
      <p:sp>
        <p:nvSpPr>
          <p:cNvPr id="10" name="content-weibull20260906s08-6">
            <a:extLst>
              <a:ext uri="{FF2B5EF4-FFF2-40B4-BE49-F238E27FC236}">
                <a16:creationId xmlns:a16="http://schemas.microsoft.com/office/drawing/2014/main" id="{F5D8F083-703D-4D52-9D2D-D41BE2223E61}"/>
              </a:ext>
            </a:extLst>
          </p:cNvPr>
          <p:cNvSpPr>
            <a:spLocks noGrp="1"/>
          </p:cNvSpPr>
          <p:nvPr/>
        </p:nvSpPr>
        <p:spPr>
          <a:xfrm>
            <a:off x="571500" y="2809875"/>
            <a:ext cx="3095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J₁：0.6304 → 0.5846</a:t>
            </a:r>
          </a:p>
        </p:txBody>
      </p:sp>
      <p:sp>
        <p:nvSpPr>
          <p:cNvPr id="11" name="content-weibull20260906s08-7">
            <a:extLst>
              <a:ext uri="{FF2B5EF4-FFF2-40B4-BE49-F238E27FC236}">
                <a16:creationId xmlns:a16="http://schemas.microsoft.com/office/drawing/2014/main" id="{FCAB370E-4542-4E63-BE34-92845C3A5258}"/>
              </a:ext>
            </a:extLst>
          </p:cNvPr>
          <p:cNvSpPr>
            <a:spLocks noGrp="1"/>
          </p:cNvSpPr>
          <p:nvPr/>
        </p:nvSpPr>
        <p:spPr>
          <a:xfrm>
            <a:off x="571500" y="3619500"/>
            <a:ext cx="3095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95% 区间</a:t>
            </a:r>
          </a:p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6.94%～7.64%</a:t>
            </a:r>
          </a:p>
        </p:txBody>
      </p:sp>
      <p:sp>
        <p:nvSpPr>
          <p:cNvPr id="12" name="content-weibull20260906s08-8">
            <a:extLst>
              <a:ext uri="{FF2B5EF4-FFF2-40B4-BE49-F238E27FC236}">
                <a16:creationId xmlns:a16="http://schemas.microsoft.com/office/drawing/2014/main" id="{A3F2D0AB-83CC-4528-8FEF-757E5E17AB06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3095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125 / 160 单元改善</a:t>
            </a:r>
          </a:p>
        </p:txBody>
      </p:sp>
      <p:sp>
        <p:nvSpPr>
          <p:cNvPr id="13" name="content-weibull20260906s08-9">
            <a:extLst>
              <a:ext uri="{FF2B5EF4-FFF2-40B4-BE49-F238E27FC236}">
                <a16:creationId xmlns:a16="http://schemas.microsoft.com/office/drawing/2014/main" id="{52F80AF3-43F9-4F72-9CAC-3CC97880E925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四个样本量均改善、失败率 0%；表示筛选复用了折外评价样本</a:t>
            </a:r>
          </a:p>
        </p:txBody>
      </p:sp>
    </p:spTree>
    <p:extLst>
      <p:ext uri="{BB962C8B-B14F-4D97-AF65-F5344CB8AC3E}">
        <p14:creationId xmlns:p14="http://schemas.microsoft.com/office/powerpoint/2010/main" val="1078649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相同真值下，低风险偏移量随样本路径移动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9-4">
            <a:extLst>
              <a:ext uri="{FF2B5EF4-FFF2-40B4-BE49-F238E27FC236}">
                <a16:creationId xmlns:a16="http://schemas.microsoft.com/office/drawing/2014/main" id="{5561D0AA-8709-4479-8F80-6D419FFC1DDD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9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65739" y="1667588"/>
            <a:ext cx="6460522" cy="4094323"/>
          </a:xfrm>
          <a:prstGeom prst="rect">
            <a:avLst/>
          </a:prstGeom>
        </p:spPr>
      </p:pic>
      <p:sp>
        <p:nvSpPr>
          <p:cNvPr id="9" name="content-weibull20260906s09-5">
            <a:extLst>
              <a:ext uri="{FF2B5EF4-FFF2-40B4-BE49-F238E27FC236}">
                <a16:creationId xmlns:a16="http://schemas.microsoft.com/office/drawing/2014/main" id="{42EF93BC-A148-4380-BD0D-7C09A23A5310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 个诊断单元方向一致，固定偏移量下的位置估计与事后选点相关中位数为 −0.765</a:t>
            </a:r>
          </a:p>
        </p:txBody>
      </p:sp>
    </p:spTree>
    <p:extLst>
      <p:ext uri="{BB962C8B-B14F-4D97-AF65-F5344CB8AC3E}">
        <p14:creationId xmlns:p14="http://schemas.microsoft.com/office/powerpoint/2010/main" val="402322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参数恢复收益向寿命点的传递有限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0-4">
            <a:extLst>
              <a:ext uri="{FF2B5EF4-FFF2-40B4-BE49-F238E27FC236}">
                <a16:creationId xmlns:a16="http://schemas.microsoft.com/office/drawing/2014/main" id="{8291680E-AE82-40A2-B547-D8871AB96DE3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10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714375" y="1857375"/>
          <a:ext cx="10763250" cy="2714625"/>
        </p:xfrm>
        <a:graphic>
          <a:graphicData uri="http://schemas.openxmlformats.org/drawingml/2006/table">
            <a:tbl>
              <a:tblPr/>
              <a:tblGrid>
                <a:gridCol w="666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联合参数误差 J₁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样本自适应 MDM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0.5846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0.7288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ontent-weibull20260906s10-5">
            <a:extLst>
              <a:ext uri="{FF2B5EF4-FFF2-40B4-BE49-F238E27FC236}">
                <a16:creationId xmlns:a16="http://schemas.microsoft.com/office/drawing/2014/main" id="{4AA8E861-9BA4-493D-9D12-82A12761EBF1}"/>
              </a:ext>
            </a:extLst>
          </p:cNvPr>
          <p:cNvSpPr>
            <a:spLocks noGrp="1"/>
          </p:cNvSpPr>
          <p:nvPr/>
        </p:nvSpPr>
        <p:spPr>
          <a:xfrm>
            <a:off x="714375" y="495300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三个寿命点上，所比较的 WMLE 相对 RMSE 最低</a:t>
            </a:r>
          </a:p>
        </p:txBody>
      </p:sp>
      <p:sp>
        <p:nvSpPr>
          <p:cNvPr id="10" name="content-weibull20260906s10-6">
            <a:extLst>
              <a:ext uri="{FF2B5EF4-FFF2-40B4-BE49-F238E27FC236}">
                <a16:creationId xmlns:a16="http://schemas.microsoft.com/office/drawing/2014/main" id="{6A7A7078-7918-4852-8072-6B2EC68985B9}"/>
              </a:ext>
            </a:extLst>
          </p:cNvPr>
          <p:cNvSpPr>
            <a:spLocks noGrp="1"/>
          </p:cNvSpPr>
          <p:nvPr/>
        </p:nvSpPr>
        <p:spPr>
          <a:xfrm>
            <a:off x="714375" y="560070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自适应相对固定值：x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0.90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略差，x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0.95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、x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0.99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略好</a:t>
            </a:r>
          </a:p>
        </p:txBody>
      </p:sp>
    </p:spTree>
    <p:extLst>
      <p:ext uri="{BB962C8B-B14F-4D97-AF65-F5344CB8AC3E}">
        <p14:creationId xmlns:p14="http://schemas.microsoft.com/office/powerpoint/2010/main" val="600666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Study01：偏移量选择的依据与收益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1-4">
            <a:extLst>
              <a:ext uri="{FF2B5EF4-FFF2-40B4-BE49-F238E27FC236}">
                <a16:creationId xmlns:a16="http://schemas.microsoft.com/office/drawing/2014/main" id="{76A23F00-45BF-4554-B9C2-905AAFF73618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11 / 32</a:t>
            </a:r>
          </a:p>
        </p:txBody>
      </p:sp>
      <p:sp>
        <p:nvSpPr>
          <p:cNvPr id="8" name="content-weibull20260906s11-5">
            <a:extLst>
              <a:ext uri="{FF2B5EF4-FFF2-40B4-BE49-F238E27FC236}">
                <a16:creationId xmlns:a16="http://schemas.microsoft.com/office/drawing/2014/main" id="{52CCEE43-C603-4FC1-B1A9-D98A6DC802EA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偏移量调节条件偏差与抽样方差</a:t>
            </a:r>
          </a:p>
        </p:txBody>
      </p:sp>
      <p:sp>
        <p:nvSpPr>
          <p:cNvPr id="9" name="content-weibull20260906s11-6">
            <a:extLst>
              <a:ext uri="{FF2B5EF4-FFF2-40B4-BE49-F238E27FC236}">
                <a16:creationId xmlns:a16="http://schemas.microsoft.com/office/drawing/2014/main" id="{81E371A8-036D-4801-A432-44606CF92BC0}"/>
              </a:ext>
            </a:extLst>
          </p:cNvPr>
          <p:cNvSpPr>
            <a:spLocks noGrp="1"/>
          </p:cNvSpPr>
          <p:nvPr/>
        </p:nvSpPr>
        <p:spPr>
          <a:xfrm>
            <a:off x="552450" y="28289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统一值随参数域改变，观测样本提供进一步选择信息</a:t>
            </a:r>
          </a:p>
        </p:txBody>
      </p:sp>
      <p:sp>
        <p:nvSpPr>
          <p:cNvPr id="10" name="content-weibull20260906s11-7">
            <a:extLst>
              <a:ext uri="{FF2B5EF4-FFF2-40B4-BE49-F238E27FC236}">
                <a16:creationId xmlns:a16="http://schemas.microsoft.com/office/drawing/2014/main" id="{D4228F68-445D-44A3-A4D3-8DF478062393}"/>
              </a:ext>
            </a:extLst>
          </p:cNvPr>
          <p:cNvSpPr>
            <a:spLocks noGrp="1"/>
          </p:cNvSpPr>
          <p:nvPr/>
        </p:nvSpPr>
        <p:spPr>
          <a:xfrm>
            <a:off x="552450" y="37052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预测候选损失，可在当前设计下改善 MDM 参数估计</a:t>
            </a:r>
          </a:p>
        </p:txBody>
      </p:sp>
      <p:sp>
        <p:nvSpPr>
          <p:cNvPr id="11" name="content-weibull20260906s11-8">
            <a:extLst>
              <a:ext uri="{FF2B5EF4-FFF2-40B4-BE49-F238E27FC236}">
                <a16:creationId xmlns:a16="http://schemas.microsoft.com/office/drawing/2014/main" id="{0C2535E3-EA8C-4231-9C24-EA8D56C97E58}"/>
              </a:ext>
            </a:extLst>
          </p:cNvPr>
          <p:cNvSpPr>
            <a:spLocks noGrp="1"/>
          </p:cNvSpPr>
          <p:nvPr/>
        </p:nvSpPr>
        <p:spPr>
          <a:xfrm>
            <a:off x="619125" y="5238750"/>
            <a:ext cx="109061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下一问：保留 MDM 求解与直接输出参数，各在什么条件下更合适？</a:t>
            </a:r>
          </a:p>
        </p:txBody>
      </p:sp>
    </p:spTree>
    <p:extLst>
      <p:ext uri="{BB962C8B-B14F-4D97-AF65-F5344CB8AC3E}">
        <p14:creationId xmlns:p14="http://schemas.microsoft.com/office/powerpoint/2010/main" val="37854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共享测试样本上的五种完整估计方案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2-4">
            <a:extLst>
              <a:ext uri="{FF2B5EF4-FFF2-40B4-BE49-F238E27FC236}">
                <a16:creationId xmlns:a16="http://schemas.microsoft.com/office/drawing/2014/main" id="{7151744D-6D46-455B-A44F-F3716EB849EB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12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619125" y="1857375"/>
          <a:ext cx="10906125" cy="2714624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估计过程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归一化排序样本直接输出三个参数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网络选择偏移量，再求解参数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MDM-0.1、WMLE、LSE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传统参照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12-5">
            <a:extLst>
              <a:ext uri="{FF2B5EF4-FFF2-40B4-BE49-F238E27FC236}">
                <a16:creationId xmlns:a16="http://schemas.microsoft.com/office/drawing/2014/main" id="{E6C8856F-5073-4230-9591-7A1E32502ED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训练 β ∈ [1.5, 5]；测试 β ∈ [0.75, 5.75]，共 126,000 个样本</a:t>
            </a:r>
          </a:p>
        </p:txBody>
      </p:sp>
      <p:sp>
        <p:nvSpPr>
          <p:cNvPr id="10" name="content-weibull20260906s12-6">
            <a:extLst>
              <a:ext uri="{FF2B5EF4-FFF2-40B4-BE49-F238E27FC236}">
                <a16:creationId xmlns:a16="http://schemas.microsoft.com/office/drawing/2014/main" id="{4C6D2010-4451-492C-8C3C-E2AC949D51A8}"/>
              </a:ext>
            </a:extLst>
          </p:cNvPr>
          <p:cNvSpPr>
            <a:spLocks noGrp="1"/>
          </p:cNvSpPr>
          <p:nvPr/>
        </p:nvSpPr>
        <p:spPr>
          <a:xfrm>
            <a:off x="628650" y="5048250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比较完整方案：监督目标、验证选点与内部划分仍有差异</a:t>
            </a:r>
          </a:p>
        </p:txBody>
      </p:sp>
    </p:spTree>
    <p:extLst>
      <p:ext uri="{BB962C8B-B14F-4D97-AF65-F5344CB8AC3E}">
        <p14:creationId xmlns:p14="http://schemas.microsoft.com/office/powerpoint/2010/main" val="750844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Direct-P 在域内未训练形状点上仍保持优势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3-4">
            <a:extLst>
              <a:ext uri="{FF2B5EF4-FFF2-40B4-BE49-F238E27FC236}">
                <a16:creationId xmlns:a16="http://schemas.microsoft.com/office/drawing/2014/main" id="{B1F3C25E-4569-45F8-B5FD-1919955C5B6C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13 / 32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19125" y="1809750"/>
          <a:ext cx="10906125" cy="3381378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 J₁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域内未训练点 J₁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0.3658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0.3532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0.8843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ontent-weibull20260906s13-5">
            <a:extLst>
              <a:ext uri="{FF2B5EF4-FFF2-40B4-BE49-F238E27FC236}">
                <a16:creationId xmlns:a16="http://schemas.microsoft.com/office/drawing/2014/main" id="{2AC0FBDD-8677-48A4-95E6-74CCC615489D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Direct-P 相对自适应 MDM 分别降低 35.8% 和 37.5%；新增点仅沿形状轴加密</a:t>
            </a:r>
          </a:p>
        </p:txBody>
      </p:sp>
    </p:spTree>
    <p:extLst>
      <p:ext uri="{BB962C8B-B14F-4D97-AF65-F5344CB8AC3E}">
        <p14:creationId xmlns:p14="http://schemas.microsoft.com/office/powerpoint/2010/main" val="201039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外推具有方向性：低侧反转，高侧仍有优势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4-4">
            <a:extLst>
              <a:ext uri="{FF2B5EF4-FFF2-40B4-BE49-F238E27FC236}">
                <a16:creationId xmlns:a16="http://schemas.microsoft.com/office/drawing/2014/main" id="{1EDBAE78-87A0-48B7-8880-450C1886839E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14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11190" y="1714500"/>
            <a:ext cx="8569619" cy="4000500"/>
          </a:xfrm>
          <a:prstGeom prst="rect">
            <a:avLst/>
          </a:prstGeom>
        </p:spPr>
      </p:pic>
      <p:sp>
        <p:nvSpPr>
          <p:cNvPr id="9" name="content-weibull20260906s14-5">
            <a:extLst>
              <a:ext uri="{FF2B5EF4-FFF2-40B4-BE49-F238E27FC236}">
                <a16:creationId xmlns:a16="http://schemas.microsoft.com/office/drawing/2014/main" id="{F44731CA-5040-4023-A962-80B5A1F0F33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β = 1.25 和 0.75 时相对误差高 7.6% 和 70.5%；β = 5.75 时仍低约 40.0%</a:t>
            </a:r>
          </a:p>
        </p:txBody>
      </p:sp>
    </p:spTree>
    <p:extLst>
      <p:ext uri="{BB962C8B-B14F-4D97-AF65-F5344CB8AC3E}">
        <p14:creationId xmlns:p14="http://schemas.microsoft.com/office/powerpoint/2010/main" val="198162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扩大训练覆盖，在共同区间付出精度代价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5-4">
            <a:extLst>
              <a:ext uri="{FF2B5EF4-FFF2-40B4-BE49-F238E27FC236}">
                <a16:creationId xmlns:a16="http://schemas.microsoft.com/office/drawing/2014/main" id="{69A5A734-9D81-4944-9E5E-6FEFF6CB582E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15 / 32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10447" y="1666875"/>
            <a:ext cx="6114355" cy="4143375"/>
          </a:xfrm>
          <a:prstGeom prst="rect">
            <a:avLst/>
          </a:prstGeom>
        </p:spPr>
      </p:pic>
      <p:sp>
        <p:nvSpPr>
          <p:cNvPr id="9" name="content-weibull20260906s15-5">
            <a:extLst>
              <a:ext uri="{FF2B5EF4-FFF2-40B4-BE49-F238E27FC236}">
                <a16:creationId xmlns:a16="http://schemas.microsoft.com/office/drawing/2014/main" id="{FEEFC78D-D150-45D8-AFBA-80688968AE26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3048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训练窗口中心均为 3</a:t>
            </a:r>
          </a:p>
        </p:txBody>
      </p:sp>
      <p:sp>
        <p:nvSpPr>
          <p:cNvPr id="10" name="content-weibull20260906s15-6">
            <a:extLst>
              <a:ext uri="{FF2B5EF4-FFF2-40B4-BE49-F238E27FC236}">
                <a16:creationId xmlns:a16="http://schemas.microsoft.com/office/drawing/2014/main" id="{29F49A2E-4880-49E0-821A-5A1C78BE3228}"/>
              </a:ext>
            </a:extLst>
          </p:cNvPr>
          <p:cNvSpPr>
            <a:spLocks noGrp="1"/>
          </p:cNvSpPr>
          <p:nvPr/>
        </p:nvSpPr>
        <p:spPr>
          <a:xfrm>
            <a:off x="552450" y="2933700"/>
            <a:ext cx="3048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共同评价区间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[2.5, 3.5]</a:t>
            </a:r>
          </a:p>
        </p:txBody>
      </p:sp>
      <p:sp>
        <p:nvSpPr>
          <p:cNvPr id="11" name="content-weibull20260906s15-7">
            <a:extLst>
              <a:ext uri="{FF2B5EF4-FFF2-40B4-BE49-F238E27FC236}">
                <a16:creationId xmlns:a16="http://schemas.microsoft.com/office/drawing/2014/main" id="{75418C5D-2C9E-4835-8B96-D169B9FEDE6F}"/>
              </a:ext>
            </a:extLst>
          </p:cNvPr>
          <p:cNvSpPr>
            <a:spLocks noGrp="1"/>
          </p:cNvSpPr>
          <p:nvPr/>
        </p:nvSpPr>
        <p:spPr>
          <a:xfrm>
            <a:off x="552450" y="3914775"/>
            <a:ext cx="3048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最宽相对最窄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固定总量：+54.3%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固定密度：+52.4%</a:t>
            </a:r>
          </a:p>
        </p:txBody>
      </p:sp>
      <p:sp>
        <p:nvSpPr>
          <p:cNvPr id="12" name="content-weibull20260906s15-8">
            <a:extLst>
              <a:ext uri="{FF2B5EF4-FFF2-40B4-BE49-F238E27FC236}">
                <a16:creationId xmlns:a16="http://schemas.microsoft.com/office/drawing/2014/main" id="{ED46C2FC-BF78-4A50-98F3-93F451A30228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固定密度资源增加至 3.67 倍，局部代价仍存在；当前结果条件于冻结模型</a:t>
            </a:r>
          </a:p>
        </p:txBody>
      </p:sp>
    </p:spTree>
    <p:extLst>
      <p:ext uri="{BB962C8B-B14F-4D97-AF65-F5344CB8AC3E}">
        <p14:creationId xmlns:p14="http://schemas.microsoft.com/office/powerpoint/2010/main" val="1604368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训练分布依赖与尚未分离的误差来源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6-4">
            <a:extLst>
              <a:ext uri="{FF2B5EF4-FFF2-40B4-BE49-F238E27FC236}">
                <a16:creationId xmlns:a16="http://schemas.microsoft.com/office/drawing/2014/main" id="{FCE97DCE-7161-492C-8BA6-55AD2D7C0D74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16 /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weibull20260906s16-5">
                <a:extLst>
                  <a:ext uri="{FF2B5EF4-FFF2-40B4-BE49-F238E27FC236}">
                    <a16:creationId xmlns:a16="http://schemas.microsoft.com/office/drawing/2014/main" id="{219E1CB4-CA7A-44B5-B789-97D66222FE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10668000" cy="904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28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80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sz="2800"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sz="2800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sz="2800">
                          <a:latin typeface="Cambria Math"/>
                        </a:rPr>
                        <m:t>(</m:t>
                      </m:r>
                      <m:r>
                        <a:rPr sz="2800">
                          <a:latin typeface="Cambria Math"/>
                        </a:rPr>
                        <m:t>𝑧</m:t>
                      </m:r>
                      <m:r>
                        <a:rPr sz="2800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sz="2800">
                          <a:latin typeface="Cambria Math"/>
                        </a:rPr>
                        <m:t>arg</m:t>
                      </m:r>
                      <m:limLow>
                        <m:limLow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sz="2800">
                              <a:latin typeface="Cambria Math"/>
                            </a:rPr>
                            <m:t>min</m:t>
                          </m:r>
                        </m:e>
                        <m:lim>
                          <m:r>
                            <a:rPr sz="2800">
                              <a:latin typeface="Cambria Math"/>
                            </a:rPr>
                            <m:t>𝑎</m:t>
                          </m:r>
                        </m:lim>
                      </m:limLow>
                      <m:sSub>
                        <m:sSub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800">
                              <a:latin typeface="Cambria Math"/>
                            </a:rPr>
                            <m:t>E</m:t>
                          </m:r>
                        </m:e>
                        <m:sub>
                          <m:sSub>
                            <m:sSubPr>
                              <m:ctrlPr>
                                <a:rPr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latin typeface="Cambria Math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2800">
                                  <a:latin typeface="Cambria Math"/>
                                </a:rPr>
                                <m:t>train</m:t>
                              </m:r>
                            </m:sub>
                          </m:sSub>
                        </m:sub>
                      </m:sSub>
                      <m:r>
                        <a:rPr sz="2800">
                          <a:latin typeface="Cambria Math"/>
                        </a:rPr>
                        <m:t>[</m:t>
                      </m:r>
                      <m:r>
                        <a:rPr sz="2800">
                          <a:latin typeface="Cambria Math"/>
                        </a:rPr>
                        <m:t>𝐿</m:t>
                      </m:r>
                      <m:r>
                        <a:rPr sz="2800">
                          <a:latin typeface="Cambria Math"/>
                        </a:rPr>
                        <m:t>(</m:t>
                      </m:r>
                      <m:r>
                        <a:rPr sz="2800">
                          <a:latin typeface="Cambria Math"/>
                        </a:rPr>
                        <m:t>𝑎</m:t>
                      </m:r>
                      <m:r>
                        <a:rPr sz="2800">
                          <a:latin typeface="Cambria Math"/>
                        </a:rPr>
                        <m:t>,</m:t>
                      </m:r>
                      <m:r>
                        <a:rPr sz="2800">
                          <a:latin typeface="Cambria Math"/>
                        </a:rPr>
                        <m:t>𝜃</m:t>
                      </m:r>
                      <m:r>
                        <a:rPr sz="2800">
                          <a:latin typeface="Cambria Math"/>
                        </a:rPr>
                        <m:t>)∣</m:t>
                      </m:r>
                      <m:r>
                        <a:rPr sz="2800">
                          <a:latin typeface="Cambria Math"/>
                        </a:rPr>
                        <m:t>𝑧</m:t>
                      </m:r>
                      <m:r>
                        <a:rPr sz="2800">
                          <a:latin typeface="Cambria Math"/>
                        </a:rPr>
                        <m:t>].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content-weibull20260906s16-5">
                <a:extLst>
                  <a:ext uri="{FF2B5EF4-FFF2-40B4-BE49-F238E27FC236}">
                    <a16:creationId xmlns:a16="http://schemas.microsoft.com/office/drawing/2014/main" id="{219E1CB4-CA7A-44B5-B789-97D66222F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000250"/>
                <a:ext cx="10668000" cy="904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-weibull20260906s16-6">
            <a:extLst>
              <a:ext uri="{FF2B5EF4-FFF2-40B4-BE49-F238E27FC236}">
                <a16:creationId xmlns:a16="http://schemas.microsoft.com/office/drawing/2014/main" id="{05946B49-E45E-48E1-ADEB-3DF3E3EEC4AD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11049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相似小样本可与多组参数相容</a:t>
            </a:r>
          </a:p>
        </p:txBody>
      </p:sp>
      <p:sp>
        <p:nvSpPr>
          <p:cNvPr id="10" name="content-weibull20260906s16-7">
            <a:extLst>
              <a:ext uri="{FF2B5EF4-FFF2-40B4-BE49-F238E27FC236}">
                <a16:creationId xmlns:a16="http://schemas.microsoft.com/office/drawing/2014/main" id="{845DD6E1-DAEF-4034-8CAE-993C87629E95}"/>
              </a:ext>
            </a:extLst>
          </p:cNvPr>
          <p:cNvSpPr>
            <a:spLocks noGrp="1"/>
          </p:cNvSpPr>
          <p:nvPr/>
        </p:nvSpPr>
        <p:spPr>
          <a:xfrm>
            <a:off x="552450" y="4076700"/>
            <a:ext cx="11049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训练分布改变这些参数的条件权重</a:t>
            </a:r>
          </a:p>
        </p:txBody>
      </p:sp>
      <p:sp>
        <p:nvSpPr>
          <p:cNvPr id="11" name="content-weibull20260906s16-8">
            <a:extLst>
              <a:ext uri="{FF2B5EF4-FFF2-40B4-BE49-F238E27FC236}">
                <a16:creationId xmlns:a16="http://schemas.microsoft.com/office/drawing/2014/main" id="{750863D8-3DE9-41C1-9750-3151D97ECAED}"/>
              </a:ext>
            </a:extLst>
          </p:cNvPr>
          <p:cNvSpPr>
            <a:spLocks noGrp="1"/>
          </p:cNvSpPr>
          <p:nvPr/>
        </p:nvSpPr>
        <p:spPr>
          <a:xfrm>
            <a:off x="552450" y="4914900"/>
            <a:ext cx="11049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观察到的差距还混合模型逼近、优化和验证选点影响</a:t>
            </a:r>
          </a:p>
        </p:txBody>
      </p:sp>
      <p:sp>
        <p:nvSpPr>
          <p:cNvPr id="12" name="content-weibull20260906s16-9">
            <a:extLst>
              <a:ext uri="{FF2B5EF4-FFF2-40B4-BE49-F238E27FC236}">
                <a16:creationId xmlns:a16="http://schemas.microsoft.com/office/drawing/2014/main" id="{C0935DCE-479F-42FB-ACB5-45913C172829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目前没有分离各项贡献，不能认定全部代价都不可消除</a:t>
            </a:r>
          </a:p>
        </p:txBody>
      </p:sp>
    </p:spTree>
    <p:extLst>
      <p:ext uri="{BB962C8B-B14F-4D97-AF65-F5344CB8AC3E}">
        <p14:creationId xmlns:p14="http://schemas.microsoft.com/office/powerpoint/2010/main" val="199330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参数收益与寿命点收益不按同一比例变化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7-4">
            <a:extLst>
              <a:ext uri="{FF2B5EF4-FFF2-40B4-BE49-F238E27FC236}">
                <a16:creationId xmlns:a16="http://schemas.microsoft.com/office/drawing/2014/main" id="{05564520-8A90-4F19-9556-715D9242A1B6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17 / 32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86375" y="2174031"/>
            <a:ext cx="6334125" cy="2605188"/>
          </a:xfrm>
          <a:prstGeom prst="rect">
            <a:avLst/>
          </a:prstGeom>
        </p:spPr>
      </p:pic>
      <p:graphicFrame>
        <p:nvGraphicFramePr>
          <p:cNvPr id="17" name="表格 16"/>
          <p:cNvGraphicFramePr/>
          <p:nvPr/>
        </p:nvGraphicFramePr>
        <p:xfrm>
          <a:off x="571500" y="2571750"/>
          <a:ext cx="4619625" cy="1952625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域内位置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参数降幅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294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降幅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未训练点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content-weibull20260906s17-5">
            <a:extLst>
              <a:ext uri="{FF2B5EF4-FFF2-40B4-BE49-F238E27FC236}">
                <a16:creationId xmlns:a16="http://schemas.microsoft.com/office/drawing/2014/main" id="{65D517CE-4E2C-49D8-8D99-2037DCB93878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同中心扩宽时，三个寿命点的变化方向也不一致，参数与寿命点精度需分别评价</a:t>
            </a:r>
          </a:p>
        </p:txBody>
      </p:sp>
    </p:spTree>
    <p:extLst>
      <p:ext uri="{BB962C8B-B14F-4D97-AF65-F5344CB8AC3E}">
        <p14:creationId xmlns:p14="http://schemas.microsoft.com/office/powerpoint/2010/main" val="1973358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参数误差方向与寿命点补偿线索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8-4">
            <a:extLst>
              <a:ext uri="{FF2B5EF4-FFF2-40B4-BE49-F238E27FC236}">
                <a16:creationId xmlns:a16="http://schemas.microsoft.com/office/drawing/2014/main" id="{CF18E061-BC84-4D9C-B170-013DA42E9D2D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18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0642" y="1714500"/>
            <a:ext cx="8790717" cy="3810000"/>
          </a:xfrm>
          <a:prstGeom prst="rect">
            <a:avLst/>
          </a:prstGeom>
        </p:spPr>
      </p:pic>
      <p:sp>
        <p:nvSpPr>
          <p:cNvPr id="9" name="content-weibull20260906s18-5">
            <a:extLst>
              <a:ext uri="{FF2B5EF4-FFF2-40B4-BE49-F238E27FC236}">
                <a16:creationId xmlns:a16="http://schemas.microsoft.com/office/drawing/2014/main" id="{55EB81CC-638A-438D-8DB6-55DAD4A025AE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大形状区常见形状、尺度偏低而位置偏高；图 A、B 为模拟统计，图 C 为局部解析诊断</a:t>
            </a:r>
          </a:p>
        </p:txBody>
      </p:sp>
    </p:spTree>
    <p:extLst>
      <p:ext uri="{BB962C8B-B14F-4D97-AF65-F5344CB8AC3E}">
        <p14:creationId xmlns:p14="http://schemas.microsoft.com/office/powerpoint/2010/main" val="1435343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尺度等变与训练域风险是不同问题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9-4">
            <a:extLst>
              <a:ext uri="{FF2B5EF4-FFF2-40B4-BE49-F238E27FC236}">
                <a16:creationId xmlns:a16="http://schemas.microsoft.com/office/drawing/2014/main" id="{4C079513-FB70-4AE1-8821-2CF5EF5E1FEC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19 / 32</a:t>
            </a:r>
          </a:p>
        </p:txBody>
      </p:sp>
      <p:sp>
        <p:nvSpPr>
          <p:cNvPr id="8" name="content-weibull20260906s19-5">
            <a:extLst>
              <a:ext uri="{FF2B5EF4-FFF2-40B4-BE49-F238E27FC236}">
                <a16:creationId xmlns:a16="http://schemas.microsoft.com/office/drawing/2014/main" id="{FE3712CB-D79C-4F58-9C4D-5CBE5BE90AAF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10490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同比例尺度变化：η = 1 至 10⁶，成对审计 J₁ = 0.4705367 不变</a:t>
            </a:r>
          </a:p>
        </p:txBody>
      </p:sp>
      <p:sp>
        <p:nvSpPr>
          <p:cNvPr id="9" name="content-weibull20260906s19-6">
            <a:extLst>
              <a:ext uri="{FF2B5EF4-FFF2-40B4-BE49-F238E27FC236}">
                <a16:creationId xmlns:a16="http://schemas.microsoft.com/office/drawing/2014/main" id="{A8F86814-2FC2-4AF7-AE01-91845B381A74}"/>
              </a:ext>
            </a:extLst>
          </p:cNvPr>
          <p:cNvSpPr>
            <a:spLocks noGrp="1"/>
          </p:cNvSpPr>
          <p:nvPr/>
        </p:nvSpPr>
        <p:spPr>
          <a:xfrm>
            <a:off x="552450" y="3114675"/>
            <a:ext cx="110490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已见网格中，n = 7 至 20，相对优势由 41.3% 收窄至 28.3%</a:t>
            </a:r>
          </a:p>
        </p:txBody>
      </p:sp>
      <p:sp>
        <p:nvSpPr>
          <p:cNvPr id="10" name="content-weibull20260906s19-7">
            <a:extLst>
              <a:ext uri="{FF2B5EF4-FFF2-40B4-BE49-F238E27FC236}">
                <a16:creationId xmlns:a16="http://schemas.microsoft.com/office/drawing/2014/main" id="{D6DE2710-3333-440B-9B13-F5C2D2384FAF}"/>
              </a:ext>
            </a:extLst>
          </p:cNvPr>
          <p:cNvSpPr>
            <a:spLocks noGrp="1"/>
          </p:cNvSpPr>
          <p:nvPr/>
        </p:nvSpPr>
        <p:spPr>
          <a:xfrm>
            <a:off x="552450" y="4133850"/>
            <a:ext cx="110490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形状、位置尺度比和数据机制变化，仍需各自的风险验证</a:t>
            </a:r>
          </a:p>
        </p:txBody>
      </p:sp>
      <p:sp>
        <p:nvSpPr>
          <p:cNvPr id="11" name="content-weibull20260906s19-8">
            <a:extLst>
              <a:ext uri="{FF2B5EF4-FFF2-40B4-BE49-F238E27FC236}">
                <a16:creationId xmlns:a16="http://schemas.microsoft.com/office/drawing/2014/main" id="{2FCC182D-A725-4234-8960-C956D7B37B18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目前尚未验证区间覆盖、真实数据或自动方法切换规则</a:t>
            </a:r>
          </a:p>
        </p:txBody>
      </p:sp>
    </p:spTree>
    <p:extLst>
      <p:ext uri="{BB962C8B-B14F-4D97-AF65-F5344CB8AC3E}">
        <p14:creationId xmlns:p14="http://schemas.microsoft.com/office/powerpoint/2010/main" val="109580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Research04：直接神经估计的条件优势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20-4">
            <a:extLst>
              <a:ext uri="{FF2B5EF4-FFF2-40B4-BE49-F238E27FC236}">
                <a16:creationId xmlns:a16="http://schemas.microsoft.com/office/drawing/2014/main" id="{4024B700-8832-41B8-98A2-EF1343B621B2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20 / 32</a:t>
            </a:r>
          </a:p>
        </p:txBody>
      </p:sp>
      <p:sp>
        <p:nvSpPr>
          <p:cNvPr id="8" name="content-weibull20260906s20-5">
            <a:extLst>
              <a:ext uri="{FF2B5EF4-FFF2-40B4-BE49-F238E27FC236}">
                <a16:creationId xmlns:a16="http://schemas.microsoft.com/office/drawing/2014/main" id="{955FF38B-6060-4B5C-A382-0C3BB17BE5B3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当前域内点估计中，Direct-P 更准确</a:t>
            </a:r>
          </a:p>
        </p:txBody>
      </p:sp>
      <p:sp>
        <p:nvSpPr>
          <p:cNvPr id="9" name="content-weibull20260906s20-6">
            <a:extLst>
              <a:ext uri="{FF2B5EF4-FFF2-40B4-BE49-F238E27FC236}">
                <a16:creationId xmlns:a16="http://schemas.microsoft.com/office/drawing/2014/main" id="{BBA12EB9-56B7-413E-A9BA-03245A08BDAF}"/>
              </a:ext>
            </a:extLst>
          </p:cNvPr>
          <p:cNvSpPr>
            <a:spLocks noGrp="1"/>
          </p:cNvSpPr>
          <p:nvPr/>
        </p:nvSpPr>
        <p:spPr>
          <a:xfrm>
            <a:off x="552450" y="28289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外推方向与训练覆盖影响其风险</a:t>
            </a:r>
          </a:p>
        </p:txBody>
      </p:sp>
      <p:sp>
        <p:nvSpPr>
          <p:cNvPr id="10" name="content-weibull20260906s20-7">
            <a:extLst>
              <a:ext uri="{FF2B5EF4-FFF2-40B4-BE49-F238E27FC236}">
                <a16:creationId xmlns:a16="http://schemas.microsoft.com/office/drawing/2014/main" id="{78DFDC93-2E8E-443C-BFAB-AAFB2B7A0553}"/>
              </a:ext>
            </a:extLst>
          </p:cNvPr>
          <p:cNvSpPr>
            <a:spLocks noGrp="1"/>
          </p:cNvSpPr>
          <p:nvPr/>
        </p:nvSpPr>
        <p:spPr>
          <a:xfrm>
            <a:off x="552450" y="37052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参数精度收益并不等比例传递到寿命点</a:t>
            </a:r>
          </a:p>
        </p:txBody>
      </p:sp>
      <p:sp>
        <p:nvSpPr>
          <p:cNvPr id="11" name="content-weibull20260906s20-8">
            <a:extLst>
              <a:ext uri="{FF2B5EF4-FFF2-40B4-BE49-F238E27FC236}">
                <a16:creationId xmlns:a16="http://schemas.microsoft.com/office/drawing/2014/main" id="{AF4E1216-AC20-4287-A763-384385EF9714}"/>
              </a:ext>
            </a:extLst>
          </p:cNvPr>
          <p:cNvSpPr>
            <a:spLocks noGrp="1"/>
          </p:cNvSpPr>
          <p:nvPr/>
        </p:nvSpPr>
        <p:spPr>
          <a:xfrm>
            <a:off x="619125" y="5238750"/>
            <a:ext cx="109061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下一问：直接用最终关心的寿命点训练，会得到什么收益与代价？</a:t>
            </a:r>
          </a:p>
        </p:txBody>
      </p:sp>
    </p:spTree>
    <p:extLst>
      <p:ext uri="{BB962C8B-B14F-4D97-AF65-F5344CB8AC3E}">
        <p14:creationId xmlns:p14="http://schemas.microsoft.com/office/powerpoint/2010/main" val="537604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寿命点任务与参数恢复目标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1-4">
            <a:extLst>
              <a:ext uri="{FF2B5EF4-FFF2-40B4-BE49-F238E27FC236}">
                <a16:creationId xmlns:a16="http://schemas.microsoft.com/office/drawing/2014/main" id="{DCFE7F60-CD51-4AEC-B237-56385E830209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21 /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weibull20260906s21-5">
                <a:extLst>
                  <a:ext uri="{FF2B5EF4-FFF2-40B4-BE49-F238E27FC236}">
                    <a16:creationId xmlns:a16="http://schemas.microsoft.com/office/drawing/2014/main" id="{E37B044D-F44A-4B5D-B250-9163D4166C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6750" y="1809750"/>
                <a:ext cx="10858500" cy="809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7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7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2700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sz="2700">
                          <a:latin typeface="Cambria Math"/>
                        </a:rPr>
                        <m:t>=</m:t>
                      </m:r>
                      <m:r>
                        <a:rPr sz="2700">
                          <a:latin typeface="Cambria Math"/>
                        </a:rPr>
                        <m:t>𝛾</m:t>
                      </m:r>
                      <m:r>
                        <a:rPr sz="2700">
                          <a:latin typeface="Cambria Math"/>
                        </a:rPr>
                        <m:t>+</m:t>
                      </m:r>
                      <m:r>
                        <a:rPr sz="2700">
                          <a:latin typeface="Cambria Math"/>
                        </a:rPr>
                        <m:t>𝜂</m:t>
                      </m:r>
                      <m:r>
                        <a:rPr sz="2700">
                          <a:latin typeface="Cambria Math"/>
                        </a:rPr>
                        <m:t>[−</m:t>
                      </m:r>
                      <m:r>
                        <m:rPr>
                          <m:sty m:val="p"/>
                        </m:rPr>
                        <a:rPr sz="2700">
                          <a:latin typeface="Cambria Math"/>
                        </a:rPr>
                        <m:t>ln</m:t>
                      </m:r>
                      <m:r>
                        <a:rPr sz="2700">
                          <a:latin typeface="Cambria Math"/>
                        </a:rPr>
                        <m:t>𝑅</m:t>
                      </m:r>
                      <m:sSup>
                        <m:sSupPr>
                          <m:ctrlPr>
                            <a:rPr sz="2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700">
                              <a:latin typeface="Cambria Math"/>
                            </a:rPr>
                            <m:t>]</m:t>
                          </m:r>
                        </m:e>
                        <m:sup>
                          <m:r>
                            <a:rPr sz="2700">
                              <a:latin typeface="Cambria Math"/>
                            </a:rPr>
                            <m:t>1/</m:t>
                          </m:r>
                          <m:r>
                            <a:rPr sz="2700">
                              <a:latin typeface="Cambria Math"/>
                            </a:rPr>
                            <m:t>𝛽</m:t>
                          </m:r>
                        </m:sup>
                      </m:sSup>
                      <m:r>
                        <a:rPr sz="2700">
                          <a:latin typeface="Cambria Math"/>
                        </a:rPr>
                        <m:t>,  </m:t>
                      </m:r>
                      <m:r>
                        <a:rPr sz="2700">
                          <a:latin typeface="Cambria Math"/>
                        </a:rPr>
                        <m:t>𝑃</m:t>
                      </m:r>
                      <m:r>
                        <a:rPr sz="2700">
                          <a:latin typeface="Cambria Math"/>
                        </a:rPr>
                        <m:t>(</m:t>
                      </m:r>
                      <m:r>
                        <a:rPr sz="2700">
                          <a:latin typeface="Cambria Math"/>
                        </a:rPr>
                        <m:t>𝑇</m:t>
                      </m:r>
                      <m:r>
                        <a:rPr sz="2700"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sz="2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2700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sz="2700">
                          <a:latin typeface="Cambria Math"/>
                        </a:rPr>
                        <m:t>)=</m:t>
                      </m:r>
                      <m:r>
                        <a:rPr sz="2700">
                          <a:latin typeface="Cambria Math"/>
                        </a:rPr>
                        <m:t>𝑅</m:t>
                      </m:r>
                      <m:r>
                        <a:rPr sz="270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content-weibull20260906s21-5">
                <a:extLst>
                  <a:ext uri="{FF2B5EF4-FFF2-40B4-BE49-F238E27FC236}">
                    <a16:creationId xmlns:a16="http://schemas.microsoft.com/office/drawing/2014/main" id="{E37B044D-F44A-4B5D-B250-9163D4166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809750"/>
                <a:ext cx="10858500" cy="809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-weibull20260906s21-6">
            <a:extLst>
              <a:ext uri="{FF2B5EF4-FFF2-40B4-BE49-F238E27FC236}">
                <a16:creationId xmlns:a16="http://schemas.microsoft.com/office/drawing/2014/main" id="{91ED6AD1-4881-4D85-9C80-A7FAAF14732C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P：三个标准化参数误差的平方和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-weibull20260906s21-7">
                <a:extLst>
                  <a:ext uri="{FF2B5EF4-FFF2-40B4-BE49-F238E27FC236}">
                    <a16:creationId xmlns:a16="http://schemas.microsoft.com/office/drawing/2014/main" id="{C54A5CB9-ACB9-4913-9416-E6418AB9AA9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6750" y="3276600"/>
                <a:ext cx="10858500" cy="857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1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100">
                              <a:latin typeface="Cambria Math"/>
                            </a:rPr>
                            <m:t>𝑃</m:t>
                          </m:r>
                        </m:sub>
                      </m:sSub>
                      <m:r>
                        <a:rPr sz="210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sz="2100">
                          <a:latin typeface="Cambria Math"/>
                        </a:rPr>
                        <m:t>mean</m:t>
                      </m:r>
                      <m:d>
                        <m:dPr>
                          <m:begChr m:val="["/>
                          <m:endChr m:val="]"/>
                          <m:ctrlPr>
                            <a:rPr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̂"/>
                                          <m:ctrlPr>
                                            <a:rPr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sz="2100">
                                              <a:latin typeface="Cambria Math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  <m:r>
                                        <a:rPr sz="210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sz="2100">
                                          <a:latin typeface="Cambria Math"/>
                                        </a:rPr>
                                        <m:t>𝛽</m:t>
                                      </m:r>
                                    </m:num>
                                    <m:den>
                                      <m:r>
                                        <a:rPr sz="2100">
                                          <a:latin typeface="Cambria Math"/>
                                        </a:rPr>
                                        <m:t>𝛽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sz="21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210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̂"/>
                                          <m:ctrlPr>
                                            <a:rPr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sz="2100">
                                              <a:latin typeface="Cambria Math"/>
                                            </a:rPr>
                                            <m:t>𝜂</m:t>
                                          </m:r>
                                        </m:e>
                                      </m:acc>
                                      <m:r>
                                        <a:rPr sz="210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sz="2100">
                                          <a:latin typeface="Cambria Math"/>
                                        </a:rPr>
                                        <m:t>𝜂</m:t>
                                      </m:r>
                                    </m:num>
                                    <m:den>
                                      <m:r>
                                        <a:rPr sz="2100">
                                          <a:latin typeface="Cambria Math"/>
                                        </a:rPr>
                                        <m:t>𝜂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sz="21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210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̂"/>
                                          <m:ctrlPr>
                                            <a:rPr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sz="210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</m:acc>
                                      <m:r>
                                        <a:rPr sz="210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sz="2100">
                                          <a:latin typeface="Cambria Math"/>
                                        </a:rPr>
                                        <m:t>𝛾</m:t>
                                      </m:r>
                                    </m:num>
                                    <m:den>
                                      <m:r>
                                        <a:rPr sz="2100">
                                          <a:latin typeface="Cambria Math"/>
                                        </a:rPr>
                                        <m:t>𝜂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sz="21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sz="210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content-weibull20260906s21-7">
                <a:extLst>
                  <a:ext uri="{FF2B5EF4-FFF2-40B4-BE49-F238E27FC236}">
                    <a16:creationId xmlns:a16="http://schemas.microsoft.com/office/drawing/2014/main" id="{C54A5CB9-ACB9-4913-9416-E6418AB9A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276600"/>
                <a:ext cx="10858500" cy="857250"/>
              </a:xfrm>
              <a:prstGeom prst="rect">
                <a:avLst/>
              </a:prstGeom>
              <a:blipFill>
                <a:blip r:embed="rId4"/>
                <a:stretch>
                  <a:fillRect b="-142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-weibull20260906s21-8">
            <a:extLst>
              <a:ext uri="{FF2B5EF4-FFF2-40B4-BE49-F238E27FC236}">
                <a16:creationId xmlns:a16="http://schemas.microsoft.com/office/drawing/2014/main" id="{B32D210D-EAA4-40FB-B993-146D04ABE73F}"/>
              </a:ext>
            </a:extLst>
          </p:cNvPr>
          <p:cNvSpPr>
            <a:spLocks noGrp="1"/>
          </p:cNvSpPr>
          <p:nvPr/>
        </p:nvSpPr>
        <p:spPr>
          <a:xfrm>
            <a:off x="666750" y="43529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Q：同一组三参数产生的目标寿命点误差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-weibull20260906s21-9">
                <a:extLst>
                  <a:ext uri="{FF2B5EF4-FFF2-40B4-BE49-F238E27FC236}">
                    <a16:creationId xmlns:a16="http://schemas.microsoft.com/office/drawing/2014/main" id="{41463446-2690-4FF8-B95C-40EA34D054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6750" y="5000625"/>
                <a:ext cx="10858500" cy="790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200">
                              <a:latin typeface="Cambria Math"/>
                            </a:rPr>
                            <m:t>𝑄</m:t>
                          </m:r>
                        </m:sub>
                      </m:sSub>
                      <m:r>
                        <a:rPr sz="220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sz="2200">
                          <a:latin typeface="Cambria Math"/>
                        </a:rPr>
                        <m:t>mean</m:t>
                      </m:r>
                      <m:d>
                        <m:dPr>
                          <m:begChr m:val="["/>
                          <m:endChr m:val="]"/>
                          <m:ctrlPr>
                            <a:rPr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sz="2200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0.95</m:t>
                                          </m:r>
                                        </m:sub>
                                      </m:sSub>
                                      <m:r>
                                        <a:rPr sz="220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0.95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0.95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sz="22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sz="220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content-weibull20260906s21-9">
                <a:extLst>
                  <a:ext uri="{FF2B5EF4-FFF2-40B4-BE49-F238E27FC236}">
                    <a16:creationId xmlns:a16="http://schemas.microsoft.com/office/drawing/2014/main" id="{41463446-2690-4FF8-B95C-40EA34D05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5000625"/>
                <a:ext cx="10858500" cy="790575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-weibull20260906s21-10">
            <a:extLst>
              <a:ext uri="{FF2B5EF4-FFF2-40B4-BE49-F238E27FC236}">
                <a16:creationId xmlns:a16="http://schemas.microsoft.com/office/drawing/2014/main" id="{E1F5251C-AB18-4F90-82A6-383517EEB980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可靠度寿命点对应失效分布的 5% 分位点，与 95% 置信下限不同</a:t>
            </a:r>
          </a:p>
        </p:txBody>
      </p:sp>
    </p:spTree>
    <p:extLst>
      <p:ext uri="{BB962C8B-B14F-4D97-AF65-F5344CB8AC3E}">
        <p14:creationId xmlns:p14="http://schemas.microsoft.com/office/powerpoint/2010/main" val="2021977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共同数据与网络上的训练及验证流程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2-4">
            <a:extLst>
              <a:ext uri="{FF2B5EF4-FFF2-40B4-BE49-F238E27FC236}">
                <a16:creationId xmlns:a16="http://schemas.microsoft.com/office/drawing/2014/main" id="{725DA54E-2FFB-4595-A7D7-991FD5930ED6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22 / 32</a:t>
            </a:r>
          </a:p>
        </p:txBody>
      </p:sp>
      <p:sp>
        <p:nvSpPr>
          <p:cNvPr id="9" name="content-weibull20260906s22-5">
            <a:extLst>
              <a:ext uri="{FF2B5EF4-FFF2-40B4-BE49-F238E27FC236}">
                <a16:creationId xmlns:a16="http://schemas.microsoft.com/office/drawing/2014/main" id="{041810EA-E96E-4644-B3A7-B0CFEBCB765D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160 单元、48,000 组样本</a:t>
            </a:r>
          </a:p>
        </p:txBody>
      </p:sp>
      <p:sp>
        <p:nvSpPr>
          <p:cNvPr id="10" name="content-weibull20260906s22-6">
            <a:extLst>
              <a:ext uri="{FF2B5EF4-FFF2-40B4-BE49-F238E27FC236}">
                <a16:creationId xmlns:a16="http://schemas.microsoft.com/office/drawing/2014/main" id="{1DB82CCC-474F-4815-8668-798317BAE813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 η = 1000</a:t>
            </a:r>
          </a:p>
        </p:txBody>
      </p:sp>
      <p:sp>
        <p:nvSpPr>
          <p:cNvPr id="11" name="content-weibull20260906s22-7">
            <a:extLst>
              <a:ext uri="{FF2B5EF4-FFF2-40B4-BE49-F238E27FC236}">
                <a16:creationId xmlns:a16="http://schemas.microsoft.com/office/drawing/2014/main" id="{638775EC-B1C1-41BB-998A-73BD2A21D90D}"/>
              </a:ext>
            </a:extLst>
          </p:cNvPr>
          <p:cNvSpPr>
            <a:spLocks noGrp="1"/>
          </p:cNvSpPr>
          <p:nvPr/>
        </p:nvSpPr>
        <p:spPr>
          <a:xfrm>
            <a:off x="552450" y="3419475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每路线 200 个模型单元</a:t>
            </a:r>
          </a:p>
        </p:txBody>
      </p:sp>
      <p:sp>
        <p:nvSpPr>
          <p:cNvPr id="12" name="content-weibull20260906s22-8">
            <a:extLst>
              <a:ext uri="{FF2B5EF4-FFF2-40B4-BE49-F238E27FC236}">
                <a16:creationId xmlns:a16="http://schemas.microsoft.com/office/drawing/2014/main" id="{8BCF988B-0C49-4D4E-9DD4-84AF624140ED}"/>
              </a:ext>
            </a:extLst>
          </p:cNvPr>
          <p:cNvSpPr>
            <a:spLocks noGrp="1"/>
          </p:cNvSpPr>
          <p:nvPr/>
        </p:nvSpPr>
        <p:spPr>
          <a:xfrm>
            <a:off x="552450" y="4152900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配对共享划分与初始化</a:t>
            </a:r>
          </a:p>
        </p:txBody>
      </p:sp>
      <p:sp>
        <p:nvSpPr>
          <p:cNvPr id="13" name="content-weibull20260906s22-9">
            <a:extLst>
              <a:ext uri="{FF2B5EF4-FFF2-40B4-BE49-F238E27FC236}">
                <a16:creationId xmlns:a16="http://schemas.microsoft.com/office/drawing/2014/main" id="{499E1638-3BC1-4196-87B3-167B94FD02B2}"/>
              </a:ext>
            </a:extLst>
          </p:cNvPr>
          <p:cNvSpPr>
            <a:spLocks noGrp="1"/>
          </p:cNvSpPr>
          <p:nvPr/>
        </p:nvSpPr>
        <p:spPr>
          <a:xfrm>
            <a:off x="552450" y="4886325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按 P 验证，Q 按 Q 验证</a:t>
            </a:r>
          </a:p>
        </p:txBody>
      </p:sp>
      <p:sp>
        <p:nvSpPr>
          <p:cNvPr id="14" name="content-weibull20260906s22-10">
            <a:extLst>
              <a:ext uri="{FF2B5EF4-FFF2-40B4-BE49-F238E27FC236}">
                <a16:creationId xmlns:a16="http://schemas.microsoft.com/office/drawing/2014/main" id="{5B95820B-DA01-403E-A547-B45778053277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480,000 条预测来自 48,000 组样本在 10 个种子下的重复预测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54178" y="1714500"/>
            <a:ext cx="5236517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2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直接对齐目标点带来小幅总体收益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3-4">
            <a:extLst>
              <a:ext uri="{FF2B5EF4-FFF2-40B4-BE49-F238E27FC236}">
                <a16:creationId xmlns:a16="http://schemas.microsoft.com/office/drawing/2014/main" id="{9C2446B4-97B3-4394-A37E-CB181C5EC8BE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23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1238250" y="2000250"/>
          <a:ext cx="9715500" cy="2047875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路线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800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P：参数导向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Q：目标点导向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ontent-weibull20260906s23-5">
            <a:extLst>
              <a:ext uri="{FF2B5EF4-FFF2-40B4-BE49-F238E27FC236}">
                <a16:creationId xmlns:a16="http://schemas.microsoft.com/office/drawing/2014/main" id="{B311DBE7-8C5F-4A13-91EB-43BB13C03B91}"/>
              </a:ext>
            </a:extLst>
          </p:cNvPr>
          <p:cNvSpPr>
            <a:spLocks noGrp="1"/>
          </p:cNvSpPr>
          <p:nvPr/>
        </p:nvSpPr>
        <p:spPr>
          <a:xfrm>
            <a:off x="1238250" y="4524375"/>
            <a:ext cx="9715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相对改善 2.07%</a:t>
            </a:r>
          </a:p>
        </p:txBody>
      </p:sp>
      <p:sp>
        <p:nvSpPr>
          <p:cNvPr id="10" name="content-weibull20260906s23-6">
            <a:extLst>
              <a:ext uri="{FF2B5EF4-FFF2-40B4-BE49-F238E27FC236}">
                <a16:creationId xmlns:a16="http://schemas.microsoft.com/office/drawing/2014/main" id="{8187537B-B158-4862-8E5F-947DC1799471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经验 bootstrap 区间为 1.28%～2.81%，对应目标点的总体平方风险</a:t>
            </a:r>
          </a:p>
        </p:txBody>
      </p:sp>
    </p:spTree>
    <p:extLst>
      <p:ext uri="{BB962C8B-B14F-4D97-AF65-F5344CB8AC3E}">
        <p14:creationId xmlns:p14="http://schemas.microsoft.com/office/powerpoint/2010/main" val="2103708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单点监督允许较大参数误差相互抵消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4-4">
            <a:extLst>
              <a:ext uri="{FF2B5EF4-FFF2-40B4-BE49-F238E27FC236}">
                <a16:creationId xmlns:a16="http://schemas.microsoft.com/office/drawing/2014/main" id="{A89F9B1A-EFE7-4DA7-9FB3-4EF7F24E7F69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24 / 32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27000" y="1666875"/>
            <a:ext cx="3871749" cy="4095750"/>
          </a:xfrm>
          <a:prstGeom prst="rect">
            <a:avLst/>
          </a:prstGeom>
        </p:spPr>
      </p:pic>
      <p:sp>
        <p:nvSpPr>
          <p:cNvPr id="9" name="content-weibull20260906s24-5">
            <a:extLst>
              <a:ext uri="{FF2B5EF4-FFF2-40B4-BE49-F238E27FC236}">
                <a16:creationId xmlns:a16="http://schemas.microsoft.com/office/drawing/2014/main" id="{027B0B79-0721-43B4-BA92-1B552327F609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单点提供标量监督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-weibull20260906s24-6">
                <a:extLst>
                  <a:ext uri="{FF2B5EF4-FFF2-40B4-BE49-F238E27FC236}">
                    <a16:creationId xmlns:a16="http://schemas.microsoft.com/office/drawing/2014/main" id="{F847F6D5-5B59-4E20-AABD-165FE99A71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52450" y="2571750"/>
                <a:ext cx="3238500" cy="590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l">
                  <a:buNone/>
                  <a:defRPr sz="21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sz="2100">
                              <a:latin typeface="Cambria Math"/>
                            </a:rPr>
                            <m:t>𝑄</m:t>
                          </m:r>
                        </m:sub>
                      </m:sSub>
                      <m:r>
                        <a:rPr sz="2100">
                          <a:latin typeface="Cambria Math"/>
                        </a:rPr>
                        <m:t>(0)=2</m:t>
                      </m:r>
                      <m:sSub>
                        <m:sSubPr>
                          <m:ctrlPr>
                            <a:rPr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sz="2100">
                              <a:latin typeface="Cambria Math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10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sz="210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sz="2100">
                              <a:latin typeface="Cambria Math"/>
                            </a:rPr>
                            <m:t>𝖳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content-weibull20260906s24-6">
                <a:extLst>
                  <a:ext uri="{FF2B5EF4-FFF2-40B4-BE49-F238E27FC236}">
                    <a16:creationId xmlns:a16="http://schemas.microsoft.com/office/drawing/2014/main" id="{F847F6D5-5B59-4E20-AABD-165FE99A71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2571750"/>
                <a:ext cx="3238500" cy="590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-weibull20260906s24-7">
            <a:extLst>
              <a:ext uri="{FF2B5EF4-FFF2-40B4-BE49-F238E27FC236}">
                <a16:creationId xmlns:a16="http://schemas.microsoft.com/office/drawing/2014/main" id="{F5EA3515-EDDE-4BD3-A55B-18A52608F4DB}"/>
              </a:ext>
            </a:extLst>
          </p:cNvPr>
          <p:cNvSpPr>
            <a:spLocks noGrp="1"/>
          </p:cNvSpPr>
          <p:nvPr/>
        </p:nvSpPr>
        <p:spPr>
          <a:xfrm>
            <a:off x="552450" y="366712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平均参数损失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0.0539 → 71.7</a:t>
            </a:r>
          </a:p>
        </p:txBody>
      </p:sp>
      <p:sp>
        <p:nvSpPr>
          <p:cNvPr id="12" name="content-weibull20260906s24-8">
            <a:extLst>
              <a:ext uri="{FF2B5EF4-FFF2-40B4-BE49-F238E27FC236}">
                <a16:creationId xmlns:a16="http://schemas.microsoft.com/office/drawing/2014/main" id="{EFA45DB5-516D-44EF-9D5E-85362294112B}"/>
              </a:ext>
            </a:extLst>
          </p:cNvPr>
          <p:cNvSpPr>
            <a:spLocks noGrp="1"/>
          </p:cNvSpPr>
          <p:nvPr/>
        </p:nvSpPr>
        <p:spPr>
          <a:xfrm>
            <a:off x="552450" y="452437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补偿指数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0.332 → 0.915</a:t>
            </a:r>
          </a:p>
        </p:txBody>
      </p:sp>
      <p:sp>
        <p:nvSpPr>
          <p:cNvPr id="13" name="content-weibull20260906s24-9">
            <a:extLst>
              <a:ext uri="{FF2B5EF4-FFF2-40B4-BE49-F238E27FC236}">
                <a16:creationId xmlns:a16="http://schemas.microsoft.com/office/drawing/2014/main" id="{5702F87A-2958-47F2-A3D1-97420F971356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局部秩一描述输出误差空间的自由度，不是 Weibull 分布本身不可识别</a:t>
            </a:r>
          </a:p>
        </p:txBody>
      </p:sp>
    </p:spTree>
    <p:extLst>
      <p:ext uri="{BB962C8B-B14F-4D97-AF65-F5344CB8AC3E}">
        <p14:creationId xmlns:p14="http://schemas.microsoft.com/office/powerpoint/2010/main" val="1020518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目标点略好，另外两个寿命点明显变差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5-4">
            <a:extLst>
              <a:ext uri="{FF2B5EF4-FFF2-40B4-BE49-F238E27FC236}">
                <a16:creationId xmlns:a16="http://schemas.microsoft.com/office/drawing/2014/main" id="{AD874159-497F-4E34-8410-5E113D5E33B2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25 / 32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19125" y="2190750"/>
          <a:ext cx="10906125" cy="2667000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寿命点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相对 P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13.66%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18.63%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36.41%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误差降低 2.07%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21.96%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63.11%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25-5">
            <a:extLst>
              <a:ext uri="{FF2B5EF4-FFF2-40B4-BE49-F238E27FC236}">
                <a16:creationId xmlns:a16="http://schemas.microsoft.com/office/drawing/2014/main" id="{32B55F76-68C8-4346-A9F1-6788A6F8BAEF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同一组三参数产生的寿命点变化不同；参数还用于分布解释时，需要额外恢复要求</a:t>
            </a:r>
          </a:p>
        </p:txBody>
      </p:sp>
    </p:spTree>
    <p:extLst>
      <p:ext uri="{BB962C8B-B14F-4D97-AF65-F5344CB8AC3E}">
        <p14:creationId xmlns:p14="http://schemas.microsoft.com/office/powerpoint/2010/main" val="2025705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QCP 在参数可接受的范围内优化目标点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6-4">
            <a:extLst>
              <a:ext uri="{FF2B5EF4-FFF2-40B4-BE49-F238E27FC236}">
                <a16:creationId xmlns:a16="http://schemas.microsoft.com/office/drawing/2014/main" id="{EB64BDDF-3608-40B5-86EB-47F45F68C8DF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26 /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weibull20260906s26-5">
                <a:extLst>
                  <a:ext uri="{FF2B5EF4-FFF2-40B4-BE49-F238E27FC236}">
                    <a16:creationId xmlns:a16="http://schemas.microsoft.com/office/drawing/2014/main" id="{A22D44D3-C84A-40C5-AC2A-C86156B441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52625"/>
                <a:ext cx="11049000" cy="95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6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sz="26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sz="2600">
                              <a:latin typeface="Cambria Math"/>
                            </a:rPr>
                            <m:t>min</m:t>
                          </m:r>
                        </m:e>
                        <m:lim>
                          <m:r>
                            <a:rPr sz="2600">
                              <a:latin typeface="Cambria Math"/>
                            </a:rPr>
                            <m:t>𝜃</m:t>
                          </m:r>
                        </m:lim>
                      </m:limLow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𝑄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(</m:t>
                      </m:r>
                      <m:r>
                        <a:rPr sz="2600">
                          <a:latin typeface="Cambria Math"/>
                        </a:rPr>
                        <m:t>𝜃</m:t>
                      </m:r>
                      <m:r>
                        <a:rPr sz="2600">
                          <a:latin typeface="Cambria Math"/>
                        </a:rPr>
                        <m:t>) </m:t>
                      </m:r>
                      <m:r>
                        <m:rPr>
                          <m:sty m:val="p"/>
                        </m:rPr>
                        <a:rPr sz="2600">
                          <a:latin typeface="Cambria Math"/>
                        </a:rPr>
                        <m:t>s</m:t>
                      </m:r>
                      <m:r>
                        <a:rPr sz="2600">
                          <a:latin typeface="Cambria Math"/>
                        </a:rPr>
                        <m:t>.</m:t>
                      </m:r>
                      <m:r>
                        <m:rPr>
                          <m:sty m:val="p"/>
                        </m:rPr>
                        <a:rPr sz="2600">
                          <a:latin typeface="Cambria Math"/>
                        </a:rPr>
                        <m:t>t</m:t>
                      </m:r>
                      <m:r>
                        <a:rPr sz="2600">
                          <a:latin typeface="Cambria Math"/>
                        </a:rPr>
                        <m:t>. </m:t>
                      </m:r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𝑃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(</m:t>
                      </m:r>
                      <m:r>
                        <a:rPr sz="2600">
                          <a:latin typeface="Cambria Math"/>
                        </a:rPr>
                        <m:t>𝜃</m:t>
                      </m:r>
                      <m:r>
                        <a:rPr sz="2600">
                          <a:latin typeface="Cambria Math"/>
                        </a:rPr>
                        <m:t>)≤</m:t>
                      </m:r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,  </m:t>
                      </m:r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=1.5</m:t>
                      </m:r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𝑃</m:t>
                          </m:r>
                          <m:r>
                            <a:rPr sz="260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2600">
                              <a:latin typeface="Cambria Math"/>
                            </a:rPr>
                            <m:t>ref</m:t>
                          </m:r>
                          <m:r>
                            <a:rPr sz="2600">
                              <a:latin typeface="Cambria Math"/>
                            </a:rPr>
                            <m:t>,</m:t>
                          </m:r>
                          <m:r>
                            <a:rPr sz="260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content-weibull20260906s26-5">
                <a:extLst>
                  <a:ext uri="{FF2B5EF4-FFF2-40B4-BE49-F238E27FC236}">
                    <a16:creationId xmlns:a16="http://schemas.microsoft.com/office/drawing/2014/main" id="{A22D44D3-C84A-40C5-AC2A-C86156B44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52625"/>
                <a:ext cx="11049000" cy="952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-weibull20260906s26-6">
            <a:extLst>
              <a:ext uri="{FF2B5EF4-FFF2-40B4-BE49-F238E27FC236}">
                <a16:creationId xmlns:a16="http://schemas.microsoft.com/office/drawing/2014/main" id="{7134C6A9-24C2-4F2C-9EF6-9E4F7B59FF33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阈值来自匹配的早期 P 参考模型</a:t>
            </a:r>
          </a:p>
        </p:txBody>
      </p:sp>
      <p:sp>
        <p:nvSpPr>
          <p:cNvPr id="10" name="content-weibull20260906s26-7">
            <a:extLst>
              <a:ext uri="{FF2B5EF4-FFF2-40B4-BE49-F238E27FC236}">
                <a16:creationId xmlns:a16="http://schemas.microsoft.com/office/drawing/2014/main" id="{A76E5FCB-4388-4B0E-9FBC-7A5C7581BF7B}"/>
              </a:ext>
            </a:extLst>
          </p:cNvPr>
          <p:cNvSpPr>
            <a:spLocks noGrp="1"/>
          </p:cNvSpPr>
          <p:nvPr/>
        </p:nvSpPr>
        <p:spPr>
          <a:xfrm>
            <a:off x="552450" y="3952875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训练中加入参数约束惩罚</a:t>
            </a:r>
          </a:p>
        </p:txBody>
      </p:sp>
      <p:sp>
        <p:nvSpPr>
          <p:cNvPr id="11" name="content-weibull20260906s26-8">
            <a:extLst>
              <a:ext uri="{FF2B5EF4-FFF2-40B4-BE49-F238E27FC236}">
                <a16:creationId xmlns:a16="http://schemas.microsoft.com/office/drawing/2014/main" id="{3EF8805C-6ED4-44F3-A23A-087ACF16D130}"/>
              </a:ext>
            </a:extLst>
          </p:cNvPr>
          <p:cNvSpPr>
            <a:spLocks noGrp="1"/>
          </p:cNvSpPr>
          <p:nvPr/>
        </p:nvSpPr>
        <p:spPr>
          <a:xfrm>
            <a:off x="552450" y="4762500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验证先检查平均参数损失，再在可行轮次中选目标误差最低者</a:t>
            </a:r>
          </a:p>
        </p:txBody>
      </p:sp>
      <p:sp>
        <p:nvSpPr>
          <p:cNvPr id="12" name="content-weibull20260906s26-9">
            <a:extLst>
              <a:ext uri="{FF2B5EF4-FFF2-40B4-BE49-F238E27FC236}">
                <a16:creationId xmlns:a16="http://schemas.microsoft.com/office/drawing/2014/main" id="{08F4C381-50A1-4504-BDA6-F0369FD120FB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200 / 200 个选定模型满足验证集平均约束，不代表逐个测试样本均满足阈值</a:t>
            </a:r>
          </a:p>
        </p:txBody>
      </p:sp>
    </p:spTree>
    <p:extLst>
      <p:ext uri="{BB962C8B-B14F-4D97-AF65-F5344CB8AC3E}">
        <p14:creationId xmlns:p14="http://schemas.microsoft.com/office/powerpoint/2010/main" val="194784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参数约束修复跨点退化，并保留目标收益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7-4">
            <a:extLst>
              <a:ext uri="{FF2B5EF4-FFF2-40B4-BE49-F238E27FC236}">
                <a16:creationId xmlns:a16="http://schemas.microsoft.com/office/drawing/2014/main" id="{FCB3B1AE-C171-4D3F-BD5F-A211CC928CF7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27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54054" y="1762125"/>
            <a:ext cx="6083893" cy="3667125"/>
          </a:xfrm>
          <a:prstGeom prst="rect">
            <a:avLst/>
          </a:prstGeom>
        </p:spPr>
      </p:pic>
      <p:sp>
        <p:nvSpPr>
          <p:cNvPr id="9" name="content-weibull20260906s27-5">
            <a:extLst>
              <a:ext uri="{FF2B5EF4-FFF2-40B4-BE49-F238E27FC236}">
                <a16:creationId xmlns:a16="http://schemas.microsoft.com/office/drawing/2014/main" id="{A1373B18-2733-46B2-9AD5-5C670C52603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QCP：三个寿命点 RMSRE 为 13.34%、15.84%、20.65%，平均参数损失约 0.0552</a:t>
            </a:r>
          </a:p>
        </p:txBody>
      </p:sp>
    </p:spTree>
    <p:extLst>
      <p:ext uri="{BB962C8B-B14F-4D97-AF65-F5344CB8AC3E}">
        <p14:creationId xmlns:p14="http://schemas.microsoft.com/office/powerpoint/2010/main" val="1169024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统一验证准则后，Q 的目标优势仍部分保留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8-4">
            <a:extLst>
              <a:ext uri="{FF2B5EF4-FFF2-40B4-BE49-F238E27FC236}">
                <a16:creationId xmlns:a16="http://schemas.microsoft.com/office/drawing/2014/main" id="{FFFBEA6F-FD41-482E-925E-8F2D5DF61180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28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619125" y="1857375"/>
          <a:ext cx="10906125" cy="2619375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训练目标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验证目标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16.3077%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28-5">
            <a:extLst>
              <a:ext uri="{FF2B5EF4-FFF2-40B4-BE49-F238E27FC236}">
                <a16:creationId xmlns:a16="http://schemas.microsoft.com/office/drawing/2014/main" id="{CF46C2DC-A937-4AE8-8CBD-6A1EC6C11E4E}"/>
              </a:ext>
            </a:extLst>
          </p:cNvPr>
          <p:cNvSpPr>
            <a:spLocks noGrp="1"/>
          </p:cNvSpPr>
          <p:nvPr/>
        </p:nvSpPr>
        <p:spPr>
          <a:xfrm>
            <a:off x="619125" y="4857750"/>
            <a:ext cx="10906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共同验证下，Q 训练仍改善 1.322%（95% 区间 0.631%～1.957%）</a:t>
            </a:r>
          </a:p>
        </p:txBody>
      </p:sp>
      <p:sp>
        <p:nvSpPr>
          <p:cNvPr id="10" name="content-weibull20260906s28-6">
            <a:extLst>
              <a:ext uri="{FF2B5EF4-FFF2-40B4-BE49-F238E27FC236}">
                <a16:creationId xmlns:a16="http://schemas.microsoft.com/office/drawing/2014/main" id="{7A5A5C8E-9381-4392-A533-3EFD427B16BB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当前阈值与原生 Q 早停轨迹中，可行参数检查点为 0 / 200；补充实验复用既有数据</a:t>
            </a:r>
          </a:p>
        </p:txBody>
      </p:sp>
    </p:spTree>
    <p:extLst>
      <p:ext uri="{BB962C8B-B14F-4D97-AF65-F5344CB8AC3E}">
        <p14:creationId xmlns:p14="http://schemas.microsoft.com/office/powerpoint/2010/main" val="952331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简单加权与多点监督的修复参照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9-4">
            <a:extLst>
              <a:ext uri="{FF2B5EF4-FFF2-40B4-BE49-F238E27FC236}">
                <a16:creationId xmlns:a16="http://schemas.microsoft.com/office/drawing/2014/main" id="{D0CC5D32-391A-42F7-8AF6-B735E77D2201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29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619125" y="1905000"/>
          <a:ext cx="10906125" cy="261937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575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检验内容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固定加权 QP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15.8505%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参数正则化是否足以修复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参数约束 QCP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15.8406%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显式可行性控制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三点等权监督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16.0977%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增加寿命点监督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29-5">
            <a:extLst>
              <a:ext uri="{FF2B5EF4-FFF2-40B4-BE49-F238E27FC236}">
                <a16:creationId xmlns:a16="http://schemas.microsoft.com/office/drawing/2014/main" id="{B6BA9E50-4863-492E-A593-7159B6A00F63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 相对 QP 改善 0.0623%，95% 区间 −0.0499%～0.1679%</a:t>
            </a:r>
          </a:p>
        </p:txBody>
      </p:sp>
      <p:sp>
        <p:nvSpPr>
          <p:cNvPr id="10" name="content-weibull20260906s29-6">
            <a:extLst>
              <a:ext uri="{FF2B5EF4-FFF2-40B4-BE49-F238E27FC236}">
                <a16:creationId xmlns:a16="http://schemas.microsoft.com/office/drawing/2014/main" id="{7D7F050C-422B-41B0-99A4-2BE4C3AB3E71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 QP 与 QCP 精度接近，证据不足以认定 QCP 更优</a:t>
            </a:r>
          </a:p>
        </p:txBody>
      </p:sp>
    </p:spTree>
    <p:extLst>
      <p:ext uri="{BB962C8B-B14F-4D97-AF65-F5344CB8AC3E}">
        <p14:creationId xmlns:p14="http://schemas.microsoft.com/office/powerpoint/2010/main" val="261089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总体风险降低主要由少数高误差单元贡献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0-4">
            <a:extLst>
              <a:ext uri="{FF2B5EF4-FFF2-40B4-BE49-F238E27FC236}">
                <a16:creationId xmlns:a16="http://schemas.microsoft.com/office/drawing/2014/main" id="{EDBCAC6E-8F5F-4F76-86FC-92484E707675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30 / 32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28811" y="1970914"/>
            <a:ext cx="5572878" cy="3440048"/>
          </a:xfrm>
          <a:prstGeom prst="rect">
            <a:avLst/>
          </a:prstGeom>
        </p:spPr>
      </p:pic>
      <p:sp>
        <p:nvSpPr>
          <p:cNvPr id="9" name="content-weibull20260906s30-5">
            <a:extLst>
              <a:ext uri="{FF2B5EF4-FFF2-40B4-BE49-F238E27FC236}">
                <a16:creationId xmlns:a16="http://schemas.microsoft.com/office/drawing/2014/main" id="{09DF5EF3-254E-4F2E-A18F-A28C84E3BA3E}"/>
              </a:ext>
            </a:extLst>
          </p:cNvPr>
          <p:cNvSpPr>
            <a:spLocks noGrp="1"/>
          </p:cNvSpPr>
          <p:nvPr/>
        </p:nvSpPr>
        <p:spPr>
          <a:xfrm>
            <a:off x="552450" y="1857375"/>
            <a:ext cx="314325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目标点优于 P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Q：42 / 160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QCP：76 / 160</a:t>
            </a:r>
          </a:p>
        </p:txBody>
      </p:sp>
      <p:sp>
        <p:nvSpPr>
          <p:cNvPr id="10" name="content-weibull20260906s30-6">
            <a:extLst>
              <a:ext uri="{FF2B5EF4-FFF2-40B4-BE49-F238E27FC236}">
                <a16:creationId xmlns:a16="http://schemas.microsoft.com/office/drawing/2014/main" id="{DD10E2F6-AE5A-47CE-A34A-550CF02D4E06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314325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前 5 个单元贡献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净改善的 102.6%</a:t>
            </a:r>
          </a:p>
        </p:txBody>
      </p:sp>
      <p:sp>
        <p:nvSpPr>
          <p:cNvPr id="11" name="content-weibull20260906s30-7">
            <a:extLst>
              <a:ext uri="{FF2B5EF4-FFF2-40B4-BE49-F238E27FC236}">
                <a16:creationId xmlns:a16="http://schemas.microsoft.com/office/drawing/2014/main" id="{B8E6534B-BB1D-4ADA-99D3-87D8179359E8}"/>
              </a:ext>
            </a:extLst>
          </p:cNvPr>
          <p:cNvSpPr>
            <a:spLocks noGrp="1"/>
          </p:cNvSpPr>
          <p:nvPr/>
        </p:nvSpPr>
        <p:spPr>
          <a:xfrm>
            <a:off x="552450" y="4276725"/>
            <a:ext cx="314325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典型误差中位数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7.69%，QCP 7.86%</a:t>
            </a:r>
          </a:p>
        </p:txBody>
      </p:sp>
      <p:sp>
        <p:nvSpPr>
          <p:cNvPr id="12" name="content-weibull20260906s30-8">
            <a:extLst>
              <a:ext uri="{FF2B5EF4-FFF2-40B4-BE49-F238E27FC236}">
                <a16:creationId xmlns:a16="http://schemas.microsoft.com/office/drawing/2014/main" id="{B1A989EE-0837-46D9-AC34-E1C968B7D16D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少数高误差单元改变总体平方风险排序，典型误差与训练成本仍需同时考虑</a:t>
            </a:r>
          </a:p>
        </p:txBody>
      </p:sp>
    </p:spTree>
    <p:extLst>
      <p:ext uri="{BB962C8B-B14F-4D97-AF65-F5344CB8AC3E}">
        <p14:creationId xmlns:p14="http://schemas.microsoft.com/office/powerpoint/2010/main" val="1004500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Study02：任务量与参数用途共同决定监督设计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1-4">
            <a:extLst>
              <a:ext uri="{FF2B5EF4-FFF2-40B4-BE49-F238E27FC236}">
                <a16:creationId xmlns:a16="http://schemas.microsoft.com/office/drawing/2014/main" id="{71A268D7-5AA7-481B-AF64-5D3398D9262A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31 / 32</a:t>
            </a:r>
          </a:p>
        </p:txBody>
      </p:sp>
      <p:sp>
        <p:nvSpPr>
          <p:cNvPr id="8" name="content-weibull20260906s31-5">
            <a:extLst>
              <a:ext uri="{FF2B5EF4-FFF2-40B4-BE49-F238E27FC236}">
                <a16:creationId xmlns:a16="http://schemas.microsoft.com/office/drawing/2014/main" id="{6E8A49B1-F7A8-4981-B0A3-D9D00DB71D60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目标对齐降低目标点总体误差，共同验证下仍有收益</a:t>
            </a:r>
          </a:p>
        </p:txBody>
      </p:sp>
      <p:sp>
        <p:nvSpPr>
          <p:cNvPr id="9" name="content-weibull20260906s31-6">
            <a:extLst>
              <a:ext uri="{FF2B5EF4-FFF2-40B4-BE49-F238E27FC236}">
                <a16:creationId xmlns:a16="http://schemas.microsoft.com/office/drawing/2014/main" id="{A74A751F-69D1-4347-B3D4-96FC975EA39B}"/>
              </a:ext>
            </a:extLst>
          </p:cNvPr>
          <p:cNvSpPr>
            <a:spLocks noGrp="1"/>
          </p:cNvSpPr>
          <p:nvPr/>
        </p:nvSpPr>
        <p:spPr>
          <a:xfrm>
            <a:off x="552450" y="2886075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单点监督允许参数补偿，并导致其他寿命点退化</a:t>
            </a:r>
          </a:p>
        </p:txBody>
      </p:sp>
      <p:sp>
        <p:nvSpPr>
          <p:cNvPr id="10" name="content-weibull20260906s31-7">
            <a:extLst>
              <a:ext uri="{FF2B5EF4-FFF2-40B4-BE49-F238E27FC236}">
                <a16:creationId xmlns:a16="http://schemas.microsoft.com/office/drawing/2014/main" id="{103EE313-AAF3-4793-936C-F1CBBE395B8A}"/>
              </a:ext>
            </a:extLst>
          </p:cNvPr>
          <p:cNvSpPr>
            <a:spLocks noGrp="1"/>
          </p:cNvSpPr>
          <p:nvPr/>
        </p:nvSpPr>
        <p:spPr>
          <a:xfrm>
            <a:off x="552450" y="3819525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参数正则化与多点监督均能修复部分代价，QP 与 QCP 精度接近</a:t>
            </a:r>
          </a:p>
        </p:txBody>
      </p:sp>
      <p:sp>
        <p:nvSpPr>
          <p:cNvPr id="11" name="content-weibull20260906s31-8">
            <a:extLst>
              <a:ext uri="{FF2B5EF4-FFF2-40B4-BE49-F238E27FC236}">
                <a16:creationId xmlns:a16="http://schemas.microsoft.com/office/drawing/2014/main" id="{8EE6F15F-C831-4DC2-ABCE-F639AB320950}"/>
              </a:ext>
            </a:extLst>
          </p:cNvPr>
          <p:cNvSpPr>
            <a:spLocks noGrp="1"/>
          </p:cNvSpPr>
          <p:nvPr/>
        </p:nvSpPr>
        <p:spPr>
          <a:xfrm>
            <a:off x="552450" y="4752975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收益集中性、典型误差与计算成本决定实际取舍</a:t>
            </a:r>
          </a:p>
        </p:txBody>
      </p:sp>
      <p:sp>
        <p:nvSpPr>
          <p:cNvPr id="12" name="content-weibull20260906s31-9">
            <a:extLst>
              <a:ext uri="{FF2B5EF4-FFF2-40B4-BE49-F238E27FC236}">
                <a16:creationId xmlns:a16="http://schemas.microsoft.com/office/drawing/2014/main" id="{B3259A6A-0345-45E3-B059-06AE20DC5D21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结论限固定尺度、当前参数网格内新样本和既有训练协议</a:t>
            </a:r>
          </a:p>
        </p:txBody>
      </p:sp>
    </p:spTree>
    <p:extLst>
      <p:ext uri="{BB962C8B-B14F-4D97-AF65-F5344CB8AC3E}">
        <p14:creationId xmlns:p14="http://schemas.microsoft.com/office/powerpoint/2010/main" val="1992125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三项研究的认识与下一步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总结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7" name="content-weibull20260906s32-4">
            <a:extLst>
              <a:ext uri="{FF2B5EF4-FFF2-40B4-BE49-F238E27FC236}">
                <a16:creationId xmlns:a16="http://schemas.microsoft.com/office/drawing/2014/main" id="{1D39A273-61C8-425C-B05E-D2D399D05157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32 / 32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19125" y="1952625"/>
          <a:ext cx="10906125" cy="2952750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当前认识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优先补充的证据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参数域与样本支持自适应偏移量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冻结方法后的独立确认、工程联系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直接网络优势依赖训练覆盖与外推方向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判断是否需要进一步分离优势成因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任务收益与参数恢复存在取舍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独立确认与变化尺度验证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32-5">
            <a:extLst>
              <a:ext uri="{FF2B5EF4-FFF2-40B4-BE49-F238E27FC236}">
                <a16:creationId xmlns:a16="http://schemas.microsoft.com/office/drawing/2014/main" id="{E0EFAC7E-F196-43D9-B2B5-9754EF096F83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本次讨论：哪些证据最可能改变当前判断，下一步优先完成什么？</a:t>
            </a:r>
          </a:p>
        </p:txBody>
      </p:sp>
    </p:spTree>
    <p:extLst>
      <p:ext uri="{BB962C8B-B14F-4D97-AF65-F5344CB8AC3E}">
        <p14:creationId xmlns:p14="http://schemas.microsoft.com/office/powerpoint/2010/main" val="29168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3306</Words>
  <Application>Microsoft Office PowerPoint</Application>
  <DocSecurity>0</DocSecurity>
  <PresentationFormat>宽屏</PresentationFormat>
  <Paragraphs>570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等线</vt:lpstr>
      <vt:lpstr>等线 Light</vt:lpstr>
      <vt:lpstr>汉仪粗宋简</vt:lpstr>
      <vt:lpstr>汉仪文润宋韵 U</vt:lpstr>
      <vt:lpstr>微软雅黑</vt:lpstr>
      <vt:lpstr>Arial</vt:lpstr>
      <vt:lpstr>Calibri</vt:lpstr>
      <vt:lpstr>Calibri Light</vt:lpstr>
      <vt:lpstr>Cambria Math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2026-09-06T04:22:26Z</dcterms:created>
  <dcterms:modified xsi:type="dcterms:W3CDTF">2026-09-07T06:04:01Z</dcterms:modified>
</cp:coreProperties>
</file>