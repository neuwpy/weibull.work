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方法谱系" id="{8d1f4f9f-663a-67a8-73f1-15baf20525f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读图：四列是四条估计判据主线，每列自上而下大致按年代。
似然列左侧竖线表示这些方法都从 MLE 出发、各改一个环节：MMLE 把 γ 的似然方程换成以 x(1) 为锚的方程；MPS 把密度乘积换成间隔乘积，使目标函数有界；Cheng–Iles 修正似然本身；w-MLE 加入依赖 n 与 β 的权重；LSPF 先用位置不变统计量消去 γ。
跨列联系：MMLE 与修正矩估计共用 x(1) 锚定步骤（文献明确）；CCM→MDM 为结构迁移，判据从 R² 换成逐点反算 η 的离散度（本调研推断，需对照 MDM 原文）。
点线：MPS 与修正似然同源（Cheng &amp; Traylor 1995）；Cran 矩差与 PWM 只差常数因子（推导，待对照 Cran 1988 原文）。
γ 处理方式：矩估计、Cran、PWM/L 矩、LSPF 先用与 γ 无关的量定 β；MMLE、修正矩靠 x(1) 锚定 γ；CCM、MDM、混合法、HGLM 先搜索 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三参数 Weibull 参数估计方法谱系</a:t>
            </a:r>
            <a:endParaRPr lang="en-US" sz="3000" dirty="0"/>
          </a:p>
        </p:txBody>
      </p:sp>
      <p:sp>
        <p:nvSpPr>
          <p:cNvPr id="3" name="列标题-似然类"/>
          <p:cNvSpPr txBox="1"/>
          <p:nvPr/>
        </p:nvSpPr>
        <p:spPr>
          <a:xfrm>
            <a:off x="777240" y="9875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似然类</a:t>
            </a:r>
            <a:endParaRPr lang="en-US" sz="1500" dirty="0"/>
          </a:p>
        </p:txBody>
      </p:sp>
      <p:sp>
        <p:nvSpPr>
          <p:cNvPr id="4" name="列标题-矩与次序统计量类"/>
          <p:cNvSpPr txBox="1"/>
          <p:nvPr/>
        </p:nvSpPr>
        <p:spPr>
          <a:xfrm>
            <a:off x="3630168" y="9875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矩与次序统计量类</a:t>
            </a:r>
            <a:endParaRPr lang="en-US" sz="1500" dirty="0"/>
          </a:p>
        </p:txBody>
      </p:sp>
      <p:sp>
        <p:nvSpPr>
          <p:cNvPr id="5" name="列标题-分位数与回归类"/>
          <p:cNvSpPr txBox="1"/>
          <p:nvPr/>
        </p:nvSpPr>
        <p:spPr>
          <a:xfrm>
            <a:off x="6483096" y="9875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分位数与回归类</a:t>
            </a:r>
            <a:endParaRPr lang="en-US" sz="1500" dirty="0"/>
          </a:p>
        </p:txBody>
      </p:sp>
      <p:sp>
        <p:nvSpPr>
          <p:cNvPr id="6" name="列标题-距离与贝叶斯"/>
          <p:cNvSpPr txBox="1"/>
          <p:nvPr/>
        </p:nvSpPr>
        <p:spPr>
          <a:xfrm>
            <a:off x="9336024" y="9875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距离与贝叶斯</a:t>
            </a:r>
            <a:endParaRPr lang="en-US" sz="1500" dirty="0"/>
          </a:p>
        </p:txBody>
      </p:sp>
      <p:sp>
        <p:nvSpPr>
          <p:cNvPr id="7" name="节点-极大似然 MLE"/>
          <p:cNvSpPr/>
          <p:nvPr/>
        </p:nvSpPr>
        <p:spPr>
          <a:xfrm>
            <a:off x="777240" y="1463040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极大似然 MLE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联合估计三参数</a:t>
            </a:r>
            <a:endParaRPr lang="en-US" sz="1400" dirty="0"/>
          </a:p>
        </p:txBody>
      </p:sp>
      <p:sp>
        <p:nvSpPr>
          <p:cNvPr id="8" name="节点-修正极大似然 MMLE"/>
          <p:cNvSpPr/>
          <p:nvPr/>
        </p:nvSpPr>
        <p:spPr>
          <a:xfrm>
            <a:off x="777240" y="2267712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修正极大似然 MMLE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Cohen–Whitten 1982</a:t>
            </a:r>
            <a:endParaRPr lang="en-US" sz="1400" dirty="0"/>
          </a:p>
        </p:txBody>
      </p:sp>
      <p:sp>
        <p:nvSpPr>
          <p:cNvPr id="9" name="节点-最大间隔积 MPS"/>
          <p:cNvSpPr/>
          <p:nvPr/>
        </p:nvSpPr>
        <p:spPr>
          <a:xfrm>
            <a:off x="777240" y="3072384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最大间隔积 MPS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Cheng–Amin 1983</a:t>
            </a:r>
            <a:endParaRPr lang="en-US" sz="1400" dirty="0"/>
          </a:p>
        </p:txBody>
      </p:sp>
      <p:sp>
        <p:nvSpPr>
          <p:cNvPr id="10" name="节点-修正似然"/>
          <p:cNvSpPr/>
          <p:nvPr/>
        </p:nvSpPr>
        <p:spPr>
          <a:xfrm>
            <a:off x="777240" y="3877056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修正似然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Cheng–Iles 1987</a:t>
            </a:r>
            <a:endParaRPr lang="en-US" sz="1400" dirty="0"/>
          </a:p>
        </p:txBody>
      </p:sp>
      <p:sp>
        <p:nvSpPr>
          <p:cNvPr id="11" name="节点-加权似然 w-MLE"/>
          <p:cNvSpPr/>
          <p:nvPr/>
        </p:nvSpPr>
        <p:spPr>
          <a:xfrm>
            <a:off x="777240" y="4681728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加权似然 w-MLE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Cousineau 2009</a:t>
            </a:r>
            <a:endParaRPr lang="en-US" sz="1400" dirty="0"/>
          </a:p>
        </p:txBody>
      </p:sp>
      <p:sp>
        <p:nvSpPr>
          <p:cNvPr id="12" name="节点-位置不变 LSPF"/>
          <p:cNvSpPr/>
          <p:nvPr/>
        </p:nvSpPr>
        <p:spPr>
          <a:xfrm>
            <a:off x="777240" y="5486400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位置不变 LSPF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Nagatsuka 等 2013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728216"/>
            <a:ext cx="2286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728216"/>
            <a:ext cx="0" cy="402336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32888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337560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4142232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4946904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5751576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975104" y="3602736"/>
            <a:ext cx="0" cy="27432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ysDot"/>
          </a:ln>
        </p:spPr>
      </p:sp>
      <p:sp>
        <p:nvSpPr>
          <p:cNvPr id="21" name="节点-矩估计"/>
          <p:cNvSpPr/>
          <p:nvPr/>
        </p:nvSpPr>
        <p:spPr>
          <a:xfrm>
            <a:off x="3630168" y="1463040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矩估计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偏度定 β</a:t>
            </a:r>
            <a:endParaRPr lang="en-US" sz="1400" dirty="0"/>
          </a:p>
        </p:txBody>
      </p:sp>
      <p:sp>
        <p:nvSpPr>
          <p:cNvPr id="22" name="节点-修正矩估计"/>
          <p:cNvSpPr/>
          <p:nvPr/>
        </p:nvSpPr>
        <p:spPr>
          <a:xfrm>
            <a:off x="3630168" y="2267712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修正矩估计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Cohen 等 1982/84</a:t>
            </a:r>
            <a:endParaRPr lang="en-US" sz="1400" dirty="0"/>
          </a:p>
        </p:txBody>
      </p:sp>
      <p:sp>
        <p:nvSpPr>
          <p:cNvPr id="23" name="节点-Cran 矩差法"/>
          <p:cNvSpPr/>
          <p:nvPr/>
        </p:nvSpPr>
        <p:spPr>
          <a:xfrm>
            <a:off x="3630168" y="3072384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Cran 矩差法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Cran 1988</a:t>
            </a:r>
            <a:endParaRPr lang="en-US" sz="1400" dirty="0"/>
          </a:p>
        </p:txBody>
      </p:sp>
      <p:sp>
        <p:nvSpPr>
          <p:cNvPr id="24" name="节点-概率权重矩 PWM"/>
          <p:cNvSpPr/>
          <p:nvPr/>
        </p:nvSpPr>
        <p:spPr>
          <a:xfrm>
            <a:off x="3630168" y="3877056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概率权重矩 PWM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Bartolucci 等 1999</a:t>
            </a:r>
            <a:endParaRPr lang="en-US" sz="1400" dirty="0"/>
          </a:p>
        </p:txBody>
      </p:sp>
      <p:sp>
        <p:nvSpPr>
          <p:cNvPr id="25" name="节点-L 矩"/>
          <p:cNvSpPr/>
          <p:nvPr/>
        </p:nvSpPr>
        <p:spPr>
          <a:xfrm>
            <a:off x="3630168" y="4681728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 矩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Teimouri 等 2013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28032" y="1993392"/>
            <a:ext cx="0" cy="256032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28032" y="3602736"/>
            <a:ext cx="0" cy="27432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ysDot"/>
          </a:ln>
        </p:spPr>
      </p:sp>
      <p:sp>
        <p:nvSpPr>
          <p:cNvPr id="28" name="Shape 26"/>
          <p:cNvSpPr/>
          <p:nvPr/>
        </p:nvSpPr>
        <p:spPr>
          <a:xfrm>
            <a:off x="4828032" y="4407408"/>
            <a:ext cx="0" cy="256032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172968" y="2532888"/>
            <a:ext cx="4572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30" name="节点-百分位法"/>
          <p:cNvSpPr/>
          <p:nvPr/>
        </p:nvSpPr>
        <p:spPr>
          <a:xfrm>
            <a:off x="6483096" y="1463040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百分位法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Dubey 1967 起</a:t>
            </a:r>
            <a:endParaRPr lang="en-US" sz="1400" dirty="0"/>
          </a:p>
        </p:txBody>
      </p:sp>
      <p:sp>
        <p:nvSpPr>
          <p:cNvPr id="31" name="节点-概率图秩回归"/>
          <p:cNvSpPr/>
          <p:nvPr/>
        </p:nvSpPr>
        <p:spPr>
          <a:xfrm>
            <a:off x="6483096" y="2267712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概率图秩回归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RRX / RRY</a:t>
            </a:r>
            <a:endParaRPr lang="en-US" sz="1400" dirty="0"/>
          </a:p>
        </p:txBody>
      </p:sp>
      <p:sp>
        <p:nvSpPr>
          <p:cNvPr id="32" name="节点-相关系数法 CCM"/>
          <p:cNvSpPr/>
          <p:nvPr/>
        </p:nvSpPr>
        <p:spPr>
          <a:xfrm>
            <a:off x="6483096" y="3072384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相关系数法 CCM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扫描 γ 使 R² 最大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80960" y="2798064"/>
            <a:ext cx="0" cy="256032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878824" y="3337560"/>
            <a:ext cx="4389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35" name="节点-EDF 距离法"/>
          <p:cNvSpPr/>
          <p:nvPr/>
        </p:nvSpPr>
        <p:spPr>
          <a:xfrm>
            <a:off x="9336024" y="1463040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EDF 距离法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AD / CvM / KS</a:t>
            </a:r>
            <a:endParaRPr lang="en-US" sz="1400" dirty="0"/>
          </a:p>
        </p:txBody>
      </p:sp>
      <p:sp>
        <p:nvSpPr>
          <p:cNvPr id="36" name="节点-贝叶斯估计"/>
          <p:cNvSpPr/>
          <p:nvPr/>
        </p:nvSpPr>
        <p:spPr>
          <a:xfrm>
            <a:off x="9336024" y="2267712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贝叶斯估计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Smith–Naylor 1987</a:t>
            </a:r>
            <a:endParaRPr lang="en-US" sz="1400" dirty="0"/>
          </a:p>
        </p:txBody>
      </p:sp>
      <p:sp>
        <p:nvSpPr>
          <p:cNvPr id="37" name="节点-MDM 最小差异法"/>
          <p:cNvSpPr/>
          <p:nvPr/>
        </p:nvSpPr>
        <p:spPr>
          <a:xfrm>
            <a:off x="9336024" y="3072384"/>
            <a:ext cx="239572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MDM 最小差异法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谢里阳等 2023</a:t>
            </a:r>
            <a:endParaRPr lang="en-US" sz="1400" dirty="0"/>
          </a:p>
        </p:txBody>
      </p:sp>
      <p:sp>
        <p:nvSpPr>
          <p:cNvPr id="38" name="组合与工具框"/>
          <p:cNvSpPr/>
          <p:nvPr/>
        </p:nvSpPr>
        <p:spPr>
          <a:xfrm>
            <a:off x="6483096" y="3877056"/>
            <a:ext cx="5248656" cy="2139696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6665976" y="39684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组合步骤与计算工具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677656" y="3968496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GA、PSO 等是求解器，非新判据</a:t>
            </a:r>
            <a:endParaRPr lang="en-US" sz="1100" dirty="0"/>
          </a:p>
        </p:txBody>
      </p:sp>
      <p:sp>
        <p:nvSpPr>
          <p:cNvPr id="41" name="节点-混合法"/>
          <p:cNvSpPr/>
          <p:nvPr/>
        </p:nvSpPr>
        <p:spPr>
          <a:xfrm>
            <a:off x="6665976" y="4407408"/>
            <a:ext cx="230428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混合法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CCM 定 γ + MLE</a:t>
            </a:r>
            <a:endParaRPr lang="en-US" sz="1400" dirty="0"/>
          </a:p>
        </p:txBody>
      </p:sp>
      <p:sp>
        <p:nvSpPr>
          <p:cNvPr id="42" name="节点-HGLM"/>
          <p:cNvSpPr/>
          <p:nvPr/>
        </p:nvSpPr>
        <p:spPr>
          <a:xfrm>
            <a:off x="9244584" y="4407408"/>
            <a:ext cx="230428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HGLM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灰色 GA 定 γ + 修正 MLE</a:t>
            </a:r>
            <a:endParaRPr lang="en-US" sz="1400" dirty="0"/>
          </a:p>
        </p:txBody>
      </p:sp>
      <p:sp>
        <p:nvSpPr>
          <p:cNvPr id="43" name="节点-偏差修正 MMLE"/>
          <p:cNvSpPr/>
          <p:nvPr/>
        </p:nvSpPr>
        <p:spPr>
          <a:xfrm>
            <a:off x="6665976" y="5175504"/>
            <a:ext cx="230428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偏差修正 MMLE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 Silva 等 2025</a:t>
            </a:r>
            <a:endParaRPr lang="en-US" sz="1400" dirty="0"/>
          </a:p>
        </p:txBody>
      </p:sp>
      <p:sp>
        <p:nvSpPr>
          <p:cNvPr id="44" name="节点-神经网络代理估计"/>
          <p:cNvSpPr/>
          <p:nvPr/>
        </p:nvSpPr>
        <p:spPr>
          <a:xfrm>
            <a:off x="9244584" y="5175504"/>
            <a:ext cx="2304288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神经网络代理估计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样本特征 → 参数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57200" y="6272784"/>
            <a:ext cx="4572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1024128" y="6135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改进：替换判据或某一环节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429000" y="6272784"/>
            <a:ext cx="4572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48" name="Text 46"/>
          <p:cNvSpPr txBox="1"/>
          <p:nvPr/>
        </p:nvSpPr>
        <p:spPr>
          <a:xfrm>
            <a:off x="3995928" y="6135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局部借用 / 结构迁移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0" y="6272784"/>
            <a:ext cx="4572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ysDot"/>
          </a:ln>
        </p:spPr>
      </p:sp>
      <p:sp>
        <p:nvSpPr>
          <p:cNvPr id="50" name="Text 48"/>
          <p:cNvSpPr txBox="1"/>
          <p:nvPr/>
        </p:nvSpPr>
        <p:spPr>
          <a:xfrm>
            <a:off x="6967728" y="6135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数学联系：同源或等价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988552" y="6135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各列自上而下大致按年代排列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ibull谱系">
  <a:themeElements>
    <a:clrScheme name="Weibull谱系">
      <a:dk1>
        <a:srgbClr val="1F2328"/>
      </a:dk1>
      <a:lt1>
        <a:srgbClr val="FFFFFF"/>
      </a:lt1>
      <a:dk2>
        <a:srgbClr val="5A6068"/>
      </a:dk2>
      <a:lt2>
        <a:srgbClr val="F2F4F5"/>
      </a:lt2>
      <a:accent1>
        <a:srgbClr val="0F6E56"/>
      </a:accent1>
      <a:accent2>
        <a:srgbClr val="6B7178"/>
      </a:accent2>
      <a:accent3>
        <a:srgbClr val="A3A9AF"/>
      </a:accent3>
      <a:accent4>
        <a:srgbClr val="DDE2E5"/>
      </a:accent4>
      <a:accent5>
        <a:srgbClr val="085041"/>
      </a:accent5>
      <a:accent6>
        <a:srgbClr val="B85042"/>
      </a:accent6>
      <a:hlink>
        <a:srgbClr val="0F6E56"/>
      </a:hlink>
      <a:folHlink>
        <a:srgbClr val="5A6068"/>
      </a:folHlink>
    </a:clrScheme>
    <a:fontScheme name="Weibull谱系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三参数Weibull参数估计方法谱系</dc:title>
  <dc:subject>PptxGenJS Presentation</dc:subject>
  <dc:creator>PptxGenJS</dc:creator>
  <cp:lastModifiedBy>PptxGenJS</cp:lastModifiedBy>
  <cp:revision>1</cp:revision>
  <dcterms:created xsi:type="dcterms:W3CDTF">2026-10-19T11:34:07Z</dcterms:created>
  <dcterms:modified xsi:type="dcterms:W3CDTF">2026-10-19T11:34:07Z</dcterms:modified>
</cp:coreProperties>
</file>