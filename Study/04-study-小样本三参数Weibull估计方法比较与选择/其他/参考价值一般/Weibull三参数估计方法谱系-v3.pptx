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方法谱系" id="{72be9510-ab00-94c0-739a-f2c80248f5a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讲述顺序与报告上 v0.1 对应：
第1节：左侧七条主干。①②利用密度与概率区间；③④⑤看拟合、统计关系和线性组合；⑥⑦引入先验或训练数据。
第2节：①似然两行。上行 Jacquelin→Cousineau WMLE→形状修正，区分方程内加权与求解后修正；Cohen–Whitten 由原始 MLE 替换位置得分方程。下行 Smith 最小值定位→Kundu–Raqab→DMMLE，DMMLE 同时承接 Firth 型修正。
第3节：③拟合上行。White→Soman–Misra 为扩展；Soman 与 Park 的定位评分在相同坐标和搜索域下单调对应（虚线）；Park→Park 2018 为理论补充。下行 Yang 等迭代法借用 LSPF 的最小值期望修正（点线箭头）。
第4节：④矩与统计关系。Cran 与 PWM、PWM 与 L 矩为数学联系；L 矩→TL 矩为扩展；Nagatsuka 2003 与 LSPF 共享标准化构造，承接未确认；LSPF→LPF 为明示改进。
第5节：最下一行，组合与工具按实际作用环节放回主干。
本轮七种实现（图上未标）：原始 MLE、Cousineau WMLE、Kundu–Raqab 单样本形式、Soman–Misra 主分支（LSE）、Park Proposed+Plot（LRE）、MDM-0.1、Cran 式 MM。
待核：L 矩→TL 矩画为实线扩展；CMLE 对应 Cheng–Iles 修正似然。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三参数 Weibull 估计方法谱系：七条主干与文献关系</a:t>
            </a:r>
            <a:endParaRPr lang="en-US" sz="2800" dirty="0"/>
          </a:p>
        </p:txBody>
      </p:sp>
      <p:sp>
        <p:nvSpPr>
          <p:cNvPr id="3" name="主干-① 似然"/>
          <p:cNvSpPr/>
          <p:nvPr/>
        </p:nvSpPr>
        <p:spPr>
          <a:xfrm>
            <a:off x="457200" y="1024128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① 似然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联合密度</a:t>
            </a:r>
            <a:endParaRPr lang="en-US" sz="1200" dirty="0"/>
          </a:p>
        </p:txBody>
      </p:sp>
      <p:sp>
        <p:nvSpPr>
          <p:cNvPr id="4" name="节点-Jacquelin"/>
          <p:cNvSpPr/>
          <p:nvPr/>
        </p:nvSpPr>
        <p:spPr>
          <a:xfrm>
            <a:off x="187452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Jacquelin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二参数加权推导</a:t>
            </a:r>
            <a:endParaRPr lang="en-US" sz="1200" dirty="0"/>
          </a:p>
        </p:txBody>
      </p:sp>
      <p:sp>
        <p:nvSpPr>
          <p:cNvPr id="5" name="节点-Cousineau WMLE"/>
          <p:cNvSpPr/>
          <p:nvPr/>
        </p:nvSpPr>
        <p:spPr>
          <a:xfrm>
            <a:off x="384048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Cousineau WMLE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三参数·三个权重</a:t>
            </a:r>
            <a:endParaRPr lang="en-US" sz="1200" dirty="0"/>
          </a:p>
        </p:txBody>
      </p:sp>
      <p:sp>
        <p:nvSpPr>
          <p:cNvPr id="6" name="节点-WMLE 形状修正"/>
          <p:cNvSpPr/>
          <p:nvPr/>
        </p:nvSpPr>
        <p:spPr>
          <a:xfrm>
            <a:off x="580644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WMLE 形状修正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小样本偏差修正</a:t>
            </a:r>
            <a:endParaRPr lang="en-US" sz="1200" dirty="0"/>
          </a:p>
        </p:txBody>
      </p:sp>
      <p:sp>
        <p:nvSpPr>
          <p:cNvPr id="7" name="节点-原始 MLE"/>
          <p:cNvSpPr/>
          <p:nvPr/>
        </p:nvSpPr>
        <p:spPr>
          <a:xfrm>
            <a:off x="777240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原始 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联合密度准则</a:t>
            </a:r>
            <a:endParaRPr lang="en-US" sz="1200" dirty="0"/>
          </a:p>
        </p:txBody>
      </p:sp>
      <p:sp>
        <p:nvSpPr>
          <p:cNvPr id="8" name="节点-Cohen–Whitten"/>
          <p:cNvSpPr/>
          <p:nvPr/>
        </p:nvSpPr>
        <p:spPr>
          <a:xfrm>
            <a:off x="973836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Cohen–Whitten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替换位置得分方程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0976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节点-Smith"/>
          <p:cNvSpPr/>
          <p:nvPr/>
        </p:nvSpPr>
        <p:spPr>
          <a:xfrm>
            <a:off x="187452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Smith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最小值定位后估计</a:t>
            </a:r>
            <a:endParaRPr lang="en-US" sz="1200" dirty="0"/>
          </a:p>
        </p:txBody>
      </p:sp>
      <p:sp>
        <p:nvSpPr>
          <p:cNvPr id="13" name="节点-Kundu–Raqab"/>
          <p:cNvSpPr/>
          <p:nvPr/>
        </p:nvSpPr>
        <p:spPr>
          <a:xfrm>
            <a:off x="384048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Kundu–Raqab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两样本问题中适配</a:t>
            </a:r>
            <a:endParaRPr lang="en-US" sz="1200" dirty="0"/>
          </a:p>
        </p:txBody>
      </p:sp>
      <p:sp>
        <p:nvSpPr>
          <p:cNvPr id="14" name="节点-DMMLE"/>
          <p:cNvSpPr/>
          <p:nvPr/>
        </p:nvSpPr>
        <p:spPr>
          <a:xfrm>
            <a:off x="580644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DMMLE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两个来源组合</a:t>
            </a:r>
            <a:endParaRPr lang="en-US" sz="1200" dirty="0"/>
          </a:p>
        </p:txBody>
      </p:sp>
      <p:sp>
        <p:nvSpPr>
          <p:cNvPr id="15" name="节点-Firth 型得分修正"/>
          <p:cNvSpPr/>
          <p:nvPr/>
        </p:nvSpPr>
        <p:spPr>
          <a:xfrm>
            <a:off x="777240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Firth 型得分修正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偏差修正思路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62088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19" name="主干-② 概率区间"/>
          <p:cNvSpPr/>
          <p:nvPr/>
        </p:nvSpPr>
        <p:spPr>
          <a:xfrm>
            <a:off x="457200" y="2176272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② 概率区间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概率增量</a:t>
            </a:r>
            <a:endParaRPr lang="en-US" sz="1200" dirty="0"/>
          </a:p>
        </p:txBody>
      </p:sp>
      <p:sp>
        <p:nvSpPr>
          <p:cNvPr id="20" name="节点-MPS"/>
          <p:cNvSpPr/>
          <p:nvPr/>
        </p:nvSpPr>
        <p:spPr>
          <a:xfrm>
            <a:off x="1874520" y="217627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MPS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Cheng–Amin</a:t>
            </a:r>
            <a:endParaRPr lang="en-US" sz="1200" dirty="0"/>
          </a:p>
        </p:txBody>
      </p:sp>
      <p:sp>
        <p:nvSpPr>
          <p:cNvPr id="21" name="节点-CMLE"/>
          <p:cNvSpPr/>
          <p:nvPr/>
        </p:nvSpPr>
        <p:spPr>
          <a:xfrm>
            <a:off x="3840480" y="217627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Cheng–Iles</a:t>
            </a:r>
            <a:endParaRPr lang="en-US" sz="1200" dirty="0"/>
          </a:p>
        </p:txBody>
      </p:sp>
      <p:sp>
        <p:nvSpPr>
          <p:cNvPr id="22" name="主干-③ 拟合"/>
          <p:cNvSpPr/>
          <p:nvPr/>
        </p:nvSpPr>
        <p:spPr>
          <a:xfrm>
            <a:off x="457200" y="2798064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③ 拟合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减小拟合偏离</a:t>
            </a:r>
            <a:endParaRPr lang="en-US" sz="1200" dirty="0"/>
          </a:p>
        </p:txBody>
      </p:sp>
      <p:sp>
        <p:nvSpPr>
          <p:cNvPr id="23" name="节点-White"/>
          <p:cNvSpPr/>
          <p:nvPr/>
        </p:nvSpPr>
        <p:spPr>
          <a:xfrm>
            <a:off x="187452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White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期望次序统计量分数</a:t>
            </a:r>
            <a:endParaRPr lang="en-US" sz="1200" dirty="0"/>
          </a:p>
        </p:txBody>
      </p:sp>
      <p:sp>
        <p:nvSpPr>
          <p:cNvPr id="24" name="节点-Soman–Misra"/>
          <p:cNvSpPr/>
          <p:nvPr/>
        </p:nvSpPr>
        <p:spPr>
          <a:xfrm>
            <a:off x="384048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Soman–Misra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位置搜索＋残差评分</a:t>
            </a:r>
            <a:endParaRPr lang="en-US" sz="1200" dirty="0"/>
          </a:p>
        </p:txBody>
      </p:sp>
      <p:sp>
        <p:nvSpPr>
          <p:cNvPr id="25" name="节点-Park"/>
          <p:cNvSpPr/>
          <p:nvPr/>
        </p:nvSpPr>
        <p:spPr>
          <a:xfrm>
            <a:off x="580644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相关性定位</a:t>
            </a:r>
            <a:endParaRPr lang="en-US" sz="1200" dirty="0"/>
          </a:p>
        </p:txBody>
      </p:sp>
      <p:sp>
        <p:nvSpPr>
          <p:cNvPr id="26" name="节点-Park 2018"/>
          <p:cNvSpPr/>
          <p:nvPr/>
        </p:nvSpPr>
        <p:spPr>
          <a:xfrm>
            <a:off x="777240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Park 2018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存在性论证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3017520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77840" y="3017520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543800" y="3017520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0" name="节点-MDM"/>
          <p:cNvSpPr/>
          <p:nvPr/>
        </p:nvSpPr>
        <p:spPr>
          <a:xfrm>
            <a:off x="1874520" y="3328416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MDM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尺度伪估计差异</a:t>
            </a:r>
            <a:endParaRPr lang="en-US" sz="1200" dirty="0"/>
          </a:p>
        </p:txBody>
      </p:sp>
      <p:sp>
        <p:nvSpPr>
          <p:cNvPr id="31" name="节点-Yang 等迭代法"/>
          <p:cNvSpPr/>
          <p:nvPr/>
        </p:nvSpPr>
        <p:spPr>
          <a:xfrm>
            <a:off x="7772400" y="3328416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Yang 等迭代法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借用最小值期望修正</a:t>
            </a:r>
            <a:endParaRPr lang="en-US" sz="1200" dirty="0"/>
          </a:p>
        </p:txBody>
      </p:sp>
      <p:sp>
        <p:nvSpPr>
          <p:cNvPr id="32" name="主干-④ 矩与统计关系"/>
          <p:cNvSpPr/>
          <p:nvPr/>
        </p:nvSpPr>
        <p:spPr>
          <a:xfrm>
            <a:off x="457200" y="3950208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④ 矩与统计关系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统计量匹配·枢轴</a:t>
            </a:r>
            <a:endParaRPr lang="en-US" sz="1200" dirty="0"/>
          </a:p>
        </p:txBody>
      </p:sp>
      <p:sp>
        <p:nvSpPr>
          <p:cNvPr id="33" name="节点-Chen"/>
          <p:cNvSpPr/>
          <p:nvPr/>
        </p:nvSpPr>
        <p:spPr>
          <a:xfrm>
            <a:off x="187452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枢轴关系估位置</a:t>
            </a:r>
            <a:endParaRPr lang="en-US" sz="1200" dirty="0"/>
          </a:p>
        </p:txBody>
      </p:sp>
      <p:sp>
        <p:nvSpPr>
          <p:cNvPr id="34" name="节点-Nagatsuka 2003"/>
          <p:cNvSpPr/>
          <p:nvPr/>
        </p:nvSpPr>
        <p:spPr>
          <a:xfrm>
            <a:off x="580644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Nagatsuka 2003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 均值匹配</a:t>
            </a:r>
            <a:endParaRPr lang="en-US" sz="1200" dirty="0"/>
          </a:p>
        </p:txBody>
      </p:sp>
      <p:sp>
        <p:nvSpPr>
          <p:cNvPr id="35" name="节点-LSPF 2013"/>
          <p:cNvSpPr/>
          <p:nvPr/>
        </p:nvSpPr>
        <p:spPr>
          <a:xfrm>
            <a:off x="777240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LSPF 2013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标准化量联合密度</a:t>
            </a:r>
            <a:endParaRPr lang="en-US" sz="1200" dirty="0"/>
          </a:p>
        </p:txBody>
      </p:sp>
      <p:sp>
        <p:nvSpPr>
          <p:cNvPr id="36" name="节点-LPF 2015"/>
          <p:cNvSpPr/>
          <p:nvPr/>
        </p:nvSpPr>
        <p:spPr>
          <a:xfrm>
            <a:off x="973836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LPF 2015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只消位置，保留尺度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43800" y="4169664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9509760" y="416966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641080" y="3785616"/>
            <a:ext cx="0" cy="16459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  <a:headEnd type="triangle"/>
          </a:ln>
        </p:spPr>
      </p:sp>
      <p:sp>
        <p:nvSpPr>
          <p:cNvPr id="40" name="节点-Cran Weibull 矩"/>
          <p:cNvSpPr/>
          <p:nvPr/>
        </p:nvSpPr>
        <p:spPr>
          <a:xfrm>
            <a:off x="187452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Cran Weibull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矩差显式恢复</a:t>
            </a:r>
            <a:endParaRPr lang="en-US" sz="1200" dirty="0"/>
          </a:p>
        </p:txBody>
      </p:sp>
      <p:sp>
        <p:nvSpPr>
          <p:cNvPr id="41" name="节点-PWM"/>
          <p:cNvSpPr/>
          <p:nvPr/>
        </p:nvSpPr>
        <p:spPr>
          <a:xfrm>
            <a:off x="384048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PWM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概率加权矩</a:t>
            </a:r>
            <a:endParaRPr lang="en-US" sz="1200" dirty="0"/>
          </a:p>
        </p:txBody>
      </p:sp>
      <p:sp>
        <p:nvSpPr>
          <p:cNvPr id="42" name="节点-L 矩"/>
          <p:cNvSpPr/>
          <p:nvPr/>
        </p:nvSpPr>
        <p:spPr>
          <a:xfrm>
            <a:off x="580644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可与 PWM 线性转换</a:t>
            </a:r>
            <a:endParaRPr lang="en-US" sz="1200" dirty="0"/>
          </a:p>
        </p:txBody>
      </p:sp>
      <p:sp>
        <p:nvSpPr>
          <p:cNvPr id="43" name="节点-TL 矩"/>
          <p:cNvSpPr/>
          <p:nvPr/>
        </p:nvSpPr>
        <p:spPr>
          <a:xfrm>
            <a:off x="777240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截尾，减端部影响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11880" y="4700016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5577840" y="4700016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543800" y="470001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7" name="主干-⑤ 线性最小方差"/>
          <p:cNvSpPr/>
          <p:nvPr/>
        </p:nvSpPr>
        <p:spPr>
          <a:xfrm>
            <a:off x="457200" y="5102352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⑤ 线性最小方差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协方差定权重</a:t>
            </a:r>
            <a:endParaRPr lang="en-US" sz="1200" dirty="0"/>
          </a:p>
        </p:txBody>
      </p:sp>
      <p:sp>
        <p:nvSpPr>
          <p:cNvPr id="48" name="节点-Sugiyama 等"/>
          <p:cNvSpPr/>
          <p:nvPr/>
        </p:nvSpPr>
        <p:spPr>
          <a:xfrm>
            <a:off x="187452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Sugiyama 等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条件位置 MVLUE</a:t>
            </a:r>
            <a:endParaRPr lang="en-US" sz="1200" dirty="0"/>
          </a:p>
        </p:txBody>
      </p:sp>
      <p:sp>
        <p:nvSpPr>
          <p:cNvPr id="49" name="主干-⑥ 后验推断"/>
          <p:cNvSpPr/>
          <p:nvPr/>
        </p:nvSpPr>
        <p:spPr>
          <a:xfrm>
            <a:off x="384048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⑥ 后验推断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先验＋似然</a:t>
            </a:r>
            <a:endParaRPr lang="en-US" sz="1200" dirty="0"/>
          </a:p>
        </p:txBody>
      </p:sp>
      <p:sp>
        <p:nvSpPr>
          <p:cNvPr id="50" name="节点-Bayes 估计"/>
          <p:cNvSpPr/>
          <p:nvPr/>
        </p:nvSpPr>
        <p:spPr>
          <a:xfrm>
            <a:off x="580644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Bayes 估计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按后验规则取值</a:t>
            </a:r>
            <a:endParaRPr lang="en-US" sz="1200" dirty="0"/>
          </a:p>
        </p:txBody>
      </p:sp>
      <p:sp>
        <p:nvSpPr>
          <p:cNvPr id="51" name="主干-⑦ 直接学习"/>
          <p:cNvSpPr/>
          <p:nvPr/>
        </p:nvSpPr>
        <p:spPr>
          <a:xfrm>
            <a:off x="777240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⑦ 直接学习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训练数据</a:t>
            </a:r>
            <a:endParaRPr lang="en-US" sz="1200" dirty="0"/>
          </a:p>
        </p:txBody>
      </p:sp>
      <p:sp>
        <p:nvSpPr>
          <p:cNvPr id="52" name="节点-神经网络估参"/>
          <p:cNvSpPr/>
          <p:nvPr/>
        </p:nvSpPr>
        <p:spPr>
          <a:xfrm>
            <a:off x="973836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神经网络估参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样本特征 → 三参数</a:t>
            </a:r>
            <a:endParaRPr lang="en-US" sz="1200" dirty="0"/>
          </a:p>
        </p:txBody>
      </p:sp>
      <p:sp>
        <p:nvSpPr>
          <p:cNvPr id="53" name="主干-组合与工具"/>
          <p:cNvSpPr/>
          <p:nvPr/>
        </p:nvSpPr>
        <p:spPr>
          <a:xfrm>
            <a:off x="457200" y="5724144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组合与工具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放回实际环节</a:t>
            </a:r>
            <a:endParaRPr lang="en-US" sz="1200" dirty="0"/>
          </a:p>
        </p:txBody>
      </p:sp>
      <p:sp>
        <p:nvSpPr>
          <p:cNvPr id="54" name="节点-WMLE＋矩关系"/>
          <p:cNvSpPr/>
          <p:nvPr/>
        </p:nvSpPr>
        <p:spPr>
          <a:xfrm>
            <a:off x="187452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WMLE＋矩关系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定形状，再恢复 γ、η</a:t>
            </a:r>
            <a:endParaRPr lang="en-US" sz="1200" dirty="0"/>
          </a:p>
        </p:txBody>
      </p:sp>
      <p:sp>
        <p:nvSpPr>
          <p:cNvPr id="55" name="节点-灰色模型＋SVR"/>
          <p:cNvSpPr/>
          <p:nvPr/>
        </p:nvSpPr>
        <p:spPr>
          <a:xfrm>
            <a:off x="384048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灰色模型＋SVR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先定位，再拟合概率图</a:t>
            </a:r>
            <a:endParaRPr lang="en-US" sz="1200" dirty="0"/>
          </a:p>
        </p:txBody>
      </p:sp>
      <p:sp>
        <p:nvSpPr>
          <p:cNvPr id="56" name="节点-PSO／模拟退火"/>
          <p:cNvSpPr/>
          <p:nvPr/>
        </p:nvSpPr>
        <p:spPr>
          <a:xfrm>
            <a:off x="580644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PSO／模拟退火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搜索似然目标</a:t>
            </a:r>
            <a:endParaRPr lang="en-US" sz="1200" dirty="0"/>
          </a:p>
        </p:txBody>
      </p:sp>
      <p:sp>
        <p:nvSpPr>
          <p:cNvPr id="57" name="节点-神经网络调带宽"/>
          <p:cNvSpPr/>
          <p:nvPr/>
        </p:nvSpPr>
        <p:spPr>
          <a:xfrm>
            <a:off x="777240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神经网络调带宽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不同于直接学习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738360" y="57241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新名称：先看它改了哪个环节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96012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作者明示的扩展或改进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4612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374904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局部借用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25780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576072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数学关系或共享构造，不认定承接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732520" y="6245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节点为代表方法，并非全部文献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ibull谱系">
  <a:themeElements>
    <a:clrScheme name="Weibull谱系">
      <a:dk1>
        <a:srgbClr val="1F2328"/>
      </a:dk1>
      <a:lt1>
        <a:srgbClr val="FFFFFF"/>
      </a:lt1>
      <a:dk2>
        <a:srgbClr val="5A6068"/>
      </a:dk2>
      <a:lt2>
        <a:srgbClr val="F2F4F5"/>
      </a:lt2>
      <a:accent1>
        <a:srgbClr val="0F6E56"/>
      </a:accent1>
      <a:accent2>
        <a:srgbClr val="6B7178"/>
      </a:accent2>
      <a:accent3>
        <a:srgbClr val="A3A9AF"/>
      </a:accent3>
      <a:accent4>
        <a:srgbClr val="E1F2EC"/>
      </a:accent4>
      <a:accent5>
        <a:srgbClr val="085041"/>
      </a:accent5>
      <a:accent6>
        <a:srgbClr val="B85042"/>
      </a:accent6>
      <a:hlink>
        <a:srgbClr val="0F6E56"/>
      </a:hlink>
      <a:folHlink>
        <a:srgbClr val="5A6068"/>
      </a:folHlink>
    </a:clrScheme>
    <a:fontScheme name="Weibull谱系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三参数Weibull估计方法谱系</dc:title>
  <dc:subject>PptxGenJS Presentation</dc:subject>
  <dc:creator>PptxGenJS</dc:creator>
  <cp:lastModifiedBy>PptxGenJS</cp:lastModifiedBy>
  <cp:revision>1</cp:revision>
  <dcterms:created xsi:type="dcterms:W3CDTF">2026-10-19T12:34:13Z</dcterms:created>
  <dcterms:modified xsi:type="dcterms:W3CDTF">2026-10-19T12:34:13Z</dcterms:modified>
</cp:coreProperties>
</file>