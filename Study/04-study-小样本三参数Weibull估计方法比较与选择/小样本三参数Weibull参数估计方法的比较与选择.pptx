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61e2a5c28946d6" /><Relationship Type="http://schemas.openxmlformats.org/officeDocument/2006/relationships/extended-properties" Target="/docProps/app.xml" Id="R17f331a775fb4070" /><Relationship Type="http://schemas.openxmlformats.org/officeDocument/2006/relationships/officeDocument" Target="/ppt/presentation.xml" Id="R5283f7a92cee46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619f46c5cf4d72"/>
  </p:sldMasterIdLst>
  <p:notesMasterIdLst>
    <p:notesMasterId xmlns:r="http://schemas.openxmlformats.org/officeDocument/2006/relationships" r:id="Re86504c33eda41ec"/>
  </p:notesMasterIdLst>
  <p:sldIdLst>
    <p:sldId xmlns:r="http://schemas.openxmlformats.org/officeDocument/2006/relationships" id="256" r:id="Rfdd921d2d4f448dd"/>
    <p:sldId xmlns:r="http://schemas.openxmlformats.org/officeDocument/2006/relationships" id="257" r:id="R9bc7d21c9d684824"/>
    <p:sldId xmlns:r="http://schemas.openxmlformats.org/officeDocument/2006/relationships" id="258" r:id="Rdc3b0717a4fb48e0"/>
    <p:sldId xmlns:r="http://schemas.openxmlformats.org/officeDocument/2006/relationships" id="259" r:id="R9857211669274f88"/>
    <p:sldId xmlns:r="http://schemas.openxmlformats.org/officeDocument/2006/relationships" id="260" r:id="R6e36380874e449e3"/>
    <p:sldId xmlns:r="http://schemas.openxmlformats.org/officeDocument/2006/relationships" id="261" r:id="R669ed826f47c4fc0"/>
    <p:sldId xmlns:r="http://schemas.openxmlformats.org/officeDocument/2006/relationships" id="262" r:id="Rbe392dc477784f0d"/>
    <p:sldId xmlns:r="http://schemas.openxmlformats.org/officeDocument/2006/relationships" id="263" r:id="Rf0f6a39c183a49a9"/>
    <p:sldId xmlns:r="http://schemas.openxmlformats.org/officeDocument/2006/relationships" id="264" r:id="Re82a3fdf26dc49fa"/>
    <p:sldId xmlns:r="http://schemas.openxmlformats.org/officeDocument/2006/relationships" id="265" r:id="R53a167456e744757"/>
    <p:sldId xmlns:r="http://schemas.openxmlformats.org/officeDocument/2006/relationships" id="266" r:id="Ref2873565fad4e8b"/>
    <p:sldId xmlns:r="http://schemas.openxmlformats.org/officeDocument/2006/relationships" id="267" r:id="R464dc40493634b18"/>
    <p:sldId xmlns:r="http://schemas.openxmlformats.org/officeDocument/2006/relationships" id="268" r:id="R025debaa0e9e4612"/>
    <p:sldId xmlns:r="http://schemas.openxmlformats.org/officeDocument/2006/relationships" id="269" r:id="R965644e98c9b4fb0"/>
    <p:sldId xmlns:r="http://schemas.openxmlformats.org/officeDocument/2006/relationships" id="270" r:id="R6e47d3bc84d34c33"/>
    <p:sldId xmlns:r="http://schemas.openxmlformats.org/officeDocument/2006/relationships" id="271" r:id="Rcc3d612851b244f1"/>
    <p:sldId xmlns:r="http://schemas.openxmlformats.org/officeDocument/2006/relationships" id="272" r:id="R44728522699b4896"/>
    <p:sldId xmlns:r="http://schemas.openxmlformats.org/officeDocument/2006/relationships" id="273" r:id="Re9addf84bc144d8b"/>
    <p:sldId xmlns:r="http://schemas.openxmlformats.org/officeDocument/2006/relationships" id="274" r:id="R2d25ff58fa794cf1"/>
    <p:sldId xmlns:r="http://schemas.openxmlformats.org/officeDocument/2006/relationships" id="275" r:id="R31472f4e0a904f5a"/>
    <p:sldId xmlns:r="http://schemas.openxmlformats.org/officeDocument/2006/relationships" id="276" r:id="R4987d4f9cc8f43e5"/>
    <p:sldId xmlns:r="http://schemas.openxmlformats.org/officeDocument/2006/relationships" id="277" r:id="R1116f01853964978"/>
    <p:sldId xmlns:r="http://schemas.openxmlformats.org/officeDocument/2006/relationships" id="278" r:id="R0c31a0e1522c4c20"/>
    <p:sldId xmlns:r="http://schemas.openxmlformats.org/officeDocument/2006/relationships" id="279" r:id="R215c8f7b7a024b6a"/>
    <p:sldId xmlns:r="http://schemas.openxmlformats.org/officeDocument/2006/relationships" id="280" r:id="R2ef43c9702ee4b76"/>
    <p:sldId xmlns:r="http://schemas.openxmlformats.org/officeDocument/2006/relationships" id="281" r:id="R3a93e8a20bab45af"/>
    <p:sldId xmlns:r="http://schemas.openxmlformats.org/officeDocument/2006/relationships" id="282" r:id="Rbc56b71fc53c483d"/>
    <p:sldId xmlns:r="http://schemas.openxmlformats.org/officeDocument/2006/relationships" id="283" r:id="Ra145b515b842455c"/>
    <p:sldId xmlns:r="http://schemas.openxmlformats.org/officeDocument/2006/relationships" id="284" r:id="R74560fb4eeb34be8"/>
    <p:sldId xmlns:r="http://schemas.openxmlformats.org/officeDocument/2006/relationships" id="285" r:id="R469eb24b45434c01"/>
    <p:sldId xmlns:r="http://schemas.openxmlformats.org/officeDocument/2006/relationships" id="286" r:id="Rc773454a432a4658"/>
    <p:sldId xmlns:r="http://schemas.openxmlformats.org/officeDocument/2006/relationships" id="287" r:id="R35c2f7bb8b0243d6"/>
    <p:sldId xmlns:r="http://schemas.openxmlformats.org/officeDocument/2006/relationships" id="288" r:id="R7a70c4ef188b4d07"/>
    <p:sldId xmlns:r="http://schemas.openxmlformats.org/officeDocument/2006/relationships" id="289" r:id="Rf102c8276c2a449a"/>
    <p:sldId xmlns:r="http://schemas.openxmlformats.org/officeDocument/2006/relationships" id="290" r:id="Rddd9d6621ee44efd"/>
    <p:sldId xmlns:r="http://schemas.openxmlformats.org/officeDocument/2006/relationships" id="291" r:id="R2c19bbbee93440cd"/>
    <p:sldId xmlns:r="http://schemas.openxmlformats.org/officeDocument/2006/relationships" id="292" r:id="Re27c121f5663460a"/>
    <p:sldId xmlns:r="http://schemas.openxmlformats.org/officeDocument/2006/relationships" id="293" r:id="R61c3ed6297504cdf"/>
    <p:sldId xmlns:r="http://schemas.openxmlformats.org/officeDocument/2006/relationships" id="294" r:id="R1cfbbbb887fa44a1"/>
    <p:sldId xmlns:r="http://schemas.openxmlformats.org/officeDocument/2006/relationships" id="295" r:id="Rbe4642f52d354a95"/>
    <p:sldId xmlns:r="http://schemas.openxmlformats.org/officeDocument/2006/relationships" id="296" r:id="Ra7e7ad07d7cf446b"/>
    <p:sldId xmlns:r="http://schemas.openxmlformats.org/officeDocument/2006/relationships" id="297" r:id="R6c6aedf2a17f43d5"/>
    <p:sldId xmlns:r="http://schemas.openxmlformats.org/officeDocument/2006/relationships" id="298" r:id="R83572908e0534324"/>
    <p:sldId xmlns:r="http://schemas.openxmlformats.org/officeDocument/2006/relationships" id="299" r:id="R88b72b1fb808477c"/>
    <p:sldId xmlns:r="http://schemas.openxmlformats.org/officeDocument/2006/relationships" id="300" r:id="R8722585462674956"/>
    <p:sldId xmlns:r="http://schemas.openxmlformats.org/officeDocument/2006/relationships" id="301" r:id="Rd34388bb7bb84f0d"/>
    <p:sldId xmlns:r="http://schemas.openxmlformats.org/officeDocument/2006/relationships" id="302" r:id="Rfecf0ed713f545bc"/>
    <p:sldId xmlns:r="http://schemas.openxmlformats.org/officeDocument/2006/relationships" id="303" r:id="R07b94f64e4da4651"/>
    <p:sldId xmlns:r="http://schemas.openxmlformats.org/officeDocument/2006/relationships" id="304" r:id="Rf50236aaba824318"/>
    <p:sldId xmlns:r="http://schemas.openxmlformats.org/officeDocument/2006/relationships" id="305" r:id="R676b84099c084fd6"/>
    <p:sldId xmlns:r="http://schemas.openxmlformats.org/officeDocument/2006/relationships" id="306" r:id="Rb4dec023ea3344b1"/>
    <p:sldId xmlns:r="http://schemas.openxmlformats.org/officeDocument/2006/relationships" id="307" r:id="Rabd184a82c7a4f2f"/>
    <p:sldId xmlns:r="http://schemas.openxmlformats.org/officeDocument/2006/relationships" id="308" r:id="R81eb60b433144ddf"/>
    <p:sldId xmlns:r="http://schemas.openxmlformats.org/officeDocument/2006/relationships" id="309" r:id="R0f709d23e17c4394"/>
    <p:sldId xmlns:r="http://schemas.openxmlformats.org/officeDocument/2006/relationships" id="310" r:id="R9cbb63db5905437f"/>
    <p:sldId xmlns:r="http://schemas.openxmlformats.org/officeDocument/2006/relationships" id="311" r:id="Rc0fee92b74e74ed5"/>
    <p:sldId xmlns:r="http://schemas.openxmlformats.org/officeDocument/2006/relationships" id="312" r:id="R15182d4dd7ec4e72"/>
    <p:sldId xmlns:r="http://schemas.openxmlformats.org/officeDocument/2006/relationships" id="313" r:id="R2eda6fb4572d40d2"/>
    <p:sldId xmlns:r="http://schemas.openxmlformats.org/officeDocument/2006/relationships" id="314" r:id="R5c2b5f6dbd894e67"/>
    <p:sldId xmlns:r="http://schemas.openxmlformats.org/officeDocument/2006/relationships" id="315" r:id="R0c6ac52220f442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7e642bc03d4fa9" /><Relationship Type="http://schemas.openxmlformats.org/officeDocument/2006/relationships/slideMaster" Target="/ppt/slideMasters/slideMaster1.xml" Id="R59619f46c5cf4d72" /><Relationship Type="http://schemas.openxmlformats.org/officeDocument/2006/relationships/notesMaster" Target="/ppt/notesMasters/notesMaster1.xml" Id="Re86504c33eda41ec" /><Relationship Type="http://schemas.openxmlformats.org/officeDocument/2006/relationships/presProps" Target="/ppt/presProps.xml" Id="Rbab95d9e93404ca3" /><Relationship Type="http://schemas.openxmlformats.org/officeDocument/2006/relationships/tableStyles" Target="/ppt/tableStyles.xml" Id="R521d26f1388641ab" /><Relationship Type="http://schemas.openxmlformats.org/officeDocument/2006/relationships/slide" Target="/ppt/slides/slide1.xml" Id="Rfdd921d2d4f448dd" /><Relationship Type="http://schemas.openxmlformats.org/officeDocument/2006/relationships/slide" Target="/ppt/slides/slide2.xml" Id="R9bc7d21c9d684824" /><Relationship Type="http://schemas.openxmlformats.org/officeDocument/2006/relationships/slide" Target="/ppt/slides/slide3.xml" Id="Rdc3b0717a4fb48e0" /><Relationship Type="http://schemas.openxmlformats.org/officeDocument/2006/relationships/slide" Target="/ppt/slides/slide4.xml" Id="R9857211669274f88" /><Relationship Type="http://schemas.openxmlformats.org/officeDocument/2006/relationships/slide" Target="/ppt/slides/slide5.xml" Id="R6e36380874e449e3" /><Relationship Type="http://schemas.openxmlformats.org/officeDocument/2006/relationships/slide" Target="/ppt/slides/slide6.xml" Id="R669ed826f47c4fc0" /><Relationship Type="http://schemas.openxmlformats.org/officeDocument/2006/relationships/slide" Target="/ppt/slides/slide7.xml" Id="Rbe392dc477784f0d" /><Relationship Type="http://schemas.openxmlformats.org/officeDocument/2006/relationships/slide" Target="/ppt/slides/slide8.xml" Id="Rf0f6a39c183a49a9" /><Relationship Type="http://schemas.openxmlformats.org/officeDocument/2006/relationships/slide" Target="/ppt/slides/slide9.xml" Id="Re82a3fdf26dc49fa" /><Relationship Type="http://schemas.openxmlformats.org/officeDocument/2006/relationships/slide" Target="/ppt/slides/slide10.xml" Id="R53a167456e744757" /><Relationship Type="http://schemas.openxmlformats.org/officeDocument/2006/relationships/slide" Target="/ppt/slides/slide11.xml" Id="Ref2873565fad4e8b" /><Relationship Type="http://schemas.openxmlformats.org/officeDocument/2006/relationships/slide" Target="/ppt/slides/slide12.xml" Id="R464dc40493634b18" /><Relationship Type="http://schemas.openxmlformats.org/officeDocument/2006/relationships/slide" Target="/ppt/slides/slide13.xml" Id="R025debaa0e9e4612" /><Relationship Type="http://schemas.openxmlformats.org/officeDocument/2006/relationships/slide" Target="/ppt/slides/slide14.xml" Id="R965644e98c9b4fb0" /><Relationship Type="http://schemas.openxmlformats.org/officeDocument/2006/relationships/slide" Target="/ppt/slides/slide15.xml" Id="R6e47d3bc84d34c33" /><Relationship Type="http://schemas.openxmlformats.org/officeDocument/2006/relationships/slide" Target="/ppt/slides/slide16.xml" Id="Rcc3d612851b244f1" /><Relationship Type="http://schemas.openxmlformats.org/officeDocument/2006/relationships/slide" Target="/ppt/slides/slide17.xml" Id="R44728522699b4896" /><Relationship Type="http://schemas.openxmlformats.org/officeDocument/2006/relationships/slide" Target="/ppt/slides/slide18.xml" Id="Re9addf84bc144d8b" /><Relationship Type="http://schemas.openxmlformats.org/officeDocument/2006/relationships/slide" Target="/ppt/slides/slide19.xml" Id="R2d25ff58fa794cf1" /><Relationship Type="http://schemas.openxmlformats.org/officeDocument/2006/relationships/slide" Target="/ppt/slides/slide20.xml" Id="R31472f4e0a904f5a" /><Relationship Type="http://schemas.openxmlformats.org/officeDocument/2006/relationships/slide" Target="/ppt/slides/slide21.xml" Id="R4987d4f9cc8f43e5" /><Relationship Type="http://schemas.openxmlformats.org/officeDocument/2006/relationships/slide" Target="/ppt/slides/slide22.xml" Id="R1116f01853964978" /><Relationship Type="http://schemas.openxmlformats.org/officeDocument/2006/relationships/slide" Target="/ppt/slides/slide23.xml" Id="R0c31a0e1522c4c20" /><Relationship Type="http://schemas.openxmlformats.org/officeDocument/2006/relationships/slide" Target="/ppt/slides/slide24.xml" Id="R215c8f7b7a024b6a" /><Relationship Type="http://schemas.openxmlformats.org/officeDocument/2006/relationships/slide" Target="/ppt/slides/slide25.xml" Id="R2ef43c9702ee4b76" /><Relationship Type="http://schemas.openxmlformats.org/officeDocument/2006/relationships/slide" Target="/ppt/slides/slide26.xml" Id="R3a93e8a20bab45af" /><Relationship Type="http://schemas.openxmlformats.org/officeDocument/2006/relationships/slide" Target="/ppt/slides/slide27.xml" Id="Rbc56b71fc53c483d" /><Relationship Type="http://schemas.openxmlformats.org/officeDocument/2006/relationships/slide" Target="/ppt/slides/slide28.xml" Id="Ra145b515b842455c" /><Relationship Type="http://schemas.openxmlformats.org/officeDocument/2006/relationships/slide" Target="/ppt/slides/slide29.xml" Id="R74560fb4eeb34be8" /><Relationship Type="http://schemas.openxmlformats.org/officeDocument/2006/relationships/slide" Target="/ppt/slides/slide30.xml" Id="R469eb24b45434c01" /><Relationship Type="http://schemas.openxmlformats.org/officeDocument/2006/relationships/slide" Target="/ppt/slides/slide31.xml" Id="Rc773454a432a4658" /><Relationship Type="http://schemas.openxmlformats.org/officeDocument/2006/relationships/slide" Target="/ppt/slides/slide32.xml" Id="R35c2f7bb8b0243d6" /><Relationship Type="http://schemas.openxmlformats.org/officeDocument/2006/relationships/slide" Target="/ppt/slides/slide33.xml" Id="R7a70c4ef188b4d07" /><Relationship Type="http://schemas.openxmlformats.org/officeDocument/2006/relationships/slide" Target="/ppt/slides/slide34.xml" Id="Rf102c8276c2a449a" /><Relationship Type="http://schemas.openxmlformats.org/officeDocument/2006/relationships/slide" Target="/ppt/slides/slide35.xml" Id="Rddd9d6621ee44efd" /><Relationship Type="http://schemas.openxmlformats.org/officeDocument/2006/relationships/slide" Target="/ppt/slides/slide36.xml" Id="R2c19bbbee93440cd" /><Relationship Type="http://schemas.openxmlformats.org/officeDocument/2006/relationships/slide" Target="/ppt/slides/slide37.xml" Id="Re27c121f5663460a" /><Relationship Type="http://schemas.openxmlformats.org/officeDocument/2006/relationships/slide" Target="/ppt/slides/slide38.xml" Id="R61c3ed6297504cdf" /><Relationship Type="http://schemas.openxmlformats.org/officeDocument/2006/relationships/slide" Target="/ppt/slides/slide39.xml" Id="R1cfbbbb887fa44a1" /><Relationship Type="http://schemas.openxmlformats.org/officeDocument/2006/relationships/slide" Target="/ppt/slides/slide40.xml" Id="Rbe4642f52d354a95" /><Relationship Type="http://schemas.openxmlformats.org/officeDocument/2006/relationships/slide" Target="/ppt/slides/slide41.xml" Id="Ra7e7ad07d7cf446b" /><Relationship Type="http://schemas.openxmlformats.org/officeDocument/2006/relationships/slide" Target="/ppt/slides/slide42.xml" Id="R6c6aedf2a17f43d5" /><Relationship Type="http://schemas.openxmlformats.org/officeDocument/2006/relationships/slide" Target="/ppt/slides/slide43.xml" Id="R83572908e0534324" /><Relationship Type="http://schemas.openxmlformats.org/officeDocument/2006/relationships/slide" Target="/ppt/slides/slide44.xml" Id="R88b72b1fb808477c" /><Relationship Type="http://schemas.openxmlformats.org/officeDocument/2006/relationships/slide" Target="/ppt/slides/slide45.xml" Id="R8722585462674956" /><Relationship Type="http://schemas.openxmlformats.org/officeDocument/2006/relationships/slide" Target="/ppt/slides/slide46.xml" Id="Rd34388bb7bb84f0d" /><Relationship Type="http://schemas.openxmlformats.org/officeDocument/2006/relationships/slide" Target="/ppt/slides/slide47.xml" Id="Rfecf0ed713f545bc" /><Relationship Type="http://schemas.openxmlformats.org/officeDocument/2006/relationships/slide" Target="/ppt/slides/slide48.xml" Id="R07b94f64e4da4651" /><Relationship Type="http://schemas.openxmlformats.org/officeDocument/2006/relationships/slide" Target="/ppt/slides/slide49.xml" Id="Rf50236aaba824318" /><Relationship Type="http://schemas.openxmlformats.org/officeDocument/2006/relationships/slide" Target="/ppt/slides/slide50.xml" Id="R676b84099c084fd6" /><Relationship Type="http://schemas.openxmlformats.org/officeDocument/2006/relationships/slide" Target="/ppt/slides/slide51.xml" Id="Rb4dec023ea3344b1" /><Relationship Type="http://schemas.openxmlformats.org/officeDocument/2006/relationships/slide" Target="/ppt/slides/slide52.xml" Id="Rabd184a82c7a4f2f" /><Relationship Type="http://schemas.openxmlformats.org/officeDocument/2006/relationships/slide" Target="/ppt/slides/slide53.xml" Id="R81eb60b433144ddf" /><Relationship Type="http://schemas.openxmlformats.org/officeDocument/2006/relationships/slide" Target="/ppt/slides/slide54.xml" Id="R0f709d23e17c4394" /><Relationship Type="http://schemas.openxmlformats.org/officeDocument/2006/relationships/slide" Target="/ppt/slides/slide55.xml" Id="R9cbb63db5905437f" /><Relationship Type="http://schemas.openxmlformats.org/officeDocument/2006/relationships/slide" Target="/ppt/slides/slide56.xml" Id="Rc0fee92b74e74ed5" /><Relationship Type="http://schemas.openxmlformats.org/officeDocument/2006/relationships/slide" Target="/ppt/slides/slide57.xml" Id="R15182d4dd7ec4e72" /><Relationship Type="http://schemas.openxmlformats.org/officeDocument/2006/relationships/slide" Target="/ppt/slides/slide58.xml" Id="R2eda6fb4572d40d2" /><Relationship Type="http://schemas.openxmlformats.org/officeDocument/2006/relationships/slide" Target="/ppt/slides/slide59.xml" Id="R5c2b5f6dbd894e67" /><Relationship Type="http://schemas.openxmlformats.org/officeDocument/2006/relationships/slide" Target="/ppt/slides/slide60.xml" Id="R0c6ac52220f442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8b92903b3742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5dcb12ca18428b" /><Relationship Type="http://schemas.openxmlformats.org/officeDocument/2006/relationships/notesMaster" Target="/ppt/notesMasters/notesMaster1.xml" Id="R6dc556b40c2045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6785027b9240c8" /><Relationship Type="http://schemas.openxmlformats.org/officeDocument/2006/relationships/notesMaster" Target="/ppt/notesMasters/notesMaster1.xml" Id="R5d4ff2befc2449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49a18971db42da" /><Relationship Type="http://schemas.openxmlformats.org/officeDocument/2006/relationships/notesMaster" Target="/ppt/notesMasters/notesMaster1.xml" Id="Rc5a34f05099e40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c8128de29849b5" /><Relationship Type="http://schemas.openxmlformats.org/officeDocument/2006/relationships/notesMaster" Target="/ppt/notesMasters/notesMaster1.xml" Id="R4fa70ee232c54e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1849aaa7ee44ac" /><Relationship Type="http://schemas.openxmlformats.org/officeDocument/2006/relationships/notesMaster" Target="/ppt/notesMasters/notesMaster1.xml" Id="R23880638f6ad42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88f74807f24d7d" /><Relationship Type="http://schemas.openxmlformats.org/officeDocument/2006/relationships/notesMaster" Target="/ppt/notesMasters/notesMaster1.xml" Id="R898b877ca64541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db8bf9b4ed4afc" /><Relationship Type="http://schemas.openxmlformats.org/officeDocument/2006/relationships/notesMaster" Target="/ppt/notesMasters/notesMaster1.xml" Id="R82adb31f6fd546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d846ac10b247e6" /><Relationship Type="http://schemas.openxmlformats.org/officeDocument/2006/relationships/notesMaster" Target="/ppt/notesMasters/notesMaster1.xml" Id="R4d21e49613844a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21454471a446e1" /><Relationship Type="http://schemas.openxmlformats.org/officeDocument/2006/relationships/notesMaster" Target="/ppt/notesMasters/notesMaster1.xml" Id="Rbe9310035b4943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c20fedb3554c47" /><Relationship Type="http://schemas.openxmlformats.org/officeDocument/2006/relationships/notesMaster" Target="/ppt/notesMasters/notesMaster1.xml" Id="Rf0d59242f5b64f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08f91a3837487e" /><Relationship Type="http://schemas.openxmlformats.org/officeDocument/2006/relationships/notesMaster" Target="/ppt/notesMasters/notesMaster1.xml" Id="R5949b65d346b41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5c10d7870e4317" /><Relationship Type="http://schemas.openxmlformats.org/officeDocument/2006/relationships/notesMaster" Target="/ppt/notesMasters/notesMaster1.xml" Id="R6f68055ac0a5454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8276893c5949f9" /><Relationship Type="http://schemas.openxmlformats.org/officeDocument/2006/relationships/notesMaster" Target="/ppt/notesMasters/notesMaster1.xml" Id="Re7ce94e8af8b4fe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96b6a3407104a48" /><Relationship Type="http://schemas.openxmlformats.org/officeDocument/2006/relationships/notesMaster" Target="/ppt/notesMasters/notesMaster1.xml" Id="R7d72a21924de43d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6c32144fb694eb1" /><Relationship Type="http://schemas.openxmlformats.org/officeDocument/2006/relationships/notesMaster" Target="/ppt/notesMasters/notesMaster1.xml" Id="R3a5ddf0e9c60428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f88900bb20845a3" /><Relationship Type="http://schemas.openxmlformats.org/officeDocument/2006/relationships/notesMaster" Target="/ppt/notesMasters/notesMaster1.xml" Id="Recfa553e054c44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95a6c8745814901" /><Relationship Type="http://schemas.openxmlformats.org/officeDocument/2006/relationships/notesMaster" Target="/ppt/notesMasters/notesMaster1.xml" Id="R178a1ecc9d98478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bfe336311f4086" /><Relationship Type="http://schemas.openxmlformats.org/officeDocument/2006/relationships/notesMaster" Target="/ppt/notesMasters/notesMaster1.xml" Id="R4103dcba9bb844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0a2997a0954901" /><Relationship Type="http://schemas.openxmlformats.org/officeDocument/2006/relationships/notesMaster" Target="/ppt/notesMasters/notesMaster1.xml" Id="R125e1dfe121b420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9665f364d7b4e86" /><Relationship Type="http://schemas.openxmlformats.org/officeDocument/2006/relationships/notesMaster" Target="/ppt/notesMasters/notesMaster1.xml" Id="R45beb87ae944412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d6cc320d3a44eb0" /><Relationship Type="http://schemas.openxmlformats.org/officeDocument/2006/relationships/notesMaster" Target="/ppt/notesMasters/notesMaster1.xml" Id="Rab453002c4ac4d6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6d5296ab9564300" /><Relationship Type="http://schemas.openxmlformats.org/officeDocument/2006/relationships/notesMaster" Target="/ppt/notesMasters/notesMaster1.xml" Id="R3158aba0a877472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b8e980313364dd0" /><Relationship Type="http://schemas.openxmlformats.org/officeDocument/2006/relationships/notesMaster" Target="/ppt/notesMasters/notesMaster1.xml" Id="R50d12f8045cb4fa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e8b9124bb4e4f6e" /><Relationship Type="http://schemas.openxmlformats.org/officeDocument/2006/relationships/notesMaster" Target="/ppt/notesMasters/notesMaster1.xml" Id="R08710462b77d478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06efe2fd7174b3f" /><Relationship Type="http://schemas.openxmlformats.org/officeDocument/2006/relationships/notesMaster" Target="/ppt/notesMasters/notesMaster1.xml" Id="Rbb3e59e409ee497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e13310e1e8f41c0" /><Relationship Type="http://schemas.openxmlformats.org/officeDocument/2006/relationships/notesMaster" Target="/ppt/notesMasters/notesMaster1.xml" Id="Rc86ab8d8043a496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baca74f526b4fde" /><Relationship Type="http://schemas.openxmlformats.org/officeDocument/2006/relationships/notesMaster" Target="/ppt/notesMasters/notesMaster1.xml" Id="R1c2e3ee7abdc482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9c86366035a4fca" /><Relationship Type="http://schemas.openxmlformats.org/officeDocument/2006/relationships/notesMaster" Target="/ppt/notesMasters/notesMaster1.xml" Id="R26591603d99c409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7c51669b6e74368" /><Relationship Type="http://schemas.openxmlformats.org/officeDocument/2006/relationships/notesMaster" Target="/ppt/notesMasters/notesMaster1.xml" Id="R989bb56a93b34b0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0d12e75dce04d72" /><Relationship Type="http://schemas.openxmlformats.org/officeDocument/2006/relationships/notesMaster" Target="/ppt/notesMasters/notesMaster1.xml" Id="R4891002fac15488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10395eece994685" /><Relationship Type="http://schemas.openxmlformats.org/officeDocument/2006/relationships/notesMaster" Target="/ppt/notesMasters/notesMaster1.xml" Id="Rb6a7d19d1eb2421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2d963fdd9704f08" /><Relationship Type="http://schemas.openxmlformats.org/officeDocument/2006/relationships/notesMaster" Target="/ppt/notesMasters/notesMaster1.xml" Id="R6f9cf2c26e01420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79cef9ce2b14b8f" /><Relationship Type="http://schemas.openxmlformats.org/officeDocument/2006/relationships/notesMaster" Target="/ppt/notesMasters/notesMaster1.xml" Id="R3204275843bf45c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152c5aa25414953" /><Relationship Type="http://schemas.openxmlformats.org/officeDocument/2006/relationships/notesMaster" Target="/ppt/notesMasters/notesMaster1.xml" Id="R6614baa74e86489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1621cba8e4a4fd1" /><Relationship Type="http://schemas.openxmlformats.org/officeDocument/2006/relationships/notesMaster" Target="/ppt/notesMasters/notesMaster1.xml" Id="R6de289632f8144e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0e563f9b9c2450b" /><Relationship Type="http://schemas.openxmlformats.org/officeDocument/2006/relationships/notesMaster" Target="/ppt/notesMasters/notesMaster1.xml" Id="Rb4639d464ecf486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9b063e84c0347d5" /><Relationship Type="http://schemas.openxmlformats.org/officeDocument/2006/relationships/notesMaster" Target="/ppt/notesMasters/notesMaster1.xml" Id="Rbdde5174b0c34c7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0e40ed9ac634028" /><Relationship Type="http://schemas.openxmlformats.org/officeDocument/2006/relationships/notesMaster" Target="/ppt/notesMasters/notesMaster1.xml" Id="R390c794a649946c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1541809acb64f10" /><Relationship Type="http://schemas.openxmlformats.org/officeDocument/2006/relationships/notesMaster" Target="/ppt/notesMasters/notesMaster1.xml" Id="R9683edea13e545b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597d570344442ab" /><Relationship Type="http://schemas.openxmlformats.org/officeDocument/2006/relationships/notesMaster" Target="/ppt/notesMasters/notesMaster1.xml" Id="R8de570a4e8174c2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ccd3747b5ca476e" /><Relationship Type="http://schemas.openxmlformats.org/officeDocument/2006/relationships/notesMaster" Target="/ppt/notesMasters/notesMaster1.xml" Id="Re74d482f464f406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c47ad2e8fda4b25" /><Relationship Type="http://schemas.openxmlformats.org/officeDocument/2006/relationships/notesMaster" Target="/ppt/notesMasters/notesMaster1.xml" Id="R1820b827342f497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d405437745642d6" /><Relationship Type="http://schemas.openxmlformats.org/officeDocument/2006/relationships/notesMaster" Target="/ppt/notesMasters/notesMaster1.xml" Id="R104b721b8f834ff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8a28976ed744225" /><Relationship Type="http://schemas.openxmlformats.org/officeDocument/2006/relationships/notesMaster" Target="/ppt/notesMasters/notesMaster1.xml" Id="Rd8dfe57b5365443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70d53d00a6f4c26" /><Relationship Type="http://schemas.openxmlformats.org/officeDocument/2006/relationships/notesMaster" Target="/ppt/notesMasters/notesMaster1.xml" Id="R18b10daf46d5401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f94174b9b0748d5" /><Relationship Type="http://schemas.openxmlformats.org/officeDocument/2006/relationships/notesMaster" Target="/ppt/notesMasters/notesMaster1.xml" Id="Re872a0ed958648c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37b780565b54d5e" /><Relationship Type="http://schemas.openxmlformats.org/officeDocument/2006/relationships/notesMaster" Target="/ppt/notesMasters/notesMaster1.xml" Id="Rd43fb4da7639471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126b1887dbe74940" /><Relationship Type="http://schemas.openxmlformats.org/officeDocument/2006/relationships/notesMaster" Target="/ppt/notesMasters/notesMaster1.xml" Id="R7c364040de6e496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6152af09a314696" /><Relationship Type="http://schemas.openxmlformats.org/officeDocument/2006/relationships/notesMaster" Target="/ppt/notesMasters/notesMaster1.xml" Id="R3541e3a4aadc421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d6fe14f732b4522" /><Relationship Type="http://schemas.openxmlformats.org/officeDocument/2006/relationships/notesMaster" Target="/ppt/notesMasters/notesMaster1.xml" Id="Rceb4f7e09bcb4d1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739224fe3dc4b02" /><Relationship Type="http://schemas.openxmlformats.org/officeDocument/2006/relationships/notesMaster" Target="/ppt/notesMasters/notesMaster1.xml" Id="R47dfb813c1d74f0c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57f46702e1264a43" /><Relationship Type="http://schemas.openxmlformats.org/officeDocument/2006/relationships/notesMaster" Target="/ppt/notesMasters/notesMaster1.xml" Id="R3cec942e988449b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0f40d510c1a4ed9" /><Relationship Type="http://schemas.openxmlformats.org/officeDocument/2006/relationships/notesMaster" Target="/ppt/notesMasters/notesMaster1.xml" Id="Rfa85386458544b64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4d0cecab434f4837" /><Relationship Type="http://schemas.openxmlformats.org/officeDocument/2006/relationships/notesMaster" Target="/ppt/notesMasters/notesMaster1.xml" Id="R5297abaf0c13417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f209545d55a4ebb" /><Relationship Type="http://schemas.openxmlformats.org/officeDocument/2006/relationships/notesMaster" Target="/ppt/notesMasters/notesMaster1.xml" Id="Re60d37c865564a3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f42a1c3ce9ef4f1a" /><Relationship Type="http://schemas.openxmlformats.org/officeDocument/2006/relationships/notesMaster" Target="/ppt/notesMasters/notesMaster1.xml" Id="R580db3d9d9bc48f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347411435df14eb7" /><Relationship Type="http://schemas.openxmlformats.org/officeDocument/2006/relationships/notesMaster" Target="/ppt/notesMasters/notesMaster1.xml" Id="R890f03ff5db0490f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33db604b8fc149d9" /><Relationship Type="http://schemas.openxmlformats.org/officeDocument/2006/relationships/notesMaster" Target="/ppt/notesMasters/notesMaster1.xml" Id="Rff0bf88f6a734686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22837bb610d44ee1" /><Relationship Type="http://schemas.openxmlformats.org/officeDocument/2006/relationships/notesMaster" Target="/ppt/notesMasters/notesMaster1.xml" Id="R221dd589c4da4857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2ddee2604df4caf" /><Relationship Type="http://schemas.openxmlformats.org/officeDocument/2006/relationships/notesMaster" Target="/ppt/notesMasters/notesMaster1.xml" Id="R0922a2826fde48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位老师、各位同学，大家好！我是东北大学机械工程与自动化学院的魏鹏宇。今天汇报小样本三参数Weibull参数估计方法的比较与选择。第一部分梳理方法原理及相互联系；第二部分在共同样本上比较代表方法，分析性能现象并解释典型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封面姓名依用户2026-10-23本轮指令：报告人魏鹏宇；另列谢里阳、陈鉴朋、孙伟侨。原报告内旧署名不因此改动。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 三参数Weibull参数估计方法的路线图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报告上（方法路线图）v2.0｜更新：2026-10-22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魏鹏宇｜东北大学机械工程与自动化学院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分会场3：装备寿命与可靠性评估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各位老师、各位同学，大家好！我是东北大学机械工程与自动化学院的在读博士生魏鹏宇。今天汇报的题目是《小样本三参数Weibull参数估计方法的比较与选择》。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次汇报分为两部分。第一部分梳理现有方法的估计原理，通过五条路线及方法间关系形成一张参数估计方法的路线图；第二部分在共同样本上比较代表方法，分析它们在小样本下的偏差、波动、异常输出和失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7　完整机理地图：方法怎样连接机制，方法之间怎样联系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分别理解五条路线后，再把具体方法接回地图。这里需要读两层联系。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层是同一个方法内部的机制连接。先识别它构造了什么、用什么确定哪个参数、其余参数怎样恢复，再按阶段连接路线节点。例如，LSPF依次经过W消元、W联合密度最大化、最小值期望位置修正及尺度恢复；SAM连接最小值期望关系、概率图回归和条件似然尺度更新；PM连接最小值中位数关系与给定位置的似然方程；Park Proposed+MLE2先用概率图相关性定位，再接平移样本的二参数MLE。它们可以跨路线展开，这些连接说明估计过程本身。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层是不同方法之间有依据的关系。例如，Jacquelin二参数推导扩展为三参数WMLE，随后再引入形状偏差修正，构成连续改进链；K–R的数据修改构造与Firth得分修正共同进入DMMLE，构成两个来源汇合的组合。方法之间的关系继续分为三种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沿袭或扩展： 原文明确沿用、扩展或修正前一构造时使用实线。</a:t>
            </a:r>
          </a:p>
          <a:p xmlns:a="http://schemas.openxmlformats.org/drawingml/2006/main">
            <a:r>
              <a:t>- 数学联系或共享构造： 两种方法之间可核对的公式关系或共享构造使用虚线，并注明成立条件；同属一路线本身不构成历史沿袭证据。</a:t>
            </a:r>
          </a:p>
          <a:p xmlns:a="http://schemas.openxmlformats.org/drawingml/2006/main">
            <a:r>
              <a:t>- 局部借用或组合： 一个方法只借用了另一条路线的位置处理、统计量或参数恢复步骤时使用点划线。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沿着这些关系，可以看到Jacquelin二参数推导向Cousineau WMLE及后续形状修正的扩展；Smith删最小值构造在K–R中的场景适配；K–R与Firth型修正形成DMMLE；White向Soman三参数概率图的扩展；MPS与QMP在特定分组设置下的特例关系；PWM与L矩的数学联系；以及LSPF向LPF的构造改进。MLE与MAP通过似然模型相连，MAP进一步引入先验和后验决策；PSO、模拟退火等工具则连接到各自搜索的目标。LSPF与早期W均值匹配方法共享标准化构造，但两者直接历史承接尚未确认；SAM与PM的相似框架，以及对LSPF／LPF的比较或实测数据引用，也不能直接画成父子沿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图8｜先沿机制读方法，再沿证据读方法关系。 各路线的机制标识与前述原理图一致；跨路线过程线解释同一估计过程怎样接入不同机制。方法之间另用实线、虚线和点划线标注沿袭或扩展、数学联系及局部借用。沿Jacquelin→WMLE→形状修正、White→Soman、L矩→TL矩、LSPF→LPF等链，可见具体构造的延续；LSPF→Yang迭代、WMLE→MVLE-H扩展等记录局部步骤的借用。PWM与L矩、Cran矩与PWM、MPS与QMP的数学联系保留相应条件。Soman与Park的回归方向关系以同分数、同位置为前提，两文实际分数选择各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图源：D:\weibull\Study\04-study-小样本三参数Weibull估计方法比较与选择\方法分类\机制图-v2.0\预览\06-完整机理地图-估计路线与方法关系.svg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3　路线一：似然构造与优化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这条路线的核心机制是：构建样本在候选参数下的似然函数，并通过最大化似然或相应的修正准则来估计参数。先固定已经观测到的样本，把分布密度看作待估参数的函数。对独立同分布完整样本 $D=(x_1,\ldots,x_n)$，每个观测对应一个参数函数 $g_i(\theta)=f(x_i;\theta)$；所有观测共用同一组参数 $\theta=(\beta,\eta,\gamma)$。在同一个参数处将这些函数值相乘，就构成联合似然：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$$L(\theta;D)=\prod_{i=1}^{n}g_i(\theta)=\prod_{i=1}^{n}f(x_i;\theta).$$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这个乘积对整个参数域定义了一个函数。最大似然估计在该联合函数上寻找最大值。当给定参数域 $\Theta$ 内存在最大值时，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$$\widehat\theta_{\mathrm{MLE}}\in\operatorname*{arg\,max}_{\theta\in\Theta}L(\theta;D).$$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3a把这一个构造过程连成图像：固定观测、形成各参数函数、在相同参数处相乘、在乘积函数上求最大值。前三步解释似然如何构造（L1），最后一步解释估计由什么准则确定（L2）。为便于绘制，图中固定η和γ，只展示β截面；完整三参数MLE仍在三维参数域中处理同一个联合似然。取对数、得分方程、剖面求解或数值优化是实现最大化的计算途径，得分为零还须区分极大值、其他驻点及边界情况。原始三参数似然可能无界，参数域、支持边界与有限解存在性仍须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始观测的密度乘积是这条路线的基本例子。若先变换为统计量，也可以由该统计量的联合密度构造似然；这时必须使用相应的分布，不能不加区分地把相关统计量的边缘密度相乘。LSPF的形状估计就是内部W统计量的联合似然最大化，统计量的选取没有取消其似然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图3a｜固定数据，把密度转为参数函数，再相乘并最大化。 左侧三个观测固定在寿命轴上；中间三条曲线分别是这三个观测对应的参数函数，横轴均为同一β范围；右侧似然曲线由三个函数在同一β处的值逐点相乘得到。蓝灰竖线及连线追踪同一个β₀如何从三个因子构成一个联合似然值，橙色箭头表示在这个联合函数上求最大值。本图峰点是固定η₀=3、γ₀=2时的条件形状估计；完整三参数MLE仍需在三维参数域内求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样本信息 | 参数确定原则 | 实现与改进位置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原始观测或选定统计量的联合密度，以及删失或支持边界信息 | 最大化似然或修正准则；估计方程的求解与修正按具体构造解释 | 似然项替换、方程加权、位置关系替换、边界约束、Firth型修正、局部候选与数值搜索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这个机制再看具体方法，改动位置就清楚了：CMLE替换最小值附近的似然贡献；罚似然引入额外目标因子；K–R先以最小值定位并删除该观测；Cohen–Whitten的不同MMLE分支保留部分方程、以特定统计关系替换其他方程；WMLE对估计方程加权，DMMLE在修改数据后进一步修正得分。修改似然项或估计方程属于统计构造变化，WMLE等不能仅凭名称就认定等同于某个未说明的似然最大化。PSO、模拟退火和差分进化直接搜索既定似然目标时，则承担数值求解环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图3b｜从密度贡献到求解方程及其改动位置。 上部展示各观测处的密度怎样相乘形成似然，再取对数、求导并由尺度方程消去η。下部在具体接口上展开：K–R平移和删除最小观测，DMMLE修正修改数据后的得分，WMLE给方程加权，Cohen–Whitten替换位置关系，CMLE替换最小值项，罚似然增加目标因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图源：D:\weibull\Study\04-study-小样本三参数Weibull估计方法比较与选择\方法分类\机制图-v2.0\预览\07-似然估计路线-信息处理流程.svg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4　路线二：分布关系匹配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条路线将样本转化为经验分布、绘图概率、概率间距或其他分布表示，再依据指定的拟合准则确定参数。它的机制包含相接的三个环节：构造用于比较的分布表示或概率结构（D1），指定残差、距离、间距或一致性准则（D2），再据此求得参数（D3）。需要同时交代比较对象和准则；“拟合得好”只有在这两者明确后才有具体含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以CDF拟合为例，将排序观测 $x_{(i)}$ 配以概率点 $p_i$，候选参数给出 $F_\theta(x_{(i)})$。各点的偏离先形成整组目标，再通过最小化确定参数：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$$Q_{\mathrm{CDF}}(\theta)=\sum_{i=1}^{n}w_i\left[F_\theta(x_{(i)})-p_i\right]^2,\qquad</a:t>
            </a:r>
          </a:p>
          <a:p xmlns:a="http://schemas.openxmlformats.org/drawingml/2006/main">
            <a:r>
              <a:t>\widehat\theta\in\operatorname*{arg\,min}_{\theta\in\Theta}Q_{\mathrm{CDF}}(\theta).$$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图4a下部沿同一组概率点和候选曲线说明这个过程。CDF平方差是共同机制的一个例子，其他方法需要回到各自实际使用的表示和准则。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图4a｜先明确表示与准则，再读参数怎样确定。 上部以D1—D3概括共同机制；下部CDF例子将同一组样本概率点、候选曲线、逐点偏离和整组差异连起来。概率图改变比较坐标，MPS使用概率间距，MDM比较反推尺度；这些构造在对应机制环节展开，CDF平方差不替代它们各自的准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概率图把分布关系变换为近似直线，Soman与Park分别通过其位置选择、分数和回归方向恢复参数；MPS则令 $u_i=F_\theta(x_{(i)})$，补上 $u_0=0$、$u_{n+1}=1$，最大化概率间距的乘积 $\prod_{i=1}^{n+1}(u_i-u_{i-1})$。这些间距来自CDF概率轴，与LSPF／LPF的数据变换统计量联合似然不同。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MDM又改变了比较对象：由同一Weibull分布关系反推每个观测的尺度伪估计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$$\eta_i(\beta,\gamma)=\frac{x_{(i)}-\gamma}{[-\log(1-p_i)]^{1/\beta}},$$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利用这些伪估计的一致性确定参数。本轮MDM先在给定位置下选择使尺度差异最小的形状，再以固定梯度偏移值$\delta=0.1$对条件最优值曲线定位，最后取伪尺度均值；不能把整个流程简写为同时最小化一个CDF平方差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样本信息 | 参数确定原则 | 实现与改进位置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经验CDF、概率图分数、相邻概率间距、各观测反推的尺度伪估计 | 最小化分布差异、残差或距离；最大化概率间距评分；或让尺度伪估计更一致 | 分数选择、位置定位、回归方向、分组方式、梯度阈值和固定偏移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概率图、LSE／WLSE、最小距离估计、MPS／QMP和MDM可以通过这条机制链联系起来：它们分别改变了分布表示、确定准则或参数恢复环节。若某一方法再接入统计关系修正位置或条件似然恢复尺度，相应步骤继续连向其他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图4b｜同一分布关系形成不同的匹配过程。 概率图部分把White／Soman的水平残差与Park的竖直残差并置，展示分数选择、位置评分和回归方向怎样共同决定参数。MPS比较CDF纵轴上的相邻概率间距；MDM先在给定位置下选择使尺度差异最小的形状，再沿该条件最优值曲线按梯度定位，最后以伪尺度均值恢复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图源：D:\weibull\Study\04-study-小样本三参数Weibull估计方法比较与选择\方法分类\机制图-v2.0\预览\08-分布匹配路线-信息处理流程.svg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4　路线二：分布关系匹配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条路线将样本转化为经验分布、绘图概率、概率间距或其他分布表示，再依据指定的拟合准则确定参数。它的机制包含相接的三个环节：构造用于比较的分布表示或概率结构（D1），指定残差、距离、间距或一致性准则（D2），再据此求得参数（D3）。需要同时交代比较对象和准则；“拟合得好”只有在这两者明确后才有具体含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以CDF拟合为例，将排序观测 $x_{(i)}$ 配以概率点 $p_i$，候选参数给出 $F_\theta(x_{(i)})$。各点的偏离先形成整组目标，再通过最小化确定参数：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$$Q_{\mathrm{CDF}}(\theta)=\sum_{i=1}^{n}w_i\left[F_\theta(x_{(i)})-p_i\right]^2,\qquad</a:t>
            </a:r>
          </a:p>
          <a:p xmlns:a="http://schemas.openxmlformats.org/drawingml/2006/main">
            <a:r>
              <a:t>\widehat\theta\in\operatorname*{arg\,min}_{\theta\in\Theta}Q_{\mathrm{CDF}}(\theta).$$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图4a下部沿同一组概率点和候选曲线说明这个过程。CDF平方差是共同机制的一个例子，其他方法需要回到各自实际使用的表示和准则。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图4a｜先明确表示与准则，再读参数怎样确定。 上部以D1—D3概括共同机制；下部CDF例子将同一组样本概率点、候选曲线、逐点偏离和整组差异连起来。概率图改变比较坐标，MPS使用概率间距，MDM比较反推尺度；这些构造在对应机制环节展开，CDF平方差不替代它们各自的准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概率图把分布关系变换为近似直线，Soman与Park分别通过其位置选择、分数和回归方向恢复参数；MPS则令 $u_i=F_\theta(x_{(i)})$，补上 $u_0=0$、$u_{n+1}=1$，最大化概率间距的乘积 $\prod_{i=1}^{n+1}(u_i-u_{i-1})$。这些间距来自CDF概率轴，与LSPF／LPF的数据变换统计量联合似然不同。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MDM又改变了比较对象：由同一Weibull分布关系反推每个观测的尺度伪估计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$$\eta_i(\beta,\gamma)=\frac{x_{(i)}-\gamma}{[-\log(1-p_i)]^{1/\beta}},$$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利用这些伪估计的一致性确定参数。本轮MDM先在给定位置下选择使尺度差异最小的形状，再以固定梯度偏移值$\delta=0.1$对条件最优值曲线定位，最后取伪尺度均值；不能把整个流程简写为同时最小化一个CDF平方差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样本信息 | 参数确定原则 | 实现与改进位置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经验CDF、概率图分数、相邻概率间距、各观测反推的尺度伪估计 | 最小化分布差异、残差或距离；最大化概率间距评分；或让尺度伪估计更一致 | 分数选择、位置定位、回归方向、分组方式、梯度阈值和固定偏移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概率图、LSE／WLSE、最小距离估计、MPS／QMP和MDM可以通过这条机制链联系起来：它们分别改变了分布表示、确定准则或参数恢复环节。若某一方法再接入统计关系修正位置或条件似然恢复尺度，相应步骤继续连向其他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图4b｜同一分布关系形成不同的匹配过程。 概率图部分把White／Soman的水平残差与Park的竖直残差并置，展示分数选择、位置评分和回归方向怎样共同决定参数。MPS比较CDF纵轴上的相邻概率间距；MDM先在给定位置下选择使尺度差异最小的形状，再沿该条件最优值曲线按梯度定位，最后以伪尺度均值恢复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图源：D:\weibull\Study\04-study-小样本三参数Weibull估计方法比较与选择\方法分类\机制图-v2.0\预览\02-分布匹配路线-机制图.svg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5　路线三：统计特征关系匹配与反演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条路线提取样本的统计特征，利用它们与分布参数之间的理论关系，通过匹配、消元、求解或反演得到参数。核心在于选定特征怎样识别参数：先从样本得到特征（S1），写出相应的理论参数关系（S2），再通过该关系确定参数（S3）。这里关注若干选定特征及其理论关系；前一条路线则围绕样本的分布表示或概率结构指定拟合准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常规矩法为例，样本均值、方差和偏度分别对应Weibull分布的理论矩。偏度中的位置与尺度被消去，留下关于形状的关系；解出形状后，再由方差和均值依次恢复尺度、位置。图5a下部追踪这组特征怎样接上理论曲线并得到参数。这是本例选择的识别次序，不要求所有统计关系方法都先消去位置和尺度、再估形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图5a｜选定特征，通过理论关系识别参数。 上部S1—S3给出共同机制；下部常规矩例子将样本矩、形状理论关系和参数恢复连成一条过程。偏度消元、先形状后尺度位置是这个例子的具体实现。Cran、PWM／L矩和条件线性估计分别改变特征、理论关系或识别方式；统计量似然另接似然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样本信息 | 参数确定原则 | 实现与改进位置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样本矩、概率加权矩、L矩、分位数、次序统计量等选定特征 | 匹配理论统计关系，或反演矩、枢轴关系和条件线性关系 | 特征选择、权重和端部处理、位置与尺度消元、条件协方差选权、显式恢复和迭代代入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沿着这条机制看方法变化：Cran把常规幂矩改为生存函数幂次积分，用矩差及比值消元，再显式恢复参数；PWM、L矩和TL矩改变样本的秩权重与相应理论关系；分位数或枢轴方法选择其他特征及反演关系。条件位置MVLUE则由次序统计量的期望构造位置无偏估计，再利用理论协方差选择线性组合权重。其无偏、最小方差性质以形状、尺度已知并使用相应理论系数为条件，代入估计值后的三参数组合不能直接继承这些性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仅仅使用统计量，还不能说明采用了这条确定参数的机制。LSPF与早期W均值匹配方法使用相同形式的标准化统计量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$$W_i=\frac{X_{(i)}-X_{(1)}}{X_{(n)}-X_{(1)}},$$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却接入不同准则：均值匹配方法用理论 $E_\beta(\bar W)$ 与样本值相等确定形状；LSPF由内部W统计量的联合密度构造似然，按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$$\widehat\beta_W\in\operatorname*{arg\,max}_{\beta&gt;0}f_W(w_2,\ldots,w_{n-1};\beta)$$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估计形状。LSPF随后用初始尺度代入最小值期望关系修正位置，再在该位置与形状下恢复尺度。因而，W消元是构造策略，形状估计体现L1／L2似然机制，位置恢复接入统计特征与参数的理论关系。LPF改用 $V_i=X_{(i)}-X_{(1)}$，只消去位置、保留尺度信息，由V联合密度联合估计形状与尺度，随后保留形状，按原文似然方程(9)、(10)重估位置与尺度；该恢复仍体现似然方程机制，不能只因使用统计量或分阶段处理就认定属于路线三。图5b将这些阶段分别连接；W／V的数据间距联合密度不能与MPS的CDF概率间距乘积混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图5b｜由特征与理论关系展开方法，再读跨路线阶段。 常规矩法用偏度消去位置和尺度，再由方差、均值恢复；Cran改用生存曲线积分及矩差显式反解；PWM、L矩与TL矩改变统计量的样本权重。W／V板块将构造策略、联合密度最大化及后续参数恢复分别标出：LSPF先由W估形状，再修正位置并恢复尺度；LPF先由V联合估计尺度与形状，随后保留形状并由原文似然方程重估其余参数。条件位置MVLUE根据理论期望及协方差构造、组合位置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图源：D:\weibull\Study\04-study-小样本三参数Weibull估计方法比较与选择\方法分类\机制图-v2.0\预览\09-统计关系反演路线-信息处理流程.svg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6　路线四、五：贝叶斯后验推断与学习型参数映射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贝叶斯后验推断将先验信息与样本似然结合，形成参数后验分布，再依据后验决策规则给出估计。对于给定数据，先以似然更新先验支持的参数区域；乘积经归一化得到联合后验（B1）：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$$p(\theta\mid D)=\frac{L(\theta;D)\pi(\theta)}{\int_\Theta L(\vartheta;D)\pi(\vartheta)\,d\vartheta}.$$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根据损失函数选择后验决策（B2）：平方损失对应后验均值，绝对损失对应后验中位数，MAP取后验密度的峰。这里最终估计依据的是后验分布及相应规则，似然是其中的组成部分。图6a将同一候选参数轴上的先验、似然、后验与决策连起来；图6b再展开联合后验及计算路径。先验选择、支持域和决策规则改变了推断构造，Gibbs、MH及Laplace则分别服务于后验抽样或近似计算。后验可积性及所选输出量的存在性仍须按具体模型条件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图6a｜由支持曲线到后验，再按估计规则作判断。 似然和先验分别支持不同的候选区域，乘积归一化后形成后验。图中以平方损失为例，用后验平均损失的最低点说明为何选择后验均值；中位数与MAP使用各自的规则。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图6b｜联合后验、输出规则与计算过程。 似然、先验和支持域共同确定联合后验；后验均值、中位数及MAP选择不同的输出量。条件抽样通过β、η、γ的循环更新形成后验样本，Laplace则通过后验峰附近的二次近似计算积分，两种路径服务于所选后验量。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学习型参数映射的核心机制发生在两个阶段。训练时，使用多组具有已知参数标签的样本 $\{(D_j,\theta_j)\}_{j=1}^{M}$，将样本或特征 $T(D_j)$ 输入共享映射 $h_\phi$，比较预测与标签并更新同一组权重（N1）：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$$\widehat\phi\in\operatorname*{arg\,min}_{\phi}\frac{1}{M}\sum_{j=1}^{M}\mathcal L\!\left(h_\phi(T(D_j)),\theta_j\right).$$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训练完成后固定映射，将新样本输入并输出估计 $\widehat\theta=h_{\widehat\phi}(T(D_{\mathrm{new}}))$（N2）。图7a用多组样本、标签与共享权重的反馈表现训练，再接到新样本应用；图7b展开具体改动位置。ANN和BPNN可在特征、映射结构、损失或训练域上变化。即使用矩作输入，确定映射的机制仍是带标签训练；若网络只预测中间量，或PSO只搜索当前样本的目标，则需要连接到实际服务的估计环节，不能与直接参数映射合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样本信息 | 参数确定原则 | 实现与改进位置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贝叶斯后验推断 | 样本似然信息＋参数先验 | 后验规则，如均值、中位数或MAP | 先验、支持域、决策规则、后验抽样或近似 |</a:t>
            </a:r>
          </a:p>
          <a:p xmlns:a="http://schemas.openxmlformats.org/drawingml/2006/main">
            <a:r>
              <a:t>| 学习型参数映射 | 多组带参数标签的训练样本及其特征 | 训练映射，再对新样本输出三个参数 | 特征、映射结构、训练域、损失、校准和外推边界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图7a｜多组带标签样本训练，同一固定映射用于新样本。 训练阶段（N1）中，多组样本的同类特征进入共享映射，参数预测与各自标签比较，整组误差反馈到同一组权重。应用阶段（N2）固定这些权重，将新样本转成三个参数估计；真实标签用于训练，应用时不需要提供新样本的真实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图7b｜训练与使用分开看。 训练阶段比较多组样本的参数预测和真值，按损失更新网络权重；使用阶段保持映射固定，将新样本的同类特征转成三个参数。图下部标出直接预测参数、学习统计估计器的中间量以及搜索当前样本目标的不同作用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图源：D:\weibull\Study\04-study-小样本三参数Weibull估计方法比较与选择\方法分类\机制图-v2.0\预览\10-后验推断路线-信息处理流程.svg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6　路线四、五：贝叶斯后验推断与学习型参数映射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贝叶斯后验推断将先验信息与样本似然结合，形成参数后验分布，再依据后验决策规则给出估计。对于给定数据，先以似然更新先验支持的参数区域；乘积经归一化得到联合后验（B1）：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$$p(\theta\mid D)=\frac{L(\theta;D)\pi(\theta)}{\int_\Theta L(\vartheta;D)\pi(\vartheta)\,d\vartheta}.$$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根据损失函数选择后验决策（B2）：平方损失对应后验均值，绝对损失对应后验中位数，MAP取后验密度的峰。这里最终估计依据的是后验分布及相应规则，似然是其中的组成部分。图6a将同一候选参数轴上的先验、似然、后验与决策连起来；图6b再展开联合后验及计算路径。先验选择、支持域和决策规则改变了推断构造，Gibbs、MH及Laplace则分别服务于后验抽样或近似计算。后验可积性及所选输出量的存在性仍须按具体模型条件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图6a｜由支持曲线到后验，再按估计规则作判断。 似然和先验分别支持不同的候选区域，乘积归一化后形成后验。图中以平方损失为例，用后验平均损失的最低点说明为何选择后验均值；中位数与MAP使用各自的规则。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图6b｜联合后验、输出规则与计算过程。 似然、先验和支持域共同确定联合后验；后验均值、中位数及MAP选择不同的输出量。条件抽样通过β、η、γ的循环更新形成后验样本，Laplace则通过后验峰附近的二次近似计算积分，两种路径服务于所选后验量。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学习型参数映射的核心机制发生在两个阶段。训练时，使用多组具有已知参数标签的样本 $\{(D_j,\theta_j)\}_{j=1}^{M}$，将样本或特征 $T(D_j)$ 输入共享映射 $h_\phi$，比较预测与标签并更新同一组权重（N1）：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$$\widehat\phi\in\operatorname*{arg\,min}_{\phi}\frac{1}{M}\sum_{j=1}^{M}\mathcal L\!\left(h_\phi(T(D_j)),\theta_j\right).$$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训练完成后固定映射，将新样本输入并输出估计 $\widehat\theta=h_{\widehat\phi}(T(D_{\mathrm{new}}))$（N2）。图7a用多组样本、标签与共享权重的反馈表现训练，再接到新样本应用；图7b展开具体改动位置。ANN和BPNN可在特征、映射结构、损失或训练域上变化。即使用矩作输入，确定映射的机制仍是带标签训练；若网络只预测中间量，或PSO只搜索当前样本的目标，则需要连接到实际服务的估计环节，不能与直接参数映射合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样本信息 | 参数确定原则 | 实现与改进位置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贝叶斯后验推断 | 样本似然信息＋参数先验 | 后验规则，如均值、中位数或MAP | 先验、支持域、决策规则、后验抽样或近似 |</a:t>
            </a:r>
          </a:p>
          <a:p xmlns:a="http://schemas.openxmlformats.org/drawingml/2006/main">
            <a:r>
              <a:t>| 学习型参数映射 | 多组带参数标签的训练样本及其特征 | 训练映射，再对新样本输出三个参数 | 特征、映射结构、训练域、损失、校准和外推边界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图7a｜多组带标签样本训练，同一固定映射用于新样本。 训练阶段（N1）中，多组样本的同类特征进入共享映射，参数预测与各自标签比较，整组误差反馈到同一组权重。应用阶段（N2）固定这些权重，将新样本转成三个参数估计；真实标签用于训练，应用时不需要提供新样本的真实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图7b｜训练与使用分开看。 训练阶段比较多组样本的参数预测和真值，按损失更新网络权重；使用阶段保持映射固定，将新样本的同类特征转成三个参数。图下部标出直接预测参数、学习统计估计器的中间量以及搜索当前样本目标的不同作用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图源：D:\weibull\Study\04-study-小样本三参数Weibull估计方法比较与选择\方法分类\机制图-v2.0\预览\11-学习映射路线-信息处理流程.svg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7　完整机理地图：方法怎样连接机制，方法之间怎样联系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分别理解五条路线后，再把具体方法接回地图。这里需要读两层联系。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层是同一个方法内部的机制连接。先识别它构造了什么、用什么确定哪个参数、其余参数怎样恢复，再按阶段连接路线节点。例如，LSPF依次经过W消元、W联合密度最大化、最小值期望位置修正及尺度恢复；SAM连接最小值期望关系、概率图回归和条件似然尺度更新；PM连接最小值中位数关系与给定位置的似然方程；Park Proposed+MLE2先用概率图相关性定位，再接平移样本的二参数MLE。它们可以跨路线展开，这些连接说明估计过程本身。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层是不同方法之间有依据的关系。例如，Jacquelin二参数推导扩展为三参数WMLE，随后再引入形状偏差修正，构成连续改进链；K–R的数据修改构造与Firth得分修正共同进入DMMLE，构成两个来源汇合的组合。方法之间的关系继续分为三种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沿袭或扩展： 原文明确沿用、扩展或修正前一构造时使用实线。</a:t>
            </a:r>
          </a:p>
          <a:p xmlns:a="http://schemas.openxmlformats.org/drawingml/2006/main">
            <a:r>
              <a:t>- 数学联系或共享构造： 两种方法之间可核对的公式关系或共享构造使用虚线，并注明成立条件；同属一路线本身不构成历史沿袭证据。</a:t>
            </a:r>
          </a:p>
          <a:p xmlns:a="http://schemas.openxmlformats.org/drawingml/2006/main">
            <a:r>
              <a:t>- 局部借用或组合： 一个方法只借用了另一条路线的位置处理、统计量或参数恢复步骤时使用点划线。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沿着这些关系，可以看到Jacquelin二参数推导向Cousineau WMLE及后续形状修正的扩展；Smith删最小值构造在K–R中的场景适配；K–R与Firth型修正形成DMMLE；White向Soman三参数概率图的扩展；MPS与QMP在特定分组设置下的特例关系；PWM与L矩的数学联系；以及LSPF向LPF的构造改进。MLE与MAP通过似然模型相连，MAP进一步引入先验和后验决策；PSO、模拟退火等工具则连接到各自搜索的目标。LSPF与早期W均值匹配方法共享标准化构造，但两者直接历史承接尚未确认；SAM与PM的相似框架，以及对LSPF／LPF的比较或实测数据引用，也不能直接画成父子沿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图8｜先沿机制读方法，再沿证据读方法关系。 各路线的机制标识与前述原理图一致；跨路线过程线解释同一估计过程怎样接入不同机制。方法之间另用实线、虚线和点划线标注沿袭或扩展、数学联系及局部借用。沿Jacquelin→WMLE→形状修正、White→Soman、L矩→TL矩、LSPF→LPF等链，可见具体构造的延续；LSPF→Yang迭代、WMLE→MVLE-H扩展等记录局部步骤的借用。PWM与L矩、Cran矩与PWM、MPS与QMP的数学联系保留相应条件。Soman与Park的回归方向关系以同分数、同位置为前提，两文实际分数选择各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8　本轮七种实现采用了哪些机制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本次统一比较选取七种实现，重点对照似然构造与优化、分布关系匹配、统计特征关系匹配与反演中的具体构造。它们在完整地图中标为金色，比较范围不限制整个路线图的文献范围。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实现 | 采用的路线机制 | 具体构造定位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MLE | 似然构造与优化 | 原始观测密度联合似然；另记录局部候选、边界与失败 |</a:t>
            </a:r>
          </a:p>
          <a:p xmlns:a="http://schemas.openxmlformats.org/drawingml/2006/main">
            <a:r>
              <a:t>| WMLE | 似然得分方程的修正 | 在估计方程中引入三个权重 |</a:t>
            </a:r>
          </a:p>
          <a:p xmlns:a="http://schemas.openxmlformats.org/drawingml/2006/main">
            <a:r>
              <a:t>| MMLE（K–R单样本形式） | 最小值定位、删样本后的似然估计 | 以样本最小值定位，删除该观测后进行二参数估计 |</a:t>
            </a:r>
          </a:p>
          <a:p xmlns:a="http://schemas.openxmlformats.org/drawingml/2006/main">
            <a:r>
              <a:t>| LSE（Soman主分支） | 分布关系匹配 | White分数、位置评分和对数寿命对分数回归 |</a:t>
            </a:r>
          </a:p>
          <a:p xmlns:a="http://schemas.openxmlformats.org/drawingml/2006/main">
            <a:r>
              <a:t>| LRE（Park Proposed+Plot） | 分布关系匹配 | 相关系数定位、绘图概率分数和分数对对数寿命回归 |</a:t>
            </a:r>
          </a:p>
          <a:p xmlns:a="http://schemas.openxmlformats.org/drawingml/2006/main">
            <a:r>
              <a:t>| MDM-0.1 | 分布关系匹配、分阶段参数确定 | 条件尺度伪估计差异、固定梯度偏移值下的位置定位 |</a:t>
            </a:r>
          </a:p>
          <a:p xmlns:a="http://schemas.openxmlformats.org/drawingml/2006/main">
            <a:r>
              <a:t>| MM（Cran式） | 统计特征关系匹配与反演 | Weibull矩及矩差显式恢复参数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这些实现形成构造对照：MLE、WMLE和K–R对应原始似然、方程加权与最小值定位后估计；LSE、LRE和MDM对应分布关系匹配的不同分支；Cran MM对应选定统计关系的显式恢复。这里按实际机制说明差别，不将七种实现分配到互斥格子，也不把同名的其他版本混入比较。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1　实验设置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本轮比较七种方法在相同样本下的估计误差、重复抽样波动、明显异常和有效返回情况。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项目 | 本轮设置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方法 | MDM-0.1、LSE、LRE（Park）、WMLE、MLE、MMLE（K–R）、MM |</a:t>
            </a:r>
          </a:p>
          <a:p xmlns:a="http://schemas.openxmlformats.org/drawingml/2006/main">
            <a:r>
              <a:t>| 参数 | η=1000、γ=500；β=1.5、2、2.5、3、3.5、4、4.5、5 |</a:t>
            </a:r>
          </a:p>
          <a:p xmlns:a="http://schemas.openxmlformats.org/drawingml/2006/main">
            <a:r>
              <a:t>| 样本量 | n=50、20、15、10、7 |</a:t>
            </a:r>
          </a:p>
          <a:p xmlns:a="http://schemas.openxmlformats.org/drawingml/2006/main">
            <a:r>
              <a:t>| 重复抽样 | 每个条件1200组；各方法使用相同样本 |</a:t>
            </a:r>
          </a:p>
          <a:p xmlns:a="http://schemas.openxmlformats.org/drawingml/2006/main">
            <a:r>
              <a:t>| 主要观察 | 参数RMSE、估计分布、明显异常与有效返回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*统计口径：精度图使用七法均有效的共同样本；分布图使用各法自身有效结果。形状RMSE除以真β，尺度和位置RMSE除以1000。方法与求解约定见实验设置。*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五页按n=50、20、15、10、7连续切换。观察扇区的长度和相对距离，不逐项报数值。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图源：D:\weibull\Study\04-study-小样本三参数Weibull估计方法比较与选择\reviewbyhtml\方法对比-v1.0\assets\RMSE玫瑰图_n50_八档β.png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五页按n=50、20、15、10、7连续切换。观察扇区的长度和相对距离，不逐项报数值。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图源：D:\weibull\Study\04-study-小样本三参数Weibull估计方法比较与选择\reviewbyhtml\方法对比-v1.0\assets\RMSE玫瑰图_n20_八档β.png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五页按n=50、20、15、10、7连续切换。观察扇区的长度和相对距离，不逐项报数值。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图源：D:\weibull\Study\04-study-小样本三参数Weibull估计方法比较与选择\reviewbyhtml\方法对比-v1.0\assets\RMSE玫瑰图_n15_八档β.png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五页按n=50、20、15、10、7连续切换。观察扇区的长度和相对距离，不逐项报数值。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图源：D:\weibull\Study\04-study-小样本三参数Weibull估计方法比较与选择\reviewbyhtml\方法对比-v1.0\assets\RMSE玫瑰图_n10_八档β.png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五页按n=50、20、15、10、7连续切换。观察扇区的长度和相对距离，不逐项报数值。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图源：D:\weibull\Study\04-study-小样本三参数Weibull估计方法比较与选择\reviewbyhtml\方法对比-v1.0\assets\RMSE玫瑰图_n7_八档β.png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图源：D:\weibull\Study\04-study-小样本三参数Weibull估计方法比较与选择\reviewbyhtml\方法对比-v1.0\assets\方法差距变化_轨迹与50到7联合图.png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图源：D:\weibull\Study\04-study-小样本三参数Weibull估计方法比较与选择\reviewbyhtml\方法对比-v1.0\assets\方法差距变化_轨迹与50到7联合图.png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图源：D:\weibull\Study\04-study-小样本三参数Weibull估计方法比较与选择\reviewbyhtml\方法对比-v1.0\assets\估计值分布_β1.5_两档n.png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图源：D:\weibull\Study\04-study-小样本三参数Weibull估计方法比较与选择\reviewbyhtml\方法对比-v1.0\assets\估计值分布_β2_两档n.png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图源：D:\weibull\Study\04-study-小样本三参数Weibull估计方法比较与选择\reviewbyhtml\方法对比-v1.0\assets\估计值分布_β2.5_两档n.png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图源：D:\weibull\Study\04-study-小样本三参数Weibull估计方法比较与选择\reviewbyhtml\方法对比-v1.0\assets\估计值分布_β3_两档n.png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图源：D:\weibull\Study\04-study-小样本三参数Weibull估计方法比较与选择\reviewbyhtml\方法对比-v1.0\assets\估计值分布_β3.5_两档n.png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图源：D:\weibull\Study\04-study-小样本三参数Weibull估计方法比较与选择\reviewbyhtml\方法对比-v1.0\assets\估计值分布_β4_两档n.png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图源：D:\weibull\Study\04-study-小样本三参数Weibull估计方法比较与选择\reviewbyhtml\方法对比-v1.0\assets\估计值分布_β4.5_两档n.png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八页依β递增连续切换。重点观察分布展宽、参数偏移方向和零边界聚集。不将原图的双峰外观认定为两个内部估计群体。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图源：D:\weibull\Study\04-study-小样本三参数Weibull估计方法比较与选择\reviewbyhtml\方法对比-v1.0\assets\修订_估计值分布_两档n.png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图源：D:\weibull\Study\04-study-小样本三参数Weibull估计方法比较与选择\reviewbyhtml\方法对比-v1.0\assets\07_形状异常频率.png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3.1　样本减少与方法响应的差异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为观察样本减少怎样进入估计过程，固定总体为W(5,1000,500)，从两组存档的50个观测出发，按固定随机顺序分别保留20个和7个。每一步，三种方法使用同一组保留观测，方法设置保持相同。这样可以比较：同一次删点，究竟改变了各方法选取位置的哪一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列图分别展示位置的确定依据。左列圆点是样本最小值，K–R直接将它作为位置；中列圆点是梯度曲线与0.1阈值的交点，MDM据此定位；右列圆点是匹配误差曲线的最低点，LSE据此定位。颜色区分n，竖虚线为真实位置。比较同一列中圆点的位置，就能看到删点怎样改变该方法的选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删点路径1055：最小值保留，另外两法的位置仍改变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删点路径474：下端空缺增大，三法以不同依据定位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组中，删点一直保留了最小观测，所以K–R的位置不变。但其他点的减少仍改变了整个点列：MDM的梯度交点左移，位置向真值靠近；LSE的匹配最低点却从右侧内部转到了零边界。同一组删点，没有使三种位置估计同步改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第二组中，删点同时移除了较低观测，下端空缺增大，K–R的位置随最小值右移。MDM和LSE也选中了更高位置，但它们分别由阈值交点和匹配最低点决定，移动程度并不相同。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两组对照说明，样本减少先改变了最小值、局部间距及点列关系；这些变化经过不同定位规则，才转成不同的位置偏移，并继续影响形状和尺度。因此，第二章中各法误差增幅不同，需要联系其具体选参环节理解。这里识别的是响应路径，总体偏差、波动和异常风险仍由重复试验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同一固定随机删点序列的样本1055与474，n=50、20、7。保留点均为上一档样本的子集，并非只保留寿命较小的点。重新计算定位判据，原正式估计表保持原值；曲线解释依据Research00报告1。两个示例用于追踪传递环节，不代表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图源：D:\weibull\Study\04-study-小样本三参数Weibull估计方法比较与选择\reviewbyhtml\方法对比-v1.0\assets\31A_固定形状定位判据_样本1055.png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3.1　样本减少与方法响应的差异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为观察样本减少怎样进入估计过程，固定总体为W(5,1000,500)，从两组存档的50个观测出发，按固定随机顺序分别保留20个和7个。每一步，三种方法使用同一组保留观测，方法设置保持相同。这样可以比较：同一次删点，究竟改变了各方法选取位置的哪一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列图分别展示位置的确定依据。左列圆点是样本最小值，K–R直接将它作为位置；中列圆点是梯度曲线与0.1阈值的交点，MDM据此定位；右列圆点是匹配误差曲线的最低点，LSE据此定位。颜色区分n，竖虚线为真实位置。比较同一列中圆点的位置，就能看到删点怎样改变该方法的选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删点路径1055：最小值保留，另外两法的位置仍改变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删点路径474：下端空缺增大，三法以不同依据定位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组中，删点一直保留了最小观测，所以K–R的位置不变。但其他点的减少仍改变了整个点列：MDM的梯度交点左移，位置向真值靠近；LSE的匹配最低点却从右侧内部转到了零边界。同一组删点，没有使三种位置估计同步改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第二组中，删点同时移除了较低观测，下端空缺增大，K–R的位置随最小值右移。MDM和LSE也选中了更高位置，但它们分别由阈值交点和匹配最低点决定，移动程度并不相同。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两组对照说明，样本减少先改变了最小值、局部间距及点列关系；这些变化经过不同定位规则，才转成不同的位置偏移，并继续影响形状和尺度。因此，第二章中各法误差增幅不同，需要联系其具体选参环节理解。这里识别的是响应路径，总体偏差、波动和异常风险仍由重复试验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同一固定随机删点序列的样本1055与474，n=50、20、7。保留点均为上一档样本的子集，并非只保留寿命较小的点。重新计算定位判据，原正式估计表保持原值；曲线解释依据Research00报告1。两个示例用于追踪传递环节，不代表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图源：D:\weibull\Study\04-study-小样本三参数Weibull估计方法比较与选择\reviewbyhtml\方法对比-v1.0\assets\31A_固定形状定位判据_样本474.png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图源：D:\weibull\Study\04-study-小样本三参数Weibull估计方法比较与选择\reviewbyhtml\方法对比-v1.0\assets\R00_图2_样本与真实起点.png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图源：D:\weibull\Study\04-study-小样本三参数Weibull估计方法比较与选择\reviewbyhtml\方法对比-v1.0\assets\R00_图3_参数组合与样本相容.png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图源：D:\weibull\Study\04-study-小样本三参数Weibull估计方法比较与选择\reviewbyhtml\方法对比-v1.0\assets\R00_MDM_位置形状尺度传递.png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图源：D:\weibull\Study\04-study-小样本三参数Weibull估计方法比较与选择\reviewbyhtml\方法对比-v1.0\assets\R00_报告2_LSE零边界.png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图源：D:\weibull\Study\04-study-小样本三参数Weibull估计方法比较与选择\reviewbyhtml\方法对比-v1.0\assets\R00_报告2_LSE_right.png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图源：D:\weibull\Study\04-study-小样本三参数Weibull估计方法比较与选择\reviewbyhtml\方法对比-v1.0\assets\R00_报告2_WMLE_low.png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图源：D:\weibull\Study\04-study-小样本三参数Weibull估计方法比较与选择\reviewbyhtml\方法对比-v1.0\assets\R00_报告2_MLE_stop.png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4.1　极端结果与求解失败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异常发生的频率与其对总体误差的影响不同。RMSE对误差平方求平均，少数极端值可能主导结果。MM在部分条件下的形状RMSE尖峰由极少数极端输出造成，不能将其理解为多数样本都产生同样程度的误差。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轮中，MDM、LSE、LRE和K–R的全部尝试均返回有效估计。MLE的有效率随n减小而下降，低β时下降更明显；其误差统计对应的成功集合也随之改变。成功结果的精度与全部尝试的返回情况，共同影响实际使用时的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*图注：有效率的分母为全部1200次尝试，返回状态按本轮实现与求解约定统计。*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*极端记录示例：β=4.5、n=15的MM结果中，单条有效记录贡献了几乎全部形状平方误差，仍保留在原统计中。*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4.2　评价目标与已知条件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方法的评价取决于使用目标。参数估计与不同寿命指标下的方法排序可能不同。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B10的最低RMSE方法随n和β变化，B1则在多数条件下由MDM取得最低RMSE。评价指标改变后，方法的相对表现也发生变化。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部分条件下，第一与第二方法的RMSE接近，单一名次不足以反映差异幅度。方法选择还应结合稳定性与异常风险。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*图注：格内为共同有效样本上RMSE最低的方法，下行为第二名高出的比例。B10、B1分别为10%、1%失效分位寿命。*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拟条件表以真实β为依据。实际使用时，β范围未知，需要在给定参考范围内综合评价；β范围可预估时，可以缩小候选区域。选择还取决于目标参数或寿命指标，以及对波动和异常风险的要求。利用未知样本进行方法选择的规则及其收益仍需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4.1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图源：D:\weibull\Study\04-study-小样本三参数Weibull估计方法比较与选择\reviewbyhtml\方法对比-v1.0\assets\06_有效率.png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4.2　评价目标与已知条件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方法的评价取决于使用目标。参数估计与不同寿命指标下的方法排序可能不同。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B10的最低RMSE方法随n和β变化，B1则在多数条件下由MDM取得最低RMSE。评价指标改变后，方法的相对表现也发生变化。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部分条件下，第一与第二方法的RMSE接近，单一名次不足以反映差异幅度。方法选择还应结合稳定性与异常风险。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*图注：格内为共同有效样本上RMSE最低的方法，下行为第二名高出的比例。B10、B1分别为10%、1%失效分位寿命。*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拟条件表以真实β为依据。实际使用时，β范围未知，需要在给定参考范围内综合评价；β范围可预估时，可以缩小候选区域。选择还取决于目标参数或寿命指标，以及对波动和异常风险的要求。利用未知样本进行方法选择的规则及其收益仍需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4.2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图源：D:\weibull\Study\04-study-小样本三参数Weibull估计方法比较与选择\reviewbyhtml\方法对比-v1.0\assets\v04_06_寿命目标及候选差距.png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4.2　评价目标与已知条件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方法的评价取决于使用目标。参数估计与不同寿命指标下的方法排序可能不同。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B10的最低RMSE方法随n和β变化，B1则在多数条件下由MDM取得最低RMSE。评价指标改变后，方法的相对表现也发生变化。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部分条件下，第一与第二方法的RMSE接近，单一名次不足以反映差异幅度。方法选择还应结合稳定性与异常风险。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*图注：格内为共同有效样本上RMSE最低的方法，下行为第二名高出的比例。B10、B1分别为10%、1%失效分位寿命。*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拟条件表以真实β为依据。实际使用时，β范围未知，需要在给定参考范围内综合评价；β范围可预估时，可以缩小候选区域。选择还取决于目标参数或寿命指标，以及对波动和异常风险的要求。利用未知样本进行方法选择的规则及其收益仍需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4.2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5　后续研究与平台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相同n和总体参数下，具体样本仍存在差异。后续考虑利用人工智能方法，根据样本可观测特征与使用目标选择估计方法，并优化方法内部的过程量和求解过程。选择规则的收益需要在新样本上验证。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我们也在weibull.work整理方法实现与相关分析，目前已有部分方法可以在线调用。网站仍在建设，未来希望把样本分析、方法选择与求解优化结合起来，也欢迎大家试用并提出建议。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图源：D:\weibull\Study\04-study-小样本三参数Weibull估计方法比较与选择\方法分类\机制图-v2.0\预览\01-似然估计路线-机制图.svg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图源：D:\weibull\Study\04-study-小样本三参数Weibull估计方法比较与选择\方法分类\机制图-v2.0\预览\02-分布匹配路线-机制图.svg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图源：D:\weibull\Study\04-study-小样本三参数Weibull估计方法比较与选择\方法分类\机制图-v2.0\预览\03-统计关系反演路线-机制图.svg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图源：D:\weibull\Study\04-study-小样本三参数Weibull估计方法比较与选择\方法分类\机制图-v2.0\预览\04-后验推断路线-机制图.svg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图源：D:\weibull\Study\04-study-小样本三参数Weibull估计方法比较与选择\方法分类\机制图-v2.0\预览\05-学习映射路线-机制图.svg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图源：D:\weibull\Study\04-study-小样本三参数Weibull估计方法比较与选择\方法分类\机制图-v2.0\预览\08-分布匹配路线-信息处理流程.svg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图源：D:\weibull\Study\04-study-小样本三参数Weibull估计方法比较与选择\方法分类\机制图-v2.0\预览\09-统计关系反演路线-信息处理流程.svg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2　从估计机制建立五条路线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名称之所以显得杂，是因为它们分别强调了不同内容：有的强调观测密度，有的强调概率图或概率间距，有的强调矩和次序统计量，有的强调先验和后验，有的强调训练映射；加权、偏差修正、位置处理和数值搜索又会横跨这些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理解一种方法，先连续回答两个问题：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样本信息： 从样本中提取什么，是观测处的密度、经验分布、概率间距、矩、分位数、次序统计量、不变统计量，还是训练样本中的特征。</a:t>
            </a:r>
          </a:p>
          <a:p xmlns:a="http://schemas.openxmlformats.org/drawingml/2006/main">
            <a:r>
              <a:t>2. 参数确定原则： 怎样把这些信息变成三个参数，是最大化似然、最小化分布偏离、匹配概率结构、反演理论统计关系、更新后验，还是学习样本到参数的映射。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加权、偏差修正、位置处理、边界约束、数值求解和跨路线组合则说明变化发生在哪个环节。其中有些会改变统计构造，有些服务于既定准则的计算，需要按实际步骤区分。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据此，可以从似然构造与优化、分布关系匹配、统计特征关系匹配与反演、贝叶斯后验推断以及学习型参数映射五条路线理解现有方法。路线体现不同的参数确定机制；具体方法可以完整采用一种机制，也可以通过统计量构造、参数消除、分阶段估计或组合准则连接多条路线。我们建立的是参数估计方法的路线图，目的是揭示估计原理、构造特征及其相互联系，不要求每个方法只能归入一个类别，也不以选出唯一主要归属作为进入地图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五条路线各自回答：样本形成什么对象，哪一种机制据此确定参数？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路线 | 从样本构造什么 | 据此怎样确定参数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一：似然构造与优化 | 样本或所选统计量在候选参数下的联合密度，形成似然函数 | 最大化似然或相应的修正准则；方程修正按其实际构造说明 |</a:t>
            </a:r>
          </a:p>
          <a:p xmlns:a="http://schemas.openxmlformats.org/drawingml/2006/main">
            <a:r>
              <a:t>| 二：分布关系匹配 | 经验分布、绘图概率、概率间距或其他分布表示 | 依据指定的拟合准则，在表示、残差、概率结构或一致性关系上确定参数 |</a:t>
            </a:r>
          </a:p>
          <a:p xmlns:a="http://schemas.openxmlformats.org/drawingml/2006/main">
            <a:r>
              <a:t>| 三：统计特征关系匹配与反演 | 矩、分位数、次序统计量等选定特征，以及它们与参数的理论关系 | 通过匹配、消元、求解或反演识别参数，再恢复其余参数 |</a:t>
            </a:r>
          </a:p>
          <a:p xmlns:a="http://schemas.openxmlformats.org/drawingml/2006/main">
            <a:r>
              <a:t>| 四：贝叶斯后验推断 | 样本似然与先验结合形成的参数后验分布 | 依据后验分布及相应的决策规则给出估计 |</a:t>
            </a:r>
          </a:p>
          <a:p xmlns:a="http://schemas.openxmlformats.org/drawingml/2006/main">
            <a:r>
              <a:t>| 五：学习型参数映射 | 多组具有已知参数标签的训练样本及其特征 | 学习样本或特征到参数的映射，固定映射后用于新样本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同一组排序寿命可以用于构造似然，也可以转成概率图坐标或矩。分布关系匹配围绕样本的分布表示及其拟合准则展开；统计特征关系匹配与反演围绕选定特征与理论参数关系展开。贝叶斯推断使用似然，但最终估计还取决于先验和后验决策；学习型映射也可使用矩特征，但参数映射来自多组带标签样本的训练。所用材料相同，并不意味着参数确定机制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PF就是一个需要沿过程阅读的例子：先用W变换消除位置与尺度，再由内部W统计量的联合密度构造形状似然，最后依据位置修正和尺度恢复关系补齐参数。统计量构造、似然估计和统计关系恢复在同一方法中相接。后面先分别解释这些机制，再回到完整地图看它们如何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图2｜由估计机制组成路线骨架，再接入具体方法。 每条路线先给出统计对象及确定参数的机制，具体方法连接到采用或改变的环节。方法内部的跨路线步骤与方法之间的沿袭、修正、数学联系及局部借用分别表达；同一方法可以连接多条路线。金色节点对应本次比较的七种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来源：D:\weibull\Study\04-study-小样本三参数Weibull估计方法比较与选择\报告上（方法分类）-v2.0.md；##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图源：D:\weibull\Study\04-study-小样本三参数Weibull估计方法比较与选择\方法分类\机制图-v2.0\预览\11-学习映射路线-信息处理流程.svg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图源：D:\weibull\Study\04-study-小样本三参数Weibull估计方法比较与选择\reviewbyhtml\方法对比-v1.0\assets\RMSE玫瑰图_n50_八档β.png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图源：D:\weibull\Study\04-study-小样本三参数Weibull估计方法比较与选择\reviewbyhtml\方法对比-v1.0\assets\RMSE玫瑰图_n20_八档β.png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图源：D:\weibull\Study\04-study-小样本三参数Weibull估计方法比较与选择\reviewbyhtml\方法对比-v1.0\assets\RMSE玫瑰图_n15_八档β.png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图源：D:\weibull\Study\04-study-小样本三参数Weibull估计方法比较与选择\reviewbyhtml\方法对比-v1.0\assets\RMSE玫瑰图_n10_八档β.png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图源：D:\weibull\Study\04-study-小样本三参数Weibull估计方法比较与选择\reviewbyhtml\方法对比-v1.0\assets\RMSE玫瑰图_n7_八档β.png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图源：D:\weibull\Study\04-study-小样本三参数Weibull估计方法比较与选择\reviewbyhtml\方法对比-v1.0\assets\R00_图2_样本与真实起点.png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3.2　形状条件下的偏移与边界聚集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n下，β=5时的最小观测比β=2时更远离真实起点；样本量减小时，这段距离进一步增大。下排最小观测的分布也显示，较大β下，即使增加样本，最小观测仍可能与起点保持较大距离。观测集中于分布中部，起点附近缺少数据，位置参数需要从较远处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*复用Research00报告1图2：η=1000、γ=500，β=2、5，n=7、15、30。橙点为每组样本的最小观测，灰线为其到真实起点的距离；下排为最小观测的理论密度。历史样本仅用于解释，不并入本轮1200次统计。*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观测远离起点时，有限样本主要覆盖分布中部。图中的两组参数虽然相差较大，在这些观测所在的区间内，分布曲线仍较接近。因此，样本可能容许不同的参数组合；还需要追踪方法判据为什么选中了其中某一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*复用Research00报告1图3：β=5、n=7第31组样本；黑点累计概率由样本排序近似。两条曲线用于说明参数相容，不代表该样本必然被估成其中某一组参数。*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方向性偏移的形成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仍按同一个梯度阈值定位。高β时，各观测反算的伪尺度随位置变化更接近同步，标准差梯度较小，阈值交点可能出现在偏高位置。位置提高后，小观测到起点的距离缩短比例更大，需要更小的形状维持伪尺度的一致，再恢复出更小尺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图中先看梯度交点，再沿同一位置看形状与尺度。这样，位置偏高、形状偏低、尺度偏低对应的是同一估计过程的传递，三个参数的偏差有共同来源。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*Research00报告1图5，δ=0.1；β=2、5，n=7第48组配对样本。用于说明传递路径，不据单例认定全部方法或全部样本均如此。*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边界聚集的形成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移动位置是为了让对数距离与参考坐标更接近直线。左移位置会压缩下端对数间距；当这能改善点列匹配时，准则倾向于更低位置。图中橙色样本在允许范围内的最低点落到γ=0，紫色样本的最低点则留在内部。γ≥0的约束使不同样本都可能返回同一个零值，重复估计中便形成边界聚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选低位置也压缩了整体对数跨度，使LSE回归斜率减小，取倒数后形状升高。因此，边界位置和形状高估可以沿同一条恢复关系连接起来。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*复用报告2图6：正常与零边界样本为W(2,100,500)、n=15第35、36组；内部左偏为W(2,1000,3000)、n=7第1组。这里借用其机制图，不将这些历史条件并入本轮β=5统计。*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3.3　明显异常估计的形成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明显异常估计要追踪异常在哪个估计环节形成。Research00报告2区分了两种情况：当前方法的准则确实支持一组明显偏离真值的参数；或搜索、停止、候选接受没有正确落实预定规则。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样本结构改变判据，异常参数仍可满足方法规则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LSE：改善线性匹配后，形状反而明显低估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WMLE：两条方程均满足，参数仍明显偏离真值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SE的异常样本中，前几个观测相对集中，另有一个较远观测。真位置下的点列与参考坐标匹配较差，右移位置能拉开下端对数间距，使点列更接近直线。准则因此选中靠近最小观测的位置，但随之增大的回归斜率取倒数后，形状明显降低，尺度也由缩小的距离恢复为较低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MLE的异常样本改变了下端距离、对数距离和幂加权距离，两条方程的共同交点移向较高位置、较低形状。将返回参数代回，残差仍接近零。这里不是方程没有解对，而是这些样本统计量本身支持了偏离真值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*复用报告2图7、12。LSE为W(2,1000,500)、n=7第18、19组；WMLE为W(5,100,500)、n=7第3、11组。保留历史实现及参数条件，只解释形成路径。*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数值求解未落实规则，也能形成异常返回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MLE的第37组在近零位置停止，优化器标记收敛；其他起点的返回结果又因形状不满足接受条件被剔除，最终只剩这个候选。但图中向右仍可提高似然，说明搜索停止及候选接受没有实现预期的最优选择。近零位置进一步压缩对数跨度，形成较大的形状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*报告2图17，W(2,1000,3000)、n=7第37、38组，采用旧MLE。Study04已更新求解器，此例用于区分计算来源，不认定新版仍有同一缺陷。*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前两例应研究估计准则对样本结构的响应；后一例应改进求解与候选检查。异常表现相近，形成环节不同，改进方向也不同。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3.2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图源：D:\weibull\Study\04-study-小样本三参数Weibull估计方法比较与选择\reviewbyhtml\方法对比-v1.0\assets\R00_MDM_位置形状尺度传递.png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2.1　样本量减小下的不同表现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n =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*图注：五张图共用线性半径；扇区越长，标准化RMSE越大。MM的数值另列。*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β观察，样本量减少时，估计误差总体增大，但各方法的增幅不同。部分方法的误差上升较快，部分方法变化较缓，方法间的差距也随之改变。固定n观察，β增大时位置误差的增长较为一致，形状和尺度误差的变化则因方法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比较方向 | 观察到的变化 | 初步认识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固定β，减小n | RMSE多数增大，各方法增幅不同 | 样本减少通常降低估计精度 |</a:t>
            </a:r>
          </a:p>
          <a:p xmlns:a="http://schemas.openxmlformats.org/drawingml/2006/main">
            <a:r>
              <a:t>| 固定n，增大β | 位置误差普遍增大，形状和尺度误差的变化存在方法差异 | 形状条件对各参数的影响不同 |</a:t>
            </a:r>
          </a:p>
          <a:p xmlns:a="http://schemas.openxmlformats.org/drawingml/2006/main">
            <a:r>
              <a:t>| 交叉观察n与β | 同一方法在不同β下的误差增幅不同 | 样本量的影响随形状条件改变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上两行：β=1.5和5下，两种方法的标准化RMSE差距随n变化。第三行：每行是一对方法，每列是一档β；颜色表示“n=7的差距减去n=50的差距”。红色为差距扩大，蓝色为差距缩小，白色附近为变化较小。三列子图分别对应形状、尺度和位置参数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比较方法对，是为了观察方法之间的精度差距怎样变化。差距定义为两种方法标准化RMSE之差的绝对值，只表示相隔多远，不表示谁更好。图中列出MDM、LSE、LRE、WMLE、MLE、K–R六法的全部15个配对，并未挑选部分方法对。MM因极端RMSE另列，不进入此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*仍使用七法共同有效样本；形状RMSE除以真β，尺度和位置RMSE除以真η。差距扩大或缩小，与两种方法各自误差是否增加是不同问题。*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β=1.5时，七种方法的RMSE均随样本减少而上升；联合图中六种方法的两两差距也普遍拉开。此时，各方法的变化方向较为一致，区别主要表现为上升幅度不同。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β=5时，RMSE仍多向上，但方法间距离的变化不再一致：一些方法对继续分离，另一些逐渐接近，部分距离曲线还出现转折。比较n=50与7，LSE、LRE与WMLE的尺度和位置RMSE更接近，而它们与K–R的差距增大。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形状条件改变后，样本减少对方法关系的影响，可从普遍拉开转为拉开与接近并存。误差上升的共同方向，并不意味着方法间的精度关系保持不变。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n | 形状Bias | 形状SD | 形状RMSE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10 | -2.263 | 0.982 | 2.466 |</a:t>
            </a:r>
          </a:p>
          <a:p xmlns:a="http://schemas.openxmlformats.org/drawingml/2006/main">
            <a:r>
              <a:t>| 7 | -2.614 | 0.713 | 2.710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*表：WMLE，β=5；七法共同有效结果，Bias保留符号。自身有效结果也支持SD下降、负偏差加重和RMSE上升的方向。*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样本减少时，误差增大也不总表现为分布展宽。β=5的WMLE形状估计在n从10减至7时，SD下降，负偏差却加重，RMSE仍然上升。各方法不仅误差增幅不同，误差增长的表现也可能不同。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　形状参数增大时的估计分布变化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1.5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2.5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3.5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4.5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#### β =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*图注：行对应n=50、7，列对应形状、尺度、位置。虚线为真值，红点为均值，横线为四分位区间。密度显示主体分布，统计量使用全部有效值。*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β=1.5时，两档n下多数方法的主体分布形态相近。n=7的估计范围通常更宽，LSE、LRE的位置估计还出现了零边界结果。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固定n，β从1.5增至5时，估计分布进一步变化。LSE、LRE的尺度和位置估计逐渐展宽，即使n=50，四分位区间也明显扩大。因此，分布展宽并不只出现在极小样本条件。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MDM、WMLE和K–R则表现出有规律的参数偏移：形状估计的增幅落后于真β，低估加重；尺度估计向低值偏移，位置估计向高值偏移。两档n下均能观察到这一方向，n=7时偏移更明显。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，LSE、LRE的位置估计进一步向γ=0聚集，这在n=50时已可见，n=7时边界结果更多。原尺度密度图也呈双峰外观；后续核对发现，剔除零位置结果后未保留两个明显峰，因此这里将边界聚集与非边界估计的偏移分别考察，不据原图认定存在“接近真值与偏移”的两个内部群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2.3　明显异常估计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估计分布中还存在明显偏离真值的结果。这里沿用Research00报告2的判据，将形状估计不超过真值的1/3，或达到真值的3倍，记为明显异常估计。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β=5、n=7，LSE | 形状 | 尺度 | 位置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真值 | 5 | 1000 | 500 |</a:t>
            </a:r>
          </a:p>
          <a:p xmlns:a="http://schemas.openxmlformats.org/drawingml/2006/main">
            <a:r>
              <a:t>| 第34组：接近真值的例子 | 5.55 | 836.77 | 681.73 |</a:t>
            </a:r>
          </a:p>
          <a:p xmlns:a="http://schemas.openxmlformats.org/drawingml/2006/main">
            <a:r>
              <a:t>| 第0组：明显低估的例子 | 1.24 | 282.98 | 1205.95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相同总体、相同样本量和相同方法，不同抽样仍可能得到相差很大的参数。异常例子中，形状和尺度明显偏低，位置则偏高；这种偏离已经超出估计结果在真值附近的小幅波动。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*两例来自本轮存档W(5,1000,500)、n=7，样本编号从0开始；仅用于展示，不代表其发生频率。*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*图注：异常为β̂≤β/3或β̂≥3β；频率以各方法自身有效结果为分母，求解失败另行统计。*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随着n减小，明显异常估计更常见。八档β下，七种方法在n=7时的异常频率都高于n=50。β=5时，异常频率在五档n上逐档上升。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异常增多的程度和方向存在方法差异：较大β、小n下，多种方法以形状低估为主；MLE在低β、小n下也有较高异常频率。它们不能由一种固定的异常模式概括。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2.4　主要现象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n减小时，估计误差总体增大，但各方法的增幅不同。固定β，部分方法对样本量减少更敏感，误差上升较快；部分方法增幅较小。因此，方法间的差距也随样本量改变，而非保持原有的精度关系。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相同n下，β增大时，三个参数的估计呈现不同的偏移和分布变化。部分方法的形状低估加重，并伴随尺度偏小、位置偏大；另一些方法的尺度和位置估计更分散，还出现边界聚集。β变化的影响不仅体现在误差大小，也体现在参数偏移的方向和估计分布的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n减小时，明显异常估计更常见。这一变化在八档β、七种方法的n=50与7比较中均可见，但异常增多的程度及其偏移方向因方法和参数条件而异。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来源：D:\weibull\Study\04-study-小样本三参数Weibull估计方法比较与选择\报告下（方法对比）-v2.1.md；### 2.3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生成依据：报告上v2.0 / 报告下v2.1；2026-10-23；演讲日期2026-10-25。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148239aa9942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f520b1c0b940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9a0dbcb3fd42c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3c3cb54efb421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1438dab9642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4cb8ec2d9947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AE6359-23B7-4451-B164-A7AD80F39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485567-18DF-4074-A3B2-707EC5A990F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68474C-376C-4437-AA11-1C71243296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7C244B-3F47-47EB-B49E-0010E69A68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D6145C2-DF7B-4A10-A924-23CB97FC63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C0FDAC5-7DEB-4D43-A349-12DFBC6846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474EC74-7398-4679-BF24-0D5B5C1659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30D2AAB-C610-4BDC-92E8-812EA29E96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8F49A99-D91F-40B8-B481-D89C0D77BD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9DED822-C99E-4E4B-9F09-C02B1CEE7E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180c5bbae94b30" /><Relationship Type="http://schemas.openxmlformats.org/officeDocument/2006/relationships/slideLayout" Target="/ppt/slideLayouts/slideLayout1.xml" Id="Rf1543caa23a14c68" /><Relationship Type="http://schemas.openxmlformats.org/officeDocument/2006/relationships/slideLayout" Target="/ppt/slideLayouts/slideLayout2.xml" Id="Rdfed82e2c5714058" /><Relationship Type="http://schemas.openxmlformats.org/officeDocument/2006/relationships/slideLayout" Target="/ppt/slideLayouts/slideLayout3.xml" Id="R3a18dfd0769a4cf0" /><Relationship Type="http://schemas.openxmlformats.org/officeDocument/2006/relationships/slideLayout" Target="/ppt/slideLayouts/slideLayout4.xml" Id="Rff6290315dd549fb" /><Relationship Type="http://schemas.openxmlformats.org/officeDocument/2006/relationships/slideLayout" Target="/ppt/slideLayouts/slideLayout5.xml" Id="Rf241133e5eec4469" /><Relationship Type="http://schemas.openxmlformats.org/officeDocument/2006/relationships/slideLayout" Target="/ppt/slideLayouts/slideLayout6.xml" Id="R08cde910d5bb45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543caa23a14c68"/>
    <p:sldLayoutId xmlns:r="http://schemas.openxmlformats.org/officeDocument/2006/relationships" id="2147483650" r:id="Rdfed82e2c5714058"/>
    <p:sldLayoutId xmlns:r="http://schemas.openxmlformats.org/officeDocument/2006/relationships" id="2147483651" r:id="R3a18dfd0769a4cf0"/>
    <p:sldLayoutId xmlns:r="http://schemas.openxmlformats.org/officeDocument/2006/relationships" id="2147483652" r:id="Rff6290315dd549fb"/>
    <p:sldLayoutId xmlns:r="http://schemas.openxmlformats.org/officeDocument/2006/relationships" id="2147483653" r:id="Rf241133e5eec4469"/>
    <p:sldLayoutId xmlns:r="http://schemas.openxmlformats.org/officeDocument/2006/relationships" id="2147483654" r:id="R08cde910d5bb45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b0663a618d4b86" /><Relationship Type="http://schemas.openxmlformats.org/officeDocument/2006/relationships/image" Target="/ppt/media/image.png" Id="R17910cc6ae714787" /><Relationship Type="http://schemas.openxmlformats.org/officeDocument/2006/relationships/notesSlide" Target="/ppt/notesSlides/notesSlide1.xml" Id="R42ebb87ea93544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4739ceec58491c" /><Relationship Type="http://schemas.openxmlformats.org/officeDocument/2006/relationships/image" Target="/ppt/media/image2.png" Id="Raaab554dcf084f70" /><Relationship Type="http://schemas.openxmlformats.org/officeDocument/2006/relationships/notesSlide" Target="/ppt/notesSlides/notesSlide2.xml" Id="R8a5ad204904b4c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744f9488ce4eb0" /><Relationship Type="http://schemas.openxmlformats.org/officeDocument/2006/relationships/image" Target="/ppt/media/image3.png" Id="R8171af8a557a4413" /><Relationship Type="http://schemas.openxmlformats.org/officeDocument/2006/relationships/notesSlide" Target="/ppt/notesSlides/notesSlide3.xml" Id="R5600a13a2de644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88a08ee8bb471d" /><Relationship Type="http://schemas.openxmlformats.org/officeDocument/2006/relationships/image" Target="/ppt/media/image4.png" Id="R700855bf1a7b434a" /><Relationship Type="http://schemas.openxmlformats.org/officeDocument/2006/relationships/image" Target="/ppt/media/image5.png" Id="Rfc68d90e40164dbc" /><Relationship Type="http://schemas.openxmlformats.org/officeDocument/2006/relationships/notesSlide" Target="/ppt/notesSlides/notesSlide4.xml" Id="R944cac0ae1dc48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ce716b9144449f" /><Relationship Type="http://schemas.openxmlformats.org/officeDocument/2006/relationships/image" Target="/ppt/media/image6.png" Id="R9bf861408eea4b82" /><Relationship Type="http://schemas.openxmlformats.org/officeDocument/2006/relationships/image" Target="/ppt/media/image7.png" Id="R47d621789bb84d04" /><Relationship Type="http://schemas.openxmlformats.org/officeDocument/2006/relationships/notesSlide" Target="/ppt/notesSlides/notesSlide5.xml" Id="Rb042be2e3d1b4b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031922ad734674" /><Relationship Type="http://schemas.openxmlformats.org/officeDocument/2006/relationships/image" Target="/ppt/media/image8.png" Id="R9dd4203680774c29" /><Relationship Type="http://schemas.openxmlformats.org/officeDocument/2006/relationships/image" Target="/ppt/media/image9.png" Id="Rf8dd44f82ac5481d" /><Relationship Type="http://schemas.openxmlformats.org/officeDocument/2006/relationships/notesSlide" Target="/ppt/notesSlides/notesSlide6.xml" Id="Rbaed0a9bfd8941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a8104a820a400a" /><Relationship Type="http://schemas.openxmlformats.org/officeDocument/2006/relationships/image" Target="/ppt/media/image10.png" Id="R5afe106cd0cd4588" /><Relationship Type="http://schemas.openxmlformats.org/officeDocument/2006/relationships/image" Target="/ppt/media/image11.png" Id="R8e71ca313657495c" /><Relationship Type="http://schemas.openxmlformats.org/officeDocument/2006/relationships/notesSlide" Target="/ppt/notesSlides/notesSlide7.xml" Id="R3aa18e3073dd41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ec96b23783401d" /><Relationship Type="http://schemas.openxmlformats.org/officeDocument/2006/relationships/image" Target="/ppt/media/image12.png" Id="Rb62d750f5bd747ac" /><Relationship Type="http://schemas.openxmlformats.org/officeDocument/2006/relationships/image" Target="/ppt/media/image13.png" Id="R4c97ac6bd96e4e3c" /><Relationship Type="http://schemas.openxmlformats.org/officeDocument/2006/relationships/notesSlide" Target="/ppt/notesSlides/notesSlide8.xml" Id="Re44e24d659174e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e845ffedd74ad1" /><Relationship Type="http://schemas.openxmlformats.org/officeDocument/2006/relationships/image" Target="/ppt/media/image14.png" Id="Rddb2952904264e74" /><Relationship Type="http://schemas.openxmlformats.org/officeDocument/2006/relationships/image" Target="/ppt/media/image15.png" Id="R258de10cd3504bdf" /><Relationship Type="http://schemas.openxmlformats.org/officeDocument/2006/relationships/notesSlide" Target="/ppt/notesSlides/notesSlide9.xml" Id="R93d48444664445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67feebe58b40d4" /><Relationship Type="http://schemas.openxmlformats.org/officeDocument/2006/relationships/image" Target="/ppt/media/image16.png" Id="R64a2bb17ed854d6e" /><Relationship Type="http://schemas.openxmlformats.org/officeDocument/2006/relationships/image" Target="/ppt/media/image17.png" Id="Rb7bbbba30160433b" /><Relationship Type="http://schemas.openxmlformats.org/officeDocument/2006/relationships/notesSlide" Target="/ppt/notesSlides/notesSlide10.xml" Id="R1dad760e2fec4e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6061d7920b4f25" /><Relationship Type="http://schemas.openxmlformats.org/officeDocument/2006/relationships/image" Target="/ppt/media/image18.png" Id="R0aa4c7a7127a4f26" /><Relationship Type="http://schemas.openxmlformats.org/officeDocument/2006/relationships/notesSlide" Target="/ppt/notesSlides/notesSlide11.xml" Id="R2325be66fe9343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cb7adf3fff4bd7" /><Relationship Type="http://schemas.openxmlformats.org/officeDocument/2006/relationships/image" Target="/ppt/media/image19.png" Id="R3010541b47a1442b" /><Relationship Type="http://schemas.openxmlformats.org/officeDocument/2006/relationships/notesSlide" Target="/ppt/notesSlides/notesSlide12.xml" Id="R8836f249768046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2f797c4e9641f9" /><Relationship Type="http://schemas.openxmlformats.org/officeDocument/2006/relationships/image" Target="/ppt/media/image20.png" Id="R080180e0aeac4629" /><Relationship Type="http://schemas.openxmlformats.org/officeDocument/2006/relationships/notesSlide" Target="/ppt/notesSlides/notesSlide13.xml" Id="Ra495378882a04e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e4a434404c4812" /><Relationship Type="http://schemas.openxmlformats.org/officeDocument/2006/relationships/image" Target="/ppt/media/image21.png" Id="R7fee790edc9640a9" /><Relationship Type="http://schemas.openxmlformats.org/officeDocument/2006/relationships/image" Target="/ppt/media/image22.png" Id="R7ae3562a1e7e4a5d" /><Relationship Type="http://schemas.openxmlformats.org/officeDocument/2006/relationships/image" Target="/ppt/media/image23.png" Id="R061db6a3062d4e18" /><Relationship Type="http://schemas.openxmlformats.org/officeDocument/2006/relationships/notesSlide" Target="/ppt/notesSlides/notesSlide14.xml" Id="R317ce06d4eca4bd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44c219d99d443d" /><Relationship Type="http://schemas.openxmlformats.org/officeDocument/2006/relationships/image" Target="/ppt/media/image24.png" Id="Rfd3791f5fb644abf" /><Relationship Type="http://schemas.openxmlformats.org/officeDocument/2006/relationships/image" Target="/ppt/media/image25.png" Id="R0c78650bef3447a5" /><Relationship Type="http://schemas.openxmlformats.org/officeDocument/2006/relationships/image" Target="/ppt/media/image26.png" Id="Rfef933ad035e4163" /><Relationship Type="http://schemas.openxmlformats.org/officeDocument/2006/relationships/notesSlide" Target="/ppt/notesSlides/notesSlide15.xml" Id="Ra2011a30a15941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6c0d06f59a4d61" /><Relationship Type="http://schemas.openxmlformats.org/officeDocument/2006/relationships/image" Target="/ppt/media/image27.png" Id="Raf8c6e3d716e41d9" /><Relationship Type="http://schemas.openxmlformats.org/officeDocument/2006/relationships/image" Target="/ppt/media/image28.png" Id="Rcc1a149a203b4df4" /><Relationship Type="http://schemas.openxmlformats.org/officeDocument/2006/relationships/image" Target="/ppt/media/image29.png" Id="Ra1483ecaaf304924" /><Relationship Type="http://schemas.openxmlformats.org/officeDocument/2006/relationships/notesSlide" Target="/ppt/notesSlides/notesSlide16.xml" Id="R4c877252999f43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64453bb7a34c51" /><Relationship Type="http://schemas.openxmlformats.org/officeDocument/2006/relationships/image" Target="/ppt/media/image30.png" Id="R219b7c1d648d44b1" /><Relationship Type="http://schemas.openxmlformats.org/officeDocument/2006/relationships/image" Target="/ppt/media/image31.png" Id="R9622adce60b3402d" /><Relationship Type="http://schemas.openxmlformats.org/officeDocument/2006/relationships/image" Target="/ppt/media/image32.png" Id="Rfa73b67f8adf4060" /><Relationship Type="http://schemas.openxmlformats.org/officeDocument/2006/relationships/notesSlide" Target="/ppt/notesSlides/notesSlide17.xml" Id="Rfbd304f918af4c5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75de0a258f4b62" /><Relationship Type="http://schemas.openxmlformats.org/officeDocument/2006/relationships/image" Target="/ppt/media/image33.png" Id="Rb4b9e97d36fa4b5c" /><Relationship Type="http://schemas.openxmlformats.org/officeDocument/2006/relationships/image" Target="/ppt/media/image34.png" Id="Rc0306b9cb7534cec" /><Relationship Type="http://schemas.openxmlformats.org/officeDocument/2006/relationships/image" Target="/ppt/media/image35.png" Id="R9f5c4133dc6840ff" /><Relationship Type="http://schemas.openxmlformats.org/officeDocument/2006/relationships/notesSlide" Target="/ppt/notesSlides/notesSlide18.xml" Id="Rff5ed43a921243a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0b650ada204828" /><Relationship Type="http://schemas.openxmlformats.org/officeDocument/2006/relationships/image" Target="/ppt/media/image36.png" Id="R1c75c41e2ea64edb" /><Relationship Type="http://schemas.openxmlformats.org/officeDocument/2006/relationships/image" Target="/ppt/media/image37.png" Id="R4f82c2141ed34520" /><Relationship Type="http://schemas.openxmlformats.org/officeDocument/2006/relationships/notesSlide" Target="/ppt/notesSlides/notesSlide19.xml" Id="Rd05046937b894d5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83a91b043f4607" /><Relationship Type="http://schemas.openxmlformats.org/officeDocument/2006/relationships/image" Target="/ppt/media/image38.png" Id="R6bafba5b6ced4c89" /><Relationship Type="http://schemas.openxmlformats.org/officeDocument/2006/relationships/image" Target="/ppt/media/image39.png" Id="R3d1054a214d0486d" /><Relationship Type="http://schemas.openxmlformats.org/officeDocument/2006/relationships/notesSlide" Target="/ppt/notesSlides/notesSlide20.xml" Id="Rb10dab7ca39d4dc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db26680298482d" /><Relationship Type="http://schemas.openxmlformats.org/officeDocument/2006/relationships/image" Target="/ppt/media/image40.png" Id="R0b465c30a57b4e7a" /><Relationship Type="http://schemas.openxmlformats.org/officeDocument/2006/relationships/image" Target="/ppt/media/image41.png" Id="R727bba9c946e4c1a" /><Relationship Type="http://schemas.openxmlformats.org/officeDocument/2006/relationships/notesSlide" Target="/ppt/notesSlides/notesSlide21.xml" Id="R0902094aa4ec475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77c1b90a344c77" /><Relationship Type="http://schemas.openxmlformats.org/officeDocument/2006/relationships/image" Target="/ppt/media/image42.png" Id="R736412e5ef0b4a79" /><Relationship Type="http://schemas.openxmlformats.org/officeDocument/2006/relationships/image" Target="/ppt/media/image43.png" Id="Rd60ea3cc4ebd4d1f" /><Relationship Type="http://schemas.openxmlformats.org/officeDocument/2006/relationships/notesSlide" Target="/ppt/notesSlides/notesSlide22.xml" Id="R75bc4078ece14e5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6b1c4eec434fef" /><Relationship Type="http://schemas.openxmlformats.org/officeDocument/2006/relationships/image" Target="/ppt/media/image44.png" Id="R81003d3bd84c4f20" /><Relationship Type="http://schemas.openxmlformats.org/officeDocument/2006/relationships/image" Target="/ppt/media/image45.png" Id="R2ffdcf1e4e754333" /><Relationship Type="http://schemas.openxmlformats.org/officeDocument/2006/relationships/notesSlide" Target="/ppt/notesSlides/notesSlide23.xml" Id="R8db102aa671445c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3f454487054cdd" /><Relationship Type="http://schemas.openxmlformats.org/officeDocument/2006/relationships/image" Target="/ppt/media/image46.png" Id="R63afcd9ffb4e4032" /><Relationship Type="http://schemas.openxmlformats.org/officeDocument/2006/relationships/image" Target="/ppt/media/image47.png" Id="R86fd6a25432046ad" /><Relationship Type="http://schemas.openxmlformats.org/officeDocument/2006/relationships/notesSlide" Target="/ppt/notesSlides/notesSlide24.xml" Id="R642bd82782b842c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d8d67bc5dc4935" /><Relationship Type="http://schemas.openxmlformats.org/officeDocument/2006/relationships/image" Target="/ppt/media/image48.png" Id="R666a2a1e1a8a443c" /><Relationship Type="http://schemas.openxmlformats.org/officeDocument/2006/relationships/image" Target="/ppt/media/image49.png" Id="R4d6c4926d6444f2a" /><Relationship Type="http://schemas.openxmlformats.org/officeDocument/2006/relationships/notesSlide" Target="/ppt/notesSlides/notesSlide25.xml" Id="Race1a22f97794af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eda0ef67dd4410" /><Relationship Type="http://schemas.openxmlformats.org/officeDocument/2006/relationships/image" Target="/ppt/media/image50.png" Id="Ra98e09c59681496d" /><Relationship Type="http://schemas.openxmlformats.org/officeDocument/2006/relationships/image" Target="/ppt/media/image51.png" Id="R5d45e5e422554175" /><Relationship Type="http://schemas.openxmlformats.org/officeDocument/2006/relationships/notesSlide" Target="/ppt/notesSlides/notesSlide26.xml" Id="R5507fca8bf1c4aa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dfe04252504bff" /><Relationship Type="http://schemas.openxmlformats.org/officeDocument/2006/relationships/image" Target="/ppt/media/image52.png" Id="R4f71fbd46dc44d0f" /><Relationship Type="http://schemas.openxmlformats.org/officeDocument/2006/relationships/image" Target="/ppt/media/image53.png" Id="R4076a13910004114" /><Relationship Type="http://schemas.openxmlformats.org/officeDocument/2006/relationships/notesSlide" Target="/ppt/notesSlides/notesSlide27.xml" Id="Rba4c8ccb28a4409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f56eafb1d943d7" /><Relationship Type="http://schemas.openxmlformats.org/officeDocument/2006/relationships/image" Target="/ppt/media/image54.png" Id="Rcd5e356f5fd04cfa" /><Relationship Type="http://schemas.openxmlformats.org/officeDocument/2006/relationships/image" Target="/ppt/media/image55.png" Id="R7d27426ee16a4502" /><Relationship Type="http://schemas.openxmlformats.org/officeDocument/2006/relationships/notesSlide" Target="/ppt/notesSlides/notesSlide28.xml" Id="Rc12fc48605f942d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cb8057e1f149aa" /><Relationship Type="http://schemas.openxmlformats.org/officeDocument/2006/relationships/image" Target="/ppt/media/image56.png" Id="Rab8adfdf274f42c0" /><Relationship Type="http://schemas.openxmlformats.org/officeDocument/2006/relationships/image" Target="/ppt/media/image57.png" Id="R0350213c7b0e4fed" /><Relationship Type="http://schemas.openxmlformats.org/officeDocument/2006/relationships/notesSlide" Target="/ppt/notesSlides/notesSlide29.xml" Id="R9e377cb38c1d46b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d7d2253a7f40a0" /><Relationship Type="http://schemas.openxmlformats.org/officeDocument/2006/relationships/image" Target="/ppt/media/image58.png" Id="Rad693591bf22441b" /><Relationship Type="http://schemas.openxmlformats.org/officeDocument/2006/relationships/notesSlide" Target="/ppt/notesSlides/notesSlide30.xml" Id="R46fbb6252dfe40e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3e62f85dfe4e55" /><Relationship Type="http://schemas.openxmlformats.org/officeDocument/2006/relationships/image" Target="/ppt/media/image59.png" Id="R71b5789215774bbf" /><Relationship Type="http://schemas.openxmlformats.org/officeDocument/2006/relationships/image" Target="/ppt/media/image60.png" Id="R7bfef9ffe02a4de6" /><Relationship Type="http://schemas.openxmlformats.org/officeDocument/2006/relationships/notesSlide" Target="/ppt/notesSlides/notesSlide31.xml" Id="R8d5107fa693d40e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0328989b2146ef" /><Relationship Type="http://schemas.openxmlformats.org/officeDocument/2006/relationships/image" Target="/ppt/media/image61.png" Id="Rd6f0e449834b4c65" /><Relationship Type="http://schemas.openxmlformats.org/officeDocument/2006/relationships/image" Target="/ppt/media/image62.png" Id="R9b480b328d0548e8" /><Relationship Type="http://schemas.openxmlformats.org/officeDocument/2006/relationships/notesSlide" Target="/ppt/notesSlides/notesSlide32.xml" Id="R1266ad12b3184be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c23d80a2c14064" /><Relationship Type="http://schemas.openxmlformats.org/officeDocument/2006/relationships/image" Target="/ppt/media/image63.png" Id="Rc3990e60d9414bad" /><Relationship Type="http://schemas.openxmlformats.org/officeDocument/2006/relationships/image" Target="/ppt/media/image64.png" Id="R47c4283a68834c90" /><Relationship Type="http://schemas.openxmlformats.org/officeDocument/2006/relationships/image" Target="/ppt/media/image65.png" Id="R8d27cbc8c3f04821" /><Relationship Type="http://schemas.openxmlformats.org/officeDocument/2006/relationships/notesSlide" Target="/ppt/notesSlides/notesSlide33.xml" Id="R8c812a6eda284d7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24f9d72de84322" /><Relationship Type="http://schemas.openxmlformats.org/officeDocument/2006/relationships/image" Target="/ppt/media/image66.png" Id="Rf50245cfd8954ca8" /><Relationship Type="http://schemas.openxmlformats.org/officeDocument/2006/relationships/image" Target="/ppt/media/image67.png" Id="R6fa224e9864a4126" /><Relationship Type="http://schemas.openxmlformats.org/officeDocument/2006/relationships/notesSlide" Target="/ppt/notesSlides/notesSlide34.xml" Id="R7f107d7b0933462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f7d1da4ec44bcb" /><Relationship Type="http://schemas.openxmlformats.org/officeDocument/2006/relationships/image" Target="/ppt/media/image68.png" Id="Rdcbfbf106cb0460d" /><Relationship Type="http://schemas.openxmlformats.org/officeDocument/2006/relationships/image" Target="/ppt/media/image69.png" Id="R7f250ddc1e534acf" /><Relationship Type="http://schemas.openxmlformats.org/officeDocument/2006/relationships/image" Target="/ppt/media/image70.png" Id="R1237cde46eb6472d" /><Relationship Type="http://schemas.openxmlformats.org/officeDocument/2006/relationships/image" Target="/ppt/media/image71.png" Id="Rad1fe0c6455744ca" /><Relationship Type="http://schemas.openxmlformats.org/officeDocument/2006/relationships/notesSlide" Target="/ppt/notesSlides/notesSlide35.xml" Id="R877b15d1f9bb4ba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4a886592834cff" /><Relationship Type="http://schemas.openxmlformats.org/officeDocument/2006/relationships/image" Target="/ppt/media/image72.png" Id="Re96966373dcf4984" /><Relationship Type="http://schemas.openxmlformats.org/officeDocument/2006/relationships/image" Target="/ppt/media/image73.png" Id="R5030843a8cdc4c72" /><Relationship Type="http://schemas.openxmlformats.org/officeDocument/2006/relationships/notesSlide" Target="/ppt/notesSlides/notesSlide36.xml" Id="Ree7d89216d764cc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b49098ac13453b" /><Relationship Type="http://schemas.openxmlformats.org/officeDocument/2006/relationships/image" Target="/ppt/media/image74.png" Id="R86c59dc9c80b439e" /><Relationship Type="http://schemas.openxmlformats.org/officeDocument/2006/relationships/image" Target="/ppt/media/image75.png" Id="R7f280f5d63de412e" /><Relationship Type="http://schemas.openxmlformats.org/officeDocument/2006/relationships/notesSlide" Target="/ppt/notesSlides/notesSlide37.xml" Id="R5f1d0ea38a58474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6efb05f67d4d16" /><Relationship Type="http://schemas.openxmlformats.org/officeDocument/2006/relationships/image" Target="/ppt/media/image76.png" Id="Rbc94cfa4557e4e71" /><Relationship Type="http://schemas.openxmlformats.org/officeDocument/2006/relationships/image" Target="/ppt/media/image77.png" Id="R9a4fc55a0d294a34" /><Relationship Type="http://schemas.openxmlformats.org/officeDocument/2006/relationships/notesSlide" Target="/ppt/notesSlides/notesSlide38.xml" Id="R2a19e52ddd2e476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94e61713914cac" /><Relationship Type="http://schemas.openxmlformats.org/officeDocument/2006/relationships/image" Target="/ppt/media/image78.png" Id="R5bc891780c5a49e4" /><Relationship Type="http://schemas.openxmlformats.org/officeDocument/2006/relationships/image" Target="/ppt/media/image79.png" Id="R7cba129ceadb4000" /><Relationship Type="http://schemas.openxmlformats.org/officeDocument/2006/relationships/notesSlide" Target="/ppt/notesSlides/notesSlide39.xml" Id="R0438537fb5574d5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e372ce962344aa" /><Relationship Type="http://schemas.openxmlformats.org/officeDocument/2006/relationships/image" Target="/ppt/media/image80.png" Id="R24f0222a35dd4a62" /><Relationship Type="http://schemas.openxmlformats.org/officeDocument/2006/relationships/image" Target="/ppt/media/image81.png" Id="R7572fee310af4ca5" /><Relationship Type="http://schemas.openxmlformats.org/officeDocument/2006/relationships/notesSlide" Target="/ppt/notesSlides/notesSlide40.xml" Id="R1de606066e0a422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68c97089034eb6" /><Relationship Type="http://schemas.openxmlformats.org/officeDocument/2006/relationships/image" Target="/ppt/media/image82.png" Id="R08b7a6cab99540d0" /><Relationship Type="http://schemas.openxmlformats.org/officeDocument/2006/relationships/image" Target="/ppt/media/image83.png" Id="R22aee9db5a0e4f8c" /><Relationship Type="http://schemas.openxmlformats.org/officeDocument/2006/relationships/notesSlide" Target="/ppt/notesSlides/notesSlide41.xml" Id="R5d60e51f28884c9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1562f8738149b6" /><Relationship Type="http://schemas.openxmlformats.org/officeDocument/2006/relationships/image" Target="/ppt/media/image84.png" Id="R395c860b97f24a9b" /><Relationship Type="http://schemas.openxmlformats.org/officeDocument/2006/relationships/notesSlide" Target="/ppt/notesSlides/notesSlide42.xml" Id="Re975b7e1065f4091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4f4407a82d4305" /><Relationship Type="http://schemas.openxmlformats.org/officeDocument/2006/relationships/image" Target="/ppt/media/image85.png" Id="R63de799f80ff42fc" /><Relationship Type="http://schemas.openxmlformats.org/officeDocument/2006/relationships/notesSlide" Target="/ppt/notesSlides/notesSlide43.xml" Id="R96a4dd59cbd44da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9103a645ba4e39" /><Relationship Type="http://schemas.openxmlformats.org/officeDocument/2006/relationships/image" Target="/ppt/media/image86.png" Id="R62a7a21743ed4d8e" /><Relationship Type="http://schemas.openxmlformats.org/officeDocument/2006/relationships/image" Target="/ppt/media/image87.png" Id="R22ef3ac59ebb492d" /><Relationship Type="http://schemas.openxmlformats.org/officeDocument/2006/relationships/notesSlide" Target="/ppt/notesSlides/notesSlide44.xml" Id="Rf7ceefce95334f7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555bfa3b394756" /><Relationship Type="http://schemas.openxmlformats.org/officeDocument/2006/relationships/image" Target="/ppt/media/image88.png" Id="R7611b6fc6f8944a3" /><Relationship Type="http://schemas.openxmlformats.org/officeDocument/2006/relationships/image" Target="/ppt/media/image89.png" Id="R9851a637636c40ab" /><Relationship Type="http://schemas.openxmlformats.org/officeDocument/2006/relationships/notesSlide" Target="/ppt/notesSlides/notesSlide45.xml" Id="R74bbe415afb9484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16e3f5b24c4ecc" /><Relationship Type="http://schemas.openxmlformats.org/officeDocument/2006/relationships/image" Target="/ppt/media/image90.png" Id="R43b971472a6a485e" /><Relationship Type="http://schemas.openxmlformats.org/officeDocument/2006/relationships/image" Target="/ppt/media/image91.png" Id="Ra98022b1318b4dbd" /><Relationship Type="http://schemas.openxmlformats.org/officeDocument/2006/relationships/notesSlide" Target="/ppt/notesSlides/notesSlide46.xml" Id="R4b6d500944a5452b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7323bb7074f48" /><Relationship Type="http://schemas.openxmlformats.org/officeDocument/2006/relationships/image" Target="/ppt/media/image92.png" Id="R9139a59dd140452e" /><Relationship Type="http://schemas.openxmlformats.org/officeDocument/2006/relationships/image" Target="/ppt/media/image93.png" Id="R0ca7a314a5d04ce1" /><Relationship Type="http://schemas.openxmlformats.org/officeDocument/2006/relationships/notesSlide" Target="/ppt/notesSlides/notesSlide47.xml" Id="R6a9a768be1d54c6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977d16279430d" /><Relationship Type="http://schemas.openxmlformats.org/officeDocument/2006/relationships/image" Target="/ppt/media/image94.png" Id="R5349fc1b7e184b72" /><Relationship Type="http://schemas.openxmlformats.org/officeDocument/2006/relationships/image" Target="/ppt/media/image95.png" Id="Rc68e59ea5a0243f4" /><Relationship Type="http://schemas.openxmlformats.org/officeDocument/2006/relationships/notesSlide" Target="/ppt/notesSlides/notesSlide48.xml" Id="R05b573ae35b5413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63e4350da4768" /><Relationship Type="http://schemas.openxmlformats.org/officeDocument/2006/relationships/image" Target="/ppt/media/image96.png" Id="R3cd2c87a1bb04d61" /><Relationship Type="http://schemas.openxmlformats.org/officeDocument/2006/relationships/image" Target="/ppt/media/image97.png" Id="R17a8f95cb7e740bd" /><Relationship Type="http://schemas.openxmlformats.org/officeDocument/2006/relationships/notesSlide" Target="/ppt/notesSlides/notesSlide49.xml" Id="R73403b8ff2234b91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5971ddc1d146b1" /><Relationship Type="http://schemas.openxmlformats.org/officeDocument/2006/relationships/image" Target="/ppt/media/image98.png" Id="Ra14aac3eacaf499a" /><Relationship Type="http://schemas.openxmlformats.org/officeDocument/2006/relationships/image" Target="/ppt/media/image99.png" Id="R0ea33a8ee0b24b17" /><Relationship Type="http://schemas.openxmlformats.org/officeDocument/2006/relationships/notesSlide" Target="/ppt/notesSlides/notesSlide50.xml" Id="R5ea20f539e204a5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1bd710bfeb4bd8" /><Relationship Type="http://schemas.openxmlformats.org/officeDocument/2006/relationships/image" Target="/ppt/media/image100.png" Id="Re03c3fb81c084b30" /><Relationship Type="http://schemas.openxmlformats.org/officeDocument/2006/relationships/image" Target="/ppt/media/image101.png" Id="R0007be4d3a0448ee" /><Relationship Type="http://schemas.openxmlformats.org/officeDocument/2006/relationships/notesSlide" Target="/ppt/notesSlides/notesSlide51.xml" Id="R611e1802c5c04466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89ee3aa07a425c" /><Relationship Type="http://schemas.openxmlformats.org/officeDocument/2006/relationships/image" Target="/ppt/media/image102.png" Id="R9abd50211d2844c6" /><Relationship Type="http://schemas.openxmlformats.org/officeDocument/2006/relationships/image" Target="/ppt/media/image103.png" Id="R95ebdc892c294555" /><Relationship Type="http://schemas.openxmlformats.org/officeDocument/2006/relationships/notesSlide" Target="/ppt/notesSlides/notesSlide52.xml" Id="R3be1f211703543e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fe0c04828e4841" /><Relationship Type="http://schemas.openxmlformats.org/officeDocument/2006/relationships/image" Target="/ppt/media/image104.png" Id="R3cd3397141034727" /><Relationship Type="http://schemas.openxmlformats.org/officeDocument/2006/relationships/image" Target="/ppt/media/image105.png" Id="R25f2cab1d6d64f10" /><Relationship Type="http://schemas.openxmlformats.org/officeDocument/2006/relationships/notesSlide" Target="/ppt/notesSlides/notesSlide53.xml" Id="Rc5f0d60d025f4bc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a6c300a5de4557" /><Relationship Type="http://schemas.openxmlformats.org/officeDocument/2006/relationships/image" Target="/ppt/media/image106.png" Id="Rbe2707f45e2b450e" /><Relationship Type="http://schemas.openxmlformats.org/officeDocument/2006/relationships/image" Target="/ppt/media/image107.png" Id="R939e4d1b22ce49ec" /><Relationship Type="http://schemas.openxmlformats.org/officeDocument/2006/relationships/notesSlide" Target="/ppt/notesSlides/notesSlide54.xml" Id="R0c26902db844412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b6cab8799b4d32" /><Relationship Type="http://schemas.openxmlformats.org/officeDocument/2006/relationships/image" Target="/ppt/media/image108.png" Id="Re6422e6eb26c4fa9" /><Relationship Type="http://schemas.openxmlformats.org/officeDocument/2006/relationships/image" Target="/ppt/media/image109.png" Id="Rd2ffdd129b1d4ee6" /><Relationship Type="http://schemas.openxmlformats.org/officeDocument/2006/relationships/notesSlide" Target="/ppt/notesSlides/notesSlide55.xml" Id="Re94c17ddf2f44f1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97b7492a9479b" /><Relationship Type="http://schemas.openxmlformats.org/officeDocument/2006/relationships/image" Target="/ppt/media/image110.png" Id="Rd0b76318068244be" /><Relationship Type="http://schemas.openxmlformats.org/officeDocument/2006/relationships/image" Target="/ppt/media/image111.png" Id="Rdea0a67752d04fcb" /><Relationship Type="http://schemas.openxmlformats.org/officeDocument/2006/relationships/notesSlide" Target="/ppt/notesSlides/notesSlide56.xml" Id="R3211685eaafc4e15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70cc2615554a07" /><Relationship Type="http://schemas.openxmlformats.org/officeDocument/2006/relationships/image" Target="/ppt/media/image112.png" Id="Rf43e59fd614445b6" /><Relationship Type="http://schemas.openxmlformats.org/officeDocument/2006/relationships/image" Target="/ppt/media/image113.png" Id="R3f9c12295f474523" /><Relationship Type="http://schemas.openxmlformats.org/officeDocument/2006/relationships/notesSlide" Target="/ppt/notesSlides/notesSlide57.xml" Id="R4643f78ad86a4f93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b9ee8feac747e3" /><Relationship Type="http://schemas.openxmlformats.org/officeDocument/2006/relationships/image" Target="/ppt/media/image114.png" Id="Rf60b19482452493a" /><Relationship Type="http://schemas.openxmlformats.org/officeDocument/2006/relationships/image" Target="/ppt/media/image115.png" Id="R71229f5205b84bc5" /><Relationship Type="http://schemas.openxmlformats.org/officeDocument/2006/relationships/notesSlide" Target="/ppt/notesSlides/notesSlide58.xml" Id="R5978968cd00d4828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7e785bb27545d1" /><Relationship Type="http://schemas.openxmlformats.org/officeDocument/2006/relationships/image" Target="/ppt/media/image116.png" Id="R8d4af1590121400c" /><Relationship Type="http://schemas.openxmlformats.org/officeDocument/2006/relationships/notesSlide" Target="/ppt/notesSlides/notesSlide59.xml" Id="Raca2e23042dc4ef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f90be9bfa64877" /><Relationship Type="http://schemas.openxmlformats.org/officeDocument/2006/relationships/image" Target="/ppt/media/image117.png" Id="Rfacc56df8dfb4e4f" /><Relationship Type="http://schemas.openxmlformats.org/officeDocument/2006/relationships/notesSlide" Target="/ppt/notesSlides/notesSlide60.xml" Id="Rdb0ac5869e664d5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F7E402-15D5-4FE6-A18A-77EDE21025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10cc6ae71478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小样本三参数Weibull参数估计方法&#10;的比较与选择">
            <a:extLst xmlns:a="http://schemas.openxmlformats.org/drawingml/2006/main">
              <a:ext uri="{FF2B5EF4-FFF2-40B4-BE49-F238E27FC236}">
                <a16:creationId xmlns:a16="http://schemas.microsoft.com/office/drawing/2014/main" id="{5643967F-E8BC-4D99-A35B-DE666283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85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小样本三参数Weibull参数估计方法</a:t>
            </a:r>
          </a:p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的比较与选择</a:t>
            </a:r>
          </a:p>
        </p:txBody>
      </p:sp>
      <p:sp>
        <p:nvSpPr>
          <p:cNvPr id="3" name="魏鹏宇　谢里阳　陈鉴朋　孙伟侨">
            <a:extLst xmlns:a="http://schemas.openxmlformats.org/drawingml/2006/main">
              <a:ext uri="{FF2B5EF4-FFF2-40B4-BE49-F238E27FC236}">
                <a16:creationId xmlns:a16="http://schemas.microsoft.com/office/drawing/2014/main" id="{FC477668-8FBD-4A15-BA07-8022411E8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8625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魏鹏宇　谢里阳　陈鉴朋　孙伟侨</a:t>
            </a:r>
          </a:p>
        </p:txBody>
      </p:sp>
      <p:sp>
        <p:nvSpPr>
          <p:cNvPr id="4" name="报告人：魏鹏宇">
            <a:extLst xmlns:a="http://schemas.openxmlformats.org/drawingml/2006/main">
              <a:ext uri="{FF2B5EF4-FFF2-40B4-BE49-F238E27FC236}">
                <a16:creationId xmlns:a16="http://schemas.microsoft.com/office/drawing/2014/main" id="{F2D7EC87-D141-4BDF-ACF8-08C10BC0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91075"/>
            <a:ext cx="647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报告人：魏鹏宇</a:t>
            </a:r>
          </a:p>
        </p:txBody>
      </p:sp>
      <p:sp>
        <p:nvSpPr>
          <p:cNvPr id="5" name="东北大学机械工程与自动化学院">
            <a:extLst xmlns:a="http://schemas.openxmlformats.org/drawingml/2006/main">
              <a:ext uri="{FF2B5EF4-FFF2-40B4-BE49-F238E27FC236}">
                <a16:creationId xmlns:a16="http://schemas.microsoft.com/office/drawing/2014/main" id="{9AECF777-EE45-45EC-A257-07DECC73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7325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东北大学机械工程与自动化学院</a:t>
            </a:r>
          </a:p>
        </p:txBody>
      </p:sp>
      <p:sp>
        <p:nvSpPr>
          <p:cNvPr id="6" name="2026年10月25日">
            <a:extLst xmlns:a="http://schemas.openxmlformats.org/drawingml/2006/main">
              <a:ext uri="{FF2B5EF4-FFF2-40B4-BE49-F238E27FC236}">
                <a16:creationId xmlns:a16="http://schemas.microsoft.com/office/drawing/2014/main" id="{1D40C267-208A-4342-9E9E-BC50FB3B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007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2026年10月25日</a:t>
            </a:r>
          </a:p>
        </p:txBody>
      </p:sp>
    </p:spTree>
    <p:extLst>
      <p:ext uri="{BB962C8B-B14F-4D97-AF65-F5344CB8AC3E}">
        <p14:creationId xmlns:p14="http://schemas.microsoft.com/office/powerpoint/2010/main" val="12734061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DBF568-A621-4199-BF0A-756D5B23AC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b554dcf084f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1　研究背景">
            <a:extLst xmlns:a="http://schemas.openxmlformats.org/drawingml/2006/main">
              <a:ext uri="{FF2B5EF4-FFF2-40B4-BE49-F238E27FC236}">
                <a16:creationId xmlns:a16="http://schemas.microsoft.com/office/drawing/2014/main" id="{900A263E-3F42-46B2-9777-7D465E47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01　研究背景</a:t>
            </a:r>
          </a:p>
        </p:txBody>
      </p:sp>
      <p:sp>
        <p:nvSpPr>
          <p:cNvPr id="3" name="方法原理与性能变化共同构成比较依据">
            <a:extLst xmlns:a="http://schemas.openxmlformats.org/drawingml/2006/main">
              <a:ext uri="{FF2B5EF4-FFF2-40B4-BE49-F238E27FC236}">
                <a16:creationId xmlns:a16="http://schemas.microsoft.com/office/drawing/2014/main" id="{5542321F-CAD2-455A-864F-2FF8A0B5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方法原理与性能变化共同构成比较依据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28B2F3DF-8270-4EEF-8E41-78FB2C8E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研究背景">
            <a:extLst xmlns:a="http://schemas.openxmlformats.org/drawingml/2006/main">
              <a:ext uri="{FF2B5EF4-FFF2-40B4-BE49-F238E27FC236}">
                <a16:creationId xmlns:a16="http://schemas.microsoft.com/office/drawing/2014/main" id="{7D3BDAD5-6C82-4B6F-980F-C61C51EB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478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研究背景</a:t>
            </a:r>
          </a:p>
        </p:txBody>
      </p:sp>
      <p:sp>
        <p:nvSpPr>
          <p:cNvPr id="6" name="试验成本与周期限制，使寿命分布参数估计经常面对小样本。">
            <a:extLst xmlns:a="http://schemas.openxmlformats.org/drawingml/2006/main">
              <a:ext uri="{FF2B5EF4-FFF2-40B4-BE49-F238E27FC236}">
                <a16:creationId xmlns:a16="http://schemas.microsoft.com/office/drawing/2014/main" id="{B4B18BA4-592C-4190-8ACB-BCD300EE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669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试验成本与周期限制，使寿命分布参数估计经常面对小样本。</a:t>
            </a:r>
          </a:p>
        </p:txBody>
      </p:sp>
      <p:sp>
        <p:nvSpPr>
          <p:cNvPr id="7" name="方法整理">
            <a:extLst xmlns:a="http://schemas.openxmlformats.org/drawingml/2006/main">
              <a:ext uri="{FF2B5EF4-FFF2-40B4-BE49-F238E27FC236}">
                <a16:creationId xmlns:a16="http://schemas.microsoft.com/office/drawing/2014/main" id="{8780E17D-1D79-488F-90BB-4FD1EAE6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099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方法整理</a:t>
            </a:r>
          </a:p>
        </p:txBody>
      </p:sp>
      <p:sp>
        <p:nvSpPr>
          <p:cNvPr id="8" name="依据估计机制归纳路线，并区分文献间的沿袭、数学联系与局部借用。">
            <a:extLst xmlns:a="http://schemas.openxmlformats.org/drawingml/2006/main">
              <a:ext uri="{FF2B5EF4-FFF2-40B4-BE49-F238E27FC236}">
                <a16:creationId xmlns:a16="http://schemas.microsoft.com/office/drawing/2014/main" id="{4C77ECD4-A300-4B8A-BF07-4D1B31A5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290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依据估计机制归纳路线，并区分文献间的沿袭、数学联系与局部借用。</a:t>
            </a:r>
          </a:p>
        </p:txBody>
      </p:sp>
      <p:sp>
        <p:nvSpPr>
          <p:cNvPr id="9" name="统一比较">
            <a:extLst xmlns:a="http://schemas.openxmlformats.org/drawingml/2006/main">
              <a:ext uri="{FF2B5EF4-FFF2-40B4-BE49-F238E27FC236}">
                <a16:creationId xmlns:a16="http://schemas.microsoft.com/office/drawing/2014/main" id="{FB05D860-69FF-455E-A8A0-DB750064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统一比较</a:t>
            </a:r>
          </a:p>
        </p:txBody>
      </p:sp>
      <p:sp>
        <p:nvSpPr>
          <p:cNvPr id="10" name="在共同样本下发现性能变化，解释典型现象，再讨论评价与选择。">
            <a:extLst xmlns:a="http://schemas.openxmlformats.org/drawingml/2006/main">
              <a:ext uri="{FF2B5EF4-FFF2-40B4-BE49-F238E27FC236}">
                <a16:creationId xmlns:a16="http://schemas.microsoft.com/office/drawing/2014/main" id="{D83EA050-762C-47C1-8BC3-DFC413C5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91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在共同样本下发现性能变化，解释典型现象，再讨论评价与选择。</a:t>
            </a:r>
          </a:p>
        </p:txBody>
      </p:sp>
    </p:spTree>
    <p:extLst>
      <p:ext uri="{BB962C8B-B14F-4D97-AF65-F5344CB8AC3E}">
        <p14:creationId xmlns:p14="http://schemas.microsoft.com/office/powerpoint/2010/main" val="911062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AF5A7-DD9F-4A0E-BB4A-8444B8FC66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1af8a557a441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EA91EA79-0957-49EF-895E-F061F04D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五条路线依据不同机制将样本信息转为参数">
            <a:extLst xmlns:a="http://schemas.openxmlformats.org/drawingml/2006/main">
              <a:ext uri="{FF2B5EF4-FFF2-40B4-BE49-F238E27FC236}">
                <a16:creationId xmlns:a16="http://schemas.microsoft.com/office/drawing/2014/main" id="{F5C8E9E3-A579-4009-9CCA-8E02317F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五条路线依据不同机制将样本信息转为参数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49C1D9BA-9C67-40BE-9361-29D59FFF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B3E04-9A78-471F-ABC8-DCCD4DE4B9A0}"/>
              </a:ext>
            </a:extLst>
          </p:cNvPr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3857625"/>
                <a:gridCol w="4762500"/>
              </a:tblGrid>
              <a:tr h="5810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估计路线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从样本构造什么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据此怎样确定参数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似然构造与优化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观测或统计量的联合密度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最大化似然，或按具体构造修正方程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分布关系匹配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概率图、概率间距、反推尺度等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指定拟合、一致性或概率结构准则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统计特征关系匹配与反演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矩、分位数、次序统计量等特征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匹配理论关系，消元并恢复参数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贝叶斯后验推断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似然与先验形成后验分布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按后验决策规则给出估计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学习型参数映射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多组带参数标签的训练样本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训练映射，固定后用于新样本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817416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D5505-DA7C-4F5D-81C1-8C5FA0F3BA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855bf1a7b434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C871DA4E-7E0E-4897-98B8-14315709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路线图同时表达估计过程与方法间关系">
            <a:extLst xmlns:a="http://schemas.openxmlformats.org/drawingml/2006/main">
              <a:ext uri="{FF2B5EF4-FFF2-40B4-BE49-F238E27FC236}">
                <a16:creationId xmlns:a16="http://schemas.microsoft.com/office/drawing/2014/main" id="{D5C92948-D1A4-4831-8271-2627E74C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路线图同时表达估计过程与方法间关系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E7AEE736-DA63-4C03-AC1B-3BB4E582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EBDAB-E63E-48BF-A5B4-68613E0A5C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8d90e40164dbc"/>
          <a:stretch xmlns:a="http://schemas.openxmlformats.org/drawingml/2006/main"/>
        </p:blipFill>
        <p:spPr>
          <a:xfrm xmlns:a="http://schemas.openxmlformats.org/drawingml/2006/main">
            <a:off x="1918177" y="1495425"/>
            <a:ext cx="4564696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路线节点：确定参数所依据的机制">
            <a:extLst xmlns:a="http://schemas.openxmlformats.org/drawingml/2006/main">
              <a:ext uri="{FF2B5EF4-FFF2-40B4-BE49-F238E27FC236}">
                <a16:creationId xmlns:a16="http://schemas.microsoft.com/office/drawing/2014/main" id="{0FDB6D49-67AD-4334-A4E0-C9412672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0500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路线节点：确定参数所依据的机制</a:t>
            </a:r>
          </a:p>
        </p:txBody>
      </p:sp>
      <p:sp>
        <p:nvSpPr>
          <p:cNvPr id="7" name="跨路线连接：同一方法中的不同阶段">
            <a:extLst xmlns:a="http://schemas.openxmlformats.org/drawingml/2006/main">
              <a:ext uri="{FF2B5EF4-FFF2-40B4-BE49-F238E27FC236}">
                <a16:creationId xmlns:a16="http://schemas.microsoft.com/office/drawing/2014/main" id="{F427C2D1-9380-4F25-B732-3DBE6389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0956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跨路线连接：同一方法中的不同阶段</a:t>
            </a:r>
          </a:p>
        </p:txBody>
      </p:sp>
      <p:sp>
        <p:nvSpPr>
          <p:cNvPr id="8" name="方法关系：沿袭、数学联系与局部借用">
            <a:extLst xmlns:a="http://schemas.openxmlformats.org/drawingml/2006/main">
              <a:ext uri="{FF2B5EF4-FFF2-40B4-BE49-F238E27FC236}">
                <a16:creationId xmlns:a16="http://schemas.microsoft.com/office/drawing/2014/main" id="{3B92472E-3F61-4F93-AA56-83922FC0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2862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方法关系：沿袭、数学联系与局部借用</a:t>
            </a:r>
          </a:p>
        </p:txBody>
      </p:sp>
      <p:sp>
        <p:nvSpPr>
          <p:cNvPr id="9" name="金色节点对应本轮七种实现。完整地图与局部构造在备页保留。">
            <a:extLst xmlns:a="http://schemas.openxmlformats.org/drawingml/2006/main">
              <a:ext uri="{FF2B5EF4-FFF2-40B4-BE49-F238E27FC236}">
                <a16:creationId xmlns:a16="http://schemas.microsoft.com/office/drawing/2014/main" id="{47086102-4FC0-4189-B038-DEEC7D3B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金色节点对应本轮七种实现。完整地图与局部构造在备页保留。</a:t>
            </a:r>
          </a:p>
        </p:txBody>
      </p:sp>
    </p:spTree>
    <p:extLst>
      <p:ext uri="{BB962C8B-B14F-4D97-AF65-F5344CB8AC3E}">
        <p14:creationId xmlns:p14="http://schemas.microsoft.com/office/powerpoint/2010/main" val="5245983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A2FD3-A193-4579-8505-AC1DA827AD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861408eea4b8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676ACEA3-3019-4F34-80C9-B051CAE6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似然方法在固定观测下比较候选参数的联合密度">
            <a:extLst xmlns:a="http://schemas.openxmlformats.org/drawingml/2006/main">
              <a:ext uri="{FF2B5EF4-FFF2-40B4-BE49-F238E27FC236}">
                <a16:creationId xmlns:a16="http://schemas.microsoft.com/office/drawing/2014/main" id="{C35703C7-C3E1-4E42-B16E-11CDCA06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似然方法在固定观测下比较候选参数的联合密度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0114EFD4-680F-49FB-91C7-34690773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21090-09BE-4582-A7E9-0592E2E795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621789bb84d04"/>
          <a:stretch xmlns:a="http://schemas.openxmlformats.org/drawingml/2006/main"/>
        </p:blipFill>
        <p:spPr>
          <a:xfrm xmlns:a="http://schemas.openxmlformats.org/drawingml/2006/main">
            <a:off x="1490498" y="1485900"/>
            <a:ext cx="9211003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图中固定η、γ展示β截面；完整三参数MLE仍需在参数域内求解。">
            <a:extLst xmlns:a="http://schemas.openxmlformats.org/drawingml/2006/main">
              <a:ext uri="{FF2B5EF4-FFF2-40B4-BE49-F238E27FC236}">
                <a16:creationId xmlns:a16="http://schemas.microsoft.com/office/drawing/2014/main" id="{7CD329C6-E5AC-4D32-B797-2E477353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图中固定η、γ展示β截面；完整三参数MLE仍需在参数域内求解。</a:t>
            </a:r>
          </a:p>
        </p:txBody>
      </p:sp>
    </p:spTree>
    <p:extLst>
      <p:ext uri="{BB962C8B-B14F-4D97-AF65-F5344CB8AC3E}">
        <p14:creationId xmlns:p14="http://schemas.microsoft.com/office/powerpoint/2010/main" val="11646727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DFF5C0-8954-44E1-81B1-40906C8084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d4203680774c2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91221FA4-46DC-4CFB-87F4-F51A8AAF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分布匹配先明确比较对象，再指定参数准则">
            <a:extLst xmlns:a="http://schemas.openxmlformats.org/drawingml/2006/main">
              <a:ext uri="{FF2B5EF4-FFF2-40B4-BE49-F238E27FC236}">
                <a16:creationId xmlns:a16="http://schemas.microsoft.com/office/drawing/2014/main" id="{506798E5-2332-4ED8-9CD0-508F2BFE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分布匹配先明确比较对象，再指定参数准则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674BE011-1218-4A90-BB36-C0330C43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D68EA-2061-4A41-BB07-410BDB1106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dd44f82ac5481d"/>
          <a:stretch xmlns:a="http://schemas.openxmlformats.org/drawingml/2006/main"/>
        </p:blipFill>
        <p:spPr>
          <a:xfrm xmlns:a="http://schemas.openxmlformats.org/drawingml/2006/main">
            <a:off x="941500" y="1485900"/>
            <a:ext cx="10309001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CDF平方差仅为示例；概率图、MPS与MDM采用各自的实际准则。">
            <a:extLst xmlns:a="http://schemas.openxmlformats.org/drawingml/2006/main">
              <a:ext uri="{FF2B5EF4-FFF2-40B4-BE49-F238E27FC236}">
                <a16:creationId xmlns:a16="http://schemas.microsoft.com/office/drawing/2014/main" id="{7D7803B6-D8F9-4018-B45B-1C3C9F82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CDF平方差仅为示例；概率图、MPS与MDM采用各自的实际准则。</a:t>
            </a:r>
          </a:p>
        </p:txBody>
      </p:sp>
    </p:spTree>
    <p:extLst>
      <p:ext uri="{BB962C8B-B14F-4D97-AF65-F5344CB8AC3E}">
        <p14:creationId xmlns:p14="http://schemas.microsoft.com/office/powerpoint/2010/main" val="23389636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C5C17F-BD1E-4F1D-B5EB-EA67EC8316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e106cd0cd458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F62C2A0D-6893-40E2-BDAC-65B369E1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回归方向与位置评分改变概率图的估计过程">
            <a:extLst xmlns:a="http://schemas.openxmlformats.org/drawingml/2006/main">
              <a:ext uri="{FF2B5EF4-FFF2-40B4-BE49-F238E27FC236}">
                <a16:creationId xmlns:a16="http://schemas.microsoft.com/office/drawing/2014/main" id="{458B7EA6-2EF5-4CEC-9AA4-76E6BFC8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回归方向与位置评分改变概率图的估计过程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887E6D2B-FB6D-407F-83CE-51058AA2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4D71A-868D-4B5A-9420-B23F2FE286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1ca313657495c"/>
          <a:stretch xmlns:a="http://schemas.openxmlformats.org/drawingml/2006/main"/>
        </p:blipFill>
        <p:spPr>
          <a:xfrm xmlns:a="http://schemas.openxmlformats.org/drawingml/2006/main">
            <a:off x="400050" y="1527626"/>
            <a:ext cx="11391900" cy="4602848"/>
          </a:xfrm>
          <a:prstGeom xmlns:a="http://schemas.openxmlformats.org/drawingml/2006/main" prst="rect">
            <a:avLst/>
          </a:prstGeom>
        </p:spPr>
      </p:pic>
      <p:sp>
        <p:nvSpPr>
          <p:cNvPr id="6" name="Soman对数寿命对分数回归；Park分数对对数寿命回归，实际分数也不">
            <a:extLst xmlns:a="http://schemas.openxmlformats.org/drawingml/2006/main">
              <a:ext uri="{FF2B5EF4-FFF2-40B4-BE49-F238E27FC236}">
                <a16:creationId xmlns:a16="http://schemas.microsoft.com/office/drawing/2014/main" id="{125B34CC-D1D7-47F1-A677-EC2DB9BA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Soman对数寿命对分数回归；Park分数对对数寿命回归，实际分数也不同。</a:t>
            </a:r>
          </a:p>
        </p:txBody>
      </p:sp>
    </p:spTree>
    <p:extLst>
      <p:ext uri="{BB962C8B-B14F-4D97-AF65-F5344CB8AC3E}">
        <p14:creationId xmlns:p14="http://schemas.microsoft.com/office/powerpoint/2010/main" val="4280528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52920-EE57-4572-81D3-2A4D24E1DC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d750f5bd747a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63FC2B49-5F35-428C-8C22-FCAAEA98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统计关系方法通过选定特征的理论关系识别参数">
            <a:extLst xmlns:a="http://schemas.openxmlformats.org/drawingml/2006/main">
              <a:ext uri="{FF2B5EF4-FFF2-40B4-BE49-F238E27FC236}">
                <a16:creationId xmlns:a16="http://schemas.microsoft.com/office/drawing/2014/main" id="{FA56FB12-9A3A-43BB-A37E-FC23D0E7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统计关系方法通过选定特征的理论关系识别参数</a:t>
            </a:r>
          </a:p>
        </p:txBody>
      </p:sp>
      <p:sp>
        <p:nvSpPr>
          <p:cNvPr id="4" name="08">
            <a:extLst xmlns:a="http://schemas.openxmlformats.org/drawingml/2006/main">
              <a:ext uri="{FF2B5EF4-FFF2-40B4-BE49-F238E27FC236}">
                <a16:creationId xmlns:a16="http://schemas.microsoft.com/office/drawing/2014/main" id="{0F443B30-5E0B-4442-A193-8264FDCB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680329-0A6C-4C02-BAA3-15B6F16432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7ac6bd96e4e3c"/>
          <a:stretch xmlns:a="http://schemas.openxmlformats.org/drawingml/2006/main"/>
        </p:blipFill>
        <p:spPr>
          <a:xfrm xmlns:a="http://schemas.openxmlformats.org/drawingml/2006/main">
            <a:off x="879340" y="1485900"/>
            <a:ext cx="10433321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常规矩法示例：偏度识别形状，再由方差与均值恢复尺度和位置。">
            <a:extLst xmlns:a="http://schemas.openxmlformats.org/drawingml/2006/main">
              <a:ext uri="{FF2B5EF4-FFF2-40B4-BE49-F238E27FC236}">
                <a16:creationId xmlns:a16="http://schemas.microsoft.com/office/drawing/2014/main" id="{42E0031E-8C37-48E9-A2ED-C2D4192A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常规矩法示例：偏度识别形状，再由方差与均值恢复尺度和位置。</a:t>
            </a:r>
          </a:p>
        </p:txBody>
      </p:sp>
    </p:spTree>
    <p:extLst>
      <p:ext uri="{BB962C8B-B14F-4D97-AF65-F5344CB8AC3E}">
        <p14:creationId xmlns:p14="http://schemas.microsoft.com/office/powerpoint/2010/main" val="36399309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E9AB6-3CF4-4216-A71C-CDF6FB40C6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2952904264e7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725D4557-FBBD-4C18-993E-89EB0A3C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贝叶斯估计由后验分布与决策规则共同决定">
            <a:extLst xmlns:a="http://schemas.openxmlformats.org/drawingml/2006/main">
              <a:ext uri="{FF2B5EF4-FFF2-40B4-BE49-F238E27FC236}">
                <a16:creationId xmlns:a16="http://schemas.microsoft.com/office/drawing/2014/main" id="{A978D1D3-15C4-4EFB-B1CD-A7375B79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贝叶斯估计由后验分布与决策规则共同决定</a:t>
            </a:r>
          </a:p>
        </p:txBody>
      </p:sp>
      <p:sp>
        <p:nvSpPr>
          <p:cNvPr id="4" name="09">
            <a:extLst xmlns:a="http://schemas.openxmlformats.org/drawingml/2006/main">
              <a:ext uri="{FF2B5EF4-FFF2-40B4-BE49-F238E27FC236}">
                <a16:creationId xmlns:a16="http://schemas.microsoft.com/office/drawing/2014/main" id="{FE9500E7-AD10-4489-8A86-B739027B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0C9F1-9B1B-41D5-AF54-4A4296D4F4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de10cd3504bdf"/>
          <a:stretch xmlns:a="http://schemas.openxmlformats.org/drawingml/2006/main"/>
        </p:blipFill>
        <p:spPr>
          <a:xfrm xmlns:a="http://schemas.openxmlformats.org/drawingml/2006/main">
            <a:off x="1796642" y="1485900"/>
            <a:ext cx="8598716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平方损失对应后验均值；中位数与MAP分别依据其输出规则。">
            <a:extLst xmlns:a="http://schemas.openxmlformats.org/drawingml/2006/main">
              <a:ext uri="{FF2B5EF4-FFF2-40B4-BE49-F238E27FC236}">
                <a16:creationId xmlns:a16="http://schemas.microsoft.com/office/drawing/2014/main" id="{EE84EABA-0767-403B-B216-4A65F695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平方损失对应后验均值；中位数与MAP分别依据其输出规则。</a:t>
            </a:r>
          </a:p>
        </p:txBody>
      </p:sp>
    </p:spTree>
    <p:extLst>
      <p:ext uri="{BB962C8B-B14F-4D97-AF65-F5344CB8AC3E}">
        <p14:creationId xmlns:p14="http://schemas.microsoft.com/office/powerpoint/2010/main" val="34217451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FE95D-0DD3-41BF-8FC2-3211783A7A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a2bb17ed854d6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0793227E-7897-4193-B57F-927DD31D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学习型方法先训练映射，再用于新样本">
            <a:extLst xmlns:a="http://schemas.openxmlformats.org/drawingml/2006/main">
              <a:ext uri="{FF2B5EF4-FFF2-40B4-BE49-F238E27FC236}">
                <a16:creationId xmlns:a16="http://schemas.microsoft.com/office/drawing/2014/main" id="{11ACDD78-E871-4D6C-98EA-698542CB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学习型方法先训练映射，再用于新样本</a:t>
            </a:r>
          </a:p>
        </p:txBody>
      </p:sp>
      <p:sp>
        <p:nvSpPr>
          <p:cNvPr id="4" name="10">
            <a:extLst xmlns:a="http://schemas.openxmlformats.org/drawingml/2006/main">
              <a:ext uri="{FF2B5EF4-FFF2-40B4-BE49-F238E27FC236}">
                <a16:creationId xmlns:a16="http://schemas.microsoft.com/office/drawing/2014/main" id="{6C45B01E-CCC0-4AE0-879C-05F8D940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32217-E45C-43E8-931D-77AD35D1C5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bbba30160433b"/>
          <a:stretch xmlns:a="http://schemas.openxmlformats.org/drawingml/2006/main"/>
        </p:blipFill>
        <p:spPr>
          <a:xfrm xmlns:a="http://schemas.openxmlformats.org/drawingml/2006/main">
            <a:off x="859911" y="1485900"/>
            <a:ext cx="10472179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训练使用已知参数标签；应用时固定映射，无需新样本的真实参数。">
            <a:extLst xmlns:a="http://schemas.openxmlformats.org/drawingml/2006/main">
              <a:ext uri="{FF2B5EF4-FFF2-40B4-BE49-F238E27FC236}">
                <a16:creationId xmlns:a16="http://schemas.microsoft.com/office/drawing/2014/main" id="{5619E93B-A936-4635-827C-BF679BA6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训练使用已知参数标签；应用时固定映射，无需新样本的真实参数。</a:t>
            </a:r>
          </a:p>
        </p:txBody>
      </p:sp>
    </p:spTree>
    <p:extLst>
      <p:ext uri="{BB962C8B-B14F-4D97-AF65-F5344CB8AC3E}">
        <p14:creationId xmlns:p14="http://schemas.microsoft.com/office/powerpoint/2010/main" val="9372957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90C9D-CC44-4FFA-85D6-BF2217A01A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a4c7a7127a4f2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39844F63-39C4-487C-95CD-B930E02D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同一路线并不自动构成方法间的历史沿袭">
            <a:extLst xmlns:a="http://schemas.openxmlformats.org/drawingml/2006/main">
              <a:ext uri="{FF2B5EF4-FFF2-40B4-BE49-F238E27FC236}">
                <a16:creationId xmlns:a16="http://schemas.microsoft.com/office/drawing/2014/main" id="{55B9CFD7-653E-454B-BD64-43913F74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同一路线并不自动构成方法间的历史沿袭</a:t>
            </a:r>
          </a:p>
        </p:txBody>
      </p:sp>
      <p:sp>
        <p:nvSpPr>
          <p:cNvPr id="4" name="11">
            <a:extLst xmlns:a="http://schemas.openxmlformats.org/drawingml/2006/main">
              <a:ext uri="{FF2B5EF4-FFF2-40B4-BE49-F238E27FC236}">
                <a16:creationId xmlns:a16="http://schemas.microsoft.com/office/drawing/2014/main" id="{32A4D3D8-1920-43E0-AFD7-1E36BEAA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690C9-4025-4E60-BF18-A99A4FE5767C}"/>
              </a:ext>
            </a:extLst>
          </p:cNvPr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47875"/>
                <a:gridCol w="4953000"/>
                <a:gridCol w="3952875"/>
              </a:tblGrid>
              <a:tr h="5810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关系类型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代表联系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沿袭或扩展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Jacquelin → WMLE → 形状偏差修正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有文献依据的延续与修正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沿袭或扩展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White → Soman；LSPF → LPF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原有构造接入未知位置或保留更多参数信息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数学联系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PWM与L矩；同分数、同位置的两种回归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注明关系成立的条件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局部借用或组合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K–R与Firth修正 → DMMLE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不同来源的步骤汇合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74607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4AD0CF-6CCE-4BA2-8FB5-CF2FF35B14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0541b47a1442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2　参数估计方法的原理与联系">
            <a:extLst xmlns:a="http://schemas.openxmlformats.org/drawingml/2006/main">
              <a:ext uri="{FF2B5EF4-FFF2-40B4-BE49-F238E27FC236}">
                <a16:creationId xmlns:a16="http://schemas.microsoft.com/office/drawing/2014/main" id="{F298D57C-3048-4721-A65B-312C4520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02　参数估计方法的原理与联系</a:t>
            </a:r>
          </a:p>
        </p:txBody>
      </p:sp>
      <p:sp>
        <p:nvSpPr>
          <p:cNvPr id="3" name="七种实现覆盖路线内改动与路线间差异">
            <a:extLst xmlns:a="http://schemas.openxmlformats.org/drawingml/2006/main">
              <a:ext uri="{FF2B5EF4-FFF2-40B4-BE49-F238E27FC236}">
                <a16:creationId xmlns:a16="http://schemas.microsoft.com/office/drawing/2014/main" id="{C71F63B9-68A6-4829-B43B-E2ED8EBC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七种实现覆盖路线内改动与路线间差异</a:t>
            </a:r>
          </a:p>
        </p:txBody>
      </p:sp>
      <p:sp>
        <p:nvSpPr>
          <p:cNvPr id="4" name="12">
            <a:extLst xmlns:a="http://schemas.openxmlformats.org/drawingml/2006/main">
              <a:ext uri="{FF2B5EF4-FFF2-40B4-BE49-F238E27FC236}">
                <a16:creationId xmlns:a16="http://schemas.microsoft.com/office/drawing/2014/main" id="{5062F2E5-48F9-4E75-9907-B49A9995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7DB37A-EF1B-4DDC-B62F-A0A57E35D6EF}"/>
              </a:ext>
            </a:extLst>
          </p:cNvPr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4067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3333750"/>
                <a:gridCol w="5619750"/>
              </a:tblGrid>
              <a:tr h="5810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实现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采用的机制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关键构造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MLE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原始联合似然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原始观测密度；另记录边界与求解失败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WMLE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估计方程修正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在估计方程中引入三个权重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MMLE（K–R）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最小值定位后进行似然估计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以最小值定位，删除该观测后估计其余参数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LSE / LRE（Park）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分布关系匹配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分数、位置评分与回归方向不同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MDM-0.1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尺度一致性与梯度定位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先压缩伪尺度离散，再按δ=0.1定位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MM（Cran式）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统计关系匹配与反演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由Weibull矩及矩差显式恢复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675432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BA364-31AD-4D79-B24B-57115AA574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180e0aeac462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3　比较实验设置">
            <a:extLst xmlns:a="http://schemas.openxmlformats.org/drawingml/2006/main">
              <a:ext uri="{FF2B5EF4-FFF2-40B4-BE49-F238E27FC236}">
                <a16:creationId xmlns:a16="http://schemas.microsoft.com/office/drawing/2014/main" id="{0226105F-9F18-4A5C-B011-021B968E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03　比较实验设置</a:t>
            </a:r>
          </a:p>
        </p:txBody>
      </p:sp>
      <p:sp>
        <p:nvSpPr>
          <p:cNvPr id="3" name="共同样本使性能差异对应方法构造与求解约定">
            <a:extLst xmlns:a="http://schemas.openxmlformats.org/drawingml/2006/main">
              <a:ext uri="{FF2B5EF4-FFF2-40B4-BE49-F238E27FC236}">
                <a16:creationId xmlns:a16="http://schemas.microsoft.com/office/drawing/2014/main" id="{41ED7D05-0815-42EE-A7B7-068ADEB8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共同样本使性能差异对应方法构造与求解约定</a:t>
            </a:r>
          </a:p>
        </p:txBody>
      </p:sp>
      <p:sp>
        <p:nvSpPr>
          <p:cNvPr id="4" name="13">
            <a:extLst xmlns:a="http://schemas.openxmlformats.org/drawingml/2006/main">
              <a:ext uri="{FF2B5EF4-FFF2-40B4-BE49-F238E27FC236}">
                <a16:creationId xmlns:a16="http://schemas.microsoft.com/office/drawing/2014/main" id="{98359814-C691-46FD-8C67-B1F22100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2D827-143E-4932-9322-7A4CE2ED652B}"/>
              </a:ext>
            </a:extLst>
          </p:cNvPr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8477250"/>
              </a:tblGrid>
              <a:tr h="5810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本轮设置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总体参数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η=1000，γ=500；β=1.5、2、2.5、3、3.5、4、4.5、5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样本量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n=50、20、15、10、7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重复抽样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每个条件1200组；七种方法使用相同样本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精度图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七法共同有效样本；形状RMSE/β，尺度和位置RMSE/1000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分布与返回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分布用各法自身有效结果；有效率按全部1200次尝试统计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822981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6EAC0A-A2EA-40A7-984D-2D9BE68BD4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e790edc9640a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F856B1A4-250F-4869-A2B7-461918B6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样本减少时，各方法的误差增幅不同">
            <a:extLst xmlns:a="http://schemas.openxmlformats.org/drawingml/2006/main">
              <a:ext uri="{FF2B5EF4-FFF2-40B4-BE49-F238E27FC236}">
                <a16:creationId xmlns:a16="http://schemas.microsoft.com/office/drawing/2014/main" id="{3497D2A4-5248-4E09-BBF1-DD7226E7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样本减少时，各方法的误差增幅不同</a:t>
            </a:r>
          </a:p>
        </p:txBody>
      </p:sp>
      <p:sp>
        <p:nvSpPr>
          <p:cNvPr id="4" name="n=50">
            <a:extLst xmlns:a="http://schemas.openxmlformats.org/drawingml/2006/main">
              <a:ext uri="{FF2B5EF4-FFF2-40B4-BE49-F238E27FC236}">
                <a16:creationId xmlns:a16="http://schemas.microsoft.com/office/drawing/2014/main" id="{12CA8FE1-7F7F-4CE5-9306-8C0F8627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n=50</a:t>
            </a:r>
          </a:p>
        </p:txBody>
      </p:sp>
      <p:sp>
        <p:nvSpPr>
          <p:cNvPr id="5" name="14">
            <a:extLst xmlns:a="http://schemas.openxmlformats.org/drawingml/2006/main">
              <a:ext uri="{FF2B5EF4-FFF2-40B4-BE49-F238E27FC236}">
                <a16:creationId xmlns:a16="http://schemas.microsoft.com/office/drawing/2014/main" id="{34755DA2-A685-409B-9006-EF4F6E92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535FE-3CDE-4B1E-9211-5329E88099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3562a1e7e4a5d"/>
          <a:stretch xmlns:a="http://schemas.openxmlformats.org/drawingml/2006/main"/>
        </p:blipFill>
        <p:spPr>
          <a:xfrm xmlns:a="http://schemas.openxmlformats.org/drawingml/2006/main">
            <a:off x="1654710" y="1447800"/>
            <a:ext cx="8882579" cy="2333625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148AB-EC65-4384-BE7F-63BEBB17F8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db6a3062d4e18"/>
          <a:stretch xmlns:a="http://schemas.openxmlformats.org/drawingml/2006/main"/>
        </p:blipFill>
        <p:spPr>
          <a:xfrm xmlns:a="http://schemas.openxmlformats.org/drawingml/2006/main">
            <a:off x="1691476" y="3800475"/>
            <a:ext cx="8809048" cy="2333625"/>
          </a:xfrm>
          <a:prstGeom xmlns:a="http://schemas.openxmlformats.org/drawingml/2006/main" prst="rect">
            <a:avLst/>
          </a:prstGeom>
        </p:spPr>
      </p:pic>
      <p:sp>
        <p:nvSpPr>
          <p:cNvPr id="8" name="蓝：形状；橙：尺度；绿：位置。五页共用线性半径；MM数值见备页。">
            <a:extLst xmlns:a="http://schemas.openxmlformats.org/drawingml/2006/main">
              <a:ext uri="{FF2B5EF4-FFF2-40B4-BE49-F238E27FC236}">
                <a16:creationId xmlns:a16="http://schemas.microsoft.com/office/drawing/2014/main" id="{F96DE84C-9127-45B5-B196-A8745593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蓝：形状；橙：尺度；绿：位置。五页共用线性半径；MM数值见备页。</a:t>
            </a:r>
          </a:p>
        </p:txBody>
      </p:sp>
    </p:spTree>
    <p:extLst>
      <p:ext uri="{BB962C8B-B14F-4D97-AF65-F5344CB8AC3E}">
        <p14:creationId xmlns:p14="http://schemas.microsoft.com/office/powerpoint/2010/main" val="210640782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A7AE4-9E69-4867-9415-7A20D7A6A6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791f5fb644ab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4F21E876-7460-4DD0-93D7-16828179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样本减少时，各方法的误差增幅不同">
            <a:extLst xmlns:a="http://schemas.openxmlformats.org/drawingml/2006/main">
              <a:ext uri="{FF2B5EF4-FFF2-40B4-BE49-F238E27FC236}">
                <a16:creationId xmlns:a16="http://schemas.microsoft.com/office/drawing/2014/main" id="{FAE42EAE-C320-4BE5-A676-20CFFFCB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样本减少时，各方法的误差增幅不同</a:t>
            </a:r>
          </a:p>
        </p:txBody>
      </p:sp>
      <p:sp>
        <p:nvSpPr>
          <p:cNvPr id="4" name="n=20">
            <a:extLst xmlns:a="http://schemas.openxmlformats.org/drawingml/2006/main">
              <a:ext uri="{FF2B5EF4-FFF2-40B4-BE49-F238E27FC236}">
                <a16:creationId xmlns:a16="http://schemas.microsoft.com/office/drawing/2014/main" id="{DBE2E52C-0294-4451-897A-5BD16A07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n=20</a:t>
            </a:r>
          </a:p>
        </p:txBody>
      </p:sp>
      <p:sp>
        <p:nvSpPr>
          <p:cNvPr id="5" name="15">
            <a:extLst xmlns:a="http://schemas.openxmlformats.org/drawingml/2006/main">
              <a:ext uri="{FF2B5EF4-FFF2-40B4-BE49-F238E27FC236}">
                <a16:creationId xmlns:a16="http://schemas.microsoft.com/office/drawing/2014/main" id="{DBC4150D-94E1-49A2-958C-559E1059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85FCC-E22C-4BCC-AC81-B952A23D85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8650bef3447a5"/>
          <a:stretch xmlns:a="http://schemas.openxmlformats.org/drawingml/2006/main"/>
        </p:blipFill>
        <p:spPr>
          <a:xfrm xmlns:a="http://schemas.openxmlformats.org/drawingml/2006/main">
            <a:off x="1654710" y="1447800"/>
            <a:ext cx="8882579" cy="2333625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213EA-7ABD-46FE-A6ED-CB4019FF5C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933ad035e4163"/>
          <a:stretch xmlns:a="http://schemas.openxmlformats.org/drawingml/2006/main"/>
        </p:blipFill>
        <p:spPr>
          <a:xfrm xmlns:a="http://schemas.openxmlformats.org/drawingml/2006/main">
            <a:off x="1691476" y="3800475"/>
            <a:ext cx="8809048" cy="2333625"/>
          </a:xfrm>
          <a:prstGeom xmlns:a="http://schemas.openxmlformats.org/drawingml/2006/main" prst="rect">
            <a:avLst/>
          </a:prstGeom>
        </p:spPr>
      </p:pic>
      <p:sp>
        <p:nvSpPr>
          <p:cNvPr id="8" name="蓝：形状；橙：尺度；绿：位置。五页共用线性半径；MM数值见备页。">
            <a:extLst xmlns:a="http://schemas.openxmlformats.org/drawingml/2006/main">
              <a:ext uri="{FF2B5EF4-FFF2-40B4-BE49-F238E27FC236}">
                <a16:creationId xmlns:a16="http://schemas.microsoft.com/office/drawing/2014/main" id="{01F937DF-7A86-48E8-85FF-E2196031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蓝：形状；橙：尺度；绿：位置。五页共用线性半径；MM数值见备页。</a:t>
            </a:r>
          </a:p>
        </p:txBody>
      </p:sp>
    </p:spTree>
    <p:extLst>
      <p:ext uri="{BB962C8B-B14F-4D97-AF65-F5344CB8AC3E}">
        <p14:creationId xmlns:p14="http://schemas.microsoft.com/office/powerpoint/2010/main" val="139280066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EE9A6-76F4-47E7-BB34-F0B1B852CA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c6e3d716e41d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E546FEF7-5FB3-4894-BAC6-E3ECF356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样本减少时，各方法的误差增幅不同">
            <a:extLst xmlns:a="http://schemas.openxmlformats.org/drawingml/2006/main">
              <a:ext uri="{FF2B5EF4-FFF2-40B4-BE49-F238E27FC236}">
                <a16:creationId xmlns:a16="http://schemas.microsoft.com/office/drawing/2014/main" id="{DC73DF06-C1FB-4FA6-9FBC-2C4AEBAA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样本减少时，各方法的误差增幅不同</a:t>
            </a:r>
          </a:p>
        </p:txBody>
      </p:sp>
      <p:sp>
        <p:nvSpPr>
          <p:cNvPr id="4" name="n=15">
            <a:extLst xmlns:a="http://schemas.openxmlformats.org/drawingml/2006/main">
              <a:ext uri="{FF2B5EF4-FFF2-40B4-BE49-F238E27FC236}">
                <a16:creationId xmlns:a16="http://schemas.microsoft.com/office/drawing/2014/main" id="{EC544FFE-6224-4B41-9237-27A0DE79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n=15</a:t>
            </a:r>
          </a:p>
        </p:txBody>
      </p:sp>
      <p:sp>
        <p:nvSpPr>
          <p:cNvPr id="5" name="16">
            <a:extLst xmlns:a="http://schemas.openxmlformats.org/drawingml/2006/main">
              <a:ext uri="{FF2B5EF4-FFF2-40B4-BE49-F238E27FC236}">
                <a16:creationId xmlns:a16="http://schemas.microsoft.com/office/drawing/2014/main" id="{3F2EEC8C-0942-4E87-9285-BB57ECE4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684EA7-C38D-42F1-B380-1F34B41AE4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a149a203b4df4"/>
          <a:stretch xmlns:a="http://schemas.openxmlformats.org/drawingml/2006/main"/>
        </p:blipFill>
        <p:spPr>
          <a:xfrm xmlns:a="http://schemas.openxmlformats.org/drawingml/2006/main">
            <a:off x="1654710" y="1447800"/>
            <a:ext cx="8882579" cy="2333625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FEADF-C827-4B0D-8674-18ADC328C1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83ecaaf304924"/>
          <a:stretch xmlns:a="http://schemas.openxmlformats.org/drawingml/2006/main"/>
        </p:blipFill>
        <p:spPr>
          <a:xfrm xmlns:a="http://schemas.openxmlformats.org/drawingml/2006/main">
            <a:off x="1691476" y="3800475"/>
            <a:ext cx="8809048" cy="2333625"/>
          </a:xfrm>
          <a:prstGeom xmlns:a="http://schemas.openxmlformats.org/drawingml/2006/main" prst="rect">
            <a:avLst/>
          </a:prstGeom>
        </p:spPr>
      </p:pic>
      <p:sp>
        <p:nvSpPr>
          <p:cNvPr id="8" name="蓝：形状；橙：尺度；绿：位置。五页共用线性半径；MM数值见备页。">
            <a:extLst xmlns:a="http://schemas.openxmlformats.org/drawingml/2006/main">
              <a:ext uri="{FF2B5EF4-FFF2-40B4-BE49-F238E27FC236}">
                <a16:creationId xmlns:a16="http://schemas.microsoft.com/office/drawing/2014/main" id="{424D999C-718F-4298-B750-D7972C68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蓝：形状；橙：尺度；绿：位置。五页共用线性半径；MM数值见备页。</a:t>
            </a:r>
          </a:p>
        </p:txBody>
      </p:sp>
    </p:spTree>
    <p:extLst>
      <p:ext uri="{BB962C8B-B14F-4D97-AF65-F5344CB8AC3E}">
        <p14:creationId xmlns:p14="http://schemas.microsoft.com/office/powerpoint/2010/main" val="28366169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E6AB3-9841-432F-B812-AD8BC6CFF3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b7c1d648d44b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6064CFCD-624B-4212-84EA-B3F371F2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样本减少时，各方法的误差增幅不同">
            <a:extLst xmlns:a="http://schemas.openxmlformats.org/drawingml/2006/main">
              <a:ext uri="{FF2B5EF4-FFF2-40B4-BE49-F238E27FC236}">
                <a16:creationId xmlns:a16="http://schemas.microsoft.com/office/drawing/2014/main" id="{D6F64A31-0895-44D3-A41E-F4BB1180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样本减少时，各方法的误差增幅不同</a:t>
            </a:r>
          </a:p>
        </p:txBody>
      </p:sp>
      <p:sp>
        <p:nvSpPr>
          <p:cNvPr id="4" name="n=10">
            <a:extLst xmlns:a="http://schemas.openxmlformats.org/drawingml/2006/main">
              <a:ext uri="{FF2B5EF4-FFF2-40B4-BE49-F238E27FC236}">
                <a16:creationId xmlns:a16="http://schemas.microsoft.com/office/drawing/2014/main" id="{808A1CD3-5069-4F9D-9C06-973E3EDE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n=10</a:t>
            </a:r>
          </a:p>
        </p:txBody>
      </p:sp>
      <p:sp>
        <p:nvSpPr>
          <p:cNvPr id="5" name="17">
            <a:extLst xmlns:a="http://schemas.openxmlformats.org/drawingml/2006/main">
              <a:ext uri="{FF2B5EF4-FFF2-40B4-BE49-F238E27FC236}">
                <a16:creationId xmlns:a16="http://schemas.microsoft.com/office/drawing/2014/main" id="{41A00FDD-22DB-4740-B260-0576CEA7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CC99D-2192-4276-8042-F5D5AE333E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2adce60b3402d"/>
          <a:stretch xmlns:a="http://schemas.openxmlformats.org/drawingml/2006/main"/>
        </p:blipFill>
        <p:spPr>
          <a:xfrm xmlns:a="http://schemas.openxmlformats.org/drawingml/2006/main">
            <a:off x="1654710" y="1447800"/>
            <a:ext cx="8882579" cy="2333625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E8162-1A63-4613-9998-E1D9BA1201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3b67f8adf4060"/>
          <a:stretch xmlns:a="http://schemas.openxmlformats.org/drawingml/2006/main"/>
        </p:blipFill>
        <p:spPr>
          <a:xfrm xmlns:a="http://schemas.openxmlformats.org/drawingml/2006/main">
            <a:off x="1691476" y="3800475"/>
            <a:ext cx="8809048" cy="2333625"/>
          </a:xfrm>
          <a:prstGeom xmlns:a="http://schemas.openxmlformats.org/drawingml/2006/main" prst="rect">
            <a:avLst/>
          </a:prstGeom>
        </p:spPr>
      </p:pic>
      <p:sp>
        <p:nvSpPr>
          <p:cNvPr id="8" name="蓝：形状；橙：尺度；绿：位置。五页共用线性半径；MM数值见备页。">
            <a:extLst xmlns:a="http://schemas.openxmlformats.org/drawingml/2006/main">
              <a:ext uri="{FF2B5EF4-FFF2-40B4-BE49-F238E27FC236}">
                <a16:creationId xmlns:a16="http://schemas.microsoft.com/office/drawing/2014/main" id="{6D222906-8918-4FA7-B829-6CD061B4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蓝：形状；橙：尺度；绿：位置。五页共用线性半径；MM数值见备页。</a:t>
            </a:r>
          </a:p>
        </p:txBody>
      </p:sp>
    </p:spTree>
    <p:extLst>
      <p:ext uri="{BB962C8B-B14F-4D97-AF65-F5344CB8AC3E}">
        <p14:creationId xmlns:p14="http://schemas.microsoft.com/office/powerpoint/2010/main" val="10749607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BEC2A-FB50-4628-9015-33103CB7E1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9e97d36fa4b5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A8C78D4A-8CA0-437A-8E6A-A7AFAB9A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样本减少时，各方法的误差增幅不同">
            <a:extLst xmlns:a="http://schemas.openxmlformats.org/drawingml/2006/main">
              <a:ext uri="{FF2B5EF4-FFF2-40B4-BE49-F238E27FC236}">
                <a16:creationId xmlns:a16="http://schemas.microsoft.com/office/drawing/2014/main" id="{7DE173D0-CD4D-46EE-95C2-FBBC7779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样本减少时，各方法的误差增幅不同</a:t>
            </a:r>
          </a:p>
        </p:txBody>
      </p:sp>
      <p:sp>
        <p:nvSpPr>
          <p:cNvPr id="4" name="n=7">
            <a:extLst xmlns:a="http://schemas.openxmlformats.org/drawingml/2006/main">
              <a:ext uri="{FF2B5EF4-FFF2-40B4-BE49-F238E27FC236}">
                <a16:creationId xmlns:a16="http://schemas.microsoft.com/office/drawing/2014/main" id="{49D78DA1-9564-4857-9989-CFA7FEB5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n=7</a:t>
            </a:r>
          </a:p>
        </p:txBody>
      </p:sp>
      <p:sp>
        <p:nvSpPr>
          <p:cNvPr id="5" name="18">
            <a:extLst xmlns:a="http://schemas.openxmlformats.org/drawingml/2006/main">
              <a:ext uri="{FF2B5EF4-FFF2-40B4-BE49-F238E27FC236}">
                <a16:creationId xmlns:a16="http://schemas.microsoft.com/office/drawing/2014/main" id="{0AF7EBAF-04E6-481A-95EB-B6338558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F773F-D4ED-47C4-A4D7-363494853A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06b9cb7534cec"/>
          <a:stretch xmlns:a="http://schemas.openxmlformats.org/drawingml/2006/main"/>
        </p:blipFill>
        <p:spPr>
          <a:xfrm xmlns:a="http://schemas.openxmlformats.org/drawingml/2006/main">
            <a:off x="1654710" y="1447800"/>
            <a:ext cx="8882579" cy="2333625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CD447D-1F31-4C2E-8FF6-C120C76BE3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c4133dc6840ff"/>
          <a:stretch xmlns:a="http://schemas.openxmlformats.org/drawingml/2006/main"/>
        </p:blipFill>
        <p:spPr>
          <a:xfrm xmlns:a="http://schemas.openxmlformats.org/drawingml/2006/main">
            <a:off x="1691476" y="3800475"/>
            <a:ext cx="8809048" cy="2333625"/>
          </a:xfrm>
          <a:prstGeom xmlns:a="http://schemas.openxmlformats.org/drawingml/2006/main" prst="rect">
            <a:avLst/>
          </a:prstGeom>
        </p:spPr>
      </p:pic>
      <p:sp>
        <p:nvSpPr>
          <p:cNvPr id="8" name="蓝：形状；橙：尺度；绿：位置。五页共用线性半径；MM数值见备页。">
            <a:extLst xmlns:a="http://schemas.openxmlformats.org/drawingml/2006/main">
              <a:ext uri="{FF2B5EF4-FFF2-40B4-BE49-F238E27FC236}">
                <a16:creationId xmlns:a16="http://schemas.microsoft.com/office/drawing/2014/main" id="{41ED2931-4A4A-428F-94C2-4E0DC963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蓝：形状；橙：尺度；绿：位置。五页共用线性半径；MM数值见备页。</a:t>
            </a:r>
          </a:p>
        </p:txBody>
      </p:sp>
    </p:spTree>
    <p:extLst>
      <p:ext uri="{BB962C8B-B14F-4D97-AF65-F5344CB8AC3E}">
        <p14:creationId xmlns:p14="http://schemas.microsoft.com/office/powerpoint/2010/main" val="191595079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D8E48-C65F-48E0-BCF7-F6D434A276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5c41e2ea64ed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BD0A82B4-D387-4F67-B4FF-93128501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较大β下，方法间差距呈现扩大与缩小并存">
            <a:extLst xmlns:a="http://schemas.openxmlformats.org/drawingml/2006/main">
              <a:ext uri="{FF2B5EF4-FFF2-40B4-BE49-F238E27FC236}">
                <a16:creationId xmlns:a16="http://schemas.microsoft.com/office/drawing/2014/main" id="{C68ABDE1-2C81-40FF-B8AE-8F88AE02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较大β下，方法间差距呈现扩大与缩小并存</a:t>
            </a:r>
          </a:p>
        </p:txBody>
      </p:sp>
      <p:sp>
        <p:nvSpPr>
          <p:cNvPr id="4" name="19">
            <a:extLst xmlns:a="http://schemas.openxmlformats.org/drawingml/2006/main">
              <a:ext uri="{FF2B5EF4-FFF2-40B4-BE49-F238E27FC236}">
                <a16:creationId xmlns:a16="http://schemas.microsoft.com/office/drawing/2014/main" id="{0F6E6497-11BB-4FEE-8834-A99C4764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AC27B-4314-49E3-840E-F7E55667D9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82c2141ed34520"/>
          <a:stretch xmlns:a="http://schemas.openxmlformats.org/drawingml/2006/main"/>
        </p:blipFill>
        <p:spPr>
          <a:xfrm xmlns:a="http://schemas.openxmlformats.org/drawingml/2006/main">
            <a:off x="2195888" y="1485900"/>
            <a:ext cx="7800223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纵向比较相同方法对随n的变化；上：β=1.5，下：β=5。">
            <a:extLst xmlns:a="http://schemas.openxmlformats.org/drawingml/2006/main">
              <a:ext uri="{FF2B5EF4-FFF2-40B4-BE49-F238E27FC236}">
                <a16:creationId xmlns:a16="http://schemas.microsoft.com/office/drawing/2014/main" id="{561E2599-5688-424F-AE8B-D4D0A361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纵向比较相同方法对随n的变化；上：β=1.5，下：β=5。</a:t>
            </a:r>
          </a:p>
        </p:txBody>
      </p:sp>
    </p:spTree>
    <p:extLst>
      <p:ext uri="{BB962C8B-B14F-4D97-AF65-F5344CB8AC3E}">
        <p14:creationId xmlns:p14="http://schemas.microsoft.com/office/powerpoint/2010/main" val="96482908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38F58B-D791-458D-86E2-A0C713330A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fba5b6ced4c8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C7C7BBBD-FCD0-4F90-B0FA-F7E13F5D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误差上升并不意味着方法间距离同步扩大">
            <a:extLst xmlns:a="http://schemas.openxmlformats.org/drawingml/2006/main">
              <a:ext uri="{FF2B5EF4-FFF2-40B4-BE49-F238E27FC236}">
                <a16:creationId xmlns:a16="http://schemas.microsoft.com/office/drawing/2014/main" id="{AD8A7C0F-F2B5-4A96-9772-1A4363E9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误差上升并不意味着方法间距离同步扩大</a:t>
            </a:r>
          </a:p>
        </p:txBody>
      </p:sp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ADA61307-55C7-41EF-9F4E-5001E991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D674B5-4ECC-48E6-9160-1DA89A048F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054a214d0486d"/>
          <a:stretch xmlns:a="http://schemas.openxmlformats.org/drawingml/2006/main"/>
        </p:blipFill>
        <p:spPr>
          <a:xfrm xmlns:a="http://schemas.openxmlformats.org/drawingml/2006/main">
            <a:off x="400050" y="1941998"/>
            <a:ext cx="11391900" cy="3774104"/>
          </a:xfrm>
          <a:prstGeom xmlns:a="http://schemas.openxmlformats.org/drawingml/2006/main" prst="rect">
            <a:avLst/>
          </a:prstGeom>
        </p:spPr>
      </p:pic>
      <p:sp>
        <p:nvSpPr>
          <p:cNvPr id="6" name="颜色为n=7与n=50的方法对距离之差；红色扩大、蓝色缩小，不表示优劣">
            <a:extLst xmlns:a="http://schemas.openxmlformats.org/drawingml/2006/main">
              <a:ext uri="{FF2B5EF4-FFF2-40B4-BE49-F238E27FC236}">
                <a16:creationId xmlns:a16="http://schemas.microsoft.com/office/drawing/2014/main" id="{B9F76AA3-8150-446A-940B-80CB02B0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颜色为n=7与n=50的方法对距离之差；红色扩大、蓝色缩小，不表示优劣排序。</a:t>
            </a:r>
          </a:p>
        </p:txBody>
      </p:sp>
    </p:spTree>
    <p:extLst>
      <p:ext uri="{BB962C8B-B14F-4D97-AF65-F5344CB8AC3E}">
        <p14:creationId xmlns:p14="http://schemas.microsoft.com/office/powerpoint/2010/main" val="106869296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977DB-48A7-4E94-8753-6281956BAA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65c30a57b4e7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88937364-9725-48DC-A0F3-BEA23BDB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1A5B08B5-FEC4-4658-B321-44913EFD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1.5">
            <a:extLst xmlns:a="http://schemas.openxmlformats.org/drawingml/2006/main">
              <a:ext uri="{FF2B5EF4-FFF2-40B4-BE49-F238E27FC236}">
                <a16:creationId xmlns:a16="http://schemas.microsoft.com/office/drawing/2014/main" id="{AC00D280-4B51-45CB-B54B-CE1F50AE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β=1.5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3AE416B-7141-4FF9-988A-4251F67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AFC79-E096-4C85-B020-FB0C7CD185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bba9c946e4c1a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3D0433FF-F8B3-4613-BA5E-9F0F1516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76211157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657BD-F426-42CA-B3E6-AD6794526A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412e5ef0b4a7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0EA4DDFE-A098-4CBD-96FB-28CFB3FE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93BF1449-99C2-460E-B069-9DD6D596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2">
            <a:extLst xmlns:a="http://schemas.openxmlformats.org/drawingml/2006/main">
              <a:ext uri="{FF2B5EF4-FFF2-40B4-BE49-F238E27FC236}">
                <a16:creationId xmlns:a16="http://schemas.microsoft.com/office/drawing/2014/main" id="{5C6B1EDE-AC18-4DC7-A603-294204ED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β=2</a:t>
            </a:r>
          </a:p>
        </p:txBody>
      </p:sp>
      <p:sp>
        <p:nvSpPr>
          <p:cNvPr id="5" name="22">
            <a:extLst xmlns:a="http://schemas.openxmlformats.org/drawingml/2006/main">
              <a:ext uri="{FF2B5EF4-FFF2-40B4-BE49-F238E27FC236}">
                <a16:creationId xmlns:a16="http://schemas.microsoft.com/office/drawing/2014/main" id="{9D04A400-FD61-4BC8-8369-90710B04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26BDD-3A3F-4B43-B131-E9F065B41D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ea3cc4ebd4d1f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20752EB0-4EBD-4B9C-B6AC-2AC3A242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1755711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411CD-21D2-4D06-B398-9B48C2D931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003d3bd84c4f2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2712B574-E3A6-4482-B39A-895872B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DFC7358D-55BB-4010-96E1-732DBA8B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2.5">
            <a:extLst xmlns:a="http://schemas.openxmlformats.org/drawingml/2006/main">
              <a:ext uri="{FF2B5EF4-FFF2-40B4-BE49-F238E27FC236}">
                <a16:creationId xmlns:a16="http://schemas.microsoft.com/office/drawing/2014/main" id="{5F68FA49-8CC3-4BEF-9CEF-2D4776D5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β=2.5</a:t>
            </a:r>
          </a:p>
        </p:txBody>
      </p:sp>
      <p:sp>
        <p:nvSpPr>
          <p:cNvPr id="5" name="23">
            <a:extLst xmlns:a="http://schemas.openxmlformats.org/drawingml/2006/main">
              <a:ext uri="{FF2B5EF4-FFF2-40B4-BE49-F238E27FC236}">
                <a16:creationId xmlns:a16="http://schemas.microsoft.com/office/drawing/2014/main" id="{CEEF68EE-48CD-4F65-8673-34DAD304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DC311-041C-4E1D-B5AD-5440219027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dcf1e4e754333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B853DF2D-1A81-4F90-904E-2F59DCFB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71007612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94F00-D046-4CA0-A82F-019C81710B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fcd9ffb4e403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A1AF15D2-19BB-4789-B3CB-7E249FD7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2B79EDB6-FCA6-415A-857B-135BA1F9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3">
            <a:extLst xmlns:a="http://schemas.openxmlformats.org/drawingml/2006/main">
              <a:ext uri="{FF2B5EF4-FFF2-40B4-BE49-F238E27FC236}">
                <a16:creationId xmlns:a16="http://schemas.microsoft.com/office/drawing/2014/main" id="{3F3ED86E-7635-4675-9A33-1786A07C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β=3</a:t>
            </a:r>
          </a:p>
        </p:txBody>
      </p:sp>
      <p:sp>
        <p:nvSpPr>
          <p:cNvPr id="5" name="24">
            <a:extLst xmlns:a="http://schemas.openxmlformats.org/drawingml/2006/main">
              <a:ext uri="{FF2B5EF4-FFF2-40B4-BE49-F238E27FC236}">
                <a16:creationId xmlns:a16="http://schemas.microsoft.com/office/drawing/2014/main" id="{AFACE92D-2514-4B64-837A-D602F8B0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6845B-FC7B-4D65-ACAF-C95311A44A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d6a25432046ad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BC762CD1-4B10-405C-80B0-EDF6EBFE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83924272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EA2D3C-42B1-4D5D-8CDE-8D3FD87BD2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a2a1e1a8a443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E662A3E5-7ECF-4E7B-B03E-385BD186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5AD92BE8-DD70-45D8-B573-E9360451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3.5">
            <a:extLst xmlns:a="http://schemas.openxmlformats.org/drawingml/2006/main">
              <a:ext uri="{FF2B5EF4-FFF2-40B4-BE49-F238E27FC236}">
                <a16:creationId xmlns:a16="http://schemas.microsoft.com/office/drawing/2014/main" id="{FA6CC889-5796-45C0-AA1F-D25832A3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β=3.5</a:t>
            </a:r>
          </a:p>
        </p:txBody>
      </p:sp>
      <p:sp>
        <p:nvSpPr>
          <p:cNvPr id="5" name="25">
            <a:extLst xmlns:a="http://schemas.openxmlformats.org/drawingml/2006/main">
              <a:ext uri="{FF2B5EF4-FFF2-40B4-BE49-F238E27FC236}">
                <a16:creationId xmlns:a16="http://schemas.microsoft.com/office/drawing/2014/main" id="{95B16D4F-3BC2-46B2-8652-322B8ACA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53EAA-8CF6-4BE5-87AE-27BEFFF0F2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c4926d6444f2a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82691416-7714-452E-9B03-684BCECA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25474334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08459-4570-41AA-A6A6-0CD9C45DA8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e09c59681496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A28AA3F2-9E2D-4922-89EE-15DD8BD0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F77BD20D-C738-48F2-9E3F-38744D0C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4">
            <a:extLst xmlns:a="http://schemas.openxmlformats.org/drawingml/2006/main">
              <a:ext uri="{FF2B5EF4-FFF2-40B4-BE49-F238E27FC236}">
                <a16:creationId xmlns:a16="http://schemas.microsoft.com/office/drawing/2014/main" id="{4E94012D-143B-49A3-A163-62BE09CA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β=4</a:t>
            </a:r>
          </a:p>
        </p:txBody>
      </p:sp>
      <p:sp>
        <p:nvSpPr>
          <p:cNvPr id="5" name="26">
            <a:extLst xmlns:a="http://schemas.openxmlformats.org/drawingml/2006/main">
              <a:ext uri="{FF2B5EF4-FFF2-40B4-BE49-F238E27FC236}">
                <a16:creationId xmlns:a16="http://schemas.microsoft.com/office/drawing/2014/main" id="{4BFA4A9F-75FC-46E0-9B8D-03A19115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85651-A09B-429A-AEF2-91FC3DFB31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45e5e422554175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5A887438-B17B-49E3-9C1F-46998B2B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139627388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5630C3-4B4B-4330-AA34-D9CE46A835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1fbd46dc44d0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8883B0F8-C1CF-47AA-A479-0D7CA5CC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002A389E-CEBF-4290-9285-E5A0157A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4.5">
            <a:extLst xmlns:a="http://schemas.openxmlformats.org/drawingml/2006/main">
              <a:ext uri="{FF2B5EF4-FFF2-40B4-BE49-F238E27FC236}">
                <a16:creationId xmlns:a16="http://schemas.microsoft.com/office/drawing/2014/main" id="{5DE322A2-EBE0-4D3F-946B-B2BD8779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β=4.5</a:t>
            </a:r>
          </a:p>
        </p:txBody>
      </p:sp>
      <p:sp>
        <p:nvSpPr>
          <p:cNvPr id="5" name="27">
            <a:extLst xmlns:a="http://schemas.openxmlformats.org/drawingml/2006/main">
              <a:ext uri="{FF2B5EF4-FFF2-40B4-BE49-F238E27FC236}">
                <a16:creationId xmlns:a16="http://schemas.microsoft.com/office/drawing/2014/main" id="{EB3809B9-1B4B-4C11-A64F-FF6C21E1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98374-76DC-4ED8-BEA3-63F798D42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6a13910004114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50492827-C580-4613-A360-3574DED6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204319034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CAAAE-92D7-40EF-AEE6-05BF694D73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e356f5fd04cf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3A546C1A-06CD-4486-8022-F690B9CC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形状条件改变时，估计分布的偏移与形态也改变">
            <a:extLst xmlns:a="http://schemas.openxmlformats.org/drawingml/2006/main">
              <a:ext uri="{FF2B5EF4-FFF2-40B4-BE49-F238E27FC236}">
                <a16:creationId xmlns:a16="http://schemas.microsoft.com/office/drawing/2014/main" id="{A9558E46-1688-4A8D-BA8F-585B082C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形状条件改变时，估计分布的偏移与形态也改变</a:t>
            </a:r>
          </a:p>
        </p:txBody>
      </p:sp>
      <p:sp>
        <p:nvSpPr>
          <p:cNvPr id="4" name="β=5">
            <a:extLst xmlns:a="http://schemas.openxmlformats.org/drawingml/2006/main">
              <a:ext uri="{FF2B5EF4-FFF2-40B4-BE49-F238E27FC236}">
                <a16:creationId xmlns:a16="http://schemas.microsoft.com/office/drawing/2014/main" id="{FBF04AA3-D830-4F00-AA19-89F177CD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β=5</a:t>
            </a:r>
          </a:p>
        </p:txBody>
      </p:sp>
      <p:sp>
        <p:nvSpPr>
          <p:cNvPr id="5" name="28">
            <a:extLst xmlns:a="http://schemas.openxmlformats.org/drawingml/2006/main">
              <a:ext uri="{FF2B5EF4-FFF2-40B4-BE49-F238E27FC236}">
                <a16:creationId xmlns:a16="http://schemas.microsoft.com/office/drawing/2014/main" id="{0618C29B-2294-418D-9AA3-7015F01F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59BC9-3460-4D21-8F42-C68A8DC634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7426ee16a4502"/>
          <a:stretch xmlns:a="http://schemas.openxmlformats.org/drawingml/2006/main"/>
        </p:blipFill>
        <p:spPr>
          <a:xfrm xmlns:a="http://schemas.openxmlformats.org/drawingml/2006/main">
            <a:off x="1276566" y="1485900"/>
            <a:ext cx="963886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行：n=50、7；列：形状、尺度、位置。虚线为真值，红点为均值，横线为">
            <a:extLst xmlns:a="http://schemas.openxmlformats.org/drawingml/2006/main">
              <a:ext uri="{FF2B5EF4-FFF2-40B4-BE49-F238E27FC236}">
                <a16:creationId xmlns:a16="http://schemas.microsoft.com/office/drawing/2014/main" id="{580B92F0-EE24-444F-A5C1-1A39FD0C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行：n=50、7；列：形状、尺度、位置。虚线为真值，红点为均值，横线为四分位区间。</a:t>
            </a:r>
          </a:p>
        </p:txBody>
      </p:sp>
    </p:spTree>
    <p:extLst>
      <p:ext uri="{BB962C8B-B14F-4D97-AF65-F5344CB8AC3E}">
        <p14:creationId xmlns:p14="http://schemas.microsoft.com/office/powerpoint/2010/main" val="63634921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6E601-A6A9-4053-B6EC-C24F24089A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adfdf274f42c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A8050FE1-72DD-4679-9C3A-4C8A107E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样本量减少时，明显异常估计更加常见">
            <a:extLst xmlns:a="http://schemas.openxmlformats.org/drawingml/2006/main">
              <a:ext uri="{FF2B5EF4-FFF2-40B4-BE49-F238E27FC236}">
                <a16:creationId xmlns:a16="http://schemas.microsoft.com/office/drawing/2014/main" id="{49EA8B1E-A218-4216-996A-919C9ADB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样本量减少时，明显异常估计更加常见</a:t>
            </a:r>
          </a:p>
        </p:txBody>
      </p:sp>
      <p:sp>
        <p:nvSpPr>
          <p:cNvPr id="4" name="29">
            <a:extLst xmlns:a="http://schemas.openxmlformats.org/drawingml/2006/main">
              <a:ext uri="{FF2B5EF4-FFF2-40B4-BE49-F238E27FC236}">
                <a16:creationId xmlns:a16="http://schemas.microsoft.com/office/drawing/2014/main" id="{4BDF4D96-7664-4FFC-AB44-C2721FFF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1C280-342F-44EC-ACD6-040C1FF4C6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0213c7b0e4fed"/>
          <a:stretch xmlns:a="http://schemas.openxmlformats.org/drawingml/2006/main"/>
        </p:blipFill>
        <p:spPr>
          <a:xfrm xmlns:a="http://schemas.openxmlformats.org/drawingml/2006/main">
            <a:off x="1079679" y="1485900"/>
            <a:ext cx="10032642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异常判据：β̂≤β/3或β̂≥3β；频率以各法自身有效结果为分母，失败">
            <a:extLst xmlns:a="http://schemas.openxmlformats.org/drawingml/2006/main">
              <a:ext uri="{FF2B5EF4-FFF2-40B4-BE49-F238E27FC236}">
                <a16:creationId xmlns:a16="http://schemas.microsoft.com/office/drawing/2014/main" id="{53E3C71D-97BA-4A9F-BDB8-A6D683A8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异常判据：β̂≤β/3或β̂≥3β；频率以各法自身有效结果为分母，失败另计。</a:t>
            </a:r>
          </a:p>
        </p:txBody>
      </p:sp>
    </p:spTree>
    <p:extLst>
      <p:ext uri="{BB962C8B-B14F-4D97-AF65-F5344CB8AC3E}">
        <p14:creationId xmlns:p14="http://schemas.microsoft.com/office/powerpoint/2010/main" val="61155454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9A025C-F840-458E-8109-0E091F5F8E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93591bf22441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4　估计性能的差异与变化">
            <a:extLst xmlns:a="http://schemas.openxmlformats.org/drawingml/2006/main">
              <a:ext uri="{FF2B5EF4-FFF2-40B4-BE49-F238E27FC236}">
                <a16:creationId xmlns:a16="http://schemas.microsoft.com/office/drawing/2014/main" id="{63274F0B-1A2F-4ABC-8B7C-9F7190AD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04　估计性能的差异与变化</a:t>
            </a:r>
          </a:p>
        </p:txBody>
      </p:sp>
      <p:sp>
        <p:nvSpPr>
          <p:cNvPr id="3" name="误差增长、参数偏移与异常增多需要分别解释">
            <a:extLst xmlns:a="http://schemas.openxmlformats.org/drawingml/2006/main">
              <a:ext uri="{FF2B5EF4-FFF2-40B4-BE49-F238E27FC236}">
                <a16:creationId xmlns:a16="http://schemas.microsoft.com/office/drawing/2014/main" id="{DDB3507E-1D91-434C-A0F9-089EF012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误差增长、参数偏移与异常增多需要分别解释</a:t>
            </a:r>
          </a:p>
        </p:txBody>
      </p:sp>
      <p:sp>
        <p:nvSpPr>
          <p:cNvPr id="4" name="30">
            <a:extLst xmlns:a="http://schemas.openxmlformats.org/drawingml/2006/main">
              <a:ext uri="{FF2B5EF4-FFF2-40B4-BE49-F238E27FC236}">
                <a16:creationId xmlns:a16="http://schemas.microsoft.com/office/drawing/2014/main" id="{9121A65A-B1FE-43AD-B464-988F0357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n减小">
            <a:extLst xmlns:a="http://schemas.openxmlformats.org/drawingml/2006/main">
              <a:ext uri="{FF2B5EF4-FFF2-40B4-BE49-F238E27FC236}">
                <a16:creationId xmlns:a16="http://schemas.microsoft.com/office/drawing/2014/main" id="{1EB28BEE-8347-437E-9422-A99D9561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478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n减小</a:t>
            </a:r>
          </a:p>
        </p:txBody>
      </p:sp>
      <p:sp>
        <p:nvSpPr>
          <p:cNvPr id="6" name="估计误差总体增大，但各方法的增幅不同。">
            <a:extLst xmlns:a="http://schemas.openxmlformats.org/drawingml/2006/main">
              <a:ext uri="{FF2B5EF4-FFF2-40B4-BE49-F238E27FC236}">
                <a16:creationId xmlns:a16="http://schemas.microsoft.com/office/drawing/2014/main" id="{13677625-EBCF-4C90-9C24-0EE0FDB9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669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估计误差总体增大，但各方法的增幅不同。</a:t>
            </a:r>
          </a:p>
        </p:txBody>
      </p:sp>
      <p:sp>
        <p:nvSpPr>
          <p:cNvPr id="7" name="β增大">
            <a:extLst xmlns:a="http://schemas.openxmlformats.org/drawingml/2006/main">
              <a:ext uri="{FF2B5EF4-FFF2-40B4-BE49-F238E27FC236}">
                <a16:creationId xmlns:a16="http://schemas.microsoft.com/office/drawing/2014/main" id="{67CE4C9C-909D-4E33-A60F-5CF5FBE4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099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β增大</a:t>
            </a:r>
          </a:p>
        </p:txBody>
      </p:sp>
      <p:sp>
        <p:nvSpPr>
          <p:cNvPr id="8" name="三个参数出现不同方向的偏移、展宽和边界聚集。">
            <a:extLst xmlns:a="http://schemas.openxmlformats.org/drawingml/2006/main">
              <a:ext uri="{FF2B5EF4-FFF2-40B4-BE49-F238E27FC236}">
                <a16:creationId xmlns:a16="http://schemas.microsoft.com/office/drawing/2014/main" id="{79CDA951-2E33-43F0-8FA7-07224699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290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三个参数出现不同方向的偏移、展宽和边界聚集。</a:t>
            </a:r>
          </a:p>
        </p:txBody>
      </p:sp>
      <p:sp>
        <p:nvSpPr>
          <p:cNvPr id="9" name="明显异常">
            <a:extLst xmlns:a="http://schemas.openxmlformats.org/drawingml/2006/main">
              <a:ext uri="{FF2B5EF4-FFF2-40B4-BE49-F238E27FC236}">
                <a16:creationId xmlns:a16="http://schemas.microsoft.com/office/drawing/2014/main" id="{E71BE4AA-BAD7-4CBA-B3C1-F08E2CAB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明显异常</a:t>
            </a:r>
          </a:p>
        </p:txBody>
      </p:sp>
      <p:sp>
        <p:nvSpPr>
          <p:cNvPr id="10" name="小样本下更常见，但程度与方向因方法和参数条件而异。">
            <a:extLst xmlns:a="http://schemas.openxmlformats.org/drawingml/2006/main">
              <a:ext uri="{FF2B5EF4-FFF2-40B4-BE49-F238E27FC236}">
                <a16:creationId xmlns:a16="http://schemas.microsoft.com/office/drawing/2014/main" id="{283E705A-F281-4DB9-8812-885C9406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91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小样本下更常见，但程度与方向因方法和参数条件而异。</a:t>
            </a:r>
          </a:p>
        </p:txBody>
      </p:sp>
    </p:spTree>
    <p:extLst>
      <p:ext uri="{BB962C8B-B14F-4D97-AF65-F5344CB8AC3E}">
        <p14:creationId xmlns:p14="http://schemas.microsoft.com/office/powerpoint/2010/main" val="1694489289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5CF895-7677-4404-954C-91DAFFA77F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5789215774bb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4338718B-E6EA-45C1-9DC8-30A4F396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同一次删点经过不同定位规则产生不同响应">
            <a:extLst xmlns:a="http://schemas.openxmlformats.org/drawingml/2006/main">
              <a:ext uri="{FF2B5EF4-FFF2-40B4-BE49-F238E27FC236}">
                <a16:creationId xmlns:a16="http://schemas.microsoft.com/office/drawing/2014/main" id="{68695CFC-4815-4E16-B7F3-78D4BD82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同一次删点经过不同定位规则产生不同响应</a:t>
            </a:r>
          </a:p>
        </p:txBody>
      </p:sp>
      <p:sp>
        <p:nvSpPr>
          <p:cNvPr id="4" name="31">
            <a:extLst xmlns:a="http://schemas.openxmlformats.org/drawingml/2006/main">
              <a:ext uri="{FF2B5EF4-FFF2-40B4-BE49-F238E27FC236}">
                <a16:creationId xmlns:a16="http://schemas.microsoft.com/office/drawing/2014/main" id="{0DC18562-3A0A-43FB-A265-0C31E4B6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272CB-C1D8-4919-9F80-AD3CB5DD2B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ef9ffe02a4de6"/>
          <a:stretch xmlns:a="http://schemas.openxmlformats.org/drawingml/2006/main"/>
        </p:blipFill>
        <p:spPr>
          <a:xfrm xmlns:a="http://schemas.openxmlformats.org/drawingml/2006/main">
            <a:off x="400050" y="1813560"/>
            <a:ext cx="11391900" cy="4030980"/>
          </a:xfrm>
          <a:prstGeom xmlns:a="http://schemas.openxmlformats.org/drawingml/2006/main" prst="rect">
            <a:avLst/>
          </a:prstGeom>
        </p:spPr>
      </p:pic>
      <p:sp>
        <p:nvSpPr>
          <p:cNvPr id="6" name="固定β=5；同一路径保留50、20、7个观测。最小值保留，K–R位置不">
            <a:extLst xmlns:a="http://schemas.openxmlformats.org/drawingml/2006/main">
              <a:ext uri="{FF2B5EF4-FFF2-40B4-BE49-F238E27FC236}">
                <a16:creationId xmlns:a16="http://schemas.microsoft.com/office/drawing/2014/main" id="{8508EA72-BABE-436B-86B9-8EB96C08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固定β=5；同一路径保留50、20、7个观测。最小值保留，K–R位置不变，MDM与LSE仍改变。</a:t>
            </a:r>
          </a:p>
        </p:txBody>
      </p:sp>
    </p:spTree>
    <p:extLst>
      <p:ext uri="{BB962C8B-B14F-4D97-AF65-F5344CB8AC3E}">
        <p14:creationId xmlns:p14="http://schemas.microsoft.com/office/powerpoint/2010/main" val="1544873016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96DEA-4231-4FC3-822E-F3BEB28D78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f0e449834b4c6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B5429A9F-B4D7-4588-A9A3-90831575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下端观测被移除后，三种定位依据的移动程度不同">
            <a:extLst xmlns:a="http://schemas.openxmlformats.org/drawingml/2006/main">
              <a:ext uri="{FF2B5EF4-FFF2-40B4-BE49-F238E27FC236}">
                <a16:creationId xmlns:a16="http://schemas.microsoft.com/office/drawing/2014/main" id="{74F1A03D-81EF-4E12-813F-83F8EE67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下端观测被移除后，三种定位依据的移动程度不同</a:t>
            </a:r>
          </a:p>
        </p:txBody>
      </p:sp>
      <p:sp>
        <p:nvSpPr>
          <p:cNvPr id="4" name="32">
            <a:extLst xmlns:a="http://schemas.openxmlformats.org/drawingml/2006/main">
              <a:ext uri="{FF2B5EF4-FFF2-40B4-BE49-F238E27FC236}">
                <a16:creationId xmlns:a16="http://schemas.microsoft.com/office/drawing/2014/main" id="{66CF7C84-9C7C-4653-85B4-D4C5FDB8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15507-F490-41C4-82FD-02D56420BD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80b328d0548e8"/>
          <a:stretch xmlns:a="http://schemas.openxmlformats.org/drawingml/2006/main"/>
        </p:blipFill>
        <p:spPr>
          <a:xfrm xmlns:a="http://schemas.openxmlformats.org/drawingml/2006/main">
            <a:off x="400050" y="1813560"/>
            <a:ext cx="11391900" cy="4030980"/>
          </a:xfrm>
          <a:prstGeom xmlns:a="http://schemas.openxmlformats.org/drawingml/2006/main" prst="rect">
            <a:avLst/>
          </a:prstGeom>
        </p:spPr>
      </p:pic>
      <p:sp>
        <p:nvSpPr>
          <p:cNvPr id="6" name="样本474的固定删点路径：最小值、梯度阈值交点与匹配误差最低点并非同步">
            <a:extLst xmlns:a="http://schemas.openxmlformats.org/drawingml/2006/main">
              <a:ext uri="{FF2B5EF4-FFF2-40B4-BE49-F238E27FC236}">
                <a16:creationId xmlns:a16="http://schemas.microsoft.com/office/drawing/2014/main" id="{19B1DEB1-8D7E-4130-A52A-A32D3B9D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样本474的固定删点路径：最小值、梯度阈值交点与匹配误差最低点并非同步移动。</a:t>
            </a:r>
          </a:p>
        </p:txBody>
      </p:sp>
    </p:spTree>
    <p:extLst>
      <p:ext uri="{BB962C8B-B14F-4D97-AF65-F5344CB8AC3E}">
        <p14:creationId xmlns:p14="http://schemas.microsoft.com/office/powerpoint/2010/main" val="107582001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2BAE3-D08D-4746-BD75-3725C8E497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990e60d9414ba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F57321B5-A320-4762-8B71-E979D7A9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较大β使有限样本的最小观测更远离真实起点">
            <a:extLst xmlns:a="http://schemas.openxmlformats.org/drawingml/2006/main">
              <a:ext uri="{FF2B5EF4-FFF2-40B4-BE49-F238E27FC236}">
                <a16:creationId xmlns:a16="http://schemas.microsoft.com/office/drawing/2014/main" id="{85E93090-8C79-4B0A-8109-7862E1E3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较大β使有限样本的最小观测更远离真实起点</a:t>
            </a:r>
          </a:p>
        </p:txBody>
      </p:sp>
      <p:sp>
        <p:nvSpPr>
          <p:cNvPr id="4" name="33">
            <a:extLst xmlns:a="http://schemas.openxmlformats.org/drawingml/2006/main">
              <a:ext uri="{FF2B5EF4-FFF2-40B4-BE49-F238E27FC236}">
                <a16:creationId xmlns:a16="http://schemas.microsoft.com/office/drawing/2014/main" id="{CAA37B18-641F-47D9-948B-F01223D9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C1FFD-97DF-47AA-95AA-607FE76484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4283a68834c90"/>
          <a:stretch xmlns:a="http://schemas.openxmlformats.org/drawingml/2006/main"/>
        </p:blipFill>
        <p:spPr>
          <a:xfrm xmlns:a="http://schemas.openxmlformats.org/drawingml/2006/main">
            <a:off x="2043099" y="1495425"/>
            <a:ext cx="8105802" cy="261937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B8A144-58B2-4396-BBF3-E8E672FBAB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7cbc8c3f04821"/>
          <a:stretch xmlns:a="http://schemas.openxmlformats.org/drawingml/2006/main"/>
        </p:blipFill>
        <p:spPr>
          <a:xfrm xmlns:a="http://schemas.openxmlformats.org/drawingml/2006/main">
            <a:off x="3330156" y="4152900"/>
            <a:ext cx="5531689" cy="1809750"/>
          </a:xfrm>
          <a:prstGeom xmlns:a="http://schemas.openxmlformats.org/drawingml/2006/main" prst="rect">
            <a:avLst/>
          </a:prstGeom>
        </p:spPr>
      </p:pic>
      <p:sp>
        <p:nvSpPr>
          <p:cNvPr id="7" name="Research00报告1；η=1000、γ=500，β=2与5。上：">
            <a:extLst xmlns:a="http://schemas.openxmlformats.org/drawingml/2006/main">
              <a:ext uri="{FF2B5EF4-FFF2-40B4-BE49-F238E27FC236}">
                <a16:creationId xmlns:a16="http://schemas.microsoft.com/office/drawing/2014/main" id="{6EA19801-3903-45F7-8459-171CB8C2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Research00报告1；η=1000、γ=500，β=2与5。上：n=7抽样；下：最小值理论密度。</a:t>
            </a:r>
          </a:p>
        </p:txBody>
      </p:sp>
    </p:spTree>
    <p:extLst>
      <p:ext uri="{BB962C8B-B14F-4D97-AF65-F5344CB8AC3E}">
        <p14:creationId xmlns:p14="http://schemas.microsoft.com/office/powerpoint/2010/main" val="49957350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C3886-31CC-4C3A-9B96-20773349BC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245cfd8954ca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5A11DDF3-ECF0-4A09-9520-982BA3F8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起点附近缺少观测时，不同参数组合仍可相容">
            <a:extLst xmlns:a="http://schemas.openxmlformats.org/drawingml/2006/main">
              <a:ext uri="{FF2B5EF4-FFF2-40B4-BE49-F238E27FC236}">
                <a16:creationId xmlns:a16="http://schemas.microsoft.com/office/drawing/2014/main" id="{209EB93A-6E6A-4714-BA05-774C5AE6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起点附近缺少观测时，不同参数组合仍可相容</a:t>
            </a:r>
          </a:p>
        </p:txBody>
      </p:sp>
      <p:sp>
        <p:nvSpPr>
          <p:cNvPr id="4" name="34">
            <a:extLst xmlns:a="http://schemas.openxmlformats.org/drawingml/2006/main">
              <a:ext uri="{FF2B5EF4-FFF2-40B4-BE49-F238E27FC236}">
                <a16:creationId xmlns:a16="http://schemas.microsoft.com/office/drawing/2014/main" id="{AC34A234-AE41-41AA-BF9F-9B182C1B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ECE36-7BEA-4763-BCCF-9BF3A3FCC2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224e9864a4126"/>
          <a:stretch xmlns:a="http://schemas.openxmlformats.org/drawingml/2006/main"/>
        </p:blipFill>
        <p:spPr>
          <a:xfrm xmlns:a="http://schemas.openxmlformats.org/drawingml/2006/main">
            <a:off x="513428" y="1495425"/>
            <a:ext cx="7374194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观测主要覆盖分布中部">
            <a:extLst xmlns:a="http://schemas.openxmlformats.org/drawingml/2006/main">
              <a:ext uri="{FF2B5EF4-FFF2-40B4-BE49-F238E27FC236}">
                <a16:creationId xmlns:a16="http://schemas.microsoft.com/office/drawing/2014/main" id="{45DC4CBA-E821-4278-9182-FC854C7E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0500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观测主要覆盖分布中部</a:t>
            </a:r>
          </a:p>
        </p:txBody>
      </p:sp>
      <p:sp>
        <p:nvSpPr>
          <p:cNvPr id="7" name="位置参数需要从较远处外推">
            <a:extLst xmlns:a="http://schemas.openxmlformats.org/drawingml/2006/main">
              <a:ext uri="{FF2B5EF4-FFF2-40B4-BE49-F238E27FC236}">
                <a16:creationId xmlns:a16="http://schemas.microsoft.com/office/drawing/2014/main" id="{09690F07-A237-4F4E-8942-26E8DD04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0956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位置参数需要从较远处外推</a:t>
            </a:r>
          </a:p>
        </p:txBody>
      </p:sp>
      <p:sp>
        <p:nvSpPr>
          <p:cNvPr id="8" name="仍需追踪方法准则选择了哪组参数">
            <a:extLst xmlns:a="http://schemas.openxmlformats.org/drawingml/2006/main">
              <a:ext uri="{FF2B5EF4-FFF2-40B4-BE49-F238E27FC236}">
                <a16:creationId xmlns:a16="http://schemas.microsoft.com/office/drawing/2014/main" id="{9F9E9A5B-D424-4A76-BE89-73F91B3B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2862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仍需追踪方法准则选择了哪组参数</a:t>
            </a:r>
          </a:p>
        </p:txBody>
      </p:sp>
      <p:sp>
        <p:nvSpPr>
          <p:cNvPr id="9" name="两条CDF在样本覆盖区间接近；说明有限样本的参数相容性，不意味着必然选">
            <a:extLst xmlns:a="http://schemas.openxmlformats.org/drawingml/2006/main">
              <a:ext uri="{FF2B5EF4-FFF2-40B4-BE49-F238E27FC236}">
                <a16:creationId xmlns:a16="http://schemas.microsoft.com/office/drawing/2014/main" id="{EFB77E0F-9A49-4F0C-818F-C1796C31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两条CDF在样本覆盖区间接近；说明有限样本的参数相容性，不意味着必然选中某一组。</a:t>
            </a:r>
          </a:p>
        </p:txBody>
      </p:sp>
    </p:spTree>
    <p:extLst>
      <p:ext uri="{BB962C8B-B14F-4D97-AF65-F5344CB8AC3E}">
        <p14:creationId xmlns:p14="http://schemas.microsoft.com/office/powerpoint/2010/main" val="16681616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31724B-81A8-4199-868D-BB5BD2C8D6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fbf106cb0460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D8CF079D-D997-46D5-A50C-0C35798A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位置选得偏高可沿恢复关系传递为形状和尺度偏低">
            <a:extLst xmlns:a="http://schemas.openxmlformats.org/drawingml/2006/main">
              <a:ext uri="{FF2B5EF4-FFF2-40B4-BE49-F238E27FC236}">
                <a16:creationId xmlns:a16="http://schemas.microsoft.com/office/drawing/2014/main" id="{CDFC84E7-5197-4FFB-B3F1-BB4F729C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位置选得偏高可沿恢复关系传递为形状和尺度偏低</a:t>
            </a:r>
          </a:p>
        </p:txBody>
      </p:sp>
      <p:sp>
        <p:nvSpPr>
          <p:cNvPr id="4" name="35">
            <a:extLst xmlns:a="http://schemas.openxmlformats.org/drawingml/2006/main">
              <a:ext uri="{FF2B5EF4-FFF2-40B4-BE49-F238E27FC236}">
                <a16:creationId xmlns:a16="http://schemas.microsoft.com/office/drawing/2014/main" id="{0E41A5D6-7536-4D9A-8AF3-CD25BE32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F39556-255E-47D0-8296-950C4C157D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50ddc1e534acf"/>
          <a:stretch xmlns:a="http://schemas.openxmlformats.org/drawingml/2006/main"/>
        </p:blipFill>
        <p:spPr>
          <a:xfrm xmlns:a="http://schemas.openxmlformats.org/drawingml/2006/main">
            <a:off x="400050" y="2185552"/>
            <a:ext cx="3733800" cy="2486895"/>
          </a:xfrm>
          <a:prstGeom xmlns:a="http://schemas.openxmlformats.org/drawingml/2006/main" prst="rect">
            <a:avLst/>
          </a:prstGeom>
        </p:spPr>
      </p:pic>
      <p:sp>
        <p:nvSpPr>
          <p:cNvPr id="6" name="梯度阈值可能在较高位置相交">
            <a:extLst xmlns:a="http://schemas.openxmlformats.org/drawingml/2006/main">
              <a:ext uri="{FF2B5EF4-FFF2-40B4-BE49-F238E27FC236}">
                <a16:creationId xmlns:a16="http://schemas.microsoft.com/office/drawing/2014/main" id="{0C7D4E6C-8511-4822-AA1B-56232072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3381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梯度阈值可能在较高位置相交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64701-9224-48A8-90C7-4AD6BA4AB3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7cde46eb6472d"/>
          <a:stretch xmlns:a="http://schemas.openxmlformats.org/drawingml/2006/main"/>
        </p:blipFill>
        <p:spPr>
          <a:xfrm xmlns:a="http://schemas.openxmlformats.org/drawingml/2006/main">
            <a:off x="4229100" y="2185552"/>
            <a:ext cx="3733800" cy="2486895"/>
          </a:xfrm>
          <a:prstGeom xmlns:a="http://schemas.openxmlformats.org/drawingml/2006/main" prst="rect">
            <a:avLst/>
          </a:prstGeom>
        </p:spPr>
      </p:pic>
      <p:sp>
        <p:nvSpPr>
          <p:cNvPr id="8" name="较高位置改变各点到起点的距离">
            <a:extLst xmlns:a="http://schemas.openxmlformats.org/drawingml/2006/main">
              <a:ext uri="{FF2B5EF4-FFF2-40B4-BE49-F238E27FC236}">
                <a16:creationId xmlns:a16="http://schemas.microsoft.com/office/drawing/2014/main" id="{3D4C1095-B524-4A55-9226-CF0EAF70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38750"/>
            <a:ext cx="3381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较高位置改变各点到起点的距离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950C6-4972-4F55-A657-760218D9ED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fe0c6455744ca"/>
          <a:stretch xmlns:a="http://schemas.openxmlformats.org/drawingml/2006/main"/>
        </p:blipFill>
        <p:spPr>
          <a:xfrm xmlns:a="http://schemas.openxmlformats.org/drawingml/2006/main">
            <a:off x="8058150" y="2182095"/>
            <a:ext cx="3733800" cy="2493810"/>
          </a:xfrm>
          <a:prstGeom xmlns:a="http://schemas.openxmlformats.org/drawingml/2006/main" prst="rect">
            <a:avLst/>
          </a:prstGeom>
        </p:spPr>
      </p:pic>
      <p:sp>
        <p:nvSpPr>
          <p:cNvPr id="10" name="条件形状与恢复尺度随之降低">
            <a:extLst xmlns:a="http://schemas.openxmlformats.org/drawingml/2006/main">
              <a:ext uri="{FF2B5EF4-FFF2-40B4-BE49-F238E27FC236}">
                <a16:creationId xmlns:a16="http://schemas.microsoft.com/office/drawing/2014/main" id="{A531304D-7610-4197-A941-E2B5CAF6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38750"/>
            <a:ext cx="3381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条件形状与恢复尺度随之降低</a:t>
            </a:r>
          </a:p>
        </p:txBody>
      </p:sp>
      <p:sp>
        <p:nvSpPr>
          <p:cNvPr id="11" name="MDM-0.1：先看梯度交点，再沿同一位置读形状和尺度；此处放大β=5">
            <a:extLst xmlns:a="http://schemas.openxmlformats.org/drawingml/2006/main">
              <a:ext uri="{FF2B5EF4-FFF2-40B4-BE49-F238E27FC236}">
                <a16:creationId xmlns:a16="http://schemas.microsoft.com/office/drawing/2014/main" id="{FBBF9599-D375-4A88-9EAD-B6FE1220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MDM-0.1：先看梯度交点，再沿同一位置读形状和尺度；此处放大β=5一列。</a:t>
            </a:r>
          </a:p>
        </p:txBody>
      </p:sp>
    </p:spTree>
    <p:extLst>
      <p:ext uri="{BB962C8B-B14F-4D97-AF65-F5344CB8AC3E}">
        <p14:creationId xmlns:p14="http://schemas.microsoft.com/office/powerpoint/2010/main" val="786451573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B903A-EE73-4204-AD9F-D56BF80AED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6966373dcf498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7639217B-D74F-451F-A2A3-C71413F2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匹配准则与位置约束共同形成零边界聚集">
            <a:extLst xmlns:a="http://schemas.openxmlformats.org/drawingml/2006/main">
              <a:ext uri="{FF2B5EF4-FFF2-40B4-BE49-F238E27FC236}">
                <a16:creationId xmlns:a16="http://schemas.microsoft.com/office/drawing/2014/main" id="{A029651B-AE5B-461C-95AF-63FAD35C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匹配准则与位置约束共同形成零边界聚集</a:t>
            </a:r>
          </a:p>
        </p:txBody>
      </p:sp>
      <p:sp>
        <p:nvSpPr>
          <p:cNvPr id="4" name="36">
            <a:extLst xmlns:a="http://schemas.openxmlformats.org/drawingml/2006/main">
              <a:ext uri="{FF2B5EF4-FFF2-40B4-BE49-F238E27FC236}">
                <a16:creationId xmlns:a16="http://schemas.microsoft.com/office/drawing/2014/main" id="{A1A44928-636B-4DD6-9B4C-A3C8F775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CBD43-3ECA-4D6A-9FF3-2653DB6B39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0843a8cdc4c72"/>
          <a:stretch xmlns:a="http://schemas.openxmlformats.org/drawingml/2006/main"/>
        </p:blipFill>
        <p:spPr>
          <a:xfrm xmlns:a="http://schemas.openxmlformats.org/drawingml/2006/main">
            <a:off x="2149642" y="1485900"/>
            <a:ext cx="7892716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左移位置能改善部分样本的线性匹配；在γ≥0约束下，准则最低点可落于γ=">
            <a:extLst xmlns:a="http://schemas.openxmlformats.org/drawingml/2006/main">
              <a:ext uri="{FF2B5EF4-FFF2-40B4-BE49-F238E27FC236}">
                <a16:creationId xmlns:a16="http://schemas.microsoft.com/office/drawing/2014/main" id="{E3D3A8D6-7578-424F-ACDC-1D54CC52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左移位置能改善部分样本的线性匹配；在γ≥0约束下，准则最低点可落于γ=0。</a:t>
            </a:r>
          </a:p>
        </p:txBody>
      </p:sp>
    </p:spTree>
    <p:extLst>
      <p:ext uri="{BB962C8B-B14F-4D97-AF65-F5344CB8AC3E}">
        <p14:creationId xmlns:p14="http://schemas.microsoft.com/office/powerpoint/2010/main" val="799986961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7CDBD-3681-46D8-9EDB-70281673E8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59dc9c80b439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BC0F2B23-9351-4326-9C50-40C13FCA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样本点列改变后，更好的线性匹配仍可给出异常参数">
            <a:extLst xmlns:a="http://schemas.openxmlformats.org/drawingml/2006/main">
              <a:ext uri="{FF2B5EF4-FFF2-40B4-BE49-F238E27FC236}">
                <a16:creationId xmlns:a16="http://schemas.microsoft.com/office/drawing/2014/main" id="{84F1FD9F-8838-492D-8338-F5965BFD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样本点列改变后，更好的线性匹配仍可给出异常参数</a:t>
            </a:r>
          </a:p>
        </p:txBody>
      </p:sp>
      <p:sp>
        <p:nvSpPr>
          <p:cNvPr id="4" name="37">
            <a:extLst xmlns:a="http://schemas.openxmlformats.org/drawingml/2006/main">
              <a:ext uri="{FF2B5EF4-FFF2-40B4-BE49-F238E27FC236}">
                <a16:creationId xmlns:a16="http://schemas.microsoft.com/office/drawing/2014/main" id="{33126071-ECDD-4E00-99AE-DE151A17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04480-BB7F-4B80-8798-3D439672B8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80f5d63de412e"/>
          <a:stretch xmlns:a="http://schemas.openxmlformats.org/drawingml/2006/main"/>
        </p:blipFill>
        <p:spPr>
          <a:xfrm xmlns:a="http://schemas.openxmlformats.org/drawingml/2006/main">
            <a:off x="2149642" y="1485900"/>
            <a:ext cx="7892716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Research00报告2：位置右移改善点列匹配，回归斜率增大，取倒数">
            <a:extLst xmlns:a="http://schemas.openxmlformats.org/drawingml/2006/main">
              <a:ext uri="{FF2B5EF4-FFF2-40B4-BE49-F238E27FC236}">
                <a16:creationId xmlns:a16="http://schemas.microsoft.com/office/drawing/2014/main" id="{814D6B2A-D571-4096-BE6C-32BB2FAE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Research00报告2：位置右移改善点列匹配，回归斜率增大，取倒数后形状明显降低。</a:t>
            </a:r>
          </a:p>
        </p:txBody>
      </p:sp>
    </p:spTree>
    <p:extLst>
      <p:ext uri="{BB962C8B-B14F-4D97-AF65-F5344CB8AC3E}">
        <p14:creationId xmlns:p14="http://schemas.microsoft.com/office/powerpoint/2010/main" val="2126446334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408C2-0274-4DE2-B437-A6F52C07C5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4cfa4557e4e7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2EAAAF01-0359-4EF8-9CA5-EC3A9D39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方程残差接近零并不保证参数接近真值">
            <a:extLst xmlns:a="http://schemas.openxmlformats.org/drawingml/2006/main">
              <a:ext uri="{FF2B5EF4-FFF2-40B4-BE49-F238E27FC236}">
                <a16:creationId xmlns:a16="http://schemas.microsoft.com/office/drawing/2014/main" id="{6788ACCD-DDC0-408C-8C99-2BB92C90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方程残差接近零并不保证参数接近真值</a:t>
            </a:r>
          </a:p>
        </p:txBody>
      </p:sp>
      <p:sp>
        <p:nvSpPr>
          <p:cNvPr id="4" name="38">
            <a:extLst xmlns:a="http://schemas.openxmlformats.org/drawingml/2006/main">
              <a:ext uri="{FF2B5EF4-FFF2-40B4-BE49-F238E27FC236}">
                <a16:creationId xmlns:a16="http://schemas.microsoft.com/office/drawing/2014/main" id="{A3527375-A7F2-4C76-B749-4968066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0F720-D4CC-4E1A-AAF0-2AB1BD1F4C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fc55a0d294a34"/>
          <a:stretch xmlns:a="http://schemas.openxmlformats.org/drawingml/2006/main"/>
        </p:blipFill>
        <p:spPr>
          <a:xfrm xmlns:a="http://schemas.openxmlformats.org/drawingml/2006/main">
            <a:off x="2149642" y="1485900"/>
            <a:ext cx="7892716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异常样本使两条方程的共同交点移向高位置、低形状；返回参数仍满足估计方程">
            <a:extLst xmlns:a="http://schemas.openxmlformats.org/drawingml/2006/main">
              <a:ext uri="{FF2B5EF4-FFF2-40B4-BE49-F238E27FC236}">
                <a16:creationId xmlns:a16="http://schemas.microsoft.com/office/drawing/2014/main" id="{7118DAE4-3810-490B-BC56-25E1CEE3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异常样本使两条方程的共同交点移向高位置、低形状；返回参数仍满足估计方程。</a:t>
            </a:r>
          </a:p>
        </p:txBody>
      </p:sp>
    </p:spTree>
    <p:extLst>
      <p:ext uri="{BB962C8B-B14F-4D97-AF65-F5344CB8AC3E}">
        <p14:creationId xmlns:p14="http://schemas.microsoft.com/office/powerpoint/2010/main" val="407742098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3F08A-F4FD-4473-9E2C-CB1D5D115A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891780c5a49e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5　性能变化的机制解释">
            <a:extLst xmlns:a="http://schemas.openxmlformats.org/drawingml/2006/main">
              <a:ext uri="{FF2B5EF4-FFF2-40B4-BE49-F238E27FC236}">
                <a16:creationId xmlns:a16="http://schemas.microsoft.com/office/drawing/2014/main" id="{621C5035-DEAD-4C80-8A3F-3E81B145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05　性能变化的机制解释</a:t>
            </a:r>
          </a:p>
        </p:txBody>
      </p:sp>
      <p:sp>
        <p:nvSpPr>
          <p:cNvPr id="3" name="数值停止与候选接受也可能造成异常返回">
            <a:extLst xmlns:a="http://schemas.openxmlformats.org/drawingml/2006/main">
              <a:ext uri="{FF2B5EF4-FFF2-40B4-BE49-F238E27FC236}">
                <a16:creationId xmlns:a16="http://schemas.microsoft.com/office/drawing/2014/main" id="{4699A2B3-7417-419D-A600-7064849D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数值停止与候选接受也可能造成异常返回</a:t>
            </a:r>
          </a:p>
        </p:txBody>
      </p:sp>
      <p:sp>
        <p:nvSpPr>
          <p:cNvPr id="4" name="39">
            <a:extLst xmlns:a="http://schemas.openxmlformats.org/drawingml/2006/main">
              <a:ext uri="{FF2B5EF4-FFF2-40B4-BE49-F238E27FC236}">
                <a16:creationId xmlns:a16="http://schemas.microsoft.com/office/drawing/2014/main" id="{B38F3F3E-CDB5-4650-B5E2-1BFAFB43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7E2D3-8D81-4AB6-AC3C-8588D87D25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ba129ceadb4000"/>
          <a:stretch xmlns:a="http://schemas.openxmlformats.org/drawingml/2006/main"/>
        </p:blipFill>
        <p:spPr>
          <a:xfrm xmlns:a="http://schemas.openxmlformats.org/drawingml/2006/main">
            <a:off x="2149642" y="1485900"/>
            <a:ext cx="7892716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历史旧MLE案例：停止点右侧仍可提高似然。本轮已更新求解器，不据此认定">
            <a:extLst xmlns:a="http://schemas.openxmlformats.org/drawingml/2006/main">
              <a:ext uri="{FF2B5EF4-FFF2-40B4-BE49-F238E27FC236}">
                <a16:creationId xmlns:a16="http://schemas.microsoft.com/office/drawing/2014/main" id="{A17BD8E1-75B1-408F-8620-CFA1C4F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历史旧MLE案例：停止点右侧仍可提高似然。本轮已更新求解器，不据此认定新版仍有同一缺陷。</a:t>
            </a:r>
          </a:p>
        </p:txBody>
      </p:sp>
    </p:spTree>
    <p:extLst>
      <p:ext uri="{BB962C8B-B14F-4D97-AF65-F5344CB8AC3E}">
        <p14:creationId xmlns:p14="http://schemas.microsoft.com/office/powerpoint/2010/main" val="923015587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53621-62A9-4118-A066-B885D53548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0222a35dd4a6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6　评价目标与方法选择">
            <a:extLst xmlns:a="http://schemas.openxmlformats.org/drawingml/2006/main">
              <a:ext uri="{FF2B5EF4-FFF2-40B4-BE49-F238E27FC236}">
                <a16:creationId xmlns:a16="http://schemas.microsoft.com/office/drawing/2014/main" id="{1D3A7DD2-49DD-475C-8340-F8410A7A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06　评价目标与方法选择</a:t>
            </a:r>
          </a:p>
        </p:txBody>
      </p:sp>
      <p:sp>
        <p:nvSpPr>
          <p:cNvPr id="3" name="成功结果的精度与全部尝试的有效率应同时评价">
            <a:extLst xmlns:a="http://schemas.openxmlformats.org/drawingml/2006/main">
              <a:ext uri="{FF2B5EF4-FFF2-40B4-BE49-F238E27FC236}">
                <a16:creationId xmlns:a16="http://schemas.microsoft.com/office/drawing/2014/main" id="{6B7559D6-A95A-40E7-BFA3-D0199BC4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成功结果的精度与全部尝试的有效率应同时评价</a:t>
            </a:r>
          </a:p>
        </p:txBody>
      </p:sp>
      <p:sp>
        <p:nvSpPr>
          <p:cNvPr id="4" name="40">
            <a:extLst xmlns:a="http://schemas.openxmlformats.org/drawingml/2006/main">
              <a:ext uri="{FF2B5EF4-FFF2-40B4-BE49-F238E27FC236}">
                <a16:creationId xmlns:a16="http://schemas.microsoft.com/office/drawing/2014/main" id="{104C2BED-7D09-4EF2-9E74-CEBCB815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0469E3-6B84-4138-8EE5-D2D4F7CDC0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2fee310af4ca5"/>
          <a:stretch xmlns:a="http://schemas.openxmlformats.org/drawingml/2006/main"/>
        </p:blipFill>
        <p:spPr>
          <a:xfrm xmlns:a="http://schemas.openxmlformats.org/drawingml/2006/main">
            <a:off x="1079679" y="1485900"/>
            <a:ext cx="10032642" cy="4686300"/>
          </a:xfrm>
          <a:prstGeom xmlns:a="http://schemas.openxmlformats.org/drawingml/2006/main" prst="rect">
            <a:avLst/>
          </a:prstGeom>
        </p:spPr>
      </p:pic>
      <p:sp>
        <p:nvSpPr>
          <p:cNvPr id="6" name="有效率的分母为全部1200次尝试。少数极端值可主导RMSE，求解失败另">
            <a:extLst xmlns:a="http://schemas.openxmlformats.org/drawingml/2006/main">
              <a:ext uri="{FF2B5EF4-FFF2-40B4-BE49-F238E27FC236}">
                <a16:creationId xmlns:a16="http://schemas.microsoft.com/office/drawing/2014/main" id="{E8198846-78D5-4BDB-AA36-887E988C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有效率的分母为全部1200次尝试。少数极端值可主导RMSE，求解失败另行统计。</a:t>
            </a:r>
          </a:p>
        </p:txBody>
      </p:sp>
    </p:spTree>
    <p:extLst>
      <p:ext uri="{BB962C8B-B14F-4D97-AF65-F5344CB8AC3E}">
        <p14:creationId xmlns:p14="http://schemas.microsoft.com/office/powerpoint/2010/main" val="1543985893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A6F31F-5083-4AD5-B32B-6AFBAB15A4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7a6cab99540d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6　评价目标与方法选择">
            <a:extLst xmlns:a="http://schemas.openxmlformats.org/drawingml/2006/main">
              <a:ext uri="{FF2B5EF4-FFF2-40B4-BE49-F238E27FC236}">
                <a16:creationId xmlns:a16="http://schemas.microsoft.com/office/drawing/2014/main" id="{E10FFCEA-17E2-4871-98DC-85A290F3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06　评价目标与方法选择</a:t>
            </a:r>
          </a:p>
        </p:txBody>
      </p:sp>
      <p:sp>
        <p:nvSpPr>
          <p:cNvPr id="3" name="评价目标改变后，方法的相对表现也改变">
            <a:extLst xmlns:a="http://schemas.openxmlformats.org/drawingml/2006/main">
              <a:ext uri="{FF2B5EF4-FFF2-40B4-BE49-F238E27FC236}">
                <a16:creationId xmlns:a16="http://schemas.microsoft.com/office/drawing/2014/main" id="{FF57BEF4-64E7-44A3-AC9D-4F62DEF9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评价目标改变后，方法的相对表现也改变</a:t>
            </a:r>
          </a:p>
        </p:txBody>
      </p:sp>
      <p:sp>
        <p:nvSpPr>
          <p:cNvPr id="4" name="41">
            <a:extLst xmlns:a="http://schemas.openxmlformats.org/drawingml/2006/main">
              <a:ext uri="{FF2B5EF4-FFF2-40B4-BE49-F238E27FC236}">
                <a16:creationId xmlns:a16="http://schemas.microsoft.com/office/drawing/2014/main" id="{CF546F88-2AC2-4148-B537-151EFE91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26FCC-CED4-4718-89B0-6792D128EE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ee9db5a0e4f8c"/>
          <a:stretch xmlns:a="http://schemas.openxmlformats.org/drawingml/2006/main"/>
        </p:blipFill>
        <p:spPr>
          <a:xfrm xmlns:a="http://schemas.openxmlformats.org/drawingml/2006/main">
            <a:off x="400050" y="1612319"/>
            <a:ext cx="11391900" cy="3747662"/>
          </a:xfrm>
          <a:prstGeom xmlns:a="http://schemas.openxmlformats.org/drawingml/2006/main" prst="rect">
            <a:avLst/>
          </a:prstGeom>
        </p:spPr>
      </p:pic>
      <p:sp>
        <p:nvSpPr>
          <p:cNvPr id="6" name="B10的最低RMSE方法随n与β变化；B1在多数条件下为MDM。名次还">
            <a:extLst xmlns:a="http://schemas.openxmlformats.org/drawingml/2006/main">
              <a:ext uri="{FF2B5EF4-FFF2-40B4-BE49-F238E27FC236}">
                <a16:creationId xmlns:a16="http://schemas.microsoft.com/office/drawing/2014/main" id="{3E85174A-F3AE-4DA4-8D3B-0524EFCE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816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B10的最低RMSE方法随n与β变化；B1在多数条件下为MDM。名次还需结合差距幅度与风险。</a:t>
            </a:r>
          </a:p>
        </p:txBody>
      </p:sp>
      <p:sp>
        <p:nvSpPr>
          <p:cNvPr id="7" name="格内为最低RMSE方法，下行为第二名高出的比例。B10、B1分别为10">
            <a:extLst xmlns:a="http://schemas.openxmlformats.org/drawingml/2006/main">
              <a:ext uri="{FF2B5EF4-FFF2-40B4-BE49-F238E27FC236}">
                <a16:creationId xmlns:a16="http://schemas.microsoft.com/office/drawing/2014/main" id="{D33B0D26-3FA8-45E3-BF06-2478A8F5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格内为最低RMSE方法，下行为第二名高出的比例。B10、B1分别为10%、1%失效分位寿命。</a:t>
            </a:r>
          </a:p>
        </p:txBody>
      </p:sp>
    </p:spTree>
    <p:extLst>
      <p:ext uri="{BB962C8B-B14F-4D97-AF65-F5344CB8AC3E}">
        <p14:creationId xmlns:p14="http://schemas.microsoft.com/office/powerpoint/2010/main" val="845081010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B00799-4EE7-4FF7-9919-14E9A8DB91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c860b97f24a9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6　评价目标与方法选择">
            <a:extLst xmlns:a="http://schemas.openxmlformats.org/drawingml/2006/main">
              <a:ext uri="{FF2B5EF4-FFF2-40B4-BE49-F238E27FC236}">
                <a16:creationId xmlns:a16="http://schemas.microsoft.com/office/drawing/2014/main" id="{7764F74F-C2C1-4571-BFEE-1E6DF44B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06　评价目标与方法选择</a:t>
            </a:r>
          </a:p>
        </p:txBody>
      </p:sp>
      <p:sp>
        <p:nvSpPr>
          <p:cNvPr id="3" name="方法选择取决于目标、已知条件与风险要求">
            <a:extLst xmlns:a="http://schemas.openxmlformats.org/drawingml/2006/main">
              <a:ext uri="{FF2B5EF4-FFF2-40B4-BE49-F238E27FC236}">
                <a16:creationId xmlns:a16="http://schemas.microsoft.com/office/drawing/2014/main" id="{D51FC28B-DD8A-467F-B861-D91DBA24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方法选择取决于目标、已知条件与风险要求</a:t>
            </a:r>
          </a:p>
        </p:txBody>
      </p:sp>
      <p:sp>
        <p:nvSpPr>
          <p:cNvPr id="4" name="42">
            <a:extLst xmlns:a="http://schemas.openxmlformats.org/drawingml/2006/main">
              <a:ext uri="{FF2B5EF4-FFF2-40B4-BE49-F238E27FC236}">
                <a16:creationId xmlns:a16="http://schemas.microsoft.com/office/drawing/2014/main" id="{21F5F78A-9685-4AE3-9F1C-40835817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4B96E-20EA-4A09-AF70-E32C1E7F4BE1}"/>
              </a:ext>
            </a:extLst>
          </p:cNvPr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8239125"/>
              </a:tblGrid>
              <a:tr h="5810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已知条件或使用要求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应优先关注的性能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知道n，β范围未知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在给定参考范围内评价整体表现，保留稳健候选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知道n及β的大致范围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缩小比较区域，核对优势幅度及其稳定性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关心参数或低失效寿命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按具体目标评价，不能直接沿用另一个指标的排序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对异常和失败敏感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同时考察极端误差、异常频率与有效返回情况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4812608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E81917-BC8F-4464-8DEC-270A7051A4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e799f80ff42f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07　后续研究与平台">
            <a:extLst xmlns:a="http://schemas.openxmlformats.org/drawingml/2006/main">
              <a:ext uri="{FF2B5EF4-FFF2-40B4-BE49-F238E27FC236}">
                <a16:creationId xmlns:a16="http://schemas.microsoft.com/office/drawing/2014/main" id="{C69E2B3A-DA65-4D66-BF24-8C2C8A3B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07　后续研究与平台</a:t>
            </a:r>
          </a:p>
        </p:txBody>
      </p:sp>
      <p:sp>
        <p:nvSpPr>
          <p:cNvPr id="3" name="后续将探索基于样本特征的自适应选择与求解优化">
            <a:extLst xmlns:a="http://schemas.openxmlformats.org/drawingml/2006/main">
              <a:ext uri="{FF2B5EF4-FFF2-40B4-BE49-F238E27FC236}">
                <a16:creationId xmlns:a16="http://schemas.microsoft.com/office/drawing/2014/main" id="{4466901F-20D5-4031-BDCC-5E9A54B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后续将探索基于样本特征的自适应选择与求解优化</a:t>
            </a:r>
          </a:p>
        </p:txBody>
      </p:sp>
      <p:sp>
        <p:nvSpPr>
          <p:cNvPr id="4" name="43">
            <a:extLst xmlns:a="http://schemas.openxmlformats.org/drawingml/2006/main">
              <a:ext uri="{FF2B5EF4-FFF2-40B4-BE49-F238E27FC236}">
                <a16:creationId xmlns:a16="http://schemas.microsoft.com/office/drawing/2014/main" id="{1B2AE124-8079-4521-A048-9B1674C0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43</a:t>
            </a:r>
          </a:p>
        </p:txBody>
      </p:sp>
      <p:sp>
        <p:nvSpPr>
          <p:cNvPr id="5" name="研究方向">
            <a:extLst xmlns:a="http://schemas.openxmlformats.org/drawingml/2006/main">
              <a:ext uri="{FF2B5EF4-FFF2-40B4-BE49-F238E27FC236}">
                <a16:creationId xmlns:a16="http://schemas.microsoft.com/office/drawing/2014/main" id="{D5550AFB-78CC-4C38-9721-E119D2B0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478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研究方向</a:t>
            </a:r>
          </a:p>
        </p:txBody>
      </p:sp>
      <p:sp>
        <p:nvSpPr>
          <p:cNvPr id="6" name="根据可观测样本特征与使用目标选择方法，优化过程量和求解过程。">
            <a:extLst xmlns:a="http://schemas.openxmlformats.org/drawingml/2006/main">
              <a:ext uri="{FF2B5EF4-FFF2-40B4-BE49-F238E27FC236}">
                <a16:creationId xmlns:a16="http://schemas.microsoft.com/office/drawing/2014/main" id="{C76EAF94-D69E-4EFB-B28A-64789BF3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669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根据可观测样本特征与使用目标选择方法，优化过程量和求解过程。</a:t>
            </a:r>
          </a:p>
        </p:txBody>
      </p:sp>
      <p:sp>
        <p:nvSpPr>
          <p:cNvPr id="7" name="验证要求">
            <a:extLst xmlns:a="http://schemas.openxmlformats.org/drawingml/2006/main">
              <a:ext uri="{FF2B5EF4-FFF2-40B4-BE49-F238E27FC236}">
                <a16:creationId xmlns:a16="http://schemas.microsoft.com/office/drawing/2014/main" id="{448D9E80-E7C2-4DDD-AF60-FC51E777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099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验证要求</a:t>
            </a:r>
          </a:p>
        </p:txBody>
      </p:sp>
      <p:sp>
        <p:nvSpPr>
          <p:cNvPr id="8" name="在新的样本上检验选择规则的收益。">
            <a:extLst xmlns:a="http://schemas.openxmlformats.org/drawingml/2006/main">
              <a:ext uri="{FF2B5EF4-FFF2-40B4-BE49-F238E27FC236}">
                <a16:creationId xmlns:a16="http://schemas.microsoft.com/office/drawing/2014/main" id="{284B7773-93B8-43D4-B117-BB23CC89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290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在新的样本上检验选择规则的收益。</a:t>
            </a:r>
          </a:p>
        </p:txBody>
      </p:sp>
      <p:sp>
        <p:nvSpPr>
          <p:cNvPr id="9" name="weibull.work">
            <a:extLst xmlns:a="http://schemas.openxmlformats.org/drawingml/2006/main">
              <a:ext uri="{FF2B5EF4-FFF2-40B4-BE49-F238E27FC236}">
                <a16:creationId xmlns:a16="http://schemas.microsoft.com/office/drawing/2014/main" id="{D600C521-D549-46A5-BD56-CC82E73F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weibull.work</a:t>
            </a:r>
          </a:p>
        </p:txBody>
      </p:sp>
      <p:sp>
        <p:nvSpPr>
          <p:cNvPr id="10" name="已有部分方法可在线调用，平台仍在建设，欢迎试用与交流。">
            <a:extLst xmlns:a="http://schemas.openxmlformats.org/drawingml/2006/main">
              <a:ext uri="{FF2B5EF4-FFF2-40B4-BE49-F238E27FC236}">
                <a16:creationId xmlns:a16="http://schemas.microsoft.com/office/drawing/2014/main" id="{1BC417E0-C299-46DA-B84D-0929A608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91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已有部分方法可在线调用，平台仍在建设，欢迎试用与交流。</a:t>
            </a:r>
          </a:p>
        </p:txBody>
      </p:sp>
    </p:spTree>
    <p:extLst>
      <p:ext uri="{BB962C8B-B14F-4D97-AF65-F5344CB8AC3E}">
        <p14:creationId xmlns:p14="http://schemas.microsoft.com/office/powerpoint/2010/main" val="241148133"/>
      </p:ext>
    </p:extLst>
  </p:cSld>
</p:sld>
</file>

<file path=ppt/slides/slide44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CF399B-DC88-4B6B-BCCC-9CE88D7322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7a21743ed4d8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1F0C06C0-DE0A-4866-B236-0D13B80B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似然路线的改进发生在不同构造环节">
            <a:extLst xmlns:a="http://schemas.openxmlformats.org/drawingml/2006/main">
              <a:ext uri="{FF2B5EF4-FFF2-40B4-BE49-F238E27FC236}">
                <a16:creationId xmlns:a16="http://schemas.microsoft.com/office/drawing/2014/main" id="{C0FBCFA5-180D-4F50-B361-413D4B38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似然路线的改进发生在不同构造环节</a:t>
            </a:r>
          </a:p>
        </p:txBody>
      </p:sp>
      <p:sp>
        <p:nvSpPr>
          <p:cNvPr id="4" name="44">
            <a:extLst xmlns:a="http://schemas.openxmlformats.org/drawingml/2006/main">
              <a:ext uri="{FF2B5EF4-FFF2-40B4-BE49-F238E27FC236}">
                <a16:creationId xmlns:a16="http://schemas.microsoft.com/office/drawing/2014/main" id="{3EDEAAEA-F2B6-47D9-8835-76AB3AA2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9F134-080F-4E88-B0EE-3FA2411EA5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ef3ac59ebb492d"/>
          <a:stretch xmlns:a="http://schemas.openxmlformats.org/drawingml/2006/main"/>
        </p:blipFill>
        <p:spPr>
          <a:xfrm xmlns:a="http://schemas.openxmlformats.org/drawingml/2006/main">
            <a:off x="4097104" y="1485900"/>
            <a:ext cx="3997791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889746"/>
      </p:ext>
    </p:extLst>
  </p:cSld>
</p:sld>
</file>

<file path=ppt/slides/slide45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DA595D-7289-4A9F-BAA0-D899F41B1E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1b6fc6f8944a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B3E71F86-1894-4413-9144-69E3E902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分布匹配的表示、准则与恢复关系可以分别改变">
            <a:extLst xmlns:a="http://schemas.openxmlformats.org/drawingml/2006/main">
              <a:ext uri="{FF2B5EF4-FFF2-40B4-BE49-F238E27FC236}">
                <a16:creationId xmlns:a16="http://schemas.microsoft.com/office/drawing/2014/main" id="{8453F080-2A6A-4CE2-A060-3BB45B93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分布匹配的表示、准则与恢复关系可以分别改变</a:t>
            </a:r>
          </a:p>
        </p:txBody>
      </p:sp>
      <p:sp>
        <p:nvSpPr>
          <p:cNvPr id="4" name="45">
            <a:extLst xmlns:a="http://schemas.openxmlformats.org/drawingml/2006/main">
              <a:ext uri="{FF2B5EF4-FFF2-40B4-BE49-F238E27FC236}">
                <a16:creationId xmlns:a16="http://schemas.microsoft.com/office/drawing/2014/main" id="{7300C7D5-D8F9-4967-B815-B860B679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12477-FE64-48C8-A033-5157BD47D7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51a637636c40ab"/>
          <a:stretch xmlns:a="http://schemas.openxmlformats.org/drawingml/2006/main"/>
        </p:blipFill>
        <p:spPr>
          <a:xfrm xmlns:a="http://schemas.openxmlformats.org/drawingml/2006/main">
            <a:off x="3629526" y="1485900"/>
            <a:ext cx="4932947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72908"/>
      </p:ext>
    </p:extLst>
  </p:cSld>
</p:sld>
</file>

<file path=ppt/slides/slide46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CCA0A-0B06-401F-A0A3-0D2739CFB3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b971472a6a485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AD5218DC-F3F8-48BA-A9B6-6AE8A5C3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特征构造与参数确定机制需要按阶段区分">
            <a:extLst xmlns:a="http://schemas.openxmlformats.org/drawingml/2006/main">
              <a:ext uri="{FF2B5EF4-FFF2-40B4-BE49-F238E27FC236}">
                <a16:creationId xmlns:a16="http://schemas.microsoft.com/office/drawing/2014/main" id="{32DFFEC5-F26B-490E-887C-A16270B6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特征构造与参数确定机制需要按阶段区分</a:t>
            </a:r>
          </a:p>
        </p:txBody>
      </p:sp>
      <p:sp>
        <p:nvSpPr>
          <p:cNvPr id="4" name="46">
            <a:extLst xmlns:a="http://schemas.openxmlformats.org/drawingml/2006/main">
              <a:ext uri="{FF2B5EF4-FFF2-40B4-BE49-F238E27FC236}">
                <a16:creationId xmlns:a16="http://schemas.microsoft.com/office/drawing/2014/main" id="{F9FA5D92-346A-49AA-88C0-2209F50D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28B419-AD95-43FD-99A9-69AA94B156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022b1318b4dbd"/>
          <a:stretch xmlns:a="http://schemas.openxmlformats.org/drawingml/2006/main"/>
        </p:blipFill>
        <p:spPr>
          <a:xfrm xmlns:a="http://schemas.openxmlformats.org/drawingml/2006/main">
            <a:off x="4300483" y="1485900"/>
            <a:ext cx="3591034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643562"/>
      </p:ext>
    </p:extLst>
  </p:cSld>
</p:sld>
</file>

<file path=ppt/slides/slide47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9A500-1A31-405B-908D-E94C0ED3FF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9a59dd140452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4A069CB6-32B1-4017-BDAB-5C9FF789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后验输出规则与后验计算承担不同作用">
            <a:extLst xmlns:a="http://schemas.openxmlformats.org/drawingml/2006/main">
              <a:ext uri="{FF2B5EF4-FFF2-40B4-BE49-F238E27FC236}">
                <a16:creationId xmlns:a16="http://schemas.microsoft.com/office/drawing/2014/main" id="{90DBB1F2-F614-43B8-81D9-BC0181E7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后验输出规则与后验计算承担不同作用</a:t>
            </a:r>
          </a:p>
        </p:txBody>
      </p:sp>
      <p:sp>
        <p:nvSpPr>
          <p:cNvPr id="4" name="47">
            <a:extLst xmlns:a="http://schemas.openxmlformats.org/drawingml/2006/main">
              <a:ext uri="{FF2B5EF4-FFF2-40B4-BE49-F238E27FC236}">
                <a16:creationId xmlns:a16="http://schemas.microsoft.com/office/drawing/2014/main" id="{3EEC1A65-673A-47D0-BC6C-4F60D122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C92025-C718-4606-AB93-FB61591E97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a7a314a5d04ce1"/>
          <a:stretch xmlns:a="http://schemas.openxmlformats.org/drawingml/2006/main"/>
        </p:blipFill>
        <p:spPr>
          <a:xfrm xmlns:a="http://schemas.openxmlformats.org/drawingml/2006/main">
            <a:off x="3539836" y="1485900"/>
            <a:ext cx="5112327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1036"/>
      </p:ext>
    </p:extLst>
  </p:cSld>
</p:sld>
</file>

<file path=ppt/slides/slide48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014EE-734A-4B34-96D4-C8D3593E05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9fc1b7e184b7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31876929-EF5D-46E5-80D1-F7E774FA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直接预测参数与辅助传统估计的作用位置不同">
            <a:extLst xmlns:a="http://schemas.openxmlformats.org/drawingml/2006/main">
              <a:ext uri="{FF2B5EF4-FFF2-40B4-BE49-F238E27FC236}">
                <a16:creationId xmlns:a16="http://schemas.microsoft.com/office/drawing/2014/main" id="{71856DEE-E12E-4775-AC47-8A8D457C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直接预测参数与辅助传统估计的作用位置不同</a:t>
            </a:r>
          </a:p>
        </p:txBody>
      </p:sp>
      <p:sp>
        <p:nvSpPr>
          <p:cNvPr id="4" name="48">
            <a:extLst xmlns:a="http://schemas.openxmlformats.org/drawingml/2006/main">
              <a:ext uri="{FF2B5EF4-FFF2-40B4-BE49-F238E27FC236}">
                <a16:creationId xmlns:a16="http://schemas.microsoft.com/office/drawing/2014/main" id="{46E141D3-DDF1-4435-8DCE-B17CF94F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3C8982-4CD2-444C-8BFF-D699B5CD7F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8e59ea5a0243f4"/>
          <a:stretch xmlns:a="http://schemas.openxmlformats.org/drawingml/2006/main"/>
        </p:blipFill>
        <p:spPr>
          <a:xfrm xmlns:a="http://schemas.openxmlformats.org/drawingml/2006/main">
            <a:off x="3539836" y="1485900"/>
            <a:ext cx="5112327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233469"/>
      </p:ext>
    </p:extLst>
  </p:cSld>
</p:sld>
</file>

<file path=ppt/slides/slide49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3376A1-34C8-45E5-A067-522D489970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2c87a1bb04d6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4469DF42-60E5-48E1-BD09-DB3B98D2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分布关系匹配的完整构造保留各方法的实际准则">
            <a:extLst xmlns:a="http://schemas.openxmlformats.org/drawingml/2006/main">
              <a:ext uri="{FF2B5EF4-FFF2-40B4-BE49-F238E27FC236}">
                <a16:creationId xmlns:a16="http://schemas.microsoft.com/office/drawing/2014/main" id="{FB8E4E87-F18F-45C6-BEE9-812B7499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分布关系匹配的完整构造保留各方法的实际准则</a:t>
            </a:r>
          </a:p>
        </p:txBody>
      </p:sp>
      <p:sp>
        <p:nvSpPr>
          <p:cNvPr id="4" name="49">
            <a:extLst xmlns:a="http://schemas.openxmlformats.org/drawingml/2006/main">
              <a:ext uri="{FF2B5EF4-FFF2-40B4-BE49-F238E27FC236}">
                <a16:creationId xmlns:a16="http://schemas.microsoft.com/office/drawing/2014/main" id="{8C9BC2C4-299F-465E-A33C-86CA9391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49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B2080-2D14-4CE4-8700-EF1B1C40BD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8f95cb7e740bd"/>
          <a:stretch xmlns:a="http://schemas.openxmlformats.org/drawingml/2006/main"/>
        </p:blipFill>
        <p:spPr>
          <a:xfrm xmlns:a="http://schemas.openxmlformats.org/drawingml/2006/main">
            <a:off x="3339353" y="1485900"/>
            <a:ext cx="5513294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962458"/>
      </p:ext>
    </p:extLst>
  </p:cSld>
</p:sld>
</file>

<file path=ppt/slides/slide50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51DF05-DBCD-457E-8CF5-C2F9F53C69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aac3eacaf499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30D0AFF2-9F46-4DEA-AB89-8AEC1A6F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统计关系路线可以采用不同特征与识别次序">
            <a:extLst xmlns:a="http://schemas.openxmlformats.org/drawingml/2006/main">
              <a:ext uri="{FF2B5EF4-FFF2-40B4-BE49-F238E27FC236}">
                <a16:creationId xmlns:a16="http://schemas.microsoft.com/office/drawing/2014/main" id="{0774B2ED-49DA-456F-AB29-23102C44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统计关系路线可以采用不同特征与识别次序</a:t>
            </a:r>
          </a:p>
        </p:txBody>
      </p:sp>
      <p:sp>
        <p:nvSpPr>
          <p:cNvPr id="4" name="50">
            <a:extLst xmlns:a="http://schemas.openxmlformats.org/drawingml/2006/main">
              <a:ext uri="{FF2B5EF4-FFF2-40B4-BE49-F238E27FC236}">
                <a16:creationId xmlns:a16="http://schemas.microsoft.com/office/drawing/2014/main" id="{3D027682-97D2-45CD-8B3E-717C7B07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4A6BE-6521-4466-B592-1372B8765E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a33a8ee0b24b17"/>
          <a:stretch xmlns:a="http://schemas.openxmlformats.org/drawingml/2006/main"/>
        </p:blipFill>
        <p:spPr>
          <a:xfrm xmlns:a="http://schemas.openxmlformats.org/drawingml/2006/main">
            <a:off x="3723190" y="1485900"/>
            <a:ext cx="4745620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407853"/>
      </p:ext>
    </p:extLst>
  </p:cSld>
</p:sld>
</file>

<file path=ppt/slides/slide51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EC476-2377-4845-9D69-083E144D05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3c3fb81c084b3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FA29C306-5651-47F4-9A2C-C7CA02F6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训练阶段与新样本应用阶段使用同一固定映射">
            <a:extLst xmlns:a="http://schemas.openxmlformats.org/drawingml/2006/main">
              <a:ext uri="{FF2B5EF4-FFF2-40B4-BE49-F238E27FC236}">
                <a16:creationId xmlns:a16="http://schemas.microsoft.com/office/drawing/2014/main" id="{6FFD1BAC-61E3-4874-971E-6F81B4EF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训练阶段与新样本应用阶段使用同一固定映射</a:t>
            </a:r>
          </a:p>
        </p:txBody>
      </p:sp>
      <p:sp>
        <p:nvSpPr>
          <p:cNvPr id="4" name="51">
            <a:extLst xmlns:a="http://schemas.openxmlformats.org/drawingml/2006/main">
              <a:ext uri="{FF2B5EF4-FFF2-40B4-BE49-F238E27FC236}">
                <a16:creationId xmlns:a16="http://schemas.microsoft.com/office/drawing/2014/main" id="{0D8C14AD-5BB6-4523-8591-6BB527DC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DD586-10FE-48D7-9B6F-2560DD0D59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07be4d3a0448ee"/>
          <a:stretch xmlns:a="http://schemas.openxmlformats.org/drawingml/2006/main"/>
        </p:blipFill>
        <p:spPr>
          <a:xfrm xmlns:a="http://schemas.openxmlformats.org/drawingml/2006/main">
            <a:off x="2929581" y="1485900"/>
            <a:ext cx="6332838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5136"/>
      </p:ext>
    </p:extLst>
  </p:cSld>
</p:sld>
</file>

<file path=ppt/slides/slide5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F77BC-C4C1-4697-A948-E1B432711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bd50211d2844c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C6CAB483-0B93-481C-BF99-13104628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完整RMSE图保留MM数值与统一半径">
            <a:extLst xmlns:a="http://schemas.openxmlformats.org/drawingml/2006/main">
              <a:ext uri="{FF2B5EF4-FFF2-40B4-BE49-F238E27FC236}">
                <a16:creationId xmlns:a16="http://schemas.microsoft.com/office/drawing/2014/main" id="{6F42F2DA-3AAA-4C9F-A181-A3AD02B6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完整RMSE图保留MM数值与统一半径</a:t>
            </a:r>
          </a:p>
        </p:txBody>
      </p:sp>
      <p:sp>
        <p:nvSpPr>
          <p:cNvPr id="4" name="52">
            <a:extLst xmlns:a="http://schemas.openxmlformats.org/drawingml/2006/main">
              <a:ext uri="{FF2B5EF4-FFF2-40B4-BE49-F238E27FC236}">
                <a16:creationId xmlns:a16="http://schemas.microsoft.com/office/drawing/2014/main" id="{0A0691C9-E396-417C-BB90-8AE5D9E4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A90A7-04BC-431F-9A15-5BA5E98316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bdc892c294555"/>
          <a:stretch xmlns:a="http://schemas.openxmlformats.org/drawingml/2006/main"/>
        </p:blipFill>
        <p:spPr>
          <a:xfrm xmlns:a="http://schemas.openxmlformats.org/drawingml/2006/main">
            <a:off x="2788024" y="1485900"/>
            <a:ext cx="6615953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107427"/>
      </p:ext>
    </p:extLst>
  </p:cSld>
</p:sld>
</file>

<file path=ppt/slides/slide53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81531C-5D1E-4A92-ADB5-ED5F3C6FB0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339714103472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F390EFE6-4331-4224-A33E-1AD19FA1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完整RMSE图保留MM数值与统一半径">
            <a:extLst xmlns:a="http://schemas.openxmlformats.org/drawingml/2006/main">
              <a:ext uri="{FF2B5EF4-FFF2-40B4-BE49-F238E27FC236}">
                <a16:creationId xmlns:a16="http://schemas.microsoft.com/office/drawing/2014/main" id="{58C58988-881C-434F-9D8B-EC0705D7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完整RMSE图保留MM数值与统一半径</a:t>
            </a:r>
          </a:p>
        </p:txBody>
      </p:sp>
      <p:sp>
        <p:nvSpPr>
          <p:cNvPr id="4" name="53">
            <a:extLst xmlns:a="http://schemas.openxmlformats.org/drawingml/2006/main">
              <a:ext uri="{FF2B5EF4-FFF2-40B4-BE49-F238E27FC236}">
                <a16:creationId xmlns:a16="http://schemas.microsoft.com/office/drawing/2014/main" id="{80A6A9F4-BBA8-49C6-B201-4295826E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E844B-4707-4F7E-BE02-B2550C147F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f2cab1d6d64f10"/>
          <a:stretch xmlns:a="http://schemas.openxmlformats.org/drawingml/2006/main"/>
        </p:blipFill>
        <p:spPr>
          <a:xfrm xmlns:a="http://schemas.openxmlformats.org/drawingml/2006/main">
            <a:off x="2788024" y="1485900"/>
            <a:ext cx="6615953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193517"/>
      </p:ext>
    </p:extLst>
  </p:cSld>
</p:sld>
</file>

<file path=ppt/slides/slide54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40DE3-7966-4E22-9C74-2C040D17C1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707f45e2b450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C5A6BB8B-4CD9-46AB-A9AB-19A1B8CE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完整RMSE图保留MM数值与统一半径">
            <a:extLst xmlns:a="http://schemas.openxmlformats.org/drawingml/2006/main">
              <a:ext uri="{FF2B5EF4-FFF2-40B4-BE49-F238E27FC236}">
                <a16:creationId xmlns:a16="http://schemas.microsoft.com/office/drawing/2014/main" id="{7EA309D1-998C-4980-B97F-EABFA3B2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完整RMSE图保留MM数值与统一半径</a:t>
            </a:r>
          </a:p>
        </p:txBody>
      </p:sp>
      <p:sp>
        <p:nvSpPr>
          <p:cNvPr id="4" name="54">
            <a:extLst xmlns:a="http://schemas.openxmlformats.org/drawingml/2006/main">
              <a:ext uri="{FF2B5EF4-FFF2-40B4-BE49-F238E27FC236}">
                <a16:creationId xmlns:a16="http://schemas.microsoft.com/office/drawing/2014/main" id="{51BDB518-EE25-48D4-B39A-37BE3F1C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8C9C2-3C7D-4C69-BF7B-A6FCDAD6C2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e4d1b22ce49ec"/>
          <a:stretch xmlns:a="http://schemas.openxmlformats.org/drawingml/2006/main"/>
        </p:blipFill>
        <p:spPr>
          <a:xfrm xmlns:a="http://schemas.openxmlformats.org/drawingml/2006/main">
            <a:off x="2788024" y="1485900"/>
            <a:ext cx="6615953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871061"/>
      </p:ext>
    </p:extLst>
  </p:cSld>
</p:sld>
</file>

<file path=ppt/slides/slide55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63B70-7479-4BF5-913D-36A166BF47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22e6eb26c4fa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C8243977-4807-46B5-AA52-1B2598EE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完整RMSE图保留MM数值与统一半径">
            <a:extLst xmlns:a="http://schemas.openxmlformats.org/drawingml/2006/main">
              <a:ext uri="{FF2B5EF4-FFF2-40B4-BE49-F238E27FC236}">
                <a16:creationId xmlns:a16="http://schemas.microsoft.com/office/drawing/2014/main" id="{158C4A11-0DAD-46BA-8626-82E4BF6D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完整RMSE图保留MM数值与统一半径</a:t>
            </a:r>
          </a:p>
        </p:txBody>
      </p:sp>
      <p:sp>
        <p:nvSpPr>
          <p:cNvPr id="4" name="55">
            <a:extLst xmlns:a="http://schemas.openxmlformats.org/drawingml/2006/main">
              <a:ext uri="{FF2B5EF4-FFF2-40B4-BE49-F238E27FC236}">
                <a16:creationId xmlns:a16="http://schemas.microsoft.com/office/drawing/2014/main" id="{C7A61EB7-E3A8-4854-98E1-F2EBB92F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9B004-177B-4998-953E-2A00EB0B5F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fdd129b1d4ee6"/>
          <a:stretch xmlns:a="http://schemas.openxmlformats.org/drawingml/2006/main"/>
        </p:blipFill>
        <p:spPr>
          <a:xfrm xmlns:a="http://schemas.openxmlformats.org/drawingml/2006/main">
            <a:off x="2788024" y="1485900"/>
            <a:ext cx="6615953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74805"/>
      </p:ext>
    </p:extLst>
  </p:cSld>
</p:sld>
</file>

<file path=ppt/slides/slide56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CFDCE-F64D-4B0C-9F74-A747D3D3E3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76318068244b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CA00D7A5-88D5-4D2E-9726-5270EF81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完整RMSE图保留MM数值与统一半径">
            <a:extLst xmlns:a="http://schemas.openxmlformats.org/drawingml/2006/main">
              <a:ext uri="{FF2B5EF4-FFF2-40B4-BE49-F238E27FC236}">
                <a16:creationId xmlns:a16="http://schemas.microsoft.com/office/drawing/2014/main" id="{25EBC97C-6739-4202-85F8-76CA6195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完整RMSE图保留MM数值与统一半径</a:t>
            </a:r>
          </a:p>
        </p:txBody>
      </p:sp>
      <p:sp>
        <p:nvSpPr>
          <p:cNvPr id="4" name="56">
            <a:extLst xmlns:a="http://schemas.openxmlformats.org/drawingml/2006/main">
              <a:ext uri="{FF2B5EF4-FFF2-40B4-BE49-F238E27FC236}">
                <a16:creationId xmlns:a16="http://schemas.microsoft.com/office/drawing/2014/main" id="{B21E3F5C-6229-470E-AB3C-6EC8C260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502A1-18E1-490D-8D0A-F75B26983B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0a67752d04fcb"/>
          <a:stretch xmlns:a="http://schemas.openxmlformats.org/drawingml/2006/main"/>
        </p:blipFill>
        <p:spPr>
          <a:xfrm xmlns:a="http://schemas.openxmlformats.org/drawingml/2006/main">
            <a:off x="2788024" y="1485900"/>
            <a:ext cx="6615953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19710"/>
      </p:ext>
    </p:extLst>
  </p:cSld>
</p:sld>
</file>

<file path=ppt/slides/slide57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C3872-0297-4DAD-BCEE-B1319F73D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e59fd614445b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D8D2A415-A048-496A-B529-8E08BA3F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最小值与真实起点的距离同时随n与β变化">
            <a:extLst xmlns:a="http://schemas.openxmlformats.org/drawingml/2006/main">
              <a:ext uri="{FF2B5EF4-FFF2-40B4-BE49-F238E27FC236}">
                <a16:creationId xmlns:a16="http://schemas.microsoft.com/office/drawing/2014/main" id="{9F57DA8D-C34E-4E49-BC69-8C5FEC06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最小值与真实起点的距离同时随n与β变化</a:t>
            </a:r>
          </a:p>
        </p:txBody>
      </p:sp>
      <p:sp>
        <p:nvSpPr>
          <p:cNvPr id="4" name="57">
            <a:extLst xmlns:a="http://schemas.openxmlformats.org/drawingml/2006/main">
              <a:ext uri="{FF2B5EF4-FFF2-40B4-BE49-F238E27FC236}">
                <a16:creationId xmlns:a16="http://schemas.microsoft.com/office/drawing/2014/main" id="{0571FC7E-9DFE-41AD-B1D7-6E5C0CA0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4668A-451F-41F7-81E3-9B7F3E041B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c12295f474523"/>
          <a:stretch xmlns:a="http://schemas.openxmlformats.org/drawingml/2006/main"/>
        </p:blipFill>
        <p:spPr>
          <a:xfrm xmlns:a="http://schemas.openxmlformats.org/drawingml/2006/main">
            <a:off x="4320139" y="1485900"/>
            <a:ext cx="3551722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373711"/>
      </p:ext>
    </p:extLst>
  </p:cSld>
</p:sld>
</file>

<file path=ppt/slides/slide58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3C818-1DDE-4BF0-9C46-D3BD30DDF6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b19482452493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A1F2D91F-4ACB-4DB0-97B9-B0569E5A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MDM的梯度定位影响形状与尺度的恢复">
            <a:extLst xmlns:a="http://schemas.openxmlformats.org/drawingml/2006/main">
              <a:ext uri="{FF2B5EF4-FFF2-40B4-BE49-F238E27FC236}">
                <a16:creationId xmlns:a16="http://schemas.microsoft.com/office/drawing/2014/main" id="{4F951328-104D-4DA6-8C3D-8A16DA36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MDM的梯度定位影响形状与尺度的恢复</a:t>
            </a:r>
          </a:p>
        </p:txBody>
      </p:sp>
      <p:sp>
        <p:nvSpPr>
          <p:cNvPr id="4" name="58">
            <a:extLst xmlns:a="http://schemas.openxmlformats.org/drawingml/2006/main">
              <a:ext uri="{FF2B5EF4-FFF2-40B4-BE49-F238E27FC236}">
                <a16:creationId xmlns:a16="http://schemas.microsoft.com/office/drawing/2014/main" id="{DC3FAB40-FEEA-47EB-B95E-D53B991C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84A18-28F9-4BDF-8FB2-6505279A92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29f5205b84bc5"/>
          <a:stretch xmlns:a="http://schemas.openxmlformats.org/drawingml/2006/main"/>
        </p:blipFill>
        <p:spPr>
          <a:xfrm xmlns:a="http://schemas.openxmlformats.org/drawingml/2006/main">
            <a:off x="3752850" y="1485900"/>
            <a:ext cx="4686300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942"/>
      </p:ext>
    </p:extLst>
  </p:cSld>
</p:sld>
</file>

<file path=ppt/slides/slide59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729253-D428-4CC5-BF61-B91C62DFCA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af1590121400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2AB0C936-09C9-4C6E-B2C4-6A8F4F5C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误差增大可以伴随波动减小与偏差加重">
            <a:extLst xmlns:a="http://schemas.openxmlformats.org/drawingml/2006/main">
              <a:ext uri="{FF2B5EF4-FFF2-40B4-BE49-F238E27FC236}">
                <a16:creationId xmlns:a16="http://schemas.microsoft.com/office/drawing/2014/main" id="{CDE97D97-C709-40B4-8857-41409E89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误差增大可以伴随波动减小与偏差加重</a:t>
            </a:r>
          </a:p>
        </p:txBody>
      </p:sp>
      <p:sp>
        <p:nvSpPr>
          <p:cNvPr id="4" name="59">
            <a:extLst xmlns:a="http://schemas.openxmlformats.org/drawingml/2006/main">
              <a:ext uri="{FF2B5EF4-FFF2-40B4-BE49-F238E27FC236}">
                <a16:creationId xmlns:a16="http://schemas.microsoft.com/office/drawing/2014/main" id="{E4D56C44-325B-4D94-9B75-7A40A5B7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59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44CE7-504F-4E25-A0A6-BEB643298F3E}"/>
              </a:ext>
            </a:extLst>
          </p:cNvPr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1743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857500"/>
                <a:gridCol w="2857500"/>
                <a:gridCol w="3238500"/>
              </a:tblGrid>
              <a:tr h="5810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WMLE，β=5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形状Bias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形状SD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形状RMSE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n=10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−2.263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0.982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2.466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n=7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−2.614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0.713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2.710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七法共同有效结果。SD下降不等于估计更准确；这里负偏差加重，RMSE仍">
            <a:extLst xmlns:a="http://schemas.openxmlformats.org/drawingml/2006/main">
              <a:ext uri="{FF2B5EF4-FFF2-40B4-BE49-F238E27FC236}">
                <a16:creationId xmlns:a16="http://schemas.microsoft.com/office/drawing/2014/main" id="{CE0F827A-7791-42B4-BFC7-BC759758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957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七法共同有效结果。SD下降不等于估计更准确；这里负偏差加重，RMSE仍上升。</a:t>
            </a:r>
          </a:p>
        </p:txBody>
      </p:sp>
    </p:spTree>
    <p:extLst>
      <p:ext uri="{BB962C8B-B14F-4D97-AF65-F5344CB8AC3E}">
        <p14:creationId xmlns:p14="http://schemas.microsoft.com/office/powerpoint/2010/main" val="706157584"/>
      </p:ext>
    </p:extLst>
  </p:cSld>
</p:sld>
</file>

<file path=ppt/slides/slide60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A932B-DF98-4DF0-9C56-225E6A7A53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c56df8dfb4e4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附录　方法原理与补充结果">
            <a:extLst xmlns:a="http://schemas.openxmlformats.org/drawingml/2006/main">
              <a:ext uri="{FF2B5EF4-FFF2-40B4-BE49-F238E27FC236}">
                <a16:creationId xmlns:a16="http://schemas.microsoft.com/office/drawing/2014/main" id="{4DB602DD-97B2-4B89-ADA9-84087013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2F40"/>
                </a:solidFill>
                <a:latin typeface="Microsoft YaHei"/>
                <a:ea typeface="Microsoft YaHei"/>
                <a:cs typeface="Microsoft YaHei"/>
              </a:rPr>
              <a:t>附录　方法原理与补充结果</a:t>
            </a:r>
          </a:p>
        </p:txBody>
      </p:sp>
      <p:sp>
        <p:nvSpPr>
          <p:cNvPr id="3" name="同一总体与样本量仍可能返回差异很大的估计">
            <a:extLst xmlns:a="http://schemas.openxmlformats.org/drawingml/2006/main">
              <a:ext uri="{FF2B5EF4-FFF2-40B4-BE49-F238E27FC236}">
                <a16:creationId xmlns:a16="http://schemas.microsoft.com/office/drawing/2014/main" id="{BDDD6209-A576-4A98-B5FD-6C2A16C7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同一总体与样本量仍可能返回差异很大的估计</a:t>
            </a:r>
          </a:p>
        </p:txBody>
      </p:sp>
      <p:sp>
        <p:nvSpPr>
          <p:cNvPr id="4" name="60">
            <a:extLst xmlns:a="http://schemas.openxmlformats.org/drawingml/2006/main">
              <a:ext uri="{FF2B5EF4-FFF2-40B4-BE49-F238E27FC236}">
                <a16:creationId xmlns:a16="http://schemas.microsoft.com/office/drawing/2014/main" id="{5429BCA8-0E83-4844-9A61-663448AA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103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36575"/>
                </a:solidFill>
                <a:latin typeface="Microsoft YaHei"/>
                <a:ea typeface="Microsoft YaHei"/>
                <a:cs typeface="Microsoft YaHei"/>
              </a:rPr>
              <a:t>60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CC00CA-8C83-4A32-BB96-2F99709A64B3}"/>
              </a:ext>
            </a:extLst>
          </p:cNvPr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2324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2190750"/>
                <a:gridCol w="2190750"/>
                <a:gridCol w="2190750"/>
              </a:tblGrid>
              <a:tr h="5810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β=5、n=7，LSE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尺度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T w="7620">
                      <a:solidFill>
                        <a:srgbClr val="C8D1DC"/>
                      </a:solidFill>
                      <a:prstDash val="solid"/>
                    </a:lnT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2D5D9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真值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第34组：接近真值的例子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5.55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836.77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681.73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第0组：明显低估的例子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C8D1DC"/>
                      </a:solidFill>
                      <a:prstDash val="solid"/>
                    </a:lnL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1.24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282.98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92F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1205.95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C8D1DC"/>
                      </a:solidFill>
                      <a:prstDash val="solid"/>
                    </a:lnR>
                    <a:lnB w="7620">
                      <a:solidFill>
                        <a:srgbClr val="C8D1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两例用于展示偏离程度；异常发生频率由1200次重复试验单独统计。">
            <a:extLst xmlns:a="http://schemas.openxmlformats.org/drawingml/2006/main">
              <a:ext uri="{FF2B5EF4-FFF2-40B4-BE49-F238E27FC236}">
                <a16:creationId xmlns:a16="http://schemas.microsoft.com/office/drawing/2014/main" id="{BA7C7238-B443-422D-840F-7875A853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767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2D5D97"/>
                </a:solidFill>
                <a:latin typeface="Microsoft YaHei"/>
                <a:ea typeface="Microsoft YaHei"/>
                <a:cs typeface="Microsoft YaHei"/>
              </a:rPr>
              <a:t>两例用于展示偏离程度；异常发生频率由1200次重复试验单独统计。</a:t>
            </a:r>
          </a:p>
        </p:txBody>
      </p:sp>
    </p:spTree>
    <p:extLst>
      <p:ext uri="{BB962C8B-B14F-4D97-AF65-F5344CB8AC3E}">
        <p14:creationId xmlns:p14="http://schemas.microsoft.com/office/powerpoint/2010/main" val="249654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2026-10-23T05:16:03.4760000Z</dcterms:created>
  <dcterms:modified xsi:type="dcterms:W3CDTF">2026-10-23T05:16:03.4760000Z</dcterms:modified>
</coreProperties>
</file>