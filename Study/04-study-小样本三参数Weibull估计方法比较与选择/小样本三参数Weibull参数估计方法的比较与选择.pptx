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a7a95ce9424ac4" /><Relationship Type="http://schemas.openxmlformats.org/officeDocument/2006/relationships/extended-properties" Target="/docProps/app.xml" Id="R6b567c847f2d4249" /><Relationship Type="http://schemas.openxmlformats.org/officeDocument/2006/relationships/officeDocument" Target="/ppt/presentation.xml" Id="R2b87f445ac724f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9894abbd924dd5"/>
  </p:sldMasterIdLst>
  <p:notesMasterIdLst>
    <p:notesMasterId xmlns:r="http://schemas.openxmlformats.org/officeDocument/2006/relationships" r:id="R67e3f09b91bc48d2"/>
  </p:notesMasterIdLst>
  <p:sldIdLst>
    <p:sldId xmlns:r="http://schemas.openxmlformats.org/officeDocument/2006/relationships" id="256" r:id="R3b49d670ca2a4af5"/>
    <p:sldId xmlns:r="http://schemas.openxmlformats.org/officeDocument/2006/relationships" id="257" r:id="R10977a39bd844cf7"/>
    <p:sldId xmlns:r="http://schemas.openxmlformats.org/officeDocument/2006/relationships" id="258" r:id="R712dfedc7d0743fa"/>
    <p:sldId xmlns:r="http://schemas.openxmlformats.org/officeDocument/2006/relationships" id="259" r:id="R4c5cafeb676f44b9"/>
    <p:sldId xmlns:r="http://schemas.openxmlformats.org/officeDocument/2006/relationships" id="260" r:id="Rcb220b86d9ec4fe2"/>
    <p:sldId xmlns:r="http://schemas.openxmlformats.org/officeDocument/2006/relationships" id="261" r:id="R09a7ab7115184107"/>
    <p:sldId xmlns:r="http://schemas.openxmlformats.org/officeDocument/2006/relationships" id="262" r:id="R91beda831fa34ac8"/>
    <p:sldId xmlns:r="http://schemas.openxmlformats.org/officeDocument/2006/relationships" id="263" r:id="Rcfe98d9a1bf344f0"/>
    <p:sldId xmlns:r="http://schemas.openxmlformats.org/officeDocument/2006/relationships" id="264" r:id="Rb0f9079fdf4a4d28"/>
    <p:sldId xmlns:r="http://schemas.openxmlformats.org/officeDocument/2006/relationships" id="265" r:id="R228e56b2fd3044e6"/>
    <p:sldId xmlns:r="http://schemas.openxmlformats.org/officeDocument/2006/relationships" id="266" r:id="R40a089c2c79d4bdc"/>
    <p:sldId xmlns:r="http://schemas.openxmlformats.org/officeDocument/2006/relationships" id="267" r:id="Rf9bf622a463b49f1"/>
    <p:sldId xmlns:r="http://schemas.openxmlformats.org/officeDocument/2006/relationships" id="268" r:id="R8f1753e1ac01466b"/>
    <p:sldId xmlns:r="http://schemas.openxmlformats.org/officeDocument/2006/relationships" id="269" r:id="R9311c9b0529c4fbd"/>
    <p:sldId xmlns:r="http://schemas.openxmlformats.org/officeDocument/2006/relationships" id="270" r:id="R1442da41abed46de"/>
    <p:sldId xmlns:r="http://schemas.openxmlformats.org/officeDocument/2006/relationships" id="271" r:id="Rb8e2e5ef87f94266"/>
    <p:sldId xmlns:r="http://schemas.openxmlformats.org/officeDocument/2006/relationships" id="272" r:id="R1c235920f67d4cdf"/>
    <p:sldId xmlns:r="http://schemas.openxmlformats.org/officeDocument/2006/relationships" id="273" r:id="Rfff77cb8908e4104"/>
    <p:sldId xmlns:r="http://schemas.openxmlformats.org/officeDocument/2006/relationships" id="274" r:id="Rc1140d09b4004386"/>
    <p:sldId xmlns:r="http://schemas.openxmlformats.org/officeDocument/2006/relationships" id="275" r:id="Re595175049ae4422"/>
    <p:sldId xmlns:r="http://schemas.openxmlformats.org/officeDocument/2006/relationships" id="276" r:id="Ra755cfe469a54cac"/>
    <p:sldId xmlns:r="http://schemas.openxmlformats.org/officeDocument/2006/relationships" id="277" r:id="R9867ec851ef1485b"/>
    <p:sldId xmlns:r="http://schemas.openxmlformats.org/officeDocument/2006/relationships" id="278" r:id="R93f41922c4fe43d7"/>
    <p:sldId xmlns:r="http://schemas.openxmlformats.org/officeDocument/2006/relationships" id="279" r:id="Rc27cdbd553f34dc4"/>
    <p:sldId xmlns:r="http://schemas.openxmlformats.org/officeDocument/2006/relationships" id="280" r:id="Rdecbcdd5b1e148af"/>
    <p:sldId xmlns:r="http://schemas.openxmlformats.org/officeDocument/2006/relationships" id="281" r:id="Rd94df06bfff5453c"/>
    <p:sldId xmlns:r="http://schemas.openxmlformats.org/officeDocument/2006/relationships" id="282" r:id="Ra024df77072045e7"/>
    <p:sldId xmlns:r="http://schemas.openxmlformats.org/officeDocument/2006/relationships" id="283" r:id="Ra79c38d4d3164fc9"/>
    <p:sldId xmlns:r="http://schemas.openxmlformats.org/officeDocument/2006/relationships" id="284" r:id="R94182f873bdf4466"/>
    <p:sldId xmlns:r="http://schemas.openxmlformats.org/officeDocument/2006/relationships" id="285" r:id="Rb7557a3e6a3c46f9"/>
    <p:sldId xmlns:r="http://schemas.openxmlformats.org/officeDocument/2006/relationships" id="286" r:id="Rdb1cfe8d9b874f72"/>
    <p:sldId xmlns:r="http://schemas.openxmlformats.org/officeDocument/2006/relationships" id="287" r:id="R204f926d38a14e09"/>
    <p:sldId xmlns:r="http://schemas.openxmlformats.org/officeDocument/2006/relationships" id="288" r:id="R2d88e8aade3948d1"/>
    <p:sldId xmlns:r="http://schemas.openxmlformats.org/officeDocument/2006/relationships" id="289" r:id="R2fa99cad6a96494a"/>
    <p:sldId xmlns:r="http://schemas.openxmlformats.org/officeDocument/2006/relationships" id="290" r:id="R5e7b91e2c1ee41b2"/>
    <p:sldId xmlns:r="http://schemas.openxmlformats.org/officeDocument/2006/relationships" id="291" r:id="Rd6f2b9ef236b45af"/>
    <p:sldId xmlns:r="http://schemas.openxmlformats.org/officeDocument/2006/relationships" id="292" r:id="R900366c8bd31470c"/>
    <p:sldId xmlns:r="http://schemas.openxmlformats.org/officeDocument/2006/relationships" id="293" r:id="Rd2d6b288aaba4cf6"/>
    <p:sldId xmlns:r="http://schemas.openxmlformats.org/officeDocument/2006/relationships" id="294" r:id="R8b054de87a7f49e6"/>
    <p:sldId xmlns:r="http://schemas.openxmlformats.org/officeDocument/2006/relationships" id="295" r:id="Ra91613b9718849df"/>
    <p:sldId xmlns:r="http://schemas.openxmlformats.org/officeDocument/2006/relationships" id="296" r:id="R70d22f512a1443b2"/>
    <p:sldId xmlns:r="http://schemas.openxmlformats.org/officeDocument/2006/relationships" id="297" r:id="R55188e035ddf4056"/>
    <p:sldId xmlns:r="http://schemas.openxmlformats.org/officeDocument/2006/relationships" id="298" r:id="R175d00ed225a4ec9"/>
    <p:sldId xmlns:r="http://schemas.openxmlformats.org/officeDocument/2006/relationships" id="299" r:id="R37177df6721d4486"/>
    <p:sldId xmlns:r="http://schemas.openxmlformats.org/officeDocument/2006/relationships" id="300" r:id="R86189a343c424f06"/>
    <p:sldId xmlns:r="http://schemas.openxmlformats.org/officeDocument/2006/relationships" id="301" r:id="R83c417141ea74e5a"/>
    <p:sldId xmlns:r="http://schemas.openxmlformats.org/officeDocument/2006/relationships" id="302" r:id="R677965c993b340c1"/>
    <p:sldId xmlns:r="http://schemas.openxmlformats.org/officeDocument/2006/relationships" id="303" r:id="R080e38718e044220"/>
    <p:sldId xmlns:r="http://schemas.openxmlformats.org/officeDocument/2006/relationships" id="304" r:id="R72c9bb560a564968"/>
    <p:sldId xmlns:r="http://schemas.openxmlformats.org/officeDocument/2006/relationships" id="305" r:id="R36ec7bcbe87742dc"/>
    <p:sldId xmlns:r="http://schemas.openxmlformats.org/officeDocument/2006/relationships" id="306" r:id="R98a0188045cd4e2e"/>
    <p:sldId xmlns:r="http://schemas.openxmlformats.org/officeDocument/2006/relationships" id="307" r:id="Re078bbbc17d143fb"/>
    <p:sldId xmlns:r="http://schemas.openxmlformats.org/officeDocument/2006/relationships" id="308" r:id="Rf896c13c1d564af2"/>
    <p:sldId xmlns:r="http://schemas.openxmlformats.org/officeDocument/2006/relationships" id="309" r:id="R25d184dfc3264675"/>
    <p:sldId xmlns:r="http://schemas.openxmlformats.org/officeDocument/2006/relationships" id="310" r:id="Rd5afd995d16841fb"/>
    <p:sldId xmlns:r="http://schemas.openxmlformats.org/officeDocument/2006/relationships" id="311" r:id="R4505abf5b874447d"/>
    <p:sldId xmlns:r="http://schemas.openxmlformats.org/officeDocument/2006/relationships" id="312" r:id="Rb2748f85a86744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f23f6a511c4cd7" /><Relationship Type="http://schemas.openxmlformats.org/officeDocument/2006/relationships/slideMaster" Target="/ppt/slideMasters/slideMaster1.xml" Id="R739894abbd924dd5" /><Relationship Type="http://schemas.openxmlformats.org/officeDocument/2006/relationships/notesMaster" Target="/ppt/notesMasters/notesMaster1.xml" Id="R67e3f09b91bc48d2" /><Relationship Type="http://schemas.openxmlformats.org/officeDocument/2006/relationships/presProps" Target="/ppt/presProps.xml" Id="Rb0f0bb68f27644d4" /><Relationship Type="http://schemas.openxmlformats.org/officeDocument/2006/relationships/tableStyles" Target="/ppt/tableStyles.xml" Id="Rf455ef23a0fb4b58" /><Relationship Type="http://schemas.openxmlformats.org/officeDocument/2006/relationships/slide" Target="/ppt/slides/slide1.xml" Id="R3b49d670ca2a4af5" /><Relationship Type="http://schemas.openxmlformats.org/officeDocument/2006/relationships/slide" Target="/ppt/slides/slide2.xml" Id="R10977a39bd844cf7" /><Relationship Type="http://schemas.openxmlformats.org/officeDocument/2006/relationships/slide" Target="/ppt/slides/slide3.xml" Id="R712dfedc7d0743fa" /><Relationship Type="http://schemas.openxmlformats.org/officeDocument/2006/relationships/slide" Target="/ppt/slides/slide4.xml" Id="R4c5cafeb676f44b9" /><Relationship Type="http://schemas.openxmlformats.org/officeDocument/2006/relationships/slide" Target="/ppt/slides/slide5.xml" Id="Rcb220b86d9ec4fe2" /><Relationship Type="http://schemas.openxmlformats.org/officeDocument/2006/relationships/slide" Target="/ppt/slides/slide6.xml" Id="R09a7ab7115184107" /><Relationship Type="http://schemas.openxmlformats.org/officeDocument/2006/relationships/slide" Target="/ppt/slides/slide7.xml" Id="R91beda831fa34ac8" /><Relationship Type="http://schemas.openxmlformats.org/officeDocument/2006/relationships/slide" Target="/ppt/slides/slide8.xml" Id="Rcfe98d9a1bf344f0" /><Relationship Type="http://schemas.openxmlformats.org/officeDocument/2006/relationships/slide" Target="/ppt/slides/slide9.xml" Id="Rb0f9079fdf4a4d28" /><Relationship Type="http://schemas.openxmlformats.org/officeDocument/2006/relationships/slide" Target="/ppt/slides/slide10.xml" Id="R228e56b2fd3044e6" /><Relationship Type="http://schemas.openxmlformats.org/officeDocument/2006/relationships/slide" Target="/ppt/slides/slide11.xml" Id="R40a089c2c79d4bdc" /><Relationship Type="http://schemas.openxmlformats.org/officeDocument/2006/relationships/slide" Target="/ppt/slides/slide12.xml" Id="Rf9bf622a463b49f1" /><Relationship Type="http://schemas.openxmlformats.org/officeDocument/2006/relationships/slide" Target="/ppt/slides/slide13.xml" Id="R8f1753e1ac01466b" /><Relationship Type="http://schemas.openxmlformats.org/officeDocument/2006/relationships/slide" Target="/ppt/slides/slide14.xml" Id="R9311c9b0529c4fbd" /><Relationship Type="http://schemas.openxmlformats.org/officeDocument/2006/relationships/slide" Target="/ppt/slides/slide15.xml" Id="R1442da41abed46de" /><Relationship Type="http://schemas.openxmlformats.org/officeDocument/2006/relationships/slide" Target="/ppt/slides/slide16.xml" Id="Rb8e2e5ef87f94266" /><Relationship Type="http://schemas.openxmlformats.org/officeDocument/2006/relationships/slide" Target="/ppt/slides/slide17.xml" Id="R1c235920f67d4cdf" /><Relationship Type="http://schemas.openxmlformats.org/officeDocument/2006/relationships/slide" Target="/ppt/slides/slide18.xml" Id="Rfff77cb8908e4104" /><Relationship Type="http://schemas.openxmlformats.org/officeDocument/2006/relationships/slide" Target="/ppt/slides/slide19.xml" Id="Rc1140d09b4004386" /><Relationship Type="http://schemas.openxmlformats.org/officeDocument/2006/relationships/slide" Target="/ppt/slides/slide20.xml" Id="Re595175049ae4422" /><Relationship Type="http://schemas.openxmlformats.org/officeDocument/2006/relationships/slide" Target="/ppt/slides/slide21.xml" Id="Ra755cfe469a54cac" /><Relationship Type="http://schemas.openxmlformats.org/officeDocument/2006/relationships/slide" Target="/ppt/slides/slide22.xml" Id="R9867ec851ef1485b" /><Relationship Type="http://schemas.openxmlformats.org/officeDocument/2006/relationships/slide" Target="/ppt/slides/slide23.xml" Id="R93f41922c4fe43d7" /><Relationship Type="http://schemas.openxmlformats.org/officeDocument/2006/relationships/slide" Target="/ppt/slides/slide24.xml" Id="Rc27cdbd553f34dc4" /><Relationship Type="http://schemas.openxmlformats.org/officeDocument/2006/relationships/slide" Target="/ppt/slides/slide25.xml" Id="Rdecbcdd5b1e148af" /><Relationship Type="http://schemas.openxmlformats.org/officeDocument/2006/relationships/slide" Target="/ppt/slides/slide26.xml" Id="Rd94df06bfff5453c" /><Relationship Type="http://schemas.openxmlformats.org/officeDocument/2006/relationships/slide" Target="/ppt/slides/slide27.xml" Id="Ra024df77072045e7" /><Relationship Type="http://schemas.openxmlformats.org/officeDocument/2006/relationships/slide" Target="/ppt/slides/slide28.xml" Id="Ra79c38d4d3164fc9" /><Relationship Type="http://schemas.openxmlformats.org/officeDocument/2006/relationships/slide" Target="/ppt/slides/slide29.xml" Id="R94182f873bdf4466" /><Relationship Type="http://schemas.openxmlformats.org/officeDocument/2006/relationships/slide" Target="/ppt/slides/slide30.xml" Id="Rb7557a3e6a3c46f9" /><Relationship Type="http://schemas.openxmlformats.org/officeDocument/2006/relationships/slide" Target="/ppt/slides/slide31.xml" Id="Rdb1cfe8d9b874f72" /><Relationship Type="http://schemas.openxmlformats.org/officeDocument/2006/relationships/slide" Target="/ppt/slides/slide32.xml" Id="R204f926d38a14e09" /><Relationship Type="http://schemas.openxmlformats.org/officeDocument/2006/relationships/slide" Target="/ppt/slides/slide33.xml" Id="R2d88e8aade3948d1" /><Relationship Type="http://schemas.openxmlformats.org/officeDocument/2006/relationships/slide" Target="/ppt/slides/slide34.xml" Id="R2fa99cad6a96494a" /><Relationship Type="http://schemas.openxmlformats.org/officeDocument/2006/relationships/slide" Target="/ppt/slides/slide35.xml" Id="R5e7b91e2c1ee41b2" /><Relationship Type="http://schemas.openxmlformats.org/officeDocument/2006/relationships/slide" Target="/ppt/slides/slide36.xml" Id="Rd6f2b9ef236b45af" /><Relationship Type="http://schemas.openxmlformats.org/officeDocument/2006/relationships/slide" Target="/ppt/slides/slide37.xml" Id="R900366c8bd31470c" /><Relationship Type="http://schemas.openxmlformats.org/officeDocument/2006/relationships/slide" Target="/ppt/slides/slide38.xml" Id="Rd2d6b288aaba4cf6" /><Relationship Type="http://schemas.openxmlformats.org/officeDocument/2006/relationships/slide" Target="/ppt/slides/slide39.xml" Id="R8b054de87a7f49e6" /><Relationship Type="http://schemas.openxmlformats.org/officeDocument/2006/relationships/slide" Target="/ppt/slides/slide40.xml" Id="Ra91613b9718849df" /><Relationship Type="http://schemas.openxmlformats.org/officeDocument/2006/relationships/slide" Target="/ppt/slides/slide41.xml" Id="R70d22f512a1443b2" /><Relationship Type="http://schemas.openxmlformats.org/officeDocument/2006/relationships/slide" Target="/ppt/slides/slide42.xml" Id="R55188e035ddf4056" /><Relationship Type="http://schemas.openxmlformats.org/officeDocument/2006/relationships/slide" Target="/ppt/slides/slide43.xml" Id="R175d00ed225a4ec9" /><Relationship Type="http://schemas.openxmlformats.org/officeDocument/2006/relationships/slide" Target="/ppt/slides/slide44.xml" Id="R37177df6721d4486" /><Relationship Type="http://schemas.openxmlformats.org/officeDocument/2006/relationships/slide" Target="/ppt/slides/slide45.xml" Id="R86189a343c424f06" /><Relationship Type="http://schemas.openxmlformats.org/officeDocument/2006/relationships/slide" Target="/ppt/slides/slide46.xml" Id="R83c417141ea74e5a" /><Relationship Type="http://schemas.openxmlformats.org/officeDocument/2006/relationships/slide" Target="/ppt/slides/slide47.xml" Id="R677965c993b340c1" /><Relationship Type="http://schemas.openxmlformats.org/officeDocument/2006/relationships/slide" Target="/ppt/slides/slide48.xml" Id="R080e38718e044220" /><Relationship Type="http://schemas.openxmlformats.org/officeDocument/2006/relationships/slide" Target="/ppt/slides/slide49.xml" Id="R72c9bb560a564968" /><Relationship Type="http://schemas.openxmlformats.org/officeDocument/2006/relationships/slide" Target="/ppt/slides/slide50.xml" Id="R36ec7bcbe87742dc" /><Relationship Type="http://schemas.openxmlformats.org/officeDocument/2006/relationships/slide" Target="/ppt/slides/slide51.xml" Id="R98a0188045cd4e2e" /><Relationship Type="http://schemas.openxmlformats.org/officeDocument/2006/relationships/slide" Target="/ppt/slides/slide52.xml" Id="Re078bbbc17d143fb" /><Relationship Type="http://schemas.openxmlformats.org/officeDocument/2006/relationships/slide" Target="/ppt/slides/slide53.xml" Id="Rf896c13c1d564af2" /><Relationship Type="http://schemas.openxmlformats.org/officeDocument/2006/relationships/slide" Target="/ppt/slides/slide54.xml" Id="R25d184dfc3264675" /><Relationship Type="http://schemas.openxmlformats.org/officeDocument/2006/relationships/slide" Target="/ppt/slides/slide55.xml" Id="Rd5afd995d16841fb" /><Relationship Type="http://schemas.openxmlformats.org/officeDocument/2006/relationships/slide" Target="/ppt/slides/slide56.xml" Id="R4505abf5b874447d" /><Relationship Type="http://schemas.openxmlformats.org/officeDocument/2006/relationships/slide" Target="/ppt/slides/slide57.xml" Id="Rb2748f85a86744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0b9d925add4a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3452a59224460a" /><Relationship Type="http://schemas.openxmlformats.org/officeDocument/2006/relationships/notesMaster" Target="/ppt/notesMasters/notesMaster1.xml" Id="R7fd43d8950bb44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fee79daa03429f" /><Relationship Type="http://schemas.openxmlformats.org/officeDocument/2006/relationships/notesMaster" Target="/ppt/notesMasters/notesMaster1.xml" Id="R9deef8ffae0945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b2fb2158e04aad" /><Relationship Type="http://schemas.openxmlformats.org/officeDocument/2006/relationships/notesMaster" Target="/ppt/notesMasters/notesMaster1.xml" Id="R388a5d9aead44f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11e72eced342fc" /><Relationship Type="http://schemas.openxmlformats.org/officeDocument/2006/relationships/notesMaster" Target="/ppt/notesMasters/notesMaster1.xml" Id="Rf56a577174714c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0ef6961ff248d5" /><Relationship Type="http://schemas.openxmlformats.org/officeDocument/2006/relationships/notesMaster" Target="/ppt/notesMasters/notesMaster1.xml" Id="Rf4b9dfc5c7d646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c93a96c41c4624" /><Relationship Type="http://schemas.openxmlformats.org/officeDocument/2006/relationships/notesMaster" Target="/ppt/notesMasters/notesMaster1.xml" Id="Rcd79692faed149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f0e9de9b154e0a" /><Relationship Type="http://schemas.openxmlformats.org/officeDocument/2006/relationships/notesMaster" Target="/ppt/notesMasters/notesMaster1.xml" Id="R11d1f6c0845049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1c8c99ad004951" /><Relationship Type="http://schemas.openxmlformats.org/officeDocument/2006/relationships/notesMaster" Target="/ppt/notesMasters/notesMaster1.xml" Id="Rb93a354603f04f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0e7d858e6a4c37" /><Relationship Type="http://schemas.openxmlformats.org/officeDocument/2006/relationships/notesMaster" Target="/ppt/notesMasters/notesMaster1.xml" Id="R5dfb4f1e14004f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2fde62942044c6" /><Relationship Type="http://schemas.openxmlformats.org/officeDocument/2006/relationships/notesMaster" Target="/ppt/notesMasters/notesMaster1.xml" Id="Rcb5fa1369ae548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f0799ad3454fe4" /><Relationship Type="http://schemas.openxmlformats.org/officeDocument/2006/relationships/notesMaster" Target="/ppt/notesMasters/notesMaster1.xml" Id="Rdf2727e7c92d43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2f5995c2c04f09" /><Relationship Type="http://schemas.openxmlformats.org/officeDocument/2006/relationships/notesMaster" Target="/ppt/notesMasters/notesMaster1.xml" Id="R65630cf3c9a84a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101c1d96d5463e" /><Relationship Type="http://schemas.openxmlformats.org/officeDocument/2006/relationships/notesMaster" Target="/ppt/notesMasters/notesMaster1.xml" Id="Rf1d778761d5444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0b86f1c40147f7" /><Relationship Type="http://schemas.openxmlformats.org/officeDocument/2006/relationships/notesMaster" Target="/ppt/notesMasters/notesMaster1.xml" Id="Rd890acd719fb46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fcd656aad24f69" /><Relationship Type="http://schemas.openxmlformats.org/officeDocument/2006/relationships/notesMaster" Target="/ppt/notesMasters/notesMaster1.xml" Id="R656298e6a3d941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30ab9513bd4f3b" /><Relationship Type="http://schemas.openxmlformats.org/officeDocument/2006/relationships/notesMaster" Target="/ppt/notesMasters/notesMaster1.xml" Id="Ra54e488c33c948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45ba91ed534623" /><Relationship Type="http://schemas.openxmlformats.org/officeDocument/2006/relationships/notesMaster" Target="/ppt/notesMasters/notesMaster1.xml" Id="R607e299f072a4e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ab19c7dcf248b1" /><Relationship Type="http://schemas.openxmlformats.org/officeDocument/2006/relationships/notesMaster" Target="/ppt/notesMasters/notesMaster1.xml" Id="Reb24b6e7205141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9d91ae74da4ad5" /><Relationship Type="http://schemas.openxmlformats.org/officeDocument/2006/relationships/notesMaster" Target="/ppt/notesMasters/notesMaster1.xml" Id="R7073371934ed42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5f937dc308f49d3" /><Relationship Type="http://schemas.openxmlformats.org/officeDocument/2006/relationships/notesMaster" Target="/ppt/notesMasters/notesMaster1.xml" Id="R07f09834630b4d1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2c39245aa24f11" /><Relationship Type="http://schemas.openxmlformats.org/officeDocument/2006/relationships/notesMaster" Target="/ppt/notesMasters/notesMaster1.xml" Id="Rd80b4ecf61c1400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6344dee9f8476f" /><Relationship Type="http://schemas.openxmlformats.org/officeDocument/2006/relationships/notesMaster" Target="/ppt/notesMasters/notesMaster1.xml" Id="Rf91aa5938e9746a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1f661fb6554ebf" /><Relationship Type="http://schemas.openxmlformats.org/officeDocument/2006/relationships/notesMaster" Target="/ppt/notesMasters/notesMaster1.xml" Id="R1a32296e57364e5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66dd2de9a80459d" /><Relationship Type="http://schemas.openxmlformats.org/officeDocument/2006/relationships/notesMaster" Target="/ppt/notesMasters/notesMaster1.xml" Id="Re932c11b652c482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e634f34c25b49f1" /><Relationship Type="http://schemas.openxmlformats.org/officeDocument/2006/relationships/notesMaster" Target="/ppt/notesMasters/notesMaster1.xml" Id="R936a4731f33b4d2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d2c6794464742d1" /><Relationship Type="http://schemas.openxmlformats.org/officeDocument/2006/relationships/notesMaster" Target="/ppt/notesMasters/notesMaster1.xml" Id="R0ef261b7615143d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3b78026c2c14718" /><Relationship Type="http://schemas.openxmlformats.org/officeDocument/2006/relationships/notesMaster" Target="/ppt/notesMasters/notesMaster1.xml" Id="R77f60833c74948b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f33265a167e4df3" /><Relationship Type="http://schemas.openxmlformats.org/officeDocument/2006/relationships/notesMaster" Target="/ppt/notesMasters/notesMaster1.xml" Id="Rf8c92e1d7f5d43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cbc387e3f184fc5" /><Relationship Type="http://schemas.openxmlformats.org/officeDocument/2006/relationships/notesMaster" Target="/ppt/notesMasters/notesMaster1.xml" Id="Rdc5bf8fd231949d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b560b72659948fc" /><Relationship Type="http://schemas.openxmlformats.org/officeDocument/2006/relationships/notesMaster" Target="/ppt/notesMasters/notesMaster1.xml" Id="R384fee6de55b498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8a0d51c2aec4ee4" /><Relationship Type="http://schemas.openxmlformats.org/officeDocument/2006/relationships/notesMaster" Target="/ppt/notesMasters/notesMaster1.xml" Id="R731ec78a4221444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9b454f99cd74a23" /><Relationship Type="http://schemas.openxmlformats.org/officeDocument/2006/relationships/notesMaster" Target="/ppt/notesMasters/notesMaster1.xml" Id="Rfb1b243d1e6348d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c09a38d6c764b84" /><Relationship Type="http://schemas.openxmlformats.org/officeDocument/2006/relationships/notesMaster" Target="/ppt/notesMasters/notesMaster1.xml" Id="R61a34a3ecd2c48c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7cc26333ebe46c1" /><Relationship Type="http://schemas.openxmlformats.org/officeDocument/2006/relationships/notesMaster" Target="/ppt/notesMasters/notesMaster1.xml" Id="R0e5717bc5cb848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37c23c1f1dc45f5" /><Relationship Type="http://schemas.openxmlformats.org/officeDocument/2006/relationships/notesMaster" Target="/ppt/notesMasters/notesMaster1.xml" Id="R16fe9faf1b8f40a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dd3cff8f6e64b2c" /><Relationship Type="http://schemas.openxmlformats.org/officeDocument/2006/relationships/notesMaster" Target="/ppt/notesMasters/notesMaster1.xml" Id="Rb8fd708157ff452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dcefc14dacc42f9" /><Relationship Type="http://schemas.openxmlformats.org/officeDocument/2006/relationships/notesMaster" Target="/ppt/notesMasters/notesMaster1.xml" Id="Rf26c9472ad3c490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8d265196b3e452c" /><Relationship Type="http://schemas.openxmlformats.org/officeDocument/2006/relationships/notesMaster" Target="/ppt/notesMasters/notesMaster1.xml" Id="R2338fbe6fc804aa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89d0ba439c34ff2" /><Relationship Type="http://schemas.openxmlformats.org/officeDocument/2006/relationships/notesMaster" Target="/ppt/notesMasters/notesMaster1.xml" Id="Rfbc5aea4e0a34e2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1c1916220564989" /><Relationship Type="http://schemas.openxmlformats.org/officeDocument/2006/relationships/notesMaster" Target="/ppt/notesMasters/notesMaster1.xml" Id="Racb579f8f9d1463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ba23784c1e94336" /><Relationship Type="http://schemas.openxmlformats.org/officeDocument/2006/relationships/notesMaster" Target="/ppt/notesMasters/notesMaster1.xml" Id="Rab16ee8f23e941a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bb0827b5f99420e" /><Relationship Type="http://schemas.openxmlformats.org/officeDocument/2006/relationships/notesMaster" Target="/ppt/notesMasters/notesMaster1.xml" Id="R6d6c04c3dac04b9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35e032051704ed1" /><Relationship Type="http://schemas.openxmlformats.org/officeDocument/2006/relationships/notesMaster" Target="/ppt/notesMasters/notesMaster1.xml" Id="R1eb2a2b6c8384f4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53b00ffa5414e42" /><Relationship Type="http://schemas.openxmlformats.org/officeDocument/2006/relationships/notesMaster" Target="/ppt/notesMasters/notesMaster1.xml" Id="Re594f708766b4de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b66c3fef7434dd8" /><Relationship Type="http://schemas.openxmlformats.org/officeDocument/2006/relationships/notesMaster" Target="/ppt/notesMasters/notesMaster1.xml" Id="R892950151816476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1ce54f366a64c64" /><Relationship Type="http://schemas.openxmlformats.org/officeDocument/2006/relationships/notesMaster" Target="/ppt/notesMasters/notesMaster1.xml" Id="R6dc2bdbe4b83431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3f006bc5cdf4493" /><Relationship Type="http://schemas.openxmlformats.org/officeDocument/2006/relationships/notesMaster" Target="/ppt/notesMasters/notesMaster1.xml" Id="Rcbc0bef6f04b48f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cd5ea32d6944f18" /><Relationship Type="http://schemas.openxmlformats.org/officeDocument/2006/relationships/notesMaster" Target="/ppt/notesMasters/notesMaster1.xml" Id="Rb5a4a27b4d914601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1690fc54aa54e5a" /><Relationship Type="http://schemas.openxmlformats.org/officeDocument/2006/relationships/notesMaster" Target="/ppt/notesMasters/notesMaster1.xml" Id="R6fcf0368cf1648d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31b705a57c04006" /><Relationship Type="http://schemas.openxmlformats.org/officeDocument/2006/relationships/notesMaster" Target="/ppt/notesMasters/notesMaster1.xml" Id="R1b453a9ac96946d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4aadf928263467c" /><Relationship Type="http://schemas.openxmlformats.org/officeDocument/2006/relationships/notesMaster" Target="/ppt/notesMasters/notesMaster1.xml" Id="Re811f606731f402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0ada37c78a142b5" /><Relationship Type="http://schemas.openxmlformats.org/officeDocument/2006/relationships/notesMaster" Target="/ppt/notesMasters/notesMaster1.xml" Id="Rce0d174858fc497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4c48203487447c3" /><Relationship Type="http://schemas.openxmlformats.org/officeDocument/2006/relationships/notesMaster" Target="/ppt/notesMasters/notesMaster1.xml" Id="Rfa9987eef9db4ea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1a3a272248d94939" /><Relationship Type="http://schemas.openxmlformats.org/officeDocument/2006/relationships/notesMaster" Target="/ppt/notesMasters/notesMaster1.xml" Id="R1464a89fc04a4bd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40b7a81a093423c" /><Relationship Type="http://schemas.openxmlformats.org/officeDocument/2006/relationships/notesMaster" Target="/ppt/notesMasters/notesMaster1.xml" Id="R7eb8ebcaf72f422a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3cbca036c864bb3" /><Relationship Type="http://schemas.openxmlformats.org/officeDocument/2006/relationships/notesMaster" Target="/ppt/notesMasters/notesMaster1.xml" Id="R87c7b27f3a07456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dc78a3787344a38" /><Relationship Type="http://schemas.openxmlformats.org/officeDocument/2006/relationships/notesMaster" Target="/ppt/notesMasters/notesMaster1.xml" Id="R978d895e20ce4e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、各位同学，大家好！我是东北大学机械工程与自动化学院的魏鹏宇。今天汇报小样本三参数Weibull参数估计方法的比较与选择。第一部分梳理方法原理及相互联系；第二部分在共同样本上比较代表方法，分析性能现象并解释典型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封面姓名依用户2026-10-23本轮指令：报告人魏鹏宇；另列谢里阳、陈鉴朋、孙伟侨。原报告内旧署名不因此改动。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三参数Weibull参数估计方法的路线图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报告上（方法路线图）v2.3｜更新：2026-10-23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魏鹏宇｜东北大学机械工程与自动化学院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分会场3：装备寿命与可靠性评估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各位老师、各位同学，大家好！我是东北大学机械工程与自动化学院的在读博士生魏鹏宇。今天汇报的题目是《小样本三参数Weibull参数估计方法的比较与选择》。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汇报分为两部分。第一部分梳理现有方法的估计原理，通过五条路线及方法间关系形成一张参数估计方法的路线图；第二部分在共同样本上比较代表方法，分析它们在小样本下的偏差、波动、异常输出和失败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1　路线与方法总览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从总图看方法的位置。五条浅色路线分别表示似然构造与优化、分布关系匹配、统计特征关系匹配与反演、贝叶斯后验推断，以及学习型参数映射。具体方法沿对应路线展开；跨路线组合连接它们实际采用的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图2｜由估计机制组成路线骨架，再接入具体方法。 五种浅色背景界定路线范围，色块内展示完整采用相应机制的方法；跨路线组合放在区域之间或按实际阶段连接不同区域。每条路线先给出统计对象及确定参数的机制，具体方法连接到采用或改变的环节。实心箭头表示沿袭或修正，虚线表示有条件的数学联系，点划线表示借用或组合，细空心箭头表示机制接入及方法内部过程；金色节点对应本次比较的七种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方法名称统一列出简称、中文名称与对应构造的文献年份，作者在独立一列中完整列出。通用名称或尚未确认的时间记为“待核”；改进版本使用各自出处年份。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路线／组合 | 简称／原标识 | 中文名称 | 文献年份 | 作者 |</a:t>
            </a:r>
          </a:p>
          <a:p xmlns:a="http://schemas.openxmlformats.org/drawingml/2006/main">
            <a:r>
              <a:t>|---|---|---|---|---|</a:t>
            </a:r>
          </a:p>
          <a:p xmlns:a="http://schemas.openxmlformats.org/drawingml/2006/main">
            <a:r>
              <a:t>| 似然构造与优化 | MLE | 极大似然估计 | 待核 | — |</a:t>
            </a:r>
          </a:p>
          <a:p xmlns:a="http://schemas.openxmlformats.org/drawingml/2006/main">
            <a:r>
              <a:t>| 似然构造与优化 | CMLE | 区间概率修正似然 | 1987 | Cheng、Iles |</a:t>
            </a:r>
          </a:p>
          <a:p xmlns:a="http://schemas.openxmlformats.org/drawingml/2006/main">
            <a:r>
              <a:t>| 似然构造与优化 | Firth | 得分偏差修正 | 1993 | Firth |</a:t>
            </a:r>
          </a:p>
          <a:p xmlns:a="http://schemas.openxmlformats.org/drawingml/2006/main">
            <a:r>
              <a:t>| 似然构造与优化 | DMMLE | 双重修正极大似然 | 2025 | da Silva、Quintino、Almeida、Aguiar |</a:t>
            </a:r>
          </a:p>
          <a:p xmlns:a="http://schemas.openxmlformats.org/drawingml/2006/main">
            <a:r>
              <a:t>| 似然构造与优化 | MLE2 | 二参数极大似然 | 待核 | — |</a:t>
            </a:r>
          </a:p>
          <a:p xmlns:a="http://schemas.openxmlformats.org/drawingml/2006/main">
            <a:r>
              <a:t>| 似然构造与优化 | Jacquelin | 二参数加权代数构造 | 1993 | Jacquelin |</a:t>
            </a:r>
          </a:p>
          <a:p xmlns:a="http://schemas.openxmlformats.org/drawingml/2006/main">
            <a:r>
              <a:t>| 似然构造与优化 | WMLE | 加权极大似然 | 2009 | Cousineau |</a:t>
            </a:r>
          </a:p>
          <a:p xmlns:a="http://schemas.openxmlformats.org/drawingml/2006/main">
            <a:r>
              <a:t>| 似然构造与优化 | WMLE | 形状偏差修正 | 2024 | 杨小玉、谢里阳、杨奕凤、赵丙峰、李元 |</a:t>
            </a:r>
          </a:p>
          <a:p xmlns:a="http://schemas.openxmlformats.org/drawingml/2006/main">
            <a:r>
              <a:t>| 似然构造与优化 | Smith | 最小值定位删点 | 1985 | Smith |</a:t>
            </a:r>
          </a:p>
          <a:p xmlns:a="http://schemas.openxmlformats.org/drawingml/2006/main">
            <a:r>
              <a:t>| 似然构造与优化 | MMLE | 删最小值修正似然 | 2009 | Kundu、Raqab |</a:t>
            </a:r>
          </a:p>
          <a:p xmlns:a="http://schemas.openxmlformats.org/drawingml/2006/main">
            <a:r>
              <a:t>| 似然构造与优化 | LPF | 去位置统计量似然 | 2015 | Nagatsuka、Balakrishnan |</a:t>
            </a:r>
          </a:p>
          <a:p xmlns:a="http://schemas.openxmlformats.org/drawingml/2006/main">
            <a:r>
              <a:t>| 分布关系匹配 | White | 概率图分数回归 | 1969 | White |</a:t>
            </a:r>
          </a:p>
          <a:p xmlns:a="http://schemas.openxmlformats.org/drawingml/2006/main">
            <a:r>
              <a:t>| 分布关系匹配 | LSE | 位置评分最小二乘 | 1992 | Soman、Misra |</a:t>
            </a:r>
          </a:p>
          <a:p xmlns:a="http://schemas.openxmlformats.org/drawingml/2006/main">
            <a:r>
              <a:t>| 分布关系匹配 | Lipson–Sheth | 概率图相关性定位 | 1973 | Lipson、Sheth |</a:t>
            </a:r>
          </a:p>
          <a:p xmlns:a="http://schemas.openxmlformats.org/drawingml/2006/main">
            <a:r>
              <a:t>| 分布关系匹配 | LRE | 相关定位与回归 | 2017 | Park |</a:t>
            </a:r>
          </a:p>
          <a:p xmlns:a="http://schemas.openxmlformats.org/drawingml/2006/main">
            <a:r>
              <a:t>| 分布关系匹配 | MDM | 最小差异估计 | 2023 | Xie、Wu、Yang |</a:t>
            </a:r>
          </a:p>
          <a:p xmlns:a="http://schemas.openxmlformats.org/drawingml/2006/main">
            <a:r>
              <a:t>| 分布关系匹配 | MPS | 极大乘积间距 | 1983 | Cheng、Amin |</a:t>
            </a:r>
          </a:p>
          <a:p xmlns:a="http://schemas.openxmlformats.org/drawingml/2006/main">
            <a:r>
              <a:t>| 分布关系匹配 | QMP | 分位数组概率估计 | 2004 | Heathcote、Brown、Cousineau |</a:t>
            </a:r>
          </a:p>
          <a:p xmlns:a="http://schemas.openxmlformats.org/drawingml/2006/main">
            <a:r>
              <a:t>| 分布关系匹配 | GM | 灰色位置估计 | 待核 | — |</a:t>
            </a:r>
          </a:p>
          <a:p xmlns:a="http://schemas.openxmlformats.org/drawingml/2006/main">
            <a:r>
              <a:t>| 分布关系匹配 | GM–noise SVR | 灰色与噪声SVR估计 | 2021 | 王贺、吴振博、徐添、王志强、刘超 |</a:t>
            </a:r>
          </a:p>
          <a:p xmlns:a="http://schemas.openxmlformats.org/drawingml/2006/main">
            <a:r>
              <a:t>| 统计关系匹配与反演 | MM | 威布尔矩显式估计 | 1988 | Cran |</a:t>
            </a:r>
          </a:p>
          <a:p xmlns:a="http://schemas.openxmlformats.org/drawingml/2006/main">
            <a:r>
              <a:t>| 统计关系匹配与反演 | PWM | 概率加权矩估计 | 1979 | Greenwood、Landwehr、Matalas、Wallis |</a:t>
            </a:r>
          </a:p>
          <a:p xmlns:a="http://schemas.openxmlformats.org/drawingml/2006/main">
            <a:r>
              <a:t>| 统计关系匹配与反演 | LM | L矩估计 | 1990 | Hosking |</a:t>
            </a:r>
          </a:p>
          <a:p xmlns:a="http://schemas.openxmlformats.org/drawingml/2006/main">
            <a:r>
              <a:t>| 统计关系匹配与反演 | TLM | 截尾L矩估计 | 2003 | Elamir、Seheult |</a:t>
            </a:r>
          </a:p>
          <a:p xmlns:a="http://schemas.openxmlformats.org/drawingml/2006/main">
            <a:r>
              <a:t>| 统计关系匹配与反演 | MVLE-H | 倒数形状线性组合 | 2020 | Ogura、Sugiyama、Sugiura |</a:t>
            </a:r>
          </a:p>
          <a:p xmlns:a="http://schemas.openxmlformats.org/drawingml/2006/main">
            <a:r>
              <a:t>| 统计关系匹配与反演 | W均值匹配 | W均值匹配估计 | 2003 | Nagatsuka、Kamakura |</a:t>
            </a:r>
          </a:p>
          <a:p xmlns:a="http://schemas.openxmlformats.org/drawingml/2006/main">
            <a:r>
              <a:t>| 统计关系匹配与反演 | 分位数／枢轴反演 | 统计关系反演 | 待核 | — |</a:t>
            </a:r>
          </a:p>
          <a:p xmlns:a="http://schemas.openxmlformats.org/drawingml/2006/main">
            <a:r>
              <a:t>| 统计关系匹配与反演 | MVLUE | 条件位置线性无偏估计 | 2019 | Sugiyama、Ogura、Sugiyama |</a:t>
            </a:r>
          </a:p>
          <a:p xmlns:a="http://schemas.openxmlformats.org/drawingml/2006/main">
            <a:r>
              <a:t>| 贝叶斯后验推断 | Bayes | 联合后验与条件抽样 | 1994 | Green、Roesch、Smith、Strawderman |</a:t>
            </a:r>
          </a:p>
          <a:p xmlns:a="http://schemas.openxmlformats.org/drawingml/2006/main">
            <a:r>
              <a:t>| 贝叶斯后验推断 | Bayes | 位置MH更新后验估计 | 2022 | Teimouri |</a:t>
            </a:r>
          </a:p>
          <a:p xmlns:a="http://schemas.openxmlformats.org/drawingml/2006/main">
            <a:r>
              <a:t>| 学习型参数映射 | ANN | 神经网络直接估计 | 2008 | Abbasi、Rabelo、Hosseinkouchack |</a:t>
            </a:r>
          </a:p>
          <a:p xmlns:a="http://schemas.openxmlformats.org/drawingml/2006/main">
            <a:r>
              <a:t>| 学习型参数映射 | BPNN | 反向传播网络直接估计 | 2025 | Yang、Xie、Chen、Zhao、Wang |</a:t>
            </a:r>
          </a:p>
          <a:p xmlns:a="http://schemas.openxmlformats.org/drawingml/2006/main">
            <a:r>
              <a:t>| 跨路线组合 | MMLE | 辅助关系修正似然 | 1982 | Cohen、Whitten |</a:t>
            </a:r>
          </a:p>
          <a:p xmlns:a="http://schemas.openxmlformats.org/drawingml/2006/main">
            <a:r>
              <a:t>| 跨路线组合 | Proposed+MLE2 | 相关定位与条件似然 | 2017 | Park |</a:t>
            </a:r>
          </a:p>
          <a:p xmlns:a="http://schemas.openxmlformats.org/drawingml/2006/main">
            <a:r>
              <a:t>| 跨路线组合 | Yang迭代 | 回归与位置修正迭代 | 2023 | 杨小玉、宋佳昕、谢里阳、赵丙峰 |</a:t>
            </a:r>
          </a:p>
          <a:p xmlns:a="http://schemas.openxmlformats.org/drawingml/2006/main">
            <a:r>
              <a:t>| 跨路线组合 | Mixed | 形状与统计关系组合 | 2009 | Cousineau |</a:t>
            </a:r>
          </a:p>
          <a:p xmlns:a="http://schemas.openxmlformats.org/drawingml/2006/main">
            <a:r>
              <a:t>| 跨路线组合 | 初始失效期迭代 | 位置与二参数恢复迭代 | 2025 | Tsukada、Sugiyama、Ogura |</a:t>
            </a:r>
          </a:p>
          <a:p xmlns:a="http://schemas.openxmlformats.org/drawingml/2006/main">
            <a:r>
              <a:t>| 跨路线组合 | MVLE-H | 临时形状与超参数扩展 | 2022 | Sugiyama、Ogura |</a:t>
            </a:r>
          </a:p>
          <a:p xmlns:a="http://schemas.openxmlformats.org/drawingml/2006/main">
            <a:r>
              <a:t>| 跨路线组合 | LSPF | 去位置尺度统计量似然 | 2013 | Nagatsuka、Kamakura、Balakrishnan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名称、版本与年份依据见方法名称与年份口径。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图源：D:\weibull\Study\04-study-小样本三参数Weibull估计方法比较与选择\方法分类\机制图-v2.2\预览\06-完整机理地图-估计路线与方法关系.svg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2　归纳路线的依据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有名称之所以显得杂，是因为它们分别强调了不同内容：有的强调观测密度，有的强调概率图或概率间距，有的强调矩和次序统计量，有的强调先验和后验，有的强调训练映射；加权、偏差修正、位置处理和数值搜索又会横跨这些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理解一种方法，先连续回答两个问题：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样本信息： 从样本中提取什么，是观测处的密度、经验分布、概率间距、矩、分位数、次序统计量、不变统计量，还是训练样本中的特征。</a:t>
            </a:r>
          </a:p>
          <a:p xmlns:a="http://schemas.openxmlformats.org/drawingml/2006/main">
            <a:r>
              <a:t>2. 参数确定原则： 怎样把这些信息变成三个参数，是最大化似然、最小化分布偏离、匹配概率结构、反演理论统计关系、更新后验，还是学习样本到参数的映射。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加权、偏差修正、位置处理、边界约束、数值求解和跨路线组合则说明变化发生在哪个环节。其中有些会改变统计构造，有些服务于既定准则的计算，需要按实际步骤区分。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据此，可以从似然构造与优化、分布关系匹配、统计特征关系匹配与反演、贝叶斯后验推断以及学习型参数映射五条路线理解现有方法。路线体现不同的参数确定机制；具体方法可以完整采用一种机制，也可以通过统计量构造、参数消除、分阶段估计或组合准则连接多条路线。我们建立的是参数估计方法的路线图，目的是揭示估计原理、构造特征及其相互联系，不要求每个方法只能归入一个类别，也不以选出唯一主要归属作为进入地图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五条路线各自回答：样本形成什么对象，哪一种机制据此确定参数？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路线 | 从样本构造什么 | 据此怎样确定参数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一：似然构造与优化 | 样本或所选统计量在候选参数下的联合密度，形成似然函数 | 最大化似然或相应的修正准则；方程修正按其实际构造说明 |</a:t>
            </a:r>
          </a:p>
          <a:p xmlns:a="http://schemas.openxmlformats.org/drawingml/2006/main">
            <a:r>
              <a:t>| 二：分布关系匹配 | 经验分布、绘图概率、概率间距或其他分布表示 | 依据指定的拟合准则，在表示、残差、概率结构或一致性关系上确定参数 |</a:t>
            </a:r>
          </a:p>
          <a:p xmlns:a="http://schemas.openxmlformats.org/drawingml/2006/main">
            <a:r>
              <a:t>| 三：统计特征关系匹配与反演 | 矩、分位数、次序统计量等选定特征，以及它们与参数的理论关系 | 通过匹配、消元、求解或反演识别参数，再恢复其余参数 |</a:t>
            </a:r>
          </a:p>
          <a:p xmlns:a="http://schemas.openxmlformats.org/drawingml/2006/main">
            <a:r>
              <a:t>| 四：贝叶斯后验推断 | 样本似然与先验结合形成的参数后验分布 | 依据后验分布及相应的决策规则给出估计 |</a:t>
            </a:r>
          </a:p>
          <a:p xmlns:a="http://schemas.openxmlformats.org/drawingml/2006/main">
            <a:r>
              <a:t>| 五：学习型参数映射 | 多组具有已知参数标签的训练样本及其特征 | 学习样本或特征到参数的映射，固定映射后用于新样本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，同一组排序寿命可以用于构造似然，也可以转成概率图坐标或矩。分布关系匹配围绕样本的分布表示及其拟合准则展开；统计特征关系匹配与反演围绕选定特征与理论参数关系展开。贝叶斯推断使用似然，但最终估计还取决于先验和后验决策；学习型映射也可使用矩特征，但参数映射来自多组带标签样本的训练。所用材料相同，并不意味着参数确定机制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PF就是一个需要沿过程阅读的例子：先用W变换消除位置与尺度，再由内部W统计量的联合密度构造形状似然，最后依据位置修正和尺度恢复关系补齐参数。统计量构造、似然估计和统计关系恢复在同一方法中相接。后面先分别解释这些机制，再回到完整地图看它们如何连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3　路线一：似然构造与优化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这条路线先由固定样本构造整体似然函数，再通过最大化似然或相应的修正准则估计参数。对独立同分布完整样本 $D=(x_1,\ldots,x_n)$，三参数联合似然为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$$L(\beta,\eta,\gamma;D)=\prod_{i=1}^{n}f(x_i;\beta,\eta,\gamma).$$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数据固定后，三个参数共同决定一个似然值：每个参数组合是三维参数空间中的一点，整个参数域上的似然值形成一个标量场。最大似然估计在这个整体函数上寻找最大值；当给定参数域 $\Theta$ 内存在有限最大值时，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$$\widehat\theta_{\mathrm{MLE}}\in\operatorname*{arg\,max}_{\theta\in\Theta}L(\theta;D),\qquad\theta=(\beta,\eta,\gamma).$$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图3a以β、η、γ作为三个坐标，用颜色和等值面表达似然大小，将“构造联合似然”（L1）与“联合最大化”（L2）连起来。为使数值范围便于观察，图中使用相对似然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$$R(\theta)=\exp\{\ell(\theta;D)-\ell_{\star}\},\qquad\ell=\log L,$$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中$\ell_{\star}$为图示参数窗内数值极大点处的对数似然。这个正比例重标保持似然的高低关系和极值位置；等值面连接同一$R$值的参数组合。图中的轨迹是对同一个三参数目标的数值迭代，密度乘积只在入口交代函数怎样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示采用明确的有限参数窗，数值极大点只对应该示例窗。原始三参数似然可能无界，支持边界及有限解存在性仍须核验。取对数、得分方程、剖面求解或数值优化属于实现最大化的途径，得分为零还须区分极大值、其他驻点及边界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观测的密度乘积是这条路线的基本例子。若先变换为统计量，也可以由该统计量的联合密度构造似然；这时必须使用相应的分布，不能不加区分地把相关统计量的边缘密度相乘。LSPF的形状估计就是内部W统计量的联合似然最大化，统计量的选取没有取消其似然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图3a｜把三参数联合似然作为整体函数可视化。 固定同一组样本，三个坐标分别为β、η、γ，颜色和等值面表示相对联合似然R的大小。中央展示三个参数同时变化时的函数景观，数值迭代在同一个联合目标上推进，标记点为示例参数窗内找到的数值极大点。L1用样本与密度乘积构造函数，L2在参数空间中求最大值。示例采用24个固定模拟观测，蓝、绿、橙分别对应R=0.25、0.60、0.85；两个外层等值面在显示窗处截断，三个坐标各按其范围线性缩放。数值样本、参数窗及迭代记录见机制图目录的数值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样本信息 | 参数确定原则 | 实现与改进位置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原始观测或选定统计量的联合密度，以及删失或支持边界信息 | 最大化似然或修正准则；估计方程的求解与修正按具体构造解释 | 似然项替换、方程加权、位置关系替换、边界约束、Firth型修正、局部候选与数值搜索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这个机制再看具体方法，改动位置就清楚了：CMLE替换最小值附近的似然贡献；罚似然引入额外目标因子；Kundu–Raqab先以最小值定位并删除该观测；Cohen–Whitten的不同MMLE分支保留部分方程、以特定统计关系替换其他方程；WMLE对估计方程加权，DMMLE在修改数据后进一步修正得分。修改似然项或估计方程属于统计构造变化，WMLE等不能仅凭名称就认定等同于某个未说明的似然最大化。PSO、模拟退火和差分进化直接搜索既定似然目标时，则承担数值求解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图3b｜核心步骤之下，用小图展开构造差别。 顶部沿用图3a的“L1 构造联合似然→L2 联合最大化”，简化图形细节；下方以删点和平移点列表现最小值定位，以系数变化与辅助关系表现方程修正，以区间概率面积和目标曲线表现目标修改。各方法保留的准则、关键公式与参数恢复在对应小图旁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图源：D:\weibull\Study\04-study-小样本三参数Weibull估计方法比较与选择\方法分类\机制图-v2.2\预览\07-似然估计路线-信息处理流程.svg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3　路线一：似然构造与优化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这条路线先由固定样本构造整体似然函数，再通过最大化似然或相应的修正准则估计参数。对独立同分布完整样本 $D=(x_1,\ldots,x_n)$，三参数联合似然为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$$L(\beta,\eta,\gamma;D)=\prod_{i=1}^{n}f(x_i;\beta,\eta,\gamma).$$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数据固定后，三个参数共同决定一个似然值：每个参数组合是三维参数空间中的一点，整个参数域上的似然值形成一个标量场。最大似然估计在这个整体函数上寻找最大值；当给定参数域 $\Theta$ 内存在有限最大值时，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$$\widehat\theta_{\mathrm{MLE}}\in\operatorname*{arg\,max}_{\theta\in\Theta}L(\theta;D),\qquad\theta=(\beta,\eta,\gamma).$$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图3a以β、η、γ作为三个坐标，用颜色和等值面表达似然大小，将“构造联合似然”（L1）与“联合最大化”（L2）连起来。为使数值范围便于观察，图中使用相对似然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$$R(\theta)=\exp\{\ell(\theta;D)-\ell_{\star}\},\qquad\ell=\log L,$$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中$\ell_{\star}$为图示参数窗内数值极大点处的对数似然。这个正比例重标保持似然的高低关系和极值位置；等值面连接同一$R$值的参数组合。图中的轨迹是对同一个三参数目标的数值迭代，密度乘积只在入口交代函数怎样构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示采用明确的有限参数窗，数值极大点只对应该示例窗。原始三参数似然可能无界，支持边界及有限解存在性仍须核验。取对数、得分方程、剖面求解或数值优化属于实现最大化的途径，得分为零还须区分极大值、其他驻点及边界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始观测的密度乘积是这条路线的基本例子。若先变换为统计量，也可以由该统计量的联合密度构造似然；这时必须使用相应的分布，不能不加区分地把相关统计量的边缘密度相乘。LSPF的形状估计就是内部W统计量的联合似然最大化，统计量的选取没有取消其似然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图3a｜把三参数联合似然作为整体函数可视化。 固定同一组样本，三个坐标分别为β、η、γ，颜色和等值面表示相对联合似然R的大小。中央展示三个参数同时变化时的函数景观，数值迭代在同一个联合目标上推进，标记点为示例参数窗内找到的数值极大点。L1用样本与密度乘积构造函数，L2在参数空间中求最大值。示例采用24个固定模拟观测，蓝、绿、橙分别对应R=0.25、0.60、0.85；两个外层等值面在显示窗处截断，三个坐标各按其范围线性缩放。数值样本、参数窗及迭代记录见机制图目录的数值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样本信息 | 参数确定原则 | 实现与改进位置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原始观测或选定统计量的联合密度，以及删失或支持边界信息 | 最大化似然或修正准则；估计方程的求解与修正按具体构造解释 | 似然项替换、方程加权、位置关系替换、边界约束、Firth型修正、局部候选与数值搜索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这个机制再看具体方法，改动位置就清楚了：CMLE替换最小值附近的似然贡献；罚似然引入额外目标因子；Kundu–Raqab先以最小值定位并删除该观测；Cohen–Whitten的不同MMLE分支保留部分方程、以特定统计关系替换其他方程；WMLE对估计方程加权，DMMLE在修改数据后进一步修正得分。修改似然项或估计方程属于统计构造变化，WMLE等不能仅凭名称就认定等同于某个未说明的似然最大化。PSO、模拟退火和差分进化直接搜索既定似然目标时，则承担数值求解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图3b｜核心步骤之下，用小图展开构造差别。 顶部沿用图3a的“L1 构造联合似然→L2 联合最大化”，简化图形细节；下方以删点和平移点列表现最小值定位，以系数变化与辅助关系表现方程修正，以区间概率面积和目标曲线表现目标修改。各方法保留的准则、关键公式与参数恢复在对应小图旁标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图源：D:\weibull\Study\04-study-小样本三参数Weibull估计方法比较与选择\方法分类\机制图-v2.2\预览\01-似然估计路线-机制图.svg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4　路线二：分布关系匹配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路线将样本转化为经验分布、绘图概率、概率间距或其他分布表示，再依据指定的拟合准则确定参数。它的机制包含相接的三个环节：构造分布表示（D1），定义匹配准则（D2），确定参数（D3）。分布表示包括用于比较的概率结构，匹配准则则可以采用残差、距离、间距或一致性关系。需要同时交代比较对象和准则；“拟合得好”只有在这两者明确后才有具体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以CDF拟合为例，将排序观测 $x_{(i)}$ 配以概率点 $p_i$，候选参数给出 $F_\theta(x_{(i)})$。各点的偏离先形成整组目标，再通过最小化确定参数：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$$Q_{\mathrm{CDF}}(\theta)=\sum_{i=1}^{n}w_i\left[F_\theta(x_{(i)})-p_i\right]^2,\qquad</a:t>
            </a:r>
          </a:p>
          <a:p xmlns:a="http://schemas.openxmlformats.org/drawingml/2006/main">
            <a:r>
              <a:t>\widehat\theta\in\operatorname*{arg\,min}_{\theta\in\Theta}Q_{\mathrm{CDF}}(\theta).$$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图4a的横向主流程沿同一组概率点和候选曲线说明这个过程。CDF平方差是共同机制的一个例子，其他方法需要回到各自实际使用的表示和准则。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图4a｜用一组数据贯穿分布匹配的核心过程。 主步骤为“D1 构造分布表示→D2 定义匹配准则→D3 确定参数”。样本概率点与候选CDF共同组成D1的比较对象，逐点偏离形成D2的整组目标，再由D3选择参数。这里用7个概率点的CDF平方差举例，残差条为绝对值、最后比较平方和；具体方法的差别在图4b展开。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概率图把分布关系变换为近似直线，Soman与Park分别通过其位置选择、分数和回归方向恢复参数；MPS则令 $u_i=F_\theta(x_{(i)})$，补上 $u_0=0$、$u_{n+1}=1$，最大化概率间距的乘积 $\prod_{i=1}^{n+1}(u_i-u_{i-1})$。这些间距来自CDF概率轴，与LSPF／LPF的数据变换统计量联合似然不同。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MDM又改变了比较对象：由同一Weibull分布关系反推每个观测的尺度伪估计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$$\eta_i(\beta,\gamma)=\frac{x_{(i)}-\gamma}{[-\log(1-p_i)]^{1/\beta}},$$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利用这些伪估计的一致性确定参数。本轮MDM先在给定位置下选择使尺度差异最小的形状，再以固定梯度偏移值$\delta=0.1$对条件最优值曲线定位，最后取伪尺度均值；不能把整个流程简写为同时最小化一个CDF平方差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样本信息 | 参数确定原则 | 实现与改进位置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经验CDF、概率图分数、相邻概率间距、各观测反推的尺度伪估计 | 最小化分布差异、残差或距离；最大化概率间距评分；或让尺度伪估计更一致 | 分数选择、位置定位、回归方向、分组方式、梯度阈值和固定偏移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概率图、LSE／WLSE、最小距离估计、MPS／QMP和MDM可以通过这条机制链联系起来：它们分别改变了分布表示、确定准则或参数恢复环节。若某一方法再接入统计关系修正位置或条件似然恢复尺度，相应步骤继续连向其他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图4b｜沿核心步骤读各方法怎样匹配。 顶部沿用图4a的“D1 构造分布表示→D2 定义匹配准则→D3 确定参数”；下方用水平／竖直回归残差、CDF概率间距、尺度点列收拢及梯度曲线呈现不同构造。回归线由所示点的OLS计算，位置目标曲线及MDM压缩／梯度曲线为机制示意；各分支的参数确定次序由实际构造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图源：D:\weibull\Study\04-study-小样本三参数Weibull估计方法比较与选择\方法分类\机制图-v2.2\预览\08-分布匹配路线-信息处理流程.svg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4　路线二：分布关系匹配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路线将样本转化为经验分布、绘图概率、概率间距或其他分布表示，再依据指定的拟合准则确定参数。它的机制包含相接的三个环节：构造分布表示（D1），定义匹配准则（D2），确定参数（D3）。分布表示包括用于比较的概率结构，匹配准则则可以采用残差、距离、间距或一致性关系。需要同时交代比较对象和准则；“拟合得好”只有在这两者明确后才有具体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以CDF拟合为例，将排序观测 $x_{(i)}$ 配以概率点 $p_i$，候选参数给出 $F_\theta(x_{(i)})$。各点的偏离先形成整组目标，再通过最小化确定参数：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$$Q_{\mathrm{CDF}}(\theta)=\sum_{i=1}^{n}w_i\left[F_\theta(x_{(i)})-p_i\right]^2,\qquad</a:t>
            </a:r>
          </a:p>
          <a:p xmlns:a="http://schemas.openxmlformats.org/drawingml/2006/main">
            <a:r>
              <a:t>\widehat\theta\in\operatorname*{arg\,min}_{\theta\in\Theta}Q_{\mathrm{CDF}}(\theta).$$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图4a的横向主流程沿同一组概率点和候选曲线说明这个过程。CDF平方差是共同机制的一个例子，其他方法需要回到各自实际使用的表示和准则。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图4a｜用一组数据贯穿分布匹配的核心过程。 主步骤为“D1 构造分布表示→D2 定义匹配准则→D3 确定参数”。样本概率点与候选CDF共同组成D1的比较对象，逐点偏离形成D2的整组目标，再由D3选择参数。这里用7个概率点的CDF平方差举例，残差条为绝对值、最后比较平方和；具体方法的差别在图4b展开。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概率图把分布关系变换为近似直线，Soman与Park分别通过其位置选择、分数和回归方向恢复参数；MPS则令 $u_i=F_\theta(x_{(i)})$，补上 $u_0=0$、$u_{n+1}=1$，最大化概率间距的乘积 $\prod_{i=1}^{n+1}(u_i-u_{i-1})$。这些间距来自CDF概率轴，与LSPF／LPF的数据变换统计量联合似然不同。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MDM又改变了比较对象：由同一Weibull分布关系反推每个观测的尺度伪估计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$$\eta_i(\beta,\gamma)=\frac{x_{(i)}-\gamma}{[-\log(1-p_i)]^{1/\beta}},$$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利用这些伪估计的一致性确定参数。本轮MDM先在给定位置下选择使尺度差异最小的形状，再以固定梯度偏移值$\delta=0.1$对条件最优值曲线定位，最后取伪尺度均值；不能把整个流程简写为同时最小化一个CDF平方差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样本信息 | 参数确定原则 | 实现与改进位置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经验CDF、概率图分数、相邻概率间距、各观测反推的尺度伪估计 | 最小化分布差异、残差或距离；最大化概率间距评分；或让尺度伪估计更一致 | 分数选择、位置定位、回归方向、分组方式、梯度阈值和固定偏移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概率图、LSE／WLSE、最小距离估计、MPS／QMP和MDM可以通过这条机制链联系起来：它们分别改变了分布表示、确定准则或参数恢复环节。若某一方法再接入统计关系修正位置或条件似然恢复尺度，相应步骤继续连向其他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图4b｜沿核心步骤读各方法怎样匹配。 顶部沿用图4a的“D1 构造分布表示→D2 定义匹配准则→D3 确定参数”；下方用水平／竖直回归残差、CDF概率间距、尺度点列收拢及梯度曲线呈现不同构造。回归线由所示点的OLS计算，位置目标曲线及MDM压缩／梯度曲线为机制示意；各分支的参数确定次序由实际构造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图源：D:\weibull\Study\04-study-小样本三参数Weibull估计方法比较与选择\方法分类\机制图-v2.2\预览\02-分布匹配路线-机制图.svg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5　路线三：统计特征关系匹配与反演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路线提取样本的统计特征，利用它们与分布参数之间的理论关系，通过匹配、消元、求解或反演得到参数。核心在于选定特征怎样识别参数：先提取样本特征（S1），建立理论关系（S2），再识别与恢复参数（S3）。这里关注若干选定特征及其理论关系；前一条路线则围绕样本的分布表示或概率结构指定拟合准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常规矩法为例，样本均值、方差和偏度分别对应Weibull分布的理论矩。偏度中的位置与尺度被消去，留下关于形状的关系；解出形状后，再由方差和均值依次恢复尺度、位置。图5a沿横向过程追踪这组特征怎样接上理论曲线并得到参数。这是本例选择的识别次序，不要求所有统计关系方法都先消去位置和尺度、再估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图5a｜从样本特征，经理论关系识别参数。 主步骤为“S1 提取样本特征→S2 建立理论关系→S3 识别与恢复参数”。常规矩例子在相应步骤内展示分布特征、中心化与标准化、理论偏度曲线交点，以及尺度和位置恢复。例中使用7个示意寿命，中心矩分母为n，标准变量Y的尺度为1、位置为0；图5b再展开其他构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样本信息 | 参数确定原则 | 实现与改进位置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样本矩、概率加权矩、L矩、分位数、次序统计量等选定特征 | 匹配理论统计关系，或反演矩、枢轴关系和条件线性关系 | 特征选择、权重和端部处理、位置与尺度消元、条件协方差选权、显式恢复和迭代代入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着这条机制看方法变化：Cran把常规幂矩改为生存函数幂次积分，用矩差及比值消元，再显式恢复参数；PWM、L矩和TL矩改变样本的秩权重与相应理论关系；分位数或枢轴方法选择其他特征及反演关系。条件位置MVLUE则由次序统计量的期望构造位置无偏估计，再利用理论协方差选择线性组合权重。其无偏、最小方差性质以形状、尺度已知并使用相应理论系数为条件，代入估计值后的三参数组合不能直接继承这些性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仅仅使用统计量，还不能说明采用了这条确定参数的机制。LSPF与早期W均值匹配方法使用相同形式的标准化统计量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$$W_i=\frac{X_{(i)}-X_{(1)}}{X_{(n)}-X_{(1)}},$$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却接入不同准则：均值匹配方法用理论 $E_\beta(\bar W)$ 与样本值相等确定形状；LSPF由内部W统计量的联合密度构造似然，按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$$\widehat\beta_W\in\operatorname*{arg\,max}_{\beta&gt;0}f_W(w_2,\ldots,w_{n-1};\beta)$$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估计形状。LSPF随后用初始尺度代入最小值期望关系修正位置，再在该位置与形状下恢复尺度。因而，W消元是构造策略，形状估计体现L1／L2似然机制，位置恢复接入统计特征与参数的理论关系。LPF改用 $V_i=X_{(i)}-X_{(1)}$，只消去位置、保留尺度信息，由V联合密度联合估计形状与尺度，随后保留形状，按原文似然方程(9)、(10)重估位置与尺度；该恢复仍体现似然方程机制，不能只因使用统计量或分阶段处理就认定属于路线三。图5b将这些阶段分别连接；W／V的数据间距联合密度不能与MPS的CDF概率间距乘积混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图5b｜用分布、面积、权重和点列比较具体构造。 顶部沿用图5a的“S1 提取样本特征→S2 建立理论关系→S3 识别与恢复参数”；下面依次画出常规矩的分布与偏度交点、Cran的生存曲线幂次面积及矩差比、PWM／L矩／TL矩的秩权重、W／V点列变换与似然推断，以及条件位置MVLUE的组合权重。W／V联合似然峰采用定性机理示意，点列展示变换本身；各示例的数据及计算口径见机制图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图源：D:\weibull\Study\04-study-小样本三参数Weibull估计方法比较与选择\方法分类\机制图-v2.2\预览\09-统计关系反演路线-信息处理流程.svg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5　路线三：统计特征关系匹配与反演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路线提取样本的统计特征，利用它们与分布参数之间的理论关系，通过匹配、消元、求解或反演得到参数。核心在于选定特征怎样识别参数：先提取样本特征（S1），建立理论关系（S2），再识别与恢复参数（S3）。这里关注若干选定特征及其理论关系；前一条路线则围绕样本的分布表示或概率结构指定拟合准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常规矩法为例，样本均值、方差和偏度分别对应Weibull分布的理论矩。偏度中的位置与尺度被消去，留下关于形状的关系；解出形状后，再由方差和均值依次恢复尺度、位置。图5a沿横向过程追踪这组特征怎样接上理论曲线并得到参数。这是本例选择的识别次序，不要求所有统计关系方法都先消去位置和尺度、再估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图5a｜从样本特征，经理论关系识别参数。 主步骤为“S1 提取样本特征→S2 建立理论关系→S3 识别与恢复参数”。常规矩例子在相应步骤内展示分布特征、中心化与标准化、理论偏度曲线交点，以及尺度和位置恢复。例中使用7个示意寿命，中心矩分母为n，标准变量Y的尺度为1、位置为0；图5b再展开其他构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样本信息 | 参数确定原则 | 实现与改进位置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样本矩、概率加权矩、L矩、分位数、次序统计量等选定特征 | 匹配理论统计关系，或反演矩、枢轴关系和条件线性关系 | 特征选择、权重和端部处理、位置与尺度消元、条件协方差选权、显式恢复和迭代代入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着这条机制看方法变化：Cran把常规幂矩改为生存函数幂次积分，用矩差及比值消元，再显式恢复参数；PWM、L矩和TL矩改变样本的秩权重与相应理论关系；分位数或枢轴方法选择其他特征及反演关系。条件位置MVLUE则由次序统计量的期望构造位置无偏估计，再利用理论协方差选择线性组合权重。其无偏、最小方差性质以形状、尺度已知并使用相应理论系数为条件，代入估计值后的三参数组合不能直接继承这些性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仅仅使用统计量，还不能说明采用了这条确定参数的机制。LSPF与早期W均值匹配方法使用相同形式的标准化统计量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$$W_i=\frac{X_{(i)}-X_{(1)}}{X_{(n)}-X_{(1)}},$$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却接入不同准则：均值匹配方法用理论 $E_\beta(\bar W)$ 与样本值相等确定形状；LSPF由内部W统计量的联合密度构造似然，按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$$\widehat\beta_W\in\operatorname*{arg\,max}_{\beta&gt;0}f_W(w_2,\ldots,w_{n-1};\beta)$$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估计形状。LSPF随后用初始尺度代入最小值期望关系修正位置，再在该位置与形状下恢复尺度。因而，W消元是构造策略，形状估计体现L1／L2似然机制，位置恢复接入统计特征与参数的理论关系。LPF改用 $V_i=X_{(i)}-X_{(1)}$，只消去位置、保留尺度信息，由V联合密度联合估计形状与尺度，随后保留形状，按原文似然方程(9)、(10)重估位置与尺度；该恢复仍体现似然方程机制，不能只因使用统计量或分阶段处理就认定属于路线三。图5b将这些阶段分别连接；W／V的数据间距联合密度不能与MPS的CDF概率间距乘积混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图5b｜用分布、面积、权重和点列比较具体构造。 顶部沿用图5a的“S1 提取样本特征→S2 建立理论关系→S3 识别与恢复参数”；下面依次画出常规矩的分布与偏度交点、Cran的生存曲线幂次面积及矩差比、PWM／L矩／TL矩的秩权重、W／V点列变换与似然推断，以及条件位置MVLUE的组合权重。W／V联合似然峰采用定性机理示意，点列展示变换本身；各示例的数据及计算口径见机制图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图源：D:\weibull\Study\04-study-小样本三参数Weibull估计方法比较与选择\方法分类\机制图-v2.2\预览\03-统计关系反演路线-机制图.svg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6　路线四：贝叶斯后验推断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贝叶斯后验推断将先验信息与样本似然结合，形成参数后验分布，再依据后验决策规则给出估计。对于给定数据，先以似然更新先验支持的参数区域；乘积经归一化得到联合后验（B1）：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$$p(\theta\mid D)=\frac{L(\theta;D)\pi(\theta)}{\int_\Theta L(\vartheta;D)\pi(\vartheta)\,d\vartheta}.$$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根据损失函数选择后验决策（B2）：平方损失对应后验均值，绝对损失对应后验中位数，MAP取后验密度的峰。这里最终估计依据的是后验分布及相应规则，似然是其中的组成部分。图6a将同一候选参数轴上的先验、似然、后验与决策连起来；图6b再展开联合后验及计算路径。先验选择、支持域和决策规则改变了推断构造，Gibbs、MH及Laplace则分别服务于后验抽样或近似计算。后验可积性及所选输出量的存在性仍须按具体模型条件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图6a｜由支持曲线到后验，再按估计规则作判断。 主步骤为“B1 构造后验→B2 后验决策”。B1中，似然和先验分别支持不同的候选区域，乘积归一化后形成后验。图中以平方损失为例，用后验平均损失的最低点说明为何选择后验均值；中位数与MAP使用各自的规则。这里用一维曲线呈现乘积与决策过程，三参数问题对应β、η、γ的联合后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图6b｜核心后验步骤之下，展开决策与计算。 顶部沿用图6a的“B1 构造后验→B2 后验决策”，将似然与先验结合归入B1，将决策规则及相应估计归入B2；下方用后验损失曲线和密度峰、条件抽样点云、局部曲率与Laplace近似等小图说明不同方法服务于哪个环节。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图源：D:\weibull\Study\04-study-小样本三参数Weibull估计方法比较与选择\方法分类\机制图-v2.2\预览\10-后验推断路线-信息处理流程.svg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6　路线四：贝叶斯后验推断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贝叶斯后验推断将先验信息与样本似然结合，形成参数后验分布，再依据后验决策规则给出估计。对于给定数据，先以似然更新先验支持的参数区域；乘积经归一化得到联合后验（B1）：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$$p(\theta\mid D)=\frac{L(\theta;D)\pi(\theta)}{\int_\Theta L(\vartheta;D)\pi(\vartheta)\,d\vartheta}.$$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根据损失函数选择后验决策（B2）：平方损失对应后验均值，绝对损失对应后验中位数，MAP取后验密度的峰。这里最终估计依据的是后验分布及相应规则，似然是其中的组成部分。图6a将同一候选参数轴上的先验、似然、后验与决策连起来；图6b再展开联合后验及计算路径。先验选择、支持域和决策规则改变了推断构造，Gibbs、MH及Laplace则分别服务于后验抽样或近似计算。后验可积性及所选输出量的存在性仍须按具体模型条件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图6a｜由支持曲线到后验，再按估计规则作判断。 主步骤为“B1 构造后验→B2 后验决策”。B1中，似然和先验分别支持不同的候选区域，乘积归一化后形成后验。图中以平方损失为例，用后验平均损失的最低点说明为何选择后验均值；中位数与MAP使用各自的规则。这里用一维曲线呈现乘积与决策过程，三参数问题对应β、η、γ的联合后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图6b｜核心后验步骤之下，展开决策与计算。 顶部沿用图6a的“B1 构造后验→B2 后验决策”，将似然与先验结合归入B1，将决策规则及相应估计归入B2；下方用后验损失曲线和密度峰、条件抽样点云、局部曲率与Laplace近似等小图说明不同方法服务于哪个环节。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图源：D:\weibull\Study\04-study-小样本三参数Weibull估计方法比较与选择\方法分类\机制图-v2.2\预览\04-后验推断路线-机制图.svg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7　路线五：学习型参数映射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学习型参数映射的核心机制发生在两个阶段。训练时，使用多组具有已知参数标签的样本 $\{(D_j,\theta_j)\}_{j=1}^{M}$，将样本或特征 $T(D_j)$ 输入共享映射 $h_\phi$，比较预测与标签并更新同一组权重（N1）：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$$\widehat\phi\in\operatorname*{arg\,min}_{\phi}\frac{1}{M}\sum_{j=1}^{M}\mathcal L\!\left(h_\phi(T(D_j)),\theta_j\right).$$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训练完成后固定映射，将新样本输入并输出估计 $\widehat\theta=h_{\widehat\phi}(T(D_{\mathrm{new}}))$（N2）。图7a用多组样本、标签与共享权重的反馈表现训练，再接到新样本应用；图7b展开具体改动位置。ANN和BPNN可在特征、映射结构、损失或训练域上变化。即使用矩作输入，确定映射的机制仍是带标签训练；若网络只预测中间量，或PSO只搜索当前样本的目标，则需要连接到实际服务的估计环节，不能与直接参数映射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图7a｜多组带标签样本训练，同一固定映射用于新样本。 主步骤为“N1 训练映射→N2 固定映射用于新样本”。N1中，多组样本的同类特征进入共享映射，参数预测与各自标签比较，整组误差反馈到同一组权重。应用阶段（N2）固定这些权重，将新样本转成三个参数估计；真实标签用于训练，应用时不需要提供新样本的真实参数。特征、网络和损失图用于呈现机制，真值与预测柱高经过尺度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图7b｜同一核心链下区分三种作用位置。 顶部沿用图7a的“N1 训练映射→N2 固定映射用于新样本”；下方分别用网络到参数、过程量到统计估计器、目标曲线与候选点搜索，说明直接映射、辅助学习和数值求解的区别。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图源：D:\weibull\Study\04-study-小样本三参数Weibull估计方法比较与选择\方法分类\机制图-v2.2\预览\11-学习映射路线-信息处理流程.svg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7　路线五：学习型参数映射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学习型参数映射的核心机制发生在两个阶段。训练时，使用多组具有已知参数标签的样本 $\{(D_j,\theta_j)\}_{j=1}^{M}$，将样本或特征 $T(D_j)$ 输入共享映射 $h_\phi$，比较预测与标签并更新同一组权重（N1）：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$$\widehat\phi\in\operatorname*{arg\,min}_{\phi}\frac{1}{M}\sum_{j=1}^{M}\mathcal L\!\left(h_\phi(T(D_j)),\theta_j\right).$$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训练完成后固定映射，将新样本输入并输出估计 $\widehat\theta=h_{\widehat\phi}(T(D_{\mathrm{new}}))$（N2）。图7a用多组样本、标签与共享权重的反馈表现训练，再接到新样本应用；图7b展开具体改动位置。ANN和BPNN可在特征、映射结构、损失或训练域上变化。即使用矩作输入，确定映射的机制仍是带标签训练；若网络只预测中间量，或PSO只搜索当前样本的目标，则需要连接到实际服务的估计环节，不能与直接参数映射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图7a｜多组带标签样本训练，同一固定映射用于新样本。 主步骤为“N1 训练映射→N2 固定映射用于新样本”。N1中，多组样本的同类特征进入共享映射，参数预测与各自标签比较，整组误差反馈到同一组权重。应用阶段（N2）固定这些权重，将新样本转成三个参数估计；真实标签用于训练，应用时不需要提供新样本的真实参数。特征、网络和损失图用于呈现机制，真值与预测柱高经过尺度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图7b｜同一核心链下区分三种作用位置。 顶部沿用图7a的“N1 训练映射→N2 固定映射用于新样本”；下方分别用网络到参数、过程量到统计估计器、目标曲线与候选点搜索，说明直接映射、辅助学习和数值求解的区别。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图源：D:\weibull\Study\04-study-小样本三参数Weibull估计方法比较与选择\方法分类\机制图-v2.2\预览\05-学习映射路线-机制图.svg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8　方法之间的沿袭与组合关系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分别理解五条路线后，再把具体方法接回地图。这里需要读两层联系。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层是同一个方法内部的机制连接。先识别它构造了什么、用什么确定哪个参数、其余参数怎样恢复，再按阶段连接路线节点。例如，LSPF依次经过W消元、W联合密度最大化、最小值期望位置修正及尺度恢复；SAM连接最小值期望关系、概率图回归和条件似然尺度更新；PM连接最小值中位数关系与给定位置的似然方程；Park Proposed+MLE2先用概率图相关性定位，再接平移样本的二参数MLE。它们可以跨路线展开，这些连接说明估计过程本身。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层是不同方法之间有依据的关系。例如，Jacquelin二参数推导扩展为三参数WMLE，随后再引入形状偏差修正，构成连续改进链；Kundu–Raqab的数据修改构造与Firth得分修正共同进入DMMLE，构成两个来源汇合的组合。方法之间的关系继续分为三种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沿袭或扩展： 原文明确沿用、扩展或修正前一构造时使用实线。</a:t>
            </a:r>
          </a:p>
          <a:p xmlns:a="http://schemas.openxmlformats.org/drawingml/2006/main">
            <a:r>
              <a:t>- 数学联系或共享构造： 两种方法之间可核对的公式关系或共享构造使用虚线，并注明成立条件；同属一路线本身不构成历史沿袭证据。</a:t>
            </a:r>
          </a:p>
          <a:p xmlns:a="http://schemas.openxmlformats.org/drawingml/2006/main">
            <a:r>
              <a:t>- 局部借用或组合： 一个方法只借用了另一条路线的位置处理、统计量或参数恢复步骤时使用点划线。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沿着这些关系，可以看到Jacquelin二参数推导向Cousineau WMLE及后续形状修正的扩展；Smith删最小值构造在Kundu–Raqab中的场景适配；Kundu–Raqab与Firth型修正形成DMMLE；White向Soman三参数概率图的扩展；MPS与QMP在特定分组设置下的特例关系；PWM与L矩的数学联系；以及LSPF向LPF的构造改进。MLE与MAP通过似然模型相连，MAP进一步引入先验和后验决策；PSO、模拟退火等工具则连接到各自搜索的目标。LSPF与早期W均值匹配方法共享标准化构造，但两者直接历史承接尚未确认；SAM与PM的相似框架，以及对LSPF／LPF的比较或实测数据引用，也不能直接画成父子沿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图8｜先沿机制读方法，再沿证据读方法关系。 浅色区域标明各路线的覆盖范围，跨路线组合在区域之间展开。各路线的机制标识与前述原理图一致；跨路线过程线解释同一估计过程怎样接入不同机制。方法之间另用实线、虚线和点划线标注沿袭或扩展、数学联系及局部借用。沿Jacquelin→WMLE→形状修正、White→Soman、L矩→TL矩、LSPF→LPF等链，可见具体构造的延续；LSPF→Yang迭代、WMLE→MVLE-H扩展等记录局部步骤的借用。PWM与L矩、Cran矩与PWM、MPS与QMP的数学联系保留相应条件。Soman与Park的回归方向关系以同分数、同位置为前提，两文实际分数选择各异。细空心箭头为机制接入或方法内部过程，金色节点为七种比较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9　七种比较实现的机制位置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本次统一比较选取七种实现，重点对照似然构造与优化、分布关系匹配、统计特征关系匹配与反演中的具体构造。它们在完整地图中标为金色，比较范围不限制整个路线图的文献范围。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实现 | 采用的路线机制 | 具体构造定位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MLE | 似然构造与优化 | 原始观测密度联合似然；另记录局部候选、边界与失败 |</a:t>
            </a:r>
          </a:p>
          <a:p xmlns:a="http://schemas.openxmlformats.org/drawingml/2006/main">
            <a:r>
              <a:t>| WMLE | 似然得分方程的修正 | 在估计方程中引入三个权重 |</a:t>
            </a:r>
          </a:p>
          <a:p xmlns:a="http://schemas.openxmlformats.org/drawingml/2006/main">
            <a:r>
              <a:t>| MMLE（Kundu–Raqab单样本形式） | 最小值定位、删样本后的似然估计 | 以样本最小值定位，删除该观测后进行二参数估计 |</a:t>
            </a:r>
          </a:p>
          <a:p xmlns:a="http://schemas.openxmlformats.org/drawingml/2006/main">
            <a:r>
              <a:t>| LSE（Soman主分支） | 分布关系匹配 | White分数、位置评分和对数寿命对分数回归 |</a:t>
            </a:r>
          </a:p>
          <a:p xmlns:a="http://schemas.openxmlformats.org/drawingml/2006/main">
            <a:r>
              <a:t>| LRE（Park Proposed+Plot） | 分布关系匹配 | 相关系数定位、绘图概率分数和分数对对数寿命回归 |</a:t>
            </a:r>
          </a:p>
          <a:p xmlns:a="http://schemas.openxmlformats.org/drawingml/2006/main">
            <a:r>
              <a:t>| MDM-0.1 | 分布关系匹配、分阶段参数确定 | 条件尺度伪估计差异、固定梯度偏移值下的位置定位 |</a:t>
            </a:r>
          </a:p>
          <a:p xmlns:a="http://schemas.openxmlformats.org/drawingml/2006/main">
            <a:r>
              <a:t>| MM（Cran式） | 统计特征关系匹配与反演 | Weibull矩及矩差显式恢复参数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这些实现形成构造对照：MLE、WMLE和Kundu–Raqab对应原始似然、方程加权与最小值定位后估计；LSE、LRE和MDM对应分布关系匹配的不同分支；Cran MM对应选定统计关系的显式恢复。这里按实际机制说明差别，不将七种实现分配到互斥格子，也不把同名的其他版本混入比较。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来源：D:\weibull\Study\04-study-小样本三参数Weibull估计方法比较与选择\报告上（方法分类）-v2.3.md；##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1　实验设置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本轮比较七种方法在相同样本下的估计误差、重复抽样波动、明显异常和有效返回情况。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项目 | 本轮设置 |</a:t>
            </a:r>
          </a:p>
          <a:p xmlns:a="http://schemas.openxmlformats.org/drawingml/2006/main">
            <a:r>
              <a:t>| --- | --- |</a:t>
            </a:r>
          </a:p>
          <a:p xmlns:a="http://schemas.openxmlformats.org/drawingml/2006/main">
            <a:r>
              <a:t>| 方法 | MDM-0.1、LSE、LRE（Park）、WMLE、MLE、MMLE（K–R）、MM |</a:t>
            </a:r>
          </a:p>
          <a:p xmlns:a="http://schemas.openxmlformats.org/drawingml/2006/main">
            <a:r>
              <a:t>| 参数 | η=1000、γ=500；β=1.5、2、2.5、3、3.5、4、4.5、5 |</a:t>
            </a:r>
          </a:p>
          <a:p xmlns:a="http://schemas.openxmlformats.org/drawingml/2006/main">
            <a:r>
              <a:t>| 样本量 | n=50、20、15、10、7 |</a:t>
            </a:r>
          </a:p>
          <a:p xmlns:a="http://schemas.openxmlformats.org/drawingml/2006/main">
            <a:r>
              <a:t>| 重复抽样 | 每个条件1200组；各方法使用相同样本 |</a:t>
            </a:r>
          </a:p>
          <a:p xmlns:a="http://schemas.openxmlformats.org/drawingml/2006/main">
            <a:r>
              <a:t>| 主要观察 | 参数RMSE、估计分布、明显异常与有效返回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*统计口径：精度图使用七法均有效的共同样本；分布图使用各法自身有效结果。形状RMSE除以真β，尺度和位置RMSE除以1000。方法与求解约定见实验设置。*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五页按n=50、20、15、10、7连续切换。观察扇区的长度和相对距离，不逐项报数值。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图源：D:\weibull\Study\04-study-小样本三参数Weibull估计方法比较与选择\reviewbyhtml\方法对比-v1.0\assets\RMSE玫瑰图_n50_八档β.png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五页按n=50、20、15、10、7连续切换。观察扇区的长度和相对距离，不逐项报数值。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图源：D:\weibull\Study\04-study-小样本三参数Weibull估计方法比较与选择\reviewbyhtml\方法对比-v1.0\assets\RMSE玫瑰图_n20_八档β.png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五页按n=50、20、15、10、7连续切换。观察扇区的长度和相对距离，不逐项报数值。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图源：D:\weibull\Study\04-study-小样本三参数Weibull估计方法比较与选择\reviewbyhtml\方法对比-v1.0\assets\RMSE玫瑰图_n15_八档β.png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五页按n=50、20、15、10、7连续切换。观察扇区的长度和相对距离，不逐项报数值。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图源：D:\weibull\Study\04-study-小样本三参数Weibull估计方法比较与选择\reviewbyhtml\方法对比-v1.0\assets\RMSE玫瑰图_n10_八档β.png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五页按n=50、20、15、10、7连续切换。观察扇区的长度和相对距离，不逐项报数值。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图源：D:\weibull\Study\04-study-小样本三参数Weibull估计方法比较与选择\reviewbyhtml\方法对比-v1.0\assets\RMSE玫瑰图_n7_八档β.png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图源：D:\weibull\Study\04-study-小样本三参数Weibull估计方法比较与选择\reviewbyhtml\方法对比-v1.0\assets\方法差距变化_轨迹与50到7联合图.png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图源：D:\weibull\Study\04-study-小样本三参数Weibull估计方法比较与选择\reviewbyhtml\方法对比-v1.0\assets\方法差距变化_轨迹与50到7联合图.png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八页依β递增连续切换。重点观察分布展宽、参数偏移方向和零边界聚集。不将原图的双峰外观认定为两个内部估计群体。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图源：D:\weibull\Study\04-study-小样本三参数Weibull估计方法比较与选择\reviewbyhtml\方法对比-v1.0\assets\估计值分布_β1.5_两档n.png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八页依β递增连续切换。重点观察分布展宽、参数偏移方向和零边界聚集。不将原图的双峰外观认定为两个内部估计群体。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图源：D:\weibull\Study\04-study-小样本三参数Weibull估计方法比较与选择\reviewbyhtml\方法对比-v1.0\assets\估计值分布_β2_两档n.png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八页依β递增连续切换。重点观察分布展宽、参数偏移方向和零边界聚集。不将原图的双峰外观认定为两个内部估计群体。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图源：D:\weibull\Study\04-study-小样本三参数Weibull估计方法比较与选择\reviewbyhtml\方法对比-v1.0\assets\估计值分布_β2.5_两档n.png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八页依β递增连续切换。重点观察分布展宽、参数偏移方向和零边界聚集。不将原图的双峰外观认定为两个内部估计群体。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图源：D:\weibull\Study\04-study-小样本三参数Weibull估计方法比较与选择\reviewbyhtml\方法对比-v1.0\assets\估计值分布_β3_两档n.png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八页依β递增连续切换。重点观察分布展宽、参数偏移方向和零边界聚集。不将原图的双峰外观认定为两个内部估计群体。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图源：D:\weibull\Study\04-study-小样本三参数Weibull估计方法比较与选择\reviewbyhtml\方法对比-v1.0\assets\估计值分布_β3.5_两档n.png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八页依β递增连续切换。重点观察分布展宽、参数偏移方向和零边界聚集。不将原图的双峰外观认定为两个内部估计群体。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图源：D:\weibull\Study\04-study-小样本三参数Weibull估计方法比较与选择\reviewbyhtml\方法对比-v1.0\assets\估计值分布_β4_两档n.png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八页依β递增连续切换。重点观察分布展宽、参数偏移方向和零边界聚集。不将原图的双峰外观认定为两个内部估计群体。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图源：D:\weibull\Study\04-study-小样本三参数Weibull估计方法比较与选择\reviewbyhtml\方法对比-v1.0\assets\估计值分布_β4.5_两档n.png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八页依β递增连续切换。重点观察分布展宽、参数偏移方向和零边界聚集。不将原图的双峰外观认定为两个内部估计群体。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图源：D:\weibull\Study\04-study-小样本三参数Weibull估计方法比较与选择\reviewbyhtml\方法对比-v1.0\assets\修订_估计值分布_两档n.png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图源：D:\weibull\Study\04-study-小样本三参数Weibull估计方法比较与选择\reviewbyhtml\方法对比-v1.0\assets\07_形状异常频率.png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3.1　样本减少与方法响应的差异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固定总体为W(5,1000,500)，从同一组50个观测中按固定随机顺序删去43个，保留7个重新估计。以K–R、MDM和LSE为例，比较删点前后的估计误差，再沿各自的定位判据和参数恢复过程解释变化。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排左右分别为删点前、删点后；黑点为最终保留的7个寿命观测，灰点为删除的43个。纵坐标按各自样本量重新计算(i−0.5)/n，仅作概率图展示，同一寿命观测的纵坐标因此可能改变。底部刻线为实际寿命位置。下排空心点为删点前估计、实心点为删点后估计，箭头长度表示该参数改变的幅度，虚线为真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删点后，三种方法的形状和尺度估计均向下移动，位置估计向上移动，三个参数都进一步偏离真值。但移动幅度并不相同：本例中LSE较大、MDM次之、K–R较小。同一批观测的减少，经过不同估计规则，产生了不同程度的误差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三种方法采用不同的定位依据：K–R直接取最小观测；MDM寻找伪尺度最小标准差的梯度达到固定阈值的位置；LSE寻找对数距离与参考坐标线性匹配最好的位置。下图分别标出最小值、阈值交点和匹配误差最低点。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删点后，最小观测增大，K–R的位置估计直接随之右移。MDM的梯度曲线和LSE的匹配误差曲线也发生改变，两者选择的位置都向右移动，且超过K–R的位置移动幅度。MDM、LSE使用整个观测点列构造判据，因此它们的定位变化还取决于删点后点列的间距与匹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位置确定后，还要看它如何进入形状和尺度的恢复。MDM在所选位置下寻找伪尺度标准差最小的形状，再取伪尺度均值恢复尺度；LSE在所选位置下回归对数距离，形状是斜率的倒数，尺度由截距指数恢复。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估计的右移进一步影响形状和尺度恢复。MDM的伪尺度标准差最低点向较低形状移动，随后由伪尺度均值恢复的尺度也降低。LSE中，较高的位置使下端观测到估计起点的距离缩短，对数距离的低端下降更多，回归线变陡；形状取斜率倒数，因而降低，截距降低则使恢复的尺度减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把误差增加落实到了具体计算过程：删点改变定位判据，位置变化再传递到形状和尺度恢复。不同方法对样本信息的使用方式不同，因此同一次样本减少引起的估计变化也不同。第二章的重复抽样结果给出整体表现，这里解释其中一条形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*蓝色为n=50，橙色为n=7；两图均在各方法实际选定的位置计算。MDM图聚焦标准差最低点区域；LSE图使用对应样本量的顺序统计量参考坐标。图中最低点、斜率和截距恢复的参数均已与前后估计核对。*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沿用已计算的随机删点路径474，未预设保留最小观测。该例的三参数误差均增加，用于展示误差变化与计算步骤的对应关系；不据此确定方法的总体精度排名。定位判据图保留n=20作为中间过程，正式模拟结果不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图源：D:\weibull\Study\04-study-小样本三参数Weibull估计方法比较与选择\reviewbyhtml\方法对比-v1.0\assets\31_删点前后_样本474.png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3.1　样本减少与方法响应的差异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固定总体为W(5,1000,500)，从同一组50个观测中按固定随机顺序删去43个，保留7个重新估计。以K–R、MDM和LSE为例，比较删点前后的估计误差，再沿各自的定位判据和参数恢复过程解释变化。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排左右分别为删点前、删点后；黑点为最终保留的7个寿命观测，灰点为删除的43个。纵坐标按各自样本量重新计算(i−0.5)/n，仅作概率图展示，同一寿命观测的纵坐标因此可能改变。底部刻线为实际寿命位置。下排空心点为删点前估计、实心点为删点后估计，箭头长度表示该参数改变的幅度，虚线为真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删点后，三种方法的形状和尺度估计均向下移动，位置估计向上移动，三个参数都进一步偏离真值。但移动幅度并不相同：本例中LSE较大、MDM次之、K–R较小。同一批观测的减少，经过不同估计规则，产生了不同程度的误差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三种方法采用不同的定位依据：K–R直接取最小观测；MDM寻找伪尺度最小标准差的梯度达到固定阈值的位置；LSE寻找对数距离与参考坐标线性匹配最好的位置。下图分别标出最小值、阈值交点和匹配误差最低点。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删点后，最小观测增大，K–R的位置估计直接随之右移。MDM的梯度曲线和LSE的匹配误差曲线也发生改变，两者选择的位置都向右移动，且超过K–R的位置移动幅度。MDM、LSE使用整个观测点列构造判据，因此它们的定位变化还取决于删点后点列的间距与匹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位置确定后，还要看它如何进入形状和尺度的恢复。MDM在所选位置下寻找伪尺度标准差最小的形状，再取伪尺度均值恢复尺度；LSE在所选位置下回归对数距离，形状是斜率的倒数，尺度由截距指数恢复。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估计的右移进一步影响形状和尺度恢复。MDM的伪尺度标准差最低点向较低形状移动，随后由伪尺度均值恢复的尺度也降低。LSE中，较高的位置使下端观测到估计起点的距离缩短，对数距离的低端下降更多，回归线变陡；形状取斜率倒数，因而降低，截距降低则使恢复的尺度减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把误差增加落实到了具体计算过程：删点改变定位判据，位置变化再传递到形状和尺度恢复。不同方法对样本信息的使用方式不同，因此同一次样本减少引起的估计变化也不同。第二章的重复抽样结果给出整体表现，这里解释其中一条形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*蓝色为n=50，橙色为n=7；两图均在各方法实际选定的位置计算。MDM图聚焦标准差最低点区域；LSE图使用对应样本量的顺序统计量参考坐标。图中最低点、斜率和截距恢复的参数均已与前后估计核对。*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沿用已计算的随机删点路径474，未预设保留最小观测。该例的三参数误差均增加，用于展示误差变化与计算步骤的对应关系；不据此确定方法的总体精度排名。定位判据图保留n=20作为中间过程，正式模拟结果不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图源：D:\weibull\Study\04-study-小样本三参数Weibull估计方法比较与选择\reviewbyhtml\方法对比-v1.0\assets\31A_固定形状定位判据_样本474.png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3.1　样本减少与方法响应的差异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固定总体为W(5,1000,500)，从同一组50个观测中按固定随机顺序删去43个，保留7个重新估计。以K–R、MDM和LSE为例，比较删点前后的估计误差，再沿各自的定位判据和参数恢复过程解释变化。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排左右分别为删点前、删点后；黑点为最终保留的7个寿命观测，灰点为删除的43个。纵坐标按各自样本量重新计算(i−0.5)/n，仅作概率图展示，同一寿命观测的纵坐标因此可能改变。底部刻线为实际寿命位置。下排空心点为删点前估计、实心点为删点后估计，箭头长度表示该参数改变的幅度，虚线为真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删点后，三种方法的形状和尺度估计均向下移动，位置估计向上移动，三个参数都进一步偏离真值。但移动幅度并不相同：本例中LSE较大、MDM次之、K–R较小。同一批观测的减少，经过不同估计规则，产生了不同程度的误差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三种方法采用不同的定位依据：K–R直接取最小观测；MDM寻找伪尺度最小标准差的梯度达到固定阈值的位置；LSE寻找对数距离与参考坐标线性匹配最好的位置。下图分别标出最小值、阈值交点和匹配误差最低点。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删点后，最小观测增大，K–R的位置估计直接随之右移。MDM的梯度曲线和LSE的匹配误差曲线也发生改变，两者选择的位置都向右移动，且超过K–R的位置移动幅度。MDM、LSE使用整个观测点列构造判据，因此它们的定位变化还取决于删点后点列的间距与匹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位置确定后，还要看它如何进入形状和尺度的恢复。MDM在所选位置下寻找伪尺度标准差最小的形状，再取伪尺度均值恢复尺度；LSE在所选位置下回归对数距离，形状是斜率的倒数，尺度由截距指数恢复。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位置估计的右移进一步影响形状和尺度恢复。MDM的伪尺度标准差最低点向较低形状移动，随后由伪尺度均值恢复的尺度也降低。LSE中，较高的位置使下端观测到估计起点的距离缩短，对数距离的低端下降更多，回归线变陡；形状取斜率倒数，因而降低，截距降低则使恢复的尺度减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把误差增加落实到了具体计算过程：删点改变定位判据，位置变化再传递到形状和尺度恢复。不同方法对样本信息的使用方式不同，因此同一次样本减少引起的估计变化也不同。第二章的重复抽样结果给出整体表现，这里解释其中一条形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*蓝色为n=50，橙色为n=7；两图均在各方法实际选定的位置计算。MDM图聚焦标准差最低点区域；LSE图使用对应样本量的顺序统计量参考坐标。图中最低点、斜率和截距恢复的参数均已与前后估计核对。*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沿用已计算的随机删点路径474，未预设保留最小观测。该例的三参数误差均增加，用于展示误差变化与计算步骤的对应关系；不据此确定方法的总体精度排名。定位判据图保留n=20作为中间过程，正式模拟结果不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图源：D:\weibull\Study\04-study-小样本三参数Weibull估计方法比较与选择\reviewbyhtml\方法对比-v1.0\assets\31_参数恢复过程_样本474.png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图源：D:\weibull\Study\04-study-小样本三参数Weibull估计方法比较与选择\reviewbyhtml\方法对比-v1.0\assets\R00_图2_样本与真实起点.png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图源：D:\weibull\Study\04-study-小样本三参数Weibull估计方法比较与选择\reviewbyhtml\方法对比-v1.0\assets\R00_图3_参数组合与样本相容.png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图源：D:\weibull\Study\04-study-小样本三参数Weibull估计方法比较与选择\reviewbyhtml\方法对比-v1.0\assets\R00_MDM_位置形状尺度传递.png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图源：D:\weibull\Study\04-study-小样本三参数Weibull估计方法比较与选择\reviewbyhtml\方法对比-v1.0\assets\R00_报告2_LSE零边界.png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图源：D:\weibull\Study\04-study-小样本三参数Weibull估计方法比较与选择\reviewbyhtml\方法对比-v1.0\assets\R00_报告2_LSE_right.png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图源：D:\weibull\Study\04-study-小样本三参数Weibull估计方法比较与选择\reviewbyhtml\方法对比-v1.0\assets\R00_报告2_WMLE_low.png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图源：D:\weibull\Study\04-study-小样本三参数Weibull估计方法比较与选择\reviewbyhtml\方法对比-v1.0\assets\R00_报告2_MLE_stop.png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4.1　极端结果与求解失败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异常发生的频率与其对总体误差的影响不同。RMSE对误差平方求平均，少数极端值可能主导结果。MM在部分条件下的形状RMSE尖峰由极少数极端输出造成，不能将其理解为多数样本都产生同样程度的误差。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中，MDM、LSE、LRE和K–R的全部尝试均返回有效估计。MLE的有效率随n减小而下降，低β时下降更明显；其误差统计对应的成功集合也随之改变。成功结果的精度与全部尝试的返回情况，共同影响实际使用时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*图注：有效率的分母为全部1200次尝试，返回状态按本轮实现与求解约定统计。*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*极端记录示例：β=4.5、n=15的MM结果中，单条有效记录贡献了几乎全部形状平方误差，仍保留在原统计中。*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4.2　评价目标与已知条件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方法的评价取决于使用目标。参数估计与不同寿命指标下的方法排序可能不同。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B10的最低RMSE方法随n和β变化，B1则在多数条件下由MDM取得最低RMSE。评价指标改变后，方法的相对表现也发生变化。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部分条件下，第一与第二方法的RMSE接近，单一名次不足以反映差异幅度。方法选择还应结合稳定性与异常风险。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*图注：格内为共同有效样本上RMSE最低的方法，下行为第二名高出的比例。B10、B1分别为10%、1%失效分位寿命。*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拟条件表以真实β为依据。实际使用时，β范围未知，需要在给定参考范围内综合评价；β范围可预估时，可以缩小候选区域。选择还取决于目标参数或寿命指标，以及对波动和异常风险的要求。利用未知样本进行方法选择的规则及其收益仍需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4.1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图源：D:\weibull\Study\04-study-小样本三参数Weibull估计方法比较与选择\reviewbyhtml\方法对比-v1.0\assets\06_有效率.png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4.2　评价目标与已知条件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方法的评价取决于使用目标。参数估计与不同寿命指标下的方法排序可能不同。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B10的最低RMSE方法随n和β变化，B1则在多数条件下由MDM取得最低RMSE。评价指标改变后，方法的相对表现也发生变化。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部分条件下，第一与第二方法的RMSE接近，单一名次不足以反映差异幅度。方法选择还应结合稳定性与异常风险。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*图注：格内为共同有效样本上RMSE最低的方法，下行为第二名高出的比例。B10、B1分别为10%、1%失效分位寿命。*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拟条件表以真实β为依据。实际使用时，β范围未知，需要在给定参考范围内综合评价；β范围可预估时，可以缩小候选区域。选择还取决于目标参数或寿命指标，以及对波动和异常风险的要求。利用未知样本进行方法选择的规则及其收益仍需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4.2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图源：D:\weibull\Study\04-study-小样本三参数Weibull估计方法比较与选择\reviewbyhtml\方法对比-v1.0\assets\v04_06_寿命目标及候选差距.png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4.2　评价目标与已知条件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方法的评价取决于使用目标。参数估计与不同寿命指标下的方法排序可能不同。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B10的最低RMSE方法随n和β变化，B1则在多数条件下由MDM取得最低RMSE。评价指标改变后，方法的相对表现也发生变化。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部分条件下，第一与第二方法的RMSE接近，单一名次不足以反映差异幅度。方法选择还应结合稳定性与异常风险。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*图注：格内为共同有效样本上RMSE最低的方法，下行为第二名高出的比例。B10、B1分别为10%、1%失效分位寿命。*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拟条件表以真实β为依据。实际使用时，β范围未知，需要在给定参考范围内综合评价；β范围可预估时，可以缩小候选区域。选择还取决于目标参数或寿命指标，以及对波动和异常风险的要求。利用未知样本进行方法选择的规则及其收益仍需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4.2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5　后续研究与平台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相同n和总体参数下，具体样本仍存在差异。后续考虑利用人工智能方法，根据样本可观测特征与使用目标选择估计方法，并优化方法内部的过程量和求解过程。选择规则的收益需要在新样本上验证。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我们也在weibull.work整理方法实现与相关分析，目前已有部分方法可以在线调用。网站仍在建设，未来希望把样本分析、方法选择与求解优化结合起来，也欢迎大家试用并提出建议。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图源：D:\weibull\Study\04-study-小样本三参数Weibull估计方法比较与选择\reviewbyhtml\方法对比-v1.0\assets\RMSE玫瑰图_n50_八档β.png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图源：D:\weibull\Study\04-study-小样本三参数Weibull估计方法比较与选择\reviewbyhtml\方法对比-v1.0\assets\RMSE玫瑰图_n20_八档β.png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图源：D:\weibull\Study\04-study-小样本三参数Weibull估计方法比较与选择\reviewbyhtml\方法对比-v1.0\assets\RMSE玫瑰图_n15_八档β.png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图源：D:\weibull\Study\04-study-小样本三参数Weibull估计方法比较与选择\reviewbyhtml\方法对比-v1.0\assets\RMSE玫瑰图_n10_八档β.png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图源：D:\weibull\Study\04-study-小样本三参数Weibull估计方法比较与选择\reviewbyhtml\方法对比-v1.0\assets\RMSE玫瑰图_n7_八档β.png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图源：D:\weibull\Study\04-study-小样本三参数Weibull估计方法比较与选择\reviewbyhtml\方法对比-v1.0\assets\R00_图2_样本与真实起点.png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3.2　形状条件下的偏移与边界聚集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n下，β=5时的最小观测比β=2时更远离真实起点；样本量减小时，这段距离进一步增大。下排最小观测的分布也显示，较大β下，即使增加样本，最小观测仍可能与起点保持较大距离。观测集中于分布中部，起点附近缺少数据，位置参数需要从较远处外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*复用Research00报告1图2：η=1000、γ=500，β=2、5，n=7、15、30。橙点为每组样本的最小观测，灰线为其到真实起点的距离；下排为最小观测的理论密度。历史样本仅用于解释，不并入本轮1200次统计。*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小观测远离起点时，有限样本主要覆盖分布中部。图中的两组参数虽然相差较大，在这些观测所在的区间内，分布曲线仍较接近。因此，样本可能容许不同的参数组合；还需要追踪方法判据为什么选中了其中某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*复用Research00报告1图3：β=5、n=7第31组样本；黑点累计概率由样本排序近似。两条曲线用于说明参数相容，不代表该样本必然被估成其中某一组参数。*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方向性偏移的形成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仍按同一个梯度阈值定位。高β时，各观测反算的伪尺度随位置变化更接近同步，标准差梯度较小，阈值交点可能出现在偏高位置。位置提高后，小观测到起点的距离缩短比例更大，需要更小的形状维持伪尺度的一致，再恢复出更小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图中先看梯度交点，再沿同一位置看形状与尺度。这样，位置偏高、形状偏低、尺度偏低对应的是同一估计过程的传递，三个参数的偏差有共同来源。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*Research00报告1图5，δ=0.1；β=2、5，n=7第48组配对样本。用于说明传递路径，不据单例认定全部方法或全部样本均如此。*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边界聚集的形成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移动位置是为了让对数距离与参考坐标更接近直线。左移位置会压缩下端对数间距；当这能改善点列匹配时，准则倾向于更低位置。图中橙色样本在允许范围内的最低点落到γ=0，紫色样本的最低点则留在内部。γ≥0的约束使不同样本都可能返回同一个零值，重复估计中便形成边界聚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选低位置也压缩了整体对数跨度，使LSE回归斜率减小，取倒数后形状升高。因此，边界位置和形状高估可以沿同一条恢复关系连接起来。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*复用报告2图6：正常与零边界样本为W(2,100,500)、n=15第35、36组；内部左偏为W(2,1000,3000)、n=7第1组。这里借用其机制图，不将这些历史条件并入本轮β=5统计。*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　明显异常估计的形成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明显异常估计要追踪异常在哪个估计环节形成。Research00报告2区分了两种情况：当前方法的准则确实支持一组明显偏离真值的参数；或搜索、停止、候选接受没有正确落实预定规则。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样本结构改变判据，异常参数仍可满足方法规则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LSE：改善线性匹配后，形状反而明显低估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WMLE：两条方程均满足，参数仍明显偏离真值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SE的异常样本中，前几个观测相对集中，另有一个较远观测。真位置下的点列与参考坐标匹配较差，右移位置能拉开下端对数间距，使点列更接近直线。准则因此选中靠近最小观测的位置，但随之增大的回归斜率取倒数后，形状明显降低，尺度也由缩小的距离恢复为较低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MLE的异常样本改变了下端距离、对数距离和幂加权距离，两条方程的共同交点移向较高位置、较低形状。将返回参数代回，残差仍接近零。这里不是方程没有解对，而是这些样本统计量本身支持了偏离真值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*复用报告2图7、12。LSE为W(2,1000,500)、n=7第18、19组；WMLE为W(5,100,500)、n=7第3、11组。保留历史实现及参数条件，只解释形成路径。*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数值求解未落实规则，也能形成异常返回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旧MLE的第37组在近零位置停止，优化器标记收敛；其他起点的返回结果又因形状不满足接受条件被剔除，最终只剩这个候选。但图中向右仍可提高似然，说明搜索停止及候选接受没有实现预期的最优选择。近零位置进一步压缩对数跨度，形成较大的形状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*报告2图17，W(2,1000,3000)、n=7第37、38组，采用旧MLE。Study04已更新求解器，此例用于区分计算来源，不认定新版仍有同一缺陷。*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前两例应研究估计准则对样本结构的响应；后一例应改进求解与候选检查。异常表现相近，形成环节不同，改进方向也不同。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3.2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图源：D:\weibull\Study\04-study-小样本三参数Weibull估计方法比较与选择\reviewbyhtml\方法对比-v1.0\assets\R00_MDM_位置形状尺度传递.png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2.1　样本量减小下的不同表现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n =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*图注：五张图共用线性半径；扇区越长，标准化RMSE越大。MM的数值另列。*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β观察，样本量减少时，估计误差总体增大，但各方法的增幅不同。部分方法的误差上升较快，部分方法变化较缓，方法间的差距也随之改变。固定n观察，β增大时位置误差的增长较为一致，形状和尺度误差的变化则因方法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比较方向 | 观察到的变化 | 初步认识 |</a:t>
            </a:r>
          </a:p>
          <a:p xmlns:a="http://schemas.openxmlformats.org/drawingml/2006/main">
            <a:r>
              <a:t>| --- | --- | --- |</a:t>
            </a:r>
          </a:p>
          <a:p xmlns:a="http://schemas.openxmlformats.org/drawingml/2006/main">
            <a:r>
              <a:t>| 固定β，减小n | RMSE多数增大，各方法增幅不同 | 样本减少通常降低估计精度 |</a:t>
            </a:r>
          </a:p>
          <a:p xmlns:a="http://schemas.openxmlformats.org/drawingml/2006/main">
            <a:r>
              <a:t>| 固定n，增大β | 位置误差普遍增大，形状和尺度误差的变化存在方法差异 | 形状条件对各参数的影响不同 |</a:t>
            </a:r>
          </a:p>
          <a:p xmlns:a="http://schemas.openxmlformats.org/drawingml/2006/main">
            <a:r>
              <a:t>| 交叉观察n与β | 同一方法在不同β下的误差增幅不同 | 样本量的影响随形状条件改变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上两行：β=1.5和5下，两种方法的标准化RMSE差距随n变化。第三行：每行是一对方法，每列是一档β；颜色表示“n=7的差距减去n=50的差距”。红色为差距扩大，蓝色为差距缩小，白色附近为变化较小。三列子图分别对应形状、尺度和位置参数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方法对，是为了观察方法之间的精度差距怎样变化。差距定义为两种方法标准化RMSE之差的绝对值，只表示相隔多远，不表示谁更好。图中列出MDM、LSE、LRE、WMLE、MLE、K–R六法的全部15个配对，并未挑选部分方法对。MM因极端RMSE另列，不进入此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*仍使用七法共同有效样本；形状RMSE除以真β，尺度和位置RMSE除以真η。差距扩大或缩小，与两种方法各自误差是否增加是不同问题。*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β=1.5时，七种方法的RMSE均随样本减少而上升；联合图中六种方法的两两差距也普遍拉开。此时，各方法的变化方向较为一致，区别主要表现为上升幅度不同。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β=5时，RMSE仍多向上，但方法间距离的变化不再一致：一些方法对继续分离，另一些逐渐接近，部分距离曲线还出现转折。比较n=50与7，LSE、LRE与WMLE的尺度和位置RMSE更接近，而它们与K–R的差距增大。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形状条件改变后，样本减少对方法关系的影响，可从普遍拉开转为拉开与接近并存。误差上升的共同方向，并不意味着方法间的精度关系保持不变。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n | 形状Bias | 形状SD | 形状RMSE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10 | -2.263 | 0.982 | 2.466 |</a:t>
            </a:r>
          </a:p>
          <a:p xmlns:a="http://schemas.openxmlformats.org/drawingml/2006/main">
            <a:r>
              <a:t>| 7 | -2.614 | 0.713 | 2.710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*表：WMLE，β=5；七法共同有效结果，Bias保留符号。自身有效结果也支持SD下降、负偏差加重和RMSE上升的方向。*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样本减少时，误差增大也不总表现为分布展宽。β=5的WMLE形状估计在n从10减至7时，SD下降，负偏差却加重，RMSE仍然上升。各方法不仅误差增幅不同，误差增长的表现也可能不同。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　形状参数增大时的估计分布变化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1.5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2.5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3.5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4.5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#### β =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*图注：行对应n=50、7，列对应形状、尺度、位置。虚线为真值，红点为均值，横线为四分位区间。密度显示主体分布，统计量使用全部有效值。*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β=1.5时，两档n下多数方法的主体分布形态相近。n=7的估计范围通常更宽，LSE、LRE的位置估计还出现了零边界结果。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固定n，β从1.5增至5时，估计分布进一步变化。LSE、LRE的尺度和位置估计逐渐展宽，即使n=50，四分位区间也明显扩大。因此，分布展宽并不只出现在极小样本条件。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MDM、WMLE和K–R则表现出有规律的参数偏移：形状估计的增幅落后于真β，低估加重；尺度估计向低值偏移，位置估计向高值偏移。两档n下均能观察到这一方向，n=7时偏移更明显。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LSE、LRE的位置估计进一步向γ=0聚集，这在n=50时已可见，n=7时边界结果更多。原尺度密度图也呈双峰外观；后续核对发现，剔除零位置结果后未保留两个明显峰，因此这里将边界聚集与非边界估计的偏移分别考察，不据原图认定存在“接近真值与偏移”的两个内部群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### 2.3　明显异常估计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估计分布中还存在明显偏离真值的结果。这里沿用Research00报告2的判据，将形状估计不超过真值的1/3，或达到真值的3倍，记为明显异常估计。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β=5、n=7，LSE | 形状 | 尺度 | 位置 |</a:t>
            </a:r>
          </a:p>
          <a:p xmlns:a="http://schemas.openxmlformats.org/drawingml/2006/main">
            <a:r>
              <a:t>| --- | --- | --- | --- |</a:t>
            </a:r>
          </a:p>
          <a:p xmlns:a="http://schemas.openxmlformats.org/drawingml/2006/main">
            <a:r>
              <a:t>| 真值 | 5 | 1000 | 500 |</a:t>
            </a:r>
          </a:p>
          <a:p xmlns:a="http://schemas.openxmlformats.org/drawingml/2006/main">
            <a:r>
              <a:t>| 第34组：接近真值的例子 | 5.55 | 836.77 | 681.73 |</a:t>
            </a:r>
          </a:p>
          <a:p xmlns:a="http://schemas.openxmlformats.org/drawingml/2006/main">
            <a:r>
              <a:t>| 第0组：明显低估的例子 | 1.24 | 282.98 | 1205.95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相同总体、相同样本量和相同方法，不同抽样仍可能得到相差很大的参数。异常例子中，形状和尺度明显偏低，位置则偏高；这种偏离已经超出估计结果在真值附近的小幅波动。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*两例来自本轮存档W(5,1000,500)、n=7，样本编号从0开始；仅用于展示，不代表其发生频率。*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*图注：异常为β̂≤β/3或β̂≥3β；频率以各方法自身有效结果为分母，求解失败另行统计。*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随着n减小，明显异常估计更常见。八档β下，七种方法在n=7时的异常频率都高于n=50。β=5时，异常频率在五档n上逐档上升。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异常增多的程度和方向存在方法差异：较大β、小n下，多种方法以形状低估为主；MLE在低β、小n下也有较高异常频率。它们不能由一种固定的异常模式概括。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2.4　主要现象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n减小时，估计误差总体增大，但各方法的增幅不同。固定β，部分方法对样本量减少更敏感，误差上升较快；部分方法增幅较小。因此，方法间的差距也随样本量改变，而非保持原有的精度关系。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相同n下，β增大时，三个参数的估计呈现不同的偏移和分布变化。部分方法的形状低估加重，并伴随尺度偏小、位置偏大；另一些方法的尺度和位置估计更分散，还出现边界聚集。β变化的影响不仅体现在误差大小，也体现在参数偏移的方向和估计分布的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n减小时，明显异常估计更常见。这一变化在八档β、七种方法的n=50与7比较中均可见，但异常增多的程度及其偏移方向因方法和参数条件而异。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来源：D:\weibull\Study\04-study-小样本三参数Weibull估计方法比较与选择\报告下（方法对比）-v2.1.md；### 2.3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生成依据：报告上v2.3工作稿（v2.2审定基线） / 报告下v2.1；2026-10-23；演讲日期2026-10-25。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1229e652540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447b5d864a4b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bccf0cba244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9db348fd34e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726996dfb49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1e71a0c5148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2162F9-78F1-4D44-8B07-55FE0D9E0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93F8EE-F5AC-441B-A5BC-39BBD34738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687CCF6-FE10-40B5-9736-0BEA11E16C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60F2F2-003F-4249-BF10-A4515F05F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5002E1-0BC3-4533-A393-26B94A3892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1F255D-D96D-4267-9CCB-8CE82869A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C3A2A3C-7CC1-409E-BB8F-4F85EB8B48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F741FC8-A222-44F2-ABE5-9E89CC1091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143B34-663F-401B-9FA1-8F424F21F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FBCB88-1FDC-43AA-AEA6-69FF52A66A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f9b3239d3b4592" /><Relationship Type="http://schemas.openxmlformats.org/officeDocument/2006/relationships/slideLayout" Target="/ppt/slideLayouts/slideLayout1.xml" Id="R1883abe7dcbe448d" /><Relationship Type="http://schemas.openxmlformats.org/officeDocument/2006/relationships/slideLayout" Target="/ppt/slideLayouts/slideLayout2.xml" Id="Rd151269a59c44f8b" /><Relationship Type="http://schemas.openxmlformats.org/officeDocument/2006/relationships/slideLayout" Target="/ppt/slideLayouts/slideLayout3.xml" Id="R65509375969d446e" /><Relationship Type="http://schemas.openxmlformats.org/officeDocument/2006/relationships/slideLayout" Target="/ppt/slideLayouts/slideLayout4.xml" Id="R2b8f631b7f394741" /><Relationship Type="http://schemas.openxmlformats.org/officeDocument/2006/relationships/slideLayout" Target="/ppt/slideLayouts/slideLayout5.xml" Id="R7e68c26575ca4c47" /><Relationship Type="http://schemas.openxmlformats.org/officeDocument/2006/relationships/slideLayout" Target="/ppt/slideLayouts/slideLayout6.xml" Id="R5ce3364c48904d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83abe7dcbe448d"/>
    <p:sldLayoutId xmlns:r="http://schemas.openxmlformats.org/officeDocument/2006/relationships" id="2147483650" r:id="Rd151269a59c44f8b"/>
    <p:sldLayoutId xmlns:r="http://schemas.openxmlformats.org/officeDocument/2006/relationships" id="2147483651" r:id="R65509375969d446e"/>
    <p:sldLayoutId xmlns:r="http://schemas.openxmlformats.org/officeDocument/2006/relationships" id="2147483652" r:id="R2b8f631b7f394741"/>
    <p:sldLayoutId xmlns:r="http://schemas.openxmlformats.org/officeDocument/2006/relationships" id="2147483653" r:id="R7e68c26575ca4c47"/>
    <p:sldLayoutId xmlns:r="http://schemas.openxmlformats.org/officeDocument/2006/relationships" id="2147483654" r:id="R5ce3364c48904d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788fb8bc0447e" /><Relationship Type="http://schemas.openxmlformats.org/officeDocument/2006/relationships/image" Target="/ppt/media/image.png" Id="R3c75ea7abb9444bc" /><Relationship Type="http://schemas.openxmlformats.org/officeDocument/2006/relationships/notesSlide" Target="/ppt/notesSlides/notesSlide1.xml" Id="Rd4a06698632e4b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b48926e861402e" /><Relationship Type="http://schemas.openxmlformats.org/officeDocument/2006/relationships/image" Target="/ppt/media/image2.png" Id="R19559b88795a4cf2" /><Relationship Type="http://schemas.openxmlformats.org/officeDocument/2006/relationships/notesSlide" Target="/ppt/notesSlides/notesSlide2.xml" Id="R8df736a0cceb49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5e4eb76ab46f7" /><Relationship Type="http://schemas.openxmlformats.org/officeDocument/2006/relationships/image" Target="/ppt/media/image3.png" Id="R68e2d7675c9a40e6" /><Relationship Type="http://schemas.openxmlformats.org/officeDocument/2006/relationships/image" Target="/ppt/media/image4.png" Id="R32e0c78c4c074699" /><Relationship Type="http://schemas.openxmlformats.org/officeDocument/2006/relationships/notesSlide" Target="/ppt/notesSlides/notesSlide3.xml" Id="R5b010866439542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c23bb77c2247f7" /><Relationship Type="http://schemas.openxmlformats.org/officeDocument/2006/relationships/image" Target="/ppt/media/image5.png" Id="R1356435716754535" /><Relationship Type="http://schemas.openxmlformats.org/officeDocument/2006/relationships/notesSlide" Target="/ppt/notesSlides/notesSlide4.xml" Id="R7ed83e4e488c41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3da5a7cc44c5a" /><Relationship Type="http://schemas.openxmlformats.org/officeDocument/2006/relationships/image" Target="/ppt/media/image6.png" Id="R6ec6ca9d9ec04487" /><Relationship Type="http://schemas.openxmlformats.org/officeDocument/2006/relationships/image" Target="/ppt/media/image7.png" Id="R15c440c3f0034660" /><Relationship Type="http://schemas.openxmlformats.org/officeDocument/2006/relationships/notesSlide" Target="/ppt/notesSlides/notesSlide5.xml" Id="R4730ef01f5fd4b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6fee60cda34c96" /><Relationship Type="http://schemas.openxmlformats.org/officeDocument/2006/relationships/image" Target="/ppt/media/image8.png" Id="R262011c297fc446d" /><Relationship Type="http://schemas.openxmlformats.org/officeDocument/2006/relationships/image" Target="/ppt/media/image9.png" Id="R2274a84aa5f6453e" /><Relationship Type="http://schemas.openxmlformats.org/officeDocument/2006/relationships/notesSlide" Target="/ppt/notesSlides/notesSlide6.xml" Id="Rb5579270b12c43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47dfce1844f56" /><Relationship Type="http://schemas.openxmlformats.org/officeDocument/2006/relationships/image" Target="/ppt/media/image10.png" Id="R45490599ebd04278" /><Relationship Type="http://schemas.openxmlformats.org/officeDocument/2006/relationships/image" Target="/ppt/media/image11.png" Id="Ra9e2c383d72b434e" /><Relationship Type="http://schemas.openxmlformats.org/officeDocument/2006/relationships/notesSlide" Target="/ppt/notesSlides/notesSlide7.xml" Id="Rd5a13906ec584b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22cd10ec0d4438" /><Relationship Type="http://schemas.openxmlformats.org/officeDocument/2006/relationships/image" Target="/ppt/media/image12.png" Id="R2a8b5671d0784ec1" /><Relationship Type="http://schemas.openxmlformats.org/officeDocument/2006/relationships/image" Target="/ppt/media/image13.png" Id="R4d7b367277804f88" /><Relationship Type="http://schemas.openxmlformats.org/officeDocument/2006/relationships/notesSlide" Target="/ppt/notesSlides/notesSlide8.xml" Id="Rfa5106ce55ff4e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4e31188264335" /><Relationship Type="http://schemas.openxmlformats.org/officeDocument/2006/relationships/image" Target="/ppt/media/image14.png" Id="R27fb535d02454062" /><Relationship Type="http://schemas.openxmlformats.org/officeDocument/2006/relationships/image" Target="/ppt/media/image15.png" Id="Re9b8f758ce7045cd" /><Relationship Type="http://schemas.openxmlformats.org/officeDocument/2006/relationships/notesSlide" Target="/ppt/notesSlides/notesSlide9.xml" Id="R37e76781521b4f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4d97d48bb450b" /><Relationship Type="http://schemas.openxmlformats.org/officeDocument/2006/relationships/image" Target="/ppt/media/image16.png" Id="R03b3f9e4c382433f" /><Relationship Type="http://schemas.openxmlformats.org/officeDocument/2006/relationships/image" Target="/ppt/media/image17.png" Id="R330f5db890b94bbb" /><Relationship Type="http://schemas.openxmlformats.org/officeDocument/2006/relationships/notesSlide" Target="/ppt/notesSlides/notesSlide10.xml" Id="R6bf5c18262144a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bb2cdc365f448f" /><Relationship Type="http://schemas.openxmlformats.org/officeDocument/2006/relationships/image" Target="/ppt/media/image18.png" Id="R96fd236427c64ff0" /><Relationship Type="http://schemas.openxmlformats.org/officeDocument/2006/relationships/image" Target="/ppt/media/image19.png" Id="R6e286360ed424bf1" /><Relationship Type="http://schemas.openxmlformats.org/officeDocument/2006/relationships/notesSlide" Target="/ppt/notesSlides/notesSlide11.xml" Id="R0a066c86018e47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97a57ccae474e" /><Relationship Type="http://schemas.openxmlformats.org/officeDocument/2006/relationships/image" Target="/ppt/media/image20.png" Id="R8062724a32924cf3" /><Relationship Type="http://schemas.openxmlformats.org/officeDocument/2006/relationships/image" Target="/ppt/media/image21.png" Id="R7568db41b6104942" /><Relationship Type="http://schemas.openxmlformats.org/officeDocument/2006/relationships/notesSlide" Target="/ppt/notesSlides/notesSlide12.xml" Id="R780f061b369a43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5f594681540b5" /><Relationship Type="http://schemas.openxmlformats.org/officeDocument/2006/relationships/image" Target="/ppt/media/image22.png" Id="Rc8953b4c84094654" /><Relationship Type="http://schemas.openxmlformats.org/officeDocument/2006/relationships/image" Target="/ppt/media/image23.png" Id="R2bf2401756af4a32" /><Relationship Type="http://schemas.openxmlformats.org/officeDocument/2006/relationships/notesSlide" Target="/ppt/notesSlides/notesSlide13.xml" Id="R9af87c40574d4a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285ad404bf467d" /><Relationship Type="http://schemas.openxmlformats.org/officeDocument/2006/relationships/image" Target="/ppt/media/image24.png" Id="R441a8f46a57e407c" /><Relationship Type="http://schemas.openxmlformats.org/officeDocument/2006/relationships/image" Target="/ppt/media/image25.png" Id="R1893da8fef134d1b" /><Relationship Type="http://schemas.openxmlformats.org/officeDocument/2006/relationships/notesSlide" Target="/ppt/notesSlides/notesSlide14.xml" Id="R40400320914448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f7e0575bb4e4b" /><Relationship Type="http://schemas.openxmlformats.org/officeDocument/2006/relationships/image" Target="/ppt/media/image26.png" Id="R0f3f6d56e52f4182" /><Relationship Type="http://schemas.openxmlformats.org/officeDocument/2006/relationships/notesSlide" Target="/ppt/notesSlides/notesSlide15.xml" Id="R56767292be974d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43be775db4763" /><Relationship Type="http://schemas.openxmlformats.org/officeDocument/2006/relationships/image" Target="/ppt/media/image27.png" Id="Redc35c6fab9242c7" /><Relationship Type="http://schemas.openxmlformats.org/officeDocument/2006/relationships/notesSlide" Target="/ppt/notesSlides/notesSlide16.xml" Id="R14867033b52f4e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0e8340a644831" /><Relationship Type="http://schemas.openxmlformats.org/officeDocument/2006/relationships/image" Target="/ppt/media/image28.png" Id="R78d79296d49645bf" /><Relationship Type="http://schemas.openxmlformats.org/officeDocument/2006/relationships/notesSlide" Target="/ppt/notesSlides/notesSlide17.xml" Id="R50389066941d4fb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d33b4177842ef" /><Relationship Type="http://schemas.openxmlformats.org/officeDocument/2006/relationships/image" Target="/ppt/media/image29.png" Id="R55c97b316ef44531" /><Relationship Type="http://schemas.openxmlformats.org/officeDocument/2006/relationships/image" Target="/ppt/media/image30.png" Id="R8dcbad69ed3b4075" /><Relationship Type="http://schemas.openxmlformats.org/officeDocument/2006/relationships/image" Target="/ppt/media/image31.png" Id="R9ecefda111e646e4" /><Relationship Type="http://schemas.openxmlformats.org/officeDocument/2006/relationships/notesSlide" Target="/ppt/notesSlides/notesSlide18.xml" Id="R015ff0e86a0b43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03558e9c349ff" /><Relationship Type="http://schemas.openxmlformats.org/officeDocument/2006/relationships/image" Target="/ppt/media/image32.png" Id="R966593421e8d4957" /><Relationship Type="http://schemas.openxmlformats.org/officeDocument/2006/relationships/image" Target="/ppt/media/image33.png" Id="R02e0b11f23c44684" /><Relationship Type="http://schemas.openxmlformats.org/officeDocument/2006/relationships/image" Target="/ppt/media/image34.png" Id="R1da884f0617148ba" /><Relationship Type="http://schemas.openxmlformats.org/officeDocument/2006/relationships/notesSlide" Target="/ppt/notesSlides/notesSlide19.xml" Id="R323d080d2feb4d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b2f386fe548dd" /><Relationship Type="http://schemas.openxmlformats.org/officeDocument/2006/relationships/image" Target="/ppt/media/image35.png" Id="R344d400b61784535" /><Relationship Type="http://schemas.openxmlformats.org/officeDocument/2006/relationships/image" Target="/ppt/media/image36.png" Id="Rceacccb8a70b43de" /><Relationship Type="http://schemas.openxmlformats.org/officeDocument/2006/relationships/image" Target="/ppt/media/image37.png" Id="Rc4b75ed4c99b4cbd" /><Relationship Type="http://schemas.openxmlformats.org/officeDocument/2006/relationships/notesSlide" Target="/ppt/notesSlides/notesSlide20.xml" Id="R13e3dc95f47e4b7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18399908f4a9f" /><Relationship Type="http://schemas.openxmlformats.org/officeDocument/2006/relationships/image" Target="/ppt/media/image38.png" Id="Rda19d78699514c3a" /><Relationship Type="http://schemas.openxmlformats.org/officeDocument/2006/relationships/image" Target="/ppt/media/image39.png" Id="R3dfd040c9bd243c2" /><Relationship Type="http://schemas.openxmlformats.org/officeDocument/2006/relationships/image" Target="/ppt/media/image40.png" Id="Rb6a016913746489a" /><Relationship Type="http://schemas.openxmlformats.org/officeDocument/2006/relationships/notesSlide" Target="/ppt/notesSlides/notesSlide21.xml" Id="R3684a831687746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3bc5653ff546e0" /><Relationship Type="http://schemas.openxmlformats.org/officeDocument/2006/relationships/image" Target="/ppt/media/image41.png" Id="Rffdb8d6a053946fd" /><Relationship Type="http://schemas.openxmlformats.org/officeDocument/2006/relationships/image" Target="/ppt/media/image42.png" Id="Re2d2a781e518421d" /><Relationship Type="http://schemas.openxmlformats.org/officeDocument/2006/relationships/image" Target="/ppt/media/image43.png" Id="R80a7cd457be941fc" /><Relationship Type="http://schemas.openxmlformats.org/officeDocument/2006/relationships/notesSlide" Target="/ppt/notesSlides/notesSlide22.xml" Id="R8c8bcc0ec58f44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263eae07784c9f" /><Relationship Type="http://schemas.openxmlformats.org/officeDocument/2006/relationships/image" Target="/ppt/media/image44.png" Id="Rf9d18905a92c4eca" /><Relationship Type="http://schemas.openxmlformats.org/officeDocument/2006/relationships/image" Target="/ppt/media/image45.png" Id="R1c9b1483d68b45d1" /><Relationship Type="http://schemas.openxmlformats.org/officeDocument/2006/relationships/notesSlide" Target="/ppt/notesSlides/notesSlide23.xml" Id="R55ff10395c18405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57a77e0e34149" /><Relationship Type="http://schemas.openxmlformats.org/officeDocument/2006/relationships/image" Target="/ppt/media/image46.png" Id="R36bbde0de76940f2" /><Relationship Type="http://schemas.openxmlformats.org/officeDocument/2006/relationships/image" Target="/ppt/media/image47.png" Id="Re425eb5ce8d94435" /><Relationship Type="http://schemas.openxmlformats.org/officeDocument/2006/relationships/notesSlide" Target="/ppt/notesSlides/notesSlide24.xml" Id="Rbd95d63e661041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66ef780a04d92" /><Relationship Type="http://schemas.openxmlformats.org/officeDocument/2006/relationships/image" Target="/ppt/media/image48.png" Id="Rd484240afd5d49aa" /><Relationship Type="http://schemas.openxmlformats.org/officeDocument/2006/relationships/image" Target="/ppt/media/image49.png" Id="Rfefb42ab7b844395" /><Relationship Type="http://schemas.openxmlformats.org/officeDocument/2006/relationships/notesSlide" Target="/ppt/notesSlides/notesSlide25.xml" Id="R750bc93d88294cc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56572ee89643ec" /><Relationship Type="http://schemas.openxmlformats.org/officeDocument/2006/relationships/image" Target="/ppt/media/image50.png" Id="Rcc7c5e604ddb4f1f" /><Relationship Type="http://schemas.openxmlformats.org/officeDocument/2006/relationships/image" Target="/ppt/media/image51.png" Id="Rcc7ab7ae89d845de" /><Relationship Type="http://schemas.openxmlformats.org/officeDocument/2006/relationships/notesSlide" Target="/ppt/notesSlides/notesSlide26.xml" Id="R573e3f4e7ec84b9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65a18dac014b14" /><Relationship Type="http://schemas.openxmlformats.org/officeDocument/2006/relationships/image" Target="/ppt/media/image52.png" Id="R93c34c892f0e4cd6" /><Relationship Type="http://schemas.openxmlformats.org/officeDocument/2006/relationships/image" Target="/ppt/media/image53.png" Id="Rc1de8f3ed74e4151" /><Relationship Type="http://schemas.openxmlformats.org/officeDocument/2006/relationships/notesSlide" Target="/ppt/notesSlides/notesSlide27.xml" Id="Rdedfe6c118f741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e4ea5a2624293" /><Relationship Type="http://schemas.openxmlformats.org/officeDocument/2006/relationships/image" Target="/ppt/media/image54.png" Id="R367c7c1052144422" /><Relationship Type="http://schemas.openxmlformats.org/officeDocument/2006/relationships/image" Target="/ppt/media/image55.png" Id="R5917ef86e1c14297" /><Relationship Type="http://schemas.openxmlformats.org/officeDocument/2006/relationships/notesSlide" Target="/ppt/notesSlides/notesSlide28.xml" Id="Rdc386624f6cb49e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9049e6e244fcb" /><Relationship Type="http://schemas.openxmlformats.org/officeDocument/2006/relationships/image" Target="/ppt/media/image56.png" Id="Rf659b6bd1e8f4e93" /><Relationship Type="http://schemas.openxmlformats.org/officeDocument/2006/relationships/image" Target="/ppt/media/image57.png" Id="R1233a0bb544b492c" /><Relationship Type="http://schemas.openxmlformats.org/officeDocument/2006/relationships/notesSlide" Target="/ppt/notesSlides/notesSlide29.xml" Id="Rac6c5cb69b9845a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c938e62aa74aa6" /><Relationship Type="http://schemas.openxmlformats.org/officeDocument/2006/relationships/image" Target="/ppt/media/image58.png" Id="R0ab96144d2fd4497" /><Relationship Type="http://schemas.openxmlformats.org/officeDocument/2006/relationships/image" Target="/ppt/media/image59.png" Id="R6273e7ca51ee4feb" /><Relationship Type="http://schemas.openxmlformats.org/officeDocument/2006/relationships/notesSlide" Target="/ppt/notesSlides/notesSlide30.xml" Id="R034488aa420b4a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f338063614098" /><Relationship Type="http://schemas.openxmlformats.org/officeDocument/2006/relationships/image" Target="/ppt/media/image60.png" Id="Rcd66a2853c114344" /><Relationship Type="http://schemas.openxmlformats.org/officeDocument/2006/relationships/image" Target="/ppt/media/image61.png" Id="Rdd7272ef469e451a" /><Relationship Type="http://schemas.openxmlformats.org/officeDocument/2006/relationships/notesSlide" Target="/ppt/notesSlides/notesSlide31.xml" Id="Rc3afdadd02eb415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56eb3dcdd403e" /><Relationship Type="http://schemas.openxmlformats.org/officeDocument/2006/relationships/image" Target="/ppt/media/image62.png" Id="R10546f46e52a4720" /><Relationship Type="http://schemas.openxmlformats.org/officeDocument/2006/relationships/image" Target="/ppt/media/image63.png" Id="R4a372175318e4e06" /><Relationship Type="http://schemas.openxmlformats.org/officeDocument/2006/relationships/notesSlide" Target="/ppt/notesSlides/notesSlide32.xml" Id="R1574584e38f74c7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512c00511c4791" /><Relationship Type="http://schemas.openxmlformats.org/officeDocument/2006/relationships/image" Target="/ppt/media/image64.png" Id="R2399bafad1fd47dc" /><Relationship Type="http://schemas.openxmlformats.org/officeDocument/2006/relationships/image" Target="/ppt/media/image65.png" Id="R65a58760599d47f4" /><Relationship Type="http://schemas.openxmlformats.org/officeDocument/2006/relationships/notesSlide" Target="/ppt/notesSlides/notesSlide33.xml" Id="R484ce2c0d1b4410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1059a8a954a27" /><Relationship Type="http://schemas.openxmlformats.org/officeDocument/2006/relationships/image" Target="/ppt/media/image66.png" Id="R1460a7ea86244c87" /><Relationship Type="http://schemas.openxmlformats.org/officeDocument/2006/relationships/notesSlide" Target="/ppt/notesSlides/notesSlide34.xml" Id="R053bbfd050c4418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e2fe254e0436e" /><Relationship Type="http://schemas.openxmlformats.org/officeDocument/2006/relationships/image" Target="/ppt/media/image67.png" Id="R38998c0961664f55" /><Relationship Type="http://schemas.openxmlformats.org/officeDocument/2006/relationships/image" Target="/ppt/media/image68.png" Id="R365537df0cb64a4a" /><Relationship Type="http://schemas.openxmlformats.org/officeDocument/2006/relationships/notesSlide" Target="/ppt/notesSlides/notesSlide35.xml" Id="Re84609d09402473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6a47bb71b4d8c" /><Relationship Type="http://schemas.openxmlformats.org/officeDocument/2006/relationships/image" Target="/ppt/media/image69.png" Id="R7498c39398664f14" /><Relationship Type="http://schemas.openxmlformats.org/officeDocument/2006/relationships/image" Target="/ppt/media/image70.png" Id="Rd86893a9abc04e67" /><Relationship Type="http://schemas.openxmlformats.org/officeDocument/2006/relationships/notesSlide" Target="/ppt/notesSlides/notesSlide36.xml" Id="Ra6c6a928e5a74f8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7fa861e1c4041" /><Relationship Type="http://schemas.openxmlformats.org/officeDocument/2006/relationships/image" Target="/ppt/media/image71.png" Id="R9c03c1621b924c2e" /><Relationship Type="http://schemas.openxmlformats.org/officeDocument/2006/relationships/image" Target="/ppt/media/image72.png" Id="Rc8cddd8baba14dd2" /><Relationship Type="http://schemas.openxmlformats.org/officeDocument/2006/relationships/notesSlide" Target="/ppt/notesSlides/notesSlide37.xml" Id="Rbfa659cd3885450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db2c1bae14a5c" /><Relationship Type="http://schemas.openxmlformats.org/officeDocument/2006/relationships/image" Target="/ppt/media/image73.png" Id="R6d179631b98243f0" /><Relationship Type="http://schemas.openxmlformats.org/officeDocument/2006/relationships/image" Target="/ppt/media/image74.png" Id="R781599e1b03d4892" /><Relationship Type="http://schemas.openxmlformats.org/officeDocument/2006/relationships/image" Target="/ppt/media/image75.png" Id="Rfea480818c0946d2" /><Relationship Type="http://schemas.openxmlformats.org/officeDocument/2006/relationships/notesSlide" Target="/ppt/notesSlides/notesSlide38.xml" Id="Rd6d8376c823f49b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50b2bcddb54b55" /><Relationship Type="http://schemas.openxmlformats.org/officeDocument/2006/relationships/image" Target="/ppt/media/image76.png" Id="R6ec76e5e3ae44e9a" /><Relationship Type="http://schemas.openxmlformats.org/officeDocument/2006/relationships/image" Target="/ppt/media/image77.png" Id="R20064b295d314cdc" /><Relationship Type="http://schemas.openxmlformats.org/officeDocument/2006/relationships/notesSlide" Target="/ppt/notesSlides/notesSlide39.xml" Id="Rec33cf737be1450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26b22238f4054" /><Relationship Type="http://schemas.openxmlformats.org/officeDocument/2006/relationships/image" Target="/ppt/media/image78.png" Id="R0f11d9315f2d4d4c" /><Relationship Type="http://schemas.openxmlformats.org/officeDocument/2006/relationships/image" Target="/ppt/media/image79.png" Id="R8e17cfbaf5214e9c" /><Relationship Type="http://schemas.openxmlformats.org/officeDocument/2006/relationships/image" Target="/ppt/media/image80.png" Id="Re23595b4bc9f4489" /><Relationship Type="http://schemas.openxmlformats.org/officeDocument/2006/relationships/image" Target="/ppt/media/image81.png" Id="R88fb1b22a2dc416d" /><Relationship Type="http://schemas.openxmlformats.org/officeDocument/2006/relationships/notesSlide" Target="/ppt/notesSlides/notesSlide40.xml" Id="R3121df83c0b0445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2d223717e4619" /><Relationship Type="http://schemas.openxmlformats.org/officeDocument/2006/relationships/image" Target="/ppt/media/image82.png" Id="Rfce4eaacdef642de" /><Relationship Type="http://schemas.openxmlformats.org/officeDocument/2006/relationships/image" Target="/ppt/media/image83.png" Id="Rf60e36d2a8874099" /><Relationship Type="http://schemas.openxmlformats.org/officeDocument/2006/relationships/notesSlide" Target="/ppt/notesSlides/notesSlide41.xml" Id="R51787f7a8dd448b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3afac3c8641c9" /><Relationship Type="http://schemas.openxmlformats.org/officeDocument/2006/relationships/image" Target="/ppt/media/image84.png" Id="Rbef8c61b032840ca" /><Relationship Type="http://schemas.openxmlformats.org/officeDocument/2006/relationships/image" Target="/ppt/media/image85.png" Id="Rf8be81f8a6b84702" /><Relationship Type="http://schemas.openxmlformats.org/officeDocument/2006/relationships/notesSlide" Target="/ppt/notesSlides/notesSlide42.xml" Id="R54c60d70165c44c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c7eee052b4297" /><Relationship Type="http://schemas.openxmlformats.org/officeDocument/2006/relationships/image" Target="/ppt/media/image86.png" Id="R6769d44c22ab4a34" /><Relationship Type="http://schemas.openxmlformats.org/officeDocument/2006/relationships/image" Target="/ppt/media/image87.png" Id="Rf305f90a09a646b2" /><Relationship Type="http://schemas.openxmlformats.org/officeDocument/2006/relationships/notesSlide" Target="/ppt/notesSlides/notesSlide43.xml" Id="R53330070ef31419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9c294441340e9" /><Relationship Type="http://schemas.openxmlformats.org/officeDocument/2006/relationships/image" Target="/ppt/media/image88.png" Id="R603ab2cc49e7424b" /><Relationship Type="http://schemas.openxmlformats.org/officeDocument/2006/relationships/image" Target="/ppt/media/image89.png" Id="Re7f4023f88b6462e" /><Relationship Type="http://schemas.openxmlformats.org/officeDocument/2006/relationships/notesSlide" Target="/ppt/notesSlides/notesSlide44.xml" Id="R6aef2f5641ac4b4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dd39a0b6048ea" /><Relationship Type="http://schemas.openxmlformats.org/officeDocument/2006/relationships/image" Target="/ppt/media/image90.png" Id="R71468a7590bf4e82" /><Relationship Type="http://schemas.openxmlformats.org/officeDocument/2006/relationships/image" Target="/ppt/media/image91.png" Id="Rf23bd64d68dd4bbb" /><Relationship Type="http://schemas.openxmlformats.org/officeDocument/2006/relationships/notesSlide" Target="/ppt/notesSlides/notesSlide45.xml" Id="Rf76f286ead0c4a1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96bed7cb94d11" /><Relationship Type="http://schemas.openxmlformats.org/officeDocument/2006/relationships/image" Target="/ppt/media/image92.png" Id="R740b93d1ddd04d2c" /><Relationship Type="http://schemas.openxmlformats.org/officeDocument/2006/relationships/image" Target="/ppt/media/image93.png" Id="R1675c7bdb2b94722" /><Relationship Type="http://schemas.openxmlformats.org/officeDocument/2006/relationships/notesSlide" Target="/ppt/notesSlides/notesSlide46.xml" Id="R77ecf73009de4ee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8067a689df4c3e" /><Relationship Type="http://schemas.openxmlformats.org/officeDocument/2006/relationships/image" Target="/ppt/media/image94.png" Id="R177d79ffa9cb419d" /><Relationship Type="http://schemas.openxmlformats.org/officeDocument/2006/relationships/notesSlide" Target="/ppt/notesSlides/notesSlide47.xml" Id="Ra76338f8aa744e5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0d1e8ac494690" /><Relationship Type="http://schemas.openxmlformats.org/officeDocument/2006/relationships/image" Target="/ppt/media/image95.png" Id="R043ffb000d724aec" /><Relationship Type="http://schemas.openxmlformats.org/officeDocument/2006/relationships/notesSlide" Target="/ppt/notesSlides/notesSlide48.xml" Id="Rea0ad50209324f1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24ed7be9a4462" /><Relationship Type="http://schemas.openxmlformats.org/officeDocument/2006/relationships/image" Target="/ppt/media/image96.png" Id="R71078b1b5f854f2d" /><Relationship Type="http://schemas.openxmlformats.org/officeDocument/2006/relationships/image" Target="/ppt/media/image97.png" Id="R6f887cddcab448a7" /><Relationship Type="http://schemas.openxmlformats.org/officeDocument/2006/relationships/notesSlide" Target="/ppt/notesSlides/notesSlide49.xml" Id="R067f9cb0fc744ad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c7977784f4354" /><Relationship Type="http://schemas.openxmlformats.org/officeDocument/2006/relationships/image" Target="/ppt/media/image98.png" Id="R4f9e8aa442d24f93" /><Relationship Type="http://schemas.openxmlformats.org/officeDocument/2006/relationships/image" Target="/ppt/media/image99.png" Id="R6b1c2ec408764c08" /><Relationship Type="http://schemas.openxmlformats.org/officeDocument/2006/relationships/notesSlide" Target="/ppt/notesSlides/notesSlide50.xml" Id="R55b8c28aa14a48c7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f2841a4f44059" /><Relationship Type="http://schemas.openxmlformats.org/officeDocument/2006/relationships/image" Target="/ppt/media/image100.png" Id="R1ef4312107ed4ac0" /><Relationship Type="http://schemas.openxmlformats.org/officeDocument/2006/relationships/image" Target="/ppt/media/image101.png" Id="Rd5a527fd350941ac" /><Relationship Type="http://schemas.openxmlformats.org/officeDocument/2006/relationships/notesSlide" Target="/ppt/notesSlides/notesSlide51.xml" Id="R170f99147220459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d8b14a5cf411c" /><Relationship Type="http://schemas.openxmlformats.org/officeDocument/2006/relationships/image" Target="/ppt/media/image102.png" Id="R809adeae159b4daf" /><Relationship Type="http://schemas.openxmlformats.org/officeDocument/2006/relationships/image" Target="/ppt/media/image103.png" Id="Rbdb9fe07bea2420e" /><Relationship Type="http://schemas.openxmlformats.org/officeDocument/2006/relationships/notesSlide" Target="/ppt/notesSlides/notesSlide52.xml" Id="R799e661a8cf7437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c0daa58d74277" /><Relationship Type="http://schemas.openxmlformats.org/officeDocument/2006/relationships/image" Target="/ppt/media/image104.png" Id="Rfe35389c89c24422" /><Relationship Type="http://schemas.openxmlformats.org/officeDocument/2006/relationships/image" Target="/ppt/media/image105.png" Id="Re9674e77381c4042" /><Relationship Type="http://schemas.openxmlformats.org/officeDocument/2006/relationships/notesSlide" Target="/ppt/notesSlides/notesSlide53.xml" Id="Rfa621e35c821494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9e73af2794ad7" /><Relationship Type="http://schemas.openxmlformats.org/officeDocument/2006/relationships/image" Target="/ppt/media/image106.png" Id="R5b4accb83de4495e" /><Relationship Type="http://schemas.openxmlformats.org/officeDocument/2006/relationships/image" Target="/ppt/media/image107.png" Id="R43d2167325934549" /><Relationship Type="http://schemas.openxmlformats.org/officeDocument/2006/relationships/notesSlide" Target="/ppt/notesSlides/notesSlide54.xml" Id="R27fa9dfe01fa440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383c0daf7e4f41" /><Relationship Type="http://schemas.openxmlformats.org/officeDocument/2006/relationships/image" Target="/ppt/media/image108.png" Id="R5205eae1887d4b2d" /><Relationship Type="http://schemas.openxmlformats.org/officeDocument/2006/relationships/image" Target="/ppt/media/image109.png" Id="R70457ec35733433d" /><Relationship Type="http://schemas.openxmlformats.org/officeDocument/2006/relationships/notesSlide" Target="/ppt/notesSlides/notesSlide55.xml" Id="Rf84d2beac2894b4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c965015874579" /><Relationship Type="http://schemas.openxmlformats.org/officeDocument/2006/relationships/image" Target="/ppt/media/image110.png" Id="R02cd710bc094408b" /><Relationship Type="http://schemas.openxmlformats.org/officeDocument/2006/relationships/notesSlide" Target="/ppt/notesSlides/notesSlide56.xml" Id="Rcc32ec4d5ff8421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1ac430de3421e" /><Relationship Type="http://schemas.openxmlformats.org/officeDocument/2006/relationships/image" Target="/ppt/media/image111.png" Id="R02a2d56a442b4d51" /><Relationship Type="http://schemas.openxmlformats.org/officeDocument/2006/relationships/notesSlide" Target="/ppt/notesSlides/notesSlide57.xml" Id="R1cd622f9b9df46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0003D-FD2E-4E75-8ABC-C66B4C775F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5ea7abb9444b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小样本三参数Weibull参数估计方法&#10;的比较与选择">
            <a:extLst xmlns:a="http://schemas.openxmlformats.org/drawingml/2006/main">
              <a:ext uri="{FF2B5EF4-FFF2-40B4-BE49-F238E27FC236}">
                <a16:creationId xmlns:a16="http://schemas.microsoft.com/office/drawing/2014/main" id="{A26732BF-3B0F-494D-BCE1-C81A1C0D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小样本三参数Weibull参数估计方法</a:t>
            </a:r>
          </a:p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的比较与选择</a:t>
            </a:r>
          </a:p>
        </p:txBody>
      </p:sp>
      <p:sp>
        <p:nvSpPr>
          <p:cNvPr id="3" name="魏鹏宇　谢里阳　陈鉴朋　孙伟侨">
            <a:extLst xmlns:a="http://schemas.openxmlformats.org/drawingml/2006/main">
              <a:ext uri="{FF2B5EF4-FFF2-40B4-BE49-F238E27FC236}">
                <a16:creationId xmlns:a16="http://schemas.microsoft.com/office/drawing/2014/main" id="{AEB57D74-FCE9-4655-82E8-78C34A2F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862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魏鹏宇　谢里阳　陈鉴朋　孙伟侨</a:t>
            </a:r>
          </a:p>
        </p:txBody>
      </p:sp>
      <p:sp>
        <p:nvSpPr>
          <p:cNvPr id="4" name="报告人：魏鹏宇">
            <a:extLst xmlns:a="http://schemas.openxmlformats.org/drawingml/2006/main">
              <a:ext uri="{FF2B5EF4-FFF2-40B4-BE49-F238E27FC236}">
                <a16:creationId xmlns:a16="http://schemas.microsoft.com/office/drawing/2014/main" id="{71ED8F9E-22D5-441C-9587-4D01B04C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910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报告人：魏鹏宇</a:t>
            </a:r>
          </a:p>
        </p:txBody>
      </p:sp>
      <p:sp>
        <p:nvSpPr>
          <p:cNvPr id="5" name="东北大学机械工程与自动化学院">
            <a:extLst xmlns:a="http://schemas.openxmlformats.org/drawingml/2006/main">
              <a:ext uri="{FF2B5EF4-FFF2-40B4-BE49-F238E27FC236}">
                <a16:creationId xmlns:a16="http://schemas.microsoft.com/office/drawing/2014/main" id="{A923A0B9-24E6-41C5-B9AE-A51AF1B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673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东北大学机械工程与自动化学院</a:t>
            </a:r>
          </a:p>
        </p:txBody>
      </p:sp>
      <p:sp>
        <p:nvSpPr>
          <p:cNvPr id="6" name="2026年10月25日">
            <a:extLst xmlns:a="http://schemas.openxmlformats.org/drawingml/2006/main">
              <a:ext uri="{FF2B5EF4-FFF2-40B4-BE49-F238E27FC236}">
                <a16:creationId xmlns:a16="http://schemas.microsoft.com/office/drawing/2014/main" id="{17B42F4B-69B2-471F-B06F-C15BEB5D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007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2026年10月25日</a:t>
            </a:r>
          </a:p>
        </p:txBody>
      </p:sp>
    </p:spTree>
    <p:extLst>
      <p:ext uri="{BB962C8B-B14F-4D97-AF65-F5344CB8AC3E}">
        <p14:creationId xmlns:p14="http://schemas.microsoft.com/office/powerpoint/2010/main" val="9065440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B14E7-44A6-43C6-8D9A-AD6C2877F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559b88795a4cf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1　研究背景">
            <a:extLst xmlns:a="http://schemas.openxmlformats.org/drawingml/2006/main">
              <a:ext uri="{FF2B5EF4-FFF2-40B4-BE49-F238E27FC236}">
                <a16:creationId xmlns:a16="http://schemas.microsoft.com/office/drawing/2014/main" id="{E1A1F999-B1AF-4329-AC90-E33EBE35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01　研究背景</a:t>
            </a:r>
          </a:p>
        </p:txBody>
      </p:sp>
      <p:sp>
        <p:nvSpPr>
          <p:cNvPr id="3" name="方法原理与性能变化共同构成比较依据">
            <a:extLst xmlns:a="http://schemas.openxmlformats.org/drawingml/2006/main">
              <a:ext uri="{FF2B5EF4-FFF2-40B4-BE49-F238E27FC236}">
                <a16:creationId xmlns:a16="http://schemas.microsoft.com/office/drawing/2014/main" id="{A0A6FD66-665C-4C43-8389-9F4C542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方法原理与性能变化共同构成比较依据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2DC30865-9D41-4DF6-A743-ADE315B3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研究背景">
            <a:extLst xmlns:a="http://schemas.openxmlformats.org/drawingml/2006/main">
              <a:ext uri="{FF2B5EF4-FFF2-40B4-BE49-F238E27FC236}">
                <a16:creationId xmlns:a16="http://schemas.microsoft.com/office/drawing/2014/main" id="{5175382A-F024-4796-B003-14500BDB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</a:p>
        </p:txBody>
      </p:sp>
      <p:sp>
        <p:nvSpPr>
          <p:cNvPr id="6" name="试验成本与周期限制，使寿命分布参数估计经常面对小样本。">
            <a:extLst xmlns:a="http://schemas.openxmlformats.org/drawingml/2006/main">
              <a:ext uri="{FF2B5EF4-FFF2-40B4-BE49-F238E27FC236}">
                <a16:creationId xmlns:a16="http://schemas.microsoft.com/office/drawing/2014/main" id="{FEE4F001-08F2-4E07-AC9A-0659ED73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试验成本与周期限制，使寿命分布参数估计经常面对小样本。</a:t>
            </a:r>
          </a:p>
        </p:txBody>
      </p:sp>
      <p:sp>
        <p:nvSpPr>
          <p:cNvPr id="7" name="方法整理">
            <a:extLst xmlns:a="http://schemas.openxmlformats.org/drawingml/2006/main">
              <a:ext uri="{FF2B5EF4-FFF2-40B4-BE49-F238E27FC236}">
                <a16:creationId xmlns:a16="http://schemas.microsoft.com/office/drawing/2014/main" id="{13C5434F-184D-4956-92FE-40D1C5FA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方法整理</a:t>
            </a:r>
          </a:p>
        </p:txBody>
      </p:sp>
      <p:sp>
        <p:nvSpPr>
          <p:cNvPr id="8" name="依据估计机制归纳路线，并区分文献间的沿袭、数学联系与局部借用。">
            <a:extLst xmlns:a="http://schemas.openxmlformats.org/drawingml/2006/main">
              <a:ext uri="{FF2B5EF4-FFF2-40B4-BE49-F238E27FC236}">
                <a16:creationId xmlns:a16="http://schemas.microsoft.com/office/drawing/2014/main" id="{3586F440-C0E4-4A19-8408-DD08DC04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290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依据估计机制归纳路线，并区分文献间的沿袭、数学联系与局部借用。</a:t>
            </a:r>
          </a:p>
        </p:txBody>
      </p:sp>
      <p:sp>
        <p:nvSpPr>
          <p:cNvPr id="9" name="统一比较">
            <a:extLst xmlns:a="http://schemas.openxmlformats.org/drawingml/2006/main">
              <a:ext uri="{FF2B5EF4-FFF2-40B4-BE49-F238E27FC236}">
                <a16:creationId xmlns:a16="http://schemas.microsoft.com/office/drawing/2014/main" id="{2EDE1096-68B0-4BFC-A6DA-42D93233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统一比较</a:t>
            </a:r>
          </a:p>
        </p:txBody>
      </p:sp>
      <p:sp>
        <p:nvSpPr>
          <p:cNvPr id="10" name="在共同样本下发现性能变化，解释典型现象，再讨论评价与选择。">
            <a:extLst xmlns:a="http://schemas.openxmlformats.org/drawingml/2006/main">
              <a:ext uri="{FF2B5EF4-FFF2-40B4-BE49-F238E27FC236}">
                <a16:creationId xmlns:a16="http://schemas.microsoft.com/office/drawing/2014/main" id="{322DDDFD-E9C6-46B3-B06A-A5774271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在共同样本下发现性能变化，解释典型现象，再讨论评价与选择。</a:t>
            </a:r>
          </a:p>
        </p:txBody>
      </p:sp>
    </p:spTree>
    <p:extLst>
      <p:ext uri="{BB962C8B-B14F-4D97-AF65-F5344CB8AC3E}">
        <p14:creationId xmlns:p14="http://schemas.microsoft.com/office/powerpoint/2010/main" val="706784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11A41-DF1C-4329-AED6-BC45AEB0C7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2d7675c9a40e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80ADBEAE-4C79-469D-996C-5D0FFC19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路线图同时表达估计机制与方法之间的联系">
            <a:extLst xmlns:a="http://schemas.openxmlformats.org/drawingml/2006/main">
              <a:ext uri="{FF2B5EF4-FFF2-40B4-BE49-F238E27FC236}">
                <a16:creationId xmlns:a16="http://schemas.microsoft.com/office/drawing/2014/main" id="{3B2E156B-E744-4146-8A99-1865B6B5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路线图同时表达估计机制与方法之间的联系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B56C6937-6815-4EBB-89C5-2F1A628C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4EC48-1C20-4456-AD3D-A150FAC0E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0c78c4c074699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浅色区域界定五条路线；实线表示沿袭或修正，虚线表示数学联系，点划线表示">
            <a:extLst xmlns:a="http://schemas.openxmlformats.org/drawingml/2006/main">
              <a:ext uri="{FF2B5EF4-FFF2-40B4-BE49-F238E27FC236}">
                <a16:creationId xmlns:a16="http://schemas.microsoft.com/office/drawing/2014/main" id="{73AB01D7-03EE-4A98-ABBB-7876F355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浅色区域界定五条路线；实线表示沿袭或修正，虚线表示数学联系，点划线表示借用或组合。</a:t>
            </a:r>
          </a:p>
        </p:txBody>
      </p:sp>
    </p:spTree>
    <p:extLst>
      <p:ext uri="{BB962C8B-B14F-4D97-AF65-F5344CB8AC3E}">
        <p14:creationId xmlns:p14="http://schemas.microsoft.com/office/powerpoint/2010/main" val="18002685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D43BD-9B85-417F-A4E9-89C71F2CD4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643571675453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18A2F61C-3302-49AB-BE62-8A8044B8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五条路线依据不同机制将样本信息转为参数">
            <a:extLst xmlns:a="http://schemas.openxmlformats.org/drawingml/2006/main">
              <a:ext uri="{FF2B5EF4-FFF2-40B4-BE49-F238E27FC236}">
                <a16:creationId xmlns:a16="http://schemas.microsoft.com/office/drawing/2014/main" id="{99EA0E19-402A-47E8-A923-6C69222D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五条路线依据不同机制将样本信息转为参数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BF81DFA4-47E3-4DA2-9267-B3CFB587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740AE-99E2-4F26-8596-22B25B373A6C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857625"/>
                <a:gridCol w="476250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估计路线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从样本构造什么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据此怎样确定参数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似然构造与优化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观测或统计量的联合密度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最大化似然，或按具体构造修正方程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分布关系匹配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概率图、概率间距、反推尺度等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指定拟合、一致性或概率结构准则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统计特征关系匹配与反演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矩、分位数、次序统计量等特征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匹配理论关系，消元并恢复参数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贝叶斯后验推断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似然与先验形成后验分布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按后验决策规则给出估计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学习型参数映射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多组带参数标签的训练样本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训练映射，固定后用于新样本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4598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2469F-CE1E-430C-B6B2-409567004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6ca9d9ec0448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2C56DFB2-2022-43BB-AE08-09F304E5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联合似然同时比较三个参数组成的候选组合">
            <a:extLst xmlns:a="http://schemas.openxmlformats.org/drawingml/2006/main">
              <a:ext uri="{FF2B5EF4-FFF2-40B4-BE49-F238E27FC236}">
                <a16:creationId xmlns:a16="http://schemas.microsoft.com/office/drawing/2014/main" id="{D0E103EE-2BD4-4FB5-9DCB-F736894A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联合似然同时比较三个参数组成的候选组合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7680C460-2708-4352-8660-DBCFA49E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0A310-3771-4A23-95DD-BA5A5EF5A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440c3f0034660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β、η、γ构成三维参数空间；等值面表示相同相对似然，红线为实际数值迭代">
            <a:extLst xmlns:a="http://schemas.openxmlformats.org/drawingml/2006/main">
              <a:ext uri="{FF2B5EF4-FFF2-40B4-BE49-F238E27FC236}">
                <a16:creationId xmlns:a16="http://schemas.microsoft.com/office/drawing/2014/main" id="{72AD4758-985A-4C46-9F26-0CAD4543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β、η、γ构成三维参数空间；等值面表示相同相对似然，红线为实际数值迭代，极大点限于图示参数窗。</a:t>
            </a:r>
          </a:p>
        </p:txBody>
      </p:sp>
    </p:spTree>
    <p:extLst>
      <p:ext uri="{BB962C8B-B14F-4D97-AF65-F5344CB8AC3E}">
        <p14:creationId xmlns:p14="http://schemas.microsoft.com/office/powerpoint/2010/main" val="5015663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38A30-D20C-497A-AD92-DA6418A229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011c297fc446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0FDFCEE4-CAC9-4E51-86E8-7A1A04EB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似然路线通过数据、方程或目标修改形成具体方法">
            <a:extLst xmlns:a="http://schemas.openxmlformats.org/drawingml/2006/main">
              <a:ext uri="{FF2B5EF4-FFF2-40B4-BE49-F238E27FC236}">
                <a16:creationId xmlns:a16="http://schemas.microsoft.com/office/drawing/2014/main" id="{1CD57BCA-6EA4-4806-B198-0D9D4831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似然路线通过数据、方程或目标修改形成具体方法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3B4C09C7-72AE-439F-B55B-15780D68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DD5CE-F2FA-43A6-A2EB-8F775FC00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4a84aa5f6453e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上方沿用“构造联合似然→联合最大化”；下方对照删点、权重、辅助关系、区">
            <a:extLst xmlns:a="http://schemas.openxmlformats.org/drawingml/2006/main">
              <a:ext uri="{FF2B5EF4-FFF2-40B4-BE49-F238E27FC236}">
                <a16:creationId xmlns:a16="http://schemas.microsoft.com/office/drawing/2014/main" id="{A5CD7D7C-F3DA-4124-8032-1BF23E47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上方沿用“构造联合似然→联合最大化”；下方对照删点、权重、辅助关系、区间概率及罚似然。</a:t>
            </a:r>
          </a:p>
        </p:txBody>
      </p:sp>
    </p:spTree>
    <p:extLst>
      <p:ext uri="{BB962C8B-B14F-4D97-AF65-F5344CB8AC3E}">
        <p14:creationId xmlns:p14="http://schemas.microsoft.com/office/powerpoint/2010/main" val="15088368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8F461-3538-4431-BC97-A8462D516C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90599ebd0427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33406BAC-5145-40E7-8829-BD084E84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分布匹配先明确比较对象，再指定参数准则">
            <a:extLst xmlns:a="http://schemas.openxmlformats.org/drawingml/2006/main">
              <a:ext uri="{FF2B5EF4-FFF2-40B4-BE49-F238E27FC236}">
                <a16:creationId xmlns:a16="http://schemas.microsoft.com/office/drawing/2014/main" id="{B7D35FC1-D0CC-4FEC-AAA9-EF3AF721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分布匹配先明确比较对象，再指定参数准则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A7CFBAFD-7D5D-47AC-A498-055C3461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9B654-1190-46B0-9C6C-4ADBC4AFC6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2c383d72b434e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构造分布表示→定义匹配准则→确定参数；CDF平方差仅为此处示例。">
            <a:extLst xmlns:a="http://schemas.openxmlformats.org/drawingml/2006/main">
              <a:ext uri="{FF2B5EF4-FFF2-40B4-BE49-F238E27FC236}">
                <a16:creationId xmlns:a16="http://schemas.microsoft.com/office/drawing/2014/main" id="{A2AB31BB-F89E-4920-99C0-7BAF94F2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构造分布表示→定义匹配准则→确定参数；CDF平方差仅为此处示例。</a:t>
            </a:r>
          </a:p>
        </p:txBody>
      </p:sp>
    </p:spTree>
    <p:extLst>
      <p:ext uri="{BB962C8B-B14F-4D97-AF65-F5344CB8AC3E}">
        <p14:creationId xmlns:p14="http://schemas.microsoft.com/office/powerpoint/2010/main" val="11002851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35B49-348A-44D1-AC52-2843AA9F41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b5671d0784e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D8A8F93E-88F4-4B44-9BDE-AE57DA6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回归方向、概率间距与尺度一致性形成不同匹配依据">
            <a:extLst xmlns:a="http://schemas.openxmlformats.org/drawingml/2006/main">
              <a:ext uri="{FF2B5EF4-FFF2-40B4-BE49-F238E27FC236}">
                <a16:creationId xmlns:a16="http://schemas.microsoft.com/office/drawing/2014/main" id="{66AB8D9C-10FB-4AD2-8E5B-F4A63D6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回归方向、概率间距与尺度一致性形成不同匹配依据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520BEFEA-07B3-4163-AAE6-5DEC53AB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3268A-F9F6-4E1A-B220-A1AAC92147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b367277804f88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各分支沿相同主步骤展开；White与Park分数及回归方向不同，MPS">
            <a:extLst xmlns:a="http://schemas.openxmlformats.org/drawingml/2006/main">
              <a:ext uri="{FF2B5EF4-FFF2-40B4-BE49-F238E27FC236}">
                <a16:creationId xmlns:a16="http://schemas.microsoft.com/office/drawing/2014/main" id="{D8D544C2-C1AF-4EED-B9ED-0A2304BF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各分支沿相同主步骤展开；White与Park分数及回归方向不同，MPS与MDM采用各自准则。</a:t>
            </a:r>
          </a:p>
        </p:txBody>
      </p:sp>
    </p:spTree>
    <p:extLst>
      <p:ext uri="{BB962C8B-B14F-4D97-AF65-F5344CB8AC3E}">
        <p14:creationId xmlns:p14="http://schemas.microsoft.com/office/powerpoint/2010/main" val="16354708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28D3A-CA38-4B53-B3C9-2AC7B2D245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b535d0245406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5DAE5042-314E-43D1-8AFE-E9185B01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统计关系方法通过选定特征的理论关系识别参数">
            <a:extLst xmlns:a="http://schemas.openxmlformats.org/drawingml/2006/main">
              <a:ext uri="{FF2B5EF4-FFF2-40B4-BE49-F238E27FC236}">
                <a16:creationId xmlns:a16="http://schemas.microsoft.com/office/drawing/2014/main" id="{FA346A35-056A-44A5-969C-9E1AA88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统计关系方法通过选定特征的理论关系识别参数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1CE52AA9-7F9D-4AF3-8118-CED9C61F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B0D98-7775-4CE1-9FD7-771B80E57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8f758ce7045cd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提取样本特征→建立理论关系→识别与恢复参数；常规矩以偏度、方差和均值示">
            <a:extLst xmlns:a="http://schemas.openxmlformats.org/drawingml/2006/main">
              <a:ext uri="{FF2B5EF4-FFF2-40B4-BE49-F238E27FC236}">
                <a16:creationId xmlns:a16="http://schemas.microsoft.com/office/drawing/2014/main" id="{B24836CC-F246-4EC5-A926-C99A2064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提取样本特征→建立理论关系→识别与恢复参数；常规矩以偏度、方差和均值示例。</a:t>
            </a:r>
          </a:p>
        </p:txBody>
      </p:sp>
    </p:spTree>
    <p:extLst>
      <p:ext uri="{BB962C8B-B14F-4D97-AF65-F5344CB8AC3E}">
        <p14:creationId xmlns:p14="http://schemas.microsoft.com/office/powerpoint/2010/main" val="13491970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8E483-6EF6-4BA3-8D8F-7B768D04A9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b3f9e4c382433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0CDE036B-9380-4B42-BDE5-04187946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更换特征、权重与识别关系形成不同的统计构造">
            <a:extLst xmlns:a="http://schemas.openxmlformats.org/drawingml/2006/main">
              <a:ext uri="{FF2B5EF4-FFF2-40B4-BE49-F238E27FC236}">
                <a16:creationId xmlns:a16="http://schemas.microsoft.com/office/drawing/2014/main" id="{34C91D8F-A94F-4568-B41E-CB8EDF53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更换特征、权重与识别关系形成不同的统计构造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B5B7D573-846E-4A85-8A0E-2713568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29438-7793-4552-9195-6A98DE004D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f5db890b94bbb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常规矩、Cran、PWM／L矩／截尾L矩、W／V变换和条件位置MVLU">
            <a:extLst xmlns:a="http://schemas.openxmlformats.org/drawingml/2006/main">
              <a:ext uri="{FF2B5EF4-FFF2-40B4-BE49-F238E27FC236}">
                <a16:creationId xmlns:a16="http://schemas.microsoft.com/office/drawing/2014/main" id="{ED2124AF-1373-4F45-B375-4A101E3E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常规矩、Cran、PWM／L矩／截尾L矩、W／V变换和条件位置MVLUE分别改变相应环节。</a:t>
            </a:r>
          </a:p>
        </p:txBody>
      </p:sp>
    </p:spTree>
    <p:extLst>
      <p:ext uri="{BB962C8B-B14F-4D97-AF65-F5344CB8AC3E}">
        <p14:creationId xmlns:p14="http://schemas.microsoft.com/office/powerpoint/2010/main" val="19834338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195A3-F01D-41C7-A928-3CC596F402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d236427c64f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0D4C3E38-5AC9-4E3C-919D-4D86D9AF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贝叶斯估计由后验分布与决策规则共同决定">
            <a:extLst xmlns:a="http://schemas.openxmlformats.org/drawingml/2006/main">
              <a:ext uri="{FF2B5EF4-FFF2-40B4-BE49-F238E27FC236}">
                <a16:creationId xmlns:a16="http://schemas.microsoft.com/office/drawing/2014/main" id="{4FEA2DE2-64DF-43E4-869D-E2102B4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贝叶斯估计由后验分布与决策规则共同决定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F776EAE8-3244-4CF7-8BC1-90334B0F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01566-FC3D-40D2-B608-77B1340ABB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86360ed424bf1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构造后验→后验决策；平方损失对应后验均值，中位数与MAP采用各自规则。">
            <a:extLst xmlns:a="http://schemas.openxmlformats.org/drawingml/2006/main">
              <a:ext uri="{FF2B5EF4-FFF2-40B4-BE49-F238E27FC236}">
                <a16:creationId xmlns:a16="http://schemas.microsoft.com/office/drawing/2014/main" id="{4ECF9BB7-727A-47E4-BEA8-58D7669B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构造后验→后验决策；平方损失对应后验均值，中位数与MAP采用各自规则。</a:t>
            </a:r>
          </a:p>
        </p:txBody>
      </p:sp>
    </p:spTree>
    <p:extLst>
      <p:ext uri="{BB962C8B-B14F-4D97-AF65-F5344CB8AC3E}">
        <p14:creationId xmlns:p14="http://schemas.microsoft.com/office/powerpoint/2010/main" val="5158291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7857E-AEE5-4520-9087-65581BC3E5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2724a32924cf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FC0EEE6E-B829-4992-84B6-B36DD15B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后验决策与抽样近似分别决定输出和计算路径">
            <a:extLst xmlns:a="http://schemas.openxmlformats.org/drawingml/2006/main">
              <a:ext uri="{FF2B5EF4-FFF2-40B4-BE49-F238E27FC236}">
                <a16:creationId xmlns:a16="http://schemas.microsoft.com/office/drawing/2014/main" id="{63122B68-E638-4305-BEA5-3196254B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后验决策与抽样近似分别决定输出和计算路径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5D84BF9A-DFCC-477C-999B-21F68868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8D76F-BA49-4FA3-9086-BE7D68231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8db41b6104942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同一后验可按不同规则输出估计；Gibbs、MH与Laplace服务于抽">
            <a:extLst xmlns:a="http://schemas.openxmlformats.org/drawingml/2006/main">
              <a:ext uri="{FF2B5EF4-FFF2-40B4-BE49-F238E27FC236}">
                <a16:creationId xmlns:a16="http://schemas.microsoft.com/office/drawing/2014/main" id="{308D9741-D5DE-448E-A530-B2248B80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同一后验可按不同规则输出估计；Gibbs、MH与Laplace服务于抽样或近似计算。</a:t>
            </a:r>
          </a:p>
        </p:txBody>
      </p:sp>
    </p:spTree>
    <p:extLst>
      <p:ext uri="{BB962C8B-B14F-4D97-AF65-F5344CB8AC3E}">
        <p14:creationId xmlns:p14="http://schemas.microsoft.com/office/powerpoint/2010/main" val="3029109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19C73-45BE-42FD-A96D-BCCA4D619E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53b4c8409465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E4AFA4FC-E63C-44B6-8A8F-E899BEA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学习型方法先训练映射，再用于新样本">
            <a:extLst xmlns:a="http://schemas.openxmlformats.org/drawingml/2006/main">
              <a:ext uri="{FF2B5EF4-FFF2-40B4-BE49-F238E27FC236}">
                <a16:creationId xmlns:a16="http://schemas.microsoft.com/office/drawing/2014/main" id="{B548C8F4-6D8F-439E-B3AA-78A337B1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学习型方法先训练映射，再用于新样本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E487B495-C239-4461-8CC6-B8061C5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FC16F-3AF3-43E4-9101-F90E5AF83C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2401756af4a32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训练映射→固定映射用于新样本；训练使用标签，应用时不需提供新样本的真实">
            <a:extLst xmlns:a="http://schemas.openxmlformats.org/drawingml/2006/main">
              <a:ext uri="{FF2B5EF4-FFF2-40B4-BE49-F238E27FC236}">
                <a16:creationId xmlns:a16="http://schemas.microsoft.com/office/drawing/2014/main" id="{15EB024B-2536-4348-9BA1-4161DC54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训练映射→固定映射用于新样本；训练使用标签，应用时不需提供新样本的真实参数。</a:t>
            </a:r>
          </a:p>
        </p:txBody>
      </p:sp>
    </p:spTree>
    <p:extLst>
      <p:ext uri="{BB962C8B-B14F-4D97-AF65-F5344CB8AC3E}">
        <p14:creationId xmlns:p14="http://schemas.microsoft.com/office/powerpoint/2010/main" val="1806763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79D02-7A7B-4DEA-A8D7-F00F094634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a8f46a57e407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D0211DAA-F6E0-4057-8137-396ECE00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直接映射、过程量学习与数值搜索的作用位置不同">
            <a:extLst xmlns:a="http://schemas.openxmlformats.org/drawingml/2006/main">
              <a:ext uri="{FF2B5EF4-FFF2-40B4-BE49-F238E27FC236}">
                <a16:creationId xmlns:a16="http://schemas.microsoft.com/office/drawing/2014/main" id="{CE4CDB13-2487-4A5B-A2C0-BE21CAF8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直接映射、过程量学习与数值搜索的作用位置不同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C6C02609-4CB9-48E4-88F4-EA4E28A7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5B85E-5D04-497F-B335-E85EBE1825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3da8fef134d1b"/>
          <a:stretch xmlns:a="http://schemas.openxmlformats.org/drawingml/2006/main"/>
        </p:blipFill>
        <p:spPr>
          <a:xfrm xmlns:a="http://schemas.openxmlformats.org/drawingml/2006/main">
            <a:off x="740229" y="1485900"/>
            <a:ext cx="1071154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直接预测参数、辅助传统估计器和搜索当前目标分别接入不同环节。">
            <a:extLst xmlns:a="http://schemas.openxmlformats.org/drawingml/2006/main">
              <a:ext uri="{FF2B5EF4-FFF2-40B4-BE49-F238E27FC236}">
                <a16:creationId xmlns:a16="http://schemas.microsoft.com/office/drawing/2014/main" id="{156D5026-32F1-4B88-B4AC-A1CD8427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直接预测参数、辅助传统估计器和搜索当前目标分别接入不同环节。</a:t>
            </a:r>
          </a:p>
        </p:txBody>
      </p:sp>
    </p:spTree>
    <p:extLst>
      <p:ext uri="{BB962C8B-B14F-4D97-AF65-F5344CB8AC3E}">
        <p14:creationId xmlns:p14="http://schemas.microsoft.com/office/powerpoint/2010/main" val="75757271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2F68D-73C4-4C16-B29D-659577B64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f6d56e52f418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7A1E2F5A-8B59-4055-A393-7B04B7EA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同一路线并不自动构成方法间的历史沿袭">
            <a:extLst xmlns:a="http://schemas.openxmlformats.org/drawingml/2006/main">
              <a:ext uri="{FF2B5EF4-FFF2-40B4-BE49-F238E27FC236}">
                <a16:creationId xmlns:a16="http://schemas.microsoft.com/office/drawing/2014/main" id="{465356AA-BA61-493F-8F3A-5706C398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同一路线并不自动构成方法间的历史沿袭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8A3FE657-0D47-4744-8100-6F39874C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9253E-0C3D-4DA5-AAA3-5C174A4EB107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953000"/>
                <a:gridCol w="3952875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关系类型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代表联系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沿袭或扩展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Jacquelin（1993）→ WMLE（2009）→ 形状修正（2024）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有文献依据的延续与修正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沿袭或扩展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White（1969）→ LSE（1992）；LSPF（2013）→ LPF（2015）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接入未知位置或保留更多参数信息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数学联系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PWM与L矩；同分数、同位置的两种回归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注明关系成立的条件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局部借用或组合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Kundu–Raqab与Firth修正 → DMMLE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不同来源的步骤汇合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60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82E1C-CF64-45B2-ABFB-E5EB1021C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35c6fab9242c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2　参数估计方法的原理与联系">
            <a:extLst xmlns:a="http://schemas.openxmlformats.org/drawingml/2006/main">
              <a:ext uri="{FF2B5EF4-FFF2-40B4-BE49-F238E27FC236}">
                <a16:creationId xmlns:a16="http://schemas.microsoft.com/office/drawing/2014/main" id="{11080B48-B1D2-4DD2-A427-31A6AB38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02　参数估计方法的原理与联系</a:t>
            </a:r>
          </a:p>
        </p:txBody>
      </p:sp>
      <p:sp>
        <p:nvSpPr>
          <p:cNvPr id="3" name="七种实现覆盖路线内改动与路线间差异">
            <a:extLst xmlns:a="http://schemas.openxmlformats.org/drawingml/2006/main">
              <a:ext uri="{FF2B5EF4-FFF2-40B4-BE49-F238E27FC236}">
                <a16:creationId xmlns:a16="http://schemas.microsoft.com/office/drawing/2014/main" id="{F15DBA60-657E-4B30-9659-8257AC1B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七种实现覆盖路线内改动与路线间差异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502C2B13-7247-4006-9A73-04A35DBE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1FB63-5DB0-4B12-8389-D4EC2E35E48D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333750"/>
                <a:gridCol w="561975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采用的机制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对应构造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MLE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原始联合似然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观测密度形成联合似然；另记录边界与失败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估计方程修正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Cousineau（2009）：估计方程中引入三权重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MMLE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最小值定位后进行似然估计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Kundu、Raqab（2009）：删最小观测后估计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LSE / LRE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分布关系匹配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Soman、Misra（1992）/ Park（2017）：分数、评分与回归方向不同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MDM-0.1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尺度一致性与梯度定位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Xie、Wu、Yang（2023）：伪尺度离散与δ=0.1定位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MM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统计关系匹配与反演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Cran（1988）：Weibull矩及矩差显式恢复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6635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BA2DC-F599-4B90-B1F6-8358E86A4E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79296d49645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3　比较实验设置">
            <a:extLst xmlns:a="http://schemas.openxmlformats.org/drawingml/2006/main">
              <a:ext uri="{FF2B5EF4-FFF2-40B4-BE49-F238E27FC236}">
                <a16:creationId xmlns:a16="http://schemas.microsoft.com/office/drawing/2014/main" id="{9ABB5F51-EC01-4C07-B5A6-80F19B22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03　比较实验设置</a:t>
            </a:r>
          </a:p>
        </p:txBody>
      </p:sp>
      <p:sp>
        <p:nvSpPr>
          <p:cNvPr id="3" name="共同样本使性能差异对应方法构造与求解约定">
            <a:extLst xmlns:a="http://schemas.openxmlformats.org/drawingml/2006/main">
              <a:ext uri="{FF2B5EF4-FFF2-40B4-BE49-F238E27FC236}">
                <a16:creationId xmlns:a16="http://schemas.microsoft.com/office/drawing/2014/main" id="{72BBC8EB-5823-4DD4-88FC-18A9AE08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共同样本使性能差异对应方法构造与求解约定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C420DE42-37CB-4E48-B796-703232A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27C9A-8A1B-489E-9CEE-3463CF0EBBC6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847725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本轮设置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总体参数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η=1000，γ=500；β=1.5、2、2.5、3、3.5、4、4.5、5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n=50、20、15、10、7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重复抽样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每个条件1200组；七种方法使用相同样本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精度图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七法共同有效样本；形状RMSE/β，尺度和位置RMSE/1000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分布与返回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分布用各法自身有效结果；有效率按全部1200次尝试统计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1387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FAADF-A76E-4AE9-96E9-00B220E93F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97b316ef445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A0B7EBDE-8562-423D-92FB-BADC66C7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样本减少时，各方法的误差增幅不同">
            <a:extLst xmlns:a="http://schemas.openxmlformats.org/drawingml/2006/main">
              <a:ext uri="{FF2B5EF4-FFF2-40B4-BE49-F238E27FC236}">
                <a16:creationId xmlns:a16="http://schemas.microsoft.com/office/drawing/2014/main" id="{BD9F1EAA-0BA7-443E-919C-20261B08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样本减少时，各方法的误差增幅不同</a:t>
            </a:r>
          </a:p>
        </p:txBody>
      </p:sp>
      <p:sp>
        <p:nvSpPr>
          <p:cNvPr id="4" name="n=50">
            <a:extLst xmlns:a="http://schemas.openxmlformats.org/drawingml/2006/main">
              <a:ext uri="{FF2B5EF4-FFF2-40B4-BE49-F238E27FC236}">
                <a16:creationId xmlns:a16="http://schemas.microsoft.com/office/drawing/2014/main" id="{EBF67EA9-BF0A-48FC-B30E-8A2A2D02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n=50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895A0184-4E84-4945-B199-9CC25DD0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FF9EE-7CA8-4815-ACA3-F88DEF49D8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bad69ed3b4075"/>
          <a:stretch xmlns:a="http://schemas.openxmlformats.org/drawingml/2006/main"/>
        </p:blipFill>
        <p:spPr>
          <a:xfrm xmlns:a="http://schemas.openxmlformats.org/drawingml/2006/main">
            <a:off x="1654710" y="1447800"/>
            <a:ext cx="8882579" cy="2333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10985-5634-4F7B-9C5E-800625919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efda111e646e4"/>
          <a:stretch xmlns:a="http://schemas.openxmlformats.org/drawingml/2006/main"/>
        </p:blipFill>
        <p:spPr>
          <a:xfrm xmlns:a="http://schemas.openxmlformats.org/drawingml/2006/main">
            <a:off x="1691476" y="3800475"/>
            <a:ext cx="8809048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蓝：形状；橙：尺度；绿：位置。五页共用线性半径；MM数值见备页。">
            <a:extLst xmlns:a="http://schemas.openxmlformats.org/drawingml/2006/main">
              <a:ext uri="{FF2B5EF4-FFF2-40B4-BE49-F238E27FC236}">
                <a16:creationId xmlns:a16="http://schemas.microsoft.com/office/drawing/2014/main" id="{F10B5BF7-59EE-4A96-A3AA-8D9AE67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蓝：形状；橙：尺度；绿：位置。五页共用线性半径；MM数值见备页。</a:t>
            </a:r>
          </a:p>
        </p:txBody>
      </p:sp>
    </p:spTree>
    <p:extLst>
      <p:ext uri="{BB962C8B-B14F-4D97-AF65-F5344CB8AC3E}">
        <p14:creationId xmlns:p14="http://schemas.microsoft.com/office/powerpoint/2010/main" val="166392682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66DDB-0A05-4AC1-9491-9B26170FC4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6593421e8d495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6C6233BF-7C84-44EB-9034-546E5D02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样本减少时，各方法的误差增幅不同">
            <a:extLst xmlns:a="http://schemas.openxmlformats.org/drawingml/2006/main">
              <a:ext uri="{FF2B5EF4-FFF2-40B4-BE49-F238E27FC236}">
                <a16:creationId xmlns:a16="http://schemas.microsoft.com/office/drawing/2014/main" id="{725809D0-8C8E-4C34-BC6D-A1FFB71A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样本减少时，各方法的误差增幅不同</a:t>
            </a:r>
          </a:p>
        </p:txBody>
      </p:sp>
      <p:sp>
        <p:nvSpPr>
          <p:cNvPr id="4" name="n=20">
            <a:extLst xmlns:a="http://schemas.openxmlformats.org/drawingml/2006/main">
              <a:ext uri="{FF2B5EF4-FFF2-40B4-BE49-F238E27FC236}">
                <a16:creationId xmlns:a16="http://schemas.microsoft.com/office/drawing/2014/main" id="{D93B72A7-80BB-48A8-ADD4-4C03BED3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n=20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247E4D11-3F37-4495-BB5E-0A644149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A5219-FC15-4F5E-815A-987B3BB8A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0b11f23c44684"/>
          <a:stretch xmlns:a="http://schemas.openxmlformats.org/drawingml/2006/main"/>
        </p:blipFill>
        <p:spPr>
          <a:xfrm xmlns:a="http://schemas.openxmlformats.org/drawingml/2006/main">
            <a:off x="1654710" y="1447800"/>
            <a:ext cx="8882579" cy="2333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BDCE9-2238-445E-9178-874480311C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884f0617148ba"/>
          <a:stretch xmlns:a="http://schemas.openxmlformats.org/drawingml/2006/main"/>
        </p:blipFill>
        <p:spPr>
          <a:xfrm xmlns:a="http://schemas.openxmlformats.org/drawingml/2006/main">
            <a:off x="1691476" y="3800475"/>
            <a:ext cx="8809048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蓝：形状；橙：尺度；绿：位置。五页共用线性半径；MM数值见备页。">
            <a:extLst xmlns:a="http://schemas.openxmlformats.org/drawingml/2006/main">
              <a:ext uri="{FF2B5EF4-FFF2-40B4-BE49-F238E27FC236}">
                <a16:creationId xmlns:a16="http://schemas.microsoft.com/office/drawing/2014/main" id="{C0281DEA-AAB6-483B-ACFA-8527FFEE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蓝：形状；橙：尺度；绿：位置。五页共用线性半径；MM数值见备页。</a:t>
            </a:r>
          </a:p>
        </p:txBody>
      </p:sp>
    </p:spTree>
    <p:extLst>
      <p:ext uri="{BB962C8B-B14F-4D97-AF65-F5344CB8AC3E}">
        <p14:creationId xmlns:p14="http://schemas.microsoft.com/office/powerpoint/2010/main" val="63241965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CFDF1-5582-4DDF-9BF9-CC19C32799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d400b6178453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AA4C42FC-09B6-46A6-B394-399F1CD1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样本减少时，各方法的误差增幅不同">
            <a:extLst xmlns:a="http://schemas.openxmlformats.org/drawingml/2006/main">
              <a:ext uri="{FF2B5EF4-FFF2-40B4-BE49-F238E27FC236}">
                <a16:creationId xmlns:a16="http://schemas.microsoft.com/office/drawing/2014/main" id="{D93AE39B-B9B7-4389-B641-5EE372EC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样本减少时，各方法的误差增幅不同</a:t>
            </a:r>
          </a:p>
        </p:txBody>
      </p:sp>
      <p:sp>
        <p:nvSpPr>
          <p:cNvPr id="4" name="n=15">
            <a:extLst xmlns:a="http://schemas.openxmlformats.org/drawingml/2006/main">
              <a:ext uri="{FF2B5EF4-FFF2-40B4-BE49-F238E27FC236}">
                <a16:creationId xmlns:a16="http://schemas.microsoft.com/office/drawing/2014/main" id="{B1315287-522E-4C50-AD3E-AC9279A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n=15</a:t>
            </a:r>
          </a:p>
        </p:txBody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AB7403D4-997B-45A4-81BB-49537464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39C19-6B3E-41BB-B504-9D3D1203D2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cccb8a70b43de"/>
          <a:stretch xmlns:a="http://schemas.openxmlformats.org/drawingml/2006/main"/>
        </p:blipFill>
        <p:spPr>
          <a:xfrm xmlns:a="http://schemas.openxmlformats.org/drawingml/2006/main">
            <a:off x="1654710" y="1447800"/>
            <a:ext cx="8882579" cy="2333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D30DA-76FC-42F7-878A-362026454E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75ed4c99b4cbd"/>
          <a:stretch xmlns:a="http://schemas.openxmlformats.org/drawingml/2006/main"/>
        </p:blipFill>
        <p:spPr>
          <a:xfrm xmlns:a="http://schemas.openxmlformats.org/drawingml/2006/main">
            <a:off x="1691476" y="3800475"/>
            <a:ext cx="8809048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蓝：形状；橙：尺度；绿：位置。五页共用线性半径；MM数值见备页。">
            <a:extLst xmlns:a="http://schemas.openxmlformats.org/drawingml/2006/main">
              <a:ext uri="{FF2B5EF4-FFF2-40B4-BE49-F238E27FC236}">
                <a16:creationId xmlns:a16="http://schemas.microsoft.com/office/drawing/2014/main" id="{4871DB68-81E8-42DB-AEEA-31CC68DA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蓝：形状；橙：尺度；绿：位置。五页共用线性半径；MM数值见备页。</a:t>
            </a:r>
          </a:p>
        </p:txBody>
      </p:sp>
    </p:spTree>
    <p:extLst>
      <p:ext uri="{BB962C8B-B14F-4D97-AF65-F5344CB8AC3E}">
        <p14:creationId xmlns:p14="http://schemas.microsoft.com/office/powerpoint/2010/main" val="134221137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ADC22-12D9-40DD-BBC6-CA12DC8CA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9d78699514c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CB75FDAA-5731-4F9B-9F1B-77694A12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样本减少时，各方法的误差增幅不同">
            <a:extLst xmlns:a="http://schemas.openxmlformats.org/drawingml/2006/main">
              <a:ext uri="{FF2B5EF4-FFF2-40B4-BE49-F238E27FC236}">
                <a16:creationId xmlns:a16="http://schemas.microsoft.com/office/drawing/2014/main" id="{305EDF69-32A5-4512-80A2-E45A9868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样本减少时，各方法的误差增幅不同</a:t>
            </a:r>
          </a:p>
        </p:txBody>
      </p:sp>
      <p:sp>
        <p:nvSpPr>
          <p:cNvPr id="4" name="n=10">
            <a:extLst xmlns:a="http://schemas.openxmlformats.org/drawingml/2006/main">
              <a:ext uri="{FF2B5EF4-FFF2-40B4-BE49-F238E27FC236}">
                <a16:creationId xmlns:a16="http://schemas.microsoft.com/office/drawing/2014/main" id="{4FC560C9-A239-4917-A49B-2C8CF09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n=10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DA7F95EC-29E1-4C3A-BDB6-64A5EEB6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1FEF0-3A86-4D7E-B61F-FE607F31B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d040c9bd243c2"/>
          <a:stretch xmlns:a="http://schemas.openxmlformats.org/drawingml/2006/main"/>
        </p:blipFill>
        <p:spPr>
          <a:xfrm xmlns:a="http://schemas.openxmlformats.org/drawingml/2006/main">
            <a:off x="1654710" y="1447800"/>
            <a:ext cx="8882579" cy="2333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6B178-47B0-461D-B616-CE041A8642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016913746489a"/>
          <a:stretch xmlns:a="http://schemas.openxmlformats.org/drawingml/2006/main"/>
        </p:blipFill>
        <p:spPr>
          <a:xfrm xmlns:a="http://schemas.openxmlformats.org/drawingml/2006/main">
            <a:off x="1691476" y="3800475"/>
            <a:ext cx="8809048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蓝：形状；橙：尺度；绿：位置。五页共用线性半径；MM数值见备页。">
            <a:extLst xmlns:a="http://schemas.openxmlformats.org/drawingml/2006/main">
              <a:ext uri="{FF2B5EF4-FFF2-40B4-BE49-F238E27FC236}">
                <a16:creationId xmlns:a16="http://schemas.microsoft.com/office/drawing/2014/main" id="{7A291C81-F6D7-4FC9-B3D3-5BA7F77C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蓝：形状；橙：尺度；绿：位置。五页共用线性半径；MM数值见备页。</a:t>
            </a:r>
          </a:p>
        </p:txBody>
      </p:sp>
    </p:spTree>
    <p:extLst>
      <p:ext uri="{BB962C8B-B14F-4D97-AF65-F5344CB8AC3E}">
        <p14:creationId xmlns:p14="http://schemas.microsoft.com/office/powerpoint/2010/main" val="165417450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90504-0152-4C4F-8CCB-3389D116D6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b8d6a053946f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4D76D3DC-9F71-4929-8F60-47E18715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样本减少时，各方法的误差增幅不同">
            <a:extLst xmlns:a="http://schemas.openxmlformats.org/drawingml/2006/main">
              <a:ext uri="{FF2B5EF4-FFF2-40B4-BE49-F238E27FC236}">
                <a16:creationId xmlns:a16="http://schemas.microsoft.com/office/drawing/2014/main" id="{35D28FC4-63C8-4427-8142-D10454D1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样本减少时，各方法的误差增幅不同</a:t>
            </a:r>
          </a:p>
        </p:txBody>
      </p:sp>
      <p:sp>
        <p:nvSpPr>
          <p:cNvPr id="4" name="n=7">
            <a:extLst xmlns:a="http://schemas.openxmlformats.org/drawingml/2006/main">
              <a:ext uri="{FF2B5EF4-FFF2-40B4-BE49-F238E27FC236}">
                <a16:creationId xmlns:a16="http://schemas.microsoft.com/office/drawing/2014/main" id="{9F7746DF-A47D-459C-83E2-81ECB5AB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n=7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6AD53445-61CF-40E2-BEB5-FBB2DFF0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E3964-9790-4604-B995-D6CAA5CFA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2a781e518421d"/>
          <a:stretch xmlns:a="http://schemas.openxmlformats.org/drawingml/2006/main"/>
        </p:blipFill>
        <p:spPr>
          <a:xfrm xmlns:a="http://schemas.openxmlformats.org/drawingml/2006/main">
            <a:off x="1654710" y="1447800"/>
            <a:ext cx="8882579" cy="23336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B00A0-B451-4EE3-BE36-4B20AFEC8D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7cd457be941fc"/>
          <a:stretch xmlns:a="http://schemas.openxmlformats.org/drawingml/2006/main"/>
        </p:blipFill>
        <p:spPr>
          <a:xfrm xmlns:a="http://schemas.openxmlformats.org/drawingml/2006/main">
            <a:off x="1691476" y="3800475"/>
            <a:ext cx="8809048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蓝：形状；橙：尺度；绿：位置。五页共用线性半径；MM数值见备页。">
            <a:extLst xmlns:a="http://schemas.openxmlformats.org/drawingml/2006/main">
              <a:ext uri="{FF2B5EF4-FFF2-40B4-BE49-F238E27FC236}">
                <a16:creationId xmlns:a16="http://schemas.microsoft.com/office/drawing/2014/main" id="{892A7776-0F7B-4D10-9C9B-5D2DDF02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蓝：形状；橙：尺度；绿：位置。五页共用线性半径；MM数值见备页。</a:t>
            </a:r>
          </a:p>
        </p:txBody>
      </p:sp>
    </p:spTree>
    <p:extLst>
      <p:ext uri="{BB962C8B-B14F-4D97-AF65-F5344CB8AC3E}">
        <p14:creationId xmlns:p14="http://schemas.microsoft.com/office/powerpoint/2010/main" val="34143546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1CA04-51D5-4239-A93A-674D2BCAA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18905a92c4e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70BCB02B-3643-4401-A384-54341CAD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较大β下，方法间差距呈现扩大与缩小并存">
            <a:extLst xmlns:a="http://schemas.openxmlformats.org/drawingml/2006/main">
              <a:ext uri="{FF2B5EF4-FFF2-40B4-BE49-F238E27FC236}">
                <a16:creationId xmlns:a16="http://schemas.microsoft.com/office/drawing/2014/main" id="{B22637E3-2C17-4704-A454-EEA7606F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较大β下，方法间差距呈现扩大与缩小并存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C8C31C8D-0CFE-43A7-88DF-F89D95AE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3B62D-9EF1-48D0-8FC9-49D5BD077C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b1483d68b45d1"/>
          <a:stretch xmlns:a="http://schemas.openxmlformats.org/drawingml/2006/main"/>
        </p:blipFill>
        <p:spPr>
          <a:xfrm xmlns:a="http://schemas.openxmlformats.org/drawingml/2006/main">
            <a:off x="2195888" y="1485900"/>
            <a:ext cx="7800223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纵向比较相同方法对随n的变化；上：β=1.5，下：β=5。">
            <a:extLst xmlns:a="http://schemas.openxmlformats.org/drawingml/2006/main">
              <a:ext uri="{FF2B5EF4-FFF2-40B4-BE49-F238E27FC236}">
                <a16:creationId xmlns:a16="http://schemas.microsoft.com/office/drawing/2014/main" id="{67C6DDD8-0E19-4751-81CA-7C216806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纵向比较相同方法对随n的变化；上：β=1.5，下：β=5。</a:t>
            </a:r>
          </a:p>
        </p:txBody>
      </p:sp>
    </p:spTree>
    <p:extLst>
      <p:ext uri="{BB962C8B-B14F-4D97-AF65-F5344CB8AC3E}">
        <p14:creationId xmlns:p14="http://schemas.microsoft.com/office/powerpoint/2010/main" val="91307302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8CE81-F17F-4F58-A87D-FF729BB42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bde0de76940f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01A66975-3669-445A-AEA6-EF2D4CE1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误差上升并不意味着方法间距离同步扩大">
            <a:extLst xmlns:a="http://schemas.openxmlformats.org/drawingml/2006/main">
              <a:ext uri="{FF2B5EF4-FFF2-40B4-BE49-F238E27FC236}">
                <a16:creationId xmlns:a16="http://schemas.microsoft.com/office/drawing/2014/main" id="{6D03A4A1-F9B4-4A2E-8AD8-335BE6FC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误差上升并不意味着方法间距离同步扩大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3D833988-E856-4561-8B49-AE7B00EE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8829D-A22B-4AB7-A06B-626906026E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5eb5ce8d94435"/>
          <a:stretch xmlns:a="http://schemas.openxmlformats.org/drawingml/2006/main"/>
        </p:blipFill>
        <p:spPr>
          <a:xfrm xmlns:a="http://schemas.openxmlformats.org/drawingml/2006/main">
            <a:off x="400050" y="1941998"/>
            <a:ext cx="11391900" cy="3774104"/>
          </a:xfrm>
          <a:prstGeom xmlns:a="http://schemas.openxmlformats.org/drawingml/2006/main" prst="rect">
            <a:avLst/>
          </a:prstGeom>
        </p:spPr>
      </p:pic>
      <p:sp>
        <p:nvSpPr>
          <p:cNvPr id="6" name="颜色为n=7与n=50的方法对距离之差；红色扩大、蓝色缩小，不表示优劣">
            <a:extLst xmlns:a="http://schemas.openxmlformats.org/drawingml/2006/main">
              <a:ext uri="{FF2B5EF4-FFF2-40B4-BE49-F238E27FC236}">
                <a16:creationId xmlns:a16="http://schemas.microsoft.com/office/drawing/2014/main" id="{A8D306DF-4213-45FD-BD2B-7B5CB646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颜色为n=7与n=50的方法对距离之差；红色扩大、蓝色缩小，不表示优劣排序。</a:t>
            </a:r>
          </a:p>
        </p:txBody>
      </p:sp>
    </p:spTree>
    <p:extLst>
      <p:ext uri="{BB962C8B-B14F-4D97-AF65-F5344CB8AC3E}">
        <p14:creationId xmlns:p14="http://schemas.microsoft.com/office/powerpoint/2010/main" val="121440891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D68ACD-8EB1-41DA-B5AA-A6203DBEFF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4240afd5d49a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9FE4CA43-F712-403B-9A8F-B227542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形状条件改变时，估计分布的偏移与形态也改变">
            <a:extLst xmlns:a="http://schemas.openxmlformats.org/drawingml/2006/main">
              <a:ext uri="{FF2B5EF4-FFF2-40B4-BE49-F238E27FC236}">
                <a16:creationId xmlns:a16="http://schemas.microsoft.com/office/drawing/2014/main" id="{6856D4A4-4248-458D-9AE5-C5F8978E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形状条件改变时，估计分布的偏移与形态也改变</a:t>
            </a:r>
          </a:p>
        </p:txBody>
      </p:sp>
      <p:sp>
        <p:nvSpPr>
          <p:cNvPr id="4" name="β=1.5">
            <a:extLst xmlns:a="http://schemas.openxmlformats.org/drawingml/2006/main">
              <a:ext uri="{FF2B5EF4-FFF2-40B4-BE49-F238E27FC236}">
                <a16:creationId xmlns:a16="http://schemas.microsoft.com/office/drawing/2014/main" id="{C6AE5978-8070-4AFA-9556-CA920BE6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β=1.5</a:t>
            </a:r>
          </a:p>
        </p:txBody>
      </p:sp>
      <p:sp>
        <p:nvSpPr>
          <p:cNvPr id="5" name="25">
            <a:extLst xmlns:a="http://schemas.openxmlformats.org/drawingml/2006/main">
              <a:ext uri="{FF2B5EF4-FFF2-40B4-BE49-F238E27FC236}">
                <a16:creationId xmlns:a16="http://schemas.microsoft.com/office/drawing/2014/main" id="{1AC02CB7-149C-4A71-815B-0F75A431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8A418-B803-4E44-88BB-286D136C1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b42ab7b844395"/>
          <a:stretch xmlns:a="http://schemas.openxmlformats.org/drawingml/2006/main"/>
        </p:blipFill>
        <p:spPr>
          <a:xfrm xmlns:a="http://schemas.openxmlformats.org/drawingml/2006/main">
            <a:off x="1276566" y="1485900"/>
            <a:ext cx="963886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行：n=50、7；列：形状、尺度、位置。虚线为真值，红点为均值，横线为">
            <a:extLst xmlns:a="http://schemas.openxmlformats.org/drawingml/2006/main">
              <a:ext uri="{FF2B5EF4-FFF2-40B4-BE49-F238E27FC236}">
                <a16:creationId xmlns:a16="http://schemas.microsoft.com/office/drawing/2014/main" id="{63255867-59E7-416F-8B04-FD5F95FE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行：n=50、7；列：形状、尺度、位置。虚线为真值，红点为均值，横线为四分位区间。</a:t>
            </a:r>
          </a:p>
        </p:txBody>
      </p:sp>
    </p:spTree>
    <p:extLst>
      <p:ext uri="{BB962C8B-B14F-4D97-AF65-F5344CB8AC3E}">
        <p14:creationId xmlns:p14="http://schemas.microsoft.com/office/powerpoint/2010/main" val="16478027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B736A-7F1F-4649-9505-1A6763793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c5e604ddb4f1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4BAFEFCB-DFB9-44DD-BA17-2D9F06DC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形状条件改变时，估计分布的偏移与形态也改变">
            <a:extLst xmlns:a="http://schemas.openxmlformats.org/drawingml/2006/main">
              <a:ext uri="{FF2B5EF4-FFF2-40B4-BE49-F238E27FC236}">
                <a16:creationId xmlns:a16="http://schemas.microsoft.com/office/drawing/2014/main" id="{E7258EE8-9617-4F0F-9F3C-67CFD4B5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形状条件改变时，估计分布的偏移与形态也改变</a:t>
            </a:r>
          </a:p>
        </p:txBody>
      </p:sp>
      <p:sp>
        <p:nvSpPr>
          <p:cNvPr id="4" name="β=2">
            <a:extLst xmlns:a="http://schemas.openxmlformats.org/drawingml/2006/main">
              <a:ext uri="{FF2B5EF4-FFF2-40B4-BE49-F238E27FC236}">
                <a16:creationId xmlns:a16="http://schemas.microsoft.com/office/drawing/2014/main" id="{1D99A024-32B0-45AC-BA90-9E4531B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β=2</a:t>
            </a:r>
          </a:p>
        </p:txBody>
      </p:sp>
      <p:sp>
        <p:nvSpPr>
          <p:cNvPr id="5" name="26">
            <a:extLst xmlns:a="http://schemas.openxmlformats.org/drawingml/2006/main">
              <a:ext uri="{FF2B5EF4-FFF2-40B4-BE49-F238E27FC236}">
                <a16:creationId xmlns:a16="http://schemas.microsoft.com/office/drawing/2014/main" id="{6E6DFD98-9ED3-4D90-8B3C-1A512224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C6F59-0B8C-45C3-AAA8-4CE8FC4E8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ab7ae89d845de"/>
          <a:stretch xmlns:a="http://schemas.openxmlformats.org/drawingml/2006/main"/>
        </p:blipFill>
        <p:spPr>
          <a:xfrm xmlns:a="http://schemas.openxmlformats.org/drawingml/2006/main">
            <a:off x="1276566" y="1485900"/>
            <a:ext cx="963886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行：n=50、7；列：形状、尺度、位置。虚线为真值，红点为均值，横线为">
            <a:extLst xmlns:a="http://schemas.openxmlformats.org/drawingml/2006/main">
              <a:ext uri="{FF2B5EF4-FFF2-40B4-BE49-F238E27FC236}">
                <a16:creationId xmlns:a16="http://schemas.microsoft.com/office/drawing/2014/main" id="{84EABAE2-6900-47E0-BD74-FA8504D3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行：n=50、7；列：形状、尺度、位置。虚线为真值，红点为均值，横线为四分位区间。</a:t>
            </a:r>
          </a:p>
        </p:txBody>
      </p:sp>
    </p:spTree>
    <p:extLst>
      <p:ext uri="{BB962C8B-B14F-4D97-AF65-F5344CB8AC3E}">
        <p14:creationId xmlns:p14="http://schemas.microsoft.com/office/powerpoint/2010/main" val="111901517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C18A4-5064-4CA2-8C8D-33BE52D5D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34c892f0e4cd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C885A45B-D20F-41BF-BE82-159B91DB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形状条件改变时，估计分布的偏移与形态也改变">
            <a:extLst xmlns:a="http://schemas.openxmlformats.org/drawingml/2006/main">
              <a:ext uri="{FF2B5EF4-FFF2-40B4-BE49-F238E27FC236}">
                <a16:creationId xmlns:a16="http://schemas.microsoft.com/office/drawing/2014/main" id="{CE451E02-8045-4098-8C68-96BB86FB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形状条件改变时，估计分布的偏移与形态也改变</a:t>
            </a:r>
          </a:p>
        </p:txBody>
      </p:sp>
      <p:sp>
        <p:nvSpPr>
          <p:cNvPr id="4" name="β=2.5">
            <a:extLst xmlns:a="http://schemas.openxmlformats.org/drawingml/2006/main">
              <a:ext uri="{FF2B5EF4-FFF2-40B4-BE49-F238E27FC236}">
                <a16:creationId xmlns:a16="http://schemas.microsoft.com/office/drawing/2014/main" id="{A63BAF9E-51BD-442B-B9B7-2B43398C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β=2.5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DB3B4877-2D2B-40D6-BCA5-4D0B0DD7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26468-38B3-458F-AC9D-14491FE96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e8f3ed74e4151"/>
          <a:stretch xmlns:a="http://schemas.openxmlformats.org/drawingml/2006/main"/>
        </p:blipFill>
        <p:spPr>
          <a:xfrm xmlns:a="http://schemas.openxmlformats.org/drawingml/2006/main">
            <a:off x="1276566" y="1485900"/>
            <a:ext cx="963886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行：n=50、7；列：形状、尺度、位置。虚线为真值，红点为均值，横线为">
            <a:extLst xmlns:a="http://schemas.openxmlformats.org/drawingml/2006/main">
              <a:ext uri="{FF2B5EF4-FFF2-40B4-BE49-F238E27FC236}">
                <a16:creationId xmlns:a16="http://schemas.microsoft.com/office/drawing/2014/main" id="{84444B5E-3098-463F-8011-69E7C364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行：n=50、7；列：形状、尺度、位置。虚线为真值，红点为均值，横线为四分位区间。</a:t>
            </a:r>
          </a:p>
        </p:txBody>
      </p:sp>
    </p:spTree>
    <p:extLst>
      <p:ext uri="{BB962C8B-B14F-4D97-AF65-F5344CB8AC3E}">
        <p14:creationId xmlns:p14="http://schemas.microsoft.com/office/powerpoint/2010/main" val="193427287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4CFBE-ECD6-4CD5-8CE2-E3AD8E0A50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c7c105214442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045DCB9F-2FE1-458F-8F7D-62FDE36D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形状条件改变时，估计分布的偏移与形态也改变">
            <a:extLst xmlns:a="http://schemas.openxmlformats.org/drawingml/2006/main">
              <a:ext uri="{FF2B5EF4-FFF2-40B4-BE49-F238E27FC236}">
                <a16:creationId xmlns:a16="http://schemas.microsoft.com/office/drawing/2014/main" id="{5DF716AB-9D7F-483E-90F8-009338A1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形状条件改变时，估计分布的偏移与形态也改变</a:t>
            </a:r>
          </a:p>
        </p:txBody>
      </p:sp>
      <p:sp>
        <p:nvSpPr>
          <p:cNvPr id="4" name="β=3">
            <a:extLst xmlns:a="http://schemas.openxmlformats.org/drawingml/2006/main">
              <a:ext uri="{FF2B5EF4-FFF2-40B4-BE49-F238E27FC236}">
                <a16:creationId xmlns:a16="http://schemas.microsoft.com/office/drawing/2014/main" id="{80C58F4F-BA4A-4108-9B60-F19B9464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β=3</a:t>
            </a:r>
          </a:p>
        </p:txBody>
      </p:sp>
      <p:sp>
        <p:nvSpPr>
          <p:cNvPr id="5" name="28">
            <a:extLst xmlns:a="http://schemas.openxmlformats.org/drawingml/2006/main">
              <a:ext uri="{FF2B5EF4-FFF2-40B4-BE49-F238E27FC236}">
                <a16:creationId xmlns:a16="http://schemas.microsoft.com/office/drawing/2014/main" id="{B4C92296-D1DB-44D6-9680-14784FD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9B3EF-1AE8-4192-ACBB-7A8FC368A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7ef86e1c14297"/>
          <a:stretch xmlns:a="http://schemas.openxmlformats.org/drawingml/2006/main"/>
        </p:blipFill>
        <p:spPr>
          <a:xfrm xmlns:a="http://schemas.openxmlformats.org/drawingml/2006/main">
            <a:off x="1276566" y="1485900"/>
            <a:ext cx="963886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行：n=50、7；列：形状、尺度、位置。虚线为真值，红点为均值，横线为">
            <a:extLst xmlns:a="http://schemas.openxmlformats.org/drawingml/2006/main">
              <a:ext uri="{FF2B5EF4-FFF2-40B4-BE49-F238E27FC236}">
                <a16:creationId xmlns:a16="http://schemas.microsoft.com/office/drawing/2014/main" id="{1FC1240A-9816-47A3-9476-4348595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行：n=50、7；列：形状、尺度、位置。虚线为真值，红点为均值，横线为四分位区间。</a:t>
            </a:r>
          </a:p>
        </p:txBody>
      </p:sp>
    </p:spTree>
    <p:extLst>
      <p:ext uri="{BB962C8B-B14F-4D97-AF65-F5344CB8AC3E}">
        <p14:creationId xmlns:p14="http://schemas.microsoft.com/office/powerpoint/2010/main" val="142549524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79D05-963D-413E-A9C4-2A03816885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9b6bd1e8f4e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177ED07C-DC54-43D3-8DE0-06C4DE2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形状条件改变时，估计分布的偏移与形态也改变">
            <a:extLst xmlns:a="http://schemas.openxmlformats.org/drawingml/2006/main">
              <a:ext uri="{FF2B5EF4-FFF2-40B4-BE49-F238E27FC236}">
                <a16:creationId xmlns:a16="http://schemas.microsoft.com/office/drawing/2014/main" id="{456F4813-61DA-4793-AF72-662A2BFC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形状条件改变时，估计分布的偏移与形态也改变</a:t>
            </a:r>
          </a:p>
        </p:txBody>
      </p:sp>
      <p:sp>
        <p:nvSpPr>
          <p:cNvPr id="4" name="β=3.5">
            <a:extLst xmlns:a="http://schemas.openxmlformats.org/drawingml/2006/main">
              <a:ext uri="{FF2B5EF4-FFF2-40B4-BE49-F238E27FC236}">
                <a16:creationId xmlns:a16="http://schemas.microsoft.com/office/drawing/2014/main" id="{CFF49878-A118-436E-8F32-279AF3B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β=3.5</a:t>
            </a:r>
          </a:p>
        </p:txBody>
      </p:sp>
      <p:sp>
        <p:nvSpPr>
          <p:cNvPr id="5" name="29">
            <a:extLst xmlns:a="http://schemas.openxmlformats.org/drawingml/2006/main">
              <a:ext uri="{FF2B5EF4-FFF2-40B4-BE49-F238E27FC236}">
                <a16:creationId xmlns:a16="http://schemas.microsoft.com/office/drawing/2014/main" id="{BD56D791-623B-4213-8566-6EA57D26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082C1-319A-4529-A885-C65A900E76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3a0bb544b492c"/>
          <a:stretch xmlns:a="http://schemas.openxmlformats.org/drawingml/2006/main"/>
        </p:blipFill>
        <p:spPr>
          <a:xfrm xmlns:a="http://schemas.openxmlformats.org/drawingml/2006/main">
            <a:off x="1276566" y="1485900"/>
            <a:ext cx="963886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行：n=50、7；列：形状、尺度、位置。虚线为真值，红点为均值，横线为">
            <a:extLst xmlns:a="http://schemas.openxmlformats.org/drawingml/2006/main">
              <a:ext uri="{FF2B5EF4-FFF2-40B4-BE49-F238E27FC236}">
                <a16:creationId xmlns:a16="http://schemas.microsoft.com/office/drawing/2014/main" id="{C2DF61EB-28BB-42B6-8E6C-AC4638CC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行：n=50、7；列：形状、尺度、位置。虚线为真值，红点为均值，横线为四分位区间。</a:t>
            </a:r>
          </a:p>
        </p:txBody>
      </p:sp>
    </p:spTree>
    <p:extLst>
      <p:ext uri="{BB962C8B-B14F-4D97-AF65-F5344CB8AC3E}">
        <p14:creationId xmlns:p14="http://schemas.microsoft.com/office/powerpoint/2010/main" val="1360185836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97EE3-CD39-458A-80FB-D10940D7A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96144d2fd449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BABF3FBD-3F80-4294-A1B4-84A9E2BC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形状条件改变时，估计分布的偏移与形态也改变">
            <a:extLst xmlns:a="http://schemas.openxmlformats.org/drawingml/2006/main">
              <a:ext uri="{FF2B5EF4-FFF2-40B4-BE49-F238E27FC236}">
                <a16:creationId xmlns:a16="http://schemas.microsoft.com/office/drawing/2014/main" id="{612E2B4F-C9B1-4414-8101-86446A7B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形状条件改变时，估计分布的偏移与形态也改变</a:t>
            </a:r>
          </a:p>
        </p:txBody>
      </p:sp>
      <p:sp>
        <p:nvSpPr>
          <p:cNvPr id="4" name="β=4">
            <a:extLst xmlns:a="http://schemas.openxmlformats.org/drawingml/2006/main">
              <a:ext uri="{FF2B5EF4-FFF2-40B4-BE49-F238E27FC236}">
                <a16:creationId xmlns:a16="http://schemas.microsoft.com/office/drawing/2014/main" id="{5AA98FF4-7BBA-4109-AC14-6C87E185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β=4</a:t>
            </a:r>
          </a:p>
        </p:txBody>
      </p:sp>
      <p:sp>
        <p:nvSpPr>
          <p:cNvPr id="5" name="30">
            <a:extLst xmlns:a="http://schemas.openxmlformats.org/drawingml/2006/main">
              <a:ext uri="{FF2B5EF4-FFF2-40B4-BE49-F238E27FC236}">
                <a16:creationId xmlns:a16="http://schemas.microsoft.com/office/drawing/2014/main" id="{014F90C1-10AA-4921-9478-EF6E1596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4E88C-6806-435E-B168-8CC2BDB9E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3e7ca51ee4feb"/>
          <a:stretch xmlns:a="http://schemas.openxmlformats.org/drawingml/2006/main"/>
        </p:blipFill>
        <p:spPr>
          <a:xfrm xmlns:a="http://schemas.openxmlformats.org/drawingml/2006/main">
            <a:off x="1276566" y="1485900"/>
            <a:ext cx="963886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行：n=50、7；列：形状、尺度、位置。虚线为真值，红点为均值，横线为">
            <a:extLst xmlns:a="http://schemas.openxmlformats.org/drawingml/2006/main">
              <a:ext uri="{FF2B5EF4-FFF2-40B4-BE49-F238E27FC236}">
                <a16:creationId xmlns:a16="http://schemas.microsoft.com/office/drawing/2014/main" id="{3D7DAD5B-AE76-4FFC-BB8B-37D92385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行：n=50、7；列：形状、尺度、位置。虚线为真值，红点为均值，横线为四分位区间。</a:t>
            </a:r>
          </a:p>
        </p:txBody>
      </p:sp>
    </p:spTree>
    <p:extLst>
      <p:ext uri="{BB962C8B-B14F-4D97-AF65-F5344CB8AC3E}">
        <p14:creationId xmlns:p14="http://schemas.microsoft.com/office/powerpoint/2010/main" val="57897915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93B14-816F-4EF8-9EB0-C8D6DD763E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6a2853c11434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24DCF557-5AAF-4654-A8C1-70A86080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形状条件改变时，估计分布的偏移与形态也改变">
            <a:extLst xmlns:a="http://schemas.openxmlformats.org/drawingml/2006/main">
              <a:ext uri="{FF2B5EF4-FFF2-40B4-BE49-F238E27FC236}">
                <a16:creationId xmlns:a16="http://schemas.microsoft.com/office/drawing/2014/main" id="{7F3956F0-9AA6-4A7A-AA3A-5BD90ADA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形状条件改变时，估计分布的偏移与形态也改变</a:t>
            </a:r>
          </a:p>
        </p:txBody>
      </p:sp>
      <p:sp>
        <p:nvSpPr>
          <p:cNvPr id="4" name="β=4.5">
            <a:extLst xmlns:a="http://schemas.openxmlformats.org/drawingml/2006/main">
              <a:ext uri="{FF2B5EF4-FFF2-40B4-BE49-F238E27FC236}">
                <a16:creationId xmlns:a16="http://schemas.microsoft.com/office/drawing/2014/main" id="{070803AE-B2BE-4654-96B1-AE72D28F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β=4.5</a:t>
            </a:r>
          </a:p>
        </p:txBody>
      </p:sp>
      <p:sp>
        <p:nvSpPr>
          <p:cNvPr id="5" name="31">
            <a:extLst xmlns:a="http://schemas.openxmlformats.org/drawingml/2006/main">
              <a:ext uri="{FF2B5EF4-FFF2-40B4-BE49-F238E27FC236}">
                <a16:creationId xmlns:a16="http://schemas.microsoft.com/office/drawing/2014/main" id="{9D1CABAD-9C09-43B1-8855-42EC11DE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40D19-07A2-4670-8006-63465D9E2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272ef469e451a"/>
          <a:stretch xmlns:a="http://schemas.openxmlformats.org/drawingml/2006/main"/>
        </p:blipFill>
        <p:spPr>
          <a:xfrm xmlns:a="http://schemas.openxmlformats.org/drawingml/2006/main">
            <a:off x="1276566" y="1485900"/>
            <a:ext cx="963886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行：n=50、7；列：形状、尺度、位置。虚线为真值，红点为均值，横线为">
            <a:extLst xmlns:a="http://schemas.openxmlformats.org/drawingml/2006/main">
              <a:ext uri="{FF2B5EF4-FFF2-40B4-BE49-F238E27FC236}">
                <a16:creationId xmlns:a16="http://schemas.microsoft.com/office/drawing/2014/main" id="{5B0EEC67-B507-4CDC-A105-4C304BBD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行：n=50、7；列：形状、尺度、位置。虚线为真值，红点为均值，横线为四分位区间。</a:t>
            </a:r>
          </a:p>
        </p:txBody>
      </p:sp>
    </p:spTree>
    <p:extLst>
      <p:ext uri="{BB962C8B-B14F-4D97-AF65-F5344CB8AC3E}">
        <p14:creationId xmlns:p14="http://schemas.microsoft.com/office/powerpoint/2010/main" val="211977013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B747F-EE69-46BC-96C2-2AE88F48DB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46f46e52a472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4DA75CD8-64CB-4243-AEAB-6D0E5E30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形状条件改变时，估计分布的偏移与形态也改变">
            <a:extLst xmlns:a="http://schemas.openxmlformats.org/drawingml/2006/main">
              <a:ext uri="{FF2B5EF4-FFF2-40B4-BE49-F238E27FC236}">
                <a16:creationId xmlns:a16="http://schemas.microsoft.com/office/drawing/2014/main" id="{E703DA98-CD41-4FAF-9D06-CF7689A2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形状条件改变时，估计分布的偏移与形态也改变</a:t>
            </a:r>
          </a:p>
        </p:txBody>
      </p:sp>
      <p:sp>
        <p:nvSpPr>
          <p:cNvPr id="4" name="β=5">
            <a:extLst xmlns:a="http://schemas.openxmlformats.org/drawingml/2006/main">
              <a:ext uri="{FF2B5EF4-FFF2-40B4-BE49-F238E27FC236}">
                <a16:creationId xmlns:a16="http://schemas.microsoft.com/office/drawing/2014/main" id="{32D147F9-3EC9-43BC-9838-2C525366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5725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β=5</a:t>
            </a:r>
          </a:p>
        </p:txBody>
      </p:sp>
      <p:sp>
        <p:nvSpPr>
          <p:cNvPr id="5" name="32">
            <a:extLst xmlns:a="http://schemas.openxmlformats.org/drawingml/2006/main">
              <a:ext uri="{FF2B5EF4-FFF2-40B4-BE49-F238E27FC236}">
                <a16:creationId xmlns:a16="http://schemas.microsoft.com/office/drawing/2014/main" id="{A9A2481D-ADEC-4B94-A087-3DCA0567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80F6AA-E119-4142-B5D1-A650A1BBC9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72175318e4e06"/>
          <a:stretch xmlns:a="http://schemas.openxmlformats.org/drawingml/2006/main"/>
        </p:blipFill>
        <p:spPr>
          <a:xfrm xmlns:a="http://schemas.openxmlformats.org/drawingml/2006/main">
            <a:off x="1276566" y="1485900"/>
            <a:ext cx="9638867" cy="4686300"/>
          </a:xfrm>
          <a:prstGeom xmlns:a="http://schemas.openxmlformats.org/drawingml/2006/main" prst="rect">
            <a:avLst/>
          </a:prstGeom>
        </p:spPr>
      </p:pic>
      <p:sp>
        <p:nvSpPr>
          <p:cNvPr id="7" name="行：n=50、7；列：形状、尺度、位置。虚线为真值，红点为均值，横线为">
            <a:extLst xmlns:a="http://schemas.openxmlformats.org/drawingml/2006/main">
              <a:ext uri="{FF2B5EF4-FFF2-40B4-BE49-F238E27FC236}">
                <a16:creationId xmlns:a16="http://schemas.microsoft.com/office/drawing/2014/main" id="{59899CE4-ABCE-48F9-9095-A9708E68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行：n=50、7；列：形状、尺度、位置。虚线为真值，红点为均值，横线为四分位区间。</a:t>
            </a:r>
          </a:p>
        </p:txBody>
      </p:sp>
    </p:spTree>
    <p:extLst>
      <p:ext uri="{BB962C8B-B14F-4D97-AF65-F5344CB8AC3E}">
        <p14:creationId xmlns:p14="http://schemas.microsoft.com/office/powerpoint/2010/main" val="142208436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0DFCC-21CA-426C-AEA4-1E3FC4829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9bafad1fd47d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96086202-4596-46EB-A067-07AA9392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样本量减少时，明显异常估计更加常见">
            <a:extLst xmlns:a="http://schemas.openxmlformats.org/drawingml/2006/main">
              <a:ext uri="{FF2B5EF4-FFF2-40B4-BE49-F238E27FC236}">
                <a16:creationId xmlns:a16="http://schemas.microsoft.com/office/drawing/2014/main" id="{53D9BDA3-C9F5-4EEB-98C6-6FB253AA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样本量减少时，明显异常估计更加常见</a:t>
            </a:r>
          </a:p>
        </p:txBody>
      </p:sp>
      <p:sp>
        <p:nvSpPr>
          <p:cNvPr id="4" name="33">
            <a:extLst xmlns:a="http://schemas.openxmlformats.org/drawingml/2006/main">
              <a:ext uri="{FF2B5EF4-FFF2-40B4-BE49-F238E27FC236}">
                <a16:creationId xmlns:a16="http://schemas.microsoft.com/office/drawing/2014/main" id="{715AD65D-586B-4C8D-B2E6-20B31ED4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21EBF-FD4D-491D-8266-923A1F643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58760599d47f4"/>
          <a:stretch xmlns:a="http://schemas.openxmlformats.org/drawingml/2006/main"/>
        </p:blipFill>
        <p:spPr>
          <a:xfrm xmlns:a="http://schemas.openxmlformats.org/drawingml/2006/main">
            <a:off x="1079679" y="1485900"/>
            <a:ext cx="10032642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异常判据：β̂≤β/3或β̂≥3β；频率以各法自身有效结果为分母，失败">
            <a:extLst xmlns:a="http://schemas.openxmlformats.org/drawingml/2006/main">
              <a:ext uri="{FF2B5EF4-FFF2-40B4-BE49-F238E27FC236}">
                <a16:creationId xmlns:a16="http://schemas.microsoft.com/office/drawing/2014/main" id="{88CC42C5-0693-48F7-8B38-8D05F888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异常判据：β̂≤β/3或β̂≥3β；频率以各法自身有效结果为分母，失败另计。</a:t>
            </a:r>
          </a:p>
        </p:txBody>
      </p:sp>
    </p:spTree>
    <p:extLst>
      <p:ext uri="{BB962C8B-B14F-4D97-AF65-F5344CB8AC3E}">
        <p14:creationId xmlns:p14="http://schemas.microsoft.com/office/powerpoint/2010/main" val="1076246228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259397-2FC1-480B-8228-F912616B52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0a7ea86244c8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4　估计性能的差异与变化">
            <a:extLst xmlns:a="http://schemas.openxmlformats.org/drawingml/2006/main">
              <a:ext uri="{FF2B5EF4-FFF2-40B4-BE49-F238E27FC236}">
                <a16:creationId xmlns:a16="http://schemas.microsoft.com/office/drawing/2014/main" id="{D4C0AE98-7729-4F90-BBB9-4F0398D0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04　估计性能的差异与变化</a:t>
            </a:r>
          </a:p>
        </p:txBody>
      </p:sp>
      <p:sp>
        <p:nvSpPr>
          <p:cNvPr id="3" name="误差增长、参数偏移与异常增多需要分别解释">
            <a:extLst xmlns:a="http://schemas.openxmlformats.org/drawingml/2006/main">
              <a:ext uri="{FF2B5EF4-FFF2-40B4-BE49-F238E27FC236}">
                <a16:creationId xmlns:a16="http://schemas.microsoft.com/office/drawing/2014/main" id="{95D031CD-A8B0-4F27-B32B-B90AEBAD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误差增长、参数偏移与异常增多需要分别解释</a:t>
            </a:r>
          </a:p>
        </p:txBody>
      </p:sp>
      <p:sp>
        <p:nvSpPr>
          <p:cNvPr id="4" name="34">
            <a:extLst xmlns:a="http://schemas.openxmlformats.org/drawingml/2006/main">
              <a:ext uri="{FF2B5EF4-FFF2-40B4-BE49-F238E27FC236}">
                <a16:creationId xmlns:a16="http://schemas.microsoft.com/office/drawing/2014/main" id="{337B26DF-7F63-4E8F-B183-9B055A21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5" name="n减小">
            <a:extLst xmlns:a="http://schemas.openxmlformats.org/drawingml/2006/main">
              <a:ext uri="{FF2B5EF4-FFF2-40B4-BE49-F238E27FC236}">
                <a16:creationId xmlns:a16="http://schemas.microsoft.com/office/drawing/2014/main" id="{799B17BA-CA5D-43E4-A0C0-42FFEED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n减小</a:t>
            </a:r>
          </a:p>
        </p:txBody>
      </p:sp>
      <p:sp>
        <p:nvSpPr>
          <p:cNvPr id="6" name="估计误差总体增大，但各方法的增幅不同。">
            <a:extLst xmlns:a="http://schemas.openxmlformats.org/drawingml/2006/main">
              <a:ext uri="{FF2B5EF4-FFF2-40B4-BE49-F238E27FC236}">
                <a16:creationId xmlns:a16="http://schemas.microsoft.com/office/drawing/2014/main" id="{DE33A2B3-9AB8-4513-95F5-28CFC03E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估计误差总体增大，但各方法的增幅不同。</a:t>
            </a:r>
          </a:p>
        </p:txBody>
      </p:sp>
      <p:sp>
        <p:nvSpPr>
          <p:cNvPr id="7" name="β增大">
            <a:extLst xmlns:a="http://schemas.openxmlformats.org/drawingml/2006/main">
              <a:ext uri="{FF2B5EF4-FFF2-40B4-BE49-F238E27FC236}">
                <a16:creationId xmlns:a16="http://schemas.microsoft.com/office/drawing/2014/main" id="{431FA838-7B5F-41A2-8768-21C186E8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β增大</a:t>
            </a:r>
          </a:p>
        </p:txBody>
      </p:sp>
      <p:sp>
        <p:nvSpPr>
          <p:cNvPr id="8" name="三个参数出现不同方向的偏移、展宽和边界聚集。">
            <a:extLst xmlns:a="http://schemas.openxmlformats.org/drawingml/2006/main">
              <a:ext uri="{FF2B5EF4-FFF2-40B4-BE49-F238E27FC236}">
                <a16:creationId xmlns:a16="http://schemas.microsoft.com/office/drawing/2014/main" id="{2BE15B2E-5AE9-4263-B8AE-DDAEF264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290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三个参数出现不同方向的偏移、展宽和边界聚集。</a:t>
            </a:r>
          </a:p>
        </p:txBody>
      </p:sp>
      <p:sp>
        <p:nvSpPr>
          <p:cNvPr id="9" name="明显异常">
            <a:extLst xmlns:a="http://schemas.openxmlformats.org/drawingml/2006/main">
              <a:ext uri="{FF2B5EF4-FFF2-40B4-BE49-F238E27FC236}">
                <a16:creationId xmlns:a16="http://schemas.microsoft.com/office/drawing/2014/main" id="{EFBB5B1D-CB4B-490F-BFB6-7078E551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明显异常</a:t>
            </a:r>
          </a:p>
        </p:txBody>
      </p:sp>
      <p:sp>
        <p:nvSpPr>
          <p:cNvPr id="10" name="小样本下更常见，但程度与方向因方法和参数条件而异。">
            <a:extLst xmlns:a="http://schemas.openxmlformats.org/drawingml/2006/main">
              <a:ext uri="{FF2B5EF4-FFF2-40B4-BE49-F238E27FC236}">
                <a16:creationId xmlns:a16="http://schemas.microsoft.com/office/drawing/2014/main" id="{2FD0D4BE-53D7-4FA7-816D-5E4A9DA8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小样本下更常见，但程度与方向因方法和参数条件而异。</a:t>
            </a:r>
          </a:p>
        </p:txBody>
      </p:sp>
    </p:spTree>
    <p:extLst>
      <p:ext uri="{BB962C8B-B14F-4D97-AF65-F5344CB8AC3E}">
        <p14:creationId xmlns:p14="http://schemas.microsoft.com/office/powerpoint/2010/main" val="234091058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F71AF-1FB1-4BF2-89DC-9455B93958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98c0961664f5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D40BF42B-5470-48C0-ADAB-BA2426C2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同一组观测减少后，不同方法的三参数误差增幅不同">
            <a:extLst xmlns:a="http://schemas.openxmlformats.org/drawingml/2006/main">
              <a:ext uri="{FF2B5EF4-FFF2-40B4-BE49-F238E27FC236}">
                <a16:creationId xmlns:a16="http://schemas.microsoft.com/office/drawing/2014/main" id="{A466BC55-659E-4532-9E7E-43096897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同一组观测减少后，不同方法的三参数误差增幅不同</a:t>
            </a:r>
          </a:p>
        </p:txBody>
      </p:sp>
      <p:sp>
        <p:nvSpPr>
          <p:cNvPr id="4" name="35">
            <a:extLst xmlns:a="http://schemas.openxmlformats.org/drawingml/2006/main">
              <a:ext uri="{FF2B5EF4-FFF2-40B4-BE49-F238E27FC236}">
                <a16:creationId xmlns:a16="http://schemas.microsoft.com/office/drawing/2014/main" id="{52FA621F-C7C9-47AA-8CBA-BAC14B86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19C65-7856-4A32-A7CD-B0CE383EB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537df0cb64a4a"/>
          <a:stretch xmlns:a="http://schemas.openxmlformats.org/drawingml/2006/main"/>
        </p:blipFill>
        <p:spPr>
          <a:xfrm xmlns:a="http://schemas.openxmlformats.org/drawingml/2006/main">
            <a:off x="2381250" y="1485900"/>
            <a:ext cx="7429500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W(5,1000,500)：从同一组50个观测中随机保留7个；空心点为">
            <a:extLst xmlns:a="http://schemas.openxmlformats.org/drawingml/2006/main">
              <a:ext uri="{FF2B5EF4-FFF2-40B4-BE49-F238E27FC236}">
                <a16:creationId xmlns:a16="http://schemas.microsoft.com/office/drawing/2014/main" id="{79A5BACF-335A-4F81-95BD-881E1637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W(5,1000,500)：从同一组50个观测中随机保留7个；空心点为删点前、实心点为删点后。</a:t>
            </a:r>
          </a:p>
        </p:txBody>
      </p:sp>
    </p:spTree>
    <p:extLst>
      <p:ext uri="{BB962C8B-B14F-4D97-AF65-F5344CB8AC3E}">
        <p14:creationId xmlns:p14="http://schemas.microsoft.com/office/powerpoint/2010/main" val="991310573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C3024-A4C4-4A1F-8845-2FC1F5297D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98c39398664f1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35B52E3F-99A2-40FA-85D2-3026250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下端观测被移除后，三种定位依据的移动程度不同">
            <a:extLst xmlns:a="http://schemas.openxmlformats.org/drawingml/2006/main">
              <a:ext uri="{FF2B5EF4-FFF2-40B4-BE49-F238E27FC236}">
                <a16:creationId xmlns:a16="http://schemas.microsoft.com/office/drawing/2014/main" id="{C246B715-B952-4DAE-BEBE-112A6189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下端观测被移除后，三种定位依据的移动程度不同</a:t>
            </a:r>
          </a:p>
        </p:txBody>
      </p:sp>
      <p:sp>
        <p:nvSpPr>
          <p:cNvPr id="4" name="36">
            <a:extLst xmlns:a="http://schemas.openxmlformats.org/drawingml/2006/main">
              <a:ext uri="{FF2B5EF4-FFF2-40B4-BE49-F238E27FC236}">
                <a16:creationId xmlns:a16="http://schemas.microsoft.com/office/drawing/2014/main" id="{668CD465-EE35-4414-939E-08EFC5E4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EDFAC-03DC-4E94-9212-CB2D4137A8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893a9abc04e67"/>
          <a:stretch xmlns:a="http://schemas.openxmlformats.org/drawingml/2006/main"/>
        </p:blipFill>
        <p:spPr>
          <a:xfrm xmlns:a="http://schemas.openxmlformats.org/drawingml/2006/main">
            <a:off x="400050" y="1813560"/>
            <a:ext cx="11391900" cy="4030980"/>
          </a:xfrm>
          <a:prstGeom xmlns:a="http://schemas.openxmlformats.org/drawingml/2006/main" prst="rect">
            <a:avLst/>
          </a:prstGeom>
        </p:spPr>
      </p:pic>
      <p:sp>
        <p:nvSpPr>
          <p:cNvPr id="6" name="同一删点路径474：最小值、梯度阈值交点与匹配误差最低点向右移动，幅度">
            <a:extLst xmlns:a="http://schemas.openxmlformats.org/drawingml/2006/main">
              <a:ext uri="{FF2B5EF4-FFF2-40B4-BE49-F238E27FC236}">
                <a16:creationId xmlns:a16="http://schemas.microsoft.com/office/drawing/2014/main" id="{D57F1DD5-8C14-4A06-A38F-57E04A2A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同一删点路径474：最小值、梯度阈值交点与匹配误差最低点向右移动，幅度不同。</a:t>
            </a:r>
          </a:p>
        </p:txBody>
      </p:sp>
    </p:spTree>
    <p:extLst>
      <p:ext uri="{BB962C8B-B14F-4D97-AF65-F5344CB8AC3E}">
        <p14:creationId xmlns:p14="http://schemas.microsoft.com/office/powerpoint/2010/main" val="4868567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80ECA-7978-4A7C-A42F-053C366A3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3c1621b924c2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6468B84E-E67A-49F1-90C3-36AED82C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定位变化继续传递到形状与尺度的恢复">
            <a:extLst xmlns:a="http://schemas.openxmlformats.org/drawingml/2006/main">
              <a:ext uri="{FF2B5EF4-FFF2-40B4-BE49-F238E27FC236}">
                <a16:creationId xmlns:a16="http://schemas.microsoft.com/office/drawing/2014/main" id="{40C7CC8E-2698-4102-B9E4-28B14A35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定位变化继续传递到形状与尺度的恢复</a:t>
            </a:r>
          </a:p>
        </p:txBody>
      </p:sp>
      <p:sp>
        <p:nvSpPr>
          <p:cNvPr id="4" name="37">
            <a:extLst xmlns:a="http://schemas.openxmlformats.org/drawingml/2006/main">
              <a:ext uri="{FF2B5EF4-FFF2-40B4-BE49-F238E27FC236}">
                <a16:creationId xmlns:a16="http://schemas.microsoft.com/office/drawing/2014/main" id="{1E0ADBA9-650E-4D60-A317-E388D527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179CD-1A03-4A44-976B-59C27A9670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ddd8baba14dd2"/>
          <a:stretch xmlns:a="http://schemas.openxmlformats.org/drawingml/2006/main"/>
        </p:blipFill>
        <p:spPr>
          <a:xfrm xmlns:a="http://schemas.openxmlformats.org/drawingml/2006/main">
            <a:off x="400050" y="1550670"/>
            <a:ext cx="11391900" cy="4556760"/>
          </a:xfrm>
          <a:prstGeom xmlns:a="http://schemas.openxmlformats.org/drawingml/2006/main" prst="rect">
            <a:avLst/>
          </a:prstGeom>
        </p:spPr>
      </p:pic>
      <p:sp>
        <p:nvSpPr>
          <p:cNvPr id="6" name="MDM的标准差最低点向较低形状移动；LSE回归斜率增大、截距降低，形状">
            <a:extLst xmlns:a="http://schemas.openxmlformats.org/drawingml/2006/main">
              <a:ext uri="{FF2B5EF4-FFF2-40B4-BE49-F238E27FC236}">
                <a16:creationId xmlns:a16="http://schemas.microsoft.com/office/drawing/2014/main" id="{244AC722-A15A-4221-AD84-6E599097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MDM的标准差最低点向较低形状移动；LSE回归斜率增大、截距降低，形状与尺度随之降低。</a:t>
            </a:r>
          </a:p>
        </p:txBody>
      </p:sp>
    </p:spTree>
    <p:extLst>
      <p:ext uri="{BB962C8B-B14F-4D97-AF65-F5344CB8AC3E}">
        <p14:creationId xmlns:p14="http://schemas.microsoft.com/office/powerpoint/2010/main" val="511223374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06971-4C6A-48BA-B8A9-43494B89DA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79631b98243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7DAC09FA-4FE0-4AB6-84A8-2E4E362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较大β使有限样本的最小观测更远离真实起点">
            <a:extLst xmlns:a="http://schemas.openxmlformats.org/drawingml/2006/main">
              <a:ext uri="{FF2B5EF4-FFF2-40B4-BE49-F238E27FC236}">
                <a16:creationId xmlns:a16="http://schemas.microsoft.com/office/drawing/2014/main" id="{7658323D-F2C9-4E47-A0F5-3E00E7E0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较大β使有限样本的最小观测更远离真实起点</a:t>
            </a:r>
          </a:p>
        </p:txBody>
      </p:sp>
      <p:sp>
        <p:nvSpPr>
          <p:cNvPr id="4" name="38">
            <a:extLst xmlns:a="http://schemas.openxmlformats.org/drawingml/2006/main">
              <a:ext uri="{FF2B5EF4-FFF2-40B4-BE49-F238E27FC236}">
                <a16:creationId xmlns:a16="http://schemas.microsoft.com/office/drawing/2014/main" id="{69577EA8-1F42-49D8-8E89-04C4EF0F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4F7DD-1C03-4AD4-B16E-73B14F8F1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599e1b03d4892"/>
          <a:stretch xmlns:a="http://schemas.openxmlformats.org/drawingml/2006/main"/>
        </p:blipFill>
        <p:spPr>
          <a:xfrm xmlns:a="http://schemas.openxmlformats.org/drawingml/2006/main">
            <a:off x="2043099" y="1495425"/>
            <a:ext cx="8105802" cy="26193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0F510-5F4F-4BF5-97EF-FAE656E303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480818c0946d2"/>
          <a:stretch xmlns:a="http://schemas.openxmlformats.org/drawingml/2006/main"/>
        </p:blipFill>
        <p:spPr>
          <a:xfrm xmlns:a="http://schemas.openxmlformats.org/drawingml/2006/main">
            <a:off x="3330156" y="4152900"/>
            <a:ext cx="5531689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Research00报告1；η=1000、γ=500，β=2与5。上：">
            <a:extLst xmlns:a="http://schemas.openxmlformats.org/drawingml/2006/main">
              <a:ext uri="{FF2B5EF4-FFF2-40B4-BE49-F238E27FC236}">
                <a16:creationId xmlns:a16="http://schemas.microsoft.com/office/drawing/2014/main" id="{EFA91E3F-32F1-422A-B240-EC94BC24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Research00报告1；η=1000、γ=500，β=2与5。上：n=7抽样；下：最小值理论密度。</a:t>
            </a:r>
          </a:p>
        </p:txBody>
      </p:sp>
    </p:spTree>
    <p:extLst>
      <p:ext uri="{BB962C8B-B14F-4D97-AF65-F5344CB8AC3E}">
        <p14:creationId xmlns:p14="http://schemas.microsoft.com/office/powerpoint/2010/main" val="118985285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D74E3-3F48-4B30-8F54-EF2E913F53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76e5e3ae44e9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EAA0948D-89FE-451E-A32F-B6557E72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起点附近缺少观测时，不同参数组合仍可相容">
            <a:extLst xmlns:a="http://schemas.openxmlformats.org/drawingml/2006/main">
              <a:ext uri="{FF2B5EF4-FFF2-40B4-BE49-F238E27FC236}">
                <a16:creationId xmlns:a16="http://schemas.microsoft.com/office/drawing/2014/main" id="{677D3892-C5D7-4A68-925F-CC73F708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起点附近缺少观测时，不同参数组合仍可相容</a:t>
            </a:r>
          </a:p>
        </p:txBody>
      </p:sp>
      <p:sp>
        <p:nvSpPr>
          <p:cNvPr id="4" name="39">
            <a:extLst xmlns:a="http://schemas.openxmlformats.org/drawingml/2006/main">
              <a:ext uri="{FF2B5EF4-FFF2-40B4-BE49-F238E27FC236}">
                <a16:creationId xmlns:a16="http://schemas.microsoft.com/office/drawing/2014/main" id="{D6C16053-6699-42CC-BDAE-1B62222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3E6349-D285-4B05-8DB5-2E39102D0F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64b295d314cdc"/>
          <a:stretch xmlns:a="http://schemas.openxmlformats.org/drawingml/2006/main"/>
        </p:blipFill>
        <p:spPr>
          <a:xfrm xmlns:a="http://schemas.openxmlformats.org/drawingml/2006/main">
            <a:off x="513428" y="1495425"/>
            <a:ext cx="7374194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观测主要覆盖分布中部">
            <a:extLst xmlns:a="http://schemas.openxmlformats.org/drawingml/2006/main">
              <a:ext uri="{FF2B5EF4-FFF2-40B4-BE49-F238E27FC236}">
                <a16:creationId xmlns:a16="http://schemas.microsoft.com/office/drawing/2014/main" id="{D1374C3F-DB3D-4D4D-AA43-8915DE82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050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观测主要覆盖分布中部</a:t>
            </a:r>
          </a:p>
        </p:txBody>
      </p:sp>
      <p:sp>
        <p:nvSpPr>
          <p:cNvPr id="7" name="位置参数需要从较远处外推">
            <a:extLst xmlns:a="http://schemas.openxmlformats.org/drawingml/2006/main">
              <a:ext uri="{FF2B5EF4-FFF2-40B4-BE49-F238E27FC236}">
                <a16:creationId xmlns:a16="http://schemas.microsoft.com/office/drawing/2014/main" id="{7BAE8BE1-54F3-451E-BB65-96FBBF12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位置参数需要从较远处外推</a:t>
            </a:r>
          </a:p>
        </p:txBody>
      </p:sp>
      <p:sp>
        <p:nvSpPr>
          <p:cNvPr id="8" name="仍需追踪方法准则选择了哪组参数">
            <a:extLst xmlns:a="http://schemas.openxmlformats.org/drawingml/2006/main">
              <a:ext uri="{FF2B5EF4-FFF2-40B4-BE49-F238E27FC236}">
                <a16:creationId xmlns:a16="http://schemas.microsoft.com/office/drawing/2014/main" id="{77AE51B1-6EB7-4186-8A73-07D902D7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862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仍需追踪方法准则选择了哪组参数</a:t>
            </a:r>
          </a:p>
        </p:txBody>
      </p:sp>
      <p:sp>
        <p:nvSpPr>
          <p:cNvPr id="9" name="两条CDF在样本覆盖区间接近；说明有限样本的参数相容性，不意味着必然选">
            <a:extLst xmlns:a="http://schemas.openxmlformats.org/drawingml/2006/main">
              <a:ext uri="{FF2B5EF4-FFF2-40B4-BE49-F238E27FC236}">
                <a16:creationId xmlns:a16="http://schemas.microsoft.com/office/drawing/2014/main" id="{4B6024EC-A4C3-42C3-8BE1-EE6B21FC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两条CDF在样本覆盖区间接近；说明有限样本的参数相容性，不意味着必然选中某一组。</a:t>
            </a:r>
          </a:p>
        </p:txBody>
      </p:sp>
    </p:spTree>
    <p:extLst>
      <p:ext uri="{BB962C8B-B14F-4D97-AF65-F5344CB8AC3E}">
        <p14:creationId xmlns:p14="http://schemas.microsoft.com/office/powerpoint/2010/main" val="1833178218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5ADFE-D971-4257-A9B5-7A6A608FA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1d9315f2d4d4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82B14B50-503A-4011-9665-3E687EF1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位置选得偏高可沿恢复关系传递为形状和尺度偏低">
            <a:extLst xmlns:a="http://schemas.openxmlformats.org/drawingml/2006/main">
              <a:ext uri="{FF2B5EF4-FFF2-40B4-BE49-F238E27FC236}">
                <a16:creationId xmlns:a16="http://schemas.microsoft.com/office/drawing/2014/main" id="{6CE480F5-4A22-4293-B722-54639EFE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位置选得偏高可沿恢复关系传递为形状和尺度偏低</a:t>
            </a:r>
          </a:p>
        </p:txBody>
      </p:sp>
      <p:sp>
        <p:nvSpPr>
          <p:cNvPr id="4" name="40">
            <a:extLst xmlns:a="http://schemas.openxmlformats.org/drawingml/2006/main">
              <a:ext uri="{FF2B5EF4-FFF2-40B4-BE49-F238E27FC236}">
                <a16:creationId xmlns:a16="http://schemas.microsoft.com/office/drawing/2014/main" id="{EC31A9F0-B976-4386-9641-A0BD899A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9E350-6DD9-4EEA-8D28-05D9C66F40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7cfbaf5214e9c"/>
          <a:stretch xmlns:a="http://schemas.openxmlformats.org/drawingml/2006/main"/>
        </p:blipFill>
        <p:spPr>
          <a:xfrm xmlns:a="http://schemas.openxmlformats.org/drawingml/2006/main">
            <a:off x="400050" y="2185552"/>
            <a:ext cx="3733800" cy="2486895"/>
          </a:xfrm>
          <a:prstGeom xmlns:a="http://schemas.openxmlformats.org/drawingml/2006/main" prst="rect">
            <a:avLst/>
          </a:prstGeom>
        </p:spPr>
      </p:pic>
      <p:sp>
        <p:nvSpPr>
          <p:cNvPr id="6" name="梯度阈值可能在较高位置相交">
            <a:extLst xmlns:a="http://schemas.openxmlformats.org/drawingml/2006/main">
              <a:ext uri="{FF2B5EF4-FFF2-40B4-BE49-F238E27FC236}">
                <a16:creationId xmlns:a16="http://schemas.microsoft.com/office/drawing/2014/main" id="{176AFCBD-F5F6-4992-B304-DEC42828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梯度阈值可能在较高位置相交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E71ED-1007-466D-B4A6-2D6F6BFCAC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595b4bc9f4489"/>
          <a:stretch xmlns:a="http://schemas.openxmlformats.org/drawingml/2006/main"/>
        </p:blipFill>
        <p:spPr>
          <a:xfrm xmlns:a="http://schemas.openxmlformats.org/drawingml/2006/main">
            <a:off x="4229100" y="2185552"/>
            <a:ext cx="3733800" cy="2486895"/>
          </a:xfrm>
          <a:prstGeom xmlns:a="http://schemas.openxmlformats.org/drawingml/2006/main" prst="rect">
            <a:avLst/>
          </a:prstGeom>
        </p:spPr>
      </p:pic>
      <p:sp>
        <p:nvSpPr>
          <p:cNvPr id="8" name="较高位置改变各点到起点的距离">
            <a:extLst xmlns:a="http://schemas.openxmlformats.org/drawingml/2006/main">
              <a:ext uri="{FF2B5EF4-FFF2-40B4-BE49-F238E27FC236}">
                <a16:creationId xmlns:a16="http://schemas.microsoft.com/office/drawing/2014/main" id="{D10DD04C-12AD-4CCA-A8B8-8CC3BB35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387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较高位置改变各点到起点的距离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8B274-075A-4569-8E02-15F96E289D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b1b22a2dc416d"/>
          <a:stretch xmlns:a="http://schemas.openxmlformats.org/drawingml/2006/main"/>
        </p:blipFill>
        <p:spPr>
          <a:xfrm xmlns:a="http://schemas.openxmlformats.org/drawingml/2006/main">
            <a:off x="8058150" y="2182095"/>
            <a:ext cx="3733800" cy="2493810"/>
          </a:xfrm>
          <a:prstGeom xmlns:a="http://schemas.openxmlformats.org/drawingml/2006/main" prst="rect">
            <a:avLst/>
          </a:prstGeom>
        </p:spPr>
      </p:pic>
      <p:sp>
        <p:nvSpPr>
          <p:cNvPr id="10" name="条件形状与恢复尺度随之降低">
            <a:extLst xmlns:a="http://schemas.openxmlformats.org/drawingml/2006/main">
              <a:ext uri="{FF2B5EF4-FFF2-40B4-BE49-F238E27FC236}">
                <a16:creationId xmlns:a16="http://schemas.microsoft.com/office/drawing/2014/main" id="{74CFA99C-0F6E-4BD8-B9ED-EF116EE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387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条件形状与恢复尺度随之降低</a:t>
            </a:r>
          </a:p>
        </p:txBody>
      </p:sp>
      <p:sp>
        <p:nvSpPr>
          <p:cNvPr id="11" name="MDM-0.1：先看梯度交点，再沿同一位置读形状和尺度；此处放大β=5">
            <a:extLst xmlns:a="http://schemas.openxmlformats.org/drawingml/2006/main">
              <a:ext uri="{FF2B5EF4-FFF2-40B4-BE49-F238E27FC236}">
                <a16:creationId xmlns:a16="http://schemas.microsoft.com/office/drawing/2014/main" id="{9C78AD21-EA9D-49A8-BBEE-3BE5AF2A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MDM-0.1：先看梯度交点，再沿同一位置读形状和尺度；此处放大β=5一列。</a:t>
            </a:r>
          </a:p>
        </p:txBody>
      </p:sp>
    </p:spTree>
    <p:extLst>
      <p:ext uri="{BB962C8B-B14F-4D97-AF65-F5344CB8AC3E}">
        <p14:creationId xmlns:p14="http://schemas.microsoft.com/office/powerpoint/2010/main" val="34481907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8690A-C16A-406B-9E22-9D73F27CA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4eaacdef642d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D61C1E82-A9DB-4923-867D-E0071F7B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匹配准则与位置约束共同形成零边界聚集">
            <a:extLst xmlns:a="http://schemas.openxmlformats.org/drawingml/2006/main">
              <a:ext uri="{FF2B5EF4-FFF2-40B4-BE49-F238E27FC236}">
                <a16:creationId xmlns:a16="http://schemas.microsoft.com/office/drawing/2014/main" id="{8BC5A332-6DCC-44B0-AED6-71414CD6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匹配准则与位置约束共同形成零边界聚集</a:t>
            </a:r>
          </a:p>
        </p:txBody>
      </p:sp>
      <p:sp>
        <p:nvSpPr>
          <p:cNvPr id="4" name="41">
            <a:extLst xmlns:a="http://schemas.openxmlformats.org/drawingml/2006/main">
              <a:ext uri="{FF2B5EF4-FFF2-40B4-BE49-F238E27FC236}">
                <a16:creationId xmlns:a16="http://schemas.microsoft.com/office/drawing/2014/main" id="{8EA91CAC-64DD-43FF-AFAA-31A4CFFC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770B7-3AE5-4034-A7F7-BEFDF89E34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e36d2a8874099"/>
          <a:stretch xmlns:a="http://schemas.openxmlformats.org/drawingml/2006/main"/>
        </p:blipFill>
        <p:spPr>
          <a:xfrm xmlns:a="http://schemas.openxmlformats.org/drawingml/2006/main">
            <a:off x="2149642" y="1485900"/>
            <a:ext cx="7892716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左移位置能改善部分样本的线性匹配；在γ≥0约束下，准则最低点可落于γ=">
            <a:extLst xmlns:a="http://schemas.openxmlformats.org/drawingml/2006/main">
              <a:ext uri="{FF2B5EF4-FFF2-40B4-BE49-F238E27FC236}">
                <a16:creationId xmlns:a16="http://schemas.microsoft.com/office/drawing/2014/main" id="{6271FA67-6296-4425-A2C6-C7113C48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左移位置能改善部分样本的线性匹配；在γ≥0约束下，准则最低点可落于γ=0。</a:t>
            </a:r>
          </a:p>
        </p:txBody>
      </p:sp>
    </p:spTree>
    <p:extLst>
      <p:ext uri="{BB962C8B-B14F-4D97-AF65-F5344CB8AC3E}">
        <p14:creationId xmlns:p14="http://schemas.microsoft.com/office/powerpoint/2010/main" val="8668645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50D81-7B1A-47EB-A1B6-52BAE1DA39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8c61b032840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F8688E98-59C2-4FD8-A548-B909DE8A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样本点列改变后，更好的线性匹配仍可给出异常参数">
            <a:extLst xmlns:a="http://schemas.openxmlformats.org/drawingml/2006/main">
              <a:ext uri="{FF2B5EF4-FFF2-40B4-BE49-F238E27FC236}">
                <a16:creationId xmlns:a16="http://schemas.microsoft.com/office/drawing/2014/main" id="{A0746968-EE19-4375-86EE-1D538E4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样本点列改变后，更好的线性匹配仍可给出异常参数</a:t>
            </a:r>
          </a:p>
        </p:txBody>
      </p:sp>
      <p:sp>
        <p:nvSpPr>
          <p:cNvPr id="4" name="42">
            <a:extLst xmlns:a="http://schemas.openxmlformats.org/drawingml/2006/main">
              <a:ext uri="{FF2B5EF4-FFF2-40B4-BE49-F238E27FC236}">
                <a16:creationId xmlns:a16="http://schemas.microsoft.com/office/drawing/2014/main" id="{8D2197A5-1E50-47E6-AA6E-996E72FA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2FC7B-6BE8-4061-9FC6-B062F370EB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e81f8a6b84702"/>
          <a:stretch xmlns:a="http://schemas.openxmlformats.org/drawingml/2006/main"/>
        </p:blipFill>
        <p:spPr>
          <a:xfrm xmlns:a="http://schemas.openxmlformats.org/drawingml/2006/main">
            <a:off x="2149642" y="1485900"/>
            <a:ext cx="7892716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Research00报告2：位置右移改善点列匹配，回归斜率增大，取倒数">
            <a:extLst xmlns:a="http://schemas.openxmlformats.org/drawingml/2006/main">
              <a:ext uri="{FF2B5EF4-FFF2-40B4-BE49-F238E27FC236}">
                <a16:creationId xmlns:a16="http://schemas.microsoft.com/office/drawing/2014/main" id="{2DC98220-BB49-420F-858E-4EF74D2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Research00报告2：位置右移改善点列匹配，回归斜率增大，取倒数后形状明显降低。</a:t>
            </a:r>
          </a:p>
        </p:txBody>
      </p:sp>
    </p:spTree>
    <p:extLst>
      <p:ext uri="{BB962C8B-B14F-4D97-AF65-F5344CB8AC3E}">
        <p14:creationId xmlns:p14="http://schemas.microsoft.com/office/powerpoint/2010/main" val="248664126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636DE-2E7A-408D-A1CE-CF66B86D79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9d44c22ab4a3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79979B41-54D0-41CE-BC9A-4D76B961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方程残差接近零并不保证参数接近真值">
            <a:extLst xmlns:a="http://schemas.openxmlformats.org/drawingml/2006/main">
              <a:ext uri="{FF2B5EF4-FFF2-40B4-BE49-F238E27FC236}">
                <a16:creationId xmlns:a16="http://schemas.microsoft.com/office/drawing/2014/main" id="{BBC45D3A-D6DA-4667-A64F-D32FEA2D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方程残差接近零并不保证参数接近真值</a:t>
            </a:r>
          </a:p>
        </p:txBody>
      </p:sp>
      <p:sp>
        <p:nvSpPr>
          <p:cNvPr id="4" name="43">
            <a:extLst xmlns:a="http://schemas.openxmlformats.org/drawingml/2006/main">
              <a:ext uri="{FF2B5EF4-FFF2-40B4-BE49-F238E27FC236}">
                <a16:creationId xmlns:a16="http://schemas.microsoft.com/office/drawing/2014/main" id="{6E8A1D52-4207-4FFB-A98E-C6B46066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FCED1-E9D5-4366-B093-FD51DEE55F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5f90a09a646b2"/>
          <a:stretch xmlns:a="http://schemas.openxmlformats.org/drawingml/2006/main"/>
        </p:blipFill>
        <p:spPr>
          <a:xfrm xmlns:a="http://schemas.openxmlformats.org/drawingml/2006/main">
            <a:off x="2149642" y="1485900"/>
            <a:ext cx="7892716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异常样本使两条方程的共同交点移向高位置、低形状；返回参数仍满足估计方程">
            <a:extLst xmlns:a="http://schemas.openxmlformats.org/drawingml/2006/main">
              <a:ext uri="{FF2B5EF4-FFF2-40B4-BE49-F238E27FC236}">
                <a16:creationId xmlns:a16="http://schemas.microsoft.com/office/drawing/2014/main" id="{708DAB5B-3F40-49C6-8FBF-47620FEB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异常样本使两条方程的共同交点移向高位置、低形状；返回参数仍满足估计方程。</a:t>
            </a:r>
          </a:p>
        </p:txBody>
      </p:sp>
    </p:spTree>
    <p:extLst>
      <p:ext uri="{BB962C8B-B14F-4D97-AF65-F5344CB8AC3E}">
        <p14:creationId xmlns:p14="http://schemas.microsoft.com/office/powerpoint/2010/main" val="98439869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41A4F-91E0-4B87-81B5-F3DBBB2DE8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ab2cc49e7424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5　性能变化的机制解释">
            <a:extLst xmlns:a="http://schemas.openxmlformats.org/drawingml/2006/main">
              <a:ext uri="{FF2B5EF4-FFF2-40B4-BE49-F238E27FC236}">
                <a16:creationId xmlns:a16="http://schemas.microsoft.com/office/drawing/2014/main" id="{C7C04B70-36C6-4AFC-AC08-DC2B3023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05　性能变化的机制解释</a:t>
            </a:r>
          </a:p>
        </p:txBody>
      </p:sp>
      <p:sp>
        <p:nvSpPr>
          <p:cNvPr id="3" name="数值停止与候选接受也可能造成异常返回">
            <a:extLst xmlns:a="http://schemas.openxmlformats.org/drawingml/2006/main">
              <a:ext uri="{FF2B5EF4-FFF2-40B4-BE49-F238E27FC236}">
                <a16:creationId xmlns:a16="http://schemas.microsoft.com/office/drawing/2014/main" id="{202F5ABF-13F6-4B72-A8A2-366AA190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数值停止与候选接受也可能造成异常返回</a:t>
            </a:r>
          </a:p>
        </p:txBody>
      </p:sp>
      <p:sp>
        <p:nvSpPr>
          <p:cNvPr id="4" name="44">
            <a:extLst xmlns:a="http://schemas.openxmlformats.org/drawingml/2006/main">
              <a:ext uri="{FF2B5EF4-FFF2-40B4-BE49-F238E27FC236}">
                <a16:creationId xmlns:a16="http://schemas.microsoft.com/office/drawing/2014/main" id="{B9CB72C3-0833-4A91-87DA-726C75B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AAEB8-FF7F-4D16-97B1-CBB798B36C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4023f88b6462e"/>
          <a:stretch xmlns:a="http://schemas.openxmlformats.org/drawingml/2006/main"/>
        </p:blipFill>
        <p:spPr>
          <a:xfrm xmlns:a="http://schemas.openxmlformats.org/drawingml/2006/main">
            <a:off x="2149642" y="1485900"/>
            <a:ext cx="7892716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历史旧MLE案例：停止点右侧仍可提高似然。本轮已更新求解器，不据此认定">
            <a:extLst xmlns:a="http://schemas.openxmlformats.org/drawingml/2006/main">
              <a:ext uri="{FF2B5EF4-FFF2-40B4-BE49-F238E27FC236}">
                <a16:creationId xmlns:a16="http://schemas.microsoft.com/office/drawing/2014/main" id="{817C28E1-2D16-4F33-96EA-A582E796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历史旧MLE案例：停止点右侧仍可提高似然。本轮已更新求解器，不据此认定新版仍有同一缺陷。</a:t>
            </a:r>
          </a:p>
        </p:txBody>
      </p:sp>
    </p:spTree>
    <p:extLst>
      <p:ext uri="{BB962C8B-B14F-4D97-AF65-F5344CB8AC3E}">
        <p14:creationId xmlns:p14="http://schemas.microsoft.com/office/powerpoint/2010/main" val="509357652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F163A-7A58-4DA8-BDB3-92A2C76C01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68a7590bf4e8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6　评价目标与方法选择">
            <a:extLst xmlns:a="http://schemas.openxmlformats.org/drawingml/2006/main">
              <a:ext uri="{FF2B5EF4-FFF2-40B4-BE49-F238E27FC236}">
                <a16:creationId xmlns:a16="http://schemas.microsoft.com/office/drawing/2014/main" id="{FD5C74E8-30AD-4C0A-906C-9E34FB0A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06　评价目标与方法选择</a:t>
            </a:r>
          </a:p>
        </p:txBody>
      </p:sp>
      <p:sp>
        <p:nvSpPr>
          <p:cNvPr id="3" name="成功结果的精度与全部尝试的有效率应同时评价">
            <a:extLst xmlns:a="http://schemas.openxmlformats.org/drawingml/2006/main">
              <a:ext uri="{FF2B5EF4-FFF2-40B4-BE49-F238E27FC236}">
                <a16:creationId xmlns:a16="http://schemas.microsoft.com/office/drawing/2014/main" id="{5C607274-7293-4144-8792-42C59159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成功结果的精度与全部尝试的有效率应同时评价</a:t>
            </a:r>
          </a:p>
        </p:txBody>
      </p:sp>
      <p:sp>
        <p:nvSpPr>
          <p:cNvPr id="4" name="45">
            <a:extLst xmlns:a="http://schemas.openxmlformats.org/drawingml/2006/main">
              <a:ext uri="{FF2B5EF4-FFF2-40B4-BE49-F238E27FC236}">
                <a16:creationId xmlns:a16="http://schemas.microsoft.com/office/drawing/2014/main" id="{7CDC733A-451F-4709-959D-0BCF433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56773-8516-4CAD-BFB8-89C3C8EDD1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bd64d68dd4bbb"/>
          <a:stretch xmlns:a="http://schemas.openxmlformats.org/drawingml/2006/main"/>
        </p:blipFill>
        <p:spPr>
          <a:xfrm xmlns:a="http://schemas.openxmlformats.org/drawingml/2006/main">
            <a:off x="1079679" y="1485900"/>
            <a:ext cx="10032642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有效率的分母为全部1200次尝试。少数极端值可主导RMSE，求解失败另">
            <a:extLst xmlns:a="http://schemas.openxmlformats.org/drawingml/2006/main">
              <a:ext uri="{FF2B5EF4-FFF2-40B4-BE49-F238E27FC236}">
                <a16:creationId xmlns:a16="http://schemas.microsoft.com/office/drawing/2014/main" id="{4422E303-DCFD-455E-91B5-A1681BE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有效率的分母为全部1200次尝试。少数极端值可主导RMSE，求解失败另行统计。</a:t>
            </a:r>
          </a:p>
        </p:txBody>
      </p:sp>
    </p:spTree>
    <p:extLst>
      <p:ext uri="{BB962C8B-B14F-4D97-AF65-F5344CB8AC3E}">
        <p14:creationId xmlns:p14="http://schemas.microsoft.com/office/powerpoint/2010/main" val="1943452589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9EDD11-7C46-4874-82B3-3113D60DA5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0b93d1ddd04d2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6　评价目标与方法选择">
            <a:extLst xmlns:a="http://schemas.openxmlformats.org/drawingml/2006/main">
              <a:ext uri="{FF2B5EF4-FFF2-40B4-BE49-F238E27FC236}">
                <a16:creationId xmlns:a16="http://schemas.microsoft.com/office/drawing/2014/main" id="{4DF73BF5-D543-4338-9047-BCE0677A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06　评价目标与方法选择</a:t>
            </a:r>
          </a:p>
        </p:txBody>
      </p:sp>
      <p:sp>
        <p:nvSpPr>
          <p:cNvPr id="3" name="评价目标改变后，方法的相对表现也改变">
            <a:extLst xmlns:a="http://schemas.openxmlformats.org/drawingml/2006/main">
              <a:ext uri="{FF2B5EF4-FFF2-40B4-BE49-F238E27FC236}">
                <a16:creationId xmlns:a16="http://schemas.microsoft.com/office/drawing/2014/main" id="{D88ECE79-F377-497E-90E6-CFEBD6B0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评价目标改变后，方法的相对表现也改变</a:t>
            </a:r>
          </a:p>
        </p:txBody>
      </p:sp>
      <p:sp>
        <p:nvSpPr>
          <p:cNvPr id="4" name="46">
            <a:extLst xmlns:a="http://schemas.openxmlformats.org/drawingml/2006/main">
              <a:ext uri="{FF2B5EF4-FFF2-40B4-BE49-F238E27FC236}">
                <a16:creationId xmlns:a16="http://schemas.microsoft.com/office/drawing/2014/main" id="{41B83BBB-9D1A-4122-AD88-F0C61990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AFA57-E864-4064-9459-61959B1C32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5c7bdb2b94722"/>
          <a:stretch xmlns:a="http://schemas.openxmlformats.org/drawingml/2006/main"/>
        </p:blipFill>
        <p:spPr>
          <a:xfrm xmlns:a="http://schemas.openxmlformats.org/drawingml/2006/main">
            <a:off x="400050" y="1612319"/>
            <a:ext cx="11391900" cy="3747662"/>
          </a:xfrm>
          <a:prstGeom xmlns:a="http://schemas.openxmlformats.org/drawingml/2006/main" prst="rect">
            <a:avLst/>
          </a:prstGeom>
        </p:spPr>
      </p:pic>
      <p:sp>
        <p:nvSpPr>
          <p:cNvPr id="6" name="B10的最低RMSE方法随n与β变化；B1在多数条件下为MDM。名次还">
            <a:extLst xmlns:a="http://schemas.openxmlformats.org/drawingml/2006/main">
              <a:ext uri="{FF2B5EF4-FFF2-40B4-BE49-F238E27FC236}">
                <a16:creationId xmlns:a16="http://schemas.microsoft.com/office/drawing/2014/main" id="{A32D51BA-8FB3-480A-AE86-87B5362C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816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B10的最低RMSE方法随n与β变化；B1在多数条件下为MDM。名次还需结合差距幅度与风险。</a:t>
            </a:r>
          </a:p>
        </p:txBody>
      </p:sp>
      <p:sp>
        <p:nvSpPr>
          <p:cNvPr id="7" name="格内为最低RMSE方法，下行为第二名高出的比例。B10、B1分别为10">
            <a:extLst xmlns:a="http://schemas.openxmlformats.org/drawingml/2006/main">
              <a:ext uri="{FF2B5EF4-FFF2-40B4-BE49-F238E27FC236}">
                <a16:creationId xmlns:a16="http://schemas.microsoft.com/office/drawing/2014/main" id="{11D25AE1-A6F1-4934-84F4-6F2EF276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格内为最低RMSE方法，下行为第二名高出的比例。B10、B1分别为10%、1%失效分位寿命。</a:t>
            </a:r>
          </a:p>
        </p:txBody>
      </p:sp>
    </p:spTree>
    <p:extLst>
      <p:ext uri="{BB962C8B-B14F-4D97-AF65-F5344CB8AC3E}">
        <p14:creationId xmlns:p14="http://schemas.microsoft.com/office/powerpoint/2010/main" val="1549229923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0C744-9417-4A6B-8AC3-F0DDCC23D9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d79ffa9cb419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6　评价目标与方法选择">
            <a:extLst xmlns:a="http://schemas.openxmlformats.org/drawingml/2006/main">
              <a:ext uri="{FF2B5EF4-FFF2-40B4-BE49-F238E27FC236}">
                <a16:creationId xmlns:a16="http://schemas.microsoft.com/office/drawing/2014/main" id="{524D57B8-9DA2-4152-84CF-B9F0D9BD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06　评价目标与方法选择</a:t>
            </a:r>
          </a:p>
        </p:txBody>
      </p:sp>
      <p:sp>
        <p:nvSpPr>
          <p:cNvPr id="3" name="方法选择取决于目标、已知条件与风险要求">
            <a:extLst xmlns:a="http://schemas.openxmlformats.org/drawingml/2006/main">
              <a:ext uri="{FF2B5EF4-FFF2-40B4-BE49-F238E27FC236}">
                <a16:creationId xmlns:a16="http://schemas.microsoft.com/office/drawing/2014/main" id="{4C0ACA65-166C-4372-A2BE-129FC0F6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方法选择取决于目标、已知条件与风险要求</a:t>
            </a:r>
          </a:p>
        </p:txBody>
      </p:sp>
      <p:sp>
        <p:nvSpPr>
          <p:cNvPr id="4" name="47">
            <a:extLst xmlns:a="http://schemas.openxmlformats.org/drawingml/2006/main">
              <a:ext uri="{FF2B5EF4-FFF2-40B4-BE49-F238E27FC236}">
                <a16:creationId xmlns:a16="http://schemas.microsoft.com/office/drawing/2014/main" id="{FC6FDFD0-3151-4A73-AB76-03BBC675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87B04-0C5A-47B4-A6E9-AC91D8BF086B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239125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已知条件或使用要求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应优先关注的性能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知道n，β范围未知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在给定参考范围内评价整体表现，保留稳健候选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知道n及β的大致范围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缩小比较区域，核对优势幅度及其稳定性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关心参数或低失效寿命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按具体目标评价，不能直接沿用另一个指标的排序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对异常和失败敏感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同时考察极端误差、异常频率与有效返回情况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05877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F2053-9B89-4248-A522-711C8DE589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ffb000d724ae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07　后续研究与平台">
            <a:extLst xmlns:a="http://schemas.openxmlformats.org/drawingml/2006/main">
              <a:ext uri="{FF2B5EF4-FFF2-40B4-BE49-F238E27FC236}">
                <a16:creationId xmlns:a16="http://schemas.microsoft.com/office/drawing/2014/main" id="{6D28C927-AD68-49CD-8935-0CDB86FD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07　后续研究与平台</a:t>
            </a:r>
          </a:p>
        </p:txBody>
      </p:sp>
      <p:sp>
        <p:nvSpPr>
          <p:cNvPr id="3" name="后续将探索基于样本特征的自适应选择与求解优化">
            <a:extLst xmlns:a="http://schemas.openxmlformats.org/drawingml/2006/main">
              <a:ext uri="{FF2B5EF4-FFF2-40B4-BE49-F238E27FC236}">
                <a16:creationId xmlns:a16="http://schemas.microsoft.com/office/drawing/2014/main" id="{3B9329E1-DAC8-448F-A97C-E5F074ED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后续将探索基于样本特征的自适应选择与求解优化</a:t>
            </a:r>
          </a:p>
        </p:txBody>
      </p:sp>
      <p:sp>
        <p:nvSpPr>
          <p:cNvPr id="4" name="48">
            <a:extLst xmlns:a="http://schemas.openxmlformats.org/drawingml/2006/main">
              <a:ext uri="{FF2B5EF4-FFF2-40B4-BE49-F238E27FC236}">
                <a16:creationId xmlns:a16="http://schemas.microsoft.com/office/drawing/2014/main" id="{D4DC59EB-E688-448E-B378-2837BCA7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5" name="研究方向">
            <a:extLst xmlns:a="http://schemas.openxmlformats.org/drawingml/2006/main">
              <a:ext uri="{FF2B5EF4-FFF2-40B4-BE49-F238E27FC236}">
                <a16:creationId xmlns:a16="http://schemas.microsoft.com/office/drawing/2014/main" id="{ED2D9720-9AAA-4576-9B35-721D90F5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</a:p>
        </p:txBody>
      </p:sp>
      <p:sp>
        <p:nvSpPr>
          <p:cNvPr id="6" name="根据可观测样本特征与使用目标选择方法，优化过程量和求解过程。">
            <a:extLst xmlns:a="http://schemas.openxmlformats.org/drawingml/2006/main">
              <a:ext uri="{FF2B5EF4-FFF2-40B4-BE49-F238E27FC236}">
                <a16:creationId xmlns:a16="http://schemas.microsoft.com/office/drawing/2014/main" id="{B5E6FDE2-5082-46E3-8FF0-A8D74318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根据可观测样本特征与使用目标选择方法，优化过程量和求解过程。</a:t>
            </a:r>
          </a:p>
        </p:txBody>
      </p:sp>
      <p:sp>
        <p:nvSpPr>
          <p:cNvPr id="7" name="验证要求">
            <a:extLst xmlns:a="http://schemas.openxmlformats.org/drawingml/2006/main">
              <a:ext uri="{FF2B5EF4-FFF2-40B4-BE49-F238E27FC236}">
                <a16:creationId xmlns:a16="http://schemas.microsoft.com/office/drawing/2014/main" id="{8A3DD6E7-9A3F-41B6-B072-29B7CFFC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验证要求</a:t>
            </a:r>
          </a:p>
        </p:txBody>
      </p:sp>
      <p:sp>
        <p:nvSpPr>
          <p:cNvPr id="8" name="在新的样本上检验选择规则的收益。">
            <a:extLst xmlns:a="http://schemas.openxmlformats.org/drawingml/2006/main">
              <a:ext uri="{FF2B5EF4-FFF2-40B4-BE49-F238E27FC236}">
                <a16:creationId xmlns:a16="http://schemas.microsoft.com/office/drawing/2014/main" id="{7A8584A1-E1F3-44D6-BA1E-301DE409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290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在新的样本上检验选择规则的收益。</a:t>
            </a:r>
          </a:p>
        </p:txBody>
      </p:sp>
      <p:sp>
        <p:nvSpPr>
          <p:cNvPr id="9" name="weibull.work">
            <a:extLst xmlns:a="http://schemas.openxmlformats.org/drawingml/2006/main">
              <a:ext uri="{FF2B5EF4-FFF2-40B4-BE49-F238E27FC236}">
                <a16:creationId xmlns:a16="http://schemas.microsoft.com/office/drawing/2014/main" id="{BF368B5D-6EF3-4C39-AF64-C0DB3AC1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weibull.work</a:t>
            </a:r>
          </a:p>
        </p:txBody>
      </p:sp>
      <p:sp>
        <p:nvSpPr>
          <p:cNvPr id="10" name="已有部分方法可在线调用，平台仍在建设，欢迎试用与交流。">
            <a:extLst xmlns:a="http://schemas.openxmlformats.org/drawingml/2006/main">
              <a:ext uri="{FF2B5EF4-FFF2-40B4-BE49-F238E27FC236}">
                <a16:creationId xmlns:a16="http://schemas.microsoft.com/office/drawing/2014/main" id="{EFB477A2-5E75-4EC1-ABC4-533A005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已有部分方法可在线调用，平台仍在建设，欢迎试用与交流。</a:t>
            </a:r>
          </a:p>
        </p:txBody>
      </p:sp>
    </p:spTree>
    <p:extLst>
      <p:ext uri="{BB962C8B-B14F-4D97-AF65-F5344CB8AC3E}">
        <p14:creationId xmlns:p14="http://schemas.microsoft.com/office/powerpoint/2010/main" val="1726265340"/>
      </p:ext>
    </p:extLst>
  </p:cSld>
</p:sld>
</file>

<file path=ppt/slides/slide4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8F685-5DA5-4712-B9C6-3D48F8D4F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78b1b5f854f2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B7B46017-98D2-4AFD-B6C3-75644DB7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完整RMSE图保留MM数值与统一半径">
            <a:extLst xmlns:a="http://schemas.openxmlformats.org/drawingml/2006/main">
              <a:ext uri="{FF2B5EF4-FFF2-40B4-BE49-F238E27FC236}">
                <a16:creationId xmlns:a16="http://schemas.microsoft.com/office/drawing/2014/main" id="{97630460-2595-43A4-8174-E7C2AE1B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完整RMSE图保留MM数值与统一半径</a:t>
            </a:r>
          </a:p>
        </p:txBody>
      </p:sp>
      <p:sp>
        <p:nvSpPr>
          <p:cNvPr id="4" name="49">
            <a:extLst xmlns:a="http://schemas.openxmlformats.org/drawingml/2006/main">
              <a:ext uri="{FF2B5EF4-FFF2-40B4-BE49-F238E27FC236}">
                <a16:creationId xmlns:a16="http://schemas.microsoft.com/office/drawing/2014/main" id="{58F97FD3-8DC6-4282-96E3-7B9C6876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BBCCC-3891-4ACD-A7C4-80D2977B0C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87cddcab448a7"/>
          <a:stretch xmlns:a="http://schemas.openxmlformats.org/drawingml/2006/main"/>
        </p:blipFill>
        <p:spPr>
          <a:xfrm xmlns:a="http://schemas.openxmlformats.org/drawingml/2006/main">
            <a:off x="2788024" y="1485900"/>
            <a:ext cx="6615953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75876"/>
      </p:ext>
    </p:extLst>
  </p:cSld>
</p:sld>
</file>

<file path=ppt/slides/slide5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9C45E-F5FD-43EA-9DF0-C35FF3DF68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e8aa442d24f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61DE1FC3-1188-439F-8ABB-FA5DEDEA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完整RMSE图保留MM数值与统一半径">
            <a:extLst xmlns:a="http://schemas.openxmlformats.org/drawingml/2006/main">
              <a:ext uri="{FF2B5EF4-FFF2-40B4-BE49-F238E27FC236}">
                <a16:creationId xmlns:a16="http://schemas.microsoft.com/office/drawing/2014/main" id="{5A60D744-2D0A-48C6-9155-5A2AB07B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完整RMSE图保留MM数值与统一半径</a:t>
            </a:r>
          </a:p>
        </p:txBody>
      </p:sp>
      <p:sp>
        <p:nvSpPr>
          <p:cNvPr id="4" name="50">
            <a:extLst xmlns:a="http://schemas.openxmlformats.org/drawingml/2006/main">
              <a:ext uri="{FF2B5EF4-FFF2-40B4-BE49-F238E27FC236}">
                <a16:creationId xmlns:a16="http://schemas.microsoft.com/office/drawing/2014/main" id="{FD7B17D8-FE1B-4D77-9023-3AB27C55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1936A-A98A-4FD3-B776-5FE362C4F0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c2ec408764c08"/>
          <a:stretch xmlns:a="http://schemas.openxmlformats.org/drawingml/2006/main"/>
        </p:blipFill>
        <p:spPr>
          <a:xfrm xmlns:a="http://schemas.openxmlformats.org/drawingml/2006/main">
            <a:off x="2788024" y="1485900"/>
            <a:ext cx="6615953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4376"/>
      </p:ext>
    </p:extLst>
  </p:cSld>
</p:sld>
</file>

<file path=ppt/slides/slide5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18F0-7FB7-4B72-8C90-3F41AA4A91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4312107ed4ac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A1A24ED7-C7BB-4EF8-9A47-D80D75B4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完整RMSE图保留MM数值与统一半径">
            <a:extLst xmlns:a="http://schemas.openxmlformats.org/drawingml/2006/main">
              <a:ext uri="{FF2B5EF4-FFF2-40B4-BE49-F238E27FC236}">
                <a16:creationId xmlns:a16="http://schemas.microsoft.com/office/drawing/2014/main" id="{247AE30D-1112-4F47-9202-E7C87365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完整RMSE图保留MM数值与统一半径</a:t>
            </a:r>
          </a:p>
        </p:txBody>
      </p:sp>
      <p:sp>
        <p:nvSpPr>
          <p:cNvPr id="4" name="51">
            <a:extLst xmlns:a="http://schemas.openxmlformats.org/drawingml/2006/main">
              <a:ext uri="{FF2B5EF4-FFF2-40B4-BE49-F238E27FC236}">
                <a16:creationId xmlns:a16="http://schemas.microsoft.com/office/drawing/2014/main" id="{A1E4B026-AC39-4FB1-8E01-CE292EE1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D56CB-6FE0-4B89-A1E1-36D4351506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527fd350941ac"/>
          <a:stretch xmlns:a="http://schemas.openxmlformats.org/drawingml/2006/main"/>
        </p:blipFill>
        <p:spPr>
          <a:xfrm xmlns:a="http://schemas.openxmlformats.org/drawingml/2006/main">
            <a:off x="2788024" y="1485900"/>
            <a:ext cx="6615953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21898"/>
      </p:ext>
    </p:extLst>
  </p:cSld>
</p:sld>
</file>

<file path=ppt/slides/slide5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F14CA-B385-4026-BFB7-6262B0239B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adeae159b4da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072E8430-0055-48C7-9824-ADFF6C7C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完整RMSE图保留MM数值与统一半径">
            <a:extLst xmlns:a="http://schemas.openxmlformats.org/drawingml/2006/main">
              <a:ext uri="{FF2B5EF4-FFF2-40B4-BE49-F238E27FC236}">
                <a16:creationId xmlns:a16="http://schemas.microsoft.com/office/drawing/2014/main" id="{DD29F8E5-0CBC-4F1B-93E8-18F2DF6A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完整RMSE图保留MM数值与统一半径</a:t>
            </a:r>
          </a:p>
        </p:txBody>
      </p:sp>
      <p:sp>
        <p:nvSpPr>
          <p:cNvPr id="4" name="52">
            <a:extLst xmlns:a="http://schemas.openxmlformats.org/drawingml/2006/main">
              <a:ext uri="{FF2B5EF4-FFF2-40B4-BE49-F238E27FC236}">
                <a16:creationId xmlns:a16="http://schemas.microsoft.com/office/drawing/2014/main" id="{ACA5952A-F75F-4E4A-BF1C-DB2EAEE7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5AE4F-0AD6-40BA-B5DC-B66E0A65FC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9fe07bea2420e"/>
          <a:stretch xmlns:a="http://schemas.openxmlformats.org/drawingml/2006/main"/>
        </p:blipFill>
        <p:spPr>
          <a:xfrm xmlns:a="http://schemas.openxmlformats.org/drawingml/2006/main">
            <a:off x="2788024" y="1485900"/>
            <a:ext cx="6615953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067"/>
      </p:ext>
    </p:extLst>
  </p:cSld>
</p:sld>
</file>

<file path=ppt/slides/slide5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9D8F9-5582-426B-ABE4-025AA2835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5389c89c2442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8549208D-DCD3-4316-9612-A24039E6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完整RMSE图保留MM数值与统一半径">
            <a:extLst xmlns:a="http://schemas.openxmlformats.org/drawingml/2006/main">
              <a:ext uri="{FF2B5EF4-FFF2-40B4-BE49-F238E27FC236}">
                <a16:creationId xmlns:a16="http://schemas.microsoft.com/office/drawing/2014/main" id="{F9CFADE6-2944-4F1A-AE0C-813875ED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完整RMSE图保留MM数值与统一半径</a:t>
            </a:r>
          </a:p>
        </p:txBody>
      </p:sp>
      <p:sp>
        <p:nvSpPr>
          <p:cNvPr id="4" name="53">
            <a:extLst xmlns:a="http://schemas.openxmlformats.org/drawingml/2006/main">
              <a:ext uri="{FF2B5EF4-FFF2-40B4-BE49-F238E27FC236}">
                <a16:creationId xmlns:a16="http://schemas.microsoft.com/office/drawing/2014/main" id="{19E05A72-E2C7-4390-A46D-88A075C2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E3E63-F0AD-4629-9D6B-E67C243EEC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74e77381c4042"/>
          <a:stretch xmlns:a="http://schemas.openxmlformats.org/drawingml/2006/main"/>
        </p:blipFill>
        <p:spPr>
          <a:xfrm xmlns:a="http://schemas.openxmlformats.org/drawingml/2006/main">
            <a:off x="2788024" y="1485900"/>
            <a:ext cx="6615953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58295"/>
      </p:ext>
    </p:extLst>
  </p:cSld>
</p:sld>
</file>

<file path=ppt/slides/slide54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9A7B4-7211-4E2B-A2B6-08D2042685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accb83de4495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8DB0520B-D427-4C62-B364-ADC393C0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最小值与真实起点的距离同时随n与β变化">
            <a:extLst xmlns:a="http://schemas.openxmlformats.org/drawingml/2006/main">
              <a:ext uri="{FF2B5EF4-FFF2-40B4-BE49-F238E27FC236}">
                <a16:creationId xmlns:a16="http://schemas.microsoft.com/office/drawing/2014/main" id="{92854FE0-24EF-46D9-92B3-E109B7297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最小值与真实起点的距离同时随n与β变化</a:t>
            </a:r>
          </a:p>
        </p:txBody>
      </p:sp>
      <p:sp>
        <p:nvSpPr>
          <p:cNvPr id="4" name="54">
            <a:extLst xmlns:a="http://schemas.openxmlformats.org/drawingml/2006/main">
              <a:ext uri="{FF2B5EF4-FFF2-40B4-BE49-F238E27FC236}">
                <a16:creationId xmlns:a16="http://schemas.microsoft.com/office/drawing/2014/main" id="{31F3F670-E54A-42E2-982E-1900ED0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4CFFE-D652-40F4-B848-5B26BB2695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2167325934549"/>
          <a:stretch xmlns:a="http://schemas.openxmlformats.org/drawingml/2006/main"/>
        </p:blipFill>
        <p:spPr>
          <a:xfrm xmlns:a="http://schemas.openxmlformats.org/drawingml/2006/main">
            <a:off x="4320139" y="1485900"/>
            <a:ext cx="3551722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03908"/>
      </p:ext>
    </p:extLst>
  </p:cSld>
</p:sld>
</file>

<file path=ppt/slides/slide55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C74A8-E9B6-4F48-ADC8-161BBBEF91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5eae1887d4b2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583B2425-86D1-4FBB-B4E3-1AD14CA6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MDM的梯度定位影响形状与尺度的恢复">
            <a:extLst xmlns:a="http://schemas.openxmlformats.org/drawingml/2006/main">
              <a:ext uri="{FF2B5EF4-FFF2-40B4-BE49-F238E27FC236}">
                <a16:creationId xmlns:a16="http://schemas.microsoft.com/office/drawing/2014/main" id="{6D548ABE-64B7-453D-A5F8-E67D0B08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MDM的梯度定位影响形状与尺度的恢复</a:t>
            </a:r>
          </a:p>
        </p:txBody>
      </p:sp>
      <p:sp>
        <p:nvSpPr>
          <p:cNvPr id="4" name="55">
            <a:extLst xmlns:a="http://schemas.openxmlformats.org/drawingml/2006/main">
              <a:ext uri="{FF2B5EF4-FFF2-40B4-BE49-F238E27FC236}">
                <a16:creationId xmlns:a16="http://schemas.microsoft.com/office/drawing/2014/main" id="{CBAEF92B-0480-475A-BDB2-A61B9BC4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DD075-38F0-4040-BDA2-AA7C6B7EF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57ec35733433d"/>
          <a:stretch xmlns:a="http://schemas.openxmlformats.org/drawingml/2006/main"/>
        </p:blipFill>
        <p:spPr>
          <a:xfrm xmlns:a="http://schemas.openxmlformats.org/drawingml/2006/main">
            <a:off x="3752850" y="1485900"/>
            <a:ext cx="4686300" cy="4686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06417"/>
      </p:ext>
    </p:extLst>
  </p:cSld>
</p:sld>
</file>

<file path=ppt/slides/slide56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B56B63-4B82-4D0F-B230-42B4BCA03B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d710bc094408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89ACC17B-F5B2-4FDE-B550-63E6C2BD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误差增大可以伴随波动减小与偏差加重">
            <a:extLst xmlns:a="http://schemas.openxmlformats.org/drawingml/2006/main">
              <a:ext uri="{FF2B5EF4-FFF2-40B4-BE49-F238E27FC236}">
                <a16:creationId xmlns:a16="http://schemas.microsoft.com/office/drawing/2014/main" id="{87EBDEB3-4DEB-4B25-81F3-9CA3C3F2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误差增大可以伴随波动减小与偏差加重</a:t>
            </a:r>
          </a:p>
        </p:txBody>
      </p:sp>
      <p:sp>
        <p:nvSpPr>
          <p:cNvPr id="4" name="56">
            <a:extLst xmlns:a="http://schemas.openxmlformats.org/drawingml/2006/main">
              <a:ext uri="{FF2B5EF4-FFF2-40B4-BE49-F238E27FC236}">
                <a16:creationId xmlns:a16="http://schemas.microsoft.com/office/drawing/2014/main" id="{96081BDB-20ED-4031-9D13-66558E3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09A4B-1CC0-40D7-844C-BEA479CE075B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1743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857500"/>
                <a:gridCol w="2857500"/>
                <a:gridCol w="323850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WMLE，β=5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形状Bias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形状SD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形状RMSE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n=10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−2.263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0.982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2.466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n=7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−2.614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0.713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2.710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七法共同有效结果。SD下降不等于估计更准确；这里负偏差加重，RMSE仍">
            <a:extLst xmlns:a="http://schemas.openxmlformats.org/drawingml/2006/main">
              <a:ext uri="{FF2B5EF4-FFF2-40B4-BE49-F238E27FC236}">
                <a16:creationId xmlns:a16="http://schemas.microsoft.com/office/drawing/2014/main" id="{16A45CE2-FE2D-4630-A141-217DFF50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95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七法共同有效结果。SD下降不等于估计更准确；这里负偏差加重，RMSE仍上升。</a:t>
            </a:r>
          </a:p>
        </p:txBody>
      </p:sp>
    </p:spTree>
    <p:extLst>
      <p:ext uri="{BB962C8B-B14F-4D97-AF65-F5344CB8AC3E}">
        <p14:creationId xmlns:p14="http://schemas.microsoft.com/office/powerpoint/2010/main" val="402934358"/>
      </p:ext>
    </p:extLst>
  </p:cSld>
</p:sld>
</file>

<file path=ppt/slides/slide5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B8F35-2469-43B9-9F91-50549208F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2d56a442b4d5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附录　补充结果与案例">
            <a:extLst xmlns:a="http://schemas.openxmlformats.org/drawingml/2006/main">
              <a:ext uri="{FF2B5EF4-FFF2-40B4-BE49-F238E27FC236}">
                <a16:creationId xmlns:a16="http://schemas.microsoft.com/office/drawing/2014/main" id="{A1F6F0AE-0115-47F7-AA6E-F39A66DB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92F40"/>
                </a:solidFill>
                <a:latin typeface="Microsoft YaHei"/>
                <a:ea typeface="Microsoft YaHei"/>
                <a:cs typeface="Microsoft YaHei"/>
              </a:rPr>
              <a:t>附录　补充结果与案例</a:t>
            </a:r>
          </a:p>
        </p:txBody>
      </p:sp>
      <p:sp>
        <p:nvSpPr>
          <p:cNvPr id="3" name="同一总体与样本量仍可能返回差异很大的估计">
            <a:extLst xmlns:a="http://schemas.openxmlformats.org/drawingml/2006/main">
              <a:ext uri="{FF2B5EF4-FFF2-40B4-BE49-F238E27FC236}">
                <a16:creationId xmlns:a16="http://schemas.microsoft.com/office/drawing/2014/main" id="{73CCC7E9-D174-4378-B1DA-166939BD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同一总体与样本量仍可能返回差异很大的估计</a:t>
            </a:r>
          </a:p>
        </p:txBody>
      </p:sp>
      <p:sp>
        <p:nvSpPr>
          <p:cNvPr id="4" name="57">
            <a:extLst xmlns:a="http://schemas.openxmlformats.org/drawingml/2006/main">
              <a:ext uri="{FF2B5EF4-FFF2-40B4-BE49-F238E27FC236}">
                <a16:creationId xmlns:a16="http://schemas.microsoft.com/office/drawing/2014/main" id="{4231FAFF-F004-4AA1-BCAC-C8962C5F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610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5"/>
                </a:solidFill>
                <a:latin typeface="Microsoft YaHei"/>
                <a:ea typeface="Microsoft YaHei"/>
                <a:cs typeface="Microsoft YaHei"/>
              </a:rPr>
              <a:t>57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0A1B0-99B7-4D7E-A83C-52B3CDAF1372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2324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190750"/>
                <a:gridCol w="2190750"/>
                <a:gridCol w="2190750"/>
              </a:tblGrid>
              <a:tr h="5810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β=5、n=7，LSE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尺度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T w="7620">
                      <a:solidFill>
                        <a:srgbClr val="C8D1DC"/>
                      </a:solidFill>
                      <a:prstDash val="solid"/>
                    </a:lnT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2D5D97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真值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第34组：接近真值的例子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5.55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836.77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681.73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第0组：明显低估的例子</a:t>
                      </a:r>
                    </a:p>
                  </a:txBody>
                  <a:tcPr marL="123825" marR="123825" marT="95250" marB="95250" anchor="ctr">
                    <a:lnL w="7620">
                      <a:solidFill>
                        <a:srgbClr val="C8D1DC"/>
                      </a:solidFill>
                      <a:prstDash val="solid"/>
                    </a:lnL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1.24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282.98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92F4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1205.95</a:t>
                      </a:r>
                    </a:p>
                  </a:txBody>
                  <a:tcPr marL="123825" marR="123825" marT="95250" marB="95250" anchor="ctr">
                    <a:lnR w="7620">
                      <a:solidFill>
                        <a:srgbClr val="C8D1DC"/>
                      </a:solidFill>
                      <a:prstDash val="solid"/>
                    </a:lnR>
                    <a:lnB w="7620">
                      <a:solidFill>
                        <a:srgbClr val="C8D1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两例用于展示偏离程度；异常发生频率由1200次重复试验单独统计。">
            <a:extLst xmlns:a="http://schemas.openxmlformats.org/drawingml/2006/main">
              <a:ext uri="{FF2B5EF4-FFF2-40B4-BE49-F238E27FC236}">
                <a16:creationId xmlns:a16="http://schemas.microsoft.com/office/drawing/2014/main" id="{110E1675-3E01-404B-8C4C-F0F45B21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D5D97"/>
                </a:solidFill>
                <a:latin typeface="Microsoft YaHei"/>
                <a:ea typeface="Microsoft YaHei"/>
                <a:cs typeface="Microsoft YaHei"/>
              </a:rPr>
              <a:t>两例用于展示偏离程度；异常发生频率由1200次重复试验单独统计。</a:t>
            </a:r>
          </a:p>
        </p:txBody>
      </p:sp>
    </p:spTree>
    <p:extLst>
      <p:ext uri="{BB962C8B-B14F-4D97-AF65-F5344CB8AC3E}">
        <p14:creationId xmlns:p14="http://schemas.microsoft.com/office/powerpoint/2010/main" val="12527973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2026-10-23T06:07:25.1410000Z</dcterms:created>
  <dcterms:modified xsi:type="dcterms:W3CDTF">2026-10-23T06:07:25.1410000Z</dcterms:modified>
</coreProperties>
</file>