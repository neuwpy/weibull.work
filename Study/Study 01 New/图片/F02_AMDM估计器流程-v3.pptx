
<file path=[Content_Types].xml><?xml version="1.0" encoding="utf-8"?>
<Types xmlns="http://schemas.openxmlformats.org/package/2006/content-types">
  <Default Extension="bin" ContentType="application/vnd.openxmlformats-officedocument.oleObject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2288500" cy="63817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</a:t>
            </a:r>
            <a:r>
              <a:rPr lang="en-US" altLang="zh-CN"/>
              <a:t>2</a:t>
            </a:r>
            <a:r>
              <a:rPr lang="zh-CN" altLang="en-US"/>
              <a:t>用于</a:t>
            </a:r>
            <a:r>
              <a:rPr lang="en-US" altLang="zh-CN"/>
              <a:t>2.5</a:t>
            </a:r>
            <a:r>
              <a:rPr lang="zh-CN" altLang="en-US"/>
              <a:t>定义</a:t>
            </a:r>
            <a:r>
              <a:rPr lang="en-US" altLang="zh-CN"/>
              <a:t>AMDM</a:t>
            </a:r>
            <a:r>
              <a:rPr lang="zh-CN" altLang="en-US"/>
              <a:t>估计器。沿用</a:t>
            </a:r>
            <a:r>
              <a:rPr lang="en-US" altLang="zh-CN"/>
              <a:t>v2</a:t>
            </a:r>
            <a:r>
              <a:rPr lang="zh-CN" altLang="en-US"/>
              <a:t>下半部的观测样本、网络示意、偏移选择、</a:t>
            </a:r>
            <a:r>
              <a:rPr lang="en-US" altLang="zh-CN"/>
              <a:t>MDM</a:t>
            </a:r>
            <a:r>
              <a:rPr lang="zh-CN" altLang="en-US"/>
              <a:t>回代与输出组件，删除离线训练细节并合并候选预测和偏移选择。网络只代表已训练的候选损失评价模型，节点数量不代表实际结构。散点复用</a:t>
            </a:r>
            <a:r>
              <a:rPr lang="en-US" altLang="zh-CN"/>
              <a:t>F01 Sample-1-3</a:t>
            </a:r>
            <a:r>
              <a:rPr lang="zh-CN" altLang="en-US"/>
              <a:t>，不是新增实验。输入表征及损失反变换等细节见</a:t>
            </a:r>
            <a:r>
              <a:rPr lang="en-US" altLang="zh-CN"/>
              <a:t>2.4</a:t>
            </a:r>
            <a:r>
              <a:rPr lang="zh-CN" altLang="en-US"/>
              <a:t>。原始样本与所选偏移共同进入</a:t>
            </a:r>
            <a:r>
              <a:rPr lang="en-US" altLang="zh-CN"/>
              <a:t>MDM</a:t>
            </a:r>
            <a:r>
              <a:rPr lang="zh-CN" altLang="en-US"/>
              <a:t>。</a:t>
            </a:r>
            <a:r>
              <a:rPr lang="en-US" altLang="zh-CN"/>
              <a:t>MathType</a:t>
            </a:r>
            <a:r>
              <a:rPr lang="zh-CN" altLang="en-US"/>
              <a:t>仅保留输入、所选偏移和输出符号。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">
            <a:extLst>
              <a:ext uri="{FF2B5EF4-FFF2-40B4-BE49-F238E27FC236}">
                <a16:creationId xmlns:a16="http://schemas.microsoft.com/office/drawing/2014/main" id="{951FCFF1-4B62-48D3-85C6-0CF958819450}"/>
              </a:ext>
            </a:extLst>
          </p:cNvPr>
          <p:cNvSpPr>
            <a:spLocks noGrp="1"/>
          </p:cNvSpPr>
          <p:nvPr/>
        </p:nvSpPr>
        <p:spPr>
          <a:xfrm>
            <a:off x="381000" y="209550"/>
            <a:ext cx="21526500" cy="45720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AMDM估计器：由当前样本选择偏移，保留MDM求解结构</a:t>
            </a:r>
          </a:p>
        </p:txBody>
      </p:sp>
      <p:sp>
        <p:nvSpPr>
          <p:cNvPr id="2" name="sample.boundary">
            <a:extLst>
              <a:ext uri="{FF2B5EF4-FFF2-40B4-BE49-F238E27FC236}">
                <a16:creationId xmlns:a16="http://schemas.microsoft.com/office/drawing/2014/main" id="{C3DA9FBB-C559-47AC-8203-1C7AE72A4676}"/>
              </a:ext>
            </a:extLst>
          </p:cNvPr>
          <p:cNvSpPr>
            <a:spLocks noGrp="1"/>
          </p:cNvSpPr>
          <p:nvPr/>
        </p:nvSpPr>
        <p:spPr>
          <a:xfrm>
            <a:off x="381000" y="1028700"/>
            <a:ext cx="3714750" cy="3981450"/>
          </a:xfrm>
          <a:prstGeom prst="rect">
            <a:avLst/>
          </a:prstGeom>
          <a:noFill/>
          <a:ln w="12383">
            <a:solidFill>
              <a:srgbClr val="6A92BD"/>
            </a:solidFill>
            <a:prstDash val="dash"/>
          </a:ln>
        </p:spPr>
      </p:sp>
      <p:sp>
        <p:nvSpPr>
          <p:cNvPr id="3" name="sample.header">
            <a:extLst>
              <a:ext uri="{FF2B5EF4-FFF2-40B4-BE49-F238E27FC236}">
                <a16:creationId xmlns:a16="http://schemas.microsoft.com/office/drawing/2014/main" id="{60480CCE-82E0-4961-B02B-C5F1282B7CA4}"/>
              </a:ext>
            </a:extLst>
          </p:cNvPr>
          <p:cNvSpPr>
            <a:spLocks noGrp="1"/>
          </p:cNvSpPr>
          <p:nvPr/>
        </p:nvSpPr>
        <p:spPr>
          <a:xfrm>
            <a:off x="381000" y="1028700"/>
            <a:ext cx="3714750" cy="400050"/>
          </a:xfrm>
          <a:prstGeom prst="rect">
            <a:avLst/>
          </a:prstGeom>
          <a:solidFill>
            <a:srgbClr val="A8C0E5"/>
          </a:solidFill>
          <a:ln w="12383">
            <a:noFill/>
            <a:prstDash val="solid"/>
          </a:ln>
        </p:spPr>
      </p:sp>
      <p:sp>
        <p:nvSpPr>
          <p:cNvPr id="4" name="sample.title">
            <a:extLst>
              <a:ext uri="{FF2B5EF4-FFF2-40B4-BE49-F238E27FC236}">
                <a16:creationId xmlns:a16="http://schemas.microsoft.com/office/drawing/2014/main" id="{AE831623-C208-4698-82D1-5E09963CFE26}"/>
              </a:ext>
            </a:extLst>
          </p:cNvPr>
          <p:cNvSpPr>
            <a:spLocks noGrp="1"/>
          </p:cNvSpPr>
          <p:nvPr/>
        </p:nvSpPr>
        <p:spPr>
          <a:xfrm>
            <a:off x="476250" y="1047750"/>
            <a:ext cx="352425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观测样本</a:t>
            </a:r>
          </a:p>
        </p:txBody>
      </p:sp>
      <p:sp>
        <p:nvSpPr>
          <p:cNvPr id="5" name="sample.axis">
            <a:extLst>
              <a:ext uri="{FF2B5EF4-FFF2-40B4-BE49-F238E27FC236}">
                <a16:creationId xmlns:a16="http://schemas.microsoft.com/office/drawing/2014/main" id="{40C3E144-0BC6-40C4-94D0-698B59798523}"/>
              </a:ext>
            </a:extLst>
          </p:cNvPr>
          <p:cNvSpPr>
            <a:spLocks noGrp="1"/>
          </p:cNvSpPr>
          <p:nvPr/>
        </p:nvSpPr>
        <p:spPr>
          <a:xfrm>
            <a:off x="876300" y="2647950"/>
            <a:ext cx="2724150" cy="953"/>
          </a:xfrm>
          <a:custGeom>
            <a:avLst/>
            <a:gdLst/>
            <a:ahLst/>
            <a:cxnLst/>
            <a:rect l="0" t="0" r="0" b="0"/>
            <a:pathLst>
              <a:path w="2724150" h="953">
                <a:moveTo>
                  <a:pt x="0" y="0"/>
                </a:moveTo>
                <a:lnTo>
                  <a:pt x="2724150" y="0"/>
                </a:lnTo>
              </a:path>
            </a:pathLst>
          </a:custGeom>
          <a:noFill/>
          <a:ln w="9525">
            <a:solidFill>
              <a:srgbClr val="B5BEC5"/>
            </a:solidFill>
            <a:prstDash val="solid"/>
          </a:ln>
        </p:spPr>
      </p:sp>
      <p:sp>
        <p:nvSpPr>
          <p:cNvPr id="6" name="sample.stem0">
            <a:extLst>
              <a:ext uri="{FF2B5EF4-FFF2-40B4-BE49-F238E27FC236}">
                <a16:creationId xmlns:a16="http://schemas.microsoft.com/office/drawing/2014/main" id="{384DFFE4-137A-4FFC-BC0B-3F7ABF8B858C}"/>
              </a:ext>
            </a:extLst>
          </p:cNvPr>
          <p:cNvSpPr>
            <a:spLocks noGrp="1"/>
          </p:cNvSpPr>
          <p:nvPr/>
        </p:nvSpPr>
        <p:spPr>
          <a:xfrm>
            <a:off x="1019175" y="243840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7" name="sample.dot0">
            <a:extLst>
              <a:ext uri="{FF2B5EF4-FFF2-40B4-BE49-F238E27FC236}">
                <a16:creationId xmlns:a16="http://schemas.microsoft.com/office/drawing/2014/main" id="{8DE31DBF-1EEF-46CF-8789-E18A80FED95C}"/>
              </a:ext>
            </a:extLst>
          </p:cNvPr>
          <p:cNvSpPr>
            <a:spLocks noGrp="1"/>
          </p:cNvSpPr>
          <p:nvPr/>
        </p:nvSpPr>
        <p:spPr>
          <a:xfrm>
            <a:off x="976313" y="239553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8" name="sample.stem1">
            <a:extLst>
              <a:ext uri="{FF2B5EF4-FFF2-40B4-BE49-F238E27FC236}">
                <a16:creationId xmlns:a16="http://schemas.microsoft.com/office/drawing/2014/main" id="{7AEC5EC8-C010-4226-BF6A-CC550F54CC37}"/>
              </a:ext>
            </a:extLst>
          </p:cNvPr>
          <p:cNvSpPr>
            <a:spLocks noGrp="1"/>
          </p:cNvSpPr>
          <p:nvPr/>
        </p:nvSpPr>
        <p:spPr>
          <a:xfrm>
            <a:off x="1077879" y="243840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9" name="sample.dot1">
            <a:extLst>
              <a:ext uri="{FF2B5EF4-FFF2-40B4-BE49-F238E27FC236}">
                <a16:creationId xmlns:a16="http://schemas.microsoft.com/office/drawing/2014/main" id="{5A0FE68F-ACB2-49B9-B3D3-184AD557094C}"/>
              </a:ext>
            </a:extLst>
          </p:cNvPr>
          <p:cNvSpPr>
            <a:spLocks noGrp="1"/>
          </p:cNvSpPr>
          <p:nvPr/>
        </p:nvSpPr>
        <p:spPr>
          <a:xfrm>
            <a:off x="1035017" y="239553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0" name="sample.stem2">
            <a:extLst>
              <a:ext uri="{FF2B5EF4-FFF2-40B4-BE49-F238E27FC236}">
                <a16:creationId xmlns:a16="http://schemas.microsoft.com/office/drawing/2014/main" id="{4FF5C331-DD0B-4411-881D-0696E760191D}"/>
              </a:ext>
            </a:extLst>
          </p:cNvPr>
          <p:cNvSpPr>
            <a:spLocks noGrp="1"/>
          </p:cNvSpPr>
          <p:nvPr/>
        </p:nvSpPr>
        <p:spPr>
          <a:xfrm>
            <a:off x="1773610" y="243840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1" name="sample.dot2">
            <a:extLst>
              <a:ext uri="{FF2B5EF4-FFF2-40B4-BE49-F238E27FC236}">
                <a16:creationId xmlns:a16="http://schemas.microsoft.com/office/drawing/2014/main" id="{F9E676A2-4F60-415A-8187-67E48860DC26}"/>
              </a:ext>
            </a:extLst>
          </p:cNvPr>
          <p:cNvSpPr>
            <a:spLocks noGrp="1"/>
          </p:cNvSpPr>
          <p:nvPr/>
        </p:nvSpPr>
        <p:spPr>
          <a:xfrm>
            <a:off x="1730748" y="239553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2" name="sample.stem3">
            <a:extLst>
              <a:ext uri="{FF2B5EF4-FFF2-40B4-BE49-F238E27FC236}">
                <a16:creationId xmlns:a16="http://schemas.microsoft.com/office/drawing/2014/main" id="{E9FA3F31-7889-468B-AC54-E66050469BA2}"/>
              </a:ext>
            </a:extLst>
          </p:cNvPr>
          <p:cNvSpPr>
            <a:spLocks noGrp="1"/>
          </p:cNvSpPr>
          <p:nvPr/>
        </p:nvSpPr>
        <p:spPr>
          <a:xfrm>
            <a:off x="1996659" y="243840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3" name="sample.dot3">
            <a:extLst>
              <a:ext uri="{FF2B5EF4-FFF2-40B4-BE49-F238E27FC236}">
                <a16:creationId xmlns:a16="http://schemas.microsoft.com/office/drawing/2014/main" id="{C0701E06-5B27-4ECE-92FB-BC465120EB55}"/>
              </a:ext>
            </a:extLst>
          </p:cNvPr>
          <p:cNvSpPr>
            <a:spLocks noGrp="1"/>
          </p:cNvSpPr>
          <p:nvPr/>
        </p:nvSpPr>
        <p:spPr>
          <a:xfrm>
            <a:off x="1953796" y="239553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4" name="sample.stem4">
            <a:extLst>
              <a:ext uri="{FF2B5EF4-FFF2-40B4-BE49-F238E27FC236}">
                <a16:creationId xmlns:a16="http://schemas.microsoft.com/office/drawing/2014/main" id="{040D82D7-D57C-4025-86DE-C8866A8C64AA}"/>
              </a:ext>
            </a:extLst>
          </p:cNvPr>
          <p:cNvSpPr>
            <a:spLocks noGrp="1"/>
          </p:cNvSpPr>
          <p:nvPr/>
        </p:nvSpPr>
        <p:spPr>
          <a:xfrm>
            <a:off x="2090350" y="243840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5" name="sample.dot4">
            <a:extLst>
              <a:ext uri="{FF2B5EF4-FFF2-40B4-BE49-F238E27FC236}">
                <a16:creationId xmlns:a16="http://schemas.microsoft.com/office/drawing/2014/main" id="{71E44240-04C1-4BCE-9CCA-6B503884E270}"/>
              </a:ext>
            </a:extLst>
          </p:cNvPr>
          <p:cNvSpPr>
            <a:spLocks noGrp="1"/>
          </p:cNvSpPr>
          <p:nvPr/>
        </p:nvSpPr>
        <p:spPr>
          <a:xfrm>
            <a:off x="2047488" y="239553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6" name="sample.stem5">
            <a:extLst>
              <a:ext uri="{FF2B5EF4-FFF2-40B4-BE49-F238E27FC236}">
                <a16:creationId xmlns:a16="http://schemas.microsoft.com/office/drawing/2014/main" id="{D83DBD5E-BCE2-4B3F-8146-9982477B1141}"/>
              </a:ext>
            </a:extLst>
          </p:cNvPr>
          <p:cNvSpPr>
            <a:spLocks noGrp="1"/>
          </p:cNvSpPr>
          <p:nvPr/>
        </p:nvSpPr>
        <p:spPr>
          <a:xfrm>
            <a:off x="2565712" y="243840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7" name="sample.dot5">
            <a:extLst>
              <a:ext uri="{FF2B5EF4-FFF2-40B4-BE49-F238E27FC236}">
                <a16:creationId xmlns:a16="http://schemas.microsoft.com/office/drawing/2014/main" id="{64B80870-F7EE-4B0D-96A8-9D15B9B782F5}"/>
              </a:ext>
            </a:extLst>
          </p:cNvPr>
          <p:cNvSpPr>
            <a:spLocks noGrp="1"/>
          </p:cNvSpPr>
          <p:nvPr/>
        </p:nvSpPr>
        <p:spPr>
          <a:xfrm>
            <a:off x="2522850" y="239553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8" name="sample.stem6">
            <a:extLst>
              <a:ext uri="{FF2B5EF4-FFF2-40B4-BE49-F238E27FC236}">
                <a16:creationId xmlns:a16="http://schemas.microsoft.com/office/drawing/2014/main" id="{582A9AF7-1C13-4006-9FE8-36A84B51503A}"/>
              </a:ext>
            </a:extLst>
          </p:cNvPr>
          <p:cNvSpPr>
            <a:spLocks noGrp="1"/>
          </p:cNvSpPr>
          <p:nvPr/>
        </p:nvSpPr>
        <p:spPr>
          <a:xfrm>
            <a:off x="3457575" y="243840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9" name="sample.dot6">
            <a:extLst>
              <a:ext uri="{FF2B5EF4-FFF2-40B4-BE49-F238E27FC236}">
                <a16:creationId xmlns:a16="http://schemas.microsoft.com/office/drawing/2014/main" id="{92DA31BC-3170-49D8-9767-430120CFA0D7}"/>
              </a:ext>
            </a:extLst>
          </p:cNvPr>
          <p:cNvSpPr>
            <a:spLocks noGrp="1"/>
          </p:cNvSpPr>
          <p:nvPr/>
        </p:nvSpPr>
        <p:spPr>
          <a:xfrm>
            <a:off x="3414713" y="239553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20" name="sample.label">
            <a:extLst>
              <a:ext uri="{FF2B5EF4-FFF2-40B4-BE49-F238E27FC236}">
                <a16:creationId xmlns:a16="http://schemas.microsoft.com/office/drawing/2014/main" id="{42971FB2-9C72-483B-90F2-F2F60D1C5908}"/>
              </a:ext>
            </a:extLst>
          </p:cNvPr>
          <p:cNvSpPr>
            <a:spLocks noGrp="1"/>
          </p:cNvSpPr>
          <p:nvPr/>
        </p:nvSpPr>
        <p:spPr>
          <a:xfrm>
            <a:off x="628650" y="4000500"/>
            <a:ext cx="3219450" cy="38100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当前寿命观测</a:t>
            </a:r>
          </a:p>
        </p:txBody>
      </p:sp>
      <p:sp>
        <p:nvSpPr>
          <p:cNvPr id="21" name="flow.sample-to-select">
            <a:extLst>
              <a:ext uri="{FF2B5EF4-FFF2-40B4-BE49-F238E27FC236}">
                <a16:creationId xmlns:a16="http://schemas.microsoft.com/office/drawing/2014/main" id="{9F8C999C-664F-4CBC-B73D-597C56EF8D33}"/>
              </a:ext>
            </a:extLst>
          </p:cNvPr>
          <p:cNvSpPr>
            <a:spLocks noGrp="1"/>
          </p:cNvSpPr>
          <p:nvPr/>
        </p:nvSpPr>
        <p:spPr>
          <a:xfrm>
            <a:off x="4276725" y="2914650"/>
            <a:ext cx="49530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22" name="select.boundary">
            <a:extLst>
              <a:ext uri="{FF2B5EF4-FFF2-40B4-BE49-F238E27FC236}">
                <a16:creationId xmlns:a16="http://schemas.microsoft.com/office/drawing/2014/main" id="{58C76C20-DB32-4136-8A58-32B4ABD9126E}"/>
              </a:ext>
            </a:extLst>
          </p:cNvPr>
          <p:cNvSpPr>
            <a:spLocks noGrp="1"/>
          </p:cNvSpPr>
          <p:nvPr/>
        </p:nvSpPr>
        <p:spPr>
          <a:xfrm>
            <a:off x="4953000" y="1028700"/>
            <a:ext cx="7239000" cy="3981450"/>
          </a:xfrm>
          <a:prstGeom prst="rect">
            <a:avLst/>
          </a:prstGeom>
          <a:noFill/>
          <a:ln w="12383">
            <a:solidFill>
              <a:srgbClr val="6A92BD"/>
            </a:solidFill>
            <a:prstDash val="dash"/>
          </a:ln>
        </p:spPr>
      </p:sp>
      <p:sp>
        <p:nvSpPr>
          <p:cNvPr id="23" name="select.header">
            <a:extLst>
              <a:ext uri="{FF2B5EF4-FFF2-40B4-BE49-F238E27FC236}">
                <a16:creationId xmlns:a16="http://schemas.microsoft.com/office/drawing/2014/main" id="{012B751E-FAF9-4DEA-B8BF-7B796A91D0FE}"/>
              </a:ext>
            </a:extLst>
          </p:cNvPr>
          <p:cNvSpPr>
            <a:spLocks noGrp="1"/>
          </p:cNvSpPr>
          <p:nvPr/>
        </p:nvSpPr>
        <p:spPr>
          <a:xfrm>
            <a:off x="4953000" y="1028700"/>
            <a:ext cx="7239000" cy="400050"/>
          </a:xfrm>
          <a:prstGeom prst="rect">
            <a:avLst/>
          </a:prstGeom>
          <a:solidFill>
            <a:srgbClr val="A8C0E5"/>
          </a:solidFill>
          <a:ln w="12383">
            <a:noFill/>
            <a:prstDash val="solid"/>
          </a:ln>
        </p:spPr>
      </p:sp>
      <p:sp>
        <p:nvSpPr>
          <p:cNvPr id="24" name="select.title">
            <a:extLst>
              <a:ext uri="{FF2B5EF4-FFF2-40B4-BE49-F238E27FC236}">
                <a16:creationId xmlns:a16="http://schemas.microsoft.com/office/drawing/2014/main" id="{89244B96-7FDB-4E86-B1D8-F8626313667C}"/>
              </a:ext>
            </a:extLst>
          </p:cNvPr>
          <p:cNvSpPr>
            <a:spLocks noGrp="1"/>
          </p:cNvSpPr>
          <p:nvPr/>
        </p:nvSpPr>
        <p:spPr>
          <a:xfrm>
            <a:off x="5048250" y="1047750"/>
            <a:ext cx="704850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样本自适应偏移选择</a:t>
            </a:r>
          </a:p>
        </p:txBody>
      </p:sp>
      <p:sp>
        <p:nvSpPr>
          <p:cNvPr id="25" name="select.representation">
            <a:extLst>
              <a:ext uri="{FF2B5EF4-FFF2-40B4-BE49-F238E27FC236}">
                <a16:creationId xmlns:a16="http://schemas.microsoft.com/office/drawing/2014/main" id="{8ABCD418-F40F-44E8-B383-557805A9A4E1}"/>
              </a:ext>
            </a:extLst>
          </p:cNvPr>
          <p:cNvSpPr>
            <a:spLocks noGrp="1"/>
          </p:cNvSpPr>
          <p:nvPr/>
        </p:nvSpPr>
        <p:spPr>
          <a:xfrm>
            <a:off x="5181600" y="2276475"/>
            <a:ext cx="1676400" cy="1000125"/>
          </a:xfrm>
          <a:prstGeom prst="rect">
            <a:avLst/>
          </a:prstGeom>
          <a:solidFill>
            <a:srgbClr val="F2F5F9"/>
          </a:solidFill>
          <a:ln w="12383">
            <a:noFill/>
            <a:prstDash val="solid"/>
          </a:ln>
        </p:spPr>
      </p:sp>
      <p:sp>
        <p:nvSpPr>
          <p:cNvPr id="26" name="select.representation-title">
            <a:extLst>
              <a:ext uri="{FF2B5EF4-FFF2-40B4-BE49-F238E27FC236}">
                <a16:creationId xmlns:a16="http://schemas.microsoft.com/office/drawing/2014/main" id="{C74A120F-D6A3-4B81-9CFC-7FD6366F7FDB}"/>
              </a:ext>
            </a:extLst>
          </p:cNvPr>
          <p:cNvSpPr>
            <a:spLocks noGrp="1"/>
          </p:cNvSpPr>
          <p:nvPr/>
        </p:nvSpPr>
        <p:spPr>
          <a:xfrm>
            <a:off x="5257800" y="2381250"/>
            <a:ext cx="1524000" cy="333375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样本表征</a:t>
            </a:r>
          </a:p>
        </p:txBody>
      </p:sp>
      <p:sp>
        <p:nvSpPr>
          <p:cNvPr id="27" name="select.representation-note">
            <a:extLst>
              <a:ext uri="{FF2B5EF4-FFF2-40B4-BE49-F238E27FC236}">
                <a16:creationId xmlns:a16="http://schemas.microsoft.com/office/drawing/2014/main" id="{DC333145-8B64-4626-833F-DF1FECA41B3F}"/>
              </a:ext>
            </a:extLst>
          </p:cNvPr>
          <p:cNvSpPr>
            <a:spLocks noGrp="1"/>
          </p:cNvSpPr>
          <p:nvPr/>
        </p:nvSpPr>
        <p:spPr>
          <a:xfrm>
            <a:off x="5238750" y="2800350"/>
            <a:ext cx="1562100" cy="2857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排序 · 归一化</a:t>
            </a:r>
          </a:p>
        </p:txBody>
      </p:sp>
      <p:sp>
        <p:nvSpPr>
          <p:cNvPr id="28" name="select.to-network">
            <a:extLst>
              <a:ext uri="{FF2B5EF4-FFF2-40B4-BE49-F238E27FC236}">
                <a16:creationId xmlns:a16="http://schemas.microsoft.com/office/drawing/2014/main" id="{B886A6E9-18BE-4692-BF32-322BE5E53516}"/>
              </a:ext>
            </a:extLst>
          </p:cNvPr>
          <p:cNvSpPr>
            <a:spLocks noGrp="1"/>
          </p:cNvSpPr>
          <p:nvPr/>
        </p:nvSpPr>
        <p:spPr>
          <a:xfrm>
            <a:off x="7000875" y="2686050"/>
            <a:ext cx="30480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29" name="select.network.weight0-0-0">
            <a:extLst>
              <a:ext uri="{FF2B5EF4-FFF2-40B4-BE49-F238E27FC236}">
                <a16:creationId xmlns:a16="http://schemas.microsoft.com/office/drawing/2014/main" id="{A7A0E006-0A5B-4B3A-9264-0F735D41F46F}"/>
              </a:ext>
            </a:extLst>
          </p:cNvPr>
          <p:cNvSpPr>
            <a:spLocks noGrp="1"/>
          </p:cNvSpPr>
          <p:nvPr/>
        </p:nvSpPr>
        <p:spPr>
          <a:xfrm>
            <a:off x="7572375" y="2363391"/>
            <a:ext cx="587375" cy="44847"/>
          </a:xfrm>
          <a:custGeom>
            <a:avLst/>
            <a:gdLst/>
            <a:ahLst/>
            <a:cxnLst/>
            <a:rect l="0" t="0" r="0" b="0"/>
            <a:pathLst>
              <a:path w="587375" h="44847">
                <a:moveTo>
                  <a:pt x="0" y="44847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30" name="select.network.weight0-0-1">
            <a:extLst>
              <a:ext uri="{FF2B5EF4-FFF2-40B4-BE49-F238E27FC236}">
                <a16:creationId xmlns:a16="http://schemas.microsoft.com/office/drawing/2014/main" id="{BD414D71-E5B2-4401-985E-20D828C466AE}"/>
              </a:ext>
            </a:extLst>
          </p:cNvPr>
          <p:cNvSpPr>
            <a:spLocks noGrp="1"/>
          </p:cNvSpPr>
          <p:nvPr/>
        </p:nvSpPr>
        <p:spPr>
          <a:xfrm>
            <a:off x="7572375" y="2408238"/>
            <a:ext cx="587375" cy="224234"/>
          </a:xfrm>
          <a:custGeom>
            <a:avLst/>
            <a:gdLst/>
            <a:ahLst/>
            <a:cxnLst/>
            <a:rect l="0" t="0" r="0" b="0"/>
            <a:pathLst>
              <a:path w="587375" h="224234">
                <a:moveTo>
                  <a:pt x="0" y="0"/>
                </a:moveTo>
                <a:lnTo>
                  <a:pt x="587375" y="224234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31" name="select.network.weight0-0-2">
            <a:extLst>
              <a:ext uri="{FF2B5EF4-FFF2-40B4-BE49-F238E27FC236}">
                <a16:creationId xmlns:a16="http://schemas.microsoft.com/office/drawing/2014/main" id="{84B9A6B9-5B38-411E-A636-D14604FF685B}"/>
              </a:ext>
            </a:extLst>
          </p:cNvPr>
          <p:cNvSpPr>
            <a:spLocks noGrp="1"/>
          </p:cNvSpPr>
          <p:nvPr/>
        </p:nvSpPr>
        <p:spPr>
          <a:xfrm>
            <a:off x="7572375" y="2408238"/>
            <a:ext cx="587375" cy="493316"/>
          </a:xfrm>
          <a:custGeom>
            <a:avLst/>
            <a:gdLst/>
            <a:ahLst/>
            <a:cxnLst/>
            <a:rect l="0" t="0" r="0" b="0"/>
            <a:pathLst>
              <a:path w="587375" h="493316">
                <a:moveTo>
                  <a:pt x="0" y="0"/>
                </a:moveTo>
                <a:lnTo>
                  <a:pt x="587375" y="493316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32" name="select.network.weight0-0-3">
            <a:extLst>
              <a:ext uri="{FF2B5EF4-FFF2-40B4-BE49-F238E27FC236}">
                <a16:creationId xmlns:a16="http://schemas.microsoft.com/office/drawing/2014/main" id="{67DCFB3E-6EA0-4B33-92DD-671D811BC269}"/>
              </a:ext>
            </a:extLst>
          </p:cNvPr>
          <p:cNvSpPr>
            <a:spLocks noGrp="1"/>
          </p:cNvSpPr>
          <p:nvPr/>
        </p:nvSpPr>
        <p:spPr>
          <a:xfrm>
            <a:off x="7572375" y="2408238"/>
            <a:ext cx="587375" cy="762397"/>
          </a:xfrm>
          <a:custGeom>
            <a:avLst/>
            <a:gdLst/>
            <a:ahLst/>
            <a:cxnLst/>
            <a:rect l="0" t="0" r="0" b="0"/>
            <a:pathLst>
              <a:path w="587375" h="762397">
                <a:moveTo>
                  <a:pt x="0" y="0"/>
                </a:moveTo>
                <a:lnTo>
                  <a:pt x="587375" y="762397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33" name="select.network.weight0-1-0">
            <a:extLst>
              <a:ext uri="{FF2B5EF4-FFF2-40B4-BE49-F238E27FC236}">
                <a16:creationId xmlns:a16="http://schemas.microsoft.com/office/drawing/2014/main" id="{A251489E-B1E8-45CA-873D-3E92A02DE623}"/>
              </a:ext>
            </a:extLst>
          </p:cNvPr>
          <p:cNvSpPr>
            <a:spLocks noGrp="1"/>
          </p:cNvSpPr>
          <p:nvPr/>
        </p:nvSpPr>
        <p:spPr>
          <a:xfrm>
            <a:off x="7572375" y="2363391"/>
            <a:ext cx="587375" cy="403622"/>
          </a:xfrm>
          <a:custGeom>
            <a:avLst/>
            <a:gdLst/>
            <a:ahLst/>
            <a:cxnLst/>
            <a:rect l="0" t="0" r="0" b="0"/>
            <a:pathLst>
              <a:path w="587375" h="403622">
                <a:moveTo>
                  <a:pt x="0" y="403622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34" name="select.network.weight0-1-1">
            <a:extLst>
              <a:ext uri="{FF2B5EF4-FFF2-40B4-BE49-F238E27FC236}">
                <a16:creationId xmlns:a16="http://schemas.microsoft.com/office/drawing/2014/main" id="{90D149FA-0189-4C77-8F61-1B4615700AA6}"/>
              </a:ext>
            </a:extLst>
          </p:cNvPr>
          <p:cNvSpPr>
            <a:spLocks noGrp="1"/>
          </p:cNvSpPr>
          <p:nvPr/>
        </p:nvSpPr>
        <p:spPr>
          <a:xfrm>
            <a:off x="7572375" y="2632472"/>
            <a:ext cx="587375" cy="134541"/>
          </a:xfrm>
          <a:custGeom>
            <a:avLst/>
            <a:gdLst/>
            <a:ahLst/>
            <a:cxnLst/>
            <a:rect l="0" t="0" r="0" b="0"/>
            <a:pathLst>
              <a:path w="587375" h="134541">
                <a:moveTo>
                  <a:pt x="0" y="134541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35" name="select.network.weight0-1-2">
            <a:extLst>
              <a:ext uri="{FF2B5EF4-FFF2-40B4-BE49-F238E27FC236}">
                <a16:creationId xmlns:a16="http://schemas.microsoft.com/office/drawing/2014/main" id="{68CF6DB0-46F8-4513-9063-1DC17AF7692D}"/>
              </a:ext>
            </a:extLst>
          </p:cNvPr>
          <p:cNvSpPr>
            <a:spLocks noGrp="1"/>
          </p:cNvSpPr>
          <p:nvPr/>
        </p:nvSpPr>
        <p:spPr>
          <a:xfrm>
            <a:off x="7572375" y="2767013"/>
            <a:ext cx="587375" cy="134541"/>
          </a:xfrm>
          <a:custGeom>
            <a:avLst/>
            <a:gdLst/>
            <a:ahLst/>
            <a:cxnLst/>
            <a:rect l="0" t="0" r="0" b="0"/>
            <a:pathLst>
              <a:path w="587375" h="134541">
                <a:moveTo>
                  <a:pt x="0" y="0"/>
                </a:moveTo>
                <a:lnTo>
                  <a:pt x="587375" y="134541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36" name="select.network.weight0-1-3">
            <a:extLst>
              <a:ext uri="{FF2B5EF4-FFF2-40B4-BE49-F238E27FC236}">
                <a16:creationId xmlns:a16="http://schemas.microsoft.com/office/drawing/2014/main" id="{764A7719-27DC-484B-AA00-E5C376A378DC}"/>
              </a:ext>
            </a:extLst>
          </p:cNvPr>
          <p:cNvSpPr>
            <a:spLocks noGrp="1"/>
          </p:cNvSpPr>
          <p:nvPr/>
        </p:nvSpPr>
        <p:spPr>
          <a:xfrm>
            <a:off x="7572375" y="2767013"/>
            <a:ext cx="587375" cy="403622"/>
          </a:xfrm>
          <a:custGeom>
            <a:avLst/>
            <a:gdLst/>
            <a:ahLst/>
            <a:cxnLst/>
            <a:rect l="0" t="0" r="0" b="0"/>
            <a:pathLst>
              <a:path w="587375" h="403622">
                <a:moveTo>
                  <a:pt x="0" y="0"/>
                </a:moveTo>
                <a:lnTo>
                  <a:pt x="587375" y="403622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37" name="select.network.weight0-2-0">
            <a:extLst>
              <a:ext uri="{FF2B5EF4-FFF2-40B4-BE49-F238E27FC236}">
                <a16:creationId xmlns:a16="http://schemas.microsoft.com/office/drawing/2014/main" id="{B07561D7-3124-41C4-B625-A439294D5BAE}"/>
              </a:ext>
            </a:extLst>
          </p:cNvPr>
          <p:cNvSpPr>
            <a:spLocks noGrp="1"/>
          </p:cNvSpPr>
          <p:nvPr/>
        </p:nvSpPr>
        <p:spPr>
          <a:xfrm>
            <a:off x="7572375" y="2363391"/>
            <a:ext cx="587375" cy="762397"/>
          </a:xfrm>
          <a:custGeom>
            <a:avLst/>
            <a:gdLst/>
            <a:ahLst/>
            <a:cxnLst/>
            <a:rect l="0" t="0" r="0" b="0"/>
            <a:pathLst>
              <a:path w="587375" h="762397">
                <a:moveTo>
                  <a:pt x="0" y="762397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38" name="select.network.weight0-2-1">
            <a:extLst>
              <a:ext uri="{FF2B5EF4-FFF2-40B4-BE49-F238E27FC236}">
                <a16:creationId xmlns:a16="http://schemas.microsoft.com/office/drawing/2014/main" id="{CE51173C-A213-4CA5-88A5-18E62A47B8E3}"/>
              </a:ext>
            </a:extLst>
          </p:cNvPr>
          <p:cNvSpPr>
            <a:spLocks noGrp="1"/>
          </p:cNvSpPr>
          <p:nvPr/>
        </p:nvSpPr>
        <p:spPr>
          <a:xfrm>
            <a:off x="7572375" y="2632472"/>
            <a:ext cx="587375" cy="493316"/>
          </a:xfrm>
          <a:custGeom>
            <a:avLst/>
            <a:gdLst/>
            <a:ahLst/>
            <a:cxnLst/>
            <a:rect l="0" t="0" r="0" b="0"/>
            <a:pathLst>
              <a:path w="587375" h="493316">
                <a:moveTo>
                  <a:pt x="0" y="493316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39" name="select.network.weight0-2-2">
            <a:extLst>
              <a:ext uri="{FF2B5EF4-FFF2-40B4-BE49-F238E27FC236}">
                <a16:creationId xmlns:a16="http://schemas.microsoft.com/office/drawing/2014/main" id="{9DB64695-BDE1-4126-94AD-0412579E2314}"/>
              </a:ext>
            </a:extLst>
          </p:cNvPr>
          <p:cNvSpPr>
            <a:spLocks noGrp="1"/>
          </p:cNvSpPr>
          <p:nvPr/>
        </p:nvSpPr>
        <p:spPr>
          <a:xfrm>
            <a:off x="7572375" y="2901553"/>
            <a:ext cx="587375" cy="224234"/>
          </a:xfrm>
          <a:custGeom>
            <a:avLst/>
            <a:gdLst/>
            <a:ahLst/>
            <a:cxnLst/>
            <a:rect l="0" t="0" r="0" b="0"/>
            <a:pathLst>
              <a:path w="587375" h="224234">
                <a:moveTo>
                  <a:pt x="0" y="224234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0" name="select.network.weight0-2-3">
            <a:extLst>
              <a:ext uri="{FF2B5EF4-FFF2-40B4-BE49-F238E27FC236}">
                <a16:creationId xmlns:a16="http://schemas.microsoft.com/office/drawing/2014/main" id="{787B617D-F727-46D7-84DE-3F6B0465AEA4}"/>
              </a:ext>
            </a:extLst>
          </p:cNvPr>
          <p:cNvSpPr>
            <a:spLocks noGrp="1"/>
          </p:cNvSpPr>
          <p:nvPr/>
        </p:nvSpPr>
        <p:spPr>
          <a:xfrm>
            <a:off x="7572375" y="3125788"/>
            <a:ext cx="587375" cy="44847"/>
          </a:xfrm>
          <a:custGeom>
            <a:avLst/>
            <a:gdLst/>
            <a:ahLst/>
            <a:cxnLst/>
            <a:rect l="0" t="0" r="0" b="0"/>
            <a:pathLst>
              <a:path w="587375" h="44847">
                <a:moveTo>
                  <a:pt x="0" y="0"/>
                </a:moveTo>
                <a:lnTo>
                  <a:pt x="587375" y="44847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1" name="select.network.weight1-0-0">
            <a:extLst>
              <a:ext uri="{FF2B5EF4-FFF2-40B4-BE49-F238E27FC236}">
                <a16:creationId xmlns:a16="http://schemas.microsoft.com/office/drawing/2014/main" id="{4899CA87-EE4D-462C-90D4-7DB1DC24AC12}"/>
              </a:ext>
            </a:extLst>
          </p:cNvPr>
          <p:cNvSpPr>
            <a:spLocks noGrp="1"/>
          </p:cNvSpPr>
          <p:nvPr/>
        </p:nvSpPr>
        <p:spPr>
          <a:xfrm>
            <a:off x="8159750" y="2363391"/>
            <a:ext cx="587375" cy="953"/>
          </a:xfrm>
          <a:custGeom>
            <a:avLst/>
            <a:gdLst/>
            <a:ahLst/>
            <a:cxnLst/>
            <a:rect l="0" t="0" r="0" b="0"/>
            <a:pathLst>
              <a:path w="587375" h="953">
                <a:moveTo>
                  <a:pt x="0" y="0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2" name="select.network.weight1-0-1">
            <a:extLst>
              <a:ext uri="{FF2B5EF4-FFF2-40B4-BE49-F238E27FC236}">
                <a16:creationId xmlns:a16="http://schemas.microsoft.com/office/drawing/2014/main" id="{3115971B-E7D0-4BB2-AD39-8FCA42DDA86B}"/>
              </a:ext>
            </a:extLst>
          </p:cNvPr>
          <p:cNvSpPr>
            <a:spLocks noGrp="1"/>
          </p:cNvSpPr>
          <p:nvPr/>
        </p:nvSpPr>
        <p:spPr>
          <a:xfrm>
            <a:off x="8159750" y="2363391"/>
            <a:ext cx="587375" cy="269081"/>
          </a:xfrm>
          <a:custGeom>
            <a:avLst/>
            <a:gdLst/>
            <a:ahLst/>
            <a:cxnLst/>
            <a:rect l="0" t="0" r="0" b="0"/>
            <a:pathLst>
              <a:path w="587375" h="269081">
                <a:moveTo>
                  <a:pt x="0" y="0"/>
                </a:moveTo>
                <a:lnTo>
                  <a:pt x="587375" y="269081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3" name="select.network.weight1-0-2">
            <a:extLst>
              <a:ext uri="{FF2B5EF4-FFF2-40B4-BE49-F238E27FC236}">
                <a16:creationId xmlns:a16="http://schemas.microsoft.com/office/drawing/2014/main" id="{C47330F2-6FCF-4D5D-AAA9-80CAD7F2E40B}"/>
              </a:ext>
            </a:extLst>
          </p:cNvPr>
          <p:cNvSpPr>
            <a:spLocks noGrp="1"/>
          </p:cNvSpPr>
          <p:nvPr/>
        </p:nvSpPr>
        <p:spPr>
          <a:xfrm>
            <a:off x="8159750" y="2363391"/>
            <a:ext cx="587375" cy="538163"/>
          </a:xfrm>
          <a:custGeom>
            <a:avLst/>
            <a:gdLst/>
            <a:ahLst/>
            <a:cxnLst/>
            <a:rect l="0" t="0" r="0" b="0"/>
            <a:pathLst>
              <a:path w="587375" h="538163">
                <a:moveTo>
                  <a:pt x="0" y="0"/>
                </a:moveTo>
                <a:lnTo>
                  <a:pt x="587375" y="538163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4" name="select.network.weight1-0-3">
            <a:extLst>
              <a:ext uri="{FF2B5EF4-FFF2-40B4-BE49-F238E27FC236}">
                <a16:creationId xmlns:a16="http://schemas.microsoft.com/office/drawing/2014/main" id="{33C29FD1-1FFF-4E49-A3D8-B39F62044DF1}"/>
              </a:ext>
            </a:extLst>
          </p:cNvPr>
          <p:cNvSpPr>
            <a:spLocks noGrp="1"/>
          </p:cNvSpPr>
          <p:nvPr/>
        </p:nvSpPr>
        <p:spPr>
          <a:xfrm>
            <a:off x="8159750" y="2363391"/>
            <a:ext cx="587375" cy="807244"/>
          </a:xfrm>
          <a:custGeom>
            <a:avLst/>
            <a:gdLst/>
            <a:ahLst/>
            <a:cxnLst/>
            <a:rect l="0" t="0" r="0" b="0"/>
            <a:pathLst>
              <a:path w="587375" h="807244">
                <a:moveTo>
                  <a:pt x="0" y="0"/>
                </a:moveTo>
                <a:lnTo>
                  <a:pt x="587375" y="807244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5" name="select.network.weight1-1-0">
            <a:extLst>
              <a:ext uri="{FF2B5EF4-FFF2-40B4-BE49-F238E27FC236}">
                <a16:creationId xmlns:a16="http://schemas.microsoft.com/office/drawing/2014/main" id="{91FFC933-3AD6-4071-9011-D637625D9581}"/>
              </a:ext>
            </a:extLst>
          </p:cNvPr>
          <p:cNvSpPr>
            <a:spLocks noGrp="1"/>
          </p:cNvSpPr>
          <p:nvPr/>
        </p:nvSpPr>
        <p:spPr>
          <a:xfrm>
            <a:off x="8159750" y="2363391"/>
            <a:ext cx="587375" cy="269081"/>
          </a:xfrm>
          <a:custGeom>
            <a:avLst/>
            <a:gdLst/>
            <a:ahLst/>
            <a:cxnLst/>
            <a:rect l="0" t="0" r="0" b="0"/>
            <a:pathLst>
              <a:path w="587375" h="269081">
                <a:moveTo>
                  <a:pt x="0" y="269081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6" name="select.network.weight1-1-1">
            <a:extLst>
              <a:ext uri="{FF2B5EF4-FFF2-40B4-BE49-F238E27FC236}">
                <a16:creationId xmlns:a16="http://schemas.microsoft.com/office/drawing/2014/main" id="{0BCEDD05-DB0A-4C74-9492-D2C7B668599D}"/>
              </a:ext>
            </a:extLst>
          </p:cNvPr>
          <p:cNvSpPr>
            <a:spLocks noGrp="1"/>
          </p:cNvSpPr>
          <p:nvPr/>
        </p:nvSpPr>
        <p:spPr>
          <a:xfrm>
            <a:off x="8159750" y="2632472"/>
            <a:ext cx="587375" cy="953"/>
          </a:xfrm>
          <a:custGeom>
            <a:avLst/>
            <a:gdLst/>
            <a:ahLst/>
            <a:cxnLst/>
            <a:rect l="0" t="0" r="0" b="0"/>
            <a:pathLst>
              <a:path w="587375" h="953">
                <a:moveTo>
                  <a:pt x="0" y="0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7" name="select.network.weight1-1-2">
            <a:extLst>
              <a:ext uri="{FF2B5EF4-FFF2-40B4-BE49-F238E27FC236}">
                <a16:creationId xmlns:a16="http://schemas.microsoft.com/office/drawing/2014/main" id="{76EB537B-87C8-4E6D-8900-201E6CCE1786}"/>
              </a:ext>
            </a:extLst>
          </p:cNvPr>
          <p:cNvSpPr>
            <a:spLocks noGrp="1"/>
          </p:cNvSpPr>
          <p:nvPr/>
        </p:nvSpPr>
        <p:spPr>
          <a:xfrm>
            <a:off x="8159750" y="2632472"/>
            <a:ext cx="587375" cy="269081"/>
          </a:xfrm>
          <a:custGeom>
            <a:avLst/>
            <a:gdLst/>
            <a:ahLst/>
            <a:cxnLst/>
            <a:rect l="0" t="0" r="0" b="0"/>
            <a:pathLst>
              <a:path w="587375" h="269081">
                <a:moveTo>
                  <a:pt x="0" y="0"/>
                </a:moveTo>
                <a:lnTo>
                  <a:pt x="587375" y="269081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8" name="select.network.weight1-1-3">
            <a:extLst>
              <a:ext uri="{FF2B5EF4-FFF2-40B4-BE49-F238E27FC236}">
                <a16:creationId xmlns:a16="http://schemas.microsoft.com/office/drawing/2014/main" id="{295359E8-AB08-446C-8758-6C3DB04AD5EA}"/>
              </a:ext>
            </a:extLst>
          </p:cNvPr>
          <p:cNvSpPr>
            <a:spLocks noGrp="1"/>
          </p:cNvSpPr>
          <p:nvPr/>
        </p:nvSpPr>
        <p:spPr>
          <a:xfrm>
            <a:off x="8159750" y="2632472"/>
            <a:ext cx="587375" cy="538163"/>
          </a:xfrm>
          <a:custGeom>
            <a:avLst/>
            <a:gdLst/>
            <a:ahLst/>
            <a:cxnLst/>
            <a:rect l="0" t="0" r="0" b="0"/>
            <a:pathLst>
              <a:path w="587375" h="538163">
                <a:moveTo>
                  <a:pt x="0" y="0"/>
                </a:moveTo>
                <a:lnTo>
                  <a:pt x="587375" y="538163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9" name="select.network.weight1-2-0">
            <a:extLst>
              <a:ext uri="{FF2B5EF4-FFF2-40B4-BE49-F238E27FC236}">
                <a16:creationId xmlns:a16="http://schemas.microsoft.com/office/drawing/2014/main" id="{6586B935-E821-41F0-9223-2A31DFCE2735}"/>
              </a:ext>
            </a:extLst>
          </p:cNvPr>
          <p:cNvSpPr>
            <a:spLocks noGrp="1"/>
          </p:cNvSpPr>
          <p:nvPr/>
        </p:nvSpPr>
        <p:spPr>
          <a:xfrm>
            <a:off x="8159750" y="2363391"/>
            <a:ext cx="587375" cy="538163"/>
          </a:xfrm>
          <a:custGeom>
            <a:avLst/>
            <a:gdLst/>
            <a:ahLst/>
            <a:cxnLst/>
            <a:rect l="0" t="0" r="0" b="0"/>
            <a:pathLst>
              <a:path w="587375" h="538163">
                <a:moveTo>
                  <a:pt x="0" y="538163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0" name="select.network.weight1-2-1">
            <a:extLst>
              <a:ext uri="{FF2B5EF4-FFF2-40B4-BE49-F238E27FC236}">
                <a16:creationId xmlns:a16="http://schemas.microsoft.com/office/drawing/2014/main" id="{1360ED48-99C2-4A50-ABEC-BFBFC024ACA3}"/>
              </a:ext>
            </a:extLst>
          </p:cNvPr>
          <p:cNvSpPr>
            <a:spLocks noGrp="1"/>
          </p:cNvSpPr>
          <p:nvPr/>
        </p:nvSpPr>
        <p:spPr>
          <a:xfrm>
            <a:off x="8159750" y="2632472"/>
            <a:ext cx="587375" cy="269081"/>
          </a:xfrm>
          <a:custGeom>
            <a:avLst/>
            <a:gdLst/>
            <a:ahLst/>
            <a:cxnLst/>
            <a:rect l="0" t="0" r="0" b="0"/>
            <a:pathLst>
              <a:path w="587375" h="269081">
                <a:moveTo>
                  <a:pt x="0" y="269081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1" name="select.network.weight1-2-2">
            <a:extLst>
              <a:ext uri="{FF2B5EF4-FFF2-40B4-BE49-F238E27FC236}">
                <a16:creationId xmlns:a16="http://schemas.microsoft.com/office/drawing/2014/main" id="{04711690-E5B9-4A74-9A35-883336095158}"/>
              </a:ext>
            </a:extLst>
          </p:cNvPr>
          <p:cNvSpPr>
            <a:spLocks noGrp="1"/>
          </p:cNvSpPr>
          <p:nvPr/>
        </p:nvSpPr>
        <p:spPr>
          <a:xfrm>
            <a:off x="8159750" y="2901553"/>
            <a:ext cx="587375" cy="953"/>
          </a:xfrm>
          <a:custGeom>
            <a:avLst/>
            <a:gdLst/>
            <a:ahLst/>
            <a:cxnLst/>
            <a:rect l="0" t="0" r="0" b="0"/>
            <a:pathLst>
              <a:path w="587375" h="953">
                <a:moveTo>
                  <a:pt x="0" y="0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2" name="select.network.weight1-2-3">
            <a:extLst>
              <a:ext uri="{FF2B5EF4-FFF2-40B4-BE49-F238E27FC236}">
                <a16:creationId xmlns:a16="http://schemas.microsoft.com/office/drawing/2014/main" id="{1F7B77AE-12D3-4038-A43F-8369A52581AA}"/>
              </a:ext>
            </a:extLst>
          </p:cNvPr>
          <p:cNvSpPr>
            <a:spLocks noGrp="1"/>
          </p:cNvSpPr>
          <p:nvPr/>
        </p:nvSpPr>
        <p:spPr>
          <a:xfrm>
            <a:off x="8159750" y="2901553"/>
            <a:ext cx="587375" cy="269081"/>
          </a:xfrm>
          <a:custGeom>
            <a:avLst/>
            <a:gdLst/>
            <a:ahLst/>
            <a:cxnLst/>
            <a:rect l="0" t="0" r="0" b="0"/>
            <a:pathLst>
              <a:path w="587375" h="269081">
                <a:moveTo>
                  <a:pt x="0" y="0"/>
                </a:moveTo>
                <a:lnTo>
                  <a:pt x="587375" y="269081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3" name="select.network.weight1-3-0">
            <a:extLst>
              <a:ext uri="{FF2B5EF4-FFF2-40B4-BE49-F238E27FC236}">
                <a16:creationId xmlns:a16="http://schemas.microsoft.com/office/drawing/2014/main" id="{29B20DE9-D4EA-4C60-A9BF-2980FC5B4144}"/>
              </a:ext>
            </a:extLst>
          </p:cNvPr>
          <p:cNvSpPr>
            <a:spLocks noGrp="1"/>
          </p:cNvSpPr>
          <p:nvPr/>
        </p:nvSpPr>
        <p:spPr>
          <a:xfrm>
            <a:off x="8159750" y="2363391"/>
            <a:ext cx="587375" cy="807244"/>
          </a:xfrm>
          <a:custGeom>
            <a:avLst/>
            <a:gdLst/>
            <a:ahLst/>
            <a:cxnLst/>
            <a:rect l="0" t="0" r="0" b="0"/>
            <a:pathLst>
              <a:path w="587375" h="807244">
                <a:moveTo>
                  <a:pt x="0" y="807244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4" name="select.network.weight1-3-1">
            <a:extLst>
              <a:ext uri="{FF2B5EF4-FFF2-40B4-BE49-F238E27FC236}">
                <a16:creationId xmlns:a16="http://schemas.microsoft.com/office/drawing/2014/main" id="{0DC5C48E-AD4D-4DD6-BFB5-A9DBFE9756F2}"/>
              </a:ext>
            </a:extLst>
          </p:cNvPr>
          <p:cNvSpPr>
            <a:spLocks noGrp="1"/>
          </p:cNvSpPr>
          <p:nvPr/>
        </p:nvSpPr>
        <p:spPr>
          <a:xfrm>
            <a:off x="8159750" y="2632472"/>
            <a:ext cx="587375" cy="538163"/>
          </a:xfrm>
          <a:custGeom>
            <a:avLst/>
            <a:gdLst/>
            <a:ahLst/>
            <a:cxnLst/>
            <a:rect l="0" t="0" r="0" b="0"/>
            <a:pathLst>
              <a:path w="587375" h="538163">
                <a:moveTo>
                  <a:pt x="0" y="538163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5" name="select.network.weight1-3-2">
            <a:extLst>
              <a:ext uri="{FF2B5EF4-FFF2-40B4-BE49-F238E27FC236}">
                <a16:creationId xmlns:a16="http://schemas.microsoft.com/office/drawing/2014/main" id="{0611CF00-0B00-4925-8CCA-D743873C12BD}"/>
              </a:ext>
            </a:extLst>
          </p:cNvPr>
          <p:cNvSpPr>
            <a:spLocks noGrp="1"/>
          </p:cNvSpPr>
          <p:nvPr/>
        </p:nvSpPr>
        <p:spPr>
          <a:xfrm>
            <a:off x="8159750" y="2901553"/>
            <a:ext cx="587375" cy="269081"/>
          </a:xfrm>
          <a:custGeom>
            <a:avLst/>
            <a:gdLst/>
            <a:ahLst/>
            <a:cxnLst/>
            <a:rect l="0" t="0" r="0" b="0"/>
            <a:pathLst>
              <a:path w="587375" h="269081">
                <a:moveTo>
                  <a:pt x="0" y="269081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6" name="select.network.weight1-3-3">
            <a:extLst>
              <a:ext uri="{FF2B5EF4-FFF2-40B4-BE49-F238E27FC236}">
                <a16:creationId xmlns:a16="http://schemas.microsoft.com/office/drawing/2014/main" id="{F966CDEB-36A5-4B90-9E1D-E60C44AF0836}"/>
              </a:ext>
            </a:extLst>
          </p:cNvPr>
          <p:cNvSpPr>
            <a:spLocks noGrp="1"/>
          </p:cNvSpPr>
          <p:nvPr/>
        </p:nvSpPr>
        <p:spPr>
          <a:xfrm>
            <a:off x="8159750" y="3170634"/>
            <a:ext cx="587375" cy="953"/>
          </a:xfrm>
          <a:custGeom>
            <a:avLst/>
            <a:gdLst/>
            <a:ahLst/>
            <a:cxnLst/>
            <a:rect l="0" t="0" r="0" b="0"/>
            <a:pathLst>
              <a:path w="587375" h="953">
                <a:moveTo>
                  <a:pt x="0" y="0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7" name="select.network.weight2-0-0">
            <a:extLst>
              <a:ext uri="{FF2B5EF4-FFF2-40B4-BE49-F238E27FC236}">
                <a16:creationId xmlns:a16="http://schemas.microsoft.com/office/drawing/2014/main" id="{6F9572A9-72B2-4973-80C8-97239FB7BCDB}"/>
              </a:ext>
            </a:extLst>
          </p:cNvPr>
          <p:cNvSpPr>
            <a:spLocks noGrp="1"/>
          </p:cNvSpPr>
          <p:nvPr/>
        </p:nvSpPr>
        <p:spPr>
          <a:xfrm>
            <a:off x="8747125" y="2363391"/>
            <a:ext cx="587375" cy="44847"/>
          </a:xfrm>
          <a:custGeom>
            <a:avLst/>
            <a:gdLst/>
            <a:ahLst/>
            <a:cxnLst/>
            <a:rect l="0" t="0" r="0" b="0"/>
            <a:pathLst>
              <a:path w="587375" h="44847">
                <a:moveTo>
                  <a:pt x="0" y="0"/>
                </a:moveTo>
                <a:lnTo>
                  <a:pt x="587375" y="44847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8" name="select.network.weight2-0-1">
            <a:extLst>
              <a:ext uri="{FF2B5EF4-FFF2-40B4-BE49-F238E27FC236}">
                <a16:creationId xmlns:a16="http://schemas.microsoft.com/office/drawing/2014/main" id="{732B9163-2743-409D-89F2-F49D10D5AECF}"/>
              </a:ext>
            </a:extLst>
          </p:cNvPr>
          <p:cNvSpPr>
            <a:spLocks noGrp="1"/>
          </p:cNvSpPr>
          <p:nvPr/>
        </p:nvSpPr>
        <p:spPr>
          <a:xfrm>
            <a:off x="8747125" y="2363391"/>
            <a:ext cx="587375" cy="403622"/>
          </a:xfrm>
          <a:custGeom>
            <a:avLst/>
            <a:gdLst/>
            <a:ahLst/>
            <a:cxnLst/>
            <a:rect l="0" t="0" r="0" b="0"/>
            <a:pathLst>
              <a:path w="587375" h="403622">
                <a:moveTo>
                  <a:pt x="0" y="0"/>
                </a:moveTo>
                <a:lnTo>
                  <a:pt x="587375" y="403622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9" name="select.network.weight2-0-2">
            <a:extLst>
              <a:ext uri="{FF2B5EF4-FFF2-40B4-BE49-F238E27FC236}">
                <a16:creationId xmlns:a16="http://schemas.microsoft.com/office/drawing/2014/main" id="{3BE1B14D-98AE-43DB-8BCB-D896736FB48E}"/>
              </a:ext>
            </a:extLst>
          </p:cNvPr>
          <p:cNvSpPr>
            <a:spLocks noGrp="1"/>
          </p:cNvSpPr>
          <p:nvPr/>
        </p:nvSpPr>
        <p:spPr>
          <a:xfrm>
            <a:off x="8747125" y="2363391"/>
            <a:ext cx="587375" cy="762397"/>
          </a:xfrm>
          <a:custGeom>
            <a:avLst/>
            <a:gdLst/>
            <a:ahLst/>
            <a:cxnLst/>
            <a:rect l="0" t="0" r="0" b="0"/>
            <a:pathLst>
              <a:path w="587375" h="762397">
                <a:moveTo>
                  <a:pt x="0" y="0"/>
                </a:moveTo>
                <a:lnTo>
                  <a:pt x="587375" y="762397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0" name="select.network.weight2-1-0">
            <a:extLst>
              <a:ext uri="{FF2B5EF4-FFF2-40B4-BE49-F238E27FC236}">
                <a16:creationId xmlns:a16="http://schemas.microsoft.com/office/drawing/2014/main" id="{3DFB1DD1-168E-4867-85CC-30C5756F9C75}"/>
              </a:ext>
            </a:extLst>
          </p:cNvPr>
          <p:cNvSpPr>
            <a:spLocks noGrp="1"/>
          </p:cNvSpPr>
          <p:nvPr/>
        </p:nvSpPr>
        <p:spPr>
          <a:xfrm>
            <a:off x="8747125" y="2408238"/>
            <a:ext cx="587375" cy="224234"/>
          </a:xfrm>
          <a:custGeom>
            <a:avLst/>
            <a:gdLst/>
            <a:ahLst/>
            <a:cxnLst/>
            <a:rect l="0" t="0" r="0" b="0"/>
            <a:pathLst>
              <a:path w="587375" h="224234">
                <a:moveTo>
                  <a:pt x="0" y="224234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1" name="select.network.weight2-1-1">
            <a:extLst>
              <a:ext uri="{FF2B5EF4-FFF2-40B4-BE49-F238E27FC236}">
                <a16:creationId xmlns:a16="http://schemas.microsoft.com/office/drawing/2014/main" id="{72FC0190-15F9-48EB-8654-02F726C0CBE6}"/>
              </a:ext>
            </a:extLst>
          </p:cNvPr>
          <p:cNvSpPr>
            <a:spLocks noGrp="1"/>
          </p:cNvSpPr>
          <p:nvPr/>
        </p:nvSpPr>
        <p:spPr>
          <a:xfrm>
            <a:off x="8747125" y="2632472"/>
            <a:ext cx="587375" cy="134541"/>
          </a:xfrm>
          <a:custGeom>
            <a:avLst/>
            <a:gdLst/>
            <a:ahLst/>
            <a:cxnLst/>
            <a:rect l="0" t="0" r="0" b="0"/>
            <a:pathLst>
              <a:path w="587375" h="134541">
                <a:moveTo>
                  <a:pt x="0" y="0"/>
                </a:moveTo>
                <a:lnTo>
                  <a:pt x="587375" y="134541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2" name="select.network.weight2-1-2">
            <a:extLst>
              <a:ext uri="{FF2B5EF4-FFF2-40B4-BE49-F238E27FC236}">
                <a16:creationId xmlns:a16="http://schemas.microsoft.com/office/drawing/2014/main" id="{50473EAE-652D-42D0-B541-FFD2C7A8A45A}"/>
              </a:ext>
            </a:extLst>
          </p:cNvPr>
          <p:cNvSpPr>
            <a:spLocks noGrp="1"/>
          </p:cNvSpPr>
          <p:nvPr/>
        </p:nvSpPr>
        <p:spPr>
          <a:xfrm>
            <a:off x="8747125" y="2632472"/>
            <a:ext cx="587375" cy="493316"/>
          </a:xfrm>
          <a:custGeom>
            <a:avLst/>
            <a:gdLst/>
            <a:ahLst/>
            <a:cxnLst/>
            <a:rect l="0" t="0" r="0" b="0"/>
            <a:pathLst>
              <a:path w="587375" h="493316">
                <a:moveTo>
                  <a:pt x="0" y="0"/>
                </a:moveTo>
                <a:lnTo>
                  <a:pt x="587375" y="493316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3" name="select.network.weight2-2-0">
            <a:extLst>
              <a:ext uri="{FF2B5EF4-FFF2-40B4-BE49-F238E27FC236}">
                <a16:creationId xmlns:a16="http://schemas.microsoft.com/office/drawing/2014/main" id="{FDFF83AD-5B6D-4CE3-8D81-29AC20819EA9}"/>
              </a:ext>
            </a:extLst>
          </p:cNvPr>
          <p:cNvSpPr>
            <a:spLocks noGrp="1"/>
          </p:cNvSpPr>
          <p:nvPr/>
        </p:nvSpPr>
        <p:spPr>
          <a:xfrm>
            <a:off x="8747125" y="2408238"/>
            <a:ext cx="587375" cy="493316"/>
          </a:xfrm>
          <a:custGeom>
            <a:avLst/>
            <a:gdLst/>
            <a:ahLst/>
            <a:cxnLst/>
            <a:rect l="0" t="0" r="0" b="0"/>
            <a:pathLst>
              <a:path w="587375" h="493316">
                <a:moveTo>
                  <a:pt x="0" y="493316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4" name="select.network.weight2-2-1">
            <a:extLst>
              <a:ext uri="{FF2B5EF4-FFF2-40B4-BE49-F238E27FC236}">
                <a16:creationId xmlns:a16="http://schemas.microsoft.com/office/drawing/2014/main" id="{A15EA51D-5634-4CCA-ACBE-6CC2EF432C28}"/>
              </a:ext>
            </a:extLst>
          </p:cNvPr>
          <p:cNvSpPr>
            <a:spLocks noGrp="1"/>
          </p:cNvSpPr>
          <p:nvPr/>
        </p:nvSpPr>
        <p:spPr>
          <a:xfrm>
            <a:off x="8747125" y="2767013"/>
            <a:ext cx="587375" cy="134541"/>
          </a:xfrm>
          <a:custGeom>
            <a:avLst/>
            <a:gdLst/>
            <a:ahLst/>
            <a:cxnLst/>
            <a:rect l="0" t="0" r="0" b="0"/>
            <a:pathLst>
              <a:path w="587375" h="134541">
                <a:moveTo>
                  <a:pt x="0" y="134541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5" name="select.network.weight2-2-2">
            <a:extLst>
              <a:ext uri="{FF2B5EF4-FFF2-40B4-BE49-F238E27FC236}">
                <a16:creationId xmlns:a16="http://schemas.microsoft.com/office/drawing/2014/main" id="{C0DB2306-F432-43B3-B694-16D78FBCD470}"/>
              </a:ext>
            </a:extLst>
          </p:cNvPr>
          <p:cNvSpPr>
            <a:spLocks noGrp="1"/>
          </p:cNvSpPr>
          <p:nvPr/>
        </p:nvSpPr>
        <p:spPr>
          <a:xfrm>
            <a:off x="8747125" y="2901553"/>
            <a:ext cx="587375" cy="224234"/>
          </a:xfrm>
          <a:custGeom>
            <a:avLst/>
            <a:gdLst/>
            <a:ahLst/>
            <a:cxnLst/>
            <a:rect l="0" t="0" r="0" b="0"/>
            <a:pathLst>
              <a:path w="587375" h="224234">
                <a:moveTo>
                  <a:pt x="0" y="0"/>
                </a:moveTo>
                <a:lnTo>
                  <a:pt x="587375" y="224234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6" name="select.network.weight2-3-0">
            <a:extLst>
              <a:ext uri="{FF2B5EF4-FFF2-40B4-BE49-F238E27FC236}">
                <a16:creationId xmlns:a16="http://schemas.microsoft.com/office/drawing/2014/main" id="{8FC36FA4-6392-41D5-BDD7-5CC894116F5A}"/>
              </a:ext>
            </a:extLst>
          </p:cNvPr>
          <p:cNvSpPr>
            <a:spLocks noGrp="1"/>
          </p:cNvSpPr>
          <p:nvPr/>
        </p:nvSpPr>
        <p:spPr>
          <a:xfrm>
            <a:off x="8747125" y="2408238"/>
            <a:ext cx="587375" cy="762397"/>
          </a:xfrm>
          <a:custGeom>
            <a:avLst/>
            <a:gdLst/>
            <a:ahLst/>
            <a:cxnLst/>
            <a:rect l="0" t="0" r="0" b="0"/>
            <a:pathLst>
              <a:path w="587375" h="762397">
                <a:moveTo>
                  <a:pt x="0" y="762397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7" name="select.network.weight2-3-1">
            <a:extLst>
              <a:ext uri="{FF2B5EF4-FFF2-40B4-BE49-F238E27FC236}">
                <a16:creationId xmlns:a16="http://schemas.microsoft.com/office/drawing/2014/main" id="{33138D67-946C-4D3F-86C5-2A49EED6342C}"/>
              </a:ext>
            </a:extLst>
          </p:cNvPr>
          <p:cNvSpPr>
            <a:spLocks noGrp="1"/>
          </p:cNvSpPr>
          <p:nvPr/>
        </p:nvSpPr>
        <p:spPr>
          <a:xfrm>
            <a:off x="8747125" y="2767013"/>
            <a:ext cx="587375" cy="403622"/>
          </a:xfrm>
          <a:custGeom>
            <a:avLst/>
            <a:gdLst/>
            <a:ahLst/>
            <a:cxnLst/>
            <a:rect l="0" t="0" r="0" b="0"/>
            <a:pathLst>
              <a:path w="587375" h="403622">
                <a:moveTo>
                  <a:pt x="0" y="403622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8" name="select.network.weight2-3-2">
            <a:extLst>
              <a:ext uri="{FF2B5EF4-FFF2-40B4-BE49-F238E27FC236}">
                <a16:creationId xmlns:a16="http://schemas.microsoft.com/office/drawing/2014/main" id="{2B284AB3-48E7-4582-939B-81B729CEF538}"/>
              </a:ext>
            </a:extLst>
          </p:cNvPr>
          <p:cNvSpPr>
            <a:spLocks noGrp="1"/>
          </p:cNvSpPr>
          <p:nvPr/>
        </p:nvSpPr>
        <p:spPr>
          <a:xfrm>
            <a:off x="8747125" y="3125788"/>
            <a:ext cx="587375" cy="44847"/>
          </a:xfrm>
          <a:custGeom>
            <a:avLst/>
            <a:gdLst/>
            <a:ahLst/>
            <a:cxnLst/>
            <a:rect l="0" t="0" r="0" b="0"/>
            <a:pathLst>
              <a:path w="587375" h="44847">
                <a:moveTo>
                  <a:pt x="0" y="44847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9" name="select.network.unit0-0">
            <a:extLst>
              <a:ext uri="{FF2B5EF4-FFF2-40B4-BE49-F238E27FC236}">
                <a16:creationId xmlns:a16="http://schemas.microsoft.com/office/drawing/2014/main" id="{1C6D2AB8-5AE1-4132-A655-6C06A2E786B2}"/>
              </a:ext>
            </a:extLst>
          </p:cNvPr>
          <p:cNvSpPr>
            <a:spLocks noGrp="1"/>
          </p:cNvSpPr>
          <p:nvPr/>
        </p:nvSpPr>
        <p:spPr>
          <a:xfrm>
            <a:off x="7477125" y="2312988"/>
            <a:ext cx="190500" cy="190500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70" name="select.network.unit0-1">
            <a:extLst>
              <a:ext uri="{FF2B5EF4-FFF2-40B4-BE49-F238E27FC236}">
                <a16:creationId xmlns:a16="http://schemas.microsoft.com/office/drawing/2014/main" id="{2327300E-AE99-4287-B5DB-EE446233282D}"/>
              </a:ext>
            </a:extLst>
          </p:cNvPr>
          <p:cNvSpPr>
            <a:spLocks noGrp="1"/>
          </p:cNvSpPr>
          <p:nvPr/>
        </p:nvSpPr>
        <p:spPr>
          <a:xfrm>
            <a:off x="7477125" y="2671763"/>
            <a:ext cx="190500" cy="190500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71" name="select.network.unit0-2">
            <a:extLst>
              <a:ext uri="{FF2B5EF4-FFF2-40B4-BE49-F238E27FC236}">
                <a16:creationId xmlns:a16="http://schemas.microsoft.com/office/drawing/2014/main" id="{4555FDC7-0916-4940-870F-D2067473DBFA}"/>
              </a:ext>
            </a:extLst>
          </p:cNvPr>
          <p:cNvSpPr>
            <a:spLocks noGrp="1"/>
          </p:cNvSpPr>
          <p:nvPr/>
        </p:nvSpPr>
        <p:spPr>
          <a:xfrm>
            <a:off x="7477125" y="3030538"/>
            <a:ext cx="190500" cy="190500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72" name="select.network.unit1-0">
            <a:extLst>
              <a:ext uri="{FF2B5EF4-FFF2-40B4-BE49-F238E27FC236}">
                <a16:creationId xmlns:a16="http://schemas.microsoft.com/office/drawing/2014/main" id="{808AB317-FED8-468F-8C49-7075B28D2A1A}"/>
              </a:ext>
            </a:extLst>
          </p:cNvPr>
          <p:cNvSpPr>
            <a:spLocks noGrp="1"/>
          </p:cNvSpPr>
          <p:nvPr/>
        </p:nvSpPr>
        <p:spPr>
          <a:xfrm>
            <a:off x="8064500" y="2268141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73" name="select.network.unit1-1">
            <a:extLst>
              <a:ext uri="{FF2B5EF4-FFF2-40B4-BE49-F238E27FC236}">
                <a16:creationId xmlns:a16="http://schemas.microsoft.com/office/drawing/2014/main" id="{FB784351-0E02-4C21-80FD-EAAFB4880BD9}"/>
              </a:ext>
            </a:extLst>
          </p:cNvPr>
          <p:cNvSpPr>
            <a:spLocks noGrp="1"/>
          </p:cNvSpPr>
          <p:nvPr/>
        </p:nvSpPr>
        <p:spPr>
          <a:xfrm>
            <a:off x="8064500" y="2537222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74" name="select.network.unit1-2">
            <a:extLst>
              <a:ext uri="{FF2B5EF4-FFF2-40B4-BE49-F238E27FC236}">
                <a16:creationId xmlns:a16="http://schemas.microsoft.com/office/drawing/2014/main" id="{81165D78-6C8C-4CD6-9E36-E7CBC3143FE0}"/>
              </a:ext>
            </a:extLst>
          </p:cNvPr>
          <p:cNvSpPr>
            <a:spLocks noGrp="1"/>
          </p:cNvSpPr>
          <p:nvPr/>
        </p:nvSpPr>
        <p:spPr>
          <a:xfrm>
            <a:off x="8064500" y="2806303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75" name="select.network.unit1-3">
            <a:extLst>
              <a:ext uri="{FF2B5EF4-FFF2-40B4-BE49-F238E27FC236}">
                <a16:creationId xmlns:a16="http://schemas.microsoft.com/office/drawing/2014/main" id="{BAD45146-6387-414E-A0AE-EBCC05F42395}"/>
              </a:ext>
            </a:extLst>
          </p:cNvPr>
          <p:cNvSpPr>
            <a:spLocks noGrp="1"/>
          </p:cNvSpPr>
          <p:nvPr/>
        </p:nvSpPr>
        <p:spPr>
          <a:xfrm>
            <a:off x="8064500" y="3075384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76" name="select.network.unit2-0">
            <a:extLst>
              <a:ext uri="{FF2B5EF4-FFF2-40B4-BE49-F238E27FC236}">
                <a16:creationId xmlns:a16="http://schemas.microsoft.com/office/drawing/2014/main" id="{6AB2CAB7-D5E8-417A-BDA7-8845CEA25FAA}"/>
              </a:ext>
            </a:extLst>
          </p:cNvPr>
          <p:cNvSpPr>
            <a:spLocks noGrp="1"/>
          </p:cNvSpPr>
          <p:nvPr/>
        </p:nvSpPr>
        <p:spPr>
          <a:xfrm>
            <a:off x="8651875" y="2268141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77" name="select.network.unit2-1">
            <a:extLst>
              <a:ext uri="{FF2B5EF4-FFF2-40B4-BE49-F238E27FC236}">
                <a16:creationId xmlns:a16="http://schemas.microsoft.com/office/drawing/2014/main" id="{72242C2B-8DE5-4664-9982-B5DCF9CA5A7B}"/>
              </a:ext>
            </a:extLst>
          </p:cNvPr>
          <p:cNvSpPr>
            <a:spLocks noGrp="1"/>
          </p:cNvSpPr>
          <p:nvPr/>
        </p:nvSpPr>
        <p:spPr>
          <a:xfrm>
            <a:off x="8651875" y="2537222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78" name="select.network.unit2-2">
            <a:extLst>
              <a:ext uri="{FF2B5EF4-FFF2-40B4-BE49-F238E27FC236}">
                <a16:creationId xmlns:a16="http://schemas.microsoft.com/office/drawing/2014/main" id="{A436AB11-1008-43CC-AF05-08FAE56EC4B1}"/>
              </a:ext>
            </a:extLst>
          </p:cNvPr>
          <p:cNvSpPr>
            <a:spLocks noGrp="1"/>
          </p:cNvSpPr>
          <p:nvPr/>
        </p:nvSpPr>
        <p:spPr>
          <a:xfrm>
            <a:off x="8651875" y="2806303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79" name="select.network.unit2-3">
            <a:extLst>
              <a:ext uri="{FF2B5EF4-FFF2-40B4-BE49-F238E27FC236}">
                <a16:creationId xmlns:a16="http://schemas.microsoft.com/office/drawing/2014/main" id="{0B9B9908-0EE4-4BE4-B093-D5CFBB0E3090}"/>
              </a:ext>
            </a:extLst>
          </p:cNvPr>
          <p:cNvSpPr>
            <a:spLocks noGrp="1"/>
          </p:cNvSpPr>
          <p:nvPr/>
        </p:nvSpPr>
        <p:spPr>
          <a:xfrm>
            <a:off x="8651875" y="3075384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80" name="select.network.unit3-0">
            <a:extLst>
              <a:ext uri="{FF2B5EF4-FFF2-40B4-BE49-F238E27FC236}">
                <a16:creationId xmlns:a16="http://schemas.microsoft.com/office/drawing/2014/main" id="{35EDFD4C-AF40-4916-86D8-D141EA59FAB6}"/>
              </a:ext>
            </a:extLst>
          </p:cNvPr>
          <p:cNvSpPr>
            <a:spLocks noGrp="1"/>
          </p:cNvSpPr>
          <p:nvPr/>
        </p:nvSpPr>
        <p:spPr>
          <a:xfrm>
            <a:off x="9239250" y="2312988"/>
            <a:ext cx="190500" cy="190500"/>
          </a:xfrm>
          <a:prstGeom prst="ellipse">
            <a:avLst/>
          </a:prstGeom>
          <a:solidFill>
            <a:srgbClr val="D19B66"/>
          </a:solidFill>
          <a:ln w="9525">
            <a:solidFill>
              <a:srgbClr val="FFFFFF"/>
            </a:solidFill>
          </a:ln>
        </p:spPr>
      </p:sp>
      <p:sp>
        <p:nvSpPr>
          <p:cNvPr id="81" name="select.network.unit3-1">
            <a:extLst>
              <a:ext uri="{FF2B5EF4-FFF2-40B4-BE49-F238E27FC236}">
                <a16:creationId xmlns:a16="http://schemas.microsoft.com/office/drawing/2014/main" id="{5EACAA42-6128-48BC-805D-D5917568919A}"/>
              </a:ext>
            </a:extLst>
          </p:cNvPr>
          <p:cNvSpPr>
            <a:spLocks noGrp="1"/>
          </p:cNvSpPr>
          <p:nvPr/>
        </p:nvSpPr>
        <p:spPr>
          <a:xfrm>
            <a:off x="9239250" y="2671763"/>
            <a:ext cx="190500" cy="190500"/>
          </a:xfrm>
          <a:prstGeom prst="ellipse">
            <a:avLst/>
          </a:prstGeom>
          <a:solidFill>
            <a:srgbClr val="D19B66"/>
          </a:solidFill>
          <a:ln w="9525">
            <a:solidFill>
              <a:srgbClr val="FFFFFF"/>
            </a:solidFill>
          </a:ln>
        </p:spPr>
      </p:sp>
      <p:sp>
        <p:nvSpPr>
          <p:cNvPr id="82" name="select.network.unit3-2">
            <a:extLst>
              <a:ext uri="{FF2B5EF4-FFF2-40B4-BE49-F238E27FC236}">
                <a16:creationId xmlns:a16="http://schemas.microsoft.com/office/drawing/2014/main" id="{EE638F93-EEBD-43FE-95DC-86155A81E575}"/>
              </a:ext>
            </a:extLst>
          </p:cNvPr>
          <p:cNvSpPr>
            <a:spLocks noGrp="1"/>
          </p:cNvSpPr>
          <p:nvPr/>
        </p:nvSpPr>
        <p:spPr>
          <a:xfrm>
            <a:off x="9239250" y="3030538"/>
            <a:ext cx="190500" cy="190500"/>
          </a:xfrm>
          <a:prstGeom prst="ellipse">
            <a:avLst/>
          </a:prstGeom>
          <a:solidFill>
            <a:srgbClr val="D19B66"/>
          </a:solidFill>
          <a:ln w="9525">
            <a:solidFill>
              <a:srgbClr val="FFFFFF"/>
            </a:solidFill>
          </a:ln>
        </p:spPr>
      </p:sp>
      <p:sp>
        <p:nvSpPr>
          <p:cNvPr id="83" name="select.network-title">
            <a:extLst>
              <a:ext uri="{FF2B5EF4-FFF2-40B4-BE49-F238E27FC236}">
                <a16:creationId xmlns:a16="http://schemas.microsoft.com/office/drawing/2014/main" id="{6C7EC355-8618-49D3-94DA-8A6A151EB75E}"/>
              </a:ext>
            </a:extLst>
          </p:cNvPr>
          <p:cNvSpPr>
            <a:spLocks noGrp="1"/>
          </p:cNvSpPr>
          <p:nvPr/>
        </p:nvSpPr>
        <p:spPr>
          <a:xfrm>
            <a:off x="7467600" y="1762125"/>
            <a:ext cx="1990725" cy="314325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候选评价</a:t>
            </a:r>
          </a:p>
        </p:txBody>
      </p:sp>
      <p:sp>
        <p:nvSpPr>
          <p:cNvPr id="84" name="select.network-note">
            <a:extLst>
              <a:ext uri="{FF2B5EF4-FFF2-40B4-BE49-F238E27FC236}">
                <a16:creationId xmlns:a16="http://schemas.microsoft.com/office/drawing/2014/main" id="{9E4A1559-81A5-49ED-B143-4D1418E9AA4A}"/>
              </a:ext>
            </a:extLst>
          </p:cNvPr>
          <p:cNvSpPr>
            <a:spLocks noGrp="1"/>
          </p:cNvSpPr>
          <p:nvPr/>
        </p:nvSpPr>
        <p:spPr>
          <a:xfrm>
            <a:off x="7429500" y="3505200"/>
            <a:ext cx="2095500" cy="2857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已训练模型</a:t>
            </a:r>
          </a:p>
        </p:txBody>
      </p:sp>
      <p:sp>
        <p:nvSpPr>
          <p:cNvPr id="85" name="select.to-choice">
            <a:extLst>
              <a:ext uri="{FF2B5EF4-FFF2-40B4-BE49-F238E27FC236}">
                <a16:creationId xmlns:a16="http://schemas.microsoft.com/office/drawing/2014/main" id="{61A27322-3873-4BF8-A17D-602E4592EB72}"/>
              </a:ext>
            </a:extLst>
          </p:cNvPr>
          <p:cNvSpPr>
            <a:spLocks noGrp="1"/>
          </p:cNvSpPr>
          <p:nvPr/>
        </p:nvSpPr>
        <p:spPr>
          <a:xfrm>
            <a:off x="9563100" y="2686050"/>
            <a:ext cx="30480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86" name="select.choice">
            <a:extLst>
              <a:ext uri="{FF2B5EF4-FFF2-40B4-BE49-F238E27FC236}">
                <a16:creationId xmlns:a16="http://schemas.microsoft.com/office/drawing/2014/main" id="{977220C4-2761-43C9-9286-112BAC476433}"/>
              </a:ext>
            </a:extLst>
          </p:cNvPr>
          <p:cNvSpPr>
            <a:spLocks noGrp="1"/>
          </p:cNvSpPr>
          <p:nvPr/>
        </p:nvSpPr>
        <p:spPr>
          <a:xfrm>
            <a:off x="10010775" y="2143125"/>
            <a:ext cx="1952625" cy="1657350"/>
          </a:xfrm>
          <a:prstGeom prst="rect">
            <a:avLst/>
          </a:prstGeom>
          <a:solidFill>
            <a:srgbClr val="FAEAD9"/>
          </a:solidFill>
          <a:ln w="12383">
            <a:noFill/>
            <a:prstDash val="solid"/>
          </a:ln>
        </p:spPr>
      </p:sp>
      <p:sp>
        <p:nvSpPr>
          <p:cNvPr id="87" name="select.choice-title">
            <a:extLst>
              <a:ext uri="{FF2B5EF4-FFF2-40B4-BE49-F238E27FC236}">
                <a16:creationId xmlns:a16="http://schemas.microsoft.com/office/drawing/2014/main" id="{395E52B1-DBA9-42CB-B98A-AF98C431C3DF}"/>
              </a:ext>
            </a:extLst>
          </p:cNvPr>
          <p:cNvSpPr>
            <a:spLocks noGrp="1"/>
          </p:cNvSpPr>
          <p:nvPr/>
        </p:nvSpPr>
        <p:spPr>
          <a:xfrm>
            <a:off x="10106025" y="2286000"/>
            <a:ext cx="1762125" cy="3238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选择偏移</a:t>
            </a:r>
          </a:p>
        </p:txBody>
      </p:sp>
      <p:sp>
        <p:nvSpPr>
          <p:cNvPr id="88" name="select.rule">
            <a:extLst>
              <a:ext uri="{FF2B5EF4-FFF2-40B4-BE49-F238E27FC236}">
                <a16:creationId xmlns:a16="http://schemas.microsoft.com/office/drawing/2014/main" id="{7DE95D05-9C7D-4326-ACC9-0A33D91F5DAD}"/>
              </a:ext>
            </a:extLst>
          </p:cNvPr>
          <p:cNvSpPr>
            <a:spLocks noGrp="1"/>
          </p:cNvSpPr>
          <p:nvPr/>
        </p:nvSpPr>
        <p:spPr>
          <a:xfrm>
            <a:off x="5429250" y="4295775"/>
            <a:ext cx="6286500" cy="352425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选择候选预测损失最低的偏移</a:t>
            </a:r>
          </a:p>
        </p:txBody>
      </p:sp>
      <p:sp>
        <p:nvSpPr>
          <p:cNvPr id="89" name="flow.select-to-mdm">
            <a:extLst>
              <a:ext uri="{FF2B5EF4-FFF2-40B4-BE49-F238E27FC236}">
                <a16:creationId xmlns:a16="http://schemas.microsoft.com/office/drawing/2014/main" id="{8FA74AEF-E3D7-43FB-A55A-B5798E0F56C9}"/>
              </a:ext>
            </a:extLst>
          </p:cNvPr>
          <p:cNvSpPr>
            <a:spLocks noGrp="1"/>
          </p:cNvSpPr>
          <p:nvPr/>
        </p:nvSpPr>
        <p:spPr>
          <a:xfrm>
            <a:off x="12372975" y="2914650"/>
            <a:ext cx="49530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90" name="mdm.boundary">
            <a:extLst>
              <a:ext uri="{FF2B5EF4-FFF2-40B4-BE49-F238E27FC236}">
                <a16:creationId xmlns:a16="http://schemas.microsoft.com/office/drawing/2014/main" id="{4FF75E46-4A75-404D-90D0-FFF1F7D70031}"/>
              </a:ext>
            </a:extLst>
          </p:cNvPr>
          <p:cNvSpPr>
            <a:spLocks noGrp="1"/>
          </p:cNvSpPr>
          <p:nvPr/>
        </p:nvSpPr>
        <p:spPr>
          <a:xfrm>
            <a:off x="13049250" y="1028700"/>
            <a:ext cx="4381500" cy="3981450"/>
          </a:xfrm>
          <a:prstGeom prst="rect">
            <a:avLst/>
          </a:prstGeom>
          <a:noFill/>
          <a:ln w="12383">
            <a:solidFill>
              <a:srgbClr val="9FBAA5"/>
            </a:solidFill>
            <a:prstDash val="dash"/>
          </a:ln>
        </p:spPr>
      </p:sp>
      <p:sp>
        <p:nvSpPr>
          <p:cNvPr id="91" name="mdm.header">
            <a:extLst>
              <a:ext uri="{FF2B5EF4-FFF2-40B4-BE49-F238E27FC236}">
                <a16:creationId xmlns:a16="http://schemas.microsoft.com/office/drawing/2014/main" id="{2315683F-26EF-4064-8751-D7288650F3B4}"/>
              </a:ext>
            </a:extLst>
          </p:cNvPr>
          <p:cNvSpPr>
            <a:spLocks noGrp="1"/>
          </p:cNvSpPr>
          <p:nvPr/>
        </p:nvSpPr>
        <p:spPr>
          <a:xfrm>
            <a:off x="13049250" y="1028700"/>
            <a:ext cx="4381500" cy="400050"/>
          </a:xfrm>
          <a:prstGeom prst="rect">
            <a:avLst/>
          </a:prstGeom>
          <a:solidFill>
            <a:srgbClr val="EAF1D8"/>
          </a:solidFill>
          <a:ln w="12383">
            <a:noFill/>
            <a:prstDash val="solid"/>
          </a:ln>
        </p:spPr>
      </p:sp>
      <p:sp>
        <p:nvSpPr>
          <p:cNvPr id="92" name="mdm.title">
            <a:extLst>
              <a:ext uri="{FF2B5EF4-FFF2-40B4-BE49-F238E27FC236}">
                <a16:creationId xmlns:a16="http://schemas.microsoft.com/office/drawing/2014/main" id="{73B03AC6-4FB9-4441-8588-E56B4A6BEB21}"/>
              </a:ext>
            </a:extLst>
          </p:cNvPr>
          <p:cNvSpPr>
            <a:spLocks noGrp="1"/>
          </p:cNvSpPr>
          <p:nvPr/>
        </p:nvSpPr>
        <p:spPr>
          <a:xfrm>
            <a:off x="13144500" y="1047750"/>
            <a:ext cx="419100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MDM估计</a:t>
            </a:r>
          </a:p>
        </p:txBody>
      </p:sp>
      <p:sp>
        <p:nvSpPr>
          <p:cNvPr id="93" name="mdm.location">
            <a:extLst>
              <a:ext uri="{FF2B5EF4-FFF2-40B4-BE49-F238E27FC236}">
                <a16:creationId xmlns:a16="http://schemas.microsoft.com/office/drawing/2014/main" id="{7C9D1082-810F-4F03-9F93-54D800A4205E}"/>
              </a:ext>
            </a:extLst>
          </p:cNvPr>
          <p:cNvSpPr>
            <a:spLocks noGrp="1"/>
          </p:cNvSpPr>
          <p:nvPr/>
        </p:nvSpPr>
        <p:spPr>
          <a:xfrm>
            <a:off x="13201650" y="2143125"/>
            <a:ext cx="4076700" cy="409575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所选偏移用于位置参数求解</a:t>
            </a:r>
          </a:p>
        </p:txBody>
      </p:sp>
      <p:sp>
        <p:nvSpPr>
          <p:cNvPr id="94" name="mdm.backsolve">
            <a:extLst>
              <a:ext uri="{FF2B5EF4-FFF2-40B4-BE49-F238E27FC236}">
                <a16:creationId xmlns:a16="http://schemas.microsoft.com/office/drawing/2014/main" id="{E5724170-DA15-47D5-B3DF-E22AE6E2B87A}"/>
              </a:ext>
            </a:extLst>
          </p:cNvPr>
          <p:cNvSpPr>
            <a:spLocks noGrp="1"/>
          </p:cNvSpPr>
          <p:nvPr/>
        </p:nvSpPr>
        <p:spPr>
          <a:xfrm>
            <a:off x="15240000" y="2847975"/>
            <a:ext cx="953" cy="400050"/>
          </a:xfrm>
          <a:custGeom>
            <a:avLst/>
            <a:gdLst/>
            <a:ahLst/>
            <a:cxnLst/>
            <a:rect l="0" t="0" r="0" b="0"/>
            <a:pathLst>
              <a:path w="953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95" name="mdm.backsolve.head">
            <a:extLst>
              <a:ext uri="{FF2B5EF4-FFF2-40B4-BE49-F238E27FC236}">
                <a16:creationId xmlns:a16="http://schemas.microsoft.com/office/drawing/2014/main" id="{23110FE8-FA78-4993-81A0-9EF799C52A44}"/>
              </a:ext>
            </a:extLst>
          </p:cNvPr>
          <p:cNvSpPr>
            <a:spLocks noGrp="1"/>
          </p:cNvSpPr>
          <p:nvPr/>
        </p:nvSpPr>
        <p:spPr>
          <a:xfrm>
            <a:off x="15198570" y="3162257"/>
            <a:ext cx="82861" cy="85768"/>
          </a:xfrm>
          <a:custGeom>
            <a:avLst/>
            <a:gdLst/>
            <a:ahLst/>
            <a:cxnLst/>
            <a:rect l="0" t="0" r="0" b="0"/>
            <a:pathLst>
              <a:path w="82861" h="85768">
                <a:moveTo>
                  <a:pt x="0" y="0"/>
                </a:moveTo>
                <a:lnTo>
                  <a:pt x="41430" y="85768"/>
                </a:lnTo>
                <a:lnTo>
                  <a:pt x="82861" y="0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96" name="mdm.beta">
            <a:extLst>
              <a:ext uri="{FF2B5EF4-FFF2-40B4-BE49-F238E27FC236}">
                <a16:creationId xmlns:a16="http://schemas.microsoft.com/office/drawing/2014/main" id="{35DFF56E-6B45-4B0F-94FB-6DE6843370C5}"/>
              </a:ext>
            </a:extLst>
          </p:cNvPr>
          <p:cNvSpPr>
            <a:spLocks noGrp="1"/>
          </p:cNvSpPr>
          <p:nvPr/>
        </p:nvSpPr>
        <p:spPr>
          <a:xfrm>
            <a:off x="13287375" y="3514725"/>
            <a:ext cx="390525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回代形状参数</a:t>
            </a:r>
          </a:p>
        </p:txBody>
      </p:sp>
      <p:sp>
        <p:nvSpPr>
          <p:cNvPr id="97" name="mdm.eta">
            <a:extLst>
              <a:ext uri="{FF2B5EF4-FFF2-40B4-BE49-F238E27FC236}">
                <a16:creationId xmlns:a16="http://schemas.microsoft.com/office/drawing/2014/main" id="{96DCDC07-FE48-4030-BF8B-26BEEB452552}"/>
              </a:ext>
            </a:extLst>
          </p:cNvPr>
          <p:cNvSpPr>
            <a:spLocks noGrp="1"/>
          </p:cNvSpPr>
          <p:nvPr/>
        </p:nvSpPr>
        <p:spPr>
          <a:xfrm>
            <a:off x="13220700" y="4029075"/>
            <a:ext cx="403860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伪尺度取均值得到尺度参数</a:t>
            </a:r>
          </a:p>
        </p:txBody>
      </p:sp>
      <p:sp>
        <p:nvSpPr>
          <p:cNvPr id="98" name="flow.mdm-to-output">
            <a:extLst>
              <a:ext uri="{FF2B5EF4-FFF2-40B4-BE49-F238E27FC236}">
                <a16:creationId xmlns:a16="http://schemas.microsoft.com/office/drawing/2014/main" id="{A2249B0A-F2B6-48A3-A77B-13B3A53C3D62}"/>
              </a:ext>
            </a:extLst>
          </p:cNvPr>
          <p:cNvSpPr>
            <a:spLocks noGrp="1"/>
          </p:cNvSpPr>
          <p:nvPr/>
        </p:nvSpPr>
        <p:spPr>
          <a:xfrm>
            <a:off x="17611725" y="2914650"/>
            <a:ext cx="49530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99" name="output.boundary">
            <a:extLst>
              <a:ext uri="{FF2B5EF4-FFF2-40B4-BE49-F238E27FC236}">
                <a16:creationId xmlns:a16="http://schemas.microsoft.com/office/drawing/2014/main" id="{027DAFDD-9ABD-4DD1-92A2-84CFDE7A28DE}"/>
              </a:ext>
            </a:extLst>
          </p:cNvPr>
          <p:cNvSpPr>
            <a:spLocks noGrp="1"/>
          </p:cNvSpPr>
          <p:nvPr/>
        </p:nvSpPr>
        <p:spPr>
          <a:xfrm>
            <a:off x="18288000" y="1028700"/>
            <a:ext cx="3619500" cy="3981450"/>
          </a:xfrm>
          <a:prstGeom prst="rect">
            <a:avLst/>
          </a:prstGeom>
          <a:noFill/>
          <a:ln w="12383">
            <a:solidFill>
              <a:srgbClr val="CFA582"/>
            </a:solidFill>
            <a:prstDash val="dash"/>
          </a:ln>
        </p:spPr>
      </p:sp>
      <p:sp>
        <p:nvSpPr>
          <p:cNvPr id="100" name="output.header">
            <a:extLst>
              <a:ext uri="{FF2B5EF4-FFF2-40B4-BE49-F238E27FC236}">
                <a16:creationId xmlns:a16="http://schemas.microsoft.com/office/drawing/2014/main" id="{3B064B38-E633-4B11-93C2-8FB290CA593E}"/>
              </a:ext>
            </a:extLst>
          </p:cNvPr>
          <p:cNvSpPr>
            <a:spLocks noGrp="1"/>
          </p:cNvSpPr>
          <p:nvPr/>
        </p:nvSpPr>
        <p:spPr>
          <a:xfrm>
            <a:off x="18288000" y="1028700"/>
            <a:ext cx="3619500" cy="400050"/>
          </a:xfrm>
          <a:prstGeom prst="rect">
            <a:avLst/>
          </a:prstGeom>
          <a:solidFill>
            <a:srgbClr val="FAEAD9"/>
          </a:solidFill>
          <a:ln w="12383">
            <a:noFill/>
            <a:prstDash val="solid"/>
          </a:ln>
        </p:spPr>
      </p:sp>
      <p:sp>
        <p:nvSpPr>
          <p:cNvPr id="101" name="output.title">
            <a:extLst>
              <a:ext uri="{FF2B5EF4-FFF2-40B4-BE49-F238E27FC236}">
                <a16:creationId xmlns:a16="http://schemas.microsoft.com/office/drawing/2014/main" id="{2E9843AB-7493-4052-9F7B-0036741FBEB3}"/>
              </a:ext>
            </a:extLst>
          </p:cNvPr>
          <p:cNvSpPr>
            <a:spLocks noGrp="1"/>
          </p:cNvSpPr>
          <p:nvPr/>
        </p:nvSpPr>
        <p:spPr>
          <a:xfrm>
            <a:off x="18383250" y="1047750"/>
            <a:ext cx="342900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参数输出</a:t>
            </a:r>
          </a:p>
        </p:txBody>
      </p:sp>
      <p:sp>
        <p:nvSpPr>
          <p:cNvPr id="102" name="output.label">
            <a:extLst>
              <a:ext uri="{FF2B5EF4-FFF2-40B4-BE49-F238E27FC236}">
                <a16:creationId xmlns:a16="http://schemas.microsoft.com/office/drawing/2014/main" id="{366CB187-45B0-4431-B2C7-2DF21BA066AE}"/>
              </a:ext>
            </a:extLst>
          </p:cNvPr>
          <p:cNvSpPr>
            <a:spLocks noGrp="1"/>
          </p:cNvSpPr>
          <p:nvPr/>
        </p:nvSpPr>
        <p:spPr>
          <a:xfrm>
            <a:off x="18430875" y="2133600"/>
            <a:ext cx="3333750" cy="4000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AMDM三参数估计</a:t>
            </a:r>
          </a:p>
        </p:txBody>
      </p:sp>
      <p:sp>
        <p:nvSpPr>
          <p:cNvPr id="103" name="output.meaning">
            <a:extLst>
              <a:ext uri="{FF2B5EF4-FFF2-40B4-BE49-F238E27FC236}">
                <a16:creationId xmlns:a16="http://schemas.microsoft.com/office/drawing/2014/main" id="{4AB90AD8-D933-4E69-B3AE-685F39E5456C}"/>
              </a:ext>
            </a:extLst>
          </p:cNvPr>
          <p:cNvSpPr>
            <a:spLocks noGrp="1"/>
          </p:cNvSpPr>
          <p:nvPr/>
        </p:nvSpPr>
        <p:spPr>
          <a:xfrm>
            <a:off x="18497550" y="4105275"/>
            <a:ext cx="320040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形状 · 尺度 · 位置</a:t>
            </a:r>
          </a:p>
        </p:txBody>
      </p:sp>
      <p:sp>
        <p:nvSpPr>
          <p:cNvPr id="104" name="flow.raw-sample">
            <a:extLst>
              <a:ext uri="{FF2B5EF4-FFF2-40B4-BE49-F238E27FC236}">
                <a16:creationId xmlns:a16="http://schemas.microsoft.com/office/drawing/2014/main" id="{9181AA5A-48BE-4F21-8026-D2A0ECECE99C}"/>
              </a:ext>
            </a:extLst>
          </p:cNvPr>
          <p:cNvSpPr>
            <a:spLocks noGrp="1"/>
          </p:cNvSpPr>
          <p:nvPr/>
        </p:nvSpPr>
        <p:spPr>
          <a:xfrm>
            <a:off x="2238375" y="5010150"/>
            <a:ext cx="13001625" cy="609600"/>
          </a:xfrm>
          <a:custGeom>
            <a:avLst/>
            <a:gdLst/>
            <a:ahLst/>
            <a:cxnLst/>
            <a:rect l="0" t="0" r="0" b="0"/>
            <a:pathLst>
              <a:path w="13001625" h="609600">
                <a:moveTo>
                  <a:pt x="0" y="0"/>
                </a:moveTo>
                <a:lnTo>
                  <a:pt x="0" y="609600"/>
                </a:lnTo>
                <a:lnTo>
                  <a:pt x="13001625" y="609600"/>
                </a:lnTo>
                <a:lnTo>
                  <a:pt x="13001625" y="0"/>
                </a:lnTo>
              </a:path>
            </a:pathLst>
          </a:custGeom>
          <a:noFill/>
          <a:ln w="15240">
            <a:solidFill>
              <a:srgbClr val="147AAA"/>
            </a:solidFill>
            <a:prstDash val="solid"/>
          </a:ln>
        </p:spPr>
      </p:sp>
      <p:sp>
        <p:nvSpPr>
          <p:cNvPr id="105" name="flow.raw-sample.head">
            <a:extLst>
              <a:ext uri="{FF2B5EF4-FFF2-40B4-BE49-F238E27FC236}">
                <a16:creationId xmlns:a16="http://schemas.microsoft.com/office/drawing/2014/main" id="{325ED266-64BB-4C96-B74C-982F7E222470}"/>
              </a:ext>
            </a:extLst>
          </p:cNvPr>
          <p:cNvSpPr>
            <a:spLocks noGrp="1"/>
          </p:cNvSpPr>
          <p:nvPr/>
        </p:nvSpPr>
        <p:spPr>
          <a:xfrm>
            <a:off x="15198570" y="5010150"/>
            <a:ext cx="82861" cy="85768"/>
          </a:xfrm>
          <a:custGeom>
            <a:avLst/>
            <a:gdLst/>
            <a:ahLst/>
            <a:cxnLst/>
            <a:rect l="0" t="0" r="0" b="0"/>
            <a:pathLst>
              <a:path w="82861" h="85768">
                <a:moveTo>
                  <a:pt x="82861" y="85768"/>
                </a:moveTo>
                <a:lnTo>
                  <a:pt x="41430" y="0"/>
                </a:lnTo>
                <a:lnTo>
                  <a:pt x="0" y="85768"/>
                </a:lnTo>
              </a:path>
            </a:pathLst>
          </a:custGeom>
          <a:noFill/>
          <a:ln w="15240">
            <a:solidFill>
              <a:srgbClr val="147AAA"/>
            </a:solidFill>
            <a:prstDash val="solid"/>
          </a:ln>
        </p:spPr>
      </p:sp>
      <p:sp>
        <p:nvSpPr>
          <p:cNvPr id="106" name="flow.raw-label-bg">
            <a:extLst>
              <a:ext uri="{FF2B5EF4-FFF2-40B4-BE49-F238E27FC236}">
                <a16:creationId xmlns:a16="http://schemas.microsoft.com/office/drawing/2014/main" id="{85C5A978-5359-48DE-9684-48D6C46F34F2}"/>
              </a:ext>
            </a:extLst>
          </p:cNvPr>
          <p:cNvSpPr>
            <a:spLocks noGrp="1"/>
          </p:cNvSpPr>
          <p:nvPr/>
        </p:nvSpPr>
        <p:spPr>
          <a:xfrm>
            <a:off x="5362575" y="5410200"/>
            <a:ext cx="6819900" cy="409575"/>
          </a:xfrm>
          <a:prstGeom prst="rect">
            <a:avLst/>
          </a:prstGeom>
          <a:solidFill>
            <a:srgbClr val="FFFFFF"/>
          </a:solidFill>
          <a:ln w="12383">
            <a:noFill/>
            <a:prstDash val="solid"/>
          </a:ln>
        </p:spPr>
      </p:sp>
      <p:sp>
        <p:nvSpPr>
          <p:cNvPr id="107" name="flow.raw-label">
            <a:extLst>
              <a:ext uri="{FF2B5EF4-FFF2-40B4-BE49-F238E27FC236}">
                <a16:creationId xmlns:a16="http://schemas.microsoft.com/office/drawing/2014/main" id="{7243D0CE-48E3-427B-8847-ADE2715D6A09}"/>
              </a:ext>
            </a:extLst>
          </p:cNvPr>
          <p:cNvSpPr>
            <a:spLocks noGrp="1"/>
          </p:cNvSpPr>
          <p:nvPr/>
        </p:nvSpPr>
        <p:spPr>
          <a:xfrm>
            <a:off x="5429250" y="5429250"/>
            <a:ext cx="6686550" cy="371475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原始寿命样本直接传入MDM，保留寿命尺度</a:t>
            </a:r>
          </a:p>
        </p:txBody>
      </p:sp>
      <p:graphicFrame>
        <p:nvGraphicFramePr>
          <p:cNvPr id="109" name="MathType.sample.vector">
            <a:extLst>
              <a:ext uri="{FF2B5EF4-FFF2-40B4-BE49-F238E27FC236}">
                <a16:creationId xmlns:a16="http://schemas.microsoft.com/office/drawing/2014/main" id="{82AAD9A6-AF0B-559D-320F-BFC5DA5A08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6925994"/>
              </p:ext>
            </p:extLst>
          </p:nvPr>
        </p:nvGraphicFramePr>
        <p:xfrm>
          <a:off x="1271588" y="2960687"/>
          <a:ext cx="1933575" cy="460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66680" imgH="253800" progId="Equation.DSMT4">
                  <p:embed/>
                </p:oleObj>
              </mc:Choice>
              <mc:Fallback>
                <p:oleObj name="Equation" r:id="rId3" imgW="10666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71588" y="2960687"/>
                        <a:ext cx="1933575" cy="4603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" name="MathType.select.delta">
            <a:extLst>
              <a:ext uri="{FF2B5EF4-FFF2-40B4-BE49-F238E27FC236}">
                <a16:creationId xmlns:a16="http://schemas.microsoft.com/office/drawing/2014/main" id="{C6A97CFB-0719-4779-AA3C-D78D69C7AF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4333791"/>
              </p:ext>
            </p:extLst>
          </p:nvPr>
        </p:nvGraphicFramePr>
        <p:xfrm>
          <a:off x="10607278" y="2900362"/>
          <a:ext cx="759619" cy="523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8280" imgH="253800" progId="Equation.DSMT4">
                  <p:embed/>
                </p:oleObj>
              </mc:Choice>
              <mc:Fallback>
                <p:oleObj name="Equation" r:id="rId5" imgW="3682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607278" y="2900362"/>
                        <a:ext cx="759619" cy="5238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" name="MathType.output.parameters">
            <a:extLst>
              <a:ext uri="{FF2B5EF4-FFF2-40B4-BE49-F238E27FC236}">
                <a16:creationId xmlns:a16="http://schemas.microsoft.com/office/drawing/2014/main" id="{FE28F909-A810-E904-9CD2-B259157D56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9866145"/>
              </p:ext>
            </p:extLst>
          </p:nvPr>
        </p:nvGraphicFramePr>
        <p:xfrm>
          <a:off x="19447669" y="2977752"/>
          <a:ext cx="1300163" cy="588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33160" imgH="241200" progId="Equation.DSMT4">
                  <p:embed/>
                </p:oleObj>
              </mc:Choice>
              <mc:Fallback>
                <p:oleObj name="Equation" r:id="rId7" imgW="5331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447669" y="2977752"/>
                        <a:ext cx="1300163" cy="5881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545385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</Words>
  <Application>Microsoft Office PowerPoint</Application>
  <DocSecurity>0</DocSecurity>
  <PresentationFormat>自定义</PresentationFormat>
  <Paragraphs>19</Paragraphs>
  <Slides>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Calibri</vt:lpstr>
      <vt:lpstr>ChatGPT</vt:lpstr>
      <vt:lpstr>MathType 7.0 Equation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H60655@365mak.com</cp:lastModifiedBy>
  <cp:revision>1</cp:revision>
  <dcterms:created xsi:type="dcterms:W3CDTF">2026-09-23T06:32:03Z</dcterms:created>
  <dcterms:modified xsi:type="dcterms:W3CDTF">2026-09-23T06:32:09Z</dcterms:modified>
</cp:coreProperties>
</file>