
<file path=[Content_Types].xml><?xml version="1.0" encoding="utf-8"?>
<Types xmlns="http://schemas.openxmlformats.org/package/2006/content-types">
  <Default Extension="bin" ContentType="application/vnd.openxmlformats-officedocument.oleObject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22885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AMDM</a:t>
            </a:r>
            <a:r>
              <a:rPr lang="zh-CN" altLang="en-US"/>
              <a:t>计算机制图，符号与稿件</a:t>
            </a:r>
            <a:r>
              <a:rPr lang="en-US" altLang="zh-CN"/>
              <a:t>2.2–2.5</a:t>
            </a:r>
            <a:r>
              <a:rPr lang="zh-CN" altLang="en-US"/>
              <a:t>一致。排序观测与中位秩概率给出伪尺度，标准差及对形状参数的条件最小值形成位置求解准则。位置求解判据中的偏移由当前样本的候选损失预测自适应确定，然后回代形状与尺度参数，输出完整三参数估计。位置约束与边界处理沿用</a:t>
            </a:r>
            <a:r>
              <a:rPr lang="en-US" altLang="zh-CN"/>
              <a:t>2.3</a:t>
            </a:r>
            <a:r>
              <a:rPr lang="zh-CN" altLang="en-US"/>
              <a:t>。下方仅给出预测与选择关系，不展开网络训练。各式为</a:t>
            </a:r>
            <a:r>
              <a:rPr lang="en-US" altLang="zh-CN"/>
              <a:t>MathType</a:t>
            </a:r>
            <a:r>
              <a:rPr lang="zh-CN" altLang="en-US"/>
              <a:t>对象。散点复用</a:t>
            </a:r>
            <a:r>
              <a:rPr lang="en-US" altLang="zh-CN"/>
              <a:t>F01</a:t>
            </a:r>
            <a:r>
              <a:rPr lang="zh-CN" altLang="en-US"/>
              <a:t>既有样本；无新模拟、梯度曲线或性能证据。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main.boundary">
            <a:extLst>
              <a:ext uri="{FF2B5EF4-FFF2-40B4-BE49-F238E27FC236}">
                <a16:creationId xmlns:a16="http://schemas.microsoft.com/office/drawing/2014/main" id="{B86B15DE-2E27-4D4F-849D-5A225650DD4D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21717000" cy="5429250"/>
          </a:xfrm>
          <a:prstGeom prst="rect">
            <a:avLst/>
          </a:prstGeom>
          <a:solidFill>
            <a:srgbClr val="FFFFFF"/>
          </a:solidFill>
          <a:ln w="12383">
            <a:solidFill>
              <a:srgbClr val="9FBAA5"/>
            </a:solidFill>
            <a:prstDash val="dash"/>
          </a:ln>
        </p:spPr>
      </p:sp>
      <p:sp>
        <p:nvSpPr>
          <p:cNvPr id="2" name="main.sample.header">
            <a:extLst>
              <a:ext uri="{FF2B5EF4-FFF2-40B4-BE49-F238E27FC236}">
                <a16:creationId xmlns:a16="http://schemas.microsoft.com/office/drawing/2014/main" id="{A8468B86-35A9-41DA-AD33-61A83E65699A}"/>
              </a:ext>
            </a:extLst>
          </p:cNvPr>
          <p:cNvSpPr>
            <a:spLocks noGrp="1"/>
          </p:cNvSpPr>
          <p:nvPr/>
        </p:nvSpPr>
        <p:spPr>
          <a:xfrm>
            <a:off x="523875" y="523875"/>
            <a:ext cx="3286125" cy="400050"/>
          </a:xfrm>
          <a:prstGeom prst="rect">
            <a:avLst/>
          </a:prstGeom>
          <a:solidFill>
            <a:srgbClr val="A8C0E5"/>
          </a:solidFill>
          <a:ln w="12383">
            <a:noFill/>
            <a:prstDash val="solid"/>
          </a:ln>
        </p:spPr>
      </p:sp>
      <p:sp>
        <p:nvSpPr>
          <p:cNvPr id="3" name="main.sample.title">
            <a:extLst>
              <a:ext uri="{FF2B5EF4-FFF2-40B4-BE49-F238E27FC236}">
                <a16:creationId xmlns:a16="http://schemas.microsoft.com/office/drawing/2014/main" id="{8CC9BD32-9CD5-4922-8BD7-A68C48837383}"/>
              </a:ext>
            </a:extLst>
          </p:cNvPr>
          <p:cNvSpPr>
            <a:spLocks noGrp="1"/>
          </p:cNvSpPr>
          <p:nvPr/>
        </p:nvSpPr>
        <p:spPr>
          <a:xfrm>
            <a:off x="571500" y="542925"/>
            <a:ext cx="3190875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观测样本</a:t>
            </a:r>
          </a:p>
        </p:txBody>
      </p:sp>
      <p:sp>
        <p:nvSpPr>
          <p:cNvPr id="4" name="main.sample.axis">
            <a:extLst>
              <a:ext uri="{FF2B5EF4-FFF2-40B4-BE49-F238E27FC236}">
                <a16:creationId xmlns:a16="http://schemas.microsoft.com/office/drawing/2014/main" id="{19078530-7E80-434D-A70C-309A764C49EC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2657475" cy="953"/>
          </a:xfrm>
          <a:custGeom>
            <a:avLst/>
            <a:gdLst/>
            <a:ahLst/>
            <a:cxnLst/>
            <a:rect l="0" t="0" r="0" b="0"/>
            <a:pathLst>
              <a:path w="2657475" h="953">
                <a:moveTo>
                  <a:pt x="0" y="0"/>
                </a:moveTo>
                <a:lnTo>
                  <a:pt x="2657475" y="0"/>
                </a:lnTo>
              </a:path>
            </a:pathLst>
          </a:custGeom>
          <a:noFill/>
          <a:ln w="9525">
            <a:solidFill>
              <a:srgbClr val="B5BEC5"/>
            </a:solidFill>
            <a:prstDash val="solid"/>
          </a:ln>
        </p:spPr>
      </p:sp>
      <p:sp>
        <p:nvSpPr>
          <p:cNvPr id="5" name="main.sample.stem0">
            <a:extLst>
              <a:ext uri="{FF2B5EF4-FFF2-40B4-BE49-F238E27FC236}">
                <a16:creationId xmlns:a16="http://schemas.microsoft.com/office/drawing/2014/main" id="{83D7716C-8ED8-439C-A30C-FD97082FE5A5}"/>
              </a:ext>
            </a:extLst>
          </p:cNvPr>
          <p:cNvSpPr>
            <a:spLocks noGrp="1"/>
          </p:cNvSpPr>
          <p:nvPr/>
        </p:nvSpPr>
        <p:spPr>
          <a:xfrm>
            <a:off x="981075" y="163830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6" name="main.sample.dot0">
            <a:extLst>
              <a:ext uri="{FF2B5EF4-FFF2-40B4-BE49-F238E27FC236}">
                <a16:creationId xmlns:a16="http://schemas.microsoft.com/office/drawing/2014/main" id="{0B0D8574-E07B-4A0D-A8B0-BF332DFB18F5}"/>
              </a:ext>
            </a:extLst>
          </p:cNvPr>
          <p:cNvSpPr>
            <a:spLocks noGrp="1"/>
          </p:cNvSpPr>
          <p:nvPr/>
        </p:nvSpPr>
        <p:spPr>
          <a:xfrm>
            <a:off x="938213" y="159543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7" name="main.sample.stem1">
            <a:extLst>
              <a:ext uri="{FF2B5EF4-FFF2-40B4-BE49-F238E27FC236}">
                <a16:creationId xmlns:a16="http://schemas.microsoft.com/office/drawing/2014/main" id="{26144523-3D58-485B-AEC4-E4FB6C287751}"/>
              </a:ext>
            </a:extLst>
          </p:cNvPr>
          <p:cNvSpPr>
            <a:spLocks noGrp="1"/>
          </p:cNvSpPr>
          <p:nvPr/>
        </p:nvSpPr>
        <p:spPr>
          <a:xfrm>
            <a:off x="1038174" y="163830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8" name="main.sample.dot1">
            <a:extLst>
              <a:ext uri="{FF2B5EF4-FFF2-40B4-BE49-F238E27FC236}">
                <a16:creationId xmlns:a16="http://schemas.microsoft.com/office/drawing/2014/main" id="{40170B00-C438-4EFF-A4A0-BC1AA0A74C22}"/>
              </a:ext>
            </a:extLst>
          </p:cNvPr>
          <p:cNvSpPr>
            <a:spLocks noGrp="1"/>
          </p:cNvSpPr>
          <p:nvPr/>
        </p:nvSpPr>
        <p:spPr>
          <a:xfrm>
            <a:off x="995311" y="159543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9" name="main.sample.stem2">
            <a:extLst>
              <a:ext uri="{FF2B5EF4-FFF2-40B4-BE49-F238E27FC236}">
                <a16:creationId xmlns:a16="http://schemas.microsoft.com/office/drawing/2014/main" id="{565B4856-5E13-408E-B354-DC8A0C49E1FE}"/>
              </a:ext>
            </a:extLst>
          </p:cNvPr>
          <p:cNvSpPr>
            <a:spLocks noGrp="1"/>
          </p:cNvSpPr>
          <p:nvPr/>
        </p:nvSpPr>
        <p:spPr>
          <a:xfrm>
            <a:off x="1714881" y="163830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0" name="main.sample.dot2">
            <a:extLst>
              <a:ext uri="{FF2B5EF4-FFF2-40B4-BE49-F238E27FC236}">
                <a16:creationId xmlns:a16="http://schemas.microsoft.com/office/drawing/2014/main" id="{ECD129FD-2C91-44EA-8094-66526FB52653}"/>
              </a:ext>
            </a:extLst>
          </p:cNvPr>
          <p:cNvSpPr>
            <a:spLocks noGrp="1"/>
          </p:cNvSpPr>
          <p:nvPr/>
        </p:nvSpPr>
        <p:spPr>
          <a:xfrm>
            <a:off x="1672019" y="159543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1" name="main.sample.stem3">
            <a:extLst>
              <a:ext uri="{FF2B5EF4-FFF2-40B4-BE49-F238E27FC236}">
                <a16:creationId xmlns:a16="http://schemas.microsoft.com/office/drawing/2014/main" id="{D562008A-AF43-4E6E-A579-F9590E6F6A3D}"/>
              </a:ext>
            </a:extLst>
          </p:cNvPr>
          <p:cNvSpPr>
            <a:spLocks noGrp="1"/>
          </p:cNvSpPr>
          <p:nvPr/>
        </p:nvSpPr>
        <p:spPr>
          <a:xfrm>
            <a:off x="1931831" y="163830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2" name="main.sample.dot3">
            <a:extLst>
              <a:ext uri="{FF2B5EF4-FFF2-40B4-BE49-F238E27FC236}">
                <a16:creationId xmlns:a16="http://schemas.microsoft.com/office/drawing/2014/main" id="{19547824-739D-4A83-A5B6-129D492EC76A}"/>
              </a:ext>
            </a:extLst>
          </p:cNvPr>
          <p:cNvSpPr>
            <a:spLocks noGrp="1"/>
          </p:cNvSpPr>
          <p:nvPr/>
        </p:nvSpPr>
        <p:spPr>
          <a:xfrm>
            <a:off x="1888968" y="159543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3" name="main.sample.stem4">
            <a:extLst>
              <a:ext uri="{FF2B5EF4-FFF2-40B4-BE49-F238E27FC236}">
                <a16:creationId xmlns:a16="http://schemas.microsoft.com/office/drawing/2014/main" id="{2A826E28-1B7D-43FD-99A6-0DCF88EF2036}"/>
              </a:ext>
            </a:extLst>
          </p:cNvPr>
          <p:cNvSpPr>
            <a:spLocks noGrp="1"/>
          </p:cNvSpPr>
          <p:nvPr/>
        </p:nvSpPr>
        <p:spPr>
          <a:xfrm>
            <a:off x="2022960" y="163830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4" name="main.sample.dot4">
            <a:extLst>
              <a:ext uri="{FF2B5EF4-FFF2-40B4-BE49-F238E27FC236}">
                <a16:creationId xmlns:a16="http://schemas.microsoft.com/office/drawing/2014/main" id="{285573B5-7D62-4BCA-B6B8-3705DE7BEE7C}"/>
              </a:ext>
            </a:extLst>
          </p:cNvPr>
          <p:cNvSpPr>
            <a:spLocks noGrp="1"/>
          </p:cNvSpPr>
          <p:nvPr/>
        </p:nvSpPr>
        <p:spPr>
          <a:xfrm>
            <a:off x="1980098" y="159543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5" name="main.sample.stem5">
            <a:extLst>
              <a:ext uri="{FF2B5EF4-FFF2-40B4-BE49-F238E27FC236}">
                <a16:creationId xmlns:a16="http://schemas.microsoft.com/office/drawing/2014/main" id="{9FF31AEB-51A8-4056-BEF8-A5B77DEC2C20}"/>
              </a:ext>
            </a:extLst>
          </p:cNvPr>
          <p:cNvSpPr>
            <a:spLocks noGrp="1"/>
          </p:cNvSpPr>
          <p:nvPr/>
        </p:nvSpPr>
        <p:spPr>
          <a:xfrm>
            <a:off x="2485324" y="163830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6" name="main.sample.dot5">
            <a:extLst>
              <a:ext uri="{FF2B5EF4-FFF2-40B4-BE49-F238E27FC236}">
                <a16:creationId xmlns:a16="http://schemas.microsoft.com/office/drawing/2014/main" id="{7E84C281-7A80-4F62-908F-89D291998F18}"/>
              </a:ext>
            </a:extLst>
          </p:cNvPr>
          <p:cNvSpPr>
            <a:spLocks noGrp="1"/>
          </p:cNvSpPr>
          <p:nvPr/>
        </p:nvSpPr>
        <p:spPr>
          <a:xfrm>
            <a:off x="2442462" y="159543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7" name="main.sample.stem6">
            <a:extLst>
              <a:ext uri="{FF2B5EF4-FFF2-40B4-BE49-F238E27FC236}">
                <a16:creationId xmlns:a16="http://schemas.microsoft.com/office/drawing/2014/main" id="{5849743B-1331-4CA3-ABA2-95B1AFA5F5BC}"/>
              </a:ext>
            </a:extLst>
          </p:cNvPr>
          <p:cNvSpPr>
            <a:spLocks noGrp="1"/>
          </p:cNvSpPr>
          <p:nvPr/>
        </p:nvSpPr>
        <p:spPr>
          <a:xfrm>
            <a:off x="3352800" y="163830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8" name="main.sample.dot6">
            <a:extLst>
              <a:ext uri="{FF2B5EF4-FFF2-40B4-BE49-F238E27FC236}">
                <a16:creationId xmlns:a16="http://schemas.microsoft.com/office/drawing/2014/main" id="{13357483-05C1-4AA1-824D-88D48C1F2CE8}"/>
              </a:ext>
            </a:extLst>
          </p:cNvPr>
          <p:cNvSpPr>
            <a:spLocks noGrp="1"/>
          </p:cNvSpPr>
          <p:nvPr/>
        </p:nvSpPr>
        <p:spPr>
          <a:xfrm>
            <a:off x="3309938" y="159543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9" name="main.rank-label">
            <a:extLst>
              <a:ext uri="{FF2B5EF4-FFF2-40B4-BE49-F238E27FC236}">
                <a16:creationId xmlns:a16="http://schemas.microsoft.com/office/drawing/2014/main" id="{D501365D-6967-4FA4-92CB-CB587817D512}"/>
              </a:ext>
            </a:extLst>
          </p:cNvPr>
          <p:cNvSpPr>
            <a:spLocks noGrp="1"/>
          </p:cNvSpPr>
          <p:nvPr/>
        </p:nvSpPr>
        <p:spPr>
          <a:xfrm>
            <a:off x="619125" y="3295650"/>
            <a:ext cx="3095625" cy="33337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中位秩概率</a:t>
            </a:r>
          </a:p>
        </p:txBody>
      </p:sp>
      <p:sp>
        <p:nvSpPr>
          <p:cNvPr id="20" name="main.sample-to-criterion">
            <a:extLst>
              <a:ext uri="{FF2B5EF4-FFF2-40B4-BE49-F238E27FC236}">
                <a16:creationId xmlns:a16="http://schemas.microsoft.com/office/drawing/2014/main" id="{8FB46019-271A-4BF5-BD83-28A889C04EF9}"/>
              </a:ext>
            </a:extLst>
          </p:cNvPr>
          <p:cNvSpPr>
            <a:spLocks noGrp="1"/>
          </p:cNvSpPr>
          <p:nvPr/>
        </p:nvSpPr>
        <p:spPr>
          <a:xfrm>
            <a:off x="3943350" y="2828925"/>
            <a:ext cx="3619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21" name="main.criterion.header">
            <a:extLst>
              <a:ext uri="{FF2B5EF4-FFF2-40B4-BE49-F238E27FC236}">
                <a16:creationId xmlns:a16="http://schemas.microsoft.com/office/drawing/2014/main" id="{21D74ABE-6E35-49F7-AC90-551BBA4EF100}"/>
              </a:ext>
            </a:extLst>
          </p:cNvPr>
          <p:cNvSpPr>
            <a:spLocks noGrp="1"/>
          </p:cNvSpPr>
          <p:nvPr/>
        </p:nvSpPr>
        <p:spPr>
          <a:xfrm>
            <a:off x="4429125" y="523875"/>
            <a:ext cx="6096000" cy="400050"/>
          </a:xfrm>
          <a:prstGeom prst="rect">
            <a:avLst/>
          </a:prstGeom>
          <a:solidFill>
            <a:srgbClr val="EAF1D8"/>
          </a:solidFill>
          <a:ln w="12383">
            <a:noFill/>
            <a:prstDash val="solid"/>
          </a:ln>
        </p:spPr>
      </p:sp>
      <p:sp>
        <p:nvSpPr>
          <p:cNvPr id="22" name="main.criterion.title">
            <a:extLst>
              <a:ext uri="{FF2B5EF4-FFF2-40B4-BE49-F238E27FC236}">
                <a16:creationId xmlns:a16="http://schemas.microsoft.com/office/drawing/2014/main" id="{89242539-DD4F-4493-B44E-7D7BF7C6D0E0}"/>
              </a:ext>
            </a:extLst>
          </p:cNvPr>
          <p:cNvSpPr>
            <a:spLocks noGrp="1"/>
          </p:cNvSpPr>
          <p:nvPr/>
        </p:nvSpPr>
        <p:spPr>
          <a:xfrm>
            <a:off x="4476750" y="542925"/>
            <a:ext cx="60007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由样本构造最小差异准则</a:t>
            </a:r>
          </a:p>
        </p:txBody>
      </p:sp>
      <p:sp>
        <p:nvSpPr>
          <p:cNvPr id="23" name="main.pseudo-to-sd">
            <a:extLst>
              <a:ext uri="{FF2B5EF4-FFF2-40B4-BE49-F238E27FC236}">
                <a16:creationId xmlns:a16="http://schemas.microsoft.com/office/drawing/2014/main" id="{CD4A084A-7778-4AAF-8578-3E7CC52D6279}"/>
              </a:ext>
            </a:extLst>
          </p:cNvPr>
          <p:cNvSpPr>
            <a:spLocks noGrp="1"/>
          </p:cNvSpPr>
          <p:nvPr/>
        </p:nvSpPr>
        <p:spPr>
          <a:xfrm>
            <a:off x="7477125" y="2505075"/>
            <a:ext cx="953" cy="238125"/>
          </a:xfrm>
          <a:custGeom>
            <a:avLst/>
            <a:gdLst/>
            <a:ahLst/>
            <a:cxnLst/>
            <a:rect l="0" t="0" r="0" b="0"/>
            <a:pathLst>
              <a:path w="953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24" name="main.pseudo-to-sd.head">
            <a:extLst>
              <a:ext uri="{FF2B5EF4-FFF2-40B4-BE49-F238E27FC236}">
                <a16:creationId xmlns:a16="http://schemas.microsoft.com/office/drawing/2014/main" id="{935B574E-2DC9-40BB-8E76-D8E57080DE8A}"/>
              </a:ext>
            </a:extLst>
          </p:cNvPr>
          <p:cNvSpPr>
            <a:spLocks noGrp="1"/>
          </p:cNvSpPr>
          <p:nvPr/>
        </p:nvSpPr>
        <p:spPr>
          <a:xfrm>
            <a:off x="7435695" y="2657432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25" name="main.sd-to-profile">
            <a:extLst>
              <a:ext uri="{FF2B5EF4-FFF2-40B4-BE49-F238E27FC236}">
                <a16:creationId xmlns:a16="http://schemas.microsoft.com/office/drawing/2014/main" id="{28317509-0B9A-441A-89AA-2D993CABF370}"/>
              </a:ext>
            </a:extLst>
          </p:cNvPr>
          <p:cNvSpPr>
            <a:spLocks noGrp="1"/>
          </p:cNvSpPr>
          <p:nvPr/>
        </p:nvSpPr>
        <p:spPr>
          <a:xfrm>
            <a:off x="7477125" y="3752850"/>
            <a:ext cx="953" cy="238125"/>
          </a:xfrm>
          <a:custGeom>
            <a:avLst/>
            <a:gdLst/>
            <a:ahLst/>
            <a:cxnLst/>
            <a:rect l="0" t="0" r="0" b="0"/>
            <a:pathLst>
              <a:path w="953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26" name="main.sd-to-profile.head">
            <a:extLst>
              <a:ext uri="{FF2B5EF4-FFF2-40B4-BE49-F238E27FC236}">
                <a16:creationId xmlns:a16="http://schemas.microsoft.com/office/drawing/2014/main" id="{46379680-34C2-4074-91EE-D940EB385A9C}"/>
              </a:ext>
            </a:extLst>
          </p:cNvPr>
          <p:cNvSpPr>
            <a:spLocks noGrp="1"/>
          </p:cNvSpPr>
          <p:nvPr/>
        </p:nvSpPr>
        <p:spPr>
          <a:xfrm>
            <a:off x="7435695" y="3905207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27" name="main.criterion-to-location">
            <a:extLst>
              <a:ext uri="{FF2B5EF4-FFF2-40B4-BE49-F238E27FC236}">
                <a16:creationId xmlns:a16="http://schemas.microsoft.com/office/drawing/2014/main" id="{37B47EC7-8C9D-4BF6-AD98-890962D51BA4}"/>
              </a:ext>
            </a:extLst>
          </p:cNvPr>
          <p:cNvSpPr>
            <a:spLocks noGrp="1"/>
          </p:cNvSpPr>
          <p:nvPr/>
        </p:nvSpPr>
        <p:spPr>
          <a:xfrm>
            <a:off x="10668000" y="2828925"/>
            <a:ext cx="3619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28" name="main.location.header">
            <a:extLst>
              <a:ext uri="{FF2B5EF4-FFF2-40B4-BE49-F238E27FC236}">
                <a16:creationId xmlns:a16="http://schemas.microsoft.com/office/drawing/2014/main" id="{ECE2397E-6A24-4354-AA58-CE305C84F9E6}"/>
              </a:ext>
            </a:extLst>
          </p:cNvPr>
          <p:cNvSpPr>
            <a:spLocks noGrp="1"/>
          </p:cNvSpPr>
          <p:nvPr/>
        </p:nvSpPr>
        <p:spPr>
          <a:xfrm>
            <a:off x="11144250" y="523875"/>
            <a:ext cx="4191000" cy="400050"/>
          </a:xfrm>
          <a:prstGeom prst="rect">
            <a:avLst/>
          </a:prstGeom>
          <a:solidFill>
            <a:srgbClr val="EAF1D8"/>
          </a:solidFill>
          <a:ln w="12383">
            <a:noFill/>
            <a:prstDash val="solid"/>
          </a:ln>
        </p:spPr>
      </p:sp>
      <p:sp>
        <p:nvSpPr>
          <p:cNvPr id="29" name="main.location.title">
            <a:extLst>
              <a:ext uri="{FF2B5EF4-FFF2-40B4-BE49-F238E27FC236}">
                <a16:creationId xmlns:a16="http://schemas.microsoft.com/office/drawing/2014/main" id="{098A8499-A02B-4CB2-9CF1-F3D59C362938}"/>
              </a:ext>
            </a:extLst>
          </p:cNvPr>
          <p:cNvSpPr>
            <a:spLocks noGrp="1"/>
          </p:cNvSpPr>
          <p:nvPr/>
        </p:nvSpPr>
        <p:spPr>
          <a:xfrm>
            <a:off x="11191875" y="542925"/>
            <a:ext cx="40957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位置参数求解</a:t>
            </a:r>
          </a:p>
        </p:txBody>
      </p:sp>
      <p:sp>
        <p:nvSpPr>
          <p:cNvPr id="30" name="main.gradient-to-root">
            <a:extLst>
              <a:ext uri="{FF2B5EF4-FFF2-40B4-BE49-F238E27FC236}">
                <a16:creationId xmlns:a16="http://schemas.microsoft.com/office/drawing/2014/main" id="{A9B920F1-F76C-465C-A186-1A6783E78D71}"/>
              </a:ext>
            </a:extLst>
          </p:cNvPr>
          <p:cNvSpPr>
            <a:spLocks noGrp="1"/>
          </p:cNvSpPr>
          <p:nvPr/>
        </p:nvSpPr>
        <p:spPr>
          <a:xfrm>
            <a:off x="13239750" y="2743200"/>
            <a:ext cx="953" cy="295275"/>
          </a:xfrm>
          <a:custGeom>
            <a:avLst/>
            <a:gdLst/>
            <a:ahLst/>
            <a:cxnLst/>
            <a:rect l="0" t="0" r="0" b="0"/>
            <a:pathLst>
              <a:path w="953" h="295275">
                <a:moveTo>
                  <a:pt x="0" y="0"/>
                </a:moveTo>
                <a:lnTo>
                  <a:pt x="0" y="295275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31" name="main.gradient-to-root.head">
            <a:extLst>
              <a:ext uri="{FF2B5EF4-FFF2-40B4-BE49-F238E27FC236}">
                <a16:creationId xmlns:a16="http://schemas.microsoft.com/office/drawing/2014/main" id="{188BF788-AB24-48D5-A6B9-D8F29E6E6BE9}"/>
              </a:ext>
            </a:extLst>
          </p:cNvPr>
          <p:cNvSpPr>
            <a:spLocks noGrp="1"/>
          </p:cNvSpPr>
          <p:nvPr/>
        </p:nvSpPr>
        <p:spPr>
          <a:xfrm>
            <a:off x="13198320" y="2952707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32" name="main.root-highlight">
            <a:extLst>
              <a:ext uri="{FF2B5EF4-FFF2-40B4-BE49-F238E27FC236}">
                <a16:creationId xmlns:a16="http://schemas.microsoft.com/office/drawing/2014/main" id="{01DFCF06-B482-4F6C-92E9-EE489C760C39}"/>
              </a:ext>
            </a:extLst>
          </p:cNvPr>
          <p:cNvSpPr>
            <a:spLocks noGrp="1"/>
          </p:cNvSpPr>
          <p:nvPr/>
        </p:nvSpPr>
        <p:spPr>
          <a:xfrm>
            <a:off x="11258550" y="3257550"/>
            <a:ext cx="3962400" cy="933450"/>
          </a:xfrm>
          <a:prstGeom prst="rect">
            <a:avLst/>
          </a:prstGeom>
          <a:solidFill>
            <a:srgbClr val="FAEAD9"/>
          </a:solidFill>
          <a:ln w="12383">
            <a:solidFill>
              <a:srgbClr val="D5AA85"/>
            </a:solidFill>
            <a:prstDash val="solid"/>
          </a:ln>
        </p:spPr>
      </p:sp>
      <p:sp>
        <p:nvSpPr>
          <p:cNvPr id="33" name="main.location-to-backsolve">
            <a:extLst>
              <a:ext uri="{FF2B5EF4-FFF2-40B4-BE49-F238E27FC236}">
                <a16:creationId xmlns:a16="http://schemas.microsoft.com/office/drawing/2014/main" id="{D087F848-6B8F-4891-ACAE-5E1ADB52410E}"/>
              </a:ext>
            </a:extLst>
          </p:cNvPr>
          <p:cNvSpPr>
            <a:spLocks noGrp="1"/>
          </p:cNvSpPr>
          <p:nvPr/>
        </p:nvSpPr>
        <p:spPr>
          <a:xfrm>
            <a:off x="15478125" y="2828925"/>
            <a:ext cx="371475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34" name="main.solve.header">
            <a:extLst>
              <a:ext uri="{FF2B5EF4-FFF2-40B4-BE49-F238E27FC236}">
                <a16:creationId xmlns:a16="http://schemas.microsoft.com/office/drawing/2014/main" id="{9E9EE151-D9EA-4F0F-8F8E-7FB9ECC54117}"/>
              </a:ext>
            </a:extLst>
          </p:cNvPr>
          <p:cNvSpPr>
            <a:spLocks noGrp="1"/>
          </p:cNvSpPr>
          <p:nvPr/>
        </p:nvSpPr>
        <p:spPr>
          <a:xfrm>
            <a:off x="16002000" y="523875"/>
            <a:ext cx="5810250" cy="400050"/>
          </a:xfrm>
          <a:prstGeom prst="rect">
            <a:avLst/>
          </a:prstGeom>
          <a:solidFill>
            <a:srgbClr val="EAF1D8"/>
          </a:solidFill>
          <a:ln w="12383">
            <a:noFill/>
            <a:prstDash val="solid"/>
          </a:ln>
        </p:spPr>
      </p:sp>
      <p:sp>
        <p:nvSpPr>
          <p:cNvPr id="35" name="main.solve.title">
            <a:extLst>
              <a:ext uri="{FF2B5EF4-FFF2-40B4-BE49-F238E27FC236}">
                <a16:creationId xmlns:a16="http://schemas.microsoft.com/office/drawing/2014/main" id="{D9478AAF-17CD-4A3D-BB3D-F9A3F7B3A085}"/>
              </a:ext>
            </a:extLst>
          </p:cNvPr>
          <p:cNvSpPr>
            <a:spLocks noGrp="1"/>
          </p:cNvSpPr>
          <p:nvPr/>
        </p:nvSpPr>
        <p:spPr>
          <a:xfrm>
            <a:off x="16049625" y="542925"/>
            <a:ext cx="571500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形状、尺度回代与估计结果</a:t>
            </a:r>
          </a:p>
        </p:txBody>
      </p:sp>
      <p:sp>
        <p:nvSpPr>
          <p:cNvPr id="36" name="main.beta-to-eta">
            <a:extLst>
              <a:ext uri="{FF2B5EF4-FFF2-40B4-BE49-F238E27FC236}">
                <a16:creationId xmlns:a16="http://schemas.microsoft.com/office/drawing/2014/main" id="{8D7DE775-13AF-416C-B1C0-E0FE44193F59}"/>
              </a:ext>
            </a:extLst>
          </p:cNvPr>
          <p:cNvSpPr>
            <a:spLocks noGrp="1"/>
          </p:cNvSpPr>
          <p:nvPr/>
        </p:nvSpPr>
        <p:spPr>
          <a:xfrm>
            <a:off x="18907125" y="2447925"/>
            <a:ext cx="953" cy="247650"/>
          </a:xfrm>
          <a:custGeom>
            <a:avLst/>
            <a:gdLst/>
            <a:ahLst/>
            <a:cxnLst/>
            <a:rect l="0" t="0" r="0" b="0"/>
            <a:pathLst>
              <a:path w="953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37" name="main.beta-to-eta.head">
            <a:extLst>
              <a:ext uri="{FF2B5EF4-FFF2-40B4-BE49-F238E27FC236}">
                <a16:creationId xmlns:a16="http://schemas.microsoft.com/office/drawing/2014/main" id="{6A355634-D830-433B-AFB6-20CC66797259}"/>
              </a:ext>
            </a:extLst>
          </p:cNvPr>
          <p:cNvSpPr>
            <a:spLocks noGrp="1"/>
          </p:cNvSpPr>
          <p:nvPr/>
        </p:nvSpPr>
        <p:spPr>
          <a:xfrm>
            <a:off x="18865695" y="2609807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38" name="main.eta-to-result">
            <a:extLst>
              <a:ext uri="{FF2B5EF4-FFF2-40B4-BE49-F238E27FC236}">
                <a16:creationId xmlns:a16="http://schemas.microsoft.com/office/drawing/2014/main" id="{40A684E5-B099-48E9-97D5-77A6D672022D}"/>
              </a:ext>
            </a:extLst>
          </p:cNvPr>
          <p:cNvSpPr>
            <a:spLocks noGrp="1"/>
          </p:cNvSpPr>
          <p:nvPr/>
        </p:nvSpPr>
        <p:spPr>
          <a:xfrm>
            <a:off x="18907125" y="4000500"/>
            <a:ext cx="953" cy="238125"/>
          </a:xfrm>
          <a:custGeom>
            <a:avLst/>
            <a:gdLst/>
            <a:ahLst/>
            <a:cxnLst/>
            <a:rect l="0" t="0" r="0" b="0"/>
            <a:pathLst>
              <a:path w="953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39" name="main.eta-to-result.head">
            <a:extLst>
              <a:ext uri="{FF2B5EF4-FFF2-40B4-BE49-F238E27FC236}">
                <a16:creationId xmlns:a16="http://schemas.microsoft.com/office/drawing/2014/main" id="{1ACECBF3-01DC-445C-9E91-537A080361C8}"/>
              </a:ext>
            </a:extLst>
          </p:cNvPr>
          <p:cNvSpPr>
            <a:spLocks noGrp="1"/>
          </p:cNvSpPr>
          <p:nvPr/>
        </p:nvSpPr>
        <p:spPr>
          <a:xfrm>
            <a:off x="18865695" y="4152857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40" name="main.result-bg">
            <a:extLst>
              <a:ext uri="{FF2B5EF4-FFF2-40B4-BE49-F238E27FC236}">
                <a16:creationId xmlns:a16="http://schemas.microsoft.com/office/drawing/2014/main" id="{C1F80B21-53C1-4C25-ACBB-0DEAD1F54F28}"/>
              </a:ext>
            </a:extLst>
          </p:cNvPr>
          <p:cNvSpPr>
            <a:spLocks noGrp="1"/>
          </p:cNvSpPr>
          <p:nvPr/>
        </p:nvSpPr>
        <p:spPr>
          <a:xfrm>
            <a:off x="16716375" y="4429125"/>
            <a:ext cx="4381500" cy="971550"/>
          </a:xfrm>
          <a:prstGeom prst="rect">
            <a:avLst/>
          </a:prstGeom>
          <a:solidFill>
            <a:srgbClr val="FAEAD9"/>
          </a:solidFill>
          <a:ln w="12383">
            <a:noFill/>
            <a:prstDash val="solid"/>
          </a:ln>
        </p:spPr>
      </p:sp>
      <p:sp>
        <p:nvSpPr>
          <p:cNvPr id="41" name="main.result-label">
            <a:extLst>
              <a:ext uri="{FF2B5EF4-FFF2-40B4-BE49-F238E27FC236}">
                <a16:creationId xmlns:a16="http://schemas.microsoft.com/office/drawing/2014/main" id="{CA44E734-89BC-4FBB-AA80-D8110E857D50}"/>
              </a:ext>
            </a:extLst>
          </p:cNvPr>
          <p:cNvSpPr>
            <a:spLocks noGrp="1"/>
          </p:cNvSpPr>
          <p:nvPr/>
        </p:nvSpPr>
        <p:spPr>
          <a:xfrm>
            <a:off x="16859250" y="4476750"/>
            <a:ext cx="4095750" cy="3048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AMDM估计结果</a:t>
            </a:r>
          </a:p>
        </p:txBody>
      </p:sp>
      <p:sp>
        <p:nvSpPr>
          <p:cNvPr id="42" name="adapt.boundary">
            <a:extLst>
              <a:ext uri="{FF2B5EF4-FFF2-40B4-BE49-F238E27FC236}">
                <a16:creationId xmlns:a16="http://schemas.microsoft.com/office/drawing/2014/main" id="{F7AA1064-45CD-42A7-8FCA-95C20A213E2F}"/>
              </a:ext>
            </a:extLst>
          </p:cNvPr>
          <p:cNvSpPr>
            <a:spLocks noGrp="1"/>
          </p:cNvSpPr>
          <p:nvPr/>
        </p:nvSpPr>
        <p:spPr>
          <a:xfrm>
            <a:off x="5238750" y="7143750"/>
            <a:ext cx="10001250" cy="1619250"/>
          </a:xfrm>
          <a:prstGeom prst="rect">
            <a:avLst/>
          </a:prstGeom>
          <a:noFill/>
          <a:ln w="12383">
            <a:solidFill>
              <a:srgbClr val="6A92BD"/>
            </a:solidFill>
            <a:prstDash val="dash"/>
          </a:ln>
        </p:spPr>
      </p:sp>
      <p:sp>
        <p:nvSpPr>
          <p:cNvPr id="43" name="adapt.header">
            <a:extLst>
              <a:ext uri="{FF2B5EF4-FFF2-40B4-BE49-F238E27FC236}">
                <a16:creationId xmlns:a16="http://schemas.microsoft.com/office/drawing/2014/main" id="{629431A1-DF65-4181-92D6-F1EF086032FC}"/>
              </a:ext>
            </a:extLst>
          </p:cNvPr>
          <p:cNvSpPr>
            <a:spLocks noGrp="1"/>
          </p:cNvSpPr>
          <p:nvPr/>
        </p:nvSpPr>
        <p:spPr>
          <a:xfrm>
            <a:off x="5238750" y="7143750"/>
            <a:ext cx="10001250" cy="400050"/>
          </a:xfrm>
          <a:prstGeom prst="rect">
            <a:avLst/>
          </a:prstGeom>
          <a:solidFill>
            <a:srgbClr val="A8C0E5"/>
          </a:solidFill>
          <a:ln w="12383">
            <a:noFill/>
            <a:prstDash val="solid"/>
          </a:ln>
        </p:spPr>
      </p:sp>
      <p:sp>
        <p:nvSpPr>
          <p:cNvPr id="44" name="adapt.title">
            <a:extLst>
              <a:ext uri="{FF2B5EF4-FFF2-40B4-BE49-F238E27FC236}">
                <a16:creationId xmlns:a16="http://schemas.microsoft.com/office/drawing/2014/main" id="{37C4E33B-6B79-4B83-830E-E44320A1E0F4}"/>
              </a:ext>
            </a:extLst>
          </p:cNvPr>
          <p:cNvSpPr>
            <a:spLocks noGrp="1"/>
          </p:cNvSpPr>
          <p:nvPr/>
        </p:nvSpPr>
        <p:spPr>
          <a:xfrm>
            <a:off x="5334000" y="7162800"/>
            <a:ext cx="98107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当前样本给出位置求解所用的偏移</a:t>
            </a:r>
          </a:p>
        </p:txBody>
      </p:sp>
      <p:sp>
        <p:nvSpPr>
          <p:cNvPr id="45" name="adapt.prediction-label">
            <a:extLst>
              <a:ext uri="{FF2B5EF4-FFF2-40B4-BE49-F238E27FC236}">
                <a16:creationId xmlns:a16="http://schemas.microsoft.com/office/drawing/2014/main" id="{A429FC84-9A58-4651-ACB8-2FE360E73036}"/>
              </a:ext>
            </a:extLst>
          </p:cNvPr>
          <p:cNvSpPr>
            <a:spLocks noGrp="1"/>
          </p:cNvSpPr>
          <p:nvPr/>
        </p:nvSpPr>
        <p:spPr>
          <a:xfrm>
            <a:off x="5381625" y="7677150"/>
            <a:ext cx="2476500" cy="3048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候选损失预测</a:t>
            </a:r>
          </a:p>
        </p:txBody>
      </p:sp>
      <p:sp>
        <p:nvSpPr>
          <p:cNvPr id="46" name="adapt.predict-to-select">
            <a:extLst>
              <a:ext uri="{FF2B5EF4-FFF2-40B4-BE49-F238E27FC236}">
                <a16:creationId xmlns:a16="http://schemas.microsoft.com/office/drawing/2014/main" id="{FF6EDF06-12C2-4CA1-88FC-5AF64875343D}"/>
              </a:ext>
            </a:extLst>
          </p:cNvPr>
          <p:cNvSpPr>
            <a:spLocks noGrp="1"/>
          </p:cNvSpPr>
          <p:nvPr/>
        </p:nvSpPr>
        <p:spPr>
          <a:xfrm>
            <a:off x="8048625" y="8029575"/>
            <a:ext cx="428625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47" name="flow.sample-information">
            <a:extLst>
              <a:ext uri="{FF2B5EF4-FFF2-40B4-BE49-F238E27FC236}">
                <a16:creationId xmlns:a16="http://schemas.microsoft.com/office/drawing/2014/main" id="{37193994-A852-447E-97C3-0285A11232C7}"/>
              </a:ext>
            </a:extLst>
          </p:cNvPr>
          <p:cNvSpPr>
            <a:spLocks noGrp="1"/>
          </p:cNvSpPr>
          <p:nvPr/>
        </p:nvSpPr>
        <p:spPr>
          <a:xfrm>
            <a:off x="2162175" y="5524500"/>
            <a:ext cx="3076575" cy="2600325"/>
          </a:xfrm>
          <a:custGeom>
            <a:avLst/>
            <a:gdLst/>
            <a:ahLst/>
            <a:cxnLst/>
            <a:rect l="0" t="0" r="0" b="0"/>
            <a:pathLst>
              <a:path w="3076575" h="2600325">
                <a:moveTo>
                  <a:pt x="0" y="0"/>
                </a:moveTo>
                <a:lnTo>
                  <a:pt x="0" y="2600325"/>
                </a:lnTo>
                <a:lnTo>
                  <a:pt x="3076575" y="2600325"/>
                </a:lnTo>
              </a:path>
            </a:pathLst>
          </a:custGeom>
          <a:noFill/>
          <a:ln w="15240">
            <a:solidFill>
              <a:srgbClr val="147AAA"/>
            </a:solidFill>
            <a:prstDash val="solid"/>
          </a:ln>
        </p:spPr>
      </p:sp>
      <p:sp>
        <p:nvSpPr>
          <p:cNvPr id="48" name="flow.sample-information.head">
            <a:extLst>
              <a:ext uri="{FF2B5EF4-FFF2-40B4-BE49-F238E27FC236}">
                <a16:creationId xmlns:a16="http://schemas.microsoft.com/office/drawing/2014/main" id="{97431B4D-39D9-48D7-910E-58D8198D5DFB}"/>
              </a:ext>
            </a:extLst>
          </p:cNvPr>
          <p:cNvSpPr>
            <a:spLocks noGrp="1"/>
          </p:cNvSpPr>
          <p:nvPr/>
        </p:nvSpPr>
        <p:spPr>
          <a:xfrm>
            <a:off x="5152982" y="8083395"/>
            <a:ext cx="85768" cy="82861"/>
          </a:xfrm>
          <a:custGeom>
            <a:avLst/>
            <a:gdLst/>
            <a:ahLst/>
            <a:cxnLst/>
            <a:rect l="0" t="0" r="0" b="0"/>
            <a:pathLst>
              <a:path w="85768" h="82861">
                <a:moveTo>
                  <a:pt x="0" y="82861"/>
                </a:moveTo>
                <a:lnTo>
                  <a:pt x="85768" y="4143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47AAA"/>
            </a:solidFill>
            <a:prstDash val="solid"/>
          </a:ln>
        </p:spPr>
      </p:sp>
      <p:sp>
        <p:nvSpPr>
          <p:cNvPr id="49" name="flow.sample-label">
            <a:extLst>
              <a:ext uri="{FF2B5EF4-FFF2-40B4-BE49-F238E27FC236}">
                <a16:creationId xmlns:a16="http://schemas.microsoft.com/office/drawing/2014/main" id="{7216CF51-A73D-4DF5-B16A-59815A3A920D}"/>
              </a:ext>
            </a:extLst>
          </p:cNvPr>
          <p:cNvSpPr>
            <a:spLocks noGrp="1"/>
          </p:cNvSpPr>
          <p:nvPr/>
        </p:nvSpPr>
        <p:spPr>
          <a:xfrm>
            <a:off x="2428875" y="7715250"/>
            <a:ext cx="2381250" cy="3048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同一观测样本</a:t>
            </a:r>
          </a:p>
        </p:txBody>
      </p:sp>
      <p:sp>
        <p:nvSpPr>
          <p:cNvPr id="50" name="flow.offset">
            <a:extLst>
              <a:ext uri="{FF2B5EF4-FFF2-40B4-BE49-F238E27FC236}">
                <a16:creationId xmlns:a16="http://schemas.microsoft.com/office/drawing/2014/main" id="{03124F83-FC31-42A4-ACF6-F1788FF8CD3E}"/>
              </a:ext>
            </a:extLst>
          </p:cNvPr>
          <p:cNvSpPr>
            <a:spLocks noGrp="1"/>
          </p:cNvSpPr>
          <p:nvPr/>
        </p:nvSpPr>
        <p:spPr>
          <a:xfrm>
            <a:off x="13239750" y="4191000"/>
            <a:ext cx="2381250" cy="4019550"/>
          </a:xfrm>
          <a:custGeom>
            <a:avLst/>
            <a:gdLst/>
            <a:ahLst/>
            <a:cxnLst/>
            <a:rect l="0" t="0" r="0" b="0"/>
            <a:pathLst>
              <a:path w="2381250" h="4019550">
                <a:moveTo>
                  <a:pt x="2000250" y="4019550"/>
                </a:moveTo>
                <a:lnTo>
                  <a:pt x="2381250" y="4019550"/>
                </a:lnTo>
                <a:lnTo>
                  <a:pt x="2381250" y="2095500"/>
                </a:lnTo>
                <a:lnTo>
                  <a:pt x="0" y="209550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47AAA"/>
            </a:solidFill>
            <a:prstDash val="solid"/>
          </a:ln>
        </p:spPr>
      </p:sp>
      <p:sp>
        <p:nvSpPr>
          <p:cNvPr id="51" name="flow.offset.head">
            <a:extLst>
              <a:ext uri="{FF2B5EF4-FFF2-40B4-BE49-F238E27FC236}">
                <a16:creationId xmlns:a16="http://schemas.microsoft.com/office/drawing/2014/main" id="{FBC95C89-A236-43EF-9A1B-3CCCED6F02CD}"/>
              </a:ext>
            </a:extLst>
          </p:cNvPr>
          <p:cNvSpPr>
            <a:spLocks noGrp="1"/>
          </p:cNvSpPr>
          <p:nvPr/>
        </p:nvSpPr>
        <p:spPr>
          <a:xfrm>
            <a:off x="13198320" y="4191000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82861" y="85768"/>
                </a:moveTo>
                <a:lnTo>
                  <a:pt x="41430" y="0"/>
                </a:lnTo>
                <a:lnTo>
                  <a:pt x="0" y="85768"/>
                </a:lnTo>
              </a:path>
            </a:pathLst>
          </a:custGeom>
          <a:noFill/>
          <a:ln w="15240">
            <a:solidFill>
              <a:srgbClr val="147AAA"/>
            </a:solidFill>
            <a:prstDash val="solid"/>
          </a:ln>
        </p:spPr>
      </p:sp>
      <p:sp>
        <p:nvSpPr>
          <p:cNvPr id="52" name="flow.offset-label">
            <a:extLst>
              <a:ext uri="{FF2B5EF4-FFF2-40B4-BE49-F238E27FC236}">
                <a16:creationId xmlns:a16="http://schemas.microsoft.com/office/drawing/2014/main" id="{797C1D36-6B30-427E-87F3-9A573E5E80D9}"/>
              </a:ext>
            </a:extLst>
          </p:cNvPr>
          <p:cNvSpPr>
            <a:spLocks noGrp="1"/>
          </p:cNvSpPr>
          <p:nvPr/>
        </p:nvSpPr>
        <p:spPr>
          <a:xfrm>
            <a:off x="13716000" y="5886450"/>
            <a:ext cx="2286000" cy="3238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样本自适应偏移</a:t>
            </a:r>
          </a:p>
        </p:txBody>
      </p:sp>
      <p:graphicFrame>
        <p:nvGraphicFramePr>
          <p:cNvPr id="54" name="MathType.main.sample-vector">
            <a:extLst>
              <a:ext uri="{FF2B5EF4-FFF2-40B4-BE49-F238E27FC236}">
                <a16:creationId xmlns:a16="http://schemas.microsoft.com/office/drawing/2014/main" id="{44539523-9DC3-B21E-12A2-CDAF6634E6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701984"/>
              </p:ext>
            </p:extLst>
          </p:nvPr>
        </p:nvGraphicFramePr>
        <p:xfrm>
          <a:off x="1266825" y="2271712"/>
          <a:ext cx="1800225" cy="428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66680" imgH="253800" progId="Equation.DSMT4">
                  <p:embed/>
                </p:oleObj>
              </mc:Choice>
              <mc:Fallback>
                <p:oleObj name="Equation" r:id="rId3" imgW="10666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66825" y="2271712"/>
                        <a:ext cx="1800225" cy="4286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MathType.main.rank">
            <a:extLst>
              <a:ext uri="{FF2B5EF4-FFF2-40B4-BE49-F238E27FC236}">
                <a16:creationId xmlns:a16="http://schemas.microsoft.com/office/drawing/2014/main" id="{FD104288-818B-B58C-A68F-FB12CC1736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959600"/>
              </p:ext>
            </p:extLst>
          </p:nvPr>
        </p:nvGraphicFramePr>
        <p:xfrm>
          <a:off x="1194991" y="3909614"/>
          <a:ext cx="1943894" cy="762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02960" imgH="393480" progId="Equation.DSMT4">
                  <p:embed/>
                </p:oleObj>
              </mc:Choice>
              <mc:Fallback>
                <p:oleObj name="Equation" r:id="rId5" imgW="10029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94991" y="3909614"/>
                        <a:ext cx="1943894" cy="762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MathType.main.pseudo">
            <a:extLst>
              <a:ext uri="{FF2B5EF4-FFF2-40B4-BE49-F238E27FC236}">
                <a16:creationId xmlns:a16="http://schemas.microsoft.com/office/drawing/2014/main" id="{96E4A3BA-725D-392D-EEFC-42B97924B3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9183543"/>
              </p:ext>
            </p:extLst>
          </p:nvPr>
        </p:nvGraphicFramePr>
        <p:xfrm>
          <a:off x="5559596" y="1381125"/>
          <a:ext cx="383505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42920" imgH="482400" progId="Equation.DSMT4">
                  <p:embed/>
                </p:oleObj>
              </mc:Choice>
              <mc:Fallback>
                <p:oleObj name="Equation" r:id="rId7" imgW="19429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59596" y="1381125"/>
                        <a:ext cx="3835058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MathType.main.sd">
            <a:extLst>
              <a:ext uri="{FF2B5EF4-FFF2-40B4-BE49-F238E27FC236}">
                <a16:creationId xmlns:a16="http://schemas.microsoft.com/office/drawing/2014/main" id="{41F5D47A-09C3-9283-68EB-30279C9FE7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985495"/>
              </p:ext>
            </p:extLst>
          </p:nvPr>
        </p:nvGraphicFramePr>
        <p:xfrm>
          <a:off x="5890022" y="2985689"/>
          <a:ext cx="3174206" cy="467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41200" progId="Equation.DSMT4">
                  <p:embed/>
                </p:oleObj>
              </mc:Choice>
              <mc:Fallback>
                <p:oleObj name="Equation" r:id="rId9" imgW="1638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90022" y="2985689"/>
                        <a:ext cx="3174206" cy="4675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MathType.main.profile">
            <a:extLst>
              <a:ext uri="{FF2B5EF4-FFF2-40B4-BE49-F238E27FC236}">
                <a16:creationId xmlns:a16="http://schemas.microsoft.com/office/drawing/2014/main" id="{9523B178-B359-71C6-01B7-51D2D72485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324780"/>
              </p:ext>
            </p:extLst>
          </p:nvPr>
        </p:nvGraphicFramePr>
        <p:xfrm>
          <a:off x="5699125" y="4330699"/>
          <a:ext cx="3556000" cy="482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77680" imgH="241200" progId="Equation.DSMT4">
                  <p:embed/>
                </p:oleObj>
              </mc:Choice>
              <mc:Fallback>
                <p:oleObj name="Equation" r:id="rId11" imgW="1777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99125" y="4330699"/>
                        <a:ext cx="3556000" cy="4826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MathType.main.gradient">
            <a:extLst>
              <a:ext uri="{FF2B5EF4-FFF2-40B4-BE49-F238E27FC236}">
                <a16:creationId xmlns:a16="http://schemas.microsoft.com/office/drawing/2014/main" id="{F64007E7-AC18-CE82-FDEB-EB5010E0D3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5334015"/>
              </p:ext>
            </p:extLst>
          </p:nvPr>
        </p:nvGraphicFramePr>
        <p:xfrm>
          <a:off x="12074128" y="1503759"/>
          <a:ext cx="2331244" cy="916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30040" imgH="444240" progId="Equation.DSMT4">
                  <p:embed/>
                </p:oleObj>
              </mc:Choice>
              <mc:Fallback>
                <p:oleObj name="Equation" r:id="rId13" imgW="11300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074128" y="1503759"/>
                        <a:ext cx="2331244" cy="9167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MathType.main.root">
            <a:extLst>
              <a:ext uri="{FF2B5EF4-FFF2-40B4-BE49-F238E27FC236}">
                <a16:creationId xmlns:a16="http://schemas.microsoft.com/office/drawing/2014/main" id="{1750E8A6-D684-78F1-4E56-0C9BD98FFF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234808"/>
              </p:ext>
            </p:extLst>
          </p:nvPr>
        </p:nvGraphicFramePr>
        <p:xfrm>
          <a:off x="12401550" y="3462336"/>
          <a:ext cx="1676400" cy="523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12520" imgH="253800" progId="Equation.DSMT4">
                  <p:embed/>
                </p:oleObj>
              </mc:Choice>
              <mc:Fallback>
                <p:oleObj name="Equation" r:id="rId15" imgW="8125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401550" y="3462336"/>
                        <a:ext cx="1676400" cy="5238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MathType.main.beta">
            <a:extLst>
              <a:ext uri="{FF2B5EF4-FFF2-40B4-BE49-F238E27FC236}">
                <a16:creationId xmlns:a16="http://schemas.microsoft.com/office/drawing/2014/main" id="{4CED8C6D-94E4-C676-46F2-6AFD29F58B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820057"/>
              </p:ext>
            </p:extLst>
          </p:nvPr>
        </p:nvGraphicFramePr>
        <p:xfrm>
          <a:off x="17531953" y="1443037"/>
          <a:ext cx="2750344" cy="733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33440" imgH="355320" progId="Equation.DSMT4">
                  <p:embed/>
                </p:oleObj>
              </mc:Choice>
              <mc:Fallback>
                <p:oleObj name="Equation" r:id="rId17" imgW="13334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7531953" y="1443037"/>
                        <a:ext cx="2750344" cy="7334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MathType.main.eta">
            <a:extLst>
              <a:ext uri="{FF2B5EF4-FFF2-40B4-BE49-F238E27FC236}">
                <a16:creationId xmlns:a16="http://schemas.microsoft.com/office/drawing/2014/main" id="{66CF6EE6-4ABC-B640-E44E-B657DCF988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138947"/>
              </p:ext>
            </p:extLst>
          </p:nvPr>
        </p:nvGraphicFramePr>
        <p:xfrm>
          <a:off x="17812872" y="2895600"/>
          <a:ext cx="2188504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066680" imgH="431640" progId="Equation.DSMT4">
                  <p:embed/>
                </p:oleObj>
              </mc:Choice>
              <mc:Fallback>
                <p:oleObj name="Equation" r:id="rId19" imgW="10666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7812872" y="2895600"/>
                        <a:ext cx="2188504" cy="885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MathType.main.parameters">
            <a:extLst>
              <a:ext uri="{FF2B5EF4-FFF2-40B4-BE49-F238E27FC236}">
                <a16:creationId xmlns:a16="http://schemas.microsoft.com/office/drawing/2014/main" id="{6DFE8870-F9AF-2AA6-BE3C-A43195A1B7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6603962"/>
              </p:ext>
            </p:extLst>
          </p:nvPr>
        </p:nvGraphicFramePr>
        <p:xfrm>
          <a:off x="18433383" y="4876800"/>
          <a:ext cx="94748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33160" imgH="241200" progId="Equation.DSMT4">
                  <p:embed/>
                </p:oleObj>
              </mc:Choice>
              <mc:Fallback>
                <p:oleObj name="Equation" r:id="rId21" imgW="5331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8433383" y="4876800"/>
                        <a:ext cx="947483" cy="428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MathType.adapt.prediction">
            <a:extLst>
              <a:ext uri="{FF2B5EF4-FFF2-40B4-BE49-F238E27FC236}">
                <a16:creationId xmlns:a16="http://schemas.microsoft.com/office/drawing/2014/main" id="{B4AB6376-09BF-D07E-D3BD-E9545D71FC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0402067"/>
              </p:ext>
            </p:extLst>
          </p:nvPr>
        </p:nvGraphicFramePr>
        <p:xfrm>
          <a:off x="6301469" y="8067675"/>
          <a:ext cx="63681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42720" imgH="266400" progId="Equation.DSMT4">
                  <p:embed/>
                </p:oleObj>
              </mc:Choice>
              <mc:Fallback>
                <p:oleObj name="Equation" r:id="rId23" imgW="34272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301469" y="8067675"/>
                        <a:ext cx="636812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MathType.adapt.argmin">
            <a:extLst>
              <a:ext uri="{FF2B5EF4-FFF2-40B4-BE49-F238E27FC236}">
                <a16:creationId xmlns:a16="http://schemas.microsoft.com/office/drawing/2014/main" id="{79F61E39-2453-BF89-C416-593E56B51F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6906688"/>
              </p:ext>
            </p:extLst>
          </p:nvPr>
        </p:nvGraphicFramePr>
        <p:xfrm>
          <a:off x="9451578" y="7806530"/>
          <a:ext cx="2232819" cy="598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231560" imgH="330120" progId="Equation.DSMT4">
                  <p:embed/>
                </p:oleObj>
              </mc:Choice>
              <mc:Fallback>
                <p:oleObj name="Equation" r:id="rId25" imgW="12315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451578" y="7806530"/>
                        <a:ext cx="2232819" cy="5984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MathType.adapt.delta">
            <a:extLst>
              <a:ext uri="{FF2B5EF4-FFF2-40B4-BE49-F238E27FC236}">
                <a16:creationId xmlns:a16="http://schemas.microsoft.com/office/drawing/2014/main" id="{D5E9CB9A-3081-0C8C-B663-6742E9106A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6099397"/>
              </p:ext>
            </p:extLst>
          </p:nvPr>
        </p:nvGraphicFramePr>
        <p:xfrm>
          <a:off x="13176250" y="7968852"/>
          <a:ext cx="1289050" cy="483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711000" imgH="266400" progId="Equation.DSMT4">
                  <p:embed/>
                </p:oleObj>
              </mc:Choice>
              <mc:Fallback>
                <p:oleObj name="Equation" r:id="rId27" imgW="7110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3176250" y="7968852"/>
                        <a:ext cx="1289050" cy="4833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9499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Office PowerPoint</Application>
  <DocSecurity>0</DocSecurity>
  <PresentationFormat>自定义</PresentationFormat>
  <Paragraphs>11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Calibri</vt:lpstr>
      <vt:lpstr>ChatGPT</vt:lpstr>
      <vt:lpstr>MathType 7.0 Equation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1</cp:revision>
  <dcterms:created xsi:type="dcterms:W3CDTF">2026-09-23T07:10:46Z</dcterms:created>
  <dcterms:modified xsi:type="dcterms:W3CDTF">2026-09-23T07:11:05Z</dcterms:modified>
</cp:coreProperties>
</file>