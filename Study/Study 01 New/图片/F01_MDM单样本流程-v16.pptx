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6191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。单样本</a:t>
            </a:r>
            <a:r>
              <a:rPr lang="en-US"/>
              <a:t>MDM</a:t>
            </a:r>
            <a:r>
              <a:rPr lang="zh-CN" altLang="en-US"/>
              <a:t>求解流程，零梯度判据。依据</a:t>
            </a:r>
            <a:r>
              <a:rPr lang="en-US"/>
              <a:t>MDM</a:t>
            </a:r>
            <a:r>
              <a:rPr lang="zh-CN" altLang="en-US"/>
              <a:t>原理重绘；来源 </a:t>
            </a:r>
            <a:r>
              <a:rPr lang="en-US"/>
              <a:t>DOI 10.1142/S0219455423500852、10.12068/j.issn.1005-3026.2025.20240194。</a:t>
            </a:r>
            <a:r>
              <a:rPr lang="zh-CN" altLang="en-US"/>
              <a:t>数据：</a:t>
            </a:r>
            <a:r>
              <a:rPr lang="en-US"/>
              <a:t>public/case-studies/mdm/verification-182-046/data.csv</a:t>
            </a:r>
            <a:r>
              <a:rPr lang="zh-CN" altLang="en-US"/>
              <a:t>中的</a:t>
            </a:r>
            <a:r>
              <a:rPr lang="en-US"/>
              <a:t>Sample-1-3，7</a:t>
            </a:r>
            <a:r>
              <a:rPr lang="zh-CN" altLang="en-US"/>
              <a:t>个排序观测。曲线为既有</a:t>
            </a:r>
            <a:r>
              <a:rPr lang="en-US"/>
              <a:t>F01 CSV</a:t>
            </a:r>
            <a:r>
              <a:rPr lang="zh-CN" altLang="en-US"/>
              <a:t>的真实轨迹，无新模拟。秩概率</a:t>
            </a:r>
            <a:r>
              <a:rPr lang="en-US" altLang="zh-CN"/>
              <a:t>(</a:t>
            </a:r>
            <a:r>
              <a:rPr lang="en-US"/>
              <a:t>i−0.3)/(n+0.4)，</a:t>
            </a:r>
            <a:r>
              <a:rPr lang="zh-CN" altLang="en-US"/>
              <a:t>标准差</a:t>
            </a:r>
            <a:r>
              <a:rPr lang="en-US"/>
              <a:t>ddof=1。</a:t>
            </a:r>
            <a:r>
              <a:rPr lang="zh-CN" altLang="en-US"/>
              <a:t>公式为可双击编辑的</a:t>
            </a:r>
            <a:r>
              <a:rPr lang="en-US"/>
              <a:t>MathType OLE</a:t>
            </a:r>
            <a:r>
              <a:rPr lang="zh-CN" altLang="en-US"/>
              <a:t>对象；曲线为可编辑自由曲线。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.main">
            <a:extLst>
              <a:ext uri="{FF2B5EF4-FFF2-40B4-BE49-F238E27FC236}">
                <a16:creationId xmlns:a16="http://schemas.microsoft.com/office/drawing/2014/main" id="{2E4CE7F0-5CF8-4CBE-839A-41D5BDF848F6}"/>
              </a:ext>
            </a:extLst>
          </p:cNvPr>
          <p:cNvSpPr>
            <a:spLocks noGrp="1"/>
          </p:cNvSpPr>
          <p:nvPr/>
        </p:nvSpPr>
        <p:spPr>
          <a:xfrm>
            <a:off x="381000" y="209550"/>
            <a:ext cx="2152650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单样本 MDM：由最小差异准则确定三个参数</a:t>
            </a:r>
          </a:p>
        </p:txBody>
      </p:sp>
      <p:sp>
        <p:nvSpPr>
          <p:cNvPr id="2" name="criterion.boundary">
            <a:extLst>
              <a:ext uri="{FF2B5EF4-FFF2-40B4-BE49-F238E27FC236}">
                <a16:creationId xmlns:a16="http://schemas.microsoft.com/office/drawing/2014/main" id="{C109433C-3304-44F0-9558-4DE44E616CCF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7625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3" name="criterion.header">
            <a:extLst>
              <a:ext uri="{FF2B5EF4-FFF2-40B4-BE49-F238E27FC236}">
                <a16:creationId xmlns:a16="http://schemas.microsoft.com/office/drawing/2014/main" id="{7030F5A8-DB33-496D-86C1-125583518B79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00050"/>
          </a:xfrm>
          <a:prstGeom prst="rect">
            <a:avLst/>
          </a:prstGeom>
          <a:solidFill>
            <a:srgbClr val="A8C0E5"/>
          </a:solidFill>
          <a:ln w="9525">
            <a:noFill/>
            <a:prstDash val="solid"/>
          </a:ln>
        </p:spPr>
      </p:sp>
      <p:sp>
        <p:nvSpPr>
          <p:cNvPr id="4" name="criterion.title">
            <a:extLst>
              <a:ext uri="{FF2B5EF4-FFF2-40B4-BE49-F238E27FC236}">
                <a16:creationId xmlns:a16="http://schemas.microsoft.com/office/drawing/2014/main" id="{08E652E6-08C3-45D7-8353-8F6839B75EF0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样本如何形成求解准则</a:t>
            </a:r>
          </a:p>
        </p:txBody>
      </p:sp>
      <p:sp>
        <p:nvSpPr>
          <p:cNvPr id="5" name="criterion.input-region">
            <a:extLst>
              <a:ext uri="{FF2B5EF4-FFF2-40B4-BE49-F238E27FC236}">
                <a16:creationId xmlns:a16="http://schemas.microsoft.com/office/drawing/2014/main" id="{6893F455-E344-4680-8E5B-FE2EDD7BB356}"/>
              </a:ext>
            </a:extLst>
          </p:cNvPr>
          <p:cNvSpPr>
            <a:spLocks noGrp="1"/>
          </p:cNvSpPr>
          <p:nvPr/>
        </p:nvSpPr>
        <p:spPr>
          <a:xfrm>
            <a:off x="504825" y="1371600"/>
            <a:ext cx="4514850" cy="1304925"/>
          </a:xfrm>
          <a:prstGeom prst="rect">
            <a:avLst/>
          </a:prstGeom>
          <a:solidFill>
            <a:srgbClr val="F5F5F5"/>
          </a:solidFill>
          <a:ln w="9525">
            <a:noFill/>
            <a:prstDash val="solid"/>
          </a:ln>
        </p:spPr>
      </p:sp>
      <p:sp>
        <p:nvSpPr>
          <p:cNvPr id="6" name="criterion.input-label">
            <a:extLst>
              <a:ext uri="{FF2B5EF4-FFF2-40B4-BE49-F238E27FC236}">
                <a16:creationId xmlns:a16="http://schemas.microsoft.com/office/drawing/2014/main" id="{05D5EB5B-3809-4D38-A286-E976FC5115C1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5240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排序观测</a:t>
            </a:r>
          </a:p>
        </p:txBody>
      </p:sp>
      <p:sp>
        <p:nvSpPr>
          <p:cNvPr id="7" name="criterion.sample-baseline">
            <a:extLst>
              <a:ext uri="{FF2B5EF4-FFF2-40B4-BE49-F238E27FC236}">
                <a16:creationId xmlns:a16="http://schemas.microsoft.com/office/drawing/2014/main" id="{AE15766E-7C55-458E-A4FC-FE96D3874557}"/>
              </a:ext>
            </a:extLst>
          </p:cNvPr>
          <p:cNvSpPr>
            <a:spLocks noGrp="1"/>
          </p:cNvSpPr>
          <p:nvPr/>
        </p:nvSpPr>
        <p:spPr>
          <a:xfrm>
            <a:off x="657225" y="2133600"/>
            <a:ext cx="1743075" cy="953"/>
          </a:xfrm>
          <a:custGeom>
            <a:avLst/>
            <a:gdLst/>
            <a:ahLst/>
            <a:cxnLst/>
            <a:rect l="0" t="0" r="0" b="0"/>
            <a:pathLst>
              <a:path w="1743075" h="953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/>
          <a:ln w="9525">
            <a:solidFill>
              <a:srgbClr val="82878C"/>
            </a:solidFill>
            <a:prstDash val="solid"/>
          </a:ln>
        </p:spPr>
      </p:sp>
      <p:sp>
        <p:nvSpPr>
          <p:cNvPr id="8" name="criterion.sample-stem0">
            <a:extLst>
              <a:ext uri="{FF2B5EF4-FFF2-40B4-BE49-F238E27FC236}">
                <a16:creationId xmlns:a16="http://schemas.microsoft.com/office/drawing/2014/main" id="{42852091-402B-44B2-A70F-C0ED990731A9}"/>
              </a:ext>
            </a:extLst>
          </p:cNvPr>
          <p:cNvSpPr>
            <a:spLocks noGrp="1"/>
          </p:cNvSpPr>
          <p:nvPr/>
        </p:nvSpPr>
        <p:spPr>
          <a:xfrm>
            <a:off x="841747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9" name="criterion.sample-dot0">
            <a:extLst>
              <a:ext uri="{FF2B5EF4-FFF2-40B4-BE49-F238E27FC236}">
                <a16:creationId xmlns:a16="http://schemas.microsoft.com/office/drawing/2014/main" id="{83B37E81-42C2-4108-B24A-7B8CDCF13644}"/>
              </a:ext>
            </a:extLst>
          </p:cNvPr>
          <p:cNvSpPr>
            <a:spLocks noGrp="1"/>
          </p:cNvSpPr>
          <p:nvPr/>
        </p:nvSpPr>
        <p:spPr>
          <a:xfrm>
            <a:off x="808409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0" name="criterion.sample-stem1">
            <a:extLst>
              <a:ext uri="{FF2B5EF4-FFF2-40B4-BE49-F238E27FC236}">
                <a16:creationId xmlns:a16="http://schemas.microsoft.com/office/drawing/2014/main" id="{72A12505-BD6A-41EB-BA81-25F54D36BCFB}"/>
              </a:ext>
            </a:extLst>
          </p:cNvPr>
          <p:cNvSpPr>
            <a:spLocks noGrp="1"/>
          </p:cNvSpPr>
          <p:nvPr/>
        </p:nvSpPr>
        <p:spPr>
          <a:xfrm>
            <a:off x="874219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1" name="criterion.sample-dot1">
            <a:extLst>
              <a:ext uri="{FF2B5EF4-FFF2-40B4-BE49-F238E27FC236}">
                <a16:creationId xmlns:a16="http://schemas.microsoft.com/office/drawing/2014/main" id="{FA5BC2B9-65E8-4E1B-A7E7-35BBE0E6C6E1}"/>
              </a:ext>
            </a:extLst>
          </p:cNvPr>
          <p:cNvSpPr>
            <a:spLocks noGrp="1"/>
          </p:cNvSpPr>
          <p:nvPr/>
        </p:nvSpPr>
        <p:spPr>
          <a:xfrm>
            <a:off x="840881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2" name="criterion.sample-stem2">
            <a:extLst>
              <a:ext uri="{FF2B5EF4-FFF2-40B4-BE49-F238E27FC236}">
                <a16:creationId xmlns:a16="http://schemas.microsoft.com/office/drawing/2014/main" id="{FD3C2291-7E31-4647-B0FD-FFFFF41BBE7F}"/>
              </a:ext>
            </a:extLst>
          </p:cNvPr>
          <p:cNvSpPr>
            <a:spLocks noGrp="1"/>
          </p:cNvSpPr>
          <p:nvPr/>
        </p:nvSpPr>
        <p:spPr>
          <a:xfrm>
            <a:off x="125906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3" name="criterion.sample-dot2">
            <a:extLst>
              <a:ext uri="{FF2B5EF4-FFF2-40B4-BE49-F238E27FC236}">
                <a16:creationId xmlns:a16="http://schemas.microsoft.com/office/drawing/2014/main" id="{A03655BB-3157-45C0-A045-2ED78E7136D4}"/>
              </a:ext>
            </a:extLst>
          </p:cNvPr>
          <p:cNvSpPr>
            <a:spLocks noGrp="1"/>
          </p:cNvSpPr>
          <p:nvPr/>
        </p:nvSpPr>
        <p:spPr>
          <a:xfrm>
            <a:off x="122572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4" name="criterion.sample-stem3">
            <a:extLst>
              <a:ext uri="{FF2B5EF4-FFF2-40B4-BE49-F238E27FC236}">
                <a16:creationId xmlns:a16="http://schemas.microsoft.com/office/drawing/2014/main" id="{C72100FC-FBAF-4266-BB84-EF781C965A58}"/>
              </a:ext>
            </a:extLst>
          </p:cNvPr>
          <p:cNvSpPr>
            <a:spLocks noGrp="1"/>
          </p:cNvSpPr>
          <p:nvPr/>
        </p:nvSpPr>
        <p:spPr>
          <a:xfrm>
            <a:off x="1382440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5" name="criterion.sample-dot3">
            <a:extLst>
              <a:ext uri="{FF2B5EF4-FFF2-40B4-BE49-F238E27FC236}">
                <a16:creationId xmlns:a16="http://schemas.microsoft.com/office/drawing/2014/main" id="{502C9FE0-9FCF-4887-9862-4578566B3010}"/>
              </a:ext>
            </a:extLst>
          </p:cNvPr>
          <p:cNvSpPr>
            <a:spLocks noGrp="1"/>
          </p:cNvSpPr>
          <p:nvPr/>
        </p:nvSpPr>
        <p:spPr>
          <a:xfrm>
            <a:off x="1349103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6" name="criterion.sample-stem4">
            <a:extLst>
              <a:ext uri="{FF2B5EF4-FFF2-40B4-BE49-F238E27FC236}">
                <a16:creationId xmlns:a16="http://schemas.microsoft.com/office/drawing/2014/main" id="{BBA6221B-F201-4A04-930F-A3C2456F9FBC}"/>
              </a:ext>
            </a:extLst>
          </p:cNvPr>
          <p:cNvSpPr>
            <a:spLocks noGrp="1"/>
          </p:cNvSpPr>
          <p:nvPr/>
        </p:nvSpPr>
        <p:spPr>
          <a:xfrm>
            <a:off x="1434266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7" name="criterion.sample-dot4">
            <a:extLst>
              <a:ext uri="{FF2B5EF4-FFF2-40B4-BE49-F238E27FC236}">
                <a16:creationId xmlns:a16="http://schemas.microsoft.com/office/drawing/2014/main" id="{90F17227-F373-44C9-B275-1385963C1D8C}"/>
              </a:ext>
            </a:extLst>
          </p:cNvPr>
          <p:cNvSpPr>
            <a:spLocks noGrp="1"/>
          </p:cNvSpPr>
          <p:nvPr/>
        </p:nvSpPr>
        <p:spPr>
          <a:xfrm>
            <a:off x="1400928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8" name="criterion.sample-stem5">
            <a:extLst>
              <a:ext uri="{FF2B5EF4-FFF2-40B4-BE49-F238E27FC236}">
                <a16:creationId xmlns:a16="http://schemas.microsoft.com/office/drawing/2014/main" id="{75C7E453-3C18-40D4-99D9-2CB89776B96B}"/>
              </a:ext>
            </a:extLst>
          </p:cNvPr>
          <p:cNvSpPr>
            <a:spLocks noGrp="1"/>
          </p:cNvSpPr>
          <p:nvPr/>
        </p:nvSpPr>
        <p:spPr>
          <a:xfrm>
            <a:off x="169721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9" name="criterion.sample-dot5">
            <a:extLst>
              <a:ext uri="{FF2B5EF4-FFF2-40B4-BE49-F238E27FC236}">
                <a16:creationId xmlns:a16="http://schemas.microsoft.com/office/drawing/2014/main" id="{AB7C855C-F279-49CA-AEB1-BC7F3526D897}"/>
              </a:ext>
            </a:extLst>
          </p:cNvPr>
          <p:cNvSpPr>
            <a:spLocks noGrp="1"/>
          </p:cNvSpPr>
          <p:nvPr/>
        </p:nvSpPr>
        <p:spPr>
          <a:xfrm>
            <a:off x="166387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0" name="criterion.sample-stem6">
            <a:extLst>
              <a:ext uri="{FF2B5EF4-FFF2-40B4-BE49-F238E27FC236}">
                <a16:creationId xmlns:a16="http://schemas.microsoft.com/office/drawing/2014/main" id="{AFE2C15F-BD91-4477-BBA3-FFFAA38A83F7}"/>
              </a:ext>
            </a:extLst>
          </p:cNvPr>
          <p:cNvSpPr>
            <a:spLocks noGrp="1"/>
          </p:cNvSpPr>
          <p:nvPr/>
        </p:nvSpPr>
        <p:spPr>
          <a:xfrm>
            <a:off x="2190544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1" name="criterion.sample-dot6">
            <a:extLst>
              <a:ext uri="{FF2B5EF4-FFF2-40B4-BE49-F238E27FC236}">
                <a16:creationId xmlns:a16="http://schemas.microsoft.com/office/drawing/2014/main" id="{08051137-E132-4444-A955-F368F5583264}"/>
              </a:ext>
            </a:extLst>
          </p:cNvPr>
          <p:cNvSpPr>
            <a:spLocks noGrp="1"/>
          </p:cNvSpPr>
          <p:nvPr/>
        </p:nvSpPr>
        <p:spPr>
          <a:xfrm>
            <a:off x="2157206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" name="criterion.rank-label">
            <a:extLst>
              <a:ext uri="{FF2B5EF4-FFF2-40B4-BE49-F238E27FC236}">
                <a16:creationId xmlns:a16="http://schemas.microsoft.com/office/drawing/2014/main" id="{B6F8C5A2-DB41-4871-8D20-82C0B5E661AE}"/>
              </a:ext>
            </a:extLst>
          </p:cNvPr>
          <p:cNvSpPr>
            <a:spLocks noGrp="1"/>
          </p:cNvSpPr>
          <p:nvPr/>
        </p:nvSpPr>
        <p:spPr>
          <a:xfrm>
            <a:off x="2886075" y="1371600"/>
            <a:ext cx="16192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秩概率</a:t>
            </a:r>
          </a:p>
        </p:txBody>
      </p:sp>
      <p:sp>
        <p:nvSpPr>
          <p:cNvPr id="28" name="flow.input-pseudo">
            <a:extLst>
              <a:ext uri="{FF2B5EF4-FFF2-40B4-BE49-F238E27FC236}">
                <a16:creationId xmlns:a16="http://schemas.microsoft.com/office/drawing/2014/main" id="{B1356884-E28D-4242-849F-4FD62E77AC3C}"/>
              </a:ext>
            </a:extLst>
          </p:cNvPr>
          <p:cNvSpPr>
            <a:spLocks noGrp="1"/>
          </p:cNvSpPr>
          <p:nvPr/>
        </p:nvSpPr>
        <p:spPr>
          <a:xfrm>
            <a:off x="2667000" y="2743200"/>
            <a:ext cx="190500" cy="16192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4" name="criterion.pseudo-label">
            <a:extLst>
              <a:ext uri="{FF2B5EF4-FFF2-40B4-BE49-F238E27FC236}">
                <a16:creationId xmlns:a16="http://schemas.microsoft.com/office/drawing/2014/main" id="{353D71BC-CD40-47EB-8103-57FF1081A9F6}"/>
              </a:ext>
            </a:extLst>
          </p:cNvPr>
          <p:cNvSpPr>
            <a:spLocks noGrp="1"/>
          </p:cNvSpPr>
          <p:nvPr/>
        </p:nvSpPr>
        <p:spPr>
          <a:xfrm>
            <a:off x="752475" y="3676650"/>
            <a:ext cx="39433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由每个观测得到伪尺度</a:t>
            </a:r>
          </a:p>
        </p:txBody>
      </p:sp>
      <p:sp>
        <p:nvSpPr>
          <p:cNvPr id="44" name="flow.pseudo-difference">
            <a:extLst>
              <a:ext uri="{FF2B5EF4-FFF2-40B4-BE49-F238E27FC236}">
                <a16:creationId xmlns:a16="http://schemas.microsoft.com/office/drawing/2014/main" id="{3CF39B6C-F215-4FD0-A08B-BAF2074686FE}"/>
              </a:ext>
            </a:extLst>
          </p:cNvPr>
          <p:cNvSpPr>
            <a:spLocks noGrp="1"/>
          </p:cNvSpPr>
          <p:nvPr/>
        </p:nvSpPr>
        <p:spPr>
          <a:xfrm>
            <a:off x="2667000" y="403860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5" name="flow.difference-minimum">
            <a:extLst>
              <a:ext uri="{FF2B5EF4-FFF2-40B4-BE49-F238E27FC236}">
                <a16:creationId xmlns:a16="http://schemas.microsoft.com/office/drawing/2014/main" id="{E3AA8CC8-A699-4325-B006-0E2D3F837920}"/>
              </a:ext>
            </a:extLst>
          </p:cNvPr>
          <p:cNvSpPr>
            <a:spLocks noGrp="1"/>
          </p:cNvSpPr>
          <p:nvPr/>
        </p:nvSpPr>
        <p:spPr>
          <a:xfrm>
            <a:off x="2667000" y="474345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6" name="gamma.boundary">
            <a:extLst>
              <a:ext uri="{FF2B5EF4-FFF2-40B4-BE49-F238E27FC236}">
                <a16:creationId xmlns:a16="http://schemas.microsoft.com/office/drawing/2014/main" id="{82A035E9-518D-46D6-905E-3E4895C5B019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47" name="gamma.header">
            <a:extLst>
              <a:ext uri="{FF2B5EF4-FFF2-40B4-BE49-F238E27FC236}">
                <a16:creationId xmlns:a16="http://schemas.microsoft.com/office/drawing/2014/main" id="{2E27D1DB-2142-4E40-9411-B33495D890BD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48" name="gamma.title">
            <a:extLst>
              <a:ext uri="{FF2B5EF4-FFF2-40B4-BE49-F238E27FC236}">
                <a16:creationId xmlns:a16="http://schemas.microsoft.com/office/drawing/2014/main" id="{335442B7-9E4E-4545-8271-B889397A9880}"/>
              </a:ext>
            </a:extLst>
          </p:cNvPr>
          <p:cNvSpPr>
            <a:spLocks noGrp="1"/>
          </p:cNvSpPr>
          <p:nvPr/>
        </p:nvSpPr>
        <p:spPr>
          <a:xfrm>
            <a:off x="609600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梯度交点确定位置参数</a:t>
            </a:r>
          </a:p>
        </p:txBody>
      </p:sp>
      <p:sp>
        <p:nvSpPr>
          <p:cNvPr id="55" name="gamma.meaning">
            <a:extLst>
              <a:ext uri="{FF2B5EF4-FFF2-40B4-BE49-F238E27FC236}">
                <a16:creationId xmlns:a16="http://schemas.microsoft.com/office/drawing/2014/main" id="{77F3567E-2CEB-4750-BDB2-1330EAEFE961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191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条件最小差异随 γ 的变化率</a:t>
            </a:r>
          </a:p>
        </p:txBody>
      </p:sp>
      <p:sp>
        <p:nvSpPr>
          <p:cNvPr id="56" name="gamma.axisx">
            <a:extLst>
              <a:ext uri="{FF2B5EF4-FFF2-40B4-BE49-F238E27FC236}">
                <a16:creationId xmlns:a16="http://schemas.microsoft.com/office/drawing/2014/main" id="{E0A42A24-C49F-4377-B6F7-A567E767555E}"/>
              </a:ext>
            </a:extLst>
          </p:cNvPr>
          <p:cNvSpPr>
            <a:spLocks noGrp="1"/>
          </p:cNvSpPr>
          <p:nvPr/>
        </p:nvSpPr>
        <p:spPr>
          <a:xfrm>
            <a:off x="7086600" y="4638675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7" name="gamma.axisy">
            <a:extLst>
              <a:ext uri="{FF2B5EF4-FFF2-40B4-BE49-F238E27FC236}">
                <a16:creationId xmlns:a16="http://schemas.microsoft.com/office/drawing/2014/main" id="{41D2B2D4-4F04-435D-AD35-61F682DB5B6C}"/>
              </a:ext>
            </a:extLst>
          </p:cNvPr>
          <p:cNvSpPr>
            <a:spLocks noGrp="1"/>
          </p:cNvSpPr>
          <p:nvPr/>
        </p:nvSpPr>
        <p:spPr>
          <a:xfrm>
            <a:off x="70866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8" name="gamma.xtick800">
            <a:extLst>
              <a:ext uri="{FF2B5EF4-FFF2-40B4-BE49-F238E27FC236}">
                <a16:creationId xmlns:a16="http://schemas.microsoft.com/office/drawing/2014/main" id="{030DC9B2-6C4F-4299-B45E-F9E0DB1F2222}"/>
              </a:ext>
            </a:extLst>
          </p:cNvPr>
          <p:cNvSpPr>
            <a:spLocks noGrp="1"/>
          </p:cNvSpPr>
          <p:nvPr/>
        </p:nvSpPr>
        <p:spPr>
          <a:xfrm>
            <a:off x="7647709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59" name="gamma.xtxt800">
            <a:extLst>
              <a:ext uri="{FF2B5EF4-FFF2-40B4-BE49-F238E27FC236}">
                <a16:creationId xmlns:a16="http://schemas.microsoft.com/office/drawing/2014/main" id="{E090D775-6229-47C4-B93A-2CF9EA0BD647}"/>
              </a:ext>
            </a:extLst>
          </p:cNvPr>
          <p:cNvSpPr>
            <a:spLocks noGrp="1"/>
          </p:cNvSpPr>
          <p:nvPr/>
        </p:nvSpPr>
        <p:spPr>
          <a:xfrm>
            <a:off x="7314334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60" name="gamma.xtick1000">
            <a:extLst>
              <a:ext uri="{FF2B5EF4-FFF2-40B4-BE49-F238E27FC236}">
                <a16:creationId xmlns:a16="http://schemas.microsoft.com/office/drawing/2014/main" id="{997A9A75-3A4A-4E53-B72A-4902AA7B6BDB}"/>
              </a:ext>
            </a:extLst>
          </p:cNvPr>
          <p:cNvSpPr>
            <a:spLocks noGrp="1"/>
          </p:cNvSpPr>
          <p:nvPr/>
        </p:nvSpPr>
        <p:spPr>
          <a:xfrm>
            <a:off x="8769927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1" name="gamma.xtxt1000">
            <a:extLst>
              <a:ext uri="{FF2B5EF4-FFF2-40B4-BE49-F238E27FC236}">
                <a16:creationId xmlns:a16="http://schemas.microsoft.com/office/drawing/2014/main" id="{5847FDCD-4DCE-478A-B472-C3A779595012}"/>
              </a:ext>
            </a:extLst>
          </p:cNvPr>
          <p:cNvSpPr>
            <a:spLocks noGrp="1"/>
          </p:cNvSpPr>
          <p:nvPr/>
        </p:nvSpPr>
        <p:spPr>
          <a:xfrm>
            <a:off x="8436552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2" name="gamma.xtick1200">
            <a:extLst>
              <a:ext uri="{FF2B5EF4-FFF2-40B4-BE49-F238E27FC236}">
                <a16:creationId xmlns:a16="http://schemas.microsoft.com/office/drawing/2014/main" id="{D5A60B60-E069-4CED-93C6-404621F14F8E}"/>
              </a:ext>
            </a:extLst>
          </p:cNvPr>
          <p:cNvSpPr>
            <a:spLocks noGrp="1"/>
          </p:cNvSpPr>
          <p:nvPr/>
        </p:nvSpPr>
        <p:spPr>
          <a:xfrm>
            <a:off x="989214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3" name="gamma.xtxt1200">
            <a:extLst>
              <a:ext uri="{FF2B5EF4-FFF2-40B4-BE49-F238E27FC236}">
                <a16:creationId xmlns:a16="http://schemas.microsoft.com/office/drawing/2014/main" id="{56175969-150D-48FB-B3D9-7805AF968146}"/>
              </a:ext>
            </a:extLst>
          </p:cNvPr>
          <p:cNvSpPr>
            <a:spLocks noGrp="1"/>
          </p:cNvSpPr>
          <p:nvPr/>
        </p:nvSpPr>
        <p:spPr>
          <a:xfrm>
            <a:off x="955877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64" name="gamma.ytick0">
            <a:extLst>
              <a:ext uri="{FF2B5EF4-FFF2-40B4-BE49-F238E27FC236}">
                <a16:creationId xmlns:a16="http://schemas.microsoft.com/office/drawing/2014/main" id="{A312B0A5-401C-469D-9416-18E29AFDD8D7}"/>
              </a:ext>
            </a:extLst>
          </p:cNvPr>
          <p:cNvSpPr>
            <a:spLocks noGrp="1"/>
          </p:cNvSpPr>
          <p:nvPr/>
        </p:nvSpPr>
        <p:spPr>
          <a:xfrm>
            <a:off x="7029450" y="442722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5" name="gamma.ytxt0">
            <a:extLst>
              <a:ext uri="{FF2B5EF4-FFF2-40B4-BE49-F238E27FC236}">
                <a16:creationId xmlns:a16="http://schemas.microsoft.com/office/drawing/2014/main" id="{61EA62F8-4D5E-4D5A-B8D7-F56CECAE4D08}"/>
              </a:ext>
            </a:extLst>
          </p:cNvPr>
          <p:cNvSpPr>
            <a:spLocks noGrp="1"/>
          </p:cNvSpPr>
          <p:nvPr/>
        </p:nvSpPr>
        <p:spPr>
          <a:xfrm>
            <a:off x="6496050" y="430339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6" name="gamma.ytick0.2">
            <a:extLst>
              <a:ext uri="{FF2B5EF4-FFF2-40B4-BE49-F238E27FC236}">
                <a16:creationId xmlns:a16="http://schemas.microsoft.com/office/drawing/2014/main" id="{07A355AC-55B0-46F1-B52D-18ECFEAFE77C}"/>
              </a:ext>
            </a:extLst>
          </p:cNvPr>
          <p:cNvSpPr>
            <a:spLocks noGrp="1"/>
          </p:cNvSpPr>
          <p:nvPr/>
        </p:nvSpPr>
        <p:spPr>
          <a:xfrm>
            <a:off x="7029450" y="386334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7" name="gamma.ytxt0.2">
            <a:extLst>
              <a:ext uri="{FF2B5EF4-FFF2-40B4-BE49-F238E27FC236}">
                <a16:creationId xmlns:a16="http://schemas.microsoft.com/office/drawing/2014/main" id="{6639B0A8-371E-426A-9F08-E9E32348BCE0}"/>
              </a:ext>
            </a:extLst>
          </p:cNvPr>
          <p:cNvSpPr>
            <a:spLocks noGrp="1"/>
          </p:cNvSpPr>
          <p:nvPr/>
        </p:nvSpPr>
        <p:spPr>
          <a:xfrm>
            <a:off x="6496050" y="373951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68" name="gamma.ytick0.4">
            <a:extLst>
              <a:ext uri="{FF2B5EF4-FFF2-40B4-BE49-F238E27FC236}">
                <a16:creationId xmlns:a16="http://schemas.microsoft.com/office/drawing/2014/main" id="{FB98713E-B685-454E-9ABA-578983795EB5}"/>
              </a:ext>
            </a:extLst>
          </p:cNvPr>
          <p:cNvSpPr>
            <a:spLocks noGrp="1"/>
          </p:cNvSpPr>
          <p:nvPr/>
        </p:nvSpPr>
        <p:spPr>
          <a:xfrm>
            <a:off x="7029450" y="329946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9" name="gamma.ytxt0.4">
            <a:extLst>
              <a:ext uri="{FF2B5EF4-FFF2-40B4-BE49-F238E27FC236}">
                <a16:creationId xmlns:a16="http://schemas.microsoft.com/office/drawing/2014/main" id="{5F348DD1-9D41-4D73-828D-47FE04E80D68}"/>
              </a:ext>
            </a:extLst>
          </p:cNvPr>
          <p:cNvSpPr>
            <a:spLocks noGrp="1"/>
          </p:cNvSpPr>
          <p:nvPr/>
        </p:nvSpPr>
        <p:spPr>
          <a:xfrm>
            <a:off x="6496050" y="317563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70" name="gamma.xlabel">
            <a:extLst>
              <a:ext uri="{FF2B5EF4-FFF2-40B4-BE49-F238E27FC236}">
                <a16:creationId xmlns:a16="http://schemas.microsoft.com/office/drawing/2014/main" id="{6D6CC90C-3EDC-46C6-96FD-8B310D79BFFD}"/>
              </a:ext>
            </a:extLst>
          </p:cNvPr>
          <p:cNvSpPr>
            <a:spLocks noGrp="1"/>
          </p:cNvSpPr>
          <p:nvPr/>
        </p:nvSpPr>
        <p:spPr>
          <a:xfrm>
            <a:off x="7086600" y="5048250"/>
            <a:ext cx="30861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71" name="gamma.ylabel">
            <a:extLst>
              <a:ext uri="{FF2B5EF4-FFF2-40B4-BE49-F238E27FC236}">
                <a16:creationId xmlns:a16="http://schemas.microsoft.com/office/drawing/2014/main" id="{DBB88687-730A-4299-AE46-2610DD6D7DB8}"/>
              </a:ext>
            </a:extLst>
          </p:cNvPr>
          <p:cNvSpPr>
            <a:spLocks noGrp="1"/>
          </p:cNvSpPr>
          <p:nvPr/>
        </p:nvSpPr>
        <p:spPr>
          <a:xfrm rot="16200000">
            <a:off x="562927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72" name="gamma.curve.segment0">
            <a:extLst>
              <a:ext uri="{FF2B5EF4-FFF2-40B4-BE49-F238E27FC236}">
                <a16:creationId xmlns:a16="http://schemas.microsoft.com/office/drawing/2014/main" id="{30FB5F49-4388-4A7E-9856-076929AE1D4C}"/>
              </a:ext>
            </a:extLst>
          </p:cNvPr>
          <p:cNvSpPr>
            <a:spLocks noGrp="1"/>
          </p:cNvSpPr>
          <p:nvPr/>
        </p:nvSpPr>
        <p:spPr>
          <a:xfrm>
            <a:off x="7086600" y="2995065"/>
            <a:ext cx="3086100" cy="1461820"/>
          </a:xfrm>
          <a:custGeom>
            <a:avLst/>
            <a:gdLst/>
            <a:ahLst/>
            <a:cxnLst/>
            <a:rect l="0" t="0" r="0" b="0"/>
            <a:pathLst>
              <a:path w="3086100" h="1461820">
                <a:moveTo>
                  <a:pt x="0" y="1461791"/>
                </a:moveTo>
                <a:lnTo>
                  <a:pt x="37003" y="1461812"/>
                </a:lnTo>
                <a:lnTo>
                  <a:pt x="76875" y="1461820"/>
                </a:lnTo>
                <a:lnTo>
                  <a:pt x="116291" y="1461815"/>
                </a:lnTo>
                <a:lnTo>
                  <a:pt x="155255" y="1461795"/>
                </a:lnTo>
                <a:lnTo>
                  <a:pt x="193774" y="1461760"/>
                </a:lnTo>
                <a:lnTo>
                  <a:pt x="231851" y="1461709"/>
                </a:lnTo>
                <a:lnTo>
                  <a:pt x="269491" y="1461642"/>
                </a:lnTo>
                <a:lnTo>
                  <a:pt x="306701" y="1461558"/>
                </a:lnTo>
                <a:lnTo>
                  <a:pt x="343485" y="1461456"/>
                </a:lnTo>
                <a:lnTo>
                  <a:pt x="379847" y="1461336"/>
                </a:lnTo>
                <a:lnTo>
                  <a:pt x="415793" y="1461197"/>
                </a:lnTo>
                <a:lnTo>
                  <a:pt x="451327" y="1461039"/>
                </a:lnTo>
                <a:lnTo>
                  <a:pt x="486454" y="1460860"/>
                </a:lnTo>
                <a:lnTo>
                  <a:pt x="521179" y="1460660"/>
                </a:lnTo>
                <a:lnTo>
                  <a:pt x="555506" y="1460439"/>
                </a:lnTo>
                <a:lnTo>
                  <a:pt x="589440" y="1460195"/>
                </a:lnTo>
                <a:lnTo>
                  <a:pt x="622985" y="1459928"/>
                </a:lnTo>
                <a:lnTo>
                  <a:pt x="656146" y="1459637"/>
                </a:lnTo>
                <a:lnTo>
                  <a:pt x="688928" y="1459322"/>
                </a:lnTo>
                <a:lnTo>
                  <a:pt x="721333" y="1458981"/>
                </a:lnTo>
                <a:lnTo>
                  <a:pt x="753368" y="1458613"/>
                </a:lnTo>
                <a:lnTo>
                  <a:pt x="785036" y="1458219"/>
                </a:lnTo>
                <a:lnTo>
                  <a:pt x="816341" y="1457796"/>
                </a:lnTo>
                <a:lnTo>
                  <a:pt x="847288" y="1457345"/>
                </a:lnTo>
                <a:lnTo>
                  <a:pt x="877880" y="1456864"/>
                </a:lnTo>
                <a:lnTo>
                  <a:pt x="908121" y="1456352"/>
                </a:lnTo>
                <a:lnTo>
                  <a:pt x="938017" y="1455809"/>
                </a:lnTo>
                <a:lnTo>
                  <a:pt x="967570" y="1455234"/>
                </a:lnTo>
                <a:lnTo>
                  <a:pt x="996784" y="1454625"/>
                </a:lnTo>
                <a:lnTo>
                  <a:pt x="1025664" y="1453981"/>
                </a:lnTo>
                <a:lnTo>
                  <a:pt x="1054213" y="1453302"/>
                </a:lnTo>
                <a:lnTo>
                  <a:pt x="1082435" y="1452587"/>
                </a:lnTo>
                <a:lnTo>
                  <a:pt x="1110334" y="1451834"/>
                </a:lnTo>
                <a:lnTo>
                  <a:pt x="1137914" y="1451043"/>
                </a:lnTo>
                <a:lnTo>
                  <a:pt x="1165177" y="1450213"/>
                </a:lnTo>
                <a:lnTo>
                  <a:pt x="1192128" y="1449341"/>
                </a:lnTo>
                <a:lnTo>
                  <a:pt x="1218771" y="1448428"/>
                </a:lnTo>
                <a:lnTo>
                  <a:pt x="1245108" y="1447473"/>
                </a:lnTo>
                <a:lnTo>
                  <a:pt x="1271144" y="1446473"/>
                </a:lnTo>
                <a:lnTo>
                  <a:pt x="1296882" y="1445428"/>
                </a:lnTo>
                <a:lnTo>
                  <a:pt x="1322324" y="1444337"/>
                </a:lnTo>
                <a:lnTo>
                  <a:pt x="1347476" y="1443198"/>
                </a:lnTo>
                <a:lnTo>
                  <a:pt x="1372339" y="1442011"/>
                </a:lnTo>
                <a:lnTo>
                  <a:pt x="1396918" y="1440774"/>
                </a:lnTo>
                <a:lnTo>
                  <a:pt x="1421215" y="1439485"/>
                </a:lnTo>
                <a:lnTo>
                  <a:pt x="1445234" y="1438144"/>
                </a:lnTo>
                <a:lnTo>
                  <a:pt x="1468977" y="1436750"/>
                </a:lnTo>
                <a:lnTo>
                  <a:pt x="1492449" y="1435300"/>
                </a:lnTo>
                <a:lnTo>
                  <a:pt x="1515652" y="1433794"/>
                </a:lnTo>
                <a:lnTo>
                  <a:pt x="1538589" y="1432230"/>
                </a:lnTo>
                <a:lnTo>
                  <a:pt x="1539660" y="1432155"/>
                </a:lnTo>
                <a:lnTo>
                  <a:pt x="1561264" y="1430607"/>
                </a:lnTo>
                <a:lnTo>
                  <a:pt x="1583678" y="1428924"/>
                </a:lnTo>
                <a:lnTo>
                  <a:pt x="1605836" y="1427178"/>
                </a:lnTo>
                <a:lnTo>
                  <a:pt x="1627741" y="1425370"/>
                </a:lnTo>
                <a:lnTo>
                  <a:pt x="1649394" y="1423496"/>
                </a:lnTo>
                <a:lnTo>
                  <a:pt x="1670799" y="1421557"/>
                </a:lnTo>
                <a:lnTo>
                  <a:pt x="1691960" y="1419550"/>
                </a:lnTo>
                <a:lnTo>
                  <a:pt x="1712878" y="1417473"/>
                </a:lnTo>
                <a:lnTo>
                  <a:pt x="1733556" y="1415326"/>
                </a:lnTo>
                <a:lnTo>
                  <a:pt x="1753997" y="1413107"/>
                </a:lnTo>
                <a:lnTo>
                  <a:pt x="1774205" y="1410814"/>
                </a:lnTo>
                <a:lnTo>
                  <a:pt x="1794181" y="1408445"/>
                </a:lnTo>
                <a:lnTo>
                  <a:pt x="1813928" y="1406000"/>
                </a:lnTo>
                <a:lnTo>
                  <a:pt x="1833449" y="1403476"/>
                </a:lnTo>
                <a:lnTo>
                  <a:pt x="1852746" y="1400872"/>
                </a:lnTo>
                <a:lnTo>
                  <a:pt x="1871822" y="1398186"/>
                </a:lnTo>
                <a:lnTo>
                  <a:pt x="1890680" y="1395417"/>
                </a:lnTo>
                <a:lnTo>
                  <a:pt x="1909322" y="1392563"/>
                </a:lnTo>
                <a:lnTo>
                  <a:pt x="1927751" y="1389621"/>
                </a:lnTo>
                <a:lnTo>
                  <a:pt x="1945968" y="1386592"/>
                </a:lnTo>
                <a:lnTo>
                  <a:pt x="1963977" y="1383472"/>
                </a:lnTo>
                <a:lnTo>
                  <a:pt x="1981779" y="1380260"/>
                </a:lnTo>
                <a:lnTo>
                  <a:pt x="1999377" y="1376955"/>
                </a:lnTo>
                <a:lnTo>
                  <a:pt x="2016774" y="1373553"/>
                </a:lnTo>
                <a:lnTo>
                  <a:pt x="2033972" y="1370055"/>
                </a:lnTo>
                <a:lnTo>
                  <a:pt x="2050973" y="1366458"/>
                </a:lnTo>
                <a:lnTo>
                  <a:pt x="2067779" y="1362760"/>
                </a:lnTo>
                <a:lnTo>
                  <a:pt x="2084392" y="1358959"/>
                </a:lnTo>
                <a:lnTo>
                  <a:pt x="2100816" y="1355053"/>
                </a:lnTo>
                <a:lnTo>
                  <a:pt x="2117051" y="1351041"/>
                </a:lnTo>
                <a:lnTo>
                  <a:pt x="2133100" y="1346921"/>
                </a:lnTo>
                <a:lnTo>
                  <a:pt x="2148965" y="1342690"/>
                </a:lnTo>
                <a:lnTo>
                  <a:pt x="2164649" y="1338348"/>
                </a:lnTo>
                <a:lnTo>
                  <a:pt x="2180153" y="1333892"/>
                </a:lnTo>
                <a:lnTo>
                  <a:pt x="2195480" y="1329319"/>
                </a:lnTo>
                <a:lnTo>
                  <a:pt x="2210631" y="1324629"/>
                </a:lnTo>
                <a:lnTo>
                  <a:pt x="2225608" y="1319819"/>
                </a:lnTo>
                <a:lnTo>
                  <a:pt x="2240414" y="1314887"/>
                </a:lnTo>
                <a:lnTo>
                  <a:pt x="2255050" y="1309832"/>
                </a:lnTo>
                <a:lnTo>
                  <a:pt x="2269519" y="1304651"/>
                </a:lnTo>
                <a:lnTo>
                  <a:pt x="2283822" y="1299342"/>
                </a:lnTo>
                <a:lnTo>
                  <a:pt x="2297961" y="1293903"/>
                </a:lnTo>
                <a:lnTo>
                  <a:pt x="2311938" y="1288333"/>
                </a:lnTo>
                <a:lnTo>
                  <a:pt x="2325755" y="1282629"/>
                </a:lnTo>
                <a:lnTo>
                  <a:pt x="2339414" y="1276789"/>
                </a:lnTo>
                <a:lnTo>
                  <a:pt x="2352917" y="1270812"/>
                </a:lnTo>
                <a:lnTo>
                  <a:pt x="2366264" y="1264694"/>
                </a:lnTo>
                <a:lnTo>
                  <a:pt x="2379459" y="1258434"/>
                </a:lnTo>
                <a:lnTo>
                  <a:pt x="2392503" y="1252031"/>
                </a:lnTo>
                <a:lnTo>
                  <a:pt x="2405397" y="1245481"/>
                </a:lnTo>
                <a:lnTo>
                  <a:pt x="2418144" y="1238783"/>
                </a:lnTo>
                <a:lnTo>
                  <a:pt x="2430745" y="1231935"/>
                </a:lnTo>
                <a:lnTo>
                  <a:pt x="2443201" y="1224934"/>
                </a:lnTo>
                <a:lnTo>
                  <a:pt x="2455515" y="1217779"/>
                </a:lnTo>
                <a:lnTo>
                  <a:pt x="2467688" y="1210467"/>
                </a:lnTo>
                <a:lnTo>
                  <a:pt x="2479721" y="1202996"/>
                </a:lnTo>
                <a:lnTo>
                  <a:pt x="2491617" y="1195364"/>
                </a:lnTo>
                <a:lnTo>
                  <a:pt x="2503376" y="1187569"/>
                </a:lnTo>
                <a:lnTo>
                  <a:pt x="2515000" y="1179609"/>
                </a:lnTo>
                <a:lnTo>
                  <a:pt x="2526492" y="1171481"/>
                </a:lnTo>
                <a:lnTo>
                  <a:pt x="2537851" y="1163183"/>
                </a:lnTo>
                <a:lnTo>
                  <a:pt x="2549081" y="1154714"/>
                </a:lnTo>
                <a:lnTo>
                  <a:pt x="2554904" y="1150215"/>
                </a:lnTo>
                <a:lnTo>
                  <a:pt x="2560182" y="1146071"/>
                </a:lnTo>
                <a:lnTo>
                  <a:pt x="2571156" y="1137252"/>
                </a:lnTo>
                <a:lnTo>
                  <a:pt x="2582004" y="1128254"/>
                </a:lnTo>
                <a:lnTo>
                  <a:pt x="2592728" y="1119076"/>
                </a:lnTo>
                <a:lnTo>
                  <a:pt x="2603330" y="1109714"/>
                </a:lnTo>
                <a:lnTo>
                  <a:pt x="2613809" y="1100168"/>
                </a:lnTo>
                <a:lnTo>
                  <a:pt x="2624169" y="1090435"/>
                </a:lnTo>
                <a:lnTo>
                  <a:pt x="2634410" y="1080512"/>
                </a:lnTo>
                <a:lnTo>
                  <a:pt x="2644534" y="1070398"/>
                </a:lnTo>
                <a:lnTo>
                  <a:pt x="2654542" y="1060090"/>
                </a:lnTo>
                <a:lnTo>
                  <a:pt x="2664435" y="1049585"/>
                </a:lnTo>
                <a:lnTo>
                  <a:pt x="2674215" y="1038882"/>
                </a:lnTo>
                <a:lnTo>
                  <a:pt x="2683883" y="1027979"/>
                </a:lnTo>
                <a:lnTo>
                  <a:pt x="2693440" y="1016873"/>
                </a:lnTo>
                <a:lnTo>
                  <a:pt x="2702888" y="1005562"/>
                </a:lnTo>
                <a:lnTo>
                  <a:pt x="2712227" y="994043"/>
                </a:lnTo>
                <a:lnTo>
                  <a:pt x="2721460" y="982315"/>
                </a:lnTo>
                <a:lnTo>
                  <a:pt x="2730586" y="970375"/>
                </a:lnTo>
                <a:lnTo>
                  <a:pt x="2739609" y="958221"/>
                </a:lnTo>
                <a:lnTo>
                  <a:pt x="2748527" y="945850"/>
                </a:lnTo>
                <a:lnTo>
                  <a:pt x="2757344" y="933261"/>
                </a:lnTo>
                <a:lnTo>
                  <a:pt x="2766060" y="920451"/>
                </a:lnTo>
                <a:lnTo>
                  <a:pt x="2774676" y="907418"/>
                </a:lnTo>
                <a:lnTo>
                  <a:pt x="2783193" y="894159"/>
                </a:lnTo>
                <a:lnTo>
                  <a:pt x="2791613" y="880673"/>
                </a:lnTo>
                <a:lnTo>
                  <a:pt x="2799936" y="866957"/>
                </a:lnTo>
                <a:lnTo>
                  <a:pt x="2808164" y="853009"/>
                </a:lnTo>
                <a:lnTo>
                  <a:pt x="2816298" y="838826"/>
                </a:lnTo>
                <a:lnTo>
                  <a:pt x="2824339" y="824407"/>
                </a:lnTo>
                <a:lnTo>
                  <a:pt x="2832287" y="809748"/>
                </a:lnTo>
                <a:lnTo>
                  <a:pt x="2840144" y="794849"/>
                </a:lnTo>
                <a:lnTo>
                  <a:pt x="2847912" y="779706"/>
                </a:lnTo>
                <a:lnTo>
                  <a:pt x="2855590" y="764317"/>
                </a:lnTo>
                <a:lnTo>
                  <a:pt x="2863181" y="748681"/>
                </a:lnTo>
                <a:lnTo>
                  <a:pt x="2870685" y="732794"/>
                </a:lnTo>
                <a:lnTo>
                  <a:pt x="2878102" y="716655"/>
                </a:lnTo>
                <a:lnTo>
                  <a:pt x="2885435" y="700261"/>
                </a:lnTo>
                <a:lnTo>
                  <a:pt x="2892684" y="683611"/>
                </a:lnTo>
                <a:lnTo>
                  <a:pt x="2899849" y="666701"/>
                </a:lnTo>
                <a:lnTo>
                  <a:pt x="2906933" y="649530"/>
                </a:lnTo>
                <a:lnTo>
                  <a:pt x="2913936" y="632096"/>
                </a:lnTo>
                <a:lnTo>
                  <a:pt x="2920858" y="614396"/>
                </a:lnTo>
                <a:lnTo>
                  <a:pt x="2927701" y="596429"/>
                </a:lnTo>
                <a:lnTo>
                  <a:pt x="2934466" y="578192"/>
                </a:lnTo>
                <a:lnTo>
                  <a:pt x="2941153" y="559682"/>
                </a:lnTo>
                <a:lnTo>
                  <a:pt x="2947763" y="540899"/>
                </a:lnTo>
                <a:lnTo>
                  <a:pt x="2954298" y="521839"/>
                </a:lnTo>
                <a:lnTo>
                  <a:pt x="2960758" y="502501"/>
                </a:lnTo>
                <a:lnTo>
                  <a:pt x="2967144" y="482882"/>
                </a:lnTo>
                <a:lnTo>
                  <a:pt x="2973457" y="462981"/>
                </a:lnTo>
                <a:lnTo>
                  <a:pt x="2979698" y="442796"/>
                </a:lnTo>
                <a:lnTo>
                  <a:pt x="2985867" y="422324"/>
                </a:lnTo>
                <a:lnTo>
                  <a:pt x="2991965" y="401564"/>
                </a:lnTo>
                <a:lnTo>
                  <a:pt x="2997994" y="380513"/>
                </a:lnTo>
                <a:lnTo>
                  <a:pt x="3003953" y="359170"/>
                </a:lnTo>
                <a:lnTo>
                  <a:pt x="3009845" y="337533"/>
                </a:lnTo>
                <a:lnTo>
                  <a:pt x="3015669" y="315600"/>
                </a:lnTo>
                <a:lnTo>
                  <a:pt x="3021426" y="293369"/>
                </a:lnTo>
                <a:lnTo>
                  <a:pt x="3027117" y="270839"/>
                </a:lnTo>
                <a:lnTo>
                  <a:pt x="3032743" y="248007"/>
                </a:lnTo>
                <a:lnTo>
                  <a:pt x="3038305" y="224872"/>
                </a:lnTo>
                <a:lnTo>
                  <a:pt x="3043802" y="201432"/>
                </a:lnTo>
                <a:lnTo>
                  <a:pt x="3049237" y="177686"/>
                </a:lnTo>
                <a:lnTo>
                  <a:pt x="3054610" y="153632"/>
                </a:lnTo>
                <a:lnTo>
                  <a:pt x="3059921" y="129269"/>
                </a:lnTo>
                <a:lnTo>
                  <a:pt x="3065171" y="104595"/>
                </a:lnTo>
                <a:lnTo>
                  <a:pt x="3070362" y="79608"/>
                </a:lnTo>
                <a:lnTo>
                  <a:pt x="3075492" y="54309"/>
                </a:lnTo>
                <a:lnTo>
                  <a:pt x="3080564" y="28694"/>
                </a:lnTo>
                <a:lnTo>
                  <a:pt x="3085578" y="2764"/>
                </a:lnTo>
                <a:lnTo>
                  <a:pt x="3086100" y="0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73" name="gamma.zero">
            <a:extLst>
              <a:ext uri="{FF2B5EF4-FFF2-40B4-BE49-F238E27FC236}">
                <a16:creationId xmlns:a16="http://schemas.microsoft.com/office/drawing/2014/main" id="{EBC80742-429E-4C87-90B3-A2BC6E14E414}"/>
              </a:ext>
            </a:extLst>
          </p:cNvPr>
          <p:cNvSpPr>
            <a:spLocks noGrp="1"/>
          </p:cNvSpPr>
          <p:nvPr/>
        </p:nvSpPr>
        <p:spPr>
          <a:xfrm>
            <a:off x="7086600" y="4427220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1430">
            <a:solidFill>
              <a:srgbClr val="82878C"/>
            </a:solidFill>
            <a:prstDash val="dash"/>
          </a:ln>
        </p:spPr>
      </p:sp>
      <p:sp>
        <p:nvSpPr>
          <p:cNvPr id="74" name="gamma.selected">
            <a:extLst>
              <a:ext uri="{FF2B5EF4-FFF2-40B4-BE49-F238E27FC236}">
                <a16:creationId xmlns:a16="http://schemas.microsoft.com/office/drawing/2014/main" id="{77562376-4789-4230-BE86-97B990D8B035}"/>
              </a:ext>
            </a:extLst>
          </p:cNvPr>
          <p:cNvSpPr>
            <a:spLocks noGrp="1"/>
          </p:cNvSpPr>
          <p:nvPr/>
        </p:nvSpPr>
        <p:spPr>
          <a:xfrm>
            <a:off x="8578635" y="4379595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75" name="gamma.projection">
            <a:extLst>
              <a:ext uri="{FF2B5EF4-FFF2-40B4-BE49-F238E27FC236}">
                <a16:creationId xmlns:a16="http://schemas.microsoft.com/office/drawing/2014/main" id="{F288D5E1-9569-400A-817D-8297CFEDB2A4}"/>
              </a:ext>
            </a:extLst>
          </p:cNvPr>
          <p:cNvSpPr>
            <a:spLocks noGrp="1"/>
          </p:cNvSpPr>
          <p:nvPr/>
        </p:nvSpPr>
        <p:spPr>
          <a:xfrm>
            <a:off x="8626260" y="4427220"/>
            <a:ext cx="953" cy="211455"/>
          </a:xfrm>
          <a:custGeom>
            <a:avLst/>
            <a:gdLst/>
            <a:ahLst/>
            <a:cxnLst/>
            <a:rect l="0" t="0" r="0" b="0"/>
            <a:pathLst>
              <a:path w="953" h="211455">
                <a:moveTo>
                  <a:pt x="0" y="0"/>
                </a:moveTo>
                <a:lnTo>
                  <a:pt x="0" y="211455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77" name="gamma.root-leader">
            <a:extLst>
              <a:ext uri="{FF2B5EF4-FFF2-40B4-BE49-F238E27FC236}">
                <a16:creationId xmlns:a16="http://schemas.microsoft.com/office/drawing/2014/main" id="{8CA605B3-4BDE-4153-B73E-D10EF12C5B15}"/>
              </a:ext>
            </a:extLst>
          </p:cNvPr>
          <p:cNvSpPr>
            <a:spLocks noGrp="1"/>
          </p:cNvSpPr>
          <p:nvPr/>
        </p:nvSpPr>
        <p:spPr>
          <a:xfrm>
            <a:off x="8578635" y="4010025"/>
            <a:ext cx="127215" cy="350520"/>
          </a:xfrm>
          <a:custGeom>
            <a:avLst/>
            <a:gdLst/>
            <a:ahLst/>
            <a:cxnLst/>
            <a:rect l="0" t="0" r="0" b="0"/>
            <a:pathLst>
              <a:path w="127215" h="350520">
                <a:moveTo>
                  <a:pt x="127215" y="0"/>
                </a:moveTo>
                <a:lnTo>
                  <a:pt x="0" y="35052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79" name="flow.criterion-gamma">
            <a:extLst>
              <a:ext uri="{FF2B5EF4-FFF2-40B4-BE49-F238E27FC236}">
                <a16:creationId xmlns:a16="http://schemas.microsoft.com/office/drawing/2014/main" id="{9AB524AB-80E2-4875-AFB4-4C2494541592}"/>
              </a:ext>
            </a:extLst>
          </p:cNvPr>
          <p:cNvSpPr>
            <a:spLocks noGrp="1"/>
          </p:cNvSpPr>
          <p:nvPr/>
        </p:nvSpPr>
        <p:spPr>
          <a:xfrm>
            <a:off x="5257800" y="322897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0" name="flow.criterion-transfer">
            <a:extLst>
              <a:ext uri="{FF2B5EF4-FFF2-40B4-BE49-F238E27FC236}">
                <a16:creationId xmlns:a16="http://schemas.microsoft.com/office/drawing/2014/main" id="{0D8B2665-ECD2-4888-83F8-014ED5CA7F07}"/>
              </a:ext>
            </a:extLst>
          </p:cNvPr>
          <p:cNvSpPr>
            <a:spLocks noGrp="1"/>
          </p:cNvSpPr>
          <p:nvPr/>
        </p:nvSpPr>
        <p:spPr>
          <a:xfrm>
            <a:off x="5267325" y="2847975"/>
            <a:ext cx="6477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1" name="beta.boundary">
            <a:extLst>
              <a:ext uri="{FF2B5EF4-FFF2-40B4-BE49-F238E27FC236}">
                <a16:creationId xmlns:a16="http://schemas.microsoft.com/office/drawing/2014/main" id="{3B04B239-8111-4C6B-8375-799B6BA7D02D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82" name="beta.header">
            <a:extLst>
              <a:ext uri="{FF2B5EF4-FFF2-40B4-BE49-F238E27FC236}">
                <a16:creationId xmlns:a16="http://schemas.microsoft.com/office/drawing/2014/main" id="{F86162C6-0D3C-45CF-AF92-94C1A5685E07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83" name="beta.title">
            <a:extLst>
              <a:ext uri="{FF2B5EF4-FFF2-40B4-BE49-F238E27FC236}">
                <a16:creationId xmlns:a16="http://schemas.microsoft.com/office/drawing/2014/main" id="{3EE29357-C60E-407F-866A-B53DAF09D23B}"/>
              </a:ext>
            </a:extLst>
          </p:cNvPr>
          <p:cNvSpPr>
            <a:spLocks noGrp="1"/>
          </p:cNvSpPr>
          <p:nvPr/>
        </p:nvSpPr>
        <p:spPr>
          <a:xfrm>
            <a:off x="11906250" y="933450"/>
            <a:ext cx="47625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代入位置，回代形状参数</a:t>
            </a:r>
          </a:p>
        </p:txBody>
      </p:sp>
      <p:sp>
        <p:nvSpPr>
          <p:cNvPr id="88" name="beta.fixed">
            <a:extLst>
              <a:ext uri="{FF2B5EF4-FFF2-40B4-BE49-F238E27FC236}">
                <a16:creationId xmlns:a16="http://schemas.microsoft.com/office/drawing/2014/main" id="{FFE66705-7CD1-4385-AE81-A85A19760F33}"/>
              </a:ext>
            </a:extLst>
          </p:cNvPr>
          <p:cNvSpPr>
            <a:spLocks noGrp="1"/>
          </p:cNvSpPr>
          <p:nvPr/>
        </p:nvSpPr>
        <p:spPr>
          <a:xfrm>
            <a:off x="12096750" y="22955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固定 γ̂ = 974.4</a:t>
            </a:r>
          </a:p>
        </p:txBody>
      </p:sp>
      <p:sp>
        <p:nvSpPr>
          <p:cNvPr id="89" name="beta.axisx">
            <a:extLst>
              <a:ext uri="{FF2B5EF4-FFF2-40B4-BE49-F238E27FC236}">
                <a16:creationId xmlns:a16="http://schemas.microsoft.com/office/drawing/2014/main" id="{4ECBEFD3-0120-48A6-AD4E-3F62BF58ABB6}"/>
              </a:ext>
            </a:extLst>
          </p:cNvPr>
          <p:cNvSpPr>
            <a:spLocks noGrp="1"/>
          </p:cNvSpPr>
          <p:nvPr/>
        </p:nvSpPr>
        <p:spPr>
          <a:xfrm>
            <a:off x="12954000" y="4638675"/>
            <a:ext cx="3143250" cy="953"/>
          </a:xfrm>
          <a:custGeom>
            <a:avLst/>
            <a:gdLst/>
            <a:ahLst/>
            <a:cxnLst/>
            <a:rect l="0" t="0" r="0" b="0"/>
            <a:pathLst>
              <a:path w="3143250" h="953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0" name="beta.axisy">
            <a:extLst>
              <a:ext uri="{FF2B5EF4-FFF2-40B4-BE49-F238E27FC236}">
                <a16:creationId xmlns:a16="http://schemas.microsoft.com/office/drawing/2014/main" id="{FB66B297-ACCC-4659-9410-522E4CB05646}"/>
              </a:ext>
            </a:extLst>
          </p:cNvPr>
          <p:cNvSpPr>
            <a:spLocks noGrp="1"/>
          </p:cNvSpPr>
          <p:nvPr/>
        </p:nvSpPr>
        <p:spPr>
          <a:xfrm>
            <a:off x="129540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1" name="beta.xtick1.5">
            <a:extLst>
              <a:ext uri="{FF2B5EF4-FFF2-40B4-BE49-F238E27FC236}">
                <a16:creationId xmlns:a16="http://schemas.microsoft.com/office/drawing/2014/main" id="{CA0000F9-3D24-495F-9744-517705B66938}"/>
              </a:ext>
            </a:extLst>
          </p:cNvPr>
          <p:cNvSpPr>
            <a:spLocks noGrp="1"/>
          </p:cNvSpPr>
          <p:nvPr/>
        </p:nvSpPr>
        <p:spPr>
          <a:xfrm>
            <a:off x="129540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2" name="beta.xtxt1.5">
            <a:extLst>
              <a:ext uri="{FF2B5EF4-FFF2-40B4-BE49-F238E27FC236}">
                <a16:creationId xmlns:a16="http://schemas.microsoft.com/office/drawing/2014/main" id="{48656881-2A18-4450-BEA1-E140EE4AA53B}"/>
              </a:ext>
            </a:extLst>
          </p:cNvPr>
          <p:cNvSpPr>
            <a:spLocks noGrp="1"/>
          </p:cNvSpPr>
          <p:nvPr/>
        </p:nvSpPr>
        <p:spPr>
          <a:xfrm>
            <a:off x="126206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93" name="beta.xtick2.5">
            <a:extLst>
              <a:ext uri="{FF2B5EF4-FFF2-40B4-BE49-F238E27FC236}">
                <a16:creationId xmlns:a16="http://schemas.microsoft.com/office/drawing/2014/main" id="{7F150110-82D4-4776-AB63-F44EE9F4A045}"/>
              </a:ext>
            </a:extLst>
          </p:cNvPr>
          <p:cNvSpPr>
            <a:spLocks noGrp="1"/>
          </p:cNvSpPr>
          <p:nvPr/>
        </p:nvSpPr>
        <p:spPr>
          <a:xfrm>
            <a:off x="142113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4" name="beta.xtxt2.5">
            <a:extLst>
              <a:ext uri="{FF2B5EF4-FFF2-40B4-BE49-F238E27FC236}">
                <a16:creationId xmlns:a16="http://schemas.microsoft.com/office/drawing/2014/main" id="{5F43076A-6037-421E-AF2B-AC20A568C8E1}"/>
              </a:ext>
            </a:extLst>
          </p:cNvPr>
          <p:cNvSpPr>
            <a:spLocks noGrp="1"/>
          </p:cNvSpPr>
          <p:nvPr/>
        </p:nvSpPr>
        <p:spPr>
          <a:xfrm>
            <a:off x="138779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95" name="beta.xtick3.5">
            <a:extLst>
              <a:ext uri="{FF2B5EF4-FFF2-40B4-BE49-F238E27FC236}">
                <a16:creationId xmlns:a16="http://schemas.microsoft.com/office/drawing/2014/main" id="{CA3FAF86-0464-4869-8564-8AD4604156D8}"/>
              </a:ext>
            </a:extLst>
          </p:cNvPr>
          <p:cNvSpPr>
            <a:spLocks noGrp="1"/>
          </p:cNvSpPr>
          <p:nvPr/>
        </p:nvSpPr>
        <p:spPr>
          <a:xfrm>
            <a:off x="154686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6" name="beta.xtxt3.5">
            <a:extLst>
              <a:ext uri="{FF2B5EF4-FFF2-40B4-BE49-F238E27FC236}">
                <a16:creationId xmlns:a16="http://schemas.microsoft.com/office/drawing/2014/main" id="{1A8BE43B-4F4A-4044-8807-9791C69738AD}"/>
              </a:ext>
            </a:extLst>
          </p:cNvPr>
          <p:cNvSpPr>
            <a:spLocks noGrp="1"/>
          </p:cNvSpPr>
          <p:nvPr/>
        </p:nvSpPr>
        <p:spPr>
          <a:xfrm>
            <a:off x="151352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97" name="beta.ytick0">
            <a:extLst>
              <a:ext uri="{FF2B5EF4-FFF2-40B4-BE49-F238E27FC236}">
                <a16:creationId xmlns:a16="http://schemas.microsoft.com/office/drawing/2014/main" id="{33C0E5B7-68E6-4FFD-8ED6-1D9DE3C3D25F}"/>
              </a:ext>
            </a:extLst>
          </p:cNvPr>
          <p:cNvSpPr>
            <a:spLocks noGrp="1"/>
          </p:cNvSpPr>
          <p:nvPr/>
        </p:nvSpPr>
        <p:spPr>
          <a:xfrm>
            <a:off x="12896850" y="46386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8" name="beta.ytxt0">
            <a:extLst>
              <a:ext uri="{FF2B5EF4-FFF2-40B4-BE49-F238E27FC236}">
                <a16:creationId xmlns:a16="http://schemas.microsoft.com/office/drawing/2014/main" id="{8A023397-ED54-4F6B-8BC8-4CB8979B8521}"/>
              </a:ext>
            </a:extLst>
          </p:cNvPr>
          <p:cNvSpPr>
            <a:spLocks noGrp="1"/>
          </p:cNvSpPr>
          <p:nvPr/>
        </p:nvSpPr>
        <p:spPr>
          <a:xfrm>
            <a:off x="12363450" y="451485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9" name="beta.ytick100">
            <a:extLst>
              <a:ext uri="{FF2B5EF4-FFF2-40B4-BE49-F238E27FC236}">
                <a16:creationId xmlns:a16="http://schemas.microsoft.com/office/drawing/2014/main" id="{69C4AA06-4480-4DD5-A734-63144AF213D5}"/>
              </a:ext>
            </a:extLst>
          </p:cNvPr>
          <p:cNvSpPr>
            <a:spLocks noGrp="1"/>
          </p:cNvSpPr>
          <p:nvPr/>
        </p:nvSpPr>
        <p:spPr>
          <a:xfrm>
            <a:off x="12896850" y="413521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0" name="beta.ytxt100">
            <a:extLst>
              <a:ext uri="{FF2B5EF4-FFF2-40B4-BE49-F238E27FC236}">
                <a16:creationId xmlns:a16="http://schemas.microsoft.com/office/drawing/2014/main" id="{89690B26-F8AC-43B2-B7D4-D538CFA212F6}"/>
              </a:ext>
            </a:extLst>
          </p:cNvPr>
          <p:cNvSpPr>
            <a:spLocks noGrp="1"/>
          </p:cNvSpPr>
          <p:nvPr/>
        </p:nvSpPr>
        <p:spPr>
          <a:xfrm>
            <a:off x="12363450" y="401138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1" name="beta.ytick200">
            <a:extLst>
              <a:ext uri="{FF2B5EF4-FFF2-40B4-BE49-F238E27FC236}">
                <a16:creationId xmlns:a16="http://schemas.microsoft.com/office/drawing/2014/main" id="{2DCD859D-152F-4682-B7F6-266481C59295}"/>
              </a:ext>
            </a:extLst>
          </p:cNvPr>
          <p:cNvSpPr>
            <a:spLocks noGrp="1"/>
          </p:cNvSpPr>
          <p:nvPr/>
        </p:nvSpPr>
        <p:spPr>
          <a:xfrm>
            <a:off x="12896850" y="3631746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2" name="beta.ytxt200">
            <a:extLst>
              <a:ext uri="{FF2B5EF4-FFF2-40B4-BE49-F238E27FC236}">
                <a16:creationId xmlns:a16="http://schemas.microsoft.com/office/drawing/2014/main" id="{CCA3174D-E99E-4612-9077-B97B4B815006}"/>
              </a:ext>
            </a:extLst>
          </p:cNvPr>
          <p:cNvSpPr>
            <a:spLocks noGrp="1"/>
          </p:cNvSpPr>
          <p:nvPr/>
        </p:nvSpPr>
        <p:spPr>
          <a:xfrm>
            <a:off x="12363450" y="3507921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03" name="beta.ytick300">
            <a:extLst>
              <a:ext uri="{FF2B5EF4-FFF2-40B4-BE49-F238E27FC236}">
                <a16:creationId xmlns:a16="http://schemas.microsoft.com/office/drawing/2014/main" id="{BF33DAF5-68FE-45B2-A7F3-BC648D709771}"/>
              </a:ext>
            </a:extLst>
          </p:cNvPr>
          <p:cNvSpPr>
            <a:spLocks noGrp="1"/>
          </p:cNvSpPr>
          <p:nvPr/>
        </p:nvSpPr>
        <p:spPr>
          <a:xfrm>
            <a:off x="12896850" y="3128282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4" name="beta.ytxt300">
            <a:extLst>
              <a:ext uri="{FF2B5EF4-FFF2-40B4-BE49-F238E27FC236}">
                <a16:creationId xmlns:a16="http://schemas.microsoft.com/office/drawing/2014/main" id="{26E3C574-53AF-4547-96B3-8869E5EC4245}"/>
              </a:ext>
            </a:extLst>
          </p:cNvPr>
          <p:cNvSpPr>
            <a:spLocks noGrp="1"/>
          </p:cNvSpPr>
          <p:nvPr/>
        </p:nvSpPr>
        <p:spPr>
          <a:xfrm>
            <a:off x="12363450" y="3004457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105" name="beta.xlabel">
            <a:extLst>
              <a:ext uri="{FF2B5EF4-FFF2-40B4-BE49-F238E27FC236}">
                <a16:creationId xmlns:a16="http://schemas.microsoft.com/office/drawing/2014/main" id="{C54BB9AB-8A48-4E07-856C-DD18919BB5C7}"/>
              </a:ext>
            </a:extLst>
          </p:cNvPr>
          <p:cNvSpPr>
            <a:spLocks noGrp="1"/>
          </p:cNvSpPr>
          <p:nvPr/>
        </p:nvSpPr>
        <p:spPr>
          <a:xfrm>
            <a:off x="12954000" y="5048250"/>
            <a:ext cx="31432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 βₖ</a:t>
            </a:r>
          </a:p>
        </p:txBody>
      </p:sp>
      <p:sp>
        <p:nvSpPr>
          <p:cNvPr id="106" name="beta.ylabel">
            <a:extLst>
              <a:ext uri="{FF2B5EF4-FFF2-40B4-BE49-F238E27FC236}">
                <a16:creationId xmlns:a16="http://schemas.microsoft.com/office/drawing/2014/main" id="{AF0CA971-2016-4131-A091-B01EDBD2657F}"/>
              </a:ext>
            </a:extLst>
          </p:cNvPr>
          <p:cNvSpPr>
            <a:spLocks noGrp="1"/>
          </p:cNvSpPr>
          <p:nvPr/>
        </p:nvSpPr>
        <p:spPr>
          <a:xfrm rot="16200000">
            <a:off x="1149667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差异 ση(γ̂, βₖ)</a:t>
            </a:r>
          </a:p>
        </p:txBody>
      </p:sp>
      <p:sp>
        <p:nvSpPr>
          <p:cNvPr id="107" name="beta.curve.segment0">
            <a:extLst>
              <a:ext uri="{FF2B5EF4-FFF2-40B4-BE49-F238E27FC236}">
                <a16:creationId xmlns:a16="http://schemas.microsoft.com/office/drawing/2014/main" id="{A52DCA4C-BA29-4504-9483-8AC72A2AD660}"/>
              </a:ext>
            </a:extLst>
          </p:cNvPr>
          <p:cNvSpPr>
            <a:spLocks noGrp="1"/>
          </p:cNvSpPr>
          <p:nvPr/>
        </p:nvSpPr>
        <p:spPr>
          <a:xfrm>
            <a:off x="12954000" y="2998906"/>
            <a:ext cx="3143250" cy="1171654"/>
          </a:xfrm>
          <a:custGeom>
            <a:avLst/>
            <a:gdLst/>
            <a:ahLst/>
            <a:cxnLst/>
            <a:rect l="0" t="0" r="0" b="0"/>
            <a:pathLst>
              <a:path w="3143250" h="1171654">
                <a:moveTo>
                  <a:pt x="0" y="0"/>
                </a:moveTo>
                <a:lnTo>
                  <a:pt x="4490" y="11426"/>
                </a:lnTo>
                <a:lnTo>
                  <a:pt x="8981" y="22756"/>
                </a:lnTo>
                <a:lnTo>
                  <a:pt x="13471" y="33991"/>
                </a:lnTo>
                <a:lnTo>
                  <a:pt x="17961" y="45132"/>
                </a:lnTo>
                <a:lnTo>
                  <a:pt x="22452" y="56179"/>
                </a:lnTo>
                <a:lnTo>
                  <a:pt x="26942" y="67134"/>
                </a:lnTo>
                <a:lnTo>
                  <a:pt x="31432" y="77998"/>
                </a:lnTo>
                <a:lnTo>
                  <a:pt x="35923" y="88771"/>
                </a:lnTo>
                <a:lnTo>
                  <a:pt x="40413" y="99456"/>
                </a:lnTo>
                <a:lnTo>
                  <a:pt x="44904" y="110052"/>
                </a:lnTo>
                <a:lnTo>
                  <a:pt x="49394" y="120560"/>
                </a:lnTo>
                <a:lnTo>
                  <a:pt x="53884" y="130982"/>
                </a:lnTo>
                <a:lnTo>
                  <a:pt x="58375" y="141318"/>
                </a:lnTo>
                <a:lnTo>
                  <a:pt x="62865" y="151569"/>
                </a:lnTo>
                <a:lnTo>
                  <a:pt x="67355" y="161737"/>
                </a:lnTo>
                <a:lnTo>
                  <a:pt x="71846" y="171821"/>
                </a:lnTo>
                <a:lnTo>
                  <a:pt x="76336" y="181823"/>
                </a:lnTo>
                <a:lnTo>
                  <a:pt x="80826" y="191744"/>
                </a:lnTo>
                <a:lnTo>
                  <a:pt x="85317" y="201584"/>
                </a:lnTo>
                <a:lnTo>
                  <a:pt x="89807" y="211345"/>
                </a:lnTo>
                <a:lnTo>
                  <a:pt x="94298" y="221026"/>
                </a:lnTo>
                <a:lnTo>
                  <a:pt x="98788" y="230629"/>
                </a:lnTo>
                <a:lnTo>
                  <a:pt x="103278" y="240155"/>
                </a:lnTo>
                <a:lnTo>
                  <a:pt x="107769" y="249604"/>
                </a:lnTo>
                <a:lnTo>
                  <a:pt x="112259" y="258977"/>
                </a:lnTo>
                <a:lnTo>
                  <a:pt x="116749" y="268275"/>
                </a:lnTo>
                <a:lnTo>
                  <a:pt x="121240" y="277498"/>
                </a:lnTo>
                <a:lnTo>
                  <a:pt x="125730" y="286647"/>
                </a:lnTo>
                <a:lnTo>
                  <a:pt x="130220" y="295724"/>
                </a:lnTo>
                <a:lnTo>
                  <a:pt x="134711" y="304727"/>
                </a:lnTo>
                <a:lnTo>
                  <a:pt x="139201" y="313660"/>
                </a:lnTo>
                <a:lnTo>
                  <a:pt x="143691" y="322521"/>
                </a:lnTo>
                <a:lnTo>
                  <a:pt x="148182" y="331311"/>
                </a:lnTo>
                <a:lnTo>
                  <a:pt x="152672" y="340032"/>
                </a:lnTo>
                <a:lnTo>
                  <a:pt x="157163" y="348684"/>
                </a:lnTo>
                <a:lnTo>
                  <a:pt x="161653" y="357268"/>
                </a:lnTo>
                <a:lnTo>
                  <a:pt x="166143" y="365783"/>
                </a:lnTo>
                <a:lnTo>
                  <a:pt x="170634" y="374231"/>
                </a:lnTo>
                <a:lnTo>
                  <a:pt x="175124" y="382613"/>
                </a:lnTo>
                <a:lnTo>
                  <a:pt x="179614" y="390928"/>
                </a:lnTo>
                <a:lnTo>
                  <a:pt x="184105" y="399178"/>
                </a:lnTo>
                <a:lnTo>
                  <a:pt x="188595" y="407364"/>
                </a:lnTo>
                <a:lnTo>
                  <a:pt x="193085" y="415484"/>
                </a:lnTo>
                <a:lnTo>
                  <a:pt x="197576" y="423541"/>
                </a:lnTo>
                <a:lnTo>
                  <a:pt x="202066" y="431535"/>
                </a:lnTo>
                <a:lnTo>
                  <a:pt x="206556" y="439466"/>
                </a:lnTo>
                <a:lnTo>
                  <a:pt x="211047" y="447335"/>
                </a:lnTo>
                <a:lnTo>
                  <a:pt x="215537" y="455143"/>
                </a:lnTo>
                <a:lnTo>
                  <a:pt x="220027" y="462889"/>
                </a:lnTo>
                <a:lnTo>
                  <a:pt x="224518" y="470575"/>
                </a:lnTo>
                <a:lnTo>
                  <a:pt x="229008" y="478200"/>
                </a:lnTo>
                <a:lnTo>
                  <a:pt x="233499" y="485766"/>
                </a:lnTo>
                <a:lnTo>
                  <a:pt x="237989" y="493273"/>
                </a:lnTo>
                <a:lnTo>
                  <a:pt x="242479" y="500722"/>
                </a:lnTo>
                <a:lnTo>
                  <a:pt x="246970" y="508112"/>
                </a:lnTo>
                <a:lnTo>
                  <a:pt x="251460" y="515444"/>
                </a:lnTo>
                <a:lnTo>
                  <a:pt x="255950" y="522720"/>
                </a:lnTo>
                <a:lnTo>
                  <a:pt x="260441" y="529938"/>
                </a:lnTo>
                <a:lnTo>
                  <a:pt x="264931" y="537101"/>
                </a:lnTo>
                <a:lnTo>
                  <a:pt x="269421" y="544207"/>
                </a:lnTo>
                <a:lnTo>
                  <a:pt x="273912" y="551258"/>
                </a:lnTo>
                <a:lnTo>
                  <a:pt x="278402" y="558254"/>
                </a:lnTo>
                <a:lnTo>
                  <a:pt x="282893" y="565195"/>
                </a:lnTo>
                <a:lnTo>
                  <a:pt x="287383" y="572082"/>
                </a:lnTo>
                <a:lnTo>
                  <a:pt x="291873" y="578916"/>
                </a:lnTo>
                <a:lnTo>
                  <a:pt x="296364" y="585696"/>
                </a:lnTo>
                <a:lnTo>
                  <a:pt x="300854" y="592423"/>
                </a:lnTo>
                <a:lnTo>
                  <a:pt x="305344" y="599097"/>
                </a:lnTo>
                <a:lnTo>
                  <a:pt x="309835" y="605720"/>
                </a:lnTo>
                <a:lnTo>
                  <a:pt x="314325" y="612290"/>
                </a:lnTo>
                <a:lnTo>
                  <a:pt x="318815" y="618809"/>
                </a:lnTo>
                <a:lnTo>
                  <a:pt x="323306" y="625278"/>
                </a:lnTo>
                <a:lnTo>
                  <a:pt x="327796" y="631695"/>
                </a:lnTo>
                <a:lnTo>
                  <a:pt x="332286" y="638062"/>
                </a:lnTo>
                <a:lnTo>
                  <a:pt x="336777" y="644379"/>
                </a:lnTo>
                <a:lnTo>
                  <a:pt x="341267" y="650646"/>
                </a:lnTo>
                <a:lnTo>
                  <a:pt x="345757" y="656864"/>
                </a:lnTo>
                <a:lnTo>
                  <a:pt x="350248" y="663033"/>
                </a:lnTo>
                <a:lnTo>
                  <a:pt x="354738" y="669154"/>
                </a:lnTo>
                <a:lnTo>
                  <a:pt x="359229" y="675226"/>
                </a:lnTo>
                <a:lnTo>
                  <a:pt x="363719" y="681250"/>
                </a:lnTo>
                <a:lnTo>
                  <a:pt x="368209" y="687227"/>
                </a:lnTo>
                <a:lnTo>
                  <a:pt x="372700" y="693156"/>
                </a:lnTo>
                <a:lnTo>
                  <a:pt x="377190" y="699038"/>
                </a:lnTo>
                <a:lnTo>
                  <a:pt x="381680" y="704873"/>
                </a:lnTo>
                <a:lnTo>
                  <a:pt x="386171" y="710662"/>
                </a:lnTo>
                <a:lnTo>
                  <a:pt x="390661" y="716405"/>
                </a:lnTo>
                <a:lnTo>
                  <a:pt x="395151" y="722102"/>
                </a:lnTo>
                <a:lnTo>
                  <a:pt x="399642" y="727753"/>
                </a:lnTo>
                <a:lnTo>
                  <a:pt x="404132" y="733359"/>
                </a:lnTo>
                <a:lnTo>
                  <a:pt x="408623" y="738920"/>
                </a:lnTo>
                <a:lnTo>
                  <a:pt x="413113" y="744436"/>
                </a:lnTo>
                <a:lnTo>
                  <a:pt x="417603" y="749908"/>
                </a:lnTo>
                <a:lnTo>
                  <a:pt x="422094" y="755335"/>
                </a:lnTo>
                <a:lnTo>
                  <a:pt x="426584" y="760718"/>
                </a:lnTo>
                <a:lnTo>
                  <a:pt x="431074" y="766058"/>
                </a:lnTo>
                <a:lnTo>
                  <a:pt x="435565" y="771354"/>
                </a:lnTo>
                <a:lnTo>
                  <a:pt x="440055" y="776607"/>
                </a:lnTo>
                <a:lnTo>
                  <a:pt x="444545" y="781818"/>
                </a:lnTo>
                <a:lnTo>
                  <a:pt x="449036" y="786985"/>
                </a:lnTo>
                <a:lnTo>
                  <a:pt x="453526" y="792110"/>
                </a:lnTo>
                <a:lnTo>
                  <a:pt x="458016" y="797192"/>
                </a:lnTo>
                <a:lnTo>
                  <a:pt x="462507" y="802233"/>
                </a:lnTo>
                <a:lnTo>
                  <a:pt x="466997" y="807231"/>
                </a:lnTo>
                <a:lnTo>
                  <a:pt x="471488" y="812188"/>
                </a:lnTo>
                <a:lnTo>
                  <a:pt x="475978" y="817104"/>
                </a:lnTo>
                <a:lnTo>
                  <a:pt x="480468" y="821979"/>
                </a:lnTo>
                <a:lnTo>
                  <a:pt x="484959" y="826812"/>
                </a:lnTo>
                <a:lnTo>
                  <a:pt x="489449" y="831605"/>
                </a:lnTo>
                <a:lnTo>
                  <a:pt x="493939" y="836357"/>
                </a:lnTo>
                <a:lnTo>
                  <a:pt x="498430" y="841069"/>
                </a:lnTo>
                <a:lnTo>
                  <a:pt x="502920" y="845741"/>
                </a:lnTo>
                <a:lnTo>
                  <a:pt x="507410" y="850373"/>
                </a:lnTo>
                <a:lnTo>
                  <a:pt x="511901" y="854965"/>
                </a:lnTo>
                <a:lnTo>
                  <a:pt x="516391" y="859517"/>
                </a:lnTo>
                <a:lnTo>
                  <a:pt x="520881" y="864030"/>
                </a:lnTo>
                <a:lnTo>
                  <a:pt x="525372" y="868504"/>
                </a:lnTo>
                <a:lnTo>
                  <a:pt x="529862" y="872939"/>
                </a:lnTo>
                <a:lnTo>
                  <a:pt x="534352" y="877335"/>
                </a:lnTo>
                <a:lnTo>
                  <a:pt x="538843" y="881693"/>
                </a:lnTo>
                <a:lnTo>
                  <a:pt x="543333" y="886011"/>
                </a:lnTo>
                <a:lnTo>
                  <a:pt x="547824" y="890292"/>
                </a:lnTo>
                <a:lnTo>
                  <a:pt x="552314" y="894534"/>
                </a:lnTo>
                <a:lnTo>
                  <a:pt x="556804" y="898739"/>
                </a:lnTo>
                <a:lnTo>
                  <a:pt x="561295" y="902905"/>
                </a:lnTo>
                <a:lnTo>
                  <a:pt x="565785" y="907034"/>
                </a:lnTo>
                <a:lnTo>
                  <a:pt x="570275" y="911126"/>
                </a:lnTo>
                <a:lnTo>
                  <a:pt x="574766" y="915180"/>
                </a:lnTo>
                <a:lnTo>
                  <a:pt x="579256" y="919196"/>
                </a:lnTo>
                <a:lnTo>
                  <a:pt x="583746" y="923176"/>
                </a:lnTo>
                <a:lnTo>
                  <a:pt x="588237" y="927119"/>
                </a:lnTo>
                <a:lnTo>
                  <a:pt x="592727" y="931025"/>
                </a:lnTo>
                <a:lnTo>
                  <a:pt x="597218" y="934894"/>
                </a:lnTo>
                <a:lnTo>
                  <a:pt x="601708" y="938727"/>
                </a:lnTo>
                <a:lnTo>
                  <a:pt x="606198" y="942524"/>
                </a:lnTo>
                <a:lnTo>
                  <a:pt x="610689" y="946284"/>
                </a:lnTo>
                <a:lnTo>
                  <a:pt x="615179" y="950009"/>
                </a:lnTo>
                <a:lnTo>
                  <a:pt x="619669" y="953697"/>
                </a:lnTo>
                <a:lnTo>
                  <a:pt x="624160" y="957350"/>
                </a:lnTo>
                <a:lnTo>
                  <a:pt x="628650" y="960967"/>
                </a:lnTo>
                <a:lnTo>
                  <a:pt x="633140" y="964548"/>
                </a:lnTo>
                <a:lnTo>
                  <a:pt x="637631" y="968094"/>
                </a:lnTo>
                <a:lnTo>
                  <a:pt x="642121" y="971605"/>
                </a:lnTo>
                <a:lnTo>
                  <a:pt x="646611" y="975080"/>
                </a:lnTo>
                <a:lnTo>
                  <a:pt x="651102" y="978520"/>
                </a:lnTo>
                <a:lnTo>
                  <a:pt x="655592" y="981926"/>
                </a:lnTo>
                <a:lnTo>
                  <a:pt x="660082" y="985297"/>
                </a:lnTo>
                <a:lnTo>
                  <a:pt x="664573" y="988633"/>
                </a:lnTo>
                <a:lnTo>
                  <a:pt x="669063" y="991934"/>
                </a:lnTo>
                <a:lnTo>
                  <a:pt x="673554" y="995201"/>
                </a:lnTo>
                <a:lnTo>
                  <a:pt x="678044" y="998434"/>
                </a:lnTo>
                <a:lnTo>
                  <a:pt x="682534" y="1001633"/>
                </a:lnTo>
                <a:lnTo>
                  <a:pt x="687025" y="1004797"/>
                </a:lnTo>
                <a:lnTo>
                  <a:pt x="691515" y="1007927"/>
                </a:lnTo>
                <a:lnTo>
                  <a:pt x="696005" y="1011024"/>
                </a:lnTo>
                <a:lnTo>
                  <a:pt x="700496" y="1014087"/>
                </a:lnTo>
                <a:lnTo>
                  <a:pt x="704986" y="1017116"/>
                </a:lnTo>
                <a:lnTo>
                  <a:pt x="709476" y="1020111"/>
                </a:lnTo>
                <a:lnTo>
                  <a:pt x="713967" y="1023073"/>
                </a:lnTo>
                <a:lnTo>
                  <a:pt x="718457" y="1026002"/>
                </a:lnTo>
                <a:lnTo>
                  <a:pt x="722948" y="1028898"/>
                </a:lnTo>
                <a:lnTo>
                  <a:pt x="727438" y="1031760"/>
                </a:lnTo>
                <a:lnTo>
                  <a:pt x="731928" y="1034589"/>
                </a:lnTo>
                <a:lnTo>
                  <a:pt x="736419" y="1037386"/>
                </a:lnTo>
                <a:lnTo>
                  <a:pt x="740909" y="1040149"/>
                </a:lnTo>
                <a:lnTo>
                  <a:pt x="745399" y="1042880"/>
                </a:lnTo>
                <a:lnTo>
                  <a:pt x="749890" y="1045579"/>
                </a:lnTo>
                <a:lnTo>
                  <a:pt x="754380" y="1048244"/>
                </a:lnTo>
                <a:lnTo>
                  <a:pt x="758870" y="1050878"/>
                </a:lnTo>
                <a:lnTo>
                  <a:pt x="763361" y="1053479"/>
                </a:lnTo>
                <a:lnTo>
                  <a:pt x="767851" y="1056048"/>
                </a:lnTo>
                <a:lnTo>
                  <a:pt x="772341" y="1058585"/>
                </a:lnTo>
                <a:lnTo>
                  <a:pt x="776832" y="1061090"/>
                </a:lnTo>
                <a:lnTo>
                  <a:pt x="781322" y="1063563"/>
                </a:lnTo>
                <a:lnTo>
                  <a:pt x="785813" y="1066004"/>
                </a:lnTo>
                <a:lnTo>
                  <a:pt x="790303" y="1068414"/>
                </a:lnTo>
                <a:lnTo>
                  <a:pt x="794793" y="1070792"/>
                </a:lnTo>
                <a:lnTo>
                  <a:pt x="799284" y="1073139"/>
                </a:lnTo>
                <a:lnTo>
                  <a:pt x="803774" y="1075454"/>
                </a:lnTo>
                <a:lnTo>
                  <a:pt x="808264" y="1077738"/>
                </a:lnTo>
                <a:lnTo>
                  <a:pt x="812755" y="1079991"/>
                </a:lnTo>
                <a:lnTo>
                  <a:pt x="817245" y="1082213"/>
                </a:lnTo>
                <a:lnTo>
                  <a:pt x="821735" y="1084404"/>
                </a:lnTo>
                <a:lnTo>
                  <a:pt x="826226" y="1086564"/>
                </a:lnTo>
                <a:lnTo>
                  <a:pt x="830716" y="1088693"/>
                </a:lnTo>
                <a:lnTo>
                  <a:pt x="835206" y="1090792"/>
                </a:lnTo>
                <a:lnTo>
                  <a:pt x="839697" y="1092861"/>
                </a:lnTo>
                <a:lnTo>
                  <a:pt x="844187" y="1094899"/>
                </a:lnTo>
                <a:lnTo>
                  <a:pt x="848677" y="1096906"/>
                </a:lnTo>
                <a:lnTo>
                  <a:pt x="853168" y="1098884"/>
                </a:lnTo>
                <a:lnTo>
                  <a:pt x="857658" y="1100831"/>
                </a:lnTo>
                <a:lnTo>
                  <a:pt x="862149" y="1102749"/>
                </a:lnTo>
                <a:lnTo>
                  <a:pt x="866639" y="1104637"/>
                </a:lnTo>
                <a:lnTo>
                  <a:pt x="871129" y="1106495"/>
                </a:lnTo>
                <a:lnTo>
                  <a:pt x="875620" y="1108324"/>
                </a:lnTo>
                <a:lnTo>
                  <a:pt x="880110" y="1110123"/>
                </a:lnTo>
                <a:lnTo>
                  <a:pt x="884600" y="1111893"/>
                </a:lnTo>
                <a:lnTo>
                  <a:pt x="889091" y="1113633"/>
                </a:lnTo>
                <a:lnTo>
                  <a:pt x="893581" y="1115345"/>
                </a:lnTo>
                <a:lnTo>
                  <a:pt x="898071" y="1117027"/>
                </a:lnTo>
                <a:lnTo>
                  <a:pt x="902562" y="1118681"/>
                </a:lnTo>
                <a:lnTo>
                  <a:pt x="907052" y="1120306"/>
                </a:lnTo>
                <a:lnTo>
                  <a:pt x="911543" y="1121902"/>
                </a:lnTo>
                <a:lnTo>
                  <a:pt x="916033" y="1123470"/>
                </a:lnTo>
                <a:lnTo>
                  <a:pt x="920523" y="1125010"/>
                </a:lnTo>
                <a:lnTo>
                  <a:pt x="925014" y="1126521"/>
                </a:lnTo>
                <a:lnTo>
                  <a:pt x="929504" y="1128004"/>
                </a:lnTo>
                <a:lnTo>
                  <a:pt x="933994" y="1129460"/>
                </a:lnTo>
                <a:lnTo>
                  <a:pt x="938485" y="1130887"/>
                </a:lnTo>
                <a:lnTo>
                  <a:pt x="942975" y="1132287"/>
                </a:lnTo>
                <a:lnTo>
                  <a:pt x="947465" y="1133660"/>
                </a:lnTo>
                <a:lnTo>
                  <a:pt x="951956" y="1135005"/>
                </a:lnTo>
                <a:lnTo>
                  <a:pt x="956446" y="1136322"/>
                </a:lnTo>
                <a:lnTo>
                  <a:pt x="960936" y="1137613"/>
                </a:lnTo>
                <a:lnTo>
                  <a:pt x="965427" y="1138877"/>
                </a:lnTo>
                <a:lnTo>
                  <a:pt x="969917" y="1140114"/>
                </a:lnTo>
                <a:lnTo>
                  <a:pt x="974407" y="1141324"/>
                </a:lnTo>
                <a:lnTo>
                  <a:pt x="978898" y="1142507"/>
                </a:lnTo>
                <a:lnTo>
                  <a:pt x="983388" y="1143665"/>
                </a:lnTo>
                <a:lnTo>
                  <a:pt x="987879" y="1144796"/>
                </a:lnTo>
                <a:lnTo>
                  <a:pt x="992369" y="1145901"/>
                </a:lnTo>
                <a:lnTo>
                  <a:pt x="996859" y="1146980"/>
                </a:lnTo>
                <a:lnTo>
                  <a:pt x="1001350" y="1148033"/>
                </a:lnTo>
                <a:lnTo>
                  <a:pt x="1005840" y="1149061"/>
                </a:lnTo>
                <a:lnTo>
                  <a:pt x="1010330" y="1150064"/>
                </a:lnTo>
                <a:lnTo>
                  <a:pt x="1014821" y="1151041"/>
                </a:lnTo>
                <a:lnTo>
                  <a:pt x="1019311" y="1151993"/>
                </a:lnTo>
                <a:lnTo>
                  <a:pt x="1023801" y="1152919"/>
                </a:lnTo>
                <a:lnTo>
                  <a:pt x="1028292" y="1153822"/>
                </a:lnTo>
                <a:lnTo>
                  <a:pt x="1032782" y="1154699"/>
                </a:lnTo>
                <a:lnTo>
                  <a:pt x="1037273" y="1155552"/>
                </a:lnTo>
                <a:lnTo>
                  <a:pt x="1041763" y="1156381"/>
                </a:lnTo>
                <a:lnTo>
                  <a:pt x="1046253" y="1157186"/>
                </a:lnTo>
                <a:lnTo>
                  <a:pt x="1050744" y="1157966"/>
                </a:lnTo>
                <a:lnTo>
                  <a:pt x="1055234" y="1158723"/>
                </a:lnTo>
                <a:lnTo>
                  <a:pt x="1059724" y="1159456"/>
                </a:lnTo>
                <a:lnTo>
                  <a:pt x="1064215" y="1160166"/>
                </a:lnTo>
                <a:lnTo>
                  <a:pt x="1068705" y="1160853"/>
                </a:lnTo>
                <a:lnTo>
                  <a:pt x="1073195" y="1161516"/>
                </a:lnTo>
                <a:lnTo>
                  <a:pt x="1077686" y="1162157"/>
                </a:lnTo>
                <a:lnTo>
                  <a:pt x="1082176" y="1162775"/>
                </a:lnTo>
                <a:lnTo>
                  <a:pt x="1086666" y="1163370"/>
                </a:lnTo>
                <a:lnTo>
                  <a:pt x="1091157" y="1163943"/>
                </a:lnTo>
                <a:lnTo>
                  <a:pt x="1095647" y="1164494"/>
                </a:lnTo>
                <a:lnTo>
                  <a:pt x="1100138" y="1165022"/>
                </a:lnTo>
                <a:lnTo>
                  <a:pt x="1104628" y="1165529"/>
                </a:lnTo>
                <a:lnTo>
                  <a:pt x="1109118" y="1166014"/>
                </a:lnTo>
                <a:lnTo>
                  <a:pt x="1113609" y="1166478"/>
                </a:lnTo>
                <a:lnTo>
                  <a:pt x="1118099" y="1166920"/>
                </a:lnTo>
                <a:lnTo>
                  <a:pt x="1122589" y="1167342"/>
                </a:lnTo>
                <a:lnTo>
                  <a:pt x="1127080" y="1167742"/>
                </a:lnTo>
                <a:lnTo>
                  <a:pt x="1131570" y="1168122"/>
                </a:lnTo>
                <a:lnTo>
                  <a:pt x="1136060" y="1168481"/>
                </a:lnTo>
                <a:lnTo>
                  <a:pt x="1140551" y="1168820"/>
                </a:lnTo>
                <a:lnTo>
                  <a:pt x="1145041" y="1169138"/>
                </a:lnTo>
                <a:lnTo>
                  <a:pt x="1149531" y="1169437"/>
                </a:lnTo>
                <a:lnTo>
                  <a:pt x="1154022" y="1169716"/>
                </a:lnTo>
                <a:lnTo>
                  <a:pt x="1158512" y="1169975"/>
                </a:lnTo>
                <a:lnTo>
                  <a:pt x="1163002" y="1170215"/>
                </a:lnTo>
                <a:lnTo>
                  <a:pt x="1167493" y="1170436"/>
                </a:lnTo>
                <a:lnTo>
                  <a:pt x="1171983" y="1170638"/>
                </a:lnTo>
                <a:lnTo>
                  <a:pt x="1176474" y="1170820"/>
                </a:lnTo>
                <a:lnTo>
                  <a:pt x="1180964" y="1170985"/>
                </a:lnTo>
                <a:lnTo>
                  <a:pt x="1185454" y="1171130"/>
                </a:lnTo>
                <a:lnTo>
                  <a:pt x="1189945" y="1171258"/>
                </a:lnTo>
                <a:lnTo>
                  <a:pt x="1194435" y="1171367"/>
                </a:lnTo>
                <a:lnTo>
                  <a:pt x="1198925" y="1171459"/>
                </a:lnTo>
                <a:lnTo>
                  <a:pt x="1203416" y="1171532"/>
                </a:lnTo>
                <a:lnTo>
                  <a:pt x="1207906" y="1171589"/>
                </a:lnTo>
                <a:lnTo>
                  <a:pt x="1212396" y="1171628"/>
                </a:lnTo>
                <a:lnTo>
                  <a:pt x="1216887" y="1171649"/>
                </a:lnTo>
                <a:lnTo>
                  <a:pt x="1221377" y="1171654"/>
                </a:lnTo>
                <a:lnTo>
                  <a:pt x="1225868" y="1171643"/>
                </a:lnTo>
                <a:lnTo>
                  <a:pt x="1230358" y="1171614"/>
                </a:lnTo>
                <a:lnTo>
                  <a:pt x="1234848" y="1171569"/>
                </a:lnTo>
                <a:lnTo>
                  <a:pt x="1239339" y="1171508"/>
                </a:lnTo>
                <a:lnTo>
                  <a:pt x="1243829" y="1171431"/>
                </a:lnTo>
                <a:lnTo>
                  <a:pt x="1248319" y="1171339"/>
                </a:lnTo>
                <a:lnTo>
                  <a:pt x="1252810" y="1171230"/>
                </a:lnTo>
                <a:lnTo>
                  <a:pt x="1257300" y="1171106"/>
                </a:lnTo>
                <a:lnTo>
                  <a:pt x="1261790" y="1170967"/>
                </a:lnTo>
                <a:lnTo>
                  <a:pt x="1266281" y="1170813"/>
                </a:lnTo>
                <a:lnTo>
                  <a:pt x="1270771" y="1170644"/>
                </a:lnTo>
                <a:lnTo>
                  <a:pt x="1275261" y="1170460"/>
                </a:lnTo>
                <a:lnTo>
                  <a:pt x="1279752" y="1170262"/>
                </a:lnTo>
                <a:lnTo>
                  <a:pt x="1284242" y="1170050"/>
                </a:lnTo>
                <a:lnTo>
                  <a:pt x="1288732" y="1169823"/>
                </a:lnTo>
                <a:lnTo>
                  <a:pt x="1293223" y="1169582"/>
                </a:lnTo>
                <a:lnTo>
                  <a:pt x="1297713" y="1169328"/>
                </a:lnTo>
                <a:lnTo>
                  <a:pt x="1302204" y="1169060"/>
                </a:lnTo>
                <a:lnTo>
                  <a:pt x="1306694" y="1168778"/>
                </a:lnTo>
                <a:lnTo>
                  <a:pt x="1311184" y="1168483"/>
                </a:lnTo>
                <a:lnTo>
                  <a:pt x="1315675" y="1168175"/>
                </a:lnTo>
                <a:lnTo>
                  <a:pt x="1320165" y="1167854"/>
                </a:lnTo>
                <a:lnTo>
                  <a:pt x="1324655" y="1167521"/>
                </a:lnTo>
                <a:lnTo>
                  <a:pt x="1329146" y="1167175"/>
                </a:lnTo>
                <a:lnTo>
                  <a:pt x="1333636" y="1166816"/>
                </a:lnTo>
                <a:lnTo>
                  <a:pt x="1338126" y="1166445"/>
                </a:lnTo>
                <a:lnTo>
                  <a:pt x="1342617" y="1166062"/>
                </a:lnTo>
                <a:lnTo>
                  <a:pt x="1347107" y="1165667"/>
                </a:lnTo>
                <a:lnTo>
                  <a:pt x="1351598" y="1165261"/>
                </a:lnTo>
                <a:lnTo>
                  <a:pt x="1356088" y="1164843"/>
                </a:lnTo>
                <a:lnTo>
                  <a:pt x="1360578" y="1164413"/>
                </a:lnTo>
                <a:lnTo>
                  <a:pt x="1365069" y="1163973"/>
                </a:lnTo>
                <a:lnTo>
                  <a:pt x="1369559" y="1163521"/>
                </a:lnTo>
                <a:lnTo>
                  <a:pt x="1374049" y="1163058"/>
                </a:lnTo>
                <a:lnTo>
                  <a:pt x="1378540" y="1162585"/>
                </a:lnTo>
                <a:lnTo>
                  <a:pt x="1383030" y="1162101"/>
                </a:lnTo>
                <a:lnTo>
                  <a:pt x="1387520" y="1161606"/>
                </a:lnTo>
                <a:lnTo>
                  <a:pt x="1392011" y="1161101"/>
                </a:lnTo>
                <a:lnTo>
                  <a:pt x="1396501" y="1160586"/>
                </a:lnTo>
                <a:lnTo>
                  <a:pt x="1400991" y="1160061"/>
                </a:lnTo>
                <a:lnTo>
                  <a:pt x="1405482" y="1159527"/>
                </a:lnTo>
                <a:lnTo>
                  <a:pt x="1409972" y="1158982"/>
                </a:lnTo>
                <a:lnTo>
                  <a:pt x="1414463" y="1158428"/>
                </a:lnTo>
                <a:lnTo>
                  <a:pt x="1418953" y="1157865"/>
                </a:lnTo>
                <a:lnTo>
                  <a:pt x="1423443" y="1157292"/>
                </a:lnTo>
                <a:lnTo>
                  <a:pt x="1427934" y="1156710"/>
                </a:lnTo>
                <a:lnTo>
                  <a:pt x="1432424" y="1156120"/>
                </a:lnTo>
                <a:lnTo>
                  <a:pt x="1436914" y="1155520"/>
                </a:lnTo>
                <a:lnTo>
                  <a:pt x="1441405" y="1154912"/>
                </a:lnTo>
                <a:lnTo>
                  <a:pt x="1445895" y="1154295"/>
                </a:lnTo>
                <a:lnTo>
                  <a:pt x="1450385" y="1153670"/>
                </a:lnTo>
                <a:lnTo>
                  <a:pt x="1454876" y="1153037"/>
                </a:lnTo>
                <a:lnTo>
                  <a:pt x="1459366" y="1152396"/>
                </a:lnTo>
                <a:lnTo>
                  <a:pt x="1463856" y="1151746"/>
                </a:lnTo>
                <a:lnTo>
                  <a:pt x="1468347" y="1151089"/>
                </a:lnTo>
                <a:lnTo>
                  <a:pt x="1472837" y="1150424"/>
                </a:lnTo>
                <a:lnTo>
                  <a:pt x="1477327" y="1149751"/>
                </a:lnTo>
                <a:lnTo>
                  <a:pt x="1481818" y="1149071"/>
                </a:lnTo>
                <a:lnTo>
                  <a:pt x="1486308" y="1148384"/>
                </a:lnTo>
                <a:lnTo>
                  <a:pt x="1490799" y="1147689"/>
                </a:lnTo>
                <a:lnTo>
                  <a:pt x="1495289" y="1146987"/>
                </a:lnTo>
                <a:lnTo>
                  <a:pt x="1499779" y="1146278"/>
                </a:lnTo>
                <a:lnTo>
                  <a:pt x="1504270" y="1145563"/>
                </a:lnTo>
                <a:lnTo>
                  <a:pt x="1508760" y="1144840"/>
                </a:lnTo>
                <a:lnTo>
                  <a:pt x="1513250" y="1144111"/>
                </a:lnTo>
                <a:lnTo>
                  <a:pt x="1517741" y="1143376"/>
                </a:lnTo>
                <a:lnTo>
                  <a:pt x="1522231" y="1142634"/>
                </a:lnTo>
                <a:lnTo>
                  <a:pt x="1526721" y="1141886"/>
                </a:lnTo>
                <a:lnTo>
                  <a:pt x="1531212" y="1141132"/>
                </a:lnTo>
                <a:lnTo>
                  <a:pt x="1535702" y="1140371"/>
                </a:lnTo>
                <a:lnTo>
                  <a:pt x="1540193" y="1139605"/>
                </a:lnTo>
                <a:lnTo>
                  <a:pt x="1544683" y="1138833"/>
                </a:lnTo>
                <a:lnTo>
                  <a:pt x="1549173" y="1138055"/>
                </a:lnTo>
                <a:lnTo>
                  <a:pt x="1553664" y="1137272"/>
                </a:lnTo>
                <a:lnTo>
                  <a:pt x="1558154" y="1136483"/>
                </a:lnTo>
                <a:lnTo>
                  <a:pt x="1562644" y="1135688"/>
                </a:lnTo>
                <a:lnTo>
                  <a:pt x="1567135" y="1134889"/>
                </a:lnTo>
                <a:lnTo>
                  <a:pt x="1571625" y="1134084"/>
                </a:lnTo>
                <a:lnTo>
                  <a:pt x="1576115" y="1133274"/>
                </a:lnTo>
                <a:lnTo>
                  <a:pt x="1580606" y="1132459"/>
                </a:lnTo>
                <a:lnTo>
                  <a:pt x="1585096" y="1131639"/>
                </a:lnTo>
                <a:lnTo>
                  <a:pt x="1589586" y="1130814"/>
                </a:lnTo>
                <a:lnTo>
                  <a:pt x="1594077" y="1129985"/>
                </a:lnTo>
                <a:lnTo>
                  <a:pt x="1598567" y="1129151"/>
                </a:lnTo>
                <a:lnTo>
                  <a:pt x="1603057" y="1128312"/>
                </a:lnTo>
                <a:lnTo>
                  <a:pt x="1607548" y="1127469"/>
                </a:lnTo>
                <a:lnTo>
                  <a:pt x="1612038" y="1126622"/>
                </a:lnTo>
                <a:lnTo>
                  <a:pt x="1616529" y="1125771"/>
                </a:lnTo>
                <a:lnTo>
                  <a:pt x="1621019" y="1124915"/>
                </a:lnTo>
                <a:lnTo>
                  <a:pt x="1625509" y="1124055"/>
                </a:lnTo>
                <a:lnTo>
                  <a:pt x="1630000" y="1123191"/>
                </a:lnTo>
                <a:lnTo>
                  <a:pt x="1634490" y="1122323"/>
                </a:lnTo>
                <a:lnTo>
                  <a:pt x="1638980" y="1121452"/>
                </a:lnTo>
                <a:lnTo>
                  <a:pt x="1643471" y="1120576"/>
                </a:lnTo>
                <a:lnTo>
                  <a:pt x="1647961" y="1119697"/>
                </a:lnTo>
                <a:lnTo>
                  <a:pt x="1652451" y="1118815"/>
                </a:lnTo>
                <a:lnTo>
                  <a:pt x="1656942" y="1117928"/>
                </a:lnTo>
                <a:lnTo>
                  <a:pt x="1661432" y="1117039"/>
                </a:lnTo>
                <a:lnTo>
                  <a:pt x="1665923" y="1116146"/>
                </a:lnTo>
                <a:lnTo>
                  <a:pt x="1670413" y="1115250"/>
                </a:lnTo>
                <a:lnTo>
                  <a:pt x="1674903" y="1114350"/>
                </a:lnTo>
                <a:lnTo>
                  <a:pt x="1679394" y="1113448"/>
                </a:lnTo>
                <a:lnTo>
                  <a:pt x="1683884" y="1112542"/>
                </a:lnTo>
                <a:lnTo>
                  <a:pt x="1688374" y="1111633"/>
                </a:lnTo>
                <a:lnTo>
                  <a:pt x="1692865" y="1110722"/>
                </a:lnTo>
                <a:lnTo>
                  <a:pt x="1697355" y="1109807"/>
                </a:lnTo>
                <a:lnTo>
                  <a:pt x="1701845" y="1108890"/>
                </a:lnTo>
                <a:lnTo>
                  <a:pt x="1706336" y="1107970"/>
                </a:lnTo>
                <a:lnTo>
                  <a:pt x="1710826" y="1107048"/>
                </a:lnTo>
                <a:lnTo>
                  <a:pt x="1715316" y="1106123"/>
                </a:lnTo>
                <a:lnTo>
                  <a:pt x="1719807" y="1105195"/>
                </a:lnTo>
                <a:lnTo>
                  <a:pt x="1724297" y="1104265"/>
                </a:lnTo>
                <a:lnTo>
                  <a:pt x="1728788" y="1103332"/>
                </a:lnTo>
                <a:lnTo>
                  <a:pt x="1733278" y="1102398"/>
                </a:lnTo>
                <a:lnTo>
                  <a:pt x="1737768" y="1101460"/>
                </a:lnTo>
                <a:lnTo>
                  <a:pt x="1742259" y="1100521"/>
                </a:lnTo>
                <a:lnTo>
                  <a:pt x="1746749" y="1099580"/>
                </a:lnTo>
                <a:lnTo>
                  <a:pt x="1751239" y="1098636"/>
                </a:lnTo>
                <a:lnTo>
                  <a:pt x="1755730" y="1097690"/>
                </a:lnTo>
                <a:lnTo>
                  <a:pt x="1760220" y="1096743"/>
                </a:lnTo>
                <a:lnTo>
                  <a:pt x="1764710" y="1095793"/>
                </a:lnTo>
                <a:lnTo>
                  <a:pt x="1769201" y="1094842"/>
                </a:lnTo>
                <a:lnTo>
                  <a:pt x="1773691" y="1093889"/>
                </a:lnTo>
                <a:lnTo>
                  <a:pt x="1778181" y="1092934"/>
                </a:lnTo>
                <a:lnTo>
                  <a:pt x="1782672" y="1091977"/>
                </a:lnTo>
                <a:lnTo>
                  <a:pt x="1787162" y="1091019"/>
                </a:lnTo>
                <a:lnTo>
                  <a:pt x="1791652" y="1090059"/>
                </a:lnTo>
                <a:lnTo>
                  <a:pt x="1796143" y="1089097"/>
                </a:lnTo>
                <a:lnTo>
                  <a:pt x="1800633" y="1088134"/>
                </a:lnTo>
                <a:lnTo>
                  <a:pt x="1805124" y="1087170"/>
                </a:lnTo>
                <a:lnTo>
                  <a:pt x="1809614" y="1086204"/>
                </a:lnTo>
                <a:lnTo>
                  <a:pt x="1814104" y="1085236"/>
                </a:lnTo>
                <a:lnTo>
                  <a:pt x="1818595" y="1084268"/>
                </a:lnTo>
                <a:lnTo>
                  <a:pt x="1823085" y="1083298"/>
                </a:lnTo>
                <a:lnTo>
                  <a:pt x="1827575" y="1082327"/>
                </a:lnTo>
                <a:lnTo>
                  <a:pt x="1832066" y="1081355"/>
                </a:lnTo>
                <a:lnTo>
                  <a:pt x="1836556" y="1080381"/>
                </a:lnTo>
                <a:lnTo>
                  <a:pt x="1841046" y="1079407"/>
                </a:lnTo>
                <a:lnTo>
                  <a:pt x="1845537" y="1078431"/>
                </a:lnTo>
                <a:lnTo>
                  <a:pt x="1850027" y="1077455"/>
                </a:lnTo>
                <a:lnTo>
                  <a:pt x="1854518" y="1076477"/>
                </a:lnTo>
                <a:lnTo>
                  <a:pt x="1859008" y="1075499"/>
                </a:lnTo>
                <a:lnTo>
                  <a:pt x="1863498" y="1074519"/>
                </a:lnTo>
                <a:lnTo>
                  <a:pt x="1867989" y="1073539"/>
                </a:lnTo>
                <a:lnTo>
                  <a:pt x="1872479" y="1072558"/>
                </a:lnTo>
                <a:lnTo>
                  <a:pt x="1876969" y="1071576"/>
                </a:lnTo>
                <a:lnTo>
                  <a:pt x="1881460" y="1070594"/>
                </a:lnTo>
                <a:lnTo>
                  <a:pt x="1885950" y="1069610"/>
                </a:lnTo>
                <a:lnTo>
                  <a:pt x="1890440" y="1068626"/>
                </a:lnTo>
                <a:lnTo>
                  <a:pt x="1894931" y="1067642"/>
                </a:lnTo>
                <a:lnTo>
                  <a:pt x="1899421" y="1066657"/>
                </a:lnTo>
                <a:lnTo>
                  <a:pt x="1903911" y="1065671"/>
                </a:lnTo>
                <a:lnTo>
                  <a:pt x="1908402" y="1064685"/>
                </a:lnTo>
                <a:lnTo>
                  <a:pt x="1912892" y="1063698"/>
                </a:lnTo>
                <a:lnTo>
                  <a:pt x="1917382" y="1062711"/>
                </a:lnTo>
                <a:lnTo>
                  <a:pt x="1921873" y="1061724"/>
                </a:lnTo>
                <a:lnTo>
                  <a:pt x="1926363" y="1060736"/>
                </a:lnTo>
                <a:lnTo>
                  <a:pt x="1930854" y="1059747"/>
                </a:lnTo>
                <a:lnTo>
                  <a:pt x="1935344" y="1058759"/>
                </a:lnTo>
                <a:lnTo>
                  <a:pt x="1939834" y="1057770"/>
                </a:lnTo>
                <a:lnTo>
                  <a:pt x="1944325" y="1056780"/>
                </a:lnTo>
                <a:lnTo>
                  <a:pt x="1948815" y="1055791"/>
                </a:lnTo>
                <a:lnTo>
                  <a:pt x="1953305" y="1054801"/>
                </a:lnTo>
                <a:lnTo>
                  <a:pt x="1957796" y="1053811"/>
                </a:lnTo>
                <a:lnTo>
                  <a:pt x="1962286" y="1052821"/>
                </a:lnTo>
                <a:lnTo>
                  <a:pt x="1966776" y="1051831"/>
                </a:lnTo>
                <a:lnTo>
                  <a:pt x="1971267" y="1050841"/>
                </a:lnTo>
                <a:lnTo>
                  <a:pt x="1975757" y="1049851"/>
                </a:lnTo>
                <a:lnTo>
                  <a:pt x="1980248" y="1048860"/>
                </a:lnTo>
                <a:lnTo>
                  <a:pt x="1984738" y="1047870"/>
                </a:lnTo>
                <a:lnTo>
                  <a:pt x="1989228" y="1046879"/>
                </a:lnTo>
                <a:lnTo>
                  <a:pt x="1993719" y="1045889"/>
                </a:lnTo>
                <a:lnTo>
                  <a:pt x="1998209" y="1044899"/>
                </a:lnTo>
                <a:lnTo>
                  <a:pt x="2002699" y="1043908"/>
                </a:lnTo>
                <a:lnTo>
                  <a:pt x="2007190" y="1042918"/>
                </a:lnTo>
                <a:lnTo>
                  <a:pt x="2011680" y="1041928"/>
                </a:lnTo>
                <a:lnTo>
                  <a:pt x="2016170" y="1040938"/>
                </a:lnTo>
                <a:lnTo>
                  <a:pt x="2020661" y="1039949"/>
                </a:lnTo>
                <a:lnTo>
                  <a:pt x="2025151" y="1038959"/>
                </a:lnTo>
                <a:lnTo>
                  <a:pt x="2029641" y="1037970"/>
                </a:lnTo>
                <a:lnTo>
                  <a:pt x="2034132" y="1036981"/>
                </a:lnTo>
                <a:lnTo>
                  <a:pt x="2038622" y="1035992"/>
                </a:lnTo>
                <a:lnTo>
                  <a:pt x="2043113" y="1035004"/>
                </a:lnTo>
                <a:lnTo>
                  <a:pt x="2047603" y="1034015"/>
                </a:lnTo>
                <a:lnTo>
                  <a:pt x="2052093" y="1033028"/>
                </a:lnTo>
                <a:lnTo>
                  <a:pt x="2056584" y="1032040"/>
                </a:lnTo>
                <a:lnTo>
                  <a:pt x="2061074" y="1031053"/>
                </a:lnTo>
                <a:lnTo>
                  <a:pt x="2065564" y="1030066"/>
                </a:lnTo>
                <a:lnTo>
                  <a:pt x="2070055" y="1029080"/>
                </a:lnTo>
                <a:lnTo>
                  <a:pt x="2074545" y="1028094"/>
                </a:lnTo>
                <a:lnTo>
                  <a:pt x="2079035" y="1027108"/>
                </a:lnTo>
                <a:lnTo>
                  <a:pt x="2083526" y="1026123"/>
                </a:lnTo>
                <a:lnTo>
                  <a:pt x="2088016" y="1025138"/>
                </a:lnTo>
                <a:lnTo>
                  <a:pt x="2092506" y="1024154"/>
                </a:lnTo>
                <a:lnTo>
                  <a:pt x="2096997" y="1023170"/>
                </a:lnTo>
                <a:lnTo>
                  <a:pt x="2101487" y="1022187"/>
                </a:lnTo>
                <a:lnTo>
                  <a:pt x="2105977" y="1021205"/>
                </a:lnTo>
                <a:lnTo>
                  <a:pt x="2110468" y="1020223"/>
                </a:lnTo>
                <a:lnTo>
                  <a:pt x="2114958" y="1019241"/>
                </a:lnTo>
                <a:lnTo>
                  <a:pt x="2119449" y="1018260"/>
                </a:lnTo>
                <a:lnTo>
                  <a:pt x="2123939" y="1017280"/>
                </a:lnTo>
                <a:lnTo>
                  <a:pt x="2128429" y="1016300"/>
                </a:lnTo>
                <a:lnTo>
                  <a:pt x="2132920" y="1015321"/>
                </a:lnTo>
                <a:lnTo>
                  <a:pt x="2137410" y="1014343"/>
                </a:lnTo>
                <a:lnTo>
                  <a:pt x="2141900" y="1013365"/>
                </a:lnTo>
                <a:lnTo>
                  <a:pt x="2146391" y="1012388"/>
                </a:lnTo>
                <a:lnTo>
                  <a:pt x="2150881" y="1011411"/>
                </a:lnTo>
                <a:lnTo>
                  <a:pt x="2155371" y="1010436"/>
                </a:lnTo>
                <a:lnTo>
                  <a:pt x="2159862" y="1009460"/>
                </a:lnTo>
                <a:lnTo>
                  <a:pt x="2164352" y="1008486"/>
                </a:lnTo>
                <a:lnTo>
                  <a:pt x="2168842" y="1007513"/>
                </a:lnTo>
                <a:lnTo>
                  <a:pt x="2173333" y="1006540"/>
                </a:lnTo>
                <a:lnTo>
                  <a:pt x="2177823" y="1005568"/>
                </a:lnTo>
                <a:lnTo>
                  <a:pt x="2182314" y="1004597"/>
                </a:lnTo>
                <a:lnTo>
                  <a:pt x="2186804" y="1003626"/>
                </a:lnTo>
                <a:lnTo>
                  <a:pt x="2191294" y="1002656"/>
                </a:lnTo>
                <a:lnTo>
                  <a:pt x="2195785" y="1001687"/>
                </a:lnTo>
                <a:lnTo>
                  <a:pt x="2200275" y="1000719"/>
                </a:lnTo>
                <a:lnTo>
                  <a:pt x="2204765" y="999752"/>
                </a:lnTo>
                <a:lnTo>
                  <a:pt x="2209256" y="998786"/>
                </a:lnTo>
                <a:lnTo>
                  <a:pt x="2213746" y="997820"/>
                </a:lnTo>
                <a:lnTo>
                  <a:pt x="2218236" y="996856"/>
                </a:lnTo>
                <a:lnTo>
                  <a:pt x="2222727" y="995892"/>
                </a:lnTo>
                <a:lnTo>
                  <a:pt x="2227217" y="994929"/>
                </a:lnTo>
                <a:lnTo>
                  <a:pt x="2231707" y="993967"/>
                </a:lnTo>
                <a:lnTo>
                  <a:pt x="2236198" y="993006"/>
                </a:lnTo>
                <a:lnTo>
                  <a:pt x="2240688" y="992045"/>
                </a:lnTo>
                <a:lnTo>
                  <a:pt x="2245179" y="991086"/>
                </a:lnTo>
                <a:lnTo>
                  <a:pt x="2249669" y="990128"/>
                </a:lnTo>
                <a:lnTo>
                  <a:pt x="2254159" y="989170"/>
                </a:lnTo>
                <a:lnTo>
                  <a:pt x="2258650" y="988214"/>
                </a:lnTo>
                <a:lnTo>
                  <a:pt x="2263140" y="987258"/>
                </a:lnTo>
                <a:lnTo>
                  <a:pt x="2267630" y="986304"/>
                </a:lnTo>
                <a:lnTo>
                  <a:pt x="2272121" y="985350"/>
                </a:lnTo>
                <a:lnTo>
                  <a:pt x="2276611" y="984398"/>
                </a:lnTo>
                <a:lnTo>
                  <a:pt x="2281101" y="983446"/>
                </a:lnTo>
                <a:lnTo>
                  <a:pt x="2285592" y="982495"/>
                </a:lnTo>
                <a:lnTo>
                  <a:pt x="2290082" y="981546"/>
                </a:lnTo>
                <a:lnTo>
                  <a:pt x="2294573" y="980597"/>
                </a:lnTo>
                <a:lnTo>
                  <a:pt x="2299063" y="979650"/>
                </a:lnTo>
                <a:lnTo>
                  <a:pt x="2303553" y="978703"/>
                </a:lnTo>
                <a:lnTo>
                  <a:pt x="2308044" y="977757"/>
                </a:lnTo>
                <a:lnTo>
                  <a:pt x="2312534" y="976813"/>
                </a:lnTo>
                <a:lnTo>
                  <a:pt x="2317024" y="975869"/>
                </a:lnTo>
                <a:lnTo>
                  <a:pt x="2321515" y="974927"/>
                </a:lnTo>
                <a:lnTo>
                  <a:pt x="2326005" y="973986"/>
                </a:lnTo>
                <a:lnTo>
                  <a:pt x="2330495" y="973045"/>
                </a:lnTo>
                <a:lnTo>
                  <a:pt x="2334986" y="972106"/>
                </a:lnTo>
                <a:lnTo>
                  <a:pt x="2339476" y="971168"/>
                </a:lnTo>
                <a:lnTo>
                  <a:pt x="2343966" y="970231"/>
                </a:lnTo>
                <a:lnTo>
                  <a:pt x="2348457" y="969295"/>
                </a:lnTo>
                <a:lnTo>
                  <a:pt x="2352947" y="968360"/>
                </a:lnTo>
                <a:lnTo>
                  <a:pt x="2357438" y="967426"/>
                </a:lnTo>
                <a:lnTo>
                  <a:pt x="2361928" y="966494"/>
                </a:lnTo>
                <a:lnTo>
                  <a:pt x="2366418" y="965562"/>
                </a:lnTo>
                <a:lnTo>
                  <a:pt x="2370909" y="964632"/>
                </a:lnTo>
                <a:lnTo>
                  <a:pt x="2375399" y="963703"/>
                </a:lnTo>
                <a:lnTo>
                  <a:pt x="2379889" y="962774"/>
                </a:lnTo>
                <a:lnTo>
                  <a:pt x="2384380" y="961847"/>
                </a:lnTo>
                <a:lnTo>
                  <a:pt x="2388870" y="960921"/>
                </a:lnTo>
                <a:lnTo>
                  <a:pt x="2393360" y="959997"/>
                </a:lnTo>
                <a:lnTo>
                  <a:pt x="2397851" y="959073"/>
                </a:lnTo>
                <a:lnTo>
                  <a:pt x="2402341" y="958151"/>
                </a:lnTo>
                <a:lnTo>
                  <a:pt x="2406831" y="957229"/>
                </a:lnTo>
                <a:lnTo>
                  <a:pt x="2411322" y="956309"/>
                </a:lnTo>
                <a:lnTo>
                  <a:pt x="2415812" y="955390"/>
                </a:lnTo>
                <a:lnTo>
                  <a:pt x="2420302" y="954472"/>
                </a:lnTo>
                <a:lnTo>
                  <a:pt x="2424793" y="953555"/>
                </a:lnTo>
                <a:lnTo>
                  <a:pt x="2429283" y="952640"/>
                </a:lnTo>
                <a:lnTo>
                  <a:pt x="2433774" y="951726"/>
                </a:lnTo>
                <a:lnTo>
                  <a:pt x="2438264" y="950813"/>
                </a:lnTo>
                <a:lnTo>
                  <a:pt x="2442754" y="949901"/>
                </a:lnTo>
                <a:lnTo>
                  <a:pt x="2447245" y="948990"/>
                </a:lnTo>
                <a:lnTo>
                  <a:pt x="2451735" y="948080"/>
                </a:lnTo>
                <a:lnTo>
                  <a:pt x="2456225" y="947172"/>
                </a:lnTo>
                <a:lnTo>
                  <a:pt x="2460716" y="946265"/>
                </a:lnTo>
                <a:lnTo>
                  <a:pt x="2465206" y="945359"/>
                </a:lnTo>
                <a:lnTo>
                  <a:pt x="2469696" y="944454"/>
                </a:lnTo>
                <a:lnTo>
                  <a:pt x="2474187" y="943550"/>
                </a:lnTo>
                <a:lnTo>
                  <a:pt x="2478677" y="942648"/>
                </a:lnTo>
                <a:lnTo>
                  <a:pt x="2483167" y="941747"/>
                </a:lnTo>
                <a:lnTo>
                  <a:pt x="2487658" y="940847"/>
                </a:lnTo>
                <a:lnTo>
                  <a:pt x="2492148" y="939948"/>
                </a:lnTo>
                <a:lnTo>
                  <a:pt x="2496639" y="939050"/>
                </a:lnTo>
                <a:lnTo>
                  <a:pt x="2501129" y="938154"/>
                </a:lnTo>
                <a:lnTo>
                  <a:pt x="2505619" y="937259"/>
                </a:lnTo>
                <a:lnTo>
                  <a:pt x="2510110" y="936365"/>
                </a:lnTo>
                <a:lnTo>
                  <a:pt x="2514600" y="935473"/>
                </a:lnTo>
                <a:lnTo>
                  <a:pt x="2519090" y="934581"/>
                </a:lnTo>
                <a:lnTo>
                  <a:pt x="2523581" y="933691"/>
                </a:lnTo>
                <a:lnTo>
                  <a:pt x="2528071" y="932802"/>
                </a:lnTo>
                <a:lnTo>
                  <a:pt x="2532561" y="931914"/>
                </a:lnTo>
                <a:lnTo>
                  <a:pt x="2537052" y="931028"/>
                </a:lnTo>
                <a:lnTo>
                  <a:pt x="2541542" y="930143"/>
                </a:lnTo>
                <a:lnTo>
                  <a:pt x="2546032" y="929259"/>
                </a:lnTo>
                <a:lnTo>
                  <a:pt x="2550523" y="928376"/>
                </a:lnTo>
                <a:lnTo>
                  <a:pt x="2555013" y="927494"/>
                </a:lnTo>
                <a:lnTo>
                  <a:pt x="2559504" y="926614"/>
                </a:lnTo>
                <a:lnTo>
                  <a:pt x="2563994" y="925735"/>
                </a:lnTo>
                <a:lnTo>
                  <a:pt x="2568484" y="924857"/>
                </a:lnTo>
                <a:lnTo>
                  <a:pt x="2572975" y="923981"/>
                </a:lnTo>
                <a:lnTo>
                  <a:pt x="2577465" y="923106"/>
                </a:lnTo>
                <a:lnTo>
                  <a:pt x="2581955" y="922232"/>
                </a:lnTo>
                <a:lnTo>
                  <a:pt x="2586446" y="921359"/>
                </a:lnTo>
                <a:lnTo>
                  <a:pt x="2590936" y="920487"/>
                </a:lnTo>
                <a:lnTo>
                  <a:pt x="2595426" y="919617"/>
                </a:lnTo>
                <a:lnTo>
                  <a:pt x="2599917" y="918748"/>
                </a:lnTo>
                <a:lnTo>
                  <a:pt x="2604407" y="917880"/>
                </a:lnTo>
                <a:lnTo>
                  <a:pt x="2608898" y="917014"/>
                </a:lnTo>
                <a:lnTo>
                  <a:pt x="2613388" y="916149"/>
                </a:lnTo>
                <a:lnTo>
                  <a:pt x="2617878" y="915285"/>
                </a:lnTo>
                <a:lnTo>
                  <a:pt x="2622369" y="914422"/>
                </a:lnTo>
                <a:lnTo>
                  <a:pt x="2626859" y="913560"/>
                </a:lnTo>
                <a:lnTo>
                  <a:pt x="2631349" y="912700"/>
                </a:lnTo>
                <a:lnTo>
                  <a:pt x="2635840" y="911841"/>
                </a:lnTo>
                <a:lnTo>
                  <a:pt x="2640330" y="910984"/>
                </a:lnTo>
                <a:lnTo>
                  <a:pt x="2644820" y="910127"/>
                </a:lnTo>
                <a:lnTo>
                  <a:pt x="2649311" y="909272"/>
                </a:lnTo>
                <a:lnTo>
                  <a:pt x="2653801" y="908418"/>
                </a:lnTo>
                <a:lnTo>
                  <a:pt x="2658291" y="907566"/>
                </a:lnTo>
                <a:lnTo>
                  <a:pt x="2662782" y="906714"/>
                </a:lnTo>
                <a:lnTo>
                  <a:pt x="2667272" y="905864"/>
                </a:lnTo>
                <a:lnTo>
                  <a:pt x="2671763" y="905015"/>
                </a:lnTo>
                <a:lnTo>
                  <a:pt x="2676253" y="904168"/>
                </a:lnTo>
                <a:lnTo>
                  <a:pt x="2680743" y="903322"/>
                </a:lnTo>
                <a:lnTo>
                  <a:pt x="2685234" y="902477"/>
                </a:lnTo>
                <a:lnTo>
                  <a:pt x="2689724" y="901633"/>
                </a:lnTo>
                <a:lnTo>
                  <a:pt x="2694214" y="900790"/>
                </a:lnTo>
                <a:lnTo>
                  <a:pt x="2698705" y="899949"/>
                </a:lnTo>
                <a:lnTo>
                  <a:pt x="2703195" y="899109"/>
                </a:lnTo>
                <a:lnTo>
                  <a:pt x="2707685" y="898270"/>
                </a:lnTo>
                <a:lnTo>
                  <a:pt x="2712176" y="897433"/>
                </a:lnTo>
                <a:lnTo>
                  <a:pt x="2716666" y="896597"/>
                </a:lnTo>
                <a:lnTo>
                  <a:pt x="2721156" y="895762"/>
                </a:lnTo>
                <a:lnTo>
                  <a:pt x="2725647" y="894928"/>
                </a:lnTo>
                <a:lnTo>
                  <a:pt x="2730137" y="894096"/>
                </a:lnTo>
                <a:lnTo>
                  <a:pt x="2734627" y="893265"/>
                </a:lnTo>
                <a:lnTo>
                  <a:pt x="2739118" y="892435"/>
                </a:lnTo>
                <a:lnTo>
                  <a:pt x="2743608" y="891606"/>
                </a:lnTo>
                <a:lnTo>
                  <a:pt x="2748099" y="890779"/>
                </a:lnTo>
                <a:lnTo>
                  <a:pt x="2752589" y="889953"/>
                </a:lnTo>
                <a:lnTo>
                  <a:pt x="2757079" y="889128"/>
                </a:lnTo>
                <a:lnTo>
                  <a:pt x="2761570" y="888305"/>
                </a:lnTo>
                <a:lnTo>
                  <a:pt x="2766060" y="887482"/>
                </a:lnTo>
                <a:lnTo>
                  <a:pt x="2770550" y="886661"/>
                </a:lnTo>
                <a:lnTo>
                  <a:pt x="2775041" y="885841"/>
                </a:lnTo>
                <a:lnTo>
                  <a:pt x="2779531" y="885023"/>
                </a:lnTo>
                <a:lnTo>
                  <a:pt x="2784021" y="884206"/>
                </a:lnTo>
                <a:lnTo>
                  <a:pt x="2788512" y="883390"/>
                </a:lnTo>
                <a:lnTo>
                  <a:pt x="2793002" y="882575"/>
                </a:lnTo>
                <a:lnTo>
                  <a:pt x="2797493" y="881762"/>
                </a:lnTo>
                <a:lnTo>
                  <a:pt x="2801983" y="880949"/>
                </a:lnTo>
                <a:lnTo>
                  <a:pt x="2806473" y="880138"/>
                </a:lnTo>
                <a:lnTo>
                  <a:pt x="2810964" y="879329"/>
                </a:lnTo>
                <a:lnTo>
                  <a:pt x="2815454" y="878520"/>
                </a:lnTo>
                <a:lnTo>
                  <a:pt x="2819944" y="877713"/>
                </a:lnTo>
                <a:lnTo>
                  <a:pt x="2824435" y="876907"/>
                </a:lnTo>
                <a:lnTo>
                  <a:pt x="2828925" y="876102"/>
                </a:lnTo>
                <a:lnTo>
                  <a:pt x="2833415" y="875299"/>
                </a:lnTo>
                <a:lnTo>
                  <a:pt x="2837906" y="874497"/>
                </a:lnTo>
                <a:lnTo>
                  <a:pt x="2842396" y="873696"/>
                </a:lnTo>
                <a:lnTo>
                  <a:pt x="2846886" y="872896"/>
                </a:lnTo>
                <a:lnTo>
                  <a:pt x="2851377" y="872097"/>
                </a:lnTo>
                <a:lnTo>
                  <a:pt x="2855867" y="871300"/>
                </a:lnTo>
                <a:lnTo>
                  <a:pt x="2860357" y="870504"/>
                </a:lnTo>
                <a:lnTo>
                  <a:pt x="2864848" y="869709"/>
                </a:lnTo>
                <a:lnTo>
                  <a:pt x="2869338" y="868916"/>
                </a:lnTo>
                <a:lnTo>
                  <a:pt x="2873829" y="868124"/>
                </a:lnTo>
                <a:lnTo>
                  <a:pt x="2878319" y="867333"/>
                </a:lnTo>
                <a:lnTo>
                  <a:pt x="2882809" y="866543"/>
                </a:lnTo>
                <a:lnTo>
                  <a:pt x="2887300" y="865754"/>
                </a:lnTo>
                <a:lnTo>
                  <a:pt x="2891790" y="864967"/>
                </a:lnTo>
                <a:lnTo>
                  <a:pt x="2896280" y="864181"/>
                </a:lnTo>
                <a:lnTo>
                  <a:pt x="2900771" y="863396"/>
                </a:lnTo>
                <a:lnTo>
                  <a:pt x="2905261" y="862613"/>
                </a:lnTo>
                <a:lnTo>
                  <a:pt x="2909751" y="861830"/>
                </a:lnTo>
                <a:lnTo>
                  <a:pt x="2914242" y="861049"/>
                </a:lnTo>
                <a:lnTo>
                  <a:pt x="2918732" y="860269"/>
                </a:lnTo>
                <a:lnTo>
                  <a:pt x="2923223" y="859490"/>
                </a:lnTo>
                <a:lnTo>
                  <a:pt x="2927713" y="858713"/>
                </a:lnTo>
                <a:lnTo>
                  <a:pt x="2932203" y="857937"/>
                </a:lnTo>
                <a:lnTo>
                  <a:pt x="2936694" y="857162"/>
                </a:lnTo>
                <a:lnTo>
                  <a:pt x="2941184" y="856388"/>
                </a:lnTo>
                <a:lnTo>
                  <a:pt x="2945674" y="855615"/>
                </a:lnTo>
                <a:lnTo>
                  <a:pt x="2950165" y="854844"/>
                </a:lnTo>
                <a:lnTo>
                  <a:pt x="2954655" y="854074"/>
                </a:lnTo>
                <a:lnTo>
                  <a:pt x="2959145" y="853305"/>
                </a:lnTo>
                <a:lnTo>
                  <a:pt x="2963636" y="852537"/>
                </a:lnTo>
                <a:lnTo>
                  <a:pt x="2968126" y="851770"/>
                </a:lnTo>
                <a:lnTo>
                  <a:pt x="2972616" y="851005"/>
                </a:lnTo>
                <a:lnTo>
                  <a:pt x="2977107" y="850241"/>
                </a:lnTo>
                <a:lnTo>
                  <a:pt x="2981597" y="849478"/>
                </a:lnTo>
                <a:lnTo>
                  <a:pt x="2986088" y="848717"/>
                </a:lnTo>
                <a:lnTo>
                  <a:pt x="2990578" y="847956"/>
                </a:lnTo>
                <a:lnTo>
                  <a:pt x="2995068" y="847197"/>
                </a:lnTo>
                <a:lnTo>
                  <a:pt x="2999559" y="846439"/>
                </a:lnTo>
                <a:lnTo>
                  <a:pt x="3004049" y="845682"/>
                </a:lnTo>
                <a:lnTo>
                  <a:pt x="3008539" y="844926"/>
                </a:lnTo>
                <a:lnTo>
                  <a:pt x="3013030" y="844172"/>
                </a:lnTo>
                <a:lnTo>
                  <a:pt x="3017520" y="843419"/>
                </a:lnTo>
                <a:lnTo>
                  <a:pt x="3022010" y="842666"/>
                </a:lnTo>
                <a:lnTo>
                  <a:pt x="3026501" y="841916"/>
                </a:lnTo>
                <a:lnTo>
                  <a:pt x="3030991" y="841166"/>
                </a:lnTo>
                <a:lnTo>
                  <a:pt x="3035481" y="840417"/>
                </a:lnTo>
                <a:lnTo>
                  <a:pt x="3039972" y="839670"/>
                </a:lnTo>
                <a:lnTo>
                  <a:pt x="3044462" y="838924"/>
                </a:lnTo>
                <a:lnTo>
                  <a:pt x="3048952" y="838179"/>
                </a:lnTo>
                <a:lnTo>
                  <a:pt x="3053443" y="837435"/>
                </a:lnTo>
                <a:lnTo>
                  <a:pt x="3057933" y="836693"/>
                </a:lnTo>
                <a:lnTo>
                  <a:pt x="3062424" y="835951"/>
                </a:lnTo>
                <a:lnTo>
                  <a:pt x="3066914" y="835211"/>
                </a:lnTo>
                <a:lnTo>
                  <a:pt x="3071404" y="834472"/>
                </a:lnTo>
                <a:lnTo>
                  <a:pt x="3075895" y="833734"/>
                </a:lnTo>
                <a:lnTo>
                  <a:pt x="3080385" y="832997"/>
                </a:lnTo>
                <a:lnTo>
                  <a:pt x="3084875" y="832262"/>
                </a:lnTo>
                <a:lnTo>
                  <a:pt x="3089366" y="831528"/>
                </a:lnTo>
                <a:lnTo>
                  <a:pt x="3093856" y="830794"/>
                </a:lnTo>
                <a:lnTo>
                  <a:pt x="3098346" y="830062"/>
                </a:lnTo>
                <a:lnTo>
                  <a:pt x="3102837" y="829332"/>
                </a:lnTo>
                <a:lnTo>
                  <a:pt x="3107327" y="828602"/>
                </a:lnTo>
                <a:lnTo>
                  <a:pt x="3111818" y="827873"/>
                </a:lnTo>
                <a:lnTo>
                  <a:pt x="3116308" y="827146"/>
                </a:lnTo>
                <a:lnTo>
                  <a:pt x="3120798" y="826420"/>
                </a:lnTo>
                <a:lnTo>
                  <a:pt x="3125289" y="825695"/>
                </a:lnTo>
                <a:lnTo>
                  <a:pt x="3129779" y="824971"/>
                </a:lnTo>
                <a:lnTo>
                  <a:pt x="3134269" y="824248"/>
                </a:lnTo>
                <a:lnTo>
                  <a:pt x="3138760" y="823526"/>
                </a:lnTo>
                <a:lnTo>
                  <a:pt x="3143250" y="822806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108" name="beta.selected">
            <a:extLst>
              <a:ext uri="{FF2B5EF4-FFF2-40B4-BE49-F238E27FC236}">
                <a16:creationId xmlns:a16="http://schemas.microsoft.com/office/drawing/2014/main" id="{109A566D-BCF9-472D-81E8-B5D9C548AAB1}"/>
              </a:ext>
            </a:extLst>
          </p:cNvPr>
          <p:cNvSpPr>
            <a:spLocks noGrp="1"/>
          </p:cNvSpPr>
          <p:nvPr/>
        </p:nvSpPr>
        <p:spPr>
          <a:xfrm>
            <a:off x="14126815" y="4122936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109" name="beta.projection">
            <a:extLst>
              <a:ext uri="{FF2B5EF4-FFF2-40B4-BE49-F238E27FC236}">
                <a16:creationId xmlns:a16="http://schemas.microsoft.com/office/drawing/2014/main" id="{8DB50B52-D92D-483D-A115-5D40F351B0B1}"/>
              </a:ext>
            </a:extLst>
          </p:cNvPr>
          <p:cNvSpPr>
            <a:spLocks noGrp="1"/>
          </p:cNvSpPr>
          <p:nvPr/>
        </p:nvSpPr>
        <p:spPr>
          <a:xfrm>
            <a:off x="14174440" y="4170561"/>
            <a:ext cx="953" cy="468114"/>
          </a:xfrm>
          <a:custGeom>
            <a:avLst/>
            <a:gdLst/>
            <a:ahLst/>
            <a:cxnLst/>
            <a:rect l="0" t="0" r="0" b="0"/>
            <a:pathLst>
              <a:path w="953" h="468114">
                <a:moveTo>
                  <a:pt x="0" y="0"/>
                </a:moveTo>
                <a:lnTo>
                  <a:pt x="0" y="468114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111" name="beta.minimum-leader">
            <a:extLst>
              <a:ext uri="{FF2B5EF4-FFF2-40B4-BE49-F238E27FC236}">
                <a16:creationId xmlns:a16="http://schemas.microsoft.com/office/drawing/2014/main" id="{99EBE2E6-3A2F-4006-A5DD-191C0950966B}"/>
              </a:ext>
            </a:extLst>
          </p:cNvPr>
          <p:cNvSpPr>
            <a:spLocks noGrp="1"/>
          </p:cNvSpPr>
          <p:nvPr/>
        </p:nvSpPr>
        <p:spPr>
          <a:xfrm>
            <a:off x="14241115" y="3781425"/>
            <a:ext cx="332135" cy="331986"/>
          </a:xfrm>
          <a:custGeom>
            <a:avLst/>
            <a:gdLst/>
            <a:ahLst/>
            <a:cxnLst/>
            <a:rect l="0" t="0" r="0" b="0"/>
            <a:pathLst>
              <a:path w="332135" h="331986">
                <a:moveTo>
                  <a:pt x="332135" y="0"/>
                </a:moveTo>
                <a:lnTo>
                  <a:pt x="0" y="331986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12" name="flow.gamma-beta">
            <a:extLst>
              <a:ext uri="{FF2B5EF4-FFF2-40B4-BE49-F238E27FC236}">
                <a16:creationId xmlns:a16="http://schemas.microsoft.com/office/drawing/2014/main" id="{E8D205A2-44B0-4E45-9E10-26A6D92036C7}"/>
              </a:ext>
            </a:extLst>
          </p:cNvPr>
          <p:cNvSpPr>
            <a:spLocks noGrp="1"/>
          </p:cNvSpPr>
          <p:nvPr/>
        </p:nvSpPr>
        <p:spPr>
          <a:xfrm>
            <a:off x="10953750" y="322897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14" name="result.boundary">
            <a:extLst>
              <a:ext uri="{FF2B5EF4-FFF2-40B4-BE49-F238E27FC236}">
                <a16:creationId xmlns:a16="http://schemas.microsoft.com/office/drawing/2014/main" id="{748BC38E-9089-4A73-A723-04462F6B8750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76250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15" name="result.header">
            <a:extLst>
              <a:ext uri="{FF2B5EF4-FFF2-40B4-BE49-F238E27FC236}">
                <a16:creationId xmlns:a16="http://schemas.microsoft.com/office/drawing/2014/main" id="{6E9608D4-D030-49A8-AE42-FE16A3DCE966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00050"/>
          </a:xfrm>
          <a:prstGeom prst="rect">
            <a:avLst/>
          </a:prstGeom>
          <a:solidFill>
            <a:srgbClr val="FAEAD9"/>
          </a:solidFill>
          <a:ln w="9525">
            <a:noFill/>
            <a:prstDash val="solid"/>
          </a:ln>
        </p:spPr>
      </p:sp>
      <p:sp>
        <p:nvSpPr>
          <p:cNvPr id="116" name="result.title">
            <a:extLst>
              <a:ext uri="{FF2B5EF4-FFF2-40B4-BE49-F238E27FC236}">
                <a16:creationId xmlns:a16="http://schemas.microsoft.com/office/drawing/2014/main" id="{68069BC4-6A9C-4D95-AE6A-5C8B9F02DBFB}"/>
              </a:ext>
            </a:extLst>
          </p:cNvPr>
          <p:cNvSpPr>
            <a:spLocks noGrp="1"/>
          </p:cNvSpPr>
          <p:nvPr/>
        </p:nvSpPr>
        <p:spPr>
          <a:xfrm>
            <a:off x="17907000" y="933450"/>
            <a:ext cx="390525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尺度计算与三参数输出</a:t>
            </a:r>
          </a:p>
        </p:txBody>
      </p:sp>
      <p:sp>
        <p:nvSpPr>
          <p:cNvPr id="117" name="eta.title">
            <a:extLst>
              <a:ext uri="{FF2B5EF4-FFF2-40B4-BE49-F238E27FC236}">
                <a16:creationId xmlns:a16="http://schemas.microsoft.com/office/drawing/2014/main" id="{4CACFEB2-6992-437D-BCA3-F4641C7B3DA7}"/>
              </a:ext>
            </a:extLst>
          </p:cNvPr>
          <p:cNvSpPr>
            <a:spLocks noGrp="1"/>
          </p:cNvSpPr>
          <p:nvPr/>
        </p:nvSpPr>
        <p:spPr>
          <a:xfrm>
            <a:off x="17945100" y="1838325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119" name="flow.beta-eta">
            <a:extLst>
              <a:ext uri="{FF2B5EF4-FFF2-40B4-BE49-F238E27FC236}">
                <a16:creationId xmlns:a16="http://schemas.microsoft.com/office/drawing/2014/main" id="{4D5E05F2-FEC3-4648-BBFA-FEE6BE63A734}"/>
              </a:ext>
            </a:extLst>
          </p:cNvPr>
          <p:cNvSpPr>
            <a:spLocks noGrp="1"/>
          </p:cNvSpPr>
          <p:nvPr/>
        </p:nvSpPr>
        <p:spPr>
          <a:xfrm>
            <a:off x="16973550" y="3228975"/>
            <a:ext cx="6286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0" name="flow.eta-output">
            <a:extLst>
              <a:ext uri="{FF2B5EF4-FFF2-40B4-BE49-F238E27FC236}">
                <a16:creationId xmlns:a16="http://schemas.microsoft.com/office/drawing/2014/main" id="{E637CB3D-B22B-4EC7-A472-4E411D2363E6}"/>
              </a:ext>
            </a:extLst>
          </p:cNvPr>
          <p:cNvSpPr>
            <a:spLocks noGrp="1"/>
          </p:cNvSpPr>
          <p:nvPr/>
        </p:nvSpPr>
        <p:spPr>
          <a:xfrm>
            <a:off x="19764375" y="3448050"/>
            <a:ext cx="190500" cy="24765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1" name="output.title">
            <a:extLst>
              <a:ext uri="{FF2B5EF4-FFF2-40B4-BE49-F238E27FC236}">
                <a16:creationId xmlns:a16="http://schemas.microsoft.com/office/drawing/2014/main" id="{C11ED654-C19F-47E0-8F91-C718D536A065}"/>
              </a:ext>
            </a:extLst>
          </p:cNvPr>
          <p:cNvSpPr>
            <a:spLocks noGrp="1"/>
          </p:cNvSpPr>
          <p:nvPr/>
        </p:nvSpPr>
        <p:spPr>
          <a:xfrm>
            <a:off x="17945100" y="3848100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输出三参数估计</a:t>
            </a:r>
          </a:p>
        </p:txBody>
      </p:sp>
      <p:graphicFrame>
        <p:nvGraphicFramePr>
          <p:cNvPr id="124" name="MathType.sorted">
            <a:extLst>
              <a:ext uri="{FF2B5EF4-FFF2-40B4-BE49-F238E27FC236}">
                <a16:creationId xmlns:a16="http://schemas.microsoft.com/office/drawing/2014/main" id="{E289B109-E6AD-B6A8-DDA4-5F96D2EA5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614156"/>
              </p:ext>
            </p:extLst>
          </p:nvPr>
        </p:nvGraphicFramePr>
        <p:xfrm>
          <a:off x="1047752" y="2190750"/>
          <a:ext cx="9143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7752" y="2190750"/>
                        <a:ext cx="9143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MathType.rank">
            <a:extLst>
              <a:ext uri="{FF2B5EF4-FFF2-40B4-BE49-F238E27FC236}">
                <a16:creationId xmlns:a16="http://schemas.microsoft.com/office/drawing/2014/main" id="{7D9ED0CB-30CF-AACE-ECD2-A90E974995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097362"/>
              </p:ext>
            </p:extLst>
          </p:nvPr>
        </p:nvGraphicFramePr>
        <p:xfrm>
          <a:off x="2882503" y="1653778"/>
          <a:ext cx="1693069" cy="66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93480" progId="Equation.DSMT4">
                  <p:embed/>
                </p:oleObj>
              </mc:Choice>
              <mc:Fallback>
                <p:oleObj name="Equation" r:id="rId5" imgW="1002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2503" y="1653778"/>
                        <a:ext cx="1693069" cy="664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MathType.pseudo">
            <a:extLst>
              <a:ext uri="{FF2B5EF4-FFF2-40B4-BE49-F238E27FC236}">
                <a16:creationId xmlns:a16="http://schemas.microsoft.com/office/drawing/2014/main" id="{6A6756D2-593B-6646-EFC3-6916BDA223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630219"/>
              </p:ext>
            </p:extLst>
          </p:nvPr>
        </p:nvGraphicFramePr>
        <p:xfrm>
          <a:off x="1353054" y="2952750"/>
          <a:ext cx="276124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3054" y="2952750"/>
                        <a:ext cx="2761242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MathType.discrepancy">
            <a:extLst>
              <a:ext uri="{FF2B5EF4-FFF2-40B4-BE49-F238E27FC236}">
                <a16:creationId xmlns:a16="http://schemas.microsoft.com/office/drawing/2014/main" id="{3DBD8504-BBE6-ADFA-CFC0-BAF9F6A30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793135"/>
              </p:ext>
            </p:extLst>
          </p:nvPr>
        </p:nvGraphicFramePr>
        <p:xfrm>
          <a:off x="1399429" y="4267200"/>
          <a:ext cx="271611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9429" y="4267200"/>
                        <a:ext cx="271611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MathType.profile">
            <a:extLst>
              <a:ext uri="{FF2B5EF4-FFF2-40B4-BE49-F238E27FC236}">
                <a16:creationId xmlns:a16="http://schemas.microsoft.com/office/drawing/2014/main" id="{CDF03B25-42FE-05BF-5781-0F1BC88346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69315"/>
              </p:ext>
            </p:extLst>
          </p:nvPr>
        </p:nvGraphicFramePr>
        <p:xfrm>
          <a:off x="1196975" y="4989511"/>
          <a:ext cx="311150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241200" progId="Equation.DSMT4">
                  <p:embed/>
                </p:oleObj>
              </mc:Choice>
              <mc:Fallback>
                <p:oleObj name="Equation" r:id="rId1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975" y="4989511"/>
                        <a:ext cx="311150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MathType.gradient">
            <a:extLst>
              <a:ext uri="{FF2B5EF4-FFF2-40B4-BE49-F238E27FC236}">
                <a16:creationId xmlns:a16="http://schemas.microsoft.com/office/drawing/2014/main" id="{181D8835-8FC6-ABA2-DEA1-2F69DD2598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661338"/>
              </p:ext>
            </p:extLst>
          </p:nvPr>
        </p:nvGraphicFramePr>
        <p:xfrm>
          <a:off x="7275606" y="1390650"/>
          <a:ext cx="2155639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444240" progId="Equation.DSMT4">
                  <p:embed/>
                </p:oleObj>
              </mc:Choice>
              <mc:Fallback>
                <p:oleObj name="Equation" r:id="rId13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5606" y="1390650"/>
                        <a:ext cx="2155639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MathType.root">
            <a:extLst>
              <a:ext uri="{FF2B5EF4-FFF2-40B4-BE49-F238E27FC236}">
                <a16:creationId xmlns:a16="http://schemas.microsoft.com/office/drawing/2014/main" id="{10190041-A319-F6EA-D8AB-72CDE10C4F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413805"/>
              </p:ext>
            </p:extLst>
          </p:nvPr>
        </p:nvGraphicFramePr>
        <p:xfrm>
          <a:off x="7477127" y="3676650"/>
          <a:ext cx="857246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15640" progId="Equation.DSMT4">
                  <p:embed/>
                </p:oleObj>
              </mc:Choice>
              <mc:Fallback>
                <p:oleObj name="Equation" r:id="rId15" imgW="571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77127" y="3676650"/>
                        <a:ext cx="857246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MathType.gamma-est">
            <a:extLst>
              <a:ext uri="{FF2B5EF4-FFF2-40B4-BE49-F238E27FC236}">
                <a16:creationId xmlns:a16="http://schemas.microsoft.com/office/drawing/2014/main" id="{5A81BF7D-18C2-FB8C-6D38-8500ED8AC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732591"/>
              </p:ext>
            </p:extLst>
          </p:nvPr>
        </p:nvGraphicFramePr>
        <p:xfrm>
          <a:off x="8751236" y="2581275"/>
          <a:ext cx="823629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215640" progId="Equation.DSMT4">
                  <p:embed/>
                </p:oleObj>
              </mc:Choice>
              <mc:Fallback>
                <p:oleObj name="Equation" r:id="rId17" imgW="622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51236" y="2581275"/>
                        <a:ext cx="823629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MathType.gamma-transfer">
            <a:extLst>
              <a:ext uri="{FF2B5EF4-FFF2-40B4-BE49-F238E27FC236}">
                <a16:creationId xmlns:a16="http://schemas.microsoft.com/office/drawing/2014/main" id="{9240C77D-F576-5829-A73B-4F0B03100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459847"/>
              </p:ext>
            </p:extLst>
          </p:nvPr>
        </p:nvGraphicFramePr>
        <p:xfrm>
          <a:off x="11191876" y="2847975"/>
          <a:ext cx="190499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15640" progId="Equation.DSMT4">
                  <p:embed/>
                </p:oleObj>
              </mc:Choice>
              <mc:Fallback>
                <p:oleObj name="Equation" r:id="rId19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91876" y="2847975"/>
                        <a:ext cx="190499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MathType.beta-min">
            <a:extLst>
              <a:ext uri="{FF2B5EF4-FFF2-40B4-BE49-F238E27FC236}">
                <a16:creationId xmlns:a16="http://schemas.microsoft.com/office/drawing/2014/main" id="{6E5D3DA2-03C0-E384-F9F8-8CC101A5BD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034047"/>
              </p:ext>
            </p:extLst>
          </p:nvPr>
        </p:nvGraphicFramePr>
        <p:xfrm>
          <a:off x="12995672" y="1531937"/>
          <a:ext cx="2583656" cy="68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355320" progId="Equation.DSMT4">
                  <p:embed/>
                </p:oleObj>
              </mc:Choice>
              <mc:Fallback>
                <p:oleObj name="Equation" r:id="rId21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995672" y="1531937"/>
                        <a:ext cx="2583656" cy="688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MathType.beta-est">
            <a:extLst>
              <a:ext uri="{FF2B5EF4-FFF2-40B4-BE49-F238E27FC236}">
                <a16:creationId xmlns:a16="http://schemas.microsoft.com/office/drawing/2014/main" id="{23DF6655-1209-3B16-6959-733BDF5D3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574769"/>
              </p:ext>
            </p:extLst>
          </p:nvPr>
        </p:nvGraphicFramePr>
        <p:xfrm>
          <a:off x="14787564" y="3438525"/>
          <a:ext cx="9524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680" imgH="241200" progId="Equation.DSMT4">
                  <p:embed/>
                </p:oleObj>
              </mc:Choice>
              <mc:Fallback>
                <p:oleObj name="Equation" r:id="rId23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787564" y="3438525"/>
                        <a:ext cx="9524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MathType.eta">
            <a:extLst>
              <a:ext uri="{FF2B5EF4-FFF2-40B4-BE49-F238E27FC236}">
                <a16:creationId xmlns:a16="http://schemas.microsoft.com/office/drawing/2014/main" id="{410307D6-DD9C-10D7-05F3-2D7900DE6B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138552"/>
              </p:ext>
            </p:extLst>
          </p:nvPr>
        </p:nvGraphicFramePr>
        <p:xfrm>
          <a:off x="18407063" y="2366962"/>
          <a:ext cx="2905125" cy="809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49080" imgH="431640" progId="Equation.DSMT4">
                  <p:embed/>
                </p:oleObj>
              </mc:Choice>
              <mc:Fallback>
                <p:oleObj name="Equation" r:id="rId25" imgW="1549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407063" y="2366962"/>
                        <a:ext cx="2905125" cy="809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MathType.output">
            <a:extLst>
              <a:ext uri="{FF2B5EF4-FFF2-40B4-BE49-F238E27FC236}">
                <a16:creationId xmlns:a16="http://schemas.microsoft.com/office/drawing/2014/main" id="{2789B8BE-D8FE-139E-9467-00863FC2B2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502944"/>
              </p:ext>
            </p:extLst>
          </p:nvPr>
        </p:nvGraphicFramePr>
        <p:xfrm>
          <a:off x="18192750" y="4418011"/>
          <a:ext cx="333375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760" imgH="241200" progId="Equation.DSMT4">
                  <p:embed/>
                </p:oleObj>
              </mc:Choice>
              <mc:Fallback>
                <p:oleObj name="Equation" r:id="rId27" imgW="19047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192750" y="4418011"/>
                        <a:ext cx="333375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57999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DocSecurity>0</DocSecurity>
  <PresentationFormat>自定义</PresentationFormat>
  <Paragraphs>31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2026-09-23T02:16:20Z</dcterms:created>
  <dcterms:modified xsi:type="dcterms:W3CDTF">2026-09-23T02:16:53Z</dcterms:modified>
</cp:coreProperties>
</file>