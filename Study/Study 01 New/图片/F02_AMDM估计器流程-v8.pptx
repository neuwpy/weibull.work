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288500" cy="7620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2</a:t>
            </a:r>
            <a:r>
              <a:rPr lang="zh-CN" altLang="en-US"/>
              <a:t>定义</a:t>
            </a:r>
            <a:r>
              <a:rPr lang="en-US" altLang="zh-CN"/>
              <a:t>AMDM</a:t>
            </a:r>
            <a:r>
              <a:rPr lang="zh-CN" altLang="en-US"/>
              <a:t>的在线估计流程。当前排序寿命样本经均值归一化和已保存的标准化变换，输入对应样本量的偏移选择模型，按逆变换后的预测候选损失选择偏移。所选偏移进入</a:t>
            </a:r>
            <a:r>
              <a:rPr lang="en-US" altLang="zh-CN"/>
              <a:t>MDM</a:t>
            </a:r>
            <a:r>
              <a:rPr lang="zh-CN" altLang="en-US"/>
              <a:t>位置求解，随后按原结构完成形状和尺度估计，输出三参数结果。原始寿命样本沿上方连线同时提供给</a:t>
            </a:r>
            <a:r>
              <a:rPr lang="en-US" altLang="zh-CN"/>
              <a:t>MDM</a:t>
            </a:r>
            <a:r>
              <a:rPr lang="zh-CN" altLang="en-US"/>
              <a:t>，归一化仅用于偏移选择。符号与正文</a:t>
            </a:r>
            <a:r>
              <a:rPr lang="en-US" altLang="zh-CN"/>
              <a:t>2.4–2.5</a:t>
            </a:r>
            <a:r>
              <a:rPr lang="zh-CN" altLang="en-US"/>
              <a:t>一致，图不展开</a:t>
            </a:r>
            <a:r>
              <a:rPr lang="en-US" altLang="zh-CN"/>
              <a:t>MDM</a:t>
            </a:r>
            <a:r>
              <a:rPr lang="zh-CN" altLang="en-US"/>
              <a:t>推导、训练结构或性能结果。输入散点复用</a:t>
            </a:r>
            <a:r>
              <a:rPr lang="en-US" altLang="zh-CN"/>
              <a:t>F01 Sample-1-3</a:t>
            </a:r>
            <a:r>
              <a:rPr lang="zh-CN" altLang="en-US"/>
              <a:t>。全部数学表达为</a:t>
            </a:r>
            <a:r>
              <a:rPr lang="en-US" altLang="zh-CN"/>
              <a:t>MathType</a:t>
            </a:r>
            <a:r>
              <a:rPr lang="zh-CN" altLang="en-US"/>
              <a:t>对象。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input.boundary">
            <a:extLst>
              <a:ext uri="{FF2B5EF4-FFF2-40B4-BE49-F238E27FC236}">
                <a16:creationId xmlns:a16="http://schemas.microsoft.com/office/drawing/2014/main" id="{CEB23E8F-9871-4614-8604-367F82E076DC}"/>
              </a:ext>
            </a:extLst>
          </p:cNvPr>
          <p:cNvSpPr>
            <a:spLocks noGrp="1"/>
          </p:cNvSpPr>
          <p:nvPr/>
        </p:nvSpPr>
        <p:spPr>
          <a:xfrm>
            <a:off x="285750" y="1428750"/>
            <a:ext cx="3143250" cy="571500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2" name="input.header">
            <a:extLst>
              <a:ext uri="{FF2B5EF4-FFF2-40B4-BE49-F238E27FC236}">
                <a16:creationId xmlns:a16="http://schemas.microsoft.com/office/drawing/2014/main" id="{16C21FC0-50F5-4BF6-A1FF-05242E4309C1}"/>
              </a:ext>
            </a:extLst>
          </p:cNvPr>
          <p:cNvSpPr>
            <a:spLocks noGrp="1"/>
          </p:cNvSpPr>
          <p:nvPr/>
        </p:nvSpPr>
        <p:spPr>
          <a:xfrm>
            <a:off x="285750" y="1428750"/>
            <a:ext cx="3143250" cy="400050"/>
          </a:xfrm>
          <a:prstGeom prst="rect">
            <a:avLst/>
          </a:prstGeom>
          <a:solidFill>
            <a:srgbClr val="A8C0E5"/>
          </a:solidFill>
          <a:ln w="12383">
            <a:noFill/>
            <a:prstDash val="solid"/>
          </a:ln>
        </p:spPr>
      </p:sp>
      <p:sp>
        <p:nvSpPr>
          <p:cNvPr id="3" name="input.title">
            <a:extLst>
              <a:ext uri="{FF2B5EF4-FFF2-40B4-BE49-F238E27FC236}">
                <a16:creationId xmlns:a16="http://schemas.microsoft.com/office/drawing/2014/main" id="{C9D52FD4-73FA-4FAB-873A-655557699E85}"/>
              </a:ext>
            </a:extLst>
          </p:cNvPr>
          <p:cNvSpPr>
            <a:spLocks noGrp="1"/>
          </p:cNvSpPr>
          <p:nvPr/>
        </p:nvSpPr>
        <p:spPr>
          <a:xfrm>
            <a:off x="381000" y="1447800"/>
            <a:ext cx="29527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当前寿命样本</a:t>
            </a:r>
          </a:p>
        </p:txBody>
      </p:sp>
      <p:sp>
        <p:nvSpPr>
          <p:cNvPr id="4" name="input.sample.axis">
            <a:extLst>
              <a:ext uri="{FF2B5EF4-FFF2-40B4-BE49-F238E27FC236}">
                <a16:creationId xmlns:a16="http://schemas.microsoft.com/office/drawing/2014/main" id="{78826409-5224-4D01-B178-816D6B633009}"/>
              </a:ext>
            </a:extLst>
          </p:cNvPr>
          <p:cNvSpPr>
            <a:spLocks noGrp="1"/>
          </p:cNvSpPr>
          <p:nvPr/>
        </p:nvSpPr>
        <p:spPr>
          <a:xfrm>
            <a:off x="628650" y="3267075"/>
            <a:ext cx="2457450" cy="953"/>
          </a:xfrm>
          <a:custGeom>
            <a:avLst/>
            <a:gdLst/>
            <a:ahLst/>
            <a:cxnLst/>
            <a:rect l="0" t="0" r="0" b="0"/>
            <a:pathLst>
              <a:path w="2457450" h="953">
                <a:moveTo>
                  <a:pt x="0" y="0"/>
                </a:moveTo>
                <a:lnTo>
                  <a:pt x="2457450" y="0"/>
                </a:lnTo>
              </a:path>
            </a:pathLst>
          </a:custGeom>
          <a:noFill/>
          <a:ln w="9525">
            <a:solidFill>
              <a:srgbClr val="B5BEC5"/>
            </a:solidFill>
            <a:prstDash val="solid"/>
          </a:ln>
        </p:spPr>
      </p:sp>
      <p:sp>
        <p:nvSpPr>
          <p:cNvPr id="5" name="input.sample.stem0">
            <a:extLst>
              <a:ext uri="{FF2B5EF4-FFF2-40B4-BE49-F238E27FC236}">
                <a16:creationId xmlns:a16="http://schemas.microsoft.com/office/drawing/2014/main" id="{9D7A9453-96B4-489E-A6DF-B1D3AA5081BA}"/>
              </a:ext>
            </a:extLst>
          </p:cNvPr>
          <p:cNvSpPr>
            <a:spLocks noGrp="1"/>
          </p:cNvSpPr>
          <p:nvPr/>
        </p:nvSpPr>
        <p:spPr>
          <a:xfrm>
            <a:off x="771525" y="3057525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6" name="input.sample.dot0">
            <a:extLst>
              <a:ext uri="{FF2B5EF4-FFF2-40B4-BE49-F238E27FC236}">
                <a16:creationId xmlns:a16="http://schemas.microsoft.com/office/drawing/2014/main" id="{B371FE93-D6A7-468E-A6D1-B17440901F34}"/>
              </a:ext>
            </a:extLst>
          </p:cNvPr>
          <p:cNvSpPr>
            <a:spLocks noGrp="1"/>
          </p:cNvSpPr>
          <p:nvPr/>
        </p:nvSpPr>
        <p:spPr>
          <a:xfrm>
            <a:off x="728663" y="3014663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7" name="input.sample.stem1">
            <a:extLst>
              <a:ext uri="{FF2B5EF4-FFF2-40B4-BE49-F238E27FC236}">
                <a16:creationId xmlns:a16="http://schemas.microsoft.com/office/drawing/2014/main" id="{4A973A61-78D7-45DE-84E5-0EE2AC5BEFED}"/>
              </a:ext>
            </a:extLst>
          </p:cNvPr>
          <p:cNvSpPr>
            <a:spLocks noGrp="1"/>
          </p:cNvSpPr>
          <p:nvPr/>
        </p:nvSpPr>
        <p:spPr>
          <a:xfrm>
            <a:off x="823808" y="3057525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8" name="input.sample.dot1">
            <a:extLst>
              <a:ext uri="{FF2B5EF4-FFF2-40B4-BE49-F238E27FC236}">
                <a16:creationId xmlns:a16="http://schemas.microsoft.com/office/drawing/2014/main" id="{CA7A2C85-0C10-4CB4-8EE3-4EC6C25C29E3}"/>
              </a:ext>
            </a:extLst>
          </p:cNvPr>
          <p:cNvSpPr>
            <a:spLocks noGrp="1"/>
          </p:cNvSpPr>
          <p:nvPr/>
        </p:nvSpPr>
        <p:spPr>
          <a:xfrm>
            <a:off x="780946" y="3014663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9" name="input.sample.stem2">
            <a:extLst>
              <a:ext uri="{FF2B5EF4-FFF2-40B4-BE49-F238E27FC236}">
                <a16:creationId xmlns:a16="http://schemas.microsoft.com/office/drawing/2014/main" id="{11D0C37C-E351-4600-B826-47CFBC2E2626}"/>
              </a:ext>
            </a:extLst>
          </p:cNvPr>
          <p:cNvSpPr>
            <a:spLocks noGrp="1"/>
          </p:cNvSpPr>
          <p:nvPr/>
        </p:nvSpPr>
        <p:spPr>
          <a:xfrm>
            <a:off x="1443444" y="3057525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0" name="input.sample.dot2">
            <a:extLst>
              <a:ext uri="{FF2B5EF4-FFF2-40B4-BE49-F238E27FC236}">
                <a16:creationId xmlns:a16="http://schemas.microsoft.com/office/drawing/2014/main" id="{65D2315C-11B1-4BDE-917B-A1734F80E82D}"/>
              </a:ext>
            </a:extLst>
          </p:cNvPr>
          <p:cNvSpPr>
            <a:spLocks noGrp="1"/>
          </p:cNvSpPr>
          <p:nvPr/>
        </p:nvSpPr>
        <p:spPr>
          <a:xfrm>
            <a:off x="1400581" y="3014663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1" name="input.sample.stem3">
            <a:extLst>
              <a:ext uri="{FF2B5EF4-FFF2-40B4-BE49-F238E27FC236}">
                <a16:creationId xmlns:a16="http://schemas.microsoft.com/office/drawing/2014/main" id="{1CBF7081-B4FA-4A0E-8F03-3C0D1A27D795}"/>
              </a:ext>
            </a:extLst>
          </p:cNvPr>
          <p:cNvSpPr>
            <a:spLocks noGrp="1"/>
          </p:cNvSpPr>
          <p:nvPr/>
        </p:nvSpPr>
        <p:spPr>
          <a:xfrm>
            <a:off x="1642096" y="3057525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2" name="input.sample.dot3">
            <a:extLst>
              <a:ext uri="{FF2B5EF4-FFF2-40B4-BE49-F238E27FC236}">
                <a16:creationId xmlns:a16="http://schemas.microsoft.com/office/drawing/2014/main" id="{33C323D2-7D99-44A0-A120-5965807ED996}"/>
              </a:ext>
            </a:extLst>
          </p:cNvPr>
          <p:cNvSpPr>
            <a:spLocks noGrp="1"/>
          </p:cNvSpPr>
          <p:nvPr/>
        </p:nvSpPr>
        <p:spPr>
          <a:xfrm>
            <a:off x="1599234" y="3014663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3" name="input.sample.stem4">
            <a:extLst>
              <a:ext uri="{FF2B5EF4-FFF2-40B4-BE49-F238E27FC236}">
                <a16:creationId xmlns:a16="http://schemas.microsoft.com/office/drawing/2014/main" id="{BB923845-388B-4984-8F51-700F72FBF507}"/>
              </a:ext>
            </a:extLst>
          </p:cNvPr>
          <p:cNvSpPr>
            <a:spLocks noGrp="1"/>
          </p:cNvSpPr>
          <p:nvPr/>
        </p:nvSpPr>
        <p:spPr>
          <a:xfrm>
            <a:off x="1725540" y="3057525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4" name="input.sample.dot4">
            <a:extLst>
              <a:ext uri="{FF2B5EF4-FFF2-40B4-BE49-F238E27FC236}">
                <a16:creationId xmlns:a16="http://schemas.microsoft.com/office/drawing/2014/main" id="{34AA3479-A56B-4086-8574-AE52A5BE0054}"/>
              </a:ext>
            </a:extLst>
          </p:cNvPr>
          <p:cNvSpPr>
            <a:spLocks noGrp="1"/>
          </p:cNvSpPr>
          <p:nvPr/>
        </p:nvSpPr>
        <p:spPr>
          <a:xfrm>
            <a:off x="1682678" y="3014663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5" name="input.sample.stem5">
            <a:extLst>
              <a:ext uri="{FF2B5EF4-FFF2-40B4-BE49-F238E27FC236}">
                <a16:creationId xmlns:a16="http://schemas.microsoft.com/office/drawing/2014/main" id="{D87807B4-A2B9-4D39-B202-80E6D785FC68}"/>
              </a:ext>
            </a:extLst>
          </p:cNvPr>
          <p:cNvSpPr>
            <a:spLocks noGrp="1"/>
          </p:cNvSpPr>
          <p:nvPr/>
        </p:nvSpPr>
        <p:spPr>
          <a:xfrm>
            <a:off x="2148910" y="3057525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6" name="input.sample.dot5">
            <a:extLst>
              <a:ext uri="{FF2B5EF4-FFF2-40B4-BE49-F238E27FC236}">
                <a16:creationId xmlns:a16="http://schemas.microsoft.com/office/drawing/2014/main" id="{3A425A2E-06B7-4E25-8880-A9BF276BC7AC}"/>
              </a:ext>
            </a:extLst>
          </p:cNvPr>
          <p:cNvSpPr>
            <a:spLocks noGrp="1"/>
          </p:cNvSpPr>
          <p:nvPr/>
        </p:nvSpPr>
        <p:spPr>
          <a:xfrm>
            <a:off x="2106047" y="3014663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7" name="input.sample.stem6">
            <a:extLst>
              <a:ext uri="{FF2B5EF4-FFF2-40B4-BE49-F238E27FC236}">
                <a16:creationId xmlns:a16="http://schemas.microsoft.com/office/drawing/2014/main" id="{BEED86FE-E712-4925-854F-425FF8ECD09B}"/>
              </a:ext>
            </a:extLst>
          </p:cNvPr>
          <p:cNvSpPr>
            <a:spLocks noGrp="1"/>
          </p:cNvSpPr>
          <p:nvPr/>
        </p:nvSpPr>
        <p:spPr>
          <a:xfrm>
            <a:off x="2943225" y="3057525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8" name="input.sample.dot6">
            <a:extLst>
              <a:ext uri="{FF2B5EF4-FFF2-40B4-BE49-F238E27FC236}">
                <a16:creationId xmlns:a16="http://schemas.microsoft.com/office/drawing/2014/main" id="{07E0FC6F-56D1-44BC-A611-C26793AE4FAC}"/>
              </a:ext>
            </a:extLst>
          </p:cNvPr>
          <p:cNvSpPr>
            <a:spLocks noGrp="1"/>
          </p:cNvSpPr>
          <p:nvPr/>
        </p:nvSpPr>
        <p:spPr>
          <a:xfrm>
            <a:off x="2900363" y="3014663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9" name="input.description">
            <a:extLst>
              <a:ext uri="{FF2B5EF4-FFF2-40B4-BE49-F238E27FC236}">
                <a16:creationId xmlns:a16="http://schemas.microsoft.com/office/drawing/2014/main" id="{D706CC70-4B31-4C6A-9754-7D97D37E519F}"/>
              </a:ext>
            </a:extLst>
          </p:cNvPr>
          <p:cNvSpPr>
            <a:spLocks noGrp="1"/>
          </p:cNvSpPr>
          <p:nvPr/>
        </p:nvSpPr>
        <p:spPr>
          <a:xfrm>
            <a:off x="457200" y="4762500"/>
            <a:ext cx="28003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排序后的寿命观测</a:t>
            </a:r>
          </a:p>
        </p:txBody>
      </p:sp>
      <p:sp>
        <p:nvSpPr>
          <p:cNvPr id="20" name="flow.sample-to-adapt">
            <a:extLst>
              <a:ext uri="{FF2B5EF4-FFF2-40B4-BE49-F238E27FC236}">
                <a16:creationId xmlns:a16="http://schemas.microsoft.com/office/drawing/2014/main" id="{0FB3B9B3-7446-4F16-B520-FC490F9C51BB}"/>
              </a:ext>
            </a:extLst>
          </p:cNvPr>
          <p:cNvSpPr>
            <a:spLocks noGrp="1"/>
          </p:cNvSpPr>
          <p:nvPr/>
        </p:nvSpPr>
        <p:spPr>
          <a:xfrm>
            <a:off x="3619500" y="4191000"/>
            <a:ext cx="4000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21" name="adapt.boundary">
            <a:extLst>
              <a:ext uri="{FF2B5EF4-FFF2-40B4-BE49-F238E27FC236}">
                <a16:creationId xmlns:a16="http://schemas.microsoft.com/office/drawing/2014/main" id="{25C05CD3-C167-4064-88B9-9B0269A3C370}"/>
              </a:ext>
            </a:extLst>
          </p:cNvPr>
          <p:cNvSpPr>
            <a:spLocks noGrp="1"/>
          </p:cNvSpPr>
          <p:nvPr/>
        </p:nvSpPr>
        <p:spPr>
          <a:xfrm>
            <a:off x="4191000" y="1428750"/>
            <a:ext cx="5429250" cy="571500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22" name="adapt.header">
            <a:extLst>
              <a:ext uri="{FF2B5EF4-FFF2-40B4-BE49-F238E27FC236}">
                <a16:creationId xmlns:a16="http://schemas.microsoft.com/office/drawing/2014/main" id="{D612D875-0DD6-47BF-8E30-DBCE84D3475B}"/>
              </a:ext>
            </a:extLst>
          </p:cNvPr>
          <p:cNvSpPr>
            <a:spLocks noGrp="1"/>
          </p:cNvSpPr>
          <p:nvPr/>
        </p:nvSpPr>
        <p:spPr>
          <a:xfrm>
            <a:off x="4191000" y="1428750"/>
            <a:ext cx="5429250" cy="400050"/>
          </a:xfrm>
          <a:prstGeom prst="rect">
            <a:avLst/>
          </a:prstGeom>
          <a:solidFill>
            <a:srgbClr val="A8C0E5"/>
          </a:solidFill>
          <a:ln w="12383">
            <a:noFill/>
            <a:prstDash val="solid"/>
          </a:ln>
        </p:spPr>
      </p:sp>
      <p:sp>
        <p:nvSpPr>
          <p:cNvPr id="23" name="adapt.title">
            <a:extLst>
              <a:ext uri="{FF2B5EF4-FFF2-40B4-BE49-F238E27FC236}">
                <a16:creationId xmlns:a16="http://schemas.microsoft.com/office/drawing/2014/main" id="{16AB9506-37A0-4A88-BB28-170FE72D4504}"/>
              </a:ext>
            </a:extLst>
          </p:cNvPr>
          <p:cNvSpPr>
            <a:spLocks noGrp="1"/>
          </p:cNvSpPr>
          <p:nvPr/>
        </p:nvSpPr>
        <p:spPr>
          <a:xfrm>
            <a:off x="4286250" y="1447800"/>
            <a:ext cx="52387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样本自适应偏移选择</a:t>
            </a:r>
          </a:p>
        </p:txBody>
      </p:sp>
      <p:sp>
        <p:nvSpPr>
          <p:cNvPr id="24" name="adapt.feature-label">
            <a:extLst>
              <a:ext uri="{FF2B5EF4-FFF2-40B4-BE49-F238E27FC236}">
                <a16:creationId xmlns:a16="http://schemas.microsoft.com/office/drawing/2014/main" id="{AA163E75-7F61-41EA-A6EF-632190AEABFE}"/>
              </a:ext>
            </a:extLst>
          </p:cNvPr>
          <p:cNvSpPr>
            <a:spLocks noGrp="1"/>
          </p:cNvSpPr>
          <p:nvPr/>
        </p:nvSpPr>
        <p:spPr>
          <a:xfrm>
            <a:off x="4476750" y="2114550"/>
            <a:ext cx="4857750" cy="3429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样本特征构造</a:t>
            </a:r>
          </a:p>
        </p:txBody>
      </p:sp>
      <p:sp>
        <p:nvSpPr>
          <p:cNvPr id="25" name="adapt.preprocessing">
            <a:extLst>
              <a:ext uri="{FF2B5EF4-FFF2-40B4-BE49-F238E27FC236}">
                <a16:creationId xmlns:a16="http://schemas.microsoft.com/office/drawing/2014/main" id="{0470D764-3E13-42C0-B5DE-BEF01702FE2A}"/>
              </a:ext>
            </a:extLst>
          </p:cNvPr>
          <p:cNvSpPr>
            <a:spLocks noGrp="1"/>
          </p:cNvSpPr>
          <p:nvPr/>
        </p:nvSpPr>
        <p:spPr>
          <a:xfrm>
            <a:off x="4476750" y="2543175"/>
            <a:ext cx="4857750" cy="3238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排序、均值归一化</a:t>
            </a:r>
          </a:p>
        </p:txBody>
      </p:sp>
      <p:sp>
        <p:nvSpPr>
          <p:cNvPr id="26" name="adapt.feature-to-model">
            <a:extLst>
              <a:ext uri="{FF2B5EF4-FFF2-40B4-BE49-F238E27FC236}">
                <a16:creationId xmlns:a16="http://schemas.microsoft.com/office/drawing/2014/main" id="{32036802-72E4-44FC-85DD-BFF01931C75F}"/>
              </a:ext>
            </a:extLst>
          </p:cNvPr>
          <p:cNvSpPr>
            <a:spLocks noGrp="1"/>
          </p:cNvSpPr>
          <p:nvPr/>
        </p:nvSpPr>
        <p:spPr>
          <a:xfrm>
            <a:off x="6905625" y="3524250"/>
            <a:ext cx="953" cy="333375"/>
          </a:xfrm>
          <a:custGeom>
            <a:avLst/>
            <a:gdLst/>
            <a:ahLst/>
            <a:cxnLst/>
            <a:rect l="0" t="0" r="0" b="0"/>
            <a:pathLst>
              <a:path w="953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27" name="adapt.feature-to-model.head">
            <a:extLst>
              <a:ext uri="{FF2B5EF4-FFF2-40B4-BE49-F238E27FC236}">
                <a16:creationId xmlns:a16="http://schemas.microsoft.com/office/drawing/2014/main" id="{08ADC974-A67E-4F09-A04A-C5FC45D50D42}"/>
              </a:ext>
            </a:extLst>
          </p:cNvPr>
          <p:cNvSpPr>
            <a:spLocks noGrp="1"/>
          </p:cNvSpPr>
          <p:nvPr/>
        </p:nvSpPr>
        <p:spPr>
          <a:xfrm>
            <a:off x="6864195" y="3771857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28" name="adapt.standardize">
            <a:extLst>
              <a:ext uri="{FF2B5EF4-FFF2-40B4-BE49-F238E27FC236}">
                <a16:creationId xmlns:a16="http://schemas.microsoft.com/office/drawing/2014/main" id="{A1856027-431F-49AB-9077-3DC9B5F389F1}"/>
              </a:ext>
            </a:extLst>
          </p:cNvPr>
          <p:cNvSpPr>
            <a:spLocks noGrp="1"/>
          </p:cNvSpPr>
          <p:nvPr/>
        </p:nvSpPr>
        <p:spPr>
          <a:xfrm>
            <a:off x="7172325" y="3495675"/>
            <a:ext cx="1381125" cy="2857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标准化</a:t>
            </a:r>
          </a:p>
        </p:txBody>
      </p:sp>
      <p:sp>
        <p:nvSpPr>
          <p:cNvPr id="29" name="adapt.model-box">
            <a:extLst>
              <a:ext uri="{FF2B5EF4-FFF2-40B4-BE49-F238E27FC236}">
                <a16:creationId xmlns:a16="http://schemas.microsoft.com/office/drawing/2014/main" id="{A6B9F723-2894-449A-9E7A-D51AB17CEA81}"/>
              </a:ext>
            </a:extLst>
          </p:cNvPr>
          <p:cNvSpPr>
            <a:spLocks noGrp="1"/>
          </p:cNvSpPr>
          <p:nvPr/>
        </p:nvSpPr>
        <p:spPr>
          <a:xfrm>
            <a:off x="4810125" y="3981450"/>
            <a:ext cx="4191000" cy="1171575"/>
          </a:xfrm>
          <a:prstGeom prst="rect">
            <a:avLst/>
          </a:prstGeom>
          <a:solidFill>
            <a:srgbClr val="EEF4FB"/>
          </a:solidFill>
          <a:ln w="12383">
            <a:solidFill>
              <a:srgbClr val="8FAED0"/>
            </a:solidFill>
            <a:prstDash val="solid"/>
          </a:ln>
        </p:spPr>
      </p:sp>
      <p:sp>
        <p:nvSpPr>
          <p:cNvPr id="30" name="adapt.model-label">
            <a:extLst>
              <a:ext uri="{FF2B5EF4-FFF2-40B4-BE49-F238E27FC236}">
                <a16:creationId xmlns:a16="http://schemas.microsoft.com/office/drawing/2014/main" id="{5F394C26-2E3B-4381-9565-AD6CFD0FAFD0}"/>
              </a:ext>
            </a:extLst>
          </p:cNvPr>
          <p:cNvSpPr>
            <a:spLocks noGrp="1"/>
          </p:cNvSpPr>
          <p:nvPr/>
        </p:nvSpPr>
        <p:spPr>
          <a:xfrm>
            <a:off x="4953000" y="4067175"/>
            <a:ext cx="3905250" cy="3048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偏移选择模型</a:t>
            </a:r>
          </a:p>
        </p:txBody>
      </p:sp>
      <p:sp>
        <p:nvSpPr>
          <p:cNvPr id="31" name="adapt.prediction">
            <a:extLst>
              <a:ext uri="{FF2B5EF4-FFF2-40B4-BE49-F238E27FC236}">
                <a16:creationId xmlns:a16="http://schemas.microsoft.com/office/drawing/2014/main" id="{62E244F8-B70A-48CC-B1E0-ECE3FC813E9E}"/>
              </a:ext>
            </a:extLst>
          </p:cNvPr>
          <p:cNvSpPr>
            <a:spLocks noGrp="1"/>
          </p:cNvSpPr>
          <p:nvPr/>
        </p:nvSpPr>
        <p:spPr>
          <a:xfrm>
            <a:off x="4953000" y="4857750"/>
            <a:ext cx="3905250" cy="2667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预测候选偏移损失</a:t>
            </a:r>
          </a:p>
        </p:txBody>
      </p:sp>
      <p:sp>
        <p:nvSpPr>
          <p:cNvPr id="32" name="adapt.model-to-delta">
            <a:extLst>
              <a:ext uri="{FF2B5EF4-FFF2-40B4-BE49-F238E27FC236}">
                <a16:creationId xmlns:a16="http://schemas.microsoft.com/office/drawing/2014/main" id="{638AB886-5FF7-49C0-B35E-404F9071EF60}"/>
              </a:ext>
            </a:extLst>
          </p:cNvPr>
          <p:cNvSpPr>
            <a:spLocks noGrp="1"/>
          </p:cNvSpPr>
          <p:nvPr/>
        </p:nvSpPr>
        <p:spPr>
          <a:xfrm>
            <a:off x="6905625" y="5267325"/>
            <a:ext cx="953" cy="285750"/>
          </a:xfrm>
          <a:custGeom>
            <a:avLst/>
            <a:gdLst/>
            <a:ahLst/>
            <a:cxnLst/>
            <a:rect l="0" t="0" r="0" b="0"/>
            <a:pathLst>
              <a:path w="953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33" name="adapt.model-to-delta.head">
            <a:extLst>
              <a:ext uri="{FF2B5EF4-FFF2-40B4-BE49-F238E27FC236}">
                <a16:creationId xmlns:a16="http://schemas.microsoft.com/office/drawing/2014/main" id="{66D62847-052A-478A-99F5-3FD9CFB507D6}"/>
              </a:ext>
            </a:extLst>
          </p:cNvPr>
          <p:cNvSpPr>
            <a:spLocks noGrp="1"/>
          </p:cNvSpPr>
          <p:nvPr/>
        </p:nvSpPr>
        <p:spPr>
          <a:xfrm>
            <a:off x="6864195" y="5467307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34" name="adapt.selection">
            <a:extLst>
              <a:ext uri="{FF2B5EF4-FFF2-40B4-BE49-F238E27FC236}">
                <a16:creationId xmlns:a16="http://schemas.microsoft.com/office/drawing/2014/main" id="{B83D5A46-2772-4B7A-9B9C-C241546DBF12}"/>
              </a:ext>
            </a:extLst>
          </p:cNvPr>
          <p:cNvSpPr>
            <a:spLocks noGrp="1"/>
          </p:cNvSpPr>
          <p:nvPr/>
        </p:nvSpPr>
        <p:spPr>
          <a:xfrm>
            <a:off x="4476750" y="5657850"/>
            <a:ext cx="4857750" cy="3333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选择预测损失最低的偏移</a:t>
            </a:r>
          </a:p>
        </p:txBody>
      </p:sp>
      <p:sp>
        <p:nvSpPr>
          <p:cNvPr id="35" name="main.boundary">
            <a:extLst>
              <a:ext uri="{FF2B5EF4-FFF2-40B4-BE49-F238E27FC236}">
                <a16:creationId xmlns:a16="http://schemas.microsoft.com/office/drawing/2014/main" id="{18761035-F998-402A-B043-E762F1DD626F}"/>
              </a:ext>
            </a:extLst>
          </p:cNvPr>
          <p:cNvSpPr>
            <a:spLocks noGrp="1"/>
          </p:cNvSpPr>
          <p:nvPr/>
        </p:nvSpPr>
        <p:spPr>
          <a:xfrm>
            <a:off x="10572750" y="1428750"/>
            <a:ext cx="6572250" cy="57150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36" name="main.header">
            <a:extLst>
              <a:ext uri="{FF2B5EF4-FFF2-40B4-BE49-F238E27FC236}">
                <a16:creationId xmlns:a16="http://schemas.microsoft.com/office/drawing/2014/main" id="{05501718-46F3-4ADF-932F-863E0AFC7C6A}"/>
              </a:ext>
            </a:extLst>
          </p:cNvPr>
          <p:cNvSpPr>
            <a:spLocks noGrp="1"/>
          </p:cNvSpPr>
          <p:nvPr/>
        </p:nvSpPr>
        <p:spPr>
          <a:xfrm>
            <a:off x="10572750" y="1428750"/>
            <a:ext cx="6572250" cy="400050"/>
          </a:xfrm>
          <a:prstGeom prst="rect">
            <a:avLst/>
          </a:prstGeom>
          <a:solidFill>
            <a:srgbClr val="EAF1D8"/>
          </a:solidFill>
          <a:ln w="12383">
            <a:noFill/>
            <a:prstDash val="solid"/>
          </a:ln>
        </p:spPr>
      </p:sp>
      <p:sp>
        <p:nvSpPr>
          <p:cNvPr id="37" name="main.title">
            <a:extLst>
              <a:ext uri="{FF2B5EF4-FFF2-40B4-BE49-F238E27FC236}">
                <a16:creationId xmlns:a16="http://schemas.microsoft.com/office/drawing/2014/main" id="{F61A996F-B559-425A-9246-2776F57F0F33}"/>
              </a:ext>
            </a:extLst>
          </p:cNvPr>
          <p:cNvSpPr>
            <a:spLocks noGrp="1"/>
          </p:cNvSpPr>
          <p:nvPr/>
        </p:nvSpPr>
        <p:spPr>
          <a:xfrm>
            <a:off x="10668000" y="1447800"/>
            <a:ext cx="63817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MDM参数求解</a:t>
            </a:r>
          </a:p>
        </p:txBody>
      </p:sp>
      <p:sp>
        <p:nvSpPr>
          <p:cNvPr id="38" name="main.location-box">
            <a:extLst>
              <a:ext uri="{FF2B5EF4-FFF2-40B4-BE49-F238E27FC236}">
                <a16:creationId xmlns:a16="http://schemas.microsoft.com/office/drawing/2014/main" id="{709D1F4A-407E-42A1-A7DA-F3E516D3FA8E}"/>
              </a:ext>
            </a:extLst>
          </p:cNvPr>
          <p:cNvSpPr>
            <a:spLocks noGrp="1"/>
          </p:cNvSpPr>
          <p:nvPr/>
        </p:nvSpPr>
        <p:spPr>
          <a:xfrm>
            <a:off x="10953750" y="2333625"/>
            <a:ext cx="5810250" cy="1219200"/>
          </a:xfrm>
          <a:prstGeom prst="rect">
            <a:avLst/>
          </a:prstGeom>
          <a:solidFill>
            <a:srgbClr val="FAEAD9"/>
          </a:solidFill>
          <a:ln w="12383">
            <a:solidFill>
              <a:srgbClr val="CFA582"/>
            </a:solidFill>
            <a:prstDash val="solid"/>
          </a:ln>
        </p:spPr>
      </p:sp>
      <p:sp>
        <p:nvSpPr>
          <p:cNvPr id="39" name="main.location-label">
            <a:extLst>
              <a:ext uri="{FF2B5EF4-FFF2-40B4-BE49-F238E27FC236}">
                <a16:creationId xmlns:a16="http://schemas.microsoft.com/office/drawing/2014/main" id="{84AF0102-FCB0-49D0-8A90-F294E4366454}"/>
              </a:ext>
            </a:extLst>
          </p:cNvPr>
          <p:cNvSpPr>
            <a:spLocks noGrp="1"/>
          </p:cNvSpPr>
          <p:nvPr/>
        </p:nvSpPr>
        <p:spPr>
          <a:xfrm>
            <a:off x="11144250" y="2447925"/>
            <a:ext cx="5429250" cy="3238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位置参数求解</a:t>
            </a:r>
          </a:p>
        </p:txBody>
      </p:sp>
      <p:sp>
        <p:nvSpPr>
          <p:cNvPr id="40" name="main.gamma-to-beta">
            <a:extLst>
              <a:ext uri="{FF2B5EF4-FFF2-40B4-BE49-F238E27FC236}">
                <a16:creationId xmlns:a16="http://schemas.microsoft.com/office/drawing/2014/main" id="{1E9E36D8-4D11-4186-ACD1-AB616EE3A1A4}"/>
              </a:ext>
            </a:extLst>
          </p:cNvPr>
          <p:cNvSpPr>
            <a:spLocks noGrp="1"/>
          </p:cNvSpPr>
          <p:nvPr/>
        </p:nvSpPr>
        <p:spPr>
          <a:xfrm>
            <a:off x="13858875" y="3667125"/>
            <a:ext cx="953" cy="361950"/>
          </a:xfrm>
          <a:custGeom>
            <a:avLst/>
            <a:gdLst/>
            <a:ahLst/>
            <a:cxnLst/>
            <a:rect l="0" t="0" r="0" b="0"/>
            <a:pathLst>
              <a:path w="953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41" name="main.gamma-to-beta.head">
            <a:extLst>
              <a:ext uri="{FF2B5EF4-FFF2-40B4-BE49-F238E27FC236}">
                <a16:creationId xmlns:a16="http://schemas.microsoft.com/office/drawing/2014/main" id="{9767DBA6-0ADB-4737-A524-C06905EFD921}"/>
              </a:ext>
            </a:extLst>
          </p:cNvPr>
          <p:cNvSpPr>
            <a:spLocks noGrp="1"/>
          </p:cNvSpPr>
          <p:nvPr/>
        </p:nvSpPr>
        <p:spPr>
          <a:xfrm>
            <a:off x="13817445" y="3943307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42" name="main.beta-label">
            <a:extLst>
              <a:ext uri="{FF2B5EF4-FFF2-40B4-BE49-F238E27FC236}">
                <a16:creationId xmlns:a16="http://schemas.microsoft.com/office/drawing/2014/main" id="{0090D65A-3DC9-4563-B1C8-CE1FC65CC65A}"/>
              </a:ext>
            </a:extLst>
          </p:cNvPr>
          <p:cNvSpPr>
            <a:spLocks noGrp="1"/>
          </p:cNvSpPr>
          <p:nvPr/>
        </p:nvSpPr>
        <p:spPr>
          <a:xfrm>
            <a:off x="11334750" y="4219575"/>
            <a:ext cx="5048250" cy="3333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形状参数求解</a:t>
            </a:r>
          </a:p>
        </p:txBody>
      </p:sp>
      <p:sp>
        <p:nvSpPr>
          <p:cNvPr id="43" name="main.beta-to-eta">
            <a:extLst>
              <a:ext uri="{FF2B5EF4-FFF2-40B4-BE49-F238E27FC236}">
                <a16:creationId xmlns:a16="http://schemas.microsoft.com/office/drawing/2014/main" id="{1F95E2D6-16B5-43EE-B137-15C79A5CD37E}"/>
              </a:ext>
            </a:extLst>
          </p:cNvPr>
          <p:cNvSpPr>
            <a:spLocks noGrp="1"/>
          </p:cNvSpPr>
          <p:nvPr/>
        </p:nvSpPr>
        <p:spPr>
          <a:xfrm>
            <a:off x="13858875" y="5334000"/>
            <a:ext cx="953" cy="361950"/>
          </a:xfrm>
          <a:custGeom>
            <a:avLst/>
            <a:gdLst/>
            <a:ahLst/>
            <a:cxnLst/>
            <a:rect l="0" t="0" r="0" b="0"/>
            <a:pathLst>
              <a:path w="953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44" name="main.beta-to-eta.head">
            <a:extLst>
              <a:ext uri="{FF2B5EF4-FFF2-40B4-BE49-F238E27FC236}">
                <a16:creationId xmlns:a16="http://schemas.microsoft.com/office/drawing/2014/main" id="{3FEEE51C-C242-4497-BA7E-E1BE046BEA93}"/>
              </a:ext>
            </a:extLst>
          </p:cNvPr>
          <p:cNvSpPr>
            <a:spLocks noGrp="1"/>
          </p:cNvSpPr>
          <p:nvPr/>
        </p:nvSpPr>
        <p:spPr>
          <a:xfrm>
            <a:off x="13817445" y="5610182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45" name="main.eta-label">
            <a:extLst>
              <a:ext uri="{FF2B5EF4-FFF2-40B4-BE49-F238E27FC236}">
                <a16:creationId xmlns:a16="http://schemas.microsoft.com/office/drawing/2014/main" id="{00A8D2DC-BE85-460E-9398-D1AEE28105DD}"/>
              </a:ext>
            </a:extLst>
          </p:cNvPr>
          <p:cNvSpPr>
            <a:spLocks noGrp="1"/>
          </p:cNvSpPr>
          <p:nvPr/>
        </p:nvSpPr>
        <p:spPr>
          <a:xfrm>
            <a:off x="11334750" y="5876925"/>
            <a:ext cx="5048250" cy="3333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尺度参数计算</a:t>
            </a:r>
          </a:p>
        </p:txBody>
      </p:sp>
      <p:sp>
        <p:nvSpPr>
          <p:cNvPr id="46" name="output.boundary">
            <a:extLst>
              <a:ext uri="{FF2B5EF4-FFF2-40B4-BE49-F238E27FC236}">
                <a16:creationId xmlns:a16="http://schemas.microsoft.com/office/drawing/2014/main" id="{2B9A4783-73E7-4F5B-8EF2-595A4CB6648C}"/>
              </a:ext>
            </a:extLst>
          </p:cNvPr>
          <p:cNvSpPr>
            <a:spLocks noGrp="1"/>
          </p:cNvSpPr>
          <p:nvPr/>
        </p:nvSpPr>
        <p:spPr>
          <a:xfrm>
            <a:off x="18097500" y="1428750"/>
            <a:ext cx="3905250" cy="5715000"/>
          </a:xfrm>
          <a:prstGeom prst="rect">
            <a:avLst/>
          </a:prstGeom>
          <a:noFill/>
          <a:ln w="12383">
            <a:solidFill>
              <a:srgbClr val="CFA582"/>
            </a:solidFill>
            <a:prstDash val="dash"/>
          </a:ln>
        </p:spPr>
      </p:sp>
      <p:sp>
        <p:nvSpPr>
          <p:cNvPr id="47" name="output.header">
            <a:extLst>
              <a:ext uri="{FF2B5EF4-FFF2-40B4-BE49-F238E27FC236}">
                <a16:creationId xmlns:a16="http://schemas.microsoft.com/office/drawing/2014/main" id="{B30D2393-2ADA-4C21-AB05-67D1682B8A34}"/>
              </a:ext>
            </a:extLst>
          </p:cNvPr>
          <p:cNvSpPr>
            <a:spLocks noGrp="1"/>
          </p:cNvSpPr>
          <p:nvPr/>
        </p:nvSpPr>
        <p:spPr>
          <a:xfrm>
            <a:off x="18097500" y="1428750"/>
            <a:ext cx="3905250" cy="400050"/>
          </a:xfrm>
          <a:prstGeom prst="rect">
            <a:avLst/>
          </a:prstGeom>
          <a:solidFill>
            <a:srgbClr val="FAEAD9"/>
          </a:solidFill>
          <a:ln w="12383">
            <a:noFill/>
            <a:prstDash val="solid"/>
          </a:ln>
        </p:spPr>
      </p:sp>
      <p:sp>
        <p:nvSpPr>
          <p:cNvPr id="48" name="output.title">
            <a:extLst>
              <a:ext uri="{FF2B5EF4-FFF2-40B4-BE49-F238E27FC236}">
                <a16:creationId xmlns:a16="http://schemas.microsoft.com/office/drawing/2014/main" id="{B028B150-E573-4213-BC31-106738DF61B6}"/>
              </a:ext>
            </a:extLst>
          </p:cNvPr>
          <p:cNvSpPr>
            <a:spLocks noGrp="1"/>
          </p:cNvSpPr>
          <p:nvPr/>
        </p:nvSpPr>
        <p:spPr>
          <a:xfrm>
            <a:off x="18192750" y="1447800"/>
            <a:ext cx="37147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AMDM估计结果</a:t>
            </a:r>
          </a:p>
        </p:txBody>
      </p:sp>
      <p:sp>
        <p:nvSpPr>
          <p:cNvPr id="49" name="flow.raw-sample">
            <a:extLst>
              <a:ext uri="{FF2B5EF4-FFF2-40B4-BE49-F238E27FC236}">
                <a16:creationId xmlns:a16="http://schemas.microsoft.com/office/drawing/2014/main" id="{44E731F2-2F1A-4A82-8C9B-065BDD604D51}"/>
              </a:ext>
            </a:extLst>
          </p:cNvPr>
          <p:cNvSpPr>
            <a:spLocks noGrp="1"/>
          </p:cNvSpPr>
          <p:nvPr/>
        </p:nvSpPr>
        <p:spPr>
          <a:xfrm>
            <a:off x="1857375" y="714375"/>
            <a:ext cx="12001500" cy="714375"/>
          </a:xfrm>
          <a:custGeom>
            <a:avLst/>
            <a:gdLst/>
            <a:ahLst/>
            <a:cxnLst/>
            <a:rect l="0" t="0" r="0" b="0"/>
            <a:pathLst>
              <a:path w="12001500" h="714375">
                <a:moveTo>
                  <a:pt x="0" y="714375"/>
                </a:moveTo>
                <a:lnTo>
                  <a:pt x="0" y="0"/>
                </a:lnTo>
                <a:lnTo>
                  <a:pt x="12001500" y="0"/>
                </a:lnTo>
                <a:lnTo>
                  <a:pt x="12001500" y="714375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50" name="flow.raw-sample.head">
            <a:extLst>
              <a:ext uri="{FF2B5EF4-FFF2-40B4-BE49-F238E27FC236}">
                <a16:creationId xmlns:a16="http://schemas.microsoft.com/office/drawing/2014/main" id="{DA3EDCBF-F7D1-41DB-B17E-C508C6C11A24}"/>
              </a:ext>
            </a:extLst>
          </p:cNvPr>
          <p:cNvSpPr>
            <a:spLocks noGrp="1"/>
          </p:cNvSpPr>
          <p:nvPr/>
        </p:nvSpPr>
        <p:spPr>
          <a:xfrm>
            <a:off x="13817445" y="1342982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0" y="0"/>
                </a:moveTo>
                <a:lnTo>
                  <a:pt x="41430" y="85768"/>
                </a:lnTo>
                <a:lnTo>
                  <a:pt x="82861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51" name="flow.raw-label">
            <a:extLst>
              <a:ext uri="{FF2B5EF4-FFF2-40B4-BE49-F238E27FC236}">
                <a16:creationId xmlns:a16="http://schemas.microsoft.com/office/drawing/2014/main" id="{A8D661F5-2B88-4EE6-A7C5-2C6F39925C05}"/>
              </a:ext>
            </a:extLst>
          </p:cNvPr>
          <p:cNvSpPr>
            <a:spLocks noGrp="1"/>
          </p:cNvSpPr>
          <p:nvPr/>
        </p:nvSpPr>
        <p:spPr>
          <a:xfrm>
            <a:off x="5715000" y="266700"/>
            <a:ext cx="4953000" cy="3429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原始寿命样本进入MDM求解</a:t>
            </a:r>
          </a:p>
        </p:txBody>
      </p:sp>
      <p:sp>
        <p:nvSpPr>
          <p:cNvPr id="52" name="flow.adaptive-offset">
            <a:extLst>
              <a:ext uri="{FF2B5EF4-FFF2-40B4-BE49-F238E27FC236}">
                <a16:creationId xmlns:a16="http://schemas.microsoft.com/office/drawing/2014/main" id="{EF99F163-993E-436A-99A4-2FB25D0CC307}"/>
              </a:ext>
            </a:extLst>
          </p:cNvPr>
          <p:cNvSpPr>
            <a:spLocks noGrp="1"/>
          </p:cNvSpPr>
          <p:nvPr/>
        </p:nvSpPr>
        <p:spPr>
          <a:xfrm>
            <a:off x="9620250" y="2952750"/>
            <a:ext cx="1333500" cy="3524250"/>
          </a:xfrm>
          <a:custGeom>
            <a:avLst/>
            <a:gdLst/>
            <a:ahLst/>
            <a:cxnLst/>
            <a:rect l="0" t="0" r="0" b="0"/>
            <a:pathLst>
              <a:path w="1333500" h="3524250">
                <a:moveTo>
                  <a:pt x="0" y="3524250"/>
                </a:moveTo>
                <a:lnTo>
                  <a:pt x="476250" y="3524250"/>
                </a:lnTo>
                <a:lnTo>
                  <a:pt x="476250" y="0"/>
                </a:lnTo>
                <a:lnTo>
                  <a:pt x="1333500" y="0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53" name="flow.adaptive-offset.head">
            <a:extLst>
              <a:ext uri="{FF2B5EF4-FFF2-40B4-BE49-F238E27FC236}">
                <a16:creationId xmlns:a16="http://schemas.microsoft.com/office/drawing/2014/main" id="{DACE3533-13BA-480C-B2BE-C445D56D6B26}"/>
              </a:ext>
            </a:extLst>
          </p:cNvPr>
          <p:cNvSpPr>
            <a:spLocks noGrp="1"/>
          </p:cNvSpPr>
          <p:nvPr/>
        </p:nvSpPr>
        <p:spPr>
          <a:xfrm>
            <a:off x="10867982" y="2911320"/>
            <a:ext cx="85768" cy="82861"/>
          </a:xfrm>
          <a:custGeom>
            <a:avLst/>
            <a:gdLst/>
            <a:ahLst/>
            <a:cxnLst/>
            <a:rect l="0" t="0" r="0" b="0"/>
            <a:pathLst>
              <a:path w="85768" h="82861">
                <a:moveTo>
                  <a:pt x="0" y="82861"/>
                </a:moveTo>
                <a:lnTo>
                  <a:pt x="85768" y="4143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54" name="flow.offset-label">
            <a:extLst>
              <a:ext uri="{FF2B5EF4-FFF2-40B4-BE49-F238E27FC236}">
                <a16:creationId xmlns:a16="http://schemas.microsoft.com/office/drawing/2014/main" id="{B3DD7741-B1D1-4C94-820A-4192844B72C0}"/>
              </a:ext>
            </a:extLst>
          </p:cNvPr>
          <p:cNvSpPr>
            <a:spLocks noGrp="1"/>
          </p:cNvSpPr>
          <p:nvPr/>
        </p:nvSpPr>
        <p:spPr>
          <a:xfrm>
            <a:off x="9763125" y="2000250"/>
            <a:ext cx="1524000" cy="2857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自适应偏移</a:t>
            </a:r>
          </a:p>
        </p:txBody>
      </p:sp>
      <p:sp>
        <p:nvSpPr>
          <p:cNvPr id="55" name="flow.result">
            <a:extLst>
              <a:ext uri="{FF2B5EF4-FFF2-40B4-BE49-F238E27FC236}">
                <a16:creationId xmlns:a16="http://schemas.microsoft.com/office/drawing/2014/main" id="{A5EC811C-A1F5-4859-B283-039D2A404577}"/>
              </a:ext>
            </a:extLst>
          </p:cNvPr>
          <p:cNvSpPr>
            <a:spLocks noGrp="1"/>
          </p:cNvSpPr>
          <p:nvPr/>
        </p:nvSpPr>
        <p:spPr>
          <a:xfrm>
            <a:off x="17145000" y="4286250"/>
            <a:ext cx="952500" cy="2333625"/>
          </a:xfrm>
          <a:custGeom>
            <a:avLst/>
            <a:gdLst/>
            <a:ahLst/>
            <a:cxnLst/>
            <a:rect l="0" t="0" r="0" b="0"/>
            <a:pathLst>
              <a:path w="952500" h="2333625">
                <a:moveTo>
                  <a:pt x="0" y="2333625"/>
                </a:moveTo>
                <a:lnTo>
                  <a:pt x="447675" y="2333625"/>
                </a:lnTo>
                <a:lnTo>
                  <a:pt x="447675" y="0"/>
                </a:lnTo>
                <a:lnTo>
                  <a:pt x="952500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sp>
        <p:nvSpPr>
          <p:cNvPr id="56" name="flow.result.head">
            <a:extLst>
              <a:ext uri="{FF2B5EF4-FFF2-40B4-BE49-F238E27FC236}">
                <a16:creationId xmlns:a16="http://schemas.microsoft.com/office/drawing/2014/main" id="{0E99EB85-B970-4D63-B532-650923A93033}"/>
              </a:ext>
            </a:extLst>
          </p:cNvPr>
          <p:cNvSpPr>
            <a:spLocks noGrp="1"/>
          </p:cNvSpPr>
          <p:nvPr/>
        </p:nvSpPr>
        <p:spPr>
          <a:xfrm>
            <a:off x="18011732" y="4244820"/>
            <a:ext cx="85768" cy="82861"/>
          </a:xfrm>
          <a:custGeom>
            <a:avLst/>
            <a:gdLst/>
            <a:ahLst/>
            <a:cxnLst/>
            <a:rect l="0" t="0" r="0" b="0"/>
            <a:pathLst>
              <a:path w="85768" h="82861">
                <a:moveTo>
                  <a:pt x="0" y="82861"/>
                </a:moveTo>
                <a:lnTo>
                  <a:pt x="85768" y="4143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82878C"/>
            </a:solidFill>
            <a:prstDash val="solid"/>
          </a:ln>
        </p:spPr>
      </p:sp>
      <p:graphicFrame>
        <p:nvGraphicFramePr>
          <p:cNvPr id="58" name="MathType.input.sample-vector">
            <a:extLst>
              <a:ext uri="{FF2B5EF4-FFF2-40B4-BE49-F238E27FC236}">
                <a16:creationId xmlns:a16="http://schemas.microsoft.com/office/drawing/2014/main" id="{4AAEF8B1-AEFF-1EE7-8AD2-5DFFD89481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565531"/>
              </p:ext>
            </p:extLst>
          </p:nvPr>
        </p:nvGraphicFramePr>
        <p:xfrm>
          <a:off x="890588" y="3884611"/>
          <a:ext cx="1933575" cy="460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6680" imgH="253800" progId="Equation.DSMT4">
                  <p:embed/>
                </p:oleObj>
              </mc:Choice>
              <mc:Fallback>
                <p:oleObj name="Equation" r:id="rId3" imgW="1066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0588" y="3884611"/>
                        <a:ext cx="1933575" cy="460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MathType.adapt.normalized">
            <a:extLst>
              <a:ext uri="{FF2B5EF4-FFF2-40B4-BE49-F238E27FC236}">
                <a16:creationId xmlns:a16="http://schemas.microsoft.com/office/drawing/2014/main" id="{FC48ED5D-C6FB-3A6B-EE14-400DDB017E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89310"/>
              </p:ext>
            </p:extLst>
          </p:nvPr>
        </p:nvGraphicFramePr>
        <p:xfrm>
          <a:off x="6318647" y="2959893"/>
          <a:ext cx="1173956" cy="414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7640" imgH="228600" progId="Equation.DSMT4">
                  <p:embed/>
                </p:oleObj>
              </mc:Choice>
              <mc:Fallback>
                <p:oleObj name="Equation" r:id="rId5" imgW="647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18647" y="2959893"/>
                        <a:ext cx="1173956" cy="4143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MathType.adapt.model">
            <a:extLst>
              <a:ext uri="{FF2B5EF4-FFF2-40B4-BE49-F238E27FC236}">
                <a16:creationId xmlns:a16="http://schemas.microsoft.com/office/drawing/2014/main" id="{9D6AB608-7C8A-2435-A583-39C5A4B303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62958"/>
              </p:ext>
            </p:extLst>
          </p:nvPr>
        </p:nvGraphicFramePr>
        <p:xfrm>
          <a:off x="6477002" y="4391025"/>
          <a:ext cx="85724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82400" imgH="241200" progId="Equation.DSMT4">
                  <p:embed/>
                </p:oleObj>
              </mc:Choice>
              <mc:Fallback>
                <p:oleObj name="Equation" r:id="rId7" imgW="4824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77002" y="4391025"/>
                        <a:ext cx="857247" cy="42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MathType.adapt.delta">
            <a:extLst>
              <a:ext uri="{FF2B5EF4-FFF2-40B4-BE49-F238E27FC236}">
                <a16:creationId xmlns:a16="http://schemas.microsoft.com/office/drawing/2014/main" id="{C2626D9A-AA6F-44F2-3307-23F7A4F265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792782"/>
              </p:ext>
            </p:extLst>
          </p:nvPr>
        </p:nvGraphicFramePr>
        <p:xfrm>
          <a:off x="6525817" y="6200775"/>
          <a:ext cx="759616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8280" imgH="253800" progId="Equation.DSMT4">
                  <p:embed/>
                </p:oleObj>
              </mc:Choice>
              <mc:Fallback>
                <p:oleObj name="Equation" r:id="rId9" imgW="3682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25817" y="6200775"/>
                        <a:ext cx="759616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MathType.main.gamma">
            <a:extLst>
              <a:ext uri="{FF2B5EF4-FFF2-40B4-BE49-F238E27FC236}">
                <a16:creationId xmlns:a16="http://schemas.microsoft.com/office/drawing/2014/main" id="{0D675B86-597D-8035-9745-7606F0A106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77221"/>
              </p:ext>
            </p:extLst>
          </p:nvPr>
        </p:nvGraphicFramePr>
        <p:xfrm>
          <a:off x="13727906" y="2939652"/>
          <a:ext cx="261938" cy="445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6720" imgH="215640" progId="Equation.DSMT4">
                  <p:embed/>
                </p:oleObj>
              </mc:Choice>
              <mc:Fallback>
                <p:oleObj name="Equation" r:id="rId11" imgW="126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727906" y="2939652"/>
                        <a:ext cx="261938" cy="4452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MathType.main.beta">
            <a:extLst>
              <a:ext uri="{FF2B5EF4-FFF2-40B4-BE49-F238E27FC236}">
                <a16:creationId xmlns:a16="http://schemas.microsoft.com/office/drawing/2014/main" id="{5796FECA-B8E5-F3F3-87EC-1B5690B2F0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538322"/>
              </p:ext>
            </p:extLst>
          </p:nvPr>
        </p:nvGraphicFramePr>
        <p:xfrm>
          <a:off x="13701713" y="4718446"/>
          <a:ext cx="314325" cy="497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280" imgH="241200" progId="Equation.DSMT4">
                  <p:embed/>
                </p:oleObj>
              </mc:Choice>
              <mc:Fallback>
                <p:oleObj name="Equation" r:id="rId13" imgW="1522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701713" y="4718446"/>
                        <a:ext cx="314325" cy="4976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MathType.main.eta">
            <a:extLst>
              <a:ext uri="{FF2B5EF4-FFF2-40B4-BE49-F238E27FC236}">
                <a16:creationId xmlns:a16="http://schemas.microsoft.com/office/drawing/2014/main" id="{E241F305-F5B0-8701-C89F-EF9D518F40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7432513"/>
              </p:ext>
            </p:extLst>
          </p:nvPr>
        </p:nvGraphicFramePr>
        <p:xfrm>
          <a:off x="13727906" y="6411514"/>
          <a:ext cx="261938" cy="445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6720" imgH="215640" progId="Equation.DSMT4">
                  <p:embed/>
                </p:oleObj>
              </mc:Choice>
              <mc:Fallback>
                <p:oleObj name="Equation" r:id="rId15" imgW="126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3727906" y="6411514"/>
                        <a:ext cx="261938" cy="4452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MathType.output.parameters">
            <a:extLst>
              <a:ext uri="{FF2B5EF4-FFF2-40B4-BE49-F238E27FC236}">
                <a16:creationId xmlns:a16="http://schemas.microsoft.com/office/drawing/2014/main" id="{431D0170-1217-AD58-5D71-BFE0379EC3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959086"/>
              </p:ext>
            </p:extLst>
          </p:nvPr>
        </p:nvGraphicFramePr>
        <p:xfrm>
          <a:off x="18772584" y="3975099"/>
          <a:ext cx="2555081" cy="460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409400" imgH="253800" progId="Equation.DSMT4">
                  <p:embed/>
                </p:oleObj>
              </mc:Choice>
              <mc:Fallback>
                <p:oleObj name="Equation" r:id="rId17" imgW="14094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8772584" y="3975099"/>
                        <a:ext cx="2555081" cy="460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28430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</Words>
  <Application>Microsoft Office PowerPoint</Application>
  <DocSecurity>0</DocSecurity>
  <PresentationFormat>自定义</PresentationFormat>
  <Paragraphs>17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Calibri</vt:lpstr>
      <vt:lpstr>ChatGPT</vt:lpstr>
      <vt:lpstr>MathType 7.0 Equation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1</cp:revision>
  <dcterms:created xsi:type="dcterms:W3CDTF">2026-09-23T07:32:19Z</dcterms:created>
  <dcterms:modified xsi:type="dcterms:W3CDTF">2026-09-23T07:32:31Z</dcterms:modified>
</cp:coreProperties>
</file>