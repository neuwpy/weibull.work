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22288500" cy="7620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2" d="100"/>
          <a:sy n="42" d="100"/>
        </p:scale>
        <p:origin x="173" y="9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图</a:t>
            </a:r>
            <a:r>
              <a:rPr lang="en-US" altLang="zh-CN"/>
              <a:t>2</a:t>
            </a:r>
            <a:r>
              <a:rPr lang="zh-CN" altLang="en-US"/>
              <a:t>定义</a:t>
            </a:r>
            <a:r>
              <a:rPr lang="en-US" altLang="zh-CN"/>
              <a:t>AMDM</a:t>
            </a:r>
            <a:r>
              <a:rPr lang="zh-CN" altLang="en-US"/>
              <a:t>的在线估计流程。当前排序寿命样本经均值归一化和已保存的标准化变换，输入对应样本量的偏移选择模型，按逆变换后的预测候选损失选择偏移。所选偏移进入</a:t>
            </a:r>
            <a:r>
              <a:rPr lang="en-US" altLang="zh-CN"/>
              <a:t>MDM</a:t>
            </a:r>
            <a:r>
              <a:rPr lang="zh-CN" altLang="en-US"/>
              <a:t>位置求解，随后按原结构完成形状和尺度估计，输出三参数结果。原始寿命样本沿上方连线同时提供给</a:t>
            </a:r>
            <a:r>
              <a:rPr lang="en-US" altLang="zh-CN"/>
              <a:t>MDM</a:t>
            </a:r>
            <a:r>
              <a:rPr lang="zh-CN" altLang="en-US"/>
              <a:t>，归一化仅用于偏移选择。符号与正文</a:t>
            </a:r>
            <a:r>
              <a:rPr lang="en-US" altLang="zh-CN"/>
              <a:t>2.4–2.5</a:t>
            </a:r>
            <a:r>
              <a:rPr lang="zh-CN" altLang="en-US"/>
              <a:t>一致，图不展开</a:t>
            </a:r>
            <a:r>
              <a:rPr lang="en-US" altLang="zh-CN"/>
              <a:t>MDM</a:t>
            </a:r>
            <a:r>
              <a:rPr lang="zh-CN" altLang="en-US"/>
              <a:t>推导、训练结构或性能结果。输入散点复用</a:t>
            </a:r>
            <a:r>
              <a:rPr lang="en-US" altLang="zh-CN"/>
              <a:t>F01 Sample-1-3</a:t>
            </a:r>
            <a:r>
              <a:rPr lang="zh-CN" altLang="en-US"/>
              <a:t>。全部数学表达为</a:t>
            </a:r>
            <a:r>
              <a:rPr lang="en-US" altLang="zh-CN"/>
              <a:t>MathType</a:t>
            </a:r>
            <a:r>
              <a:rPr lang="zh-CN" altLang="en-US"/>
              <a:t>对象。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wmf"/><Relationship Id="rId13" Type="http://schemas.openxmlformats.org/officeDocument/2006/relationships/oleObject" Target="../embeddings/oleObject6.bin"/><Relationship Id="rId18" Type="http://schemas.openxmlformats.org/officeDocument/2006/relationships/image" Target="../media/image8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12" Type="http://schemas.openxmlformats.org/officeDocument/2006/relationships/image" Target="../media/image5.wmf"/><Relationship Id="rId17" Type="http://schemas.openxmlformats.org/officeDocument/2006/relationships/oleObject" Target="../embeddings/oleObject8.bin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7.wmf"/><Relationship Id="rId20" Type="http://schemas.openxmlformats.org/officeDocument/2006/relationships/image" Target="../media/image9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wmf"/><Relationship Id="rId11" Type="http://schemas.openxmlformats.org/officeDocument/2006/relationships/oleObject" Target="../embeddings/oleObject5.bin"/><Relationship Id="rId5" Type="http://schemas.openxmlformats.org/officeDocument/2006/relationships/oleObject" Target="../embeddings/oleObject2.bin"/><Relationship Id="rId15" Type="http://schemas.openxmlformats.org/officeDocument/2006/relationships/oleObject" Target="../embeddings/oleObject7.bin"/><Relationship Id="rId10" Type="http://schemas.openxmlformats.org/officeDocument/2006/relationships/image" Target="../media/image4.wmf"/><Relationship Id="rId19" Type="http://schemas.openxmlformats.org/officeDocument/2006/relationships/oleObject" Target="../embeddings/oleObject9.bin"/><Relationship Id="rId4" Type="http://schemas.openxmlformats.org/officeDocument/2006/relationships/image" Target="../media/image1.wmf"/><Relationship Id="rId9" Type="http://schemas.openxmlformats.org/officeDocument/2006/relationships/oleObject" Target="../embeddings/oleObject4.bin"/><Relationship Id="rId14" Type="http://schemas.openxmlformats.org/officeDocument/2006/relationships/image" Target="../media/image6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input.boundary">
            <a:extLst>
              <a:ext uri="{FF2B5EF4-FFF2-40B4-BE49-F238E27FC236}">
                <a16:creationId xmlns:a16="http://schemas.microsoft.com/office/drawing/2014/main" id="{CEB23E8F-9871-4614-8604-367F82E076DC}"/>
              </a:ext>
            </a:extLst>
          </p:cNvPr>
          <p:cNvSpPr>
            <a:spLocks noGrp="1"/>
          </p:cNvSpPr>
          <p:nvPr/>
        </p:nvSpPr>
        <p:spPr>
          <a:xfrm>
            <a:off x="285750" y="1428750"/>
            <a:ext cx="3143250" cy="5715000"/>
          </a:xfrm>
          <a:prstGeom prst="rect">
            <a:avLst/>
          </a:prstGeom>
          <a:noFill/>
          <a:ln w="12383">
            <a:solidFill>
              <a:srgbClr val="6A92BD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input.header">
            <a:extLst>
              <a:ext uri="{FF2B5EF4-FFF2-40B4-BE49-F238E27FC236}">
                <a16:creationId xmlns:a16="http://schemas.microsoft.com/office/drawing/2014/main" id="{16C21FC0-50F5-4BF6-A1FF-05242E4309C1}"/>
              </a:ext>
            </a:extLst>
          </p:cNvPr>
          <p:cNvSpPr>
            <a:spLocks noGrp="1"/>
          </p:cNvSpPr>
          <p:nvPr/>
        </p:nvSpPr>
        <p:spPr>
          <a:xfrm>
            <a:off x="285750" y="1428750"/>
            <a:ext cx="425130" cy="5710474"/>
          </a:xfrm>
          <a:prstGeom prst="rect">
            <a:avLst/>
          </a:prstGeom>
          <a:solidFill>
            <a:srgbClr val="A8C0E5"/>
          </a:solidFill>
          <a:ln w="12383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input.title">
            <a:extLst>
              <a:ext uri="{FF2B5EF4-FFF2-40B4-BE49-F238E27FC236}">
                <a16:creationId xmlns:a16="http://schemas.microsoft.com/office/drawing/2014/main" id="{C9D52FD4-73FA-4FAB-873A-655557699E85}"/>
              </a:ext>
            </a:extLst>
          </p:cNvPr>
          <p:cNvSpPr>
            <a:spLocks noGrp="1"/>
          </p:cNvSpPr>
          <p:nvPr/>
        </p:nvSpPr>
        <p:spPr>
          <a:xfrm>
            <a:off x="-1009271" y="4114799"/>
            <a:ext cx="2952750" cy="361950"/>
          </a:xfrm>
          <a:prstGeom prst="rect">
            <a:avLst/>
          </a:prstGeom>
          <a:noFill/>
          <a:ln w="12383">
            <a:noFill/>
            <a:prstDash val="solid"/>
          </a:ln>
        </p:spPr>
        <p:txBody>
          <a:bodyPr vert="eaVert" wrap="none" lIns="0" tIns="0" rIns="0" bIns="0" anchor="ctr">
            <a:noAutofit/>
          </a:bodyPr>
          <a:lstStyle/>
          <a:p>
            <a:pPr algn="ctr">
              <a:defRPr sz="1800" b="1">
                <a:solidFill>
                  <a:srgbClr val="2632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dirty="0" err="1">
                <a:solidFill>
                  <a:srgbClr val="263238"/>
                </a:solidFill>
                <a:latin typeface="Microsoft YaHei"/>
                <a:ea typeface="Microsoft YaHei"/>
                <a:cs typeface="Microsoft YaHei"/>
              </a:rPr>
              <a:t>当前寿命样本</a:t>
            </a:r>
            <a:endParaRPr sz="1800" b="1" dirty="0">
              <a:solidFill>
                <a:srgbClr val="263238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" name="input.sample.axis">
            <a:extLst>
              <a:ext uri="{FF2B5EF4-FFF2-40B4-BE49-F238E27FC236}">
                <a16:creationId xmlns:a16="http://schemas.microsoft.com/office/drawing/2014/main" id="{78826409-5224-4D01-B178-816D6B633009}"/>
              </a:ext>
            </a:extLst>
          </p:cNvPr>
          <p:cNvSpPr>
            <a:spLocks noGrp="1"/>
          </p:cNvSpPr>
          <p:nvPr/>
        </p:nvSpPr>
        <p:spPr>
          <a:xfrm>
            <a:off x="628650" y="3267075"/>
            <a:ext cx="2457450" cy="953"/>
          </a:xfrm>
          <a:custGeom>
            <a:avLst/>
            <a:gdLst/>
            <a:ahLst/>
            <a:cxnLst/>
            <a:rect l="0" t="0" r="0" b="0"/>
            <a:pathLst>
              <a:path w="2457450" h="953">
                <a:moveTo>
                  <a:pt x="0" y="0"/>
                </a:moveTo>
                <a:lnTo>
                  <a:pt x="2457450" y="0"/>
                </a:lnTo>
              </a:path>
            </a:pathLst>
          </a:custGeom>
          <a:noFill/>
          <a:ln w="9525">
            <a:solidFill>
              <a:srgbClr val="B5BEC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input.sample.stem0">
            <a:extLst>
              <a:ext uri="{FF2B5EF4-FFF2-40B4-BE49-F238E27FC236}">
                <a16:creationId xmlns:a16="http://schemas.microsoft.com/office/drawing/2014/main" id="{9D7A9453-96B4-489E-A6DF-B1D3AA5081BA}"/>
              </a:ext>
            </a:extLst>
          </p:cNvPr>
          <p:cNvSpPr>
            <a:spLocks noGrp="1"/>
          </p:cNvSpPr>
          <p:nvPr/>
        </p:nvSpPr>
        <p:spPr>
          <a:xfrm>
            <a:off x="771525" y="3057525"/>
            <a:ext cx="953" cy="209550"/>
          </a:xfrm>
          <a:custGeom>
            <a:avLst/>
            <a:gdLst/>
            <a:ahLst/>
            <a:cxnLst/>
            <a:rect l="0" t="0" r="0" b="0"/>
            <a:pathLst>
              <a:path w="953" h="209550">
                <a:moveTo>
                  <a:pt x="0" y="209550"/>
                </a:moveTo>
                <a:lnTo>
                  <a:pt x="0" y="0"/>
                </a:lnTo>
              </a:path>
            </a:pathLst>
          </a:custGeom>
          <a:noFill/>
          <a:ln w="10478">
            <a:solidFill>
              <a:srgbClr val="147AA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input.sample.dot0">
            <a:extLst>
              <a:ext uri="{FF2B5EF4-FFF2-40B4-BE49-F238E27FC236}">
                <a16:creationId xmlns:a16="http://schemas.microsoft.com/office/drawing/2014/main" id="{B371FE93-D6A7-468E-A6D1-B17440901F34}"/>
              </a:ext>
            </a:extLst>
          </p:cNvPr>
          <p:cNvSpPr>
            <a:spLocks noGrp="1"/>
          </p:cNvSpPr>
          <p:nvPr/>
        </p:nvSpPr>
        <p:spPr>
          <a:xfrm>
            <a:off x="728663" y="3014663"/>
            <a:ext cx="85725" cy="85725"/>
          </a:xfrm>
          <a:prstGeom prst="ellipse">
            <a:avLst/>
          </a:prstGeom>
          <a:solidFill>
            <a:srgbClr val="147AAA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input.sample.stem1">
            <a:extLst>
              <a:ext uri="{FF2B5EF4-FFF2-40B4-BE49-F238E27FC236}">
                <a16:creationId xmlns:a16="http://schemas.microsoft.com/office/drawing/2014/main" id="{4A973A61-78D7-45DE-84E5-0EE2AC5BEFED}"/>
              </a:ext>
            </a:extLst>
          </p:cNvPr>
          <p:cNvSpPr>
            <a:spLocks noGrp="1"/>
          </p:cNvSpPr>
          <p:nvPr/>
        </p:nvSpPr>
        <p:spPr>
          <a:xfrm>
            <a:off x="823808" y="3057525"/>
            <a:ext cx="953" cy="209550"/>
          </a:xfrm>
          <a:custGeom>
            <a:avLst/>
            <a:gdLst/>
            <a:ahLst/>
            <a:cxnLst/>
            <a:rect l="0" t="0" r="0" b="0"/>
            <a:pathLst>
              <a:path w="953" h="209550">
                <a:moveTo>
                  <a:pt x="0" y="209550"/>
                </a:moveTo>
                <a:lnTo>
                  <a:pt x="0" y="0"/>
                </a:lnTo>
              </a:path>
            </a:pathLst>
          </a:custGeom>
          <a:noFill/>
          <a:ln w="10478">
            <a:solidFill>
              <a:srgbClr val="147AA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input.sample.dot1">
            <a:extLst>
              <a:ext uri="{FF2B5EF4-FFF2-40B4-BE49-F238E27FC236}">
                <a16:creationId xmlns:a16="http://schemas.microsoft.com/office/drawing/2014/main" id="{CA7A2C85-0C10-4CB4-8EE3-4EC6C25C29E3}"/>
              </a:ext>
            </a:extLst>
          </p:cNvPr>
          <p:cNvSpPr>
            <a:spLocks noGrp="1"/>
          </p:cNvSpPr>
          <p:nvPr/>
        </p:nvSpPr>
        <p:spPr>
          <a:xfrm>
            <a:off x="780946" y="3014663"/>
            <a:ext cx="85725" cy="85725"/>
          </a:xfrm>
          <a:prstGeom prst="ellipse">
            <a:avLst/>
          </a:prstGeom>
          <a:solidFill>
            <a:srgbClr val="147AAA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input.sample.stem2">
            <a:extLst>
              <a:ext uri="{FF2B5EF4-FFF2-40B4-BE49-F238E27FC236}">
                <a16:creationId xmlns:a16="http://schemas.microsoft.com/office/drawing/2014/main" id="{11D0C37C-E351-4600-B826-47CFBC2E2626}"/>
              </a:ext>
            </a:extLst>
          </p:cNvPr>
          <p:cNvSpPr>
            <a:spLocks noGrp="1"/>
          </p:cNvSpPr>
          <p:nvPr/>
        </p:nvSpPr>
        <p:spPr>
          <a:xfrm>
            <a:off x="1443444" y="3057525"/>
            <a:ext cx="953" cy="209550"/>
          </a:xfrm>
          <a:custGeom>
            <a:avLst/>
            <a:gdLst/>
            <a:ahLst/>
            <a:cxnLst/>
            <a:rect l="0" t="0" r="0" b="0"/>
            <a:pathLst>
              <a:path w="953" h="209550">
                <a:moveTo>
                  <a:pt x="0" y="209550"/>
                </a:moveTo>
                <a:lnTo>
                  <a:pt x="0" y="0"/>
                </a:lnTo>
              </a:path>
            </a:pathLst>
          </a:custGeom>
          <a:noFill/>
          <a:ln w="10478">
            <a:solidFill>
              <a:srgbClr val="147AA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input.sample.dot2">
            <a:extLst>
              <a:ext uri="{FF2B5EF4-FFF2-40B4-BE49-F238E27FC236}">
                <a16:creationId xmlns:a16="http://schemas.microsoft.com/office/drawing/2014/main" id="{65D2315C-11B1-4BDE-917B-A1734F80E82D}"/>
              </a:ext>
            </a:extLst>
          </p:cNvPr>
          <p:cNvSpPr>
            <a:spLocks noGrp="1"/>
          </p:cNvSpPr>
          <p:nvPr/>
        </p:nvSpPr>
        <p:spPr>
          <a:xfrm>
            <a:off x="1400581" y="3014663"/>
            <a:ext cx="85725" cy="85725"/>
          </a:xfrm>
          <a:prstGeom prst="ellipse">
            <a:avLst/>
          </a:prstGeom>
          <a:solidFill>
            <a:srgbClr val="147AAA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input.sample.stem3">
            <a:extLst>
              <a:ext uri="{FF2B5EF4-FFF2-40B4-BE49-F238E27FC236}">
                <a16:creationId xmlns:a16="http://schemas.microsoft.com/office/drawing/2014/main" id="{1CBF7081-B4FA-4A0E-8F03-3C0D1A27D795}"/>
              </a:ext>
            </a:extLst>
          </p:cNvPr>
          <p:cNvSpPr>
            <a:spLocks noGrp="1"/>
          </p:cNvSpPr>
          <p:nvPr/>
        </p:nvSpPr>
        <p:spPr>
          <a:xfrm>
            <a:off x="1642096" y="3057525"/>
            <a:ext cx="953" cy="209550"/>
          </a:xfrm>
          <a:custGeom>
            <a:avLst/>
            <a:gdLst/>
            <a:ahLst/>
            <a:cxnLst/>
            <a:rect l="0" t="0" r="0" b="0"/>
            <a:pathLst>
              <a:path w="953" h="209550">
                <a:moveTo>
                  <a:pt x="0" y="209550"/>
                </a:moveTo>
                <a:lnTo>
                  <a:pt x="0" y="0"/>
                </a:lnTo>
              </a:path>
            </a:pathLst>
          </a:custGeom>
          <a:noFill/>
          <a:ln w="10478">
            <a:solidFill>
              <a:srgbClr val="147AA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input.sample.dot3">
            <a:extLst>
              <a:ext uri="{FF2B5EF4-FFF2-40B4-BE49-F238E27FC236}">
                <a16:creationId xmlns:a16="http://schemas.microsoft.com/office/drawing/2014/main" id="{33C323D2-7D99-44A0-A120-5965807ED996}"/>
              </a:ext>
            </a:extLst>
          </p:cNvPr>
          <p:cNvSpPr>
            <a:spLocks noGrp="1"/>
          </p:cNvSpPr>
          <p:nvPr/>
        </p:nvSpPr>
        <p:spPr>
          <a:xfrm>
            <a:off x="1599234" y="3014663"/>
            <a:ext cx="85725" cy="85725"/>
          </a:xfrm>
          <a:prstGeom prst="ellipse">
            <a:avLst/>
          </a:prstGeom>
          <a:solidFill>
            <a:srgbClr val="147AAA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input.sample.stem4">
            <a:extLst>
              <a:ext uri="{FF2B5EF4-FFF2-40B4-BE49-F238E27FC236}">
                <a16:creationId xmlns:a16="http://schemas.microsoft.com/office/drawing/2014/main" id="{BB923845-388B-4984-8F51-700F72FBF507}"/>
              </a:ext>
            </a:extLst>
          </p:cNvPr>
          <p:cNvSpPr>
            <a:spLocks noGrp="1"/>
          </p:cNvSpPr>
          <p:nvPr/>
        </p:nvSpPr>
        <p:spPr>
          <a:xfrm>
            <a:off x="1725540" y="3057525"/>
            <a:ext cx="953" cy="209550"/>
          </a:xfrm>
          <a:custGeom>
            <a:avLst/>
            <a:gdLst/>
            <a:ahLst/>
            <a:cxnLst/>
            <a:rect l="0" t="0" r="0" b="0"/>
            <a:pathLst>
              <a:path w="953" h="209550">
                <a:moveTo>
                  <a:pt x="0" y="209550"/>
                </a:moveTo>
                <a:lnTo>
                  <a:pt x="0" y="0"/>
                </a:lnTo>
              </a:path>
            </a:pathLst>
          </a:custGeom>
          <a:noFill/>
          <a:ln w="10478">
            <a:solidFill>
              <a:srgbClr val="147AA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input.sample.dot4">
            <a:extLst>
              <a:ext uri="{FF2B5EF4-FFF2-40B4-BE49-F238E27FC236}">
                <a16:creationId xmlns:a16="http://schemas.microsoft.com/office/drawing/2014/main" id="{34AA3479-A56B-4086-8574-AE52A5BE0054}"/>
              </a:ext>
            </a:extLst>
          </p:cNvPr>
          <p:cNvSpPr>
            <a:spLocks noGrp="1"/>
          </p:cNvSpPr>
          <p:nvPr/>
        </p:nvSpPr>
        <p:spPr>
          <a:xfrm>
            <a:off x="1682678" y="3014663"/>
            <a:ext cx="85725" cy="85725"/>
          </a:xfrm>
          <a:prstGeom prst="ellipse">
            <a:avLst/>
          </a:prstGeom>
          <a:solidFill>
            <a:srgbClr val="147AAA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input.sample.stem5">
            <a:extLst>
              <a:ext uri="{FF2B5EF4-FFF2-40B4-BE49-F238E27FC236}">
                <a16:creationId xmlns:a16="http://schemas.microsoft.com/office/drawing/2014/main" id="{D87807B4-A2B9-4D39-B202-80E6D785FC68}"/>
              </a:ext>
            </a:extLst>
          </p:cNvPr>
          <p:cNvSpPr>
            <a:spLocks noGrp="1"/>
          </p:cNvSpPr>
          <p:nvPr/>
        </p:nvSpPr>
        <p:spPr>
          <a:xfrm>
            <a:off x="2148910" y="3057525"/>
            <a:ext cx="953" cy="209550"/>
          </a:xfrm>
          <a:custGeom>
            <a:avLst/>
            <a:gdLst/>
            <a:ahLst/>
            <a:cxnLst/>
            <a:rect l="0" t="0" r="0" b="0"/>
            <a:pathLst>
              <a:path w="953" h="209550">
                <a:moveTo>
                  <a:pt x="0" y="209550"/>
                </a:moveTo>
                <a:lnTo>
                  <a:pt x="0" y="0"/>
                </a:lnTo>
              </a:path>
            </a:pathLst>
          </a:custGeom>
          <a:noFill/>
          <a:ln w="10478">
            <a:solidFill>
              <a:srgbClr val="147AA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input.sample.dot5">
            <a:extLst>
              <a:ext uri="{FF2B5EF4-FFF2-40B4-BE49-F238E27FC236}">
                <a16:creationId xmlns:a16="http://schemas.microsoft.com/office/drawing/2014/main" id="{3A425A2E-06B7-4E25-8880-A9BF276BC7AC}"/>
              </a:ext>
            </a:extLst>
          </p:cNvPr>
          <p:cNvSpPr>
            <a:spLocks noGrp="1"/>
          </p:cNvSpPr>
          <p:nvPr/>
        </p:nvSpPr>
        <p:spPr>
          <a:xfrm>
            <a:off x="2106047" y="3014663"/>
            <a:ext cx="85725" cy="85725"/>
          </a:xfrm>
          <a:prstGeom prst="ellipse">
            <a:avLst/>
          </a:prstGeom>
          <a:solidFill>
            <a:srgbClr val="147AAA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input.sample.stem6">
            <a:extLst>
              <a:ext uri="{FF2B5EF4-FFF2-40B4-BE49-F238E27FC236}">
                <a16:creationId xmlns:a16="http://schemas.microsoft.com/office/drawing/2014/main" id="{BEED86FE-E712-4925-854F-425FF8ECD09B}"/>
              </a:ext>
            </a:extLst>
          </p:cNvPr>
          <p:cNvSpPr>
            <a:spLocks noGrp="1"/>
          </p:cNvSpPr>
          <p:nvPr/>
        </p:nvSpPr>
        <p:spPr>
          <a:xfrm>
            <a:off x="2943225" y="3057525"/>
            <a:ext cx="953" cy="209550"/>
          </a:xfrm>
          <a:custGeom>
            <a:avLst/>
            <a:gdLst/>
            <a:ahLst/>
            <a:cxnLst/>
            <a:rect l="0" t="0" r="0" b="0"/>
            <a:pathLst>
              <a:path w="953" h="209550">
                <a:moveTo>
                  <a:pt x="0" y="209550"/>
                </a:moveTo>
                <a:lnTo>
                  <a:pt x="0" y="0"/>
                </a:lnTo>
              </a:path>
            </a:pathLst>
          </a:custGeom>
          <a:noFill/>
          <a:ln w="10478">
            <a:solidFill>
              <a:srgbClr val="147AA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input.sample.dot6">
            <a:extLst>
              <a:ext uri="{FF2B5EF4-FFF2-40B4-BE49-F238E27FC236}">
                <a16:creationId xmlns:a16="http://schemas.microsoft.com/office/drawing/2014/main" id="{07E0FC6F-56D1-44BC-A611-C26793AE4FAC}"/>
              </a:ext>
            </a:extLst>
          </p:cNvPr>
          <p:cNvSpPr>
            <a:spLocks noGrp="1"/>
          </p:cNvSpPr>
          <p:nvPr/>
        </p:nvSpPr>
        <p:spPr>
          <a:xfrm>
            <a:off x="2900363" y="3014663"/>
            <a:ext cx="85725" cy="85725"/>
          </a:xfrm>
          <a:prstGeom prst="ellipse">
            <a:avLst/>
          </a:prstGeom>
          <a:solidFill>
            <a:srgbClr val="147AAA"/>
          </a:solidFill>
          <a:ln w="9525">
            <a:solidFill>
              <a:srgbClr val="FFFFF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input.description">
            <a:extLst>
              <a:ext uri="{FF2B5EF4-FFF2-40B4-BE49-F238E27FC236}">
                <a16:creationId xmlns:a16="http://schemas.microsoft.com/office/drawing/2014/main" id="{D706CC70-4B31-4C6A-9754-7D97D37E519F}"/>
              </a:ext>
            </a:extLst>
          </p:cNvPr>
          <p:cNvSpPr>
            <a:spLocks noGrp="1"/>
          </p:cNvSpPr>
          <p:nvPr/>
        </p:nvSpPr>
        <p:spPr>
          <a:xfrm>
            <a:off x="457200" y="4762500"/>
            <a:ext cx="2800350" cy="361950"/>
          </a:xfrm>
          <a:prstGeom prst="rect">
            <a:avLst/>
          </a:prstGeom>
          <a:noFill/>
          <a:ln w="12383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800" b="0">
                <a:solidFill>
                  <a:srgbClr val="2632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63238"/>
                </a:solidFill>
                <a:latin typeface="Microsoft YaHei"/>
                <a:ea typeface="Microsoft YaHei"/>
                <a:cs typeface="Microsoft YaHei"/>
              </a:rPr>
              <a:t>排序后的寿命观测</a:t>
            </a:r>
          </a:p>
        </p:txBody>
      </p:sp>
      <p:sp>
        <p:nvSpPr>
          <p:cNvPr id="21" name="adapt.boundary">
            <a:extLst>
              <a:ext uri="{FF2B5EF4-FFF2-40B4-BE49-F238E27FC236}">
                <a16:creationId xmlns:a16="http://schemas.microsoft.com/office/drawing/2014/main" id="{25C05CD3-C167-4064-88B9-9B0269A3C370}"/>
              </a:ext>
            </a:extLst>
          </p:cNvPr>
          <p:cNvSpPr>
            <a:spLocks noGrp="1"/>
          </p:cNvSpPr>
          <p:nvPr/>
        </p:nvSpPr>
        <p:spPr>
          <a:xfrm>
            <a:off x="4381501" y="-1897141"/>
            <a:ext cx="12191999" cy="2613181"/>
          </a:xfrm>
          <a:prstGeom prst="rect">
            <a:avLst/>
          </a:prstGeom>
          <a:noFill/>
          <a:ln w="12383">
            <a:solidFill>
              <a:srgbClr val="6A92BD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adapt.header">
            <a:extLst>
              <a:ext uri="{FF2B5EF4-FFF2-40B4-BE49-F238E27FC236}">
                <a16:creationId xmlns:a16="http://schemas.microsoft.com/office/drawing/2014/main" id="{D612D875-0DD6-47BF-8E30-DBCE84D3475B}"/>
              </a:ext>
            </a:extLst>
          </p:cNvPr>
          <p:cNvSpPr>
            <a:spLocks noGrp="1"/>
          </p:cNvSpPr>
          <p:nvPr/>
        </p:nvSpPr>
        <p:spPr>
          <a:xfrm>
            <a:off x="4381502" y="-1897142"/>
            <a:ext cx="458616" cy="2612228"/>
          </a:xfrm>
          <a:prstGeom prst="rect">
            <a:avLst/>
          </a:prstGeom>
          <a:solidFill>
            <a:srgbClr val="A8C0E5"/>
          </a:solidFill>
          <a:ln w="12383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adapt.title">
            <a:extLst>
              <a:ext uri="{FF2B5EF4-FFF2-40B4-BE49-F238E27FC236}">
                <a16:creationId xmlns:a16="http://schemas.microsoft.com/office/drawing/2014/main" id="{16AB9506-37A0-4A88-BB28-170FE72D4504}"/>
              </a:ext>
            </a:extLst>
          </p:cNvPr>
          <p:cNvSpPr>
            <a:spLocks noGrp="1"/>
          </p:cNvSpPr>
          <p:nvPr/>
        </p:nvSpPr>
        <p:spPr>
          <a:xfrm>
            <a:off x="2713731" y="-1202610"/>
            <a:ext cx="5238750" cy="361950"/>
          </a:xfrm>
          <a:prstGeom prst="rect">
            <a:avLst/>
          </a:prstGeom>
          <a:noFill/>
          <a:ln w="12383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800" b="1">
                <a:solidFill>
                  <a:srgbClr val="2632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dirty="0" err="1">
                <a:solidFill>
                  <a:srgbClr val="263238"/>
                </a:solidFill>
                <a:latin typeface="Microsoft YaHei"/>
                <a:ea typeface="Microsoft YaHei"/>
                <a:cs typeface="Microsoft YaHei"/>
              </a:rPr>
              <a:t>样本自适应偏移选择</a:t>
            </a:r>
            <a:endParaRPr sz="1800" b="1" dirty="0">
              <a:solidFill>
                <a:srgbClr val="263238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4" name="adapt.feature-label">
            <a:extLst>
              <a:ext uri="{FF2B5EF4-FFF2-40B4-BE49-F238E27FC236}">
                <a16:creationId xmlns:a16="http://schemas.microsoft.com/office/drawing/2014/main" id="{AA163E75-7F61-41EA-A6EF-632190AEABFE}"/>
              </a:ext>
            </a:extLst>
          </p:cNvPr>
          <p:cNvSpPr>
            <a:spLocks noGrp="1"/>
          </p:cNvSpPr>
          <p:nvPr/>
        </p:nvSpPr>
        <p:spPr>
          <a:xfrm>
            <a:off x="4667252" y="-1211341"/>
            <a:ext cx="4857750" cy="342900"/>
          </a:xfrm>
          <a:prstGeom prst="rect">
            <a:avLst/>
          </a:prstGeom>
          <a:noFill/>
          <a:ln w="12383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875" b="1">
                <a:solidFill>
                  <a:srgbClr val="2632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63238"/>
                </a:solidFill>
                <a:latin typeface="Microsoft YaHei"/>
                <a:ea typeface="Microsoft YaHei"/>
                <a:cs typeface="Microsoft YaHei"/>
              </a:rPr>
              <a:t>样本特征构造</a:t>
            </a:r>
          </a:p>
        </p:txBody>
      </p:sp>
      <p:sp>
        <p:nvSpPr>
          <p:cNvPr id="25" name="adapt.preprocessing">
            <a:extLst>
              <a:ext uri="{FF2B5EF4-FFF2-40B4-BE49-F238E27FC236}">
                <a16:creationId xmlns:a16="http://schemas.microsoft.com/office/drawing/2014/main" id="{0470D764-3E13-42C0-B5DE-BEF01702FE2A}"/>
              </a:ext>
            </a:extLst>
          </p:cNvPr>
          <p:cNvSpPr>
            <a:spLocks noGrp="1"/>
          </p:cNvSpPr>
          <p:nvPr/>
        </p:nvSpPr>
        <p:spPr>
          <a:xfrm>
            <a:off x="4667252" y="-782716"/>
            <a:ext cx="4857750" cy="323850"/>
          </a:xfrm>
          <a:prstGeom prst="rect">
            <a:avLst/>
          </a:prstGeom>
          <a:noFill/>
          <a:ln w="12383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800" b="0">
                <a:solidFill>
                  <a:srgbClr val="2632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63238"/>
                </a:solidFill>
                <a:latin typeface="Microsoft YaHei"/>
                <a:ea typeface="Microsoft YaHei"/>
                <a:cs typeface="Microsoft YaHei"/>
              </a:rPr>
              <a:t>排序、均值归一化</a:t>
            </a:r>
          </a:p>
        </p:txBody>
      </p:sp>
      <p:sp>
        <p:nvSpPr>
          <p:cNvPr id="26" name="adapt.feature-to-model">
            <a:extLst>
              <a:ext uri="{FF2B5EF4-FFF2-40B4-BE49-F238E27FC236}">
                <a16:creationId xmlns:a16="http://schemas.microsoft.com/office/drawing/2014/main" id="{32036802-72E4-44FC-85DD-BFF01931C75F}"/>
              </a:ext>
            </a:extLst>
          </p:cNvPr>
          <p:cNvSpPr>
            <a:spLocks noGrp="1"/>
          </p:cNvSpPr>
          <p:nvPr/>
        </p:nvSpPr>
        <p:spPr>
          <a:xfrm rot="16200000">
            <a:off x="8584400" y="-749855"/>
            <a:ext cx="953" cy="333375"/>
          </a:xfrm>
          <a:custGeom>
            <a:avLst/>
            <a:gdLst/>
            <a:ahLst/>
            <a:cxnLst/>
            <a:rect l="0" t="0" r="0" b="0"/>
            <a:pathLst>
              <a:path w="953" h="333375">
                <a:moveTo>
                  <a:pt x="0" y="0"/>
                </a:moveTo>
                <a:lnTo>
                  <a:pt x="0" y="333375"/>
                </a:lnTo>
              </a:path>
            </a:pathLst>
          </a:custGeom>
          <a:noFill/>
          <a:ln w="15240">
            <a:solidFill>
              <a:srgbClr val="82878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adapt.feature-to-model.head">
            <a:extLst>
              <a:ext uri="{FF2B5EF4-FFF2-40B4-BE49-F238E27FC236}">
                <a16:creationId xmlns:a16="http://schemas.microsoft.com/office/drawing/2014/main" id="{08ADC974-A67E-4F09-A04A-C5FC45D50D42}"/>
              </a:ext>
            </a:extLst>
          </p:cNvPr>
          <p:cNvSpPr>
            <a:spLocks noGrp="1"/>
          </p:cNvSpPr>
          <p:nvPr/>
        </p:nvSpPr>
        <p:spPr>
          <a:xfrm rot="16200000">
            <a:off x="8726327" y="-615096"/>
            <a:ext cx="82861" cy="85768"/>
          </a:xfrm>
          <a:custGeom>
            <a:avLst/>
            <a:gdLst/>
            <a:ahLst/>
            <a:cxnLst/>
            <a:rect l="0" t="0" r="0" b="0"/>
            <a:pathLst>
              <a:path w="82861" h="85768">
                <a:moveTo>
                  <a:pt x="0" y="0"/>
                </a:moveTo>
                <a:lnTo>
                  <a:pt x="41430" y="85768"/>
                </a:lnTo>
                <a:lnTo>
                  <a:pt x="82861" y="0"/>
                </a:lnTo>
              </a:path>
            </a:pathLst>
          </a:custGeom>
          <a:noFill/>
          <a:ln w="15240">
            <a:solidFill>
              <a:srgbClr val="82878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adapt.model-box">
            <a:extLst>
              <a:ext uri="{FF2B5EF4-FFF2-40B4-BE49-F238E27FC236}">
                <a16:creationId xmlns:a16="http://schemas.microsoft.com/office/drawing/2014/main" id="{A6B9F723-2894-449A-9E7A-D51AB17CEA81}"/>
              </a:ext>
            </a:extLst>
          </p:cNvPr>
          <p:cNvSpPr>
            <a:spLocks noGrp="1"/>
          </p:cNvSpPr>
          <p:nvPr/>
        </p:nvSpPr>
        <p:spPr>
          <a:xfrm>
            <a:off x="9269259" y="-1225629"/>
            <a:ext cx="4191000" cy="1171575"/>
          </a:xfrm>
          <a:prstGeom prst="rect">
            <a:avLst/>
          </a:prstGeom>
          <a:solidFill>
            <a:srgbClr val="EEF4FB"/>
          </a:solidFill>
          <a:ln w="12383">
            <a:solidFill>
              <a:srgbClr val="8FAED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adapt.model-label">
            <a:extLst>
              <a:ext uri="{FF2B5EF4-FFF2-40B4-BE49-F238E27FC236}">
                <a16:creationId xmlns:a16="http://schemas.microsoft.com/office/drawing/2014/main" id="{5F394C26-2E3B-4381-9565-AD6CFD0FAFD0}"/>
              </a:ext>
            </a:extLst>
          </p:cNvPr>
          <p:cNvSpPr>
            <a:spLocks noGrp="1"/>
          </p:cNvSpPr>
          <p:nvPr/>
        </p:nvSpPr>
        <p:spPr>
          <a:xfrm>
            <a:off x="9412134" y="-1139904"/>
            <a:ext cx="3905250" cy="304800"/>
          </a:xfrm>
          <a:prstGeom prst="rect">
            <a:avLst/>
          </a:prstGeom>
          <a:noFill/>
          <a:ln w="12383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875" b="1">
                <a:solidFill>
                  <a:srgbClr val="2632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63238"/>
                </a:solidFill>
                <a:latin typeface="Microsoft YaHei"/>
                <a:ea typeface="Microsoft YaHei"/>
                <a:cs typeface="Microsoft YaHei"/>
              </a:rPr>
              <a:t>偏移选择模型</a:t>
            </a:r>
          </a:p>
        </p:txBody>
      </p:sp>
      <p:sp>
        <p:nvSpPr>
          <p:cNvPr id="31" name="adapt.prediction">
            <a:extLst>
              <a:ext uri="{FF2B5EF4-FFF2-40B4-BE49-F238E27FC236}">
                <a16:creationId xmlns:a16="http://schemas.microsoft.com/office/drawing/2014/main" id="{62E244F8-B70A-48CC-B1E0-ECE3FC813E9E}"/>
              </a:ext>
            </a:extLst>
          </p:cNvPr>
          <p:cNvSpPr>
            <a:spLocks noGrp="1"/>
          </p:cNvSpPr>
          <p:nvPr/>
        </p:nvSpPr>
        <p:spPr>
          <a:xfrm>
            <a:off x="9412134" y="-349329"/>
            <a:ext cx="3905250" cy="266700"/>
          </a:xfrm>
          <a:prstGeom prst="rect">
            <a:avLst/>
          </a:prstGeom>
          <a:noFill/>
          <a:ln w="12383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650" b="0">
                <a:solidFill>
                  <a:srgbClr val="2632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263238"/>
                </a:solidFill>
                <a:latin typeface="Microsoft YaHei"/>
                <a:ea typeface="Microsoft YaHei"/>
                <a:cs typeface="Microsoft YaHei"/>
              </a:rPr>
              <a:t>预测候选偏移损失</a:t>
            </a:r>
          </a:p>
        </p:txBody>
      </p:sp>
      <p:sp>
        <p:nvSpPr>
          <p:cNvPr id="32" name="adapt.model-to-delta">
            <a:extLst>
              <a:ext uri="{FF2B5EF4-FFF2-40B4-BE49-F238E27FC236}">
                <a16:creationId xmlns:a16="http://schemas.microsoft.com/office/drawing/2014/main" id="{638AB886-5FF7-49C0-B35E-404F9071EF60}"/>
              </a:ext>
            </a:extLst>
          </p:cNvPr>
          <p:cNvSpPr>
            <a:spLocks noGrp="1"/>
          </p:cNvSpPr>
          <p:nvPr/>
        </p:nvSpPr>
        <p:spPr>
          <a:xfrm rot="16200000">
            <a:off x="14085578" y="-726519"/>
            <a:ext cx="953" cy="285750"/>
          </a:xfrm>
          <a:custGeom>
            <a:avLst/>
            <a:gdLst/>
            <a:ahLst/>
            <a:cxnLst/>
            <a:rect l="0" t="0" r="0" b="0"/>
            <a:pathLst>
              <a:path w="953" h="285750">
                <a:moveTo>
                  <a:pt x="0" y="0"/>
                </a:moveTo>
                <a:lnTo>
                  <a:pt x="0" y="285750"/>
                </a:lnTo>
              </a:path>
            </a:pathLst>
          </a:custGeom>
          <a:noFill/>
          <a:ln w="15240">
            <a:solidFill>
              <a:srgbClr val="82878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adapt.model-to-delta.head">
            <a:extLst>
              <a:ext uri="{FF2B5EF4-FFF2-40B4-BE49-F238E27FC236}">
                <a16:creationId xmlns:a16="http://schemas.microsoft.com/office/drawing/2014/main" id="{66D62847-052A-478A-99F5-3FD9CFB507D6}"/>
              </a:ext>
            </a:extLst>
          </p:cNvPr>
          <p:cNvSpPr>
            <a:spLocks noGrp="1"/>
          </p:cNvSpPr>
          <p:nvPr/>
        </p:nvSpPr>
        <p:spPr>
          <a:xfrm rot="16200000">
            <a:off x="14221983" y="-583670"/>
            <a:ext cx="82861" cy="85768"/>
          </a:xfrm>
          <a:custGeom>
            <a:avLst/>
            <a:gdLst/>
            <a:ahLst/>
            <a:cxnLst/>
            <a:rect l="0" t="0" r="0" b="0"/>
            <a:pathLst>
              <a:path w="82861" h="85768">
                <a:moveTo>
                  <a:pt x="0" y="0"/>
                </a:moveTo>
                <a:lnTo>
                  <a:pt x="41430" y="85768"/>
                </a:lnTo>
                <a:lnTo>
                  <a:pt x="82861" y="0"/>
                </a:lnTo>
              </a:path>
            </a:pathLst>
          </a:custGeom>
          <a:noFill/>
          <a:ln w="15240">
            <a:solidFill>
              <a:srgbClr val="82878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adapt.selection">
            <a:extLst>
              <a:ext uri="{FF2B5EF4-FFF2-40B4-BE49-F238E27FC236}">
                <a16:creationId xmlns:a16="http://schemas.microsoft.com/office/drawing/2014/main" id="{B83D5A46-2772-4B7A-9B9C-C241546DBF12}"/>
              </a:ext>
            </a:extLst>
          </p:cNvPr>
          <p:cNvSpPr>
            <a:spLocks noGrp="1"/>
          </p:cNvSpPr>
          <p:nvPr/>
        </p:nvSpPr>
        <p:spPr>
          <a:xfrm>
            <a:off x="12839680" y="-125492"/>
            <a:ext cx="4857750" cy="333375"/>
          </a:xfrm>
          <a:prstGeom prst="rect">
            <a:avLst/>
          </a:prstGeom>
          <a:noFill/>
          <a:ln w="12383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800" b="0">
                <a:solidFill>
                  <a:srgbClr val="2632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63238"/>
                </a:solidFill>
                <a:latin typeface="Microsoft YaHei"/>
                <a:ea typeface="Microsoft YaHei"/>
                <a:cs typeface="Microsoft YaHei"/>
              </a:rPr>
              <a:t>选择预测损失最低的偏移</a:t>
            </a:r>
          </a:p>
        </p:txBody>
      </p:sp>
      <p:sp>
        <p:nvSpPr>
          <p:cNvPr id="35" name="main.boundary">
            <a:extLst>
              <a:ext uri="{FF2B5EF4-FFF2-40B4-BE49-F238E27FC236}">
                <a16:creationId xmlns:a16="http://schemas.microsoft.com/office/drawing/2014/main" id="{18761035-F998-402A-B043-E762F1DD626F}"/>
              </a:ext>
            </a:extLst>
          </p:cNvPr>
          <p:cNvSpPr>
            <a:spLocks noGrp="1"/>
          </p:cNvSpPr>
          <p:nvPr/>
        </p:nvSpPr>
        <p:spPr>
          <a:xfrm>
            <a:off x="4918146" y="1425652"/>
            <a:ext cx="12191999" cy="5715000"/>
          </a:xfrm>
          <a:prstGeom prst="rect">
            <a:avLst/>
          </a:prstGeom>
          <a:noFill/>
          <a:ln w="12383">
            <a:solidFill>
              <a:srgbClr val="9FBAA5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main.header">
            <a:extLst>
              <a:ext uri="{FF2B5EF4-FFF2-40B4-BE49-F238E27FC236}">
                <a16:creationId xmlns:a16="http://schemas.microsoft.com/office/drawing/2014/main" id="{05501718-46F3-4ADF-932F-863E0AFC7C6A}"/>
              </a:ext>
            </a:extLst>
          </p:cNvPr>
          <p:cNvSpPr>
            <a:spLocks noGrp="1"/>
          </p:cNvSpPr>
          <p:nvPr/>
        </p:nvSpPr>
        <p:spPr>
          <a:xfrm>
            <a:off x="4899853" y="1430176"/>
            <a:ext cx="465107" cy="5710475"/>
          </a:xfrm>
          <a:prstGeom prst="rect">
            <a:avLst/>
          </a:prstGeom>
          <a:solidFill>
            <a:srgbClr val="EAF1D8"/>
          </a:solidFill>
          <a:ln w="12383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main.title">
            <a:extLst>
              <a:ext uri="{FF2B5EF4-FFF2-40B4-BE49-F238E27FC236}">
                <a16:creationId xmlns:a16="http://schemas.microsoft.com/office/drawing/2014/main" id="{F61A996F-B559-425A-9246-2776F57F0F33}"/>
              </a:ext>
            </a:extLst>
          </p:cNvPr>
          <p:cNvSpPr>
            <a:spLocks noGrp="1"/>
          </p:cNvSpPr>
          <p:nvPr/>
        </p:nvSpPr>
        <p:spPr>
          <a:xfrm>
            <a:off x="1931714" y="4010819"/>
            <a:ext cx="6381750" cy="361950"/>
          </a:xfrm>
          <a:prstGeom prst="rect">
            <a:avLst/>
          </a:prstGeom>
          <a:noFill/>
          <a:ln w="12383">
            <a:noFill/>
            <a:prstDash val="solid"/>
          </a:ln>
        </p:spPr>
        <p:txBody>
          <a:bodyPr vert="eaVert" wrap="none" lIns="0" tIns="0" rIns="0" bIns="0" anchor="ctr">
            <a:noAutofit/>
          </a:bodyPr>
          <a:lstStyle/>
          <a:p>
            <a:pPr algn="ctr">
              <a:defRPr sz="1800" b="1">
                <a:solidFill>
                  <a:srgbClr val="2632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dirty="0" err="1">
                <a:solidFill>
                  <a:srgbClr val="263238"/>
                </a:solidFill>
                <a:latin typeface="Microsoft YaHei"/>
                <a:ea typeface="Microsoft YaHei"/>
                <a:cs typeface="Microsoft YaHei"/>
              </a:rPr>
              <a:t>MDM参数求解</a:t>
            </a:r>
            <a:endParaRPr sz="1800" b="1" dirty="0">
              <a:solidFill>
                <a:srgbClr val="263238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8" name="main.location-box">
            <a:extLst>
              <a:ext uri="{FF2B5EF4-FFF2-40B4-BE49-F238E27FC236}">
                <a16:creationId xmlns:a16="http://schemas.microsoft.com/office/drawing/2014/main" id="{709D1F4A-407E-42A1-A7DA-F3E516D3FA8E}"/>
              </a:ext>
            </a:extLst>
          </p:cNvPr>
          <p:cNvSpPr>
            <a:spLocks noGrp="1"/>
          </p:cNvSpPr>
          <p:nvPr/>
        </p:nvSpPr>
        <p:spPr>
          <a:xfrm>
            <a:off x="6273719" y="3676650"/>
            <a:ext cx="1919871" cy="1219200"/>
          </a:xfrm>
          <a:prstGeom prst="rect">
            <a:avLst/>
          </a:prstGeom>
          <a:solidFill>
            <a:srgbClr val="FAEAD9"/>
          </a:solidFill>
          <a:ln w="12383">
            <a:solidFill>
              <a:srgbClr val="CFA58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main.location-label">
            <a:extLst>
              <a:ext uri="{FF2B5EF4-FFF2-40B4-BE49-F238E27FC236}">
                <a16:creationId xmlns:a16="http://schemas.microsoft.com/office/drawing/2014/main" id="{84AF0102-FCB0-49D0-8A90-F294E4366454}"/>
              </a:ext>
            </a:extLst>
          </p:cNvPr>
          <p:cNvSpPr>
            <a:spLocks noGrp="1"/>
          </p:cNvSpPr>
          <p:nvPr/>
        </p:nvSpPr>
        <p:spPr>
          <a:xfrm>
            <a:off x="4510986" y="3882532"/>
            <a:ext cx="5429250" cy="323850"/>
          </a:xfrm>
          <a:prstGeom prst="rect">
            <a:avLst/>
          </a:prstGeom>
          <a:noFill/>
          <a:ln w="12383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875" b="1">
                <a:solidFill>
                  <a:srgbClr val="2632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63238"/>
                </a:solidFill>
                <a:latin typeface="Microsoft YaHei"/>
                <a:ea typeface="Microsoft YaHei"/>
                <a:cs typeface="Microsoft YaHei"/>
              </a:rPr>
              <a:t>位置参数求解</a:t>
            </a:r>
          </a:p>
        </p:txBody>
      </p:sp>
      <p:sp>
        <p:nvSpPr>
          <p:cNvPr id="40" name="main.gamma-to-beta">
            <a:extLst>
              <a:ext uri="{FF2B5EF4-FFF2-40B4-BE49-F238E27FC236}">
                <a16:creationId xmlns:a16="http://schemas.microsoft.com/office/drawing/2014/main" id="{1E9E36D8-4D11-4186-ACD1-AB616EE3A1A4}"/>
              </a:ext>
            </a:extLst>
          </p:cNvPr>
          <p:cNvSpPr>
            <a:spLocks noGrp="1"/>
          </p:cNvSpPr>
          <p:nvPr/>
        </p:nvSpPr>
        <p:spPr>
          <a:xfrm>
            <a:off x="10969230" y="3797139"/>
            <a:ext cx="953" cy="361950"/>
          </a:xfrm>
          <a:custGeom>
            <a:avLst/>
            <a:gdLst/>
            <a:ahLst/>
            <a:cxnLst/>
            <a:rect l="0" t="0" r="0" b="0"/>
            <a:pathLst>
              <a:path w="953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noFill/>
          <a:ln w="15240">
            <a:solidFill>
              <a:srgbClr val="82878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main.gamma-to-beta.head">
            <a:extLst>
              <a:ext uri="{FF2B5EF4-FFF2-40B4-BE49-F238E27FC236}">
                <a16:creationId xmlns:a16="http://schemas.microsoft.com/office/drawing/2014/main" id="{9767DBA6-0ADB-4737-A524-C06905EFD921}"/>
              </a:ext>
            </a:extLst>
          </p:cNvPr>
          <p:cNvSpPr>
            <a:spLocks noGrp="1"/>
          </p:cNvSpPr>
          <p:nvPr/>
        </p:nvSpPr>
        <p:spPr>
          <a:xfrm>
            <a:off x="10927800" y="4073321"/>
            <a:ext cx="82861" cy="85768"/>
          </a:xfrm>
          <a:custGeom>
            <a:avLst/>
            <a:gdLst/>
            <a:ahLst/>
            <a:cxnLst/>
            <a:rect l="0" t="0" r="0" b="0"/>
            <a:pathLst>
              <a:path w="82861" h="85768">
                <a:moveTo>
                  <a:pt x="0" y="0"/>
                </a:moveTo>
                <a:lnTo>
                  <a:pt x="41430" y="85768"/>
                </a:lnTo>
                <a:lnTo>
                  <a:pt x="82861" y="0"/>
                </a:lnTo>
              </a:path>
            </a:pathLst>
          </a:custGeom>
          <a:noFill/>
          <a:ln w="15240">
            <a:solidFill>
              <a:srgbClr val="82878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main.beta-label">
            <a:extLst>
              <a:ext uri="{FF2B5EF4-FFF2-40B4-BE49-F238E27FC236}">
                <a16:creationId xmlns:a16="http://schemas.microsoft.com/office/drawing/2014/main" id="{0090D65A-3DC9-4563-B1C8-CE1FC65CC65A}"/>
              </a:ext>
            </a:extLst>
          </p:cNvPr>
          <p:cNvSpPr>
            <a:spLocks noGrp="1"/>
          </p:cNvSpPr>
          <p:nvPr/>
        </p:nvSpPr>
        <p:spPr>
          <a:xfrm>
            <a:off x="8445105" y="4349589"/>
            <a:ext cx="5048250" cy="333375"/>
          </a:xfrm>
          <a:prstGeom prst="rect">
            <a:avLst/>
          </a:prstGeom>
          <a:noFill/>
          <a:ln w="12383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875" b="1">
                <a:solidFill>
                  <a:srgbClr val="2632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63238"/>
                </a:solidFill>
                <a:latin typeface="Microsoft YaHei"/>
                <a:ea typeface="Microsoft YaHei"/>
                <a:cs typeface="Microsoft YaHei"/>
              </a:rPr>
              <a:t>形状参数求解</a:t>
            </a:r>
          </a:p>
        </p:txBody>
      </p:sp>
      <p:sp>
        <p:nvSpPr>
          <p:cNvPr id="43" name="main.beta-to-eta">
            <a:extLst>
              <a:ext uri="{FF2B5EF4-FFF2-40B4-BE49-F238E27FC236}">
                <a16:creationId xmlns:a16="http://schemas.microsoft.com/office/drawing/2014/main" id="{1F95E2D6-16B5-43EE-B137-15C79A5CD37E}"/>
              </a:ext>
            </a:extLst>
          </p:cNvPr>
          <p:cNvSpPr>
            <a:spLocks noGrp="1"/>
          </p:cNvSpPr>
          <p:nvPr/>
        </p:nvSpPr>
        <p:spPr>
          <a:xfrm>
            <a:off x="10969230" y="5464014"/>
            <a:ext cx="953" cy="361950"/>
          </a:xfrm>
          <a:custGeom>
            <a:avLst/>
            <a:gdLst/>
            <a:ahLst/>
            <a:cxnLst/>
            <a:rect l="0" t="0" r="0" b="0"/>
            <a:pathLst>
              <a:path w="953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noFill/>
          <a:ln w="15240">
            <a:solidFill>
              <a:srgbClr val="82878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main.beta-to-eta.head">
            <a:extLst>
              <a:ext uri="{FF2B5EF4-FFF2-40B4-BE49-F238E27FC236}">
                <a16:creationId xmlns:a16="http://schemas.microsoft.com/office/drawing/2014/main" id="{3FEEE51C-C242-4497-BA7E-E1BE046BEA93}"/>
              </a:ext>
            </a:extLst>
          </p:cNvPr>
          <p:cNvSpPr>
            <a:spLocks noGrp="1"/>
          </p:cNvSpPr>
          <p:nvPr/>
        </p:nvSpPr>
        <p:spPr>
          <a:xfrm>
            <a:off x="10927800" y="5740196"/>
            <a:ext cx="82861" cy="85768"/>
          </a:xfrm>
          <a:custGeom>
            <a:avLst/>
            <a:gdLst/>
            <a:ahLst/>
            <a:cxnLst/>
            <a:rect l="0" t="0" r="0" b="0"/>
            <a:pathLst>
              <a:path w="82861" h="85768">
                <a:moveTo>
                  <a:pt x="0" y="0"/>
                </a:moveTo>
                <a:lnTo>
                  <a:pt x="41430" y="85768"/>
                </a:lnTo>
                <a:lnTo>
                  <a:pt x="82861" y="0"/>
                </a:lnTo>
              </a:path>
            </a:pathLst>
          </a:custGeom>
          <a:noFill/>
          <a:ln w="15240">
            <a:solidFill>
              <a:srgbClr val="82878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main.eta-label">
            <a:extLst>
              <a:ext uri="{FF2B5EF4-FFF2-40B4-BE49-F238E27FC236}">
                <a16:creationId xmlns:a16="http://schemas.microsoft.com/office/drawing/2014/main" id="{00A8D2DC-BE85-460E-9398-D1AEE28105DD}"/>
              </a:ext>
            </a:extLst>
          </p:cNvPr>
          <p:cNvSpPr>
            <a:spLocks noGrp="1"/>
          </p:cNvSpPr>
          <p:nvPr/>
        </p:nvSpPr>
        <p:spPr>
          <a:xfrm>
            <a:off x="8445105" y="6006939"/>
            <a:ext cx="5048250" cy="333375"/>
          </a:xfrm>
          <a:prstGeom prst="rect">
            <a:avLst/>
          </a:prstGeom>
          <a:noFill/>
          <a:ln w="12383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875" b="1">
                <a:solidFill>
                  <a:srgbClr val="2632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63238"/>
                </a:solidFill>
                <a:latin typeface="Microsoft YaHei"/>
                <a:ea typeface="Microsoft YaHei"/>
                <a:cs typeface="Microsoft YaHei"/>
              </a:rPr>
              <a:t>尺度参数计算</a:t>
            </a:r>
          </a:p>
        </p:txBody>
      </p:sp>
      <p:sp>
        <p:nvSpPr>
          <p:cNvPr id="46" name="output.boundary">
            <a:extLst>
              <a:ext uri="{FF2B5EF4-FFF2-40B4-BE49-F238E27FC236}">
                <a16:creationId xmlns:a16="http://schemas.microsoft.com/office/drawing/2014/main" id="{2B9A4783-73E7-4F5B-8EF2-595A4CB6648C}"/>
              </a:ext>
            </a:extLst>
          </p:cNvPr>
          <p:cNvSpPr>
            <a:spLocks noGrp="1"/>
          </p:cNvSpPr>
          <p:nvPr/>
        </p:nvSpPr>
        <p:spPr>
          <a:xfrm>
            <a:off x="18097500" y="1428750"/>
            <a:ext cx="3905250" cy="5715000"/>
          </a:xfrm>
          <a:prstGeom prst="rect">
            <a:avLst/>
          </a:prstGeom>
          <a:noFill/>
          <a:ln w="12383">
            <a:solidFill>
              <a:srgbClr val="CFA582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output.header">
            <a:extLst>
              <a:ext uri="{FF2B5EF4-FFF2-40B4-BE49-F238E27FC236}">
                <a16:creationId xmlns:a16="http://schemas.microsoft.com/office/drawing/2014/main" id="{B30D2393-2ADA-4C21-AB05-67D1682B8A34}"/>
              </a:ext>
            </a:extLst>
          </p:cNvPr>
          <p:cNvSpPr>
            <a:spLocks noGrp="1"/>
          </p:cNvSpPr>
          <p:nvPr/>
        </p:nvSpPr>
        <p:spPr>
          <a:xfrm>
            <a:off x="18097500" y="1428750"/>
            <a:ext cx="501791" cy="5710474"/>
          </a:xfrm>
          <a:prstGeom prst="rect">
            <a:avLst/>
          </a:prstGeom>
          <a:solidFill>
            <a:srgbClr val="FAEAD9"/>
          </a:solidFill>
          <a:ln w="12383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output.title">
            <a:extLst>
              <a:ext uri="{FF2B5EF4-FFF2-40B4-BE49-F238E27FC236}">
                <a16:creationId xmlns:a16="http://schemas.microsoft.com/office/drawing/2014/main" id="{B028B150-E573-4213-BC31-106738DF61B6}"/>
              </a:ext>
            </a:extLst>
          </p:cNvPr>
          <p:cNvSpPr>
            <a:spLocks noGrp="1"/>
          </p:cNvSpPr>
          <p:nvPr/>
        </p:nvSpPr>
        <p:spPr>
          <a:xfrm>
            <a:off x="16573500" y="4114799"/>
            <a:ext cx="3714750" cy="361950"/>
          </a:xfrm>
          <a:prstGeom prst="rect">
            <a:avLst/>
          </a:prstGeom>
          <a:noFill/>
          <a:ln w="12383">
            <a:noFill/>
            <a:prstDash val="solid"/>
          </a:ln>
        </p:spPr>
        <p:txBody>
          <a:bodyPr vert="eaVert" wrap="none" lIns="0" tIns="0" rIns="0" bIns="0" anchor="ctr">
            <a:noAutofit/>
          </a:bodyPr>
          <a:lstStyle/>
          <a:p>
            <a:pPr algn="ctr">
              <a:defRPr sz="1800" b="1">
                <a:solidFill>
                  <a:srgbClr val="26323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dirty="0" err="1">
                <a:solidFill>
                  <a:srgbClr val="263238"/>
                </a:solidFill>
                <a:latin typeface="Microsoft YaHei"/>
                <a:ea typeface="Microsoft YaHei"/>
                <a:cs typeface="Microsoft YaHei"/>
              </a:rPr>
              <a:t>AMDM估计结果</a:t>
            </a:r>
            <a:endParaRPr sz="1800" b="1" dirty="0">
              <a:solidFill>
                <a:srgbClr val="263238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6" name="flow.result.head">
            <a:extLst>
              <a:ext uri="{FF2B5EF4-FFF2-40B4-BE49-F238E27FC236}">
                <a16:creationId xmlns:a16="http://schemas.microsoft.com/office/drawing/2014/main" id="{0E99EB85-B970-4D63-B532-650923A93033}"/>
              </a:ext>
            </a:extLst>
          </p:cNvPr>
          <p:cNvSpPr>
            <a:spLocks noGrp="1"/>
          </p:cNvSpPr>
          <p:nvPr/>
        </p:nvSpPr>
        <p:spPr>
          <a:xfrm>
            <a:off x="18011732" y="4244820"/>
            <a:ext cx="85768" cy="82861"/>
          </a:xfrm>
          <a:custGeom>
            <a:avLst/>
            <a:gdLst/>
            <a:ahLst/>
            <a:cxnLst/>
            <a:rect l="0" t="0" r="0" b="0"/>
            <a:pathLst>
              <a:path w="85768" h="82861">
                <a:moveTo>
                  <a:pt x="0" y="82861"/>
                </a:moveTo>
                <a:lnTo>
                  <a:pt x="85768" y="41430"/>
                </a:lnTo>
                <a:lnTo>
                  <a:pt x="0" y="0"/>
                </a:lnTo>
              </a:path>
            </a:pathLst>
          </a:custGeom>
          <a:noFill/>
          <a:ln w="15240">
            <a:solidFill>
              <a:srgbClr val="82878C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graphicFrame>
        <p:nvGraphicFramePr>
          <p:cNvPr id="58" name="MathType.input.sample-vector">
            <a:extLst>
              <a:ext uri="{FF2B5EF4-FFF2-40B4-BE49-F238E27FC236}">
                <a16:creationId xmlns:a16="http://schemas.microsoft.com/office/drawing/2014/main" id="{4AAEF8B1-AEFF-1EE7-8AD2-5DFFD894813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89565531"/>
              </p:ext>
            </p:extLst>
          </p:nvPr>
        </p:nvGraphicFramePr>
        <p:xfrm>
          <a:off x="890588" y="3884611"/>
          <a:ext cx="1933575" cy="46037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066680" imgH="253800" progId="Equation.DSMT4">
                  <p:embed/>
                </p:oleObj>
              </mc:Choice>
              <mc:Fallback>
                <p:oleObj name="Equation" r:id="rId3" imgW="1066680" imgH="2538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890588" y="3884611"/>
                        <a:ext cx="1933575" cy="46037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9" name="MathType.adapt.normalized">
            <a:extLst>
              <a:ext uri="{FF2B5EF4-FFF2-40B4-BE49-F238E27FC236}">
                <a16:creationId xmlns:a16="http://schemas.microsoft.com/office/drawing/2014/main" id="{FC48ED5D-C6FB-3A6B-EE14-400DDB017E98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30033644"/>
              </p:ext>
            </p:extLst>
          </p:nvPr>
        </p:nvGraphicFramePr>
        <p:xfrm>
          <a:off x="6509149" y="-365998"/>
          <a:ext cx="1173956" cy="41433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647640" imgH="228600" progId="Equation.DSMT4">
                  <p:embed/>
                </p:oleObj>
              </mc:Choice>
              <mc:Fallback>
                <p:oleObj name="Equation" r:id="rId5" imgW="647640" imgH="2286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509149" y="-365998"/>
                        <a:ext cx="1173956" cy="41433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0" name="MathType.adapt.model">
            <a:extLst>
              <a:ext uri="{FF2B5EF4-FFF2-40B4-BE49-F238E27FC236}">
                <a16:creationId xmlns:a16="http://schemas.microsoft.com/office/drawing/2014/main" id="{9D6AB608-7C8A-2435-A583-39C5A4B303B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80215744"/>
              </p:ext>
            </p:extLst>
          </p:nvPr>
        </p:nvGraphicFramePr>
        <p:xfrm>
          <a:off x="10936136" y="-816054"/>
          <a:ext cx="857247" cy="428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482400" imgH="241200" progId="Equation.DSMT4">
                  <p:embed/>
                </p:oleObj>
              </mc:Choice>
              <mc:Fallback>
                <p:oleObj name="Equation" r:id="rId7" imgW="482400" imgH="2412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0936136" y="-816054"/>
                        <a:ext cx="857247" cy="4286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1" name="MathType.adapt.delta">
            <a:extLst>
              <a:ext uri="{FF2B5EF4-FFF2-40B4-BE49-F238E27FC236}">
                <a16:creationId xmlns:a16="http://schemas.microsoft.com/office/drawing/2014/main" id="{C2626D9A-AA6F-44F2-3307-23F7A4F2651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78236679"/>
              </p:ext>
            </p:extLst>
          </p:nvPr>
        </p:nvGraphicFramePr>
        <p:xfrm>
          <a:off x="14602915" y="-820817"/>
          <a:ext cx="759616" cy="523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368280" imgH="253800" progId="Equation.DSMT4">
                  <p:embed/>
                </p:oleObj>
              </mc:Choice>
              <mc:Fallback>
                <p:oleObj name="Equation" r:id="rId9" imgW="368280" imgH="2538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4602915" y="-820817"/>
                        <a:ext cx="759616" cy="523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2" name="MathType.main.gamma">
            <a:extLst>
              <a:ext uri="{FF2B5EF4-FFF2-40B4-BE49-F238E27FC236}">
                <a16:creationId xmlns:a16="http://schemas.microsoft.com/office/drawing/2014/main" id="{0D675B86-597D-8035-9745-7606F0A106E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39802430"/>
              </p:ext>
            </p:extLst>
          </p:nvPr>
        </p:nvGraphicFramePr>
        <p:xfrm>
          <a:off x="10838261" y="3069666"/>
          <a:ext cx="261938" cy="44529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1" imgW="126720" imgH="215640" progId="Equation.DSMT4">
                  <p:embed/>
                </p:oleObj>
              </mc:Choice>
              <mc:Fallback>
                <p:oleObj name="Equation" r:id="rId11" imgW="12672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0838261" y="3069666"/>
                        <a:ext cx="261938" cy="44529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3" name="MathType.main.beta">
            <a:extLst>
              <a:ext uri="{FF2B5EF4-FFF2-40B4-BE49-F238E27FC236}">
                <a16:creationId xmlns:a16="http://schemas.microsoft.com/office/drawing/2014/main" id="{5796FECA-B8E5-F3F3-87EC-1B5690B2F0B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40489032"/>
              </p:ext>
            </p:extLst>
          </p:nvPr>
        </p:nvGraphicFramePr>
        <p:xfrm>
          <a:off x="10812068" y="4848460"/>
          <a:ext cx="314325" cy="49768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3" imgW="152280" imgH="241200" progId="Equation.DSMT4">
                  <p:embed/>
                </p:oleObj>
              </mc:Choice>
              <mc:Fallback>
                <p:oleObj name="Equation" r:id="rId13" imgW="152280" imgH="2412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0812068" y="4848460"/>
                        <a:ext cx="314325" cy="49768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MathType.main.eta">
            <a:extLst>
              <a:ext uri="{FF2B5EF4-FFF2-40B4-BE49-F238E27FC236}">
                <a16:creationId xmlns:a16="http://schemas.microsoft.com/office/drawing/2014/main" id="{E241F305-F5B0-8701-C89F-EF9D518F402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06095705"/>
              </p:ext>
            </p:extLst>
          </p:nvPr>
        </p:nvGraphicFramePr>
        <p:xfrm>
          <a:off x="10838261" y="6541528"/>
          <a:ext cx="261938" cy="44529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5" imgW="126720" imgH="215640" progId="Equation.DSMT4">
                  <p:embed/>
                </p:oleObj>
              </mc:Choice>
              <mc:Fallback>
                <p:oleObj name="Equation" r:id="rId15" imgW="12672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10838261" y="6541528"/>
                        <a:ext cx="261938" cy="44529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MathType.output.parameters">
            <a:extLst>
              <a:ext uri="{FF2B5EF4-FFF2-40B4-BE49-F238E27FC236}">
                <a16:creationId xmlns:a16="http://schemas.microsoft.com/office/drawing/2014/main" id="{431D0170-1217-AD58-5D71-BFE0379EC31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31959086"/>
              </p:ext>
            </p:extLst>
          </p:nvPr>
        </p:nvGraphicFramePr>
        <p:xfrm>
          <a:off x="18772584" y="3975099"/>
          <a:ext cx="2555081" cy="46037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7" imgW="1409400" imgH="253800" progId="Equation.DSMT4">
                  <p:embed/>
                </p:oleObj>
              </mc:Choice>
              <mc:Fallback>
                <p:oleObj name="Equation" r:id="rId17" imgW="1409400" imgH="2538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18772584" y="3975099"/>
                        <a:ext cx="2555081" cy="46037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7" name="flow.sample-to-adapt">
            <a:extLst>
              <a:ext uri="{FF2B5EF4-FFF2-40B4-BE49-F238E27FC236}">
                <a16:creationId xmlns:a16="http://schemas.microsoft.com/office/drawing/2014/main" id="{ECBC6013-AD7B-3FFF-3D47-0D83C96B578E}"/>
              </a:ext>
            </a:extLst>
          </p:cNvPr>
          <p:cNvSpPr>
            <a:spLocks noGrp="1"/>
          </p:cNvSpPr>
          <p:nvPr/>
        </p:nvSpPr>
        <p:spPr>
          <a:xfrm>
            <a:off x="16697706" y="3978071"/>
            <a:ext cx="400050" cy="190500"/>
          </a:xfrm>
          <a:prstGeom prst="rightArrow">
            <a:avLst/>
          </a:prstGeom>
          <a:solidFill>
            <a:srgbClr val="C6D9E7"/>
          </a:solidFill>
          <a:ln w="11430">
            <a:solidFill>
              <a:srgbClr val="73869A"/>
            </a:solidFill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69" name="连接符: 肘形 68">
            <a:extLst>
              <a:ext uri="{FF2B5EF4-FFF2-40B4-BE49-F238E27FC236}">
                <a16:creationId xmlns:a16="http://schemas.microsoft.com/office/drawing/2014/main" id="{28AFB44D-56E1-18C7-9AED-B71EAA76B274}"/>
              </a:ext>
            </a:extLst>
          </p:cNvPr>
          <p:cNvCxnSpPr>
            <a:cxnSpLocks/>
            <a:stCxn id="57" idx="3"/>
            <a:endCxn id="21" idx="1"/>
          </p:cNvCxnSpPr>
          <p:nvPr/>
        </p:nvCxnSpPr>
        <p:spPr>
          <a:xfrm flipV="1">
            <a:off x="3429000" y="-590550"/>
            <a:ext cx="952501" cy="487680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肘形 70">
            <a:extLst>
              <a:ext uri="{FF2B5EF4-FFF2-40B4-BE49-F238E27FC236}">
                <a16:creationId xmlns:a16="http://schemas.microsoft.com/office/drawing/2014/main" id="{295060D5-DDC0-D148-FD90-AE995CCDD580}"/>
              </a:ext>
            </a:extLst>
          </p:cNvPr>
          <p:cNvCxnSpPr>
            <a:cxnSpLocks/>
            <a:stCxn id="21" idx="3"/>
            <a:endCxn id="38" idx="0"/>
          </p:cNvCxnSpPr>
          <p:nvPr/>
        </p:nvCxnSpPr>
        <p:spPr>
          <a:xfrm flipH="1">
            <a:off x="7233655" y="-590550"/>
            <a:ext cx="9339845" cy="4267200"/>
          </a:xfrm>
          <a:prstGeom prst="bentConnector4">
            <a:avLst>
              <a:gd name="adj1" fmla="val -2448"/>
              <a:gd name="adj2" fmla="val 6531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7" name="对象 76">
            <a:extLst>
              <a:ext uri="{FF2B5EF4-FFF2-40B4-BE49-F238E27FC236}">
                <a16:creationId xmlns:a16="http://schemas.microsoft.com/office/drawing/2014/main" id="{D3D66530-37B4-D21C-0B3C-6016D575199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03218865"/>
              </p:ext>
            </p:extLst>
          </p:nvPr>
        </p:nvGraphicFramePr>
        <p:xfrm>
          <a:off x="16938605" y="453148"/>
          <a:ext cx="758825" cy="523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9" imgW="758937" imgH="524539" progId="Equation.DSMT4">
                  <p:embed/>
                </p:oleObj>
              </mc:Choice>
              <mc:Fallback>
                <p:oleObj name="Equation" r:id="rId19" imgW="758937" imgH="524539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16938605" y="453148"/>
                        <a:ext cx="758825" cy="523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89284300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131</Words>
  <Application>Microsoft Office PowerPoint</Application>
  <DocSecurity>0</DocSecurity>
  <PresentationFormat>自定义</PresentationFormat>
  <Paragraphs>14</Paragraphs>
  <Slides>1</Slides>
  <Notes>1</Notes>
  <HiddenSlides>0</HiddenSlides>
  <MMClips>0</MMClips>
  <ScaleCrop>false</ScaleCrop>
  <HeadingPairs>
    <vt:vector size="8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2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Microsoft YaHei</vt:lpstr>
      <vt:lpstr>Calibri</vt:lpstr>
      <vt:lpstr>ChatGPT</vt:lpstr>
      <vt:lpstr>Equation</vt:lpstr>
      <vt:lpstr>MathType 7.0 Equation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H60655@365mak.com</cp:lastModifiedBy>
  <cp:revision>2</cp:revision>
  <dcterms:created xsi:type="dcterms:W3CDTF">2026-09-23T07:32:19Z</dcterms:created>
  <dcterms:modified xsi:type="dcterms:W3CDTF">2026-09-23T08:27:45Z</dcterms:modified>
</cp:coreProperties>
</file>