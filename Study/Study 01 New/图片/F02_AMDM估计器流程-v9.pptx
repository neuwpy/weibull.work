
<file path=[Content_Types].xml><?xml version="1.0" encoding="utf-8"?>
<Types xmlns="http://schemas.openxmlformats.org/package/2006/content-types">
  <Default Extension="bin" ContentType="application/vnd.openxmlformats-officedocument.oleObject"/>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22288500" cy="9525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依据作者在</a:t>
            </a:r>
            <a:r>
              <a:rPr lang="en-US" altLang="zh-CN"/>
              <a:t>v8 PPT</a:t>
            </a:r>
            <a:r>
              <a:rPr lang="zh-CN" altLang="en-US"/>
              <a:t>中的手改草图重排：左侧同一观测样本分别进入上方样本自适应偏移选择和下方</a:t>
            </a:r>
            <a:r>
              <a:rPr lang="en-US" altLang="zh-CN"/>
              <a:t>MDM</a:t>
            </a:r>
            <a:r>
              <a:rPr lang="zh-CN" altLang="en-US"/>
              <a:t>参数求解。归一化及标准化仅用于选择模型；原始寿命样本直接用于</a:t>
            </a:r>
            <a:r>
              <a:rPr lang="en-US" altLang="zh-CN"/>
              <a:t>MDM</a:t>
            </a:r>
            <a:r>
              <a:rPr lang="zh-CN" altLang="en-US"/>
              <a:t>。蓝色偏移连线进入位置求解判据，随后按</a:t>
            </a:r>
            <a:r>
              <a:rPr lang="en-US" altLang="zh-CN"/>
              <a:t>MDM</a:t>
            </a:r>
            <a:r>
              <a:rPr lang="zh-CN" altLang="en-US"/>
              <a:t>原有结构完成形状参数的条件最小差异求解与尺度参数的伪尺度均值计算。梯度定义为辅助说明，不是额外求解步骤。各数学表达均为</a:t>
            </a:r>
            <a:r>
              <a:rPr lang="en-US" altLang="zh-CN"/>
              <a:t>MathType</a:t>
            </a:r>
            <a:r>
              <a:rPr lang="zh-CN" altLang="en-US"/>
              <a:t>对象，符号与正文</a:t>
            </a:r>
            <a:r>
              <a:rPr lang="en-US" altLang="zh-CN"/>
              <a:t>2.2–2.5</a:t>
            </a:r>
            <a:r>
              <a:rPr lang="zh-CN" altLang="en-US"/>
              <a:t>一致。边界处理见</a:t>
            </a:r>
            <a:r>
              <a:rPr lang="en-US" altLang="zh-CN"/>
              <a:t>2.3</a:t>
            </a:r>
            <a:r>
              <a:rPr lang="zh-CN" altLang="en-US"/>
              <a:t>；不展开训练或报告性能。输入散点复用</a:t>
            </a:r>
            <a:r>
              <a:rPr lang="en-US" altLang="zh-CN"/>
              <a:t>F01 Sample-1-3</a:t>
            </a:r>
            <a:r>
              <a:rPr lang="zh-CN" altLang="en-US"/>
              <a: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oleObject" Target="../embeddings/oleObject6.bin"/><Relationship Id="rId18" Type="http://schemas.openxmlformats.org/officeDocument/2006/relationships/image" Target="../media/image8.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5.wmf"/><Relationship Id="rId17" Type="http://schemas.openxmlformats.org/officeDocument/2006/relationships/oleObject" Target="../embeddings/oleObject8.bin"/><Relationship Id="rId2" Type="http://schemas.openxmlformats.org/officeDocument/2006/relationships/notesSlide" Target="../notesSlides/notesSlide1.xml"/><Relationship Id="rId16" Type="http://schemas.openxmlformats.org/officeDocument/2006/relationships/image" Target="../media/image7.wmf"/><Relationship Id="rId20" Type="http://schemas.openxmlformats.org/officeDocument/2006/relationships/image" Target="../media/image9.wmf"/><Relationship Id="rId1" Type="http://schemas.openxmlformats.org/officeDocument/2006/relationships/slideLayout" Target="../slideLayouts/slideLayout1.xml"/><Relationship Id="rId6" Type="http://schemas.openxmlformats.org/officeDocument/2006/relationships/image" Target="../media/image2.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4.wmf"/><Relationship Id="rId19" Type="http://schemas.openxmlformats.org/officeDocument/2006/relationships/oleObject" Target="../embeddings/oleObject9.bin"/><Relationship Id="rId4" Type="http://schemas.openxmlformats.org/officeDocument/2006/relationships/image" Target="../media/image1.wmf"/><Relationship Id="rId9" Type="http://schemas.openxmlformats.org/officeDocument/2006/relationships/oleObject" Target="../embeddings/oleObject4.bin"/><Relationship Id="rId14" Type="http://schemas.openxmlformats.org/officeDocument/2006/relationships/image" Target="../media/image6.w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input.boundary">
            <a:extLst>
              <a:ext uri="{FF2B5EF4-FFF2-40B4-BE49-F238E27FC236}">
                <a16:creationId xmlns:a16="http://schemas.microsoft.com/office/drawing/2014/main" id="{C55DE57F-1C7C-4E74-AA03-BD459DD45886}"/>
              </a:ext>
            </a:extLst>
          </p:cNvPr>
          <p:cNvSpPr>
            <a:spLocks noGrp="1"/>
          </p:cNvSpPr>
          <p:nvPr/>
        </p:nvSpPr>
        <p:spPr>
          <a:xfrm>
            <a:off x="285750" y="4286250"/>
            <a:ext cx="2857500" cy="4286250"/>
          </a:xfrm>
          <a:prstGeom prst="rect">
            <a:avLst/>
          </a:prstGeom>
          <a:noFill/>
          <a:ln w="12383">
            <a:solidFill>
              <a:srgbClr val="6A92BD"/>
            </a:solidFill>
            <a:prstDash val="dash"/>
          </a:ln>
        </p:spPr>
      </p:sp>
      <p:sp>
        <p:nvSpPr>
          <p:cNvPr id="2" name="input.header">
            <a:extLst>
              <a:ext uri="{FF2B5EF4-FFF2-40B4-BE49-F238E27FC236}">
                <a16:creationId xmlns:a16="http://schemas.microsoft.com/office/drawing/2014/main" id="{77517A05-2D3E-4242-8D99-02436EDD5027}"/>
              </a:ext>
            </a:extLst>
          </p:cNvPr>
          <p:cNvSpPr>
            <a:spLocks noGrp="1"/>
          </p:cNvSpPr>
          <p:nvPr/>
        </p:nvSpPr>
        <p:spPr>
          <a:xfrm>
            <a:off x="285750" y="4286250"/>
            <a:ext cx="2857500" cy="400050"/>
          </a:xfrm>
          <a:prstGeom prst="rect">
            <a:avLst/>
          </a:prstGeom>
          <a:solidFill>
            <a:srgbClr val="A8C0E5"/>
          </a:solidFill>
          <a:ln w="12383">
            <a:noFill/>
            <a:prstDash val="solid"/>
          </a:ln>
        </p:spPr>
      </p:sp>
      <p:sp>
        <p:nvSpPr>
          <p:cNvPr id="3" name="input.title">
            <a:extLst>
              <a:ext uri="{FF2B5EF4-FFF2-40B4-BE49-F238E27FC236}">
                <a16:creationId xmlns:a16="http://schemas.microsoft.com/office/drawing/2014/main" id="{4694D0A5-FF99-417B-B6AB-F7350606D45B}"/>
              </a:ext>
            </a:extLst>
          </p:cNvPr>
          <p:cNvSpPr>
            <a:spLocks noGrp="1"/>
          </p:cNvSpPr>
          <p:nvPr/>
        </p:nvSpPr>
        <p:spPr>
          <a:xfrm>
            <a:off x="381000" y="4305300"/>
            <a:ext cx="2667000" cy="361950"/>
          </a:xfrm>
          <a:prstGeom prst="rect">
            <a:avLst/>
          </a:prstGeom>
          <a:noFill/>
          <a:ln w="12383">
            <a:noFill/>
            <a:prstDash val="solid"/>
          </a:ln>
        </p:spPr>
        <p:txBody>
          <a:bodyPr wrap="none" lIns="0" tIns="0" rIns="0" bIns="0" anchor="ctr">
            <a:noAutofit/>
          </a:bodyPr>
          <a:lstStyle/>
          <a:p>
            <a:pPr algn="ctr">
              <a:defRPr sz="1800" b="1">
                <a:solidFill>
                  <a:srgbClr val="263238"/>
                </a:solidFill>
                <a:latin typeface="Microsoft YaHei"/>
                <a:ea typeface="Microsoft YaHei"/>
                <a:cs typeface="Microsoft YaHei"/>
              </a:defRPr>
            </a:pPr>
            <a:r>
              <a:rPr sz="1800" b="1">
                <a:solidFill>
                  <a:srgbClr val="263238"/>
                </a:solidFill>
                <a:latin typeface="Microsoft YaHei"/>
                <a:ea typeface="Microsoft YaHei"/>
                <a:cs typeface="Microsoft YaHei"/>
              </a:rPr>
              <a:t>当前寿命样本</a:t>
            </a:r>
          </a:p>
        </p:txBody>
      </p:sp>
      <p:sp>
        <p:nvSpPr>
          <p:cNvPr id="4" name="input.sample.axis">
            <a:extLst>
              <a:ext uri="{FF2B5EF4-FFF2-40B4-BE49-F238E27FC236}">
                <a16:creationId xmlns:a16="http://schemas.microsoft.com/office/drawing/2014/main" id="{F62ACA25-2464-4D7F-97EB-5B21E653CD79}"/>
              </a:ext>
            </a:extLst>
          </p:cNvPr>
          <p:cNvSpPr>
            <a:spLocks noGrp="1"/>
          </p:cNvSpPr>
          <p:nvPr/>
        </p:nvSpPr>
        <p:spPr>
          <a:xfrm>
            <a:off x="542925" y="5810250"/>
            <a:ext cx="2343150" cy="953"/>
          </a:xfrm>
          <a:custGeom>
            <a:avLst/>
            <a:gdLst/>
            <a:ahLst/>
            <a:cxnLst/>
            <a:rect l="0" t="0" r="0" b="0"/>
            <a:pathLst>
              <a:path w="2343150" h="953">
                <a:moveTo>
                  <a:pt x="0" y="0"/>
                </a:moveTo>
                <a:lnTo>
                  <a:pt x="2343150" y="0"/>
                </a:lnTo>
              </a:path>
            </a:pathLst>
          </a:custGeom>
          <a:noFill/>
          <a:ln w="9525">
            <a:solidFill>
              <a:srgbClr val="B5BEC5"/>
            </a:solidFill>
            <a:prstDash val="solid"/>
          </a:ln>
        </p:spPr>
      </p:sp>
      <p:sp>
        <p:nvSpPr>
          <p:cNvPr id="5" name="input.sample.stem0">
            <a:extLst>
              <a:ext uri="{FF2B5EF4-FFF2-40B4-BE49-F238E27FC236}">
                <a16:creationId xmlns:a16="http://schemas.microsoft.com/office/drawing/2014/main" id="{EB44AF6E-3FC2-4AF8-8FC8-AAB55B7758A3}"/>
              </a:ext>
            </a:extLst>
          </p:cNvPr>
          <p:cNvSpPr>
            <a:spLocks noGrp="1"/>
          </p:cNvSpPr>
          <p:nvPr/>
        </p:nvSpPr>
        <p:spPr>
          <a:xfrm>
            <a:off x="685800" y="5600700"/>
            <a:ext cx="953" cy="209550"/>
          </a:xfrm>
          <a:custGeom>
            <a:avLst/>
            <a:gdLst/>
            <a:ahLst/>
            <a:cxnLst/>
            <a:rect l="0" t="0" r="0" b="0"/>
            <a:pathLst>
              <a:path w="953" h="209550">
                <a:moveTo>
                  <a:pt x="0" y="209550"/>
                </a:moveTo>
                <a:lnTo>
                  <a:pt x="0" y="0"/>
                </a:lnTo>
              </a:path>
            </a:pathLst>
          </a:custGeom>
          <a:noFill/>
          <a:ln w="10478">
            <a:solidFill>
              <a:srgbClr val="147AAA"/>
            </a:solidFill>
            <a:prstDash val="solid"/>
          </a:ln>
        </p:spPr>
      </p:sp>
      <p:sp>
        <p:nvSpPr>
          <p:cNvPr id="6" name="input.sample.dot0">
            <a:extLst>
              <a:ext uri="{FF2B5EF4-FFF2-40B4-BE49-F238E27FC236}">
                <a16:creationId xmlns:a16="http://schemas.microsoft.com/office/drawing/2014/main" id="{3AB16324-587C-43AC-AB0A-5A9AFDC5BCEE}"/>
              </a:ext>
            </a:extLst>
          </p:cNvPr>
          <p:cNvSpPr>
            <a:spLocks noGrp="1"/>
          </p:cNvSpPr>
          <p:nvPr/>
        </p:nvSpPr>
        <p:spPr>
          <a:xfrm>
            <a:off x="642938" y="5557838"/>
            <a:ext cx="85725" cy="85725"/>
          </a:xfrm>
          <a:prstGeom prst="ellipse">
            <a:avLst/>
          </a:prstGeom>
          <a:solidFill>
            <a:srgbClr val="147AAA"/>
          </a:solidFill>
          <a:ln w="9525">
            <a:solidFill>
              <a:srgbClr val="FFFFFF"/>
            </a:solidFill>
          </a:ln>
        </p:spPr>
      </p:sp>
      <p:sp>
        <p:nvSpPr>
          <p:cNvPr id="7" name="input.sample.stem1">
            <a:extLst>
              <a:ext uri="{FF2B5EF4-FFF2-40B4-BE49-F238E27FC236}">
                <a16:creationId xmlns:a16="http://schemas.microsoft.com/office/drawing/2014/main" id="{92BDE507-FF72-42BC-8B3A-11383B02A7B2}"/>
              </a:ext>
            </a:extLst>
          </p:cNvPr>
          <p:cNvSpPr>
            <a:spLocks noGrp="1"/>
          </p:cNvSpPr>
          <p:nvPr/>
        </p:nvSpPr>
        <p:spPr>
          <a:xfrm>
            <a:off x="735332" y="5600700"/>
            <a:ext cx="953" cy="209550"/>
          </a:xfrm>
          <a:custGeom>
            <a:avLst/>
            <a:gdLst/>
            <a:ahLst/>
            <a:cxnLst/>
            <a:rect l="0" t="0" r="0" b="0"/>
            <a:pathLst>
              <a:path w="953" h="209550">
                <a:moveTo>
                  <a:pt x="0" y="209550"/>
                </a:moveTo>
                <a:lnTo>
                  <a:pt x="0" y="0"/>
                </a:lnTo>
              </a:path>
            </a:pathLst>
          </a:custGeom>
          <a:noFill/>
          <a:ln w="10478">
            <a:solidFill>
              <a:srgbClr val="147AAA"/>
            </a:solidFill>
            <a:prstDash val="solid"/>
          </a:ln>
        </p:spPr>
      </p:sp>
      <p:sp>
        <p:nvSpPr>
          <p:cNvPr id="8" name="input.sample.dot1">
            <a:extLst>
              <a:ext uri="{FF2B5EF4-FFF2-40B4-BE49-F238E27FC236}">
                <a16:creationId xmlns:a16="http://schemas.microsoft.com/office/drawing/2014/main" id="{249CF665-811A-43DE-B006-DFFF92E7DC8B}"/>
              </a:ext>
            </a:extLst>
          </p:cNvPr>
          <p:cNvSpPr>
            <a:spLocks noGrp="1"/>
          </p:cNvSpPr>
          <p:nvPr/>
        </p:nvSpPr>
        <p:spPr>
          <a:xfrm>
            <a:off x="692469" y="5557838"/>
            <a:ext cx="85725" cy="85725"/>
          </a:xfrm>
          <a:prstGeom prst="ellipse">
            <a:avLst/>
          </a:prstGeom>
          <a:solidFill>
            <a:srgbClr val="147AAA"/>
          </a:solidFill>
          <a:ln w="9525">
            <a:solidFill>
              <a:srgbClr val="FFFFFF"/>
            </a:solidFill>
          </a:ln>
        </p:spPr>
      </p:sp>
      <p:sp>
        <p:nvSpPr>
          <p:cNvPr id="9" name="input.sample.stem2">
            <a:extLst>
              <a:ext uri="{FF2B5EF4-FFF2-40B4-BE49-F238E27FC236}">
                <a16:creationId xmlns:a16="http://schemas.microsoft.com/office/drawing/2014/main" id="{E505FF69-D517-4F3C-9C75-AAB9F7840641}"/>
              </a:ext>
            </a:extLst>
          </p:cNvPr>
          <p:cNvSpPr>
            <a:spLocks noGrp="1"/>
          </p:cNvSpPr>
          <p:nvPr/>
        </p:nvSpPr>
        <p:spPr>
          <a:xfrm>
            <a:off x="1322355" y="5600700"/>
            <a:ext cx="953" cy="209550"/>
          </a:xfrm>
          <a:custGeom>
            <a:avLst/>
            <a:gdLst/>
            <a:ahLst/>
            <a:cxnLst/>
            <a:rect l="0" t="0" r="0" b="0"/>
            <a:pathLst>
              <a:path w="953" h="209550">
                <a:moveTo>
                  <a:pt x="0" y="209550"/>
                </a:moveTo>
                <a:lnTo>
                  <a:pt x="0" y="0"/>
                </a:lnTo>
              </a:path>
            </a:pathLst>
          </a:custGeom>
          <a:noFill/>
          <a:ln w="10478">
            <a:solidFill>
              <a:srgbClr val="147AAA"/>
            </a:solidFill>
            <a:prstDash val="solid"/>
          </a:ln>
        </p:spPr>
      </p:sp>
      <p:sp>
        <p:nvSpPr>
          <p:cNvPr id="10" name="input.sample.dot2">
            <a:extLst>
              <a:ext uri="{FF2B5EF4-FFF2-40B4-BE49-F238E27FC236}">
                <a16:creationId xmlns:a16="http://schemas.microsoft.com/office/drawing/2014/main" id="{348CFBB3-C4E8-44A1-B051-63B8B7C664D9}"/>
              </a:ext>
            </a:extLst>
          </p:cNvPr>
          <p:cNvSpPr>
            <a:spLocks noGrp="1"/>
          </p:cNvSpPr>
          <p:nvPr/>
        </p:nvSpPr>
        <p:spPr>
          <a:xfrm>
            <a:off x="1279492" y="5557838"/>
            <a:ext cx="85725" cy="85725"/>
          </a:xfrm>
          <a:prstGeom prst="ellipse">
            <a:avLst/>
          </a:prstGeom>
          <a:solidFill>
            <a:srgbClr val="147AAA"/>
          </a:solidFill>
          <a:ln w="9525">
            <a:solidFill>
              <a:srgbClr val="FFFFFF"/>
            </a:solidFill>
          </a:ln>
        </p:spPr>
      </p:sp>
      <p:sp>
        <p:nvSpPr>
          <p:cNvPr id="11" name="input.sample.stem3">
            <a:extLst>
              <a:ext uri="{FF2B5EF4-FFF2-40B4-BE49-F238E27FC236}">
                <a16:creationId xmlns:a16="http://schemas.microsoft.com/office/drawing/2014/main" id="{DFF359EB-BF12-4206-BD38-8A57E4D705A7}"/>
              </a:ext>
            </a:extLst>
          </p:cNvPr>
          <p:cNvSpPr>
            <a:spLocks noGrp="1"/>
          </p:cNvSpPr>
          <p:nvPr/>
        </p:nvSpPr>
        <p:spPr>
          <a:xfrm>
            <a:off x="1510552" y="5600700"/>
            <a:ext cx="953" cy="209550"/>
          </a:xfrm>
          <a:custGeom>
            <a:avLst/>
            <a:gdLst/>
            <a:ahLst/>
            <a:cxnLst/>
            <a:rect l="0" t="0" r="0" b="0"/>
            <a:pathLst>
              <a:path w="953" h="209550">
                <a:moveTo>
                  <a:pt x="0" y="209550"/>
                </a:moveTo>
                <a:lnTo>
                  <a:pt x="0" y="0"/>
                </a:lnTo>
              </a:path>
            </a:pathLst>
          </a:custGeom>
          <a:noFill/>
          <a:ln w="10478">
            <a:solidFill>
              <a:srgbClr val="147AAA"/>
            </a:solidFill>
            <a:prstDash val="solid"/>
          </a:ln>
        </p:spPr>
      </p:sp>
      <p:sp>
        <p:nvSpPr>
          <p:cNvPr id="12" name="input.sample.dot3">
            <a:extLst>
              <a:ext uri="{FF2B5EF4-FFF2-40B4-BE49-F238E27FC236}">
                <a16:creationId xmlns:a16="http://schemas.microsoft.com/office/drawing/2014/main" id="{0AE81302-E944-48D1-AE0C-103BE6AA8588}"/>
              </a:ext>
            </a:extLst>
          </p:cNvPr>
          <p:cNvSpPr>
            <a:spLocks noGrp="1"/>
          </p:cNvSpPr>
          <p:nvPr/>
        </p:nvSpPr>
        <p:spPr>
          <a:xfrm>
            <a:off x="1467689" y="5557838"/>
            <a:ext cx="85725" cy="85725"/>
          </a:xfrm>
          <a:prstGeom prst="ellipse">
            <a:avLst/>
          </a:prstGeom>
          <a:solidFill>
            <a:srgbClr val="147AAA"/>
          </a:solidFill>
          <a:ln w="9525">
            <a:solidFill>
              <a:srgbClr val="FFFFFF"/>
            </a:solidFill>
          </a:ln>
        </p:spPr>
      </p:sp>
      <p:sp>
        <p:nvSpPr>
          <p:cNvPr id="13" name="input.sample.stem4">
            <a:extLst>
              <a:ext uri="{FF2B5EF4-FFF2-40B4-BE49-F238E27FC236}">
                <a16:creationId xmlns:a16="http://schemas.microsoft.com/office/drawing/2014/main" id="{6EB9C507-06A2-421B-BCD8-D1E3FBA9C5E3}"/>
              </a:ext>
            </a:extLst>
          </p:cNvPr>
          <p:cNvSpPr>
            <a:spLocks noGrp="1"/>
          </p:cNvSpPr>
          <p:nvPr/>
        </p:nvSpPr>
        <p:spPr>
          <a:xfrm>
            <a:off x="1589604" y="5600700"/>
            <a:ext cx="953" cy="209550"/>
          </a:xfrm>
          <a:custGeom>
            <a:avLst/>
            <a:gdLst/>
            <a:ahLst/>
            <a:cxnLst/>
            <a:rect l="0" t="0" r="0" b="0"/>
            <a:pathLst>
              <a:path w="953" h="209550">
                <a:moveTo>
                  <a:pt x="0" y="209550"/>
                </a:moveTo>
                <a:lnTo>
                  <a:pt x="0" y="0"/>
                </a:lnTo>
              </a:path>
            </a:pathLst>
          </a:custGeom>
          <a:noFill/>
          <a:ln w="10478">
            <a:solidFill>
              <a:srgbClr val="147AAA"/>
            </a:solidFill>
            <a:prstDash val="solid"/>
          </a:ln>
        </p:spPr>
      </p:sp>
      <p:sp>
        <p:nvSpPr>
          <p:cNvPr id="14" name="input.sample.dot4">
            <a:extLst>
              <a:ext uri="{FF2B5EF4-FFF2-40B4-BE49-F238E27FC236}">
                <a16:creationId xmlns:a16="http://schemas.microsoft.com/office/drawing/2014/main" id="{2A15392B-CB8B-4ABA-B017-4EA4D6CDCD3E}"/>
              </a:ext>
            </a:extLst>
          </p:cNvPr>
          <p:cNvSpPr>
            <a:spLocks noGrp="1"/>
          </p:cNvSpPr>
          <p:nvPr/>
        </p:nvSpPr>
        <p:spPr>
          <a:xfrm>
            <a:off x="1546741" y="5557838"/>
            <a:ext cx="85725" cy="85725"/>
          </a:xfrm>
          <a:prstGeom prst="ellipse">
            <a:avLst/>
          </a:prstGeom>
          <a:solidFill>
            <a:srgbClr val="147AAA"/>
          </a:solidFill>
          <a:ln w="9525">
            <a:solidFill>
              <a:srgbClr val="FFFFFF"/>
            </a:solidFill>
          </a:ln>
        </p:spPr>
      </p:sp>
      <p:sp>
        <p:nvSpPr>
          <p:cNvPr id="15" name="input.sample.stem5">
            <a:extLst>
              <a:ext uri="{FF2B5EF4-FFF2-40B4-BE49-F238E27FC236}">
                <a16:creationId xmlns:a16="http://schemas.microsoft.com/office/drawing/2014/main" id="{FF3391B2-340C-4C02-8D14-667376607331}"/>
              </a:ext>
            </a:extLst>
          </p:cNvPr>
          <p:cNvSpPr>
            <a:spLocks noGrp="1"/>
          </p:cNvSpPr>
          <p:nvPr/>
        </p:nvSpPr>
        <p:spPr>
          <a:xfrm>
            <a:off x="1990691" y="5600700"/>
            <a:ext cx="953" cy="209550"/>
          </a:xfrm>
          <a:custGeom>
            <a:avLst/>
            <a:gdLst/>
            <a:ahLst/>
            <a:cxnLst/>
            <a:rect l="0" t="0" r="0" b="0"/>
            <a:pathLst>
              <a:path w="953" h="209550">
                <a:moveTo>
                  <a:pt x="0" y="209550"/>
                </a:moveTo>
                <a:lnTo>
                  <a:pt x="0" y="0"/>
                </a:lnTo>
              </a:path>
            </a:pathLst>
          </a:custGeom>
          <a:noFill/>
          <a:ln w="10478">
            <a:solidFill>
              <a:srgbClr val="147AAA"/>
            </a:solidFill>
            <a:prstDash val="solid"/>
          </a:ln>
        </p:spPr>
      </p:sp>
      <p:sp>
        <p:nvSpPr>
          <p:cNvPr id="16" name="input.sample.dot5">
            <a:extLst>
              <a:ext uri="{FF2B5EF4-FFF2-40B4-BE49-F238E27FC236}">
                <a16:creationId xmlns:a16="http://schemas.microsoft.com/office/drawing/2014/main" id="{9AE5872E-8A1E-4550-98B6-8549D617119E}"/>
              </a:ext>
            </a:extLst>
          </p:cNvPr>
          <p:cNvSpPr>
            <a:spLocks noGrp="1"/>
          </p:cNvSpPr>
          <p:nvPr/>
        </p:nvSpPr>
        <p:spPr>
          <a:xfrm>
            <a:off x="1947829" y="5557838"/>
            <a:ext cx="85725" cy="85725"/>
          </a:xfrm>
          <a:prstGeom prst="ellipse">
            <a:avLst/>
          </a:prstGeom>
          <a:solidFill>
            <a:srgbClr val="147AAA"/>
          </a:solidFill>
          <a:ln w="9525">
            <a:solidFill>
              <a:srgbClr val="FFFFFF"/>
            </a:solidFill>
          </a:ln>
        </p:spPr>
      </p:sp>
      <p:sp>
        <p:nvSpPr>
          <p:cNvPr id="17" name="input.sample.stem6">
            <a:extLst>
              <a:ext uri="{FF2B5EF4-FFF2-40B4-BE49-F238E27FC236}">
                <a16:creationId xmlns:a16="http://schemas.microsoft.com/office/drawing/2014/main" id="{FF572B53-DC2D-4645-A402-F85E4C9ED998}"/>
              </a:ext>
            </a:extLst>
          </p:cNvPr>
          <p:cNvSpPr>
            <a:spLocks noGrp="1"/>
          </p:cNvSpPr>
          <p:nvPr/>
        </p:nvSpPr>
        <p:spPr>
          <a:xfrm>
            <a:off x="2743200" y="5600700"/>
            <a:ext cx="953" cy="209550"/>
          </a:xfrm>
          <a:custGeom>
            <a:avLst/>
            <a:gdLst/>
            <a:ahLst/>
            <a:cxnLst/>
            <a:rect l="0" t="0" r="0" b="0"/>
            <a:pathLst>
              <a:path w="953" h="209550">
                <a:moveTo>
                  <a:pt x="0" y="209550"/>
                </a:moveTo>
                <a:lnTo>
                  <a:pt x="0" y="0"/>
                </a:lnTo>
              </a:path>
            </a:pathLst>
          </a:custGeom>
          <a:noFill/>
          <a:ln w="10478">
            <a:solidFill>
              <a:srgbClr val="147AAA"/>
            </a:solidFill>
            <a:prstDash val="solid"/>
          </a:ln>
        </p:spPr>
      </p:sp>
      <p:sp>
        <p:nvSpPr>
          <p:cNvPr id="18" name="input.sample.dot6">
            <a:extLst>
              <a:ext uri="{FF2B5EF4-FFF2-40B4-BE49-F238E27FC236}">
                <a16:creationId xmlns:a16="http://schemas.microsoft.com/office/drawing/2014/main" id="{BA4B3D57-A5EB-4812-A199-F099EA643716}"/>
              </a:ext>
            </a:extLst>
          </p:cNvPr>
          <p:cNvSpPr>
            <a:spLocks noGrp="1"/>
          </p:cNvSpPr>
          <p:nvPr/>
        </p:nvSpPr>
        <p:spPr>
          <a:xfrm>
            <a:off x="2700338" y="5557838"/>
            <a:ext cx="85725" cy="85725"/>
          </a:xfrm>
          <a:prstGeom prst="ellipse">
            <a:avLst/>
          </a:prstGeom>
          <a:solidFill>
            <a:srgbClr val="147AAA"/>
          </a:solidFill>
          <a:ln w="9525">
            <a:solidFill>
              <a:srgbClr val="FFFFFF"/>
            </a:solidFill>
          </a:ln>
        </p:spPr>
      </p:sp>
      <p:sp>
        <p:nvSpPr>
          <p:cNvPr id="19" name="input.description">
            <a:extLst>
              <a:ext uri="{FF2B5EF4-FFF2-40B4-BE49-F238E27FC236}">
                <a16:creationId xmlns:a16="http://schemas.microsoft.com/office/drawing/2014/main" id="{916897C4-4B22-42C1-A392-0C8A4D35B72D}"/>
              </a:ext>
            </a:extLst>
          </p:cNvPr>
          <p:cNvSpPr>
            <a:spLocks noGrp="1"/>
          </p:cNvSpPr>
          <p:nvPr/>
        </p:nvSpPr>
        <p:spPr>
          <a:xfrm>
            <a:off x="428625" y="7448550"/>
            <a:ext cx="2571750" cy="342900"/>
          </a:xfrm>
          <a:prstGeom prst="rect">
            <a:avLst/>
          </a:prstGeom>
          <a:noFill/>
          <a:ln w="12383">
            <a:noFill/>
            <a:prstDash val="solid"/>
          </a:ln>
        </p:spPr>
        <p:txBody>
          <a:bodyPr wrap="none" lIns="0" tIns="0" rIns="0" bIns="0" anchor="ctr">
            <a:noAutofit/>
          </a:bodyPr>
          <a:lstStyle/>
          <a:p>
            <a:pPr algn="ctr">
              <a:defRPr sz="1725" b="0">
                <a:solidFill>
                  <a:srgbClr val="263238"/>
                </a:solidFill>
                <a:latin typeface="Microsoft YaHei"/>
                <a:ea typeface="Microsoft YaHei"/>
                <a:cs typeface="Microsoft YaHei"/>
              </a:defRPr>
            </a:pPr>
            <a:r>
              <a:rPr sz="1725" b="0">
                <a:solidFill>
                  <a:srgbClr val="263238"/>
                </a:solidFill>
                <a:latin typeface="Microsoft YaHei"/>
                <a:ea typeface="Microsoft YaHei"/>
                <a:cs typeface="Microsoft YaHei"/>
              </a:rPr>
              <a:t>排序后的寿命观测</a:t>
            </a:r>
          </a:p>
        </p:txBody>
      </p:sp>
      <p:sp>
        <p:nvSpPr>
          <p:cNvPr id="20" name="adapt.boundary">
            <a:extLst>
              <a:ext uri="{FF2B5EF4-FFF2-40B4-BE49-F238E27FC236}">
                <a16:creationId xmlns:a16="http://schemas.microsoft.com/office/drawing/2014/main" id="{51C4116E-E405-4079-B900-C17A08BCD729}"/>
              </a:ext>
            </a:extLst>
          </p:cNvPr>
          <p:cNvSpPr>
            <a:spLocks noGrp="1"/>
          </p:cNvSpPr>
          <p:nvPr/>
        </p:nvSpPr>
        <p:spPr>
          <a:xfrm>
            <a:off x="4381500" y="476250"/>
            <a:ext cx="13239750" cy="2762250"/>
          </a:xfrm>
          <a:prstGeom prst="rect">
            <a:avLst/>
          </a:prstGeom>
          <a:noFill/>
          <a:ln w="12383">
            <a:solidFill>
              <a:srgbClr val="6A92BD"/>
            </a:solidFill>
            <a:prstDash val="dash"/>
          </a:ln>
        </p:spPr>
      </p:sp>
      <p:sp>
        <p:nvSpPr>
          <p:cNvPr id="21" name="adapt.header">
            <a:extLst>
              <a:ext uri="{FF2B5EF4-FFF2-40B4-BE49-F238E27FC236}">
                <a16:creationId xmlns:a16="http://schemas.microsoft.com/office/drawing/2014/main" id="{AE010D12-4862-4C97-86E5-5AE8B1505C76}"/>
              </a:ext>
            </a:extLst>
          </p:cNvPr>
          <p:cNvSpPr>
            <a:spLocks noGrp="1"/>
          </p:cNvSpPr>
          <p:nvPr/>
        </p:nvSpPr>
        <p:spPr>
          <a:xfrm>
            <a:off x="4381500" y="476250"/>
            <a:ext cx="13239750" cy="400050"/>
          </a:xfrm>
          <a:prstGeom prst="rect">
            <a:avLst/>
          </a:prstGeom>
          <a:solidFill>
            <a:srgbClr val="A8C0E5"/>
          </a:solidFill>
          <a:ln w="12383">
            <a:noFill/>
            <a:prstDash val="solid"/>
          </a:ln>
        </p:spPr>
      </p:sp>
      <p:sp>
        <p:nvSpPr>
          <p:cNvPr id="22" name="adapt.title">
            <a:extLst>
              <a:ext uri="{FF2B5EF4-FFF2-40B4-BE49-F238E27FC236}">
                <a16:creationId xmlns:a16="http://schemas.microsoft.com/office/drawing/2014/main" id="{C556D955-C8ED-4569-AE49-2C5511617D26}"/>
              </a:ext>
            </a:extLst>
          </p:cNvPr>
          <p:cNvSpPr>
            <a:spLocks noGrp="1"/>
          </p:cNvSpPr>
          <p:nvPr/>
        </p:nvSpPr>
        <p:spPr>
          <a:xfrm>
            <a:off x="4476750" y="495300"/>
            <a:ext cx="13049250" cy="361950"/>
          </a:xfrm>
          <a:prstGeom prst="rect">
            <a:avLst/>
          </a:prstGeom>
          <a:noFill/>
          <a:ln w="12383">
            <a:noFill/>
            <a:prstDash val="solid"/>
          </a:ln>
        </p:spPr>
        <p:txBody>
          <a:bodyPr wrap="none" lIns="0" tIns="0" rIns="0" bIns="0" anchor="ctr">
            <a:noAutofit/>
          </a:bodyPr>
          <a:lstStyle/>
          <a:p>
            <a:pPr algn="ctr">
              <a:defRPr sz="1800" b="1">
                <a:solidFill>
                  <a:srgbClr val="263238"/>
                </a:solidFill>
                <a:latin typeface="Microsoft YaHei"/>
                <a:ea typeface="Microsoft YaHei"/>
                <a:cs typeface="Microsoft YaHei"/>
              </a:defRPr>
            </a:pPr>
            <a:r>
              <a:rPr sz="1800" b="1">
                <a:solidFill>
                  <a:srgbClr val="263238"/>
                </a:solidFill>
                <a:latin typeface="Microsoft YaHei"/>
                <a:ea typeface="Microsoft YaHei"/>
                <a:cs typeface="Microsoft YaHei"/>
              </a:rPr>
              <a:t>样本自适应偏移选择</a:t>
            </a:r>
          </a:p>
        </p:txBody>
      </p:sp>
      <p:sp>
        <p:nvSpPr>
          <p:cNvPr id="23" name="adapt.feature-label">
            <a:extLst>
              <a:ext uri="{FF2B5EF4-FFF2-40B4-BE49-F238E27FC236}">
                <a16:creationId xmlns:a16="http://schemas.microsoft.com/office/drawing/2014/main" id="{EB13FBE8-D58C-4209-8DC6-851E7AC92C94}"/>
              </a:ext>
            </a:extLst>
          </p:cNvPr>
          <p:cNvSpPr>
            <a:spLocks noGrp="1"/>
          </p:cNvSpPr>
          <p:nvPr/>
        </p:nvSpPr>
        <p:spPr>
          <a:xfrm>
            <a:off x="4572000" y="1152525"/>
            <a:ext cx="3619500" cy="323850"/>
          </a:xfrm>
          <a:prstGeom prst="rect">
            <a:avLst/>
          </a:prstGeom>
          <a:noFill/>
          <a:ln w="12383">
            <a:noFill/>
            <a:prstDash val="solid"/>
          </a:ln>
        </p:spPr>
        <p:txBody>
          <a:bodyPr wrap="none" lIns="0" tIns="0" rIns="0" bIns="0" anchor="ctr">
            <a:noAutofit/>
          </a:bodyPr>
          <a:lstStyle/>
          <a:p>
            <a:pPr algn="ctr">
              <a:defRPr sz="1875" b="1">
                <a:solidFill>
                  <a:srgbClr val="263238"/>
                </a:solidFill>
                <a:latin typeface="Microsoft YaHei"/>
                <a:ea typeface="Microsoft YaHei"/>
                <a:cs typeface="Microsoft YaHei"/>
              </a:defRPr>
            </a:pPr>
            <a:r>
              <a:rPr sz="1875" b="1">
                <a:solidFill>
                  <a:srgbClr val="263238"/>
                </a:solidFill>
                <a:latin typeface="Microsoft YaHei"/>
                <a:ea typeface="Microsoft YaHei"/>
                <a:cs typeface="Microsoft YaHei"/>
              </a:rPr>
              <a:t>样本特征构造</a:t>
            </a:r>
          </a:p>
        </p:txBody>
      </p:sp>
      <p:sp>
        <p:nvSpPr>
          <p:cNvPr id="24" name="adapt.preprocessing">
            <a:extLst>
              <a:ext uri="{FF2B5EF4-FFF2-40B4-BE49-F238E27FC236}">
                <a16:creationId xmlns:a16="http://schemas.microsoft.com/office/drawing/2014/main" id="{788EF589-E4F0-4769-877E-63C68A82573B}"/>
              </a:ext>
            </a:extLst>
          </p:cNvPr>
          <p:cNvSpPr>
            <a:spLocks noGrp="1"/>
          </p:cNvSpPr>
          <p:nvPr/>
        </p:nvSpPr>
        <p:spPr>
          <a:xfrm>
            <a:off x="4572000" y="1609725"/>
            <a:ext cx="3619500" cy="304800"/>
          </a:xfrm>
          <a:prstGeom prst="rect">
            <a:avLst/>
          </a:prstGeom>
          <a:noFill/>
          <a:ln w="12383">
            <a:noFill/>
            <a:prstDash val="solid"/>
          </a:ln>
        </p:spPr>
        <p:txBody>
          <a:bodyPr wrap="none" lIns="0" tIns="0" rIns="0" bIns="0" anchor="ctr">
            <a:noAutofit/>
          </a:bodyPr>
          <a:lstStyle/>
          <a:p>
            <a:pPr algn="ctr">
              <a:defRPr sz="1725" b="0">
                <a:solidFill>
                  <a:srgbClr val="263238"/>
                </a:solidFill>
                <a:latin typeface="Microsoft YaHei"/>
                <a:ea typeface="Microsoft YaHei"/>
                <a:cs typeface="Microsoft YaHei"/>
              </a:defRPr>
            </a:pPr>
            <a:r>
              <a:rPr sz="1725" b="0">
                <a:solidFill>
                  <a:srgbClr val="263238"/>
                </a:solidFill>
                <a:latin typeface="Microsoft YaHei"/>
                <a:ea typeface="Microsoft YaHei"/>
                <a:cs typeface="Microsoft YaHei"/>
              </a:rPr>
              <a:t>均值归一化与标准化</a:t>
            </a:r>
          </a:p>
        </p:txBody>
      </p:sp>
      <p:sp>
        <p:nvSpPr>
          <p:cNvPr id="25" name="adapt.feature-to-model">
            <a:extLst>
              <a:ext uri="{FF2B5EF4-FFF2-40B4-BE49-F238E27FC236}">
                <a16:creationId xmlns:a16="http://schemas.microsoft.com/office/drawing/2014/main" id="{909BCA82-49C7-47B0-9210-8386737A1294}"/>
              </a:ext>
            </a:extLst>
          </p:cNvPr>
          <p:cNvSpPr>
            <a:spLocks noGrp="1"/>
          </p:cNvSpPr>
          <p:nvPr/>
        </p:nvSpPr>
        <p:spPr>
          <a:xfrm>
            <a:off x="8382000" y="1914525"/>
            <a:ext cx="438150" cy="190500"/>
          </a:xfrm>
          <a:prstGeom prst="rightArrow">
            <a:avLst/>
          </a:prstGeom>
          <a:solidFill>
            <a:srgbClr val="C6D9E7"/>
          </a:solidFill>
          <a:ln w="11430">
            <a:solidFill>
              <a:srgbClr val="73869A"/>
            </a:solidFill>
          </a:ln>
        </p:spPr>
      </p:sp>
      <p:sp>
        <p:nvSpPr>
          <p:cNvPr id="26" name="adapt.model-box">
            <a:extLst>
              <a:ext uri="{FF2B5EF4-FFF2-40B4-BE49-F238E27FC236}">
                <a16:creationId xmlns:a16="http://schemas.microsoft.com/office/drawing/2014/main" id="{639AD84C-D12F-4D25-AE66-E7473D59C3AF}"/>
              </a:ext>
            </a:extLst>
          </p:cNvPr>
          <p:cNvSpPr>
            <a:spLocks noGrp="1"/>
          </p:cNvSpPr>
          <p:nvPr/>
        </p:nvSpPr>
        <p:spPr>
          <a:xfrm>
            <a:off x="9048750" y="1143000"/>
            <a:ext cx="3857625" cy="1714500"/>
          </a:xfrm>
          <a:prstGeom prst="rect">
            <a:avLst/>
          </a:prstGeom>
          <a:solidFill>
            <a:srgbClr val="EEF4FB"/>
          </a:solidFill>
          <a:ln w="12383">
            <a:solidFill>
              <a:srgbClr val="8FAED0"/>
            </a:solidFill>
            <a:prstDash val="solid"/>
          </a:ln>
        </p:spPr>
      </p:sp>
      <p:sp>
        <p:nvSpPr>
          <p:cNvPr id="27" name="adapt.model-label">
            <a:extLst>
              <a:ext uri="{FF2B5EF4-FFF2-40B4-BE49-F238E27FC236}">
                <a16:creationId xmlns:a16="http://schemas.microsoft.com/office/drawing/2014/main" id="{BC899534-E94A-4AD3-8BE7-E8DBB01EAF4D}"/>
              </a:ext>
            </a:extLst>
          </p:cNvPr>
          <p:cNvSpPr>
            <a:spLocks noGrp="1"/>
          </p:cNvSpPr>
          <p:nvPr/>
        </p:nvSpPr>
        <p:spPr>
          <a:xfrm>
            <a:off x="9220200" y="1276350"/>
            <a:ext cx="3514725" cy="323850"/>
          </a:xfrm>
          <a:prstGeom prst="rect">
            <a:avLst/>
          </a:prstGeom>
          <a:noFill/>
          <a:ln w="12383">
            <a:noFill/>
            <a:prstDash val="solid"/>
          </a:ln>
        </p:spPr>
        <p:txBody>
          <a:bodyPr wrap="none" lIns="0" tIns="0" rIns="0" bIns="0" anchor="ctr">
            <a:noAutofit/>
          </a:bodyPr>
          <a:lstStyle/>
          <a:p>
            <a:pPr algn="ctr">
              <a:defRPr sz="1875" b="1">
                <a:solidFill>
                  <a:srgbClr val="263238"/>
                </a:solidFill>
                <a:latin typeface="Microsoft YaHei"/>
                <a:ea typeface="Microsoft YaHei"/>
                <a:cs typeface="Microsoft YaHei"/>
              </a:defRPr>
            </a:pPr>
            <a:r>
              <a:rPr sz="1875" b="1">
                <a:solidFill>
                  <a:srgbClr val="263238"/>
                </a:solidFill>
                <a:latin typeface="Microsoft YaHei"/>
                <a:ea typeface="Microsoft YaHei"/>
                <a:cs typeface="Microsoft YaHei"/>
              </a:rPr>
              <a:t>偏移选择模型</a:t>
            </a:r>
          </a:p>
        </p:txBody>
      </p:sp>
      <p:sp>
        <p:nvSpPr>
          <p:cNvPr id="28" name="adapt.prediction">
            <a:extLst>
              <a:ext uri="{FF2B5EF4-FFF2-40B4-BE49-F238E27FC236}">
                <a16:creationId xmlns:a16="http://schemas.microsoft.com/office/drawing/2014/main" id="{98E94C4A-AE40-4584-B656-E4335141A5E4}"/>
              </a:ext>
            </a:extLst>
          </p:cNvPr>
          <p:cNvSpPr>
            <a:spLocks noGrp="1"/>
          </p:cNvSpPr>
          <p:nvPr/>
        </p:nvSpPr>
        <p:spPr>
          <a:xfrm>
            <a:off x="9220200" y="2371725"/>
            <a:ext cx="3514725" cy="304800"/>
          </a:xfrm>
          <a:prstGeom prst="rect">
            <a:avLst/>
          </a:prstGeom>
          <a:noFill/>
          <a:ln w="12383">
            <a:noFill/>
            <a:prstDash val="solid"/>
          </a:ln>
        </p:spPr>
        <p:txBody>
          <a:bodyPr wrap="none" lIns="0" tIns="0" rIns="0" bIns="0" anchor="ctr">
            <a:noAutofit/>
          </a:bodyPr>
          <a:lstStyle/>
          <a:p>
            <a:pPr algn="ctr">
              <a:defRPr sz="1725" b="0">
                <a:solidFill>
                  <a:srgbClr val="263238"/>
                </a:solidFill>
                <a:latin typeface="Microsoft YaHei"/>
                <a:ea typeface="Microsoft YaHei"/>
                <a:cs typeface="Microsoft YaHei"/>
              </a:defRPr>
            </a:pPr>
            <a:r>
              <a:rPr sz="1725" b="0">
                <a:solidFill>
                  <a:srgbClr val="263238"/>
                </a:solidFill>
                <a:latin typeface="Microsoft YaHei"/>
                <a:ea typeface="Microsoft YaHei"/>
                <a:cs typeface="Microsoft YaHei"/>
              </a:rPr>
              <a:t>预测候选偏移损失</a:t>
            </a:r>
          </a:p>
        </p:txBody>
      </p:sp>
      <p:sp>
        <p:nvSpPr>
          <p:cNvPr id="29" name="adapt.model-to-delta">
            <a:extLst>
              <a:ext uri="{FF2B5EF4-FFF2-40B4-BE49-F238E27FC236}">
                <a16:creationId xmlns:a16="http://schemas.microsoft.com/office/drawing/2014/main" id="{8B520B03-620F-4496-B433-3A5C20943BF1}"/>
              </a:ext>
            </a:extLst>
          </p:cNvPr>
          <p:cNvSpPr>
            <a:spLocks noGrp="1"/>
          </p:cNvSpPr>
          <p:nvPr/>
        </p:nvSpPr>
        <p:spPr>
          <a:xfrm>
            <a:off x="13144500" y="1914525"/>
            <a:ext cx="438150" cy="190500"/>
          </a:xfrm>
          <a:prstGeom prst="rightArrow">
            <a:avLst/>
          </a:prstGeom>
          <a:solidFill>
            <a:srgbClr val="C6D9E7"/>
          </a:solidFill>
          <a:ln w="11430">
            <a:solidFill>
              <a:srgbClr val="73869A"/>
            </a:solidFill>
          </a:ln>
        </p:spPr>
      </p:sp>
      <p:sp>
        <p:nvSpPr>
          <p:cNvPr id="30" name="adapt.selection">
            <a:extLst>
              <a:ext uri="{FF2B5EF4-FFF2-40B4-BE49-F238E27FC236}">
                <a16:creationId xmlns:a16="http://schemas.microsoft.com/office/drawing/2014/main" id="{1687050B-22D2-4ACC-AE31-D46FDCAA6C90}"/>
              </a:ext>
            </a:extLst>
          </p:cNvPr>
          <p:cNvSpPr>
            <a:spLocks noGrp="1"/>
          </p:cNvSpPr>
          <p:nvPr/>
        </p:nvSpPr>
        <p:spPr>
          <a:xfrm>
            <a:off x="13811250" y="1276350"/>
            <a:ext cx="3524250" cy="323850"/>
          </a:xfrm>
          <a:prstGeom prst="rect">
            <a:avLst/>
          </a:prstGeom>
          <a:noFill/>
          <a:ln w="12383">
            <a:noFill/>
            <a:prstDash val="solid"/>
          </a:ln>
        </p:spPr>
        <p:txBody>
          <a:bodyPr wrap="none" lIns="0" tIns="0" rIns="0" bIns="0" anchor="ctr">
            <a:noAutofit/>
          </a:bodyPr>
          <a:lstStyle/>
          <a:p>
            <a:pPr algn="ctr">
              <a:defRPr sz="1725" b="0">
                <a:solidFill>
                  <a:srgbClr val="263238"/>
                </a:solidFill>
                <a:latin typeface="Microsoft YaHei"/>
                <a:ea typeface="Microsoft YaHei"/>
                <a:cs typeface="Microsoft YaHei"/>
              </a:defRPr>
            </a:pPr>
            <a:r>
              <a:rPr sz="1725" b="0">
                <a:solidFill>
                  <a:srgbClr val="263238"/>
                </a:solidFill>
                <a:latin typeface="Microsoft YaHei"/>
                <a:ea typeface="Microsoft YaHei"/>
                <a:cs typeface="Microsoft YaHei"/>
              </a:rPr>
              <a:t>选择预测损失最低的偏移</a:t>
            </a:r>
          </a:p>
        </p:txBody>
      </p:sp>
      <p:sp>
        <p:nvSpPr>
          <p:cNvPr id="31" name="main.boundary">
            <a:extLst>
              <a:ext uri="{FF2B5EF4-FFF2-40B4-BE49-F238E27FC236}">
                <a16:creationId xmlns:a16="http://schemas.microsoft.com/office/drawing/2014/main" id="{D7D4F899-65CA-4466-A3A2-3952613D4DE6}"/>
              </a:ext>
            </a:extLst>
          </p:cNvPr>
          <p:cNvSpPr>
            <a:spLocks noGrp="1"/>
          </p:cNvSpPr>
          <p:nvPr/>
        </p:nvSpPr>
        <p:spPr>
          <a:xfrm>
            <a:off x="4381500" y="4286250"/>
            <a:ext cx="13239750" cy="4286250"/>
          </a:xfrm>
          <a:prstGeom prst="rect">
            <a:avLst/>
          </a:prstGeom>
          <a:noFill/>
          <a:ln w="12383">
            <a:solidFill>
              <a:srgbClr val="9FBAA5"/>
            </a:solidFill>
            <a:prstDash val="dash"/>
          </a:ln>
        </p:spPr>
      </p:sp>
      <p:sp>
        <p:nvSpPr>
          <p:cNvPr id="32" name="main.header">
            <a:extLst>
              <a:ext uri="{FF2B5EF4-FFF2-40B4-BE49-F238E27FC236}">
                <a16:creationId xmlns:a16="http://schemas.microsoft.com/office/drawing/2014/main" id="{50735D62-5AA9-4C61-8520-C80C54B7BE1E}"/>
              </a:ext>
            </a:extLst>
          </p:cNvPr>
          <p:cNvSpPr>
            <a:spLocks noGrp="1"/>
          </p:cNvSpPr>
          <p:nvPr/>
        </p:nvSpPr>
        <p:spPr>
          <a:xfrm>
            <a:off x="4381500" y="4286250"/>
            <a:ext cx="13239750" cy="400050"/>
          </a:xfrm>
          <a:prstGeom prst="rect">
            <a:avLst/>
          </a:prstGeom>
          <a:solidFill>
            <a:srgbClr val="EAF1D8"/>
          </a:solidFill>
          <a:ln w="12383">
            <a:noFill/>
            <a:prstDash val="solid"/>
          </a:ln>
        </p:spPr>
      </p:sp>
      <p:sp>
        <p:nvSpPr>
          <p:cNvPr id="33" name="main.title">
            <a:extLst>
              <a:ext uri="{FF2B5EF4-FFF2-40B4-BE49-F238E27FC236}">
                <a16:creationId xmlns:a16="http://schemas.microsoft.com/office/drawing/2014/main" id="{00165BCF-42F3-4F8E-AF4E-D7645879AE8F}"/>
              </a:ext>
            </a:extLst>
          </p:cNvPr>
          <p:cNvSpPr>
            <a:spLocks noGrp="1"/>
          </p:cNvSpPr>
          <p:nvPr/>
        </p:nvSpPr>
        <p:spPr>
          <a:xfrm>
            <a:off x="4476750" y="4305300"/>
            <a:ext cx="13049250" cy="361950"/>
          </a:xfrm>
          <a:prstGeom prst="rect">
            <a:avLst/>
          </a:prstGeom>
          <a:noFill/>
          <a:ln w="12383">
            <a:noFill/>
            <a:prstDash val="solid"/>
          </a:ln>
        </p:spPr>
        <p:txBody>
          <a:bodyPr wrap="none" lIns="0" tIns="0" rIns="0" bIns="0" anchor="ctr">
            <a:noAutofit/>
          </a:bodyPr>
          <a:lstStyle/>
          <a:p>
            <a:pPr algn="ctr">
              <a:defRPr sz="1800" b="1">
                <a:solidFill>
                  <a:srgbClr val="263238"/>
                </a:solidFill>
                <a:latin typeface="Microsoft YaHei"/>
                <a:ea typeface="Microsoft YaHei"/>
                <a:cs typeface="Microsoft YaHei"/>
              </a:defRPr>
            </a:pPr>
            <a:r>
              <a:rPr sz="1800" b="1">
                <a:solidFill>
                  <a:srgbClr val="263238"/>
                </a:solidFill>
                <a:latin typeface="Microsoft YaHei"/>
                <a:ea typeface="Microsoft YaHei"/>
                <a:cs typeface="Microsoft YaHei"/>
              </a:rPr>
              <a:t>MDM参数求解</a:t>
            </a:r>
          </a:p>
        </p:txBody>
      </p:sp>
      <p:sp>
        <p:nvSpPr>
          <p:cNvPr id="34" name="main.location-box">
            <a:extLst>
              <a:ext uri="{FF2B5EF4-FFF2-40B4-BE49-F238E27FC236}">
                <a16:creationId xmlns:a16="http://schemas.microsoft.com/office/drawing/2014/main" id="{A3FE160A-A56F-4CE6-918F-2EC650C85685}"/>
              </a:ext>
            </a:extLst>
          </p:cNvPr>
          <p:cNvSpPr>
            <a:spLocks noGrp="1"/>
          </p:cNvSpPr>
          <p:nvPr/>
        </p:nvSpPr>
        <p:spPr>
          <a:xfrm>
            <a:off x="4762500" y="5238750"/>
            <a:ext cx="3714750" cy="1466850"/>
          </a:xfrm>
          <a:prstGeom prst="rect">
            <a:avLst/>
          </a:prstGeom>
          <a:solidFill>
            <a:srgbClr val="FAEAD9"/>
          </a:solidFill>
          <a:ln w="12383">
            <a:solidFill>
              <a:srgbClr val="CFA582"/>
            </a:solidFill>
            <a:prstDash val="solid"/>
          </a:ln>
        </p:spPr>
      </p:sp>
      <p:sp>
        <p:nvSpPr>
          <p:cNvPr id="35" name="main.location-label">
            <a:extLst>
              <a:ext uri="{FF2B5EF4-FFF2-40B4-BE49-F238E27FC236}">
                <a16:creationId xmlns:a16="http://schemas.microsoft.com/office/drawing/2014/main" id="{735E0333-ED2A-4DE9-828E-F9DFB4B1D114}"/>
              </a:ext>
            </a:extLst>
          </p:cNvPr>
          <p:cNvSpPr>
            <a:spLocks noGrp="1"/>
          </p:cNvSpPr>
          <p:nvPr/>
        </p:nvSpPr>
        <p:spPr>
          <a:xfrm>
            <a:off x="4905375" y="5381625"/>
            <a:ext cx="3429000" cy="323850"/>
          </a:xfrm>
          <a:prstGeom prst="rect">
            <a:avLst/>
          </a:prstGeom>
          <a:noFill/>
          <a:ln w="12383">
            <a:noFill/>
            <a:prstDash val="solid"/>
          </a:ln>
        </p:spPr>
        <p:txBody>
          <a:bodyPr wrap="none" lIns="0" tIns="0" rIns="0" bIns="0" anchor="ctr">
            <a:noAutofit/>
          </a:bodyPr>
          <a:lstStyle/>
          <a:p>
            <a:pPr algn="ctr">
              <a:defRPr sz="1875" b="1">
                <a:solidFill>
                  <a:srgbClr val="263238"/>
                </a:solidFill>
                <a:latin typeface="Microsoft YaHei"/>
                <a:ea typeface="Microsoft YaHei"/>
                <a:cs typeface="Microsoft YaHei"/>
              </a:defRPr>
            </a:pPr>
            <a:r>
              <a:rPr sz="1875" b="1">
                <a:solidFill>
                  <a:srgbClr val="263238"/>
                </a:solidFill>
                <a:latin typeface="Microsoft YaHei"/>
                <a:ea typeface="Microsoft YaHei"/>
                <a:cs typeface="Microsoft YaHei"/>
              </a:rPr>
              <a:t>位置参数求解</a:t>
            </a:r>
          </a:p>
        </p:txBody>
      </p:sp>
      <p:sp>
        <p:nvSpPr>
          <p:cNvPr id="36" name="main.gradient-label">
            <a:extLst>
              <a:ext uri="{FF2B5EF4-FFF2-40B4-BE49-F238E27FC236}">
                <a16:creationId xmlns:a16="http://schemas.microsoft.com/office/drawing/2014/main" id="{4CACA99C-F2D8-48CA-8A78-8B23F8E3D489}"/>
              </a:ext>
            </a:extLst>
          </p:cNvPr>
          <p:cNvSpPr>
            <a:spLocks noGrp="1"/>
          </p:cNvSpPr>
          <p:nvPr/>
        </p:nvSpPr>
        <p:spPr>
          <a:xfrm>
            <a:off x="4762500" y="7105650"/>
            <a:ext cx="3714750" cy="295275"/>
          </a:xfrm>
          <a:prstGeom prst="rect">
            <a:avLst/>
          </a:prstGeom>
          <a:noFill/>
          <a:ln w="12383">
            <a:noFill/>
            <a:prstDash val="solid"/>
          </a:ln>
        </p:spPr>
        <p:txBody>
          <a:bodyPr wrap="none" lIns="0" tIns="0" rIns="0" bIns="0" anchor="ctr">
            <a:noAutofit/>
          </a:bodyPr>
          <a:lstStyle/>
          <a:p>
            <a:pPr algn="ctr">
              <a:defRPr sz="1650" b="0">
                <a:solidFill>
                  <a:srgbClr val="263238"/>
                </a:solidFill>
                <a:latin typeface="Microsoft YaHei"/>
                <a:ea typeface="Microsoft YaHei"/>
                <a:cs typeface="Microsoft YaHei"/>
              </a:defRPr>
            </a:pPr>
            <a:r>
              <a:rPr sz="1650" b="0">
                <a:solidFill>
                  <a:srgbClr val="263238"/>
                </a:solidFill>
                <a:latin typeface="Microsoft YaHei"/>
                <a:ea typeface="Microsoft YaHei"/>
                <a:cs typeface="Microsoft YaHei"/>
              </a:rPr>
              <a:t>由样本构造梯度判据</a:t>
            </a:r>
          </a:p>
        </p:txBody>
      </p:sp>
      <p:sp>
        <p:nvSpPr>
          <p:cNvPr id="37" name="main.gamma-to-beta">
            <a:extLst>
              <a:ext uri="{FF2B5EF4-FFF2-40B4-BE49-F238E27FC236}">
                <a16:creationId xmlns:a16="http://schemas.microsoft.com/office/drawing/2014/main" id="{34C3CA5B-6BA1-4169-803F-D5AAE1906775}"/>
              </a:ext>
            </a:extLst>
          </p:cNvPr>
          <p:cNvSpPr>
            <a:spLocks noGrp="1"/>
          </p:cNvSpPr>
          <p:nvPr/>
        </p:nvSpPr>
        <p:spPr>
          <a:xfrm>
            <a:off x="8658225" y="6057900"/>
            <a:ext cx="381000" cy="190500"/>
          </a:xfrm>
          <a:prstGeom prst="rightArrow">
            <a:avLst/>
          </a:prstGeom>
          <a:solidFill>
            <a:srgbClr val="C6D9E7"/>
          </a:solidFill>
          <a:ln w="11430">
            <a:solidFill>
              <a:srgbClr val="73869A"/>
            </a:solidFill>
          </a:ln>
        </p:spPr>
      </p:sp>
      <p:sp>
        <p:nvSpPr>
          <p:cNvPr id="38" name="main.beta-label">
            <a:extLst>
              <a:ext uri="{FF2B5EF4-FFF2-40B4-BE49-F238E27FC236}">
                <a16:creationId xmlns:a16="http://schemas.microsoft.com/office/drawing/2014/main" id="{6E5B5BA7-ABB6-414F-8910-A905630A5007}"/>
              </a:ext>
            </a:extLst>
          </p:cNvPr>
          <p:cNvSpPr>
            <a:spLocks noGrp="1"/>
          </p:cNvSpPr>
          <p:nvPr/>
        </p:nvSpPr>
        <p:spPr>
          <a:xfrm>
            <a:off x="9201150" y="5381625"/>
            <a:ext cx="3705225" cy="323850"/>
          </a:xfrm>
          <a:prstGeom prst="rect">
            <a:avLst/>
          </a:prstGeom>
          <a:noFill/>
          <a:ln w="12383">
            <a:noFill/>
            <a:prstDash val="solid"/>
          </a:ln>
        </p:spPr>
        <p:txBody>
          <a:bodyPr wrap="none" lIns="0" tIns="0" rIns="0" bIns="0" anchor="ctr">
            <a:noAutofit/>
          </a:bodyPr>
          <a:lstStyle/>
          <a:p>
            <a:pPr algn="ctr">
              <a:defRPr sz="1875" b="1">
                <a:solidFill>
                  <a:srgbClr val="263238"/>
                </a:solidFill>
                <a:latin typeface="Microsoft YaHei"/>
                <a:ea typeface="Microsoft YaHei"/>
                <a:cs typeface="Microsoft YaHei"/>
              </a:defRPr>
            </a:pPr>
            <a:r>
              <a:rPr sz="1875" b="1">
                <a:solidFill>
                  <a:srgbClr val="263238"/>
                </a:solidFill>
                <a:latin typeface="Microsoft YaHei"/>
                <a:ea typeface="Microsoft YaHei"/>
                <a:cs typeface="Microsoft YaHei"/>
              </a:rPr>
              <a:t>形状参数求解</a:t>
            </a:r>
          </a:p>
        </p:txBody>
      </p:sp>
      <p:sp>
        <p:nvSpPr>
          <p:cNvPr id="39" name="main.beta-note">
            <a:extLst>
              <a:ext uri="{FF2B5EF4-FFF2-40B4-BE49-F238E27FC236}">
                <a16:creationId xmlns:a16="http://schemas.microsoft.com/office/drawing/2014/main" id="{BC302524-FA30-46ED-B0EE-C09D7E079890}"/>
              </a:ext>
            </a:extLst>
          </p:cNvPr>
          <p:cNvSpPr>
            <a:spLocks noGrp="1"/>
          </p:cNvSpPr>
          <p:nvPr/>
        </p:nvSpPr>
        <p:spPr>
          <a:xfrm>
            <a:off x="9201150" y="7353300"/>
            <a:ext cx="3705225" cy="323850"/>
          </a:xfrm>
          <a:prstGeom prst="rect">
            <a:avLst/>
          </a:prstGeom>
          <a:noFill/>
          <a:ln w="12383">
            <a:noFill/>
            <a:prstDash val="solid"/>
          </a:ln>
        </p:spPr>
        <p:txBody>
          <a:bodyPr wrap="none" lIns="0" tIns="0" rIns="0" bIns="0" anchor="ctr">
            <a:noAutofit/>
          </a:bodyPr>
          <a:lstStyle/>
          <a:p>
            <a:pPr algn="ctr">
              <a:defRPr sz="1650" b="0">
                <a:solidFill>
                  <a:srgbClr val="263238"/>
                </a:solidFill>
                <a:latin typeface="Microsoft YaHei"/>
                <a:ea typeface="Microsoft YaHei"/>
                <a:cs typeface="Microsoft YaHei"/>
              </a:defRPr>
            </a:pPr>
            <a:r>
              <a:rPr sz="1650" b="0">
                <a:solidFill>
                  <a:srgbClr val="263238"/>
                </a:solidFill>
                <a:latin typeface="Microsoft YaHei"/>
                <a:ea typeface="Microsoft YaHei"/>
                <a:cs typeface="Microsoft YaHei"/>
              </a:rPr>
              <a:t>在所求位置下最小化差异</a:t>
            </a:r>
          </a:p>
        </p:txBody>
      </p:sp>
      <p:sp>
        <p:nvSpPr>
          <p:cNvPr id="40" name="main.beta-to-eta">
            <a:extLst>
              <a:ext uri="{FF2B5EF4-FFF2-40B4-BE49-F238E27FC236}">
                <a16:creationId xmlns:a16="http://schemas.microsoft.com/office/drawing/2014/main" id="{2419B703-BFA4-4556-B2DC-9BF57CEDDBA5}"/>
              </a:ext>
            </a:extLst>
          </p:cNvPr>
          <p:cNvSpPr>
            <a:spLocks noGrp="1"/>
          </p:cNvSpPr>
          <p:nvPr/>
        </p:nvSpPr>
        <p:spPr>
          <a:xfrm>
            <a:off x="13096875" y="6057900"/>
            <a:ext cx="381000" cy="190500"/>
          </a:xfrm>
          <a:prstGeom prst="rightArrow">
            <a:avLst/>
          </a:prstGeom>
          <a:solidFill>
            <a:srgbClr val="C6D9E7"/>
          </a:solidFill>
          <a:ln w="11430">
            <a:solidFill>
              <a:srgbClr val="73869A"/>
            </a:solidFill>
          </a:ln>
        </p:spPr>
      </p:sp>
      <p:sp>
        <p:nvSpPr>
          <p:cNvPr id="41" name="main.eta-label">
            <a:extLst>
              <a:ext uri="{FF2B5EF4-FFF2-40B4-BE49-F238E27FC236}">
                <a16:creationId xmlns:a16="http://schemas.microsoft.com/office/drawing/2014/main" id="{9451E518-1167-4D16-BD9E-718F0A1D100D}"/>
              </a:ext>
            </a:extLst>
          </p:cNvPr>
          <p:cNvSpPr>
            <a:spLocks noGrp="1"/>
          </p:cNvSpPr>
          <p:nvPr/>
        </p:nvSpPr>
        <p:spPr>
          <a:xfrm>
            <a:off x="13658850" y="5381625"/>
            <a:ext cx="3714750" cy="323850"/>
          </a:xfrm>
          <a:prstGeom prst="rect">
            <a:avLst/>
          </a:prstGeom>
          <a:noFill/>
          <a:ln w="12383">
            <a:noFill/>
            <a:prstDash val="solid"/>
          </a:ln>
        </p:spPr>
        <p:txBody>
          <a:bodyPr wrap="none" lIns="0" tIns="0" rIns="0" bIns="0" anchor="ctr">
            <a:noAutofit/>
          </a:bodyPr>
          <a:lstStyle/>
          <a:p>
            <a:pPr algn="ctr">
              <a:defRPr sz="1875" b="1">
                <a:solidFill>
                  <a:srgbClr val="263238"/>
                </a:solidFill>
                <a:latin typeface="Microsoft YaHei"/>
                <a:ea typeface="Microsoft YaHei"/>
                <a:cs typeface="Microsoft YaHei"/>
              </a:defRPr>
            </a:pPr>
            <a:r>
              <a:rPr sz="1875" b="1">
                <a:solidFill>
                  <a:srgbClr val="263238"/>
                </a:solidFill>
                <a:latin typeface="Microsoft YaHei"/>
                <a:ea typeface="Microsoft YaHei"/>
                <a:cs typeface="Microsoft YaHei"/>
              </a:rPr>
              <a:t>尺度参数计算</a:t>
            </a:r>
          </a:p>
        </p:txBody>
      </p:sp>
      <p:sp>
        <p:nvSpPr>
          <p:cNvPr id="42" name="main.eta-note">
            <a:extLst>
              <a:ext uri="{FF2B5EF4-FFF2-40B4-BE49-F238E27FC236}">
                <a16:creationId xmlns:a16="http://schemas.microsoft.com/office/drawing/2014/main" id="{9BAFD1F1-4610-41BB-BA12-8A253787B94A}"/>
              </a:ext>
            </a:extLst>
          </p:cNvPr>
          <p:cNvSpPr>
            <a:spLocks noGrp="1"/>
          </p:cNvSpPr>
          <p:nvPr/>
        </p:nvSpPr>
        <p:spPr>
          <a:xfrm>
            <a:off x="13658850" y="7353300"/>
            <a:ext cx="3714750" cy="323850"/>
          </a:xfrm>
          <a:prstGeom prst="rect">
            <a:avLst/>
          </a:prstGeom>
          <a:noFill/>
          <a:ln w="12383">
            <a:noFill/>
            <a:prstDash val="solid"/>
          </a:ln>
        </p:spPr>
        <p:txBody>
          <a:bodyPr wrap="none" lIns="0" tIns="0" rIns="0" bIns="0" anchor="ctr">
            <a:noAutofit/>
          </a:bodyPr>
          <a:lstStyle/>
          <a:p>
            <a:pPr algn="ctr">
              <a:defRPr sz="1650" b="0">
                <a:solidFill>
                  <a:srgbClr val="263238"/>
                </a:solidFill>
                <a:latin typeface="Microsoft YaHei"/>
                <a:ea typeface="Microsoft YaHei"/>
                <a:cs typeface="Microsoft YaHei"/>
              </a:defRPr>
            </a:pPr>
            <a:r>
              <a:rPr sz="1650" b="0">
                <a:solidFill>
                  <a:srgbClr val="263238"/>
                </a:solidFill>
                <a:latin typeface="Microsoft YaHei"/>
                <a:ea typeface="Microsoft YaHei"/>
                <a:cs typeface="Microsoft YaHei"/>
              </a:rPr>
              <a:t>取对应伪尺度的均值</a:t>
            </a:r>
          </a:p>
        </p:txBody>
      </p:sp>
      <p:sp>
        <p:nvSpPr>
          <p:cNvPr id="43" name="output.boundary">
            <a:extLst>
              <a:ext uri="{FF2B5EF4-FFF2-40B4-BE49-F238E27FC236}">
                <a16:creationId xmlns:a16="http://schemas.microsoft.com/office/drawing/2014/main" id="{A483985C-C769-4DE7-AD4B-42A2CC5365F8}"/>
              </a:ext>
            </a:extLst>
          </p:cNvPr>
          <p:cNvSpPr>
            <a:spLocks noGrp="1"/>
          </p:cNvSpPr>
          <p:nvPr/>
        </p:nvSpPr>
        <p:spPr>
          <a:xfrm>
            <a:off x="18573750" y="4286250"/>
            <a:ext cx="3429000" cy="4286250"/>
          </a:xfrm>
          <a:prstGeom prst="rect">
            <a:avLst/>
          </a:prstGeom>
          <a:noFill/>
          <a:ln w="12383">
            <a:solidFill>
              <a:srgbClr val="CFA582"/>
            </a:solidFill>
            <a:prstDash val="dash"/>
          </a:ln>
        </p:spPr>
      </p:sp>
      <p:sp>
        <p:nvSpPr>
          <p:cNvPr id="44" name="output.header">
            <a:extLst>
              <a:ext uri="{FF2B5EF4-FFF2-40B4-BE49-F238E27FC236}">
                <a16:creationId xmlns:a16="http://schemas.microsoft.com/office/drawing/2014/main" id="{839050BA-FDF9-43AF-AEFA-F3A89EA3633C}"/>
              </a:ext>
            </a:extLst>
          </p:cNvPr>
          <p:cNvSpPr>
            <a:spLocks noGrp="1"/>
          </p:cNvSpPr>
          <p:nvPr/>
        </p:nvSpPr>
        <p:spPr>
          <a:xfrm>
            <a:off x="18573750" y="4286250"/>
            <a:ext cx="3429000" cy="400050"/>
          </a:xfrm>
          <a:prstGeom prst="rect">
            <a:avLst/>
          </a:prstGeom>
          <a:solidFill>
            <a:srgbClr val="FAEAD9"/>
          </a:solidFill>
          <a:ln w="12383">
            <a:noFill/>
            <a:prstDash val="solid"/>
          </a:ln>
        </p:spPr>
      </p:sp>
      <p:sp>
        <p:nvSpPr>
          <p:cNvPr id="45" name="output.title">
            <a:extLst>
              <a:ext uri="{FF2B5EF4-FFF2-40B4-BE49-F238E27FC236}">
                <a16:creationId xmlns:a16="http://schemas.microsoft.com/office/drawing/2014/main" id="{65C4CC62-66D5-483C-ABFA-0CE466104304}"/>
              </a:ext>
            </a:extLst>
          </p:cNvPr>
          <p:cNvSpPr>
            <a:spLocks noGrp="1"/>
          </p:cNvSpPr>
          <p:nvPr/>
        </p:nvSpPr>
        <p:spPr>
          <a:xfrm>
            <a:off x="18669000" y="4305300"/>
            <a:ext cx="3238500" cy="361950"/>
          </a:xfrm>
          <a:prstGeom prst="rect">
            <a:avLst/>
          </a:prstGeom>
          <a:noFill/>
          <a:ln w="12383">
            <a:noFill/>
            <a:prstDash val="solid"/>
          </a:ln>
        </p:spPr>
        <p:txBody>
          <a:bodyPr wrap="none" lIns="0" tIns="0" rIns="0" bIns="0" anchor="ctr">
            <a:noAutofit/>
          </a:bodyPr>
          <a:lstStyle/>
          <a:p>
            <a:pPr algn="ctr">
              <a:defRPr sz="1800" b="1">
                <a:solidFill>
                  <a:srgbClr val="263238"/>
                </a:solidFill>
                <a:latin typeface="Microsoft YaHei"/>
                <a:ea typeface="Microsoft YaHei"/>
                <a:cs typeface="Microsoft YaHei"/>
              </a:defRPr>
            </a:pPr>
            <a:r>
              <a:rPr sz="1800" b="1">
                <a:solidFill>
                  <a:srgbClr val="263238"/>
                </a:solidFill>
                <a:latin typeface="Microsoft YaHei"/>
                <a:ea typeface="Microsoft YaHei"/>
                <a:cs typeface="Microsoft YaHei"/>
              </a:rPr>
              <a:t>AMDM估计结果</a:t>
            </a:r>
          </a:p>
        </p:txBody>
      </p:sp>
      <p:sp>
        <p:nvSpPr>
          <p:cNvPr id="46" name="flow.shared-input">
            <a:extLst>
              <a:ext uri="{FF2B5EF4-FFF2-40B4-BE49-F238E27FC236}">
                <a16:creationId xmlns:a16="http://schemas.microsoft.com/office/drawing/2014/main" id="{75684B80-3F01-4380-AAE5-1A256F6AED40}"/>
              </a:ext>
            </a:extLst>
          </p:cNvPr>
          <p:cNvSpPr>
            <a:spLocks noGrp="1"/>
          </p:cNvSpPr>
          <p:nvPr/>
        </p:nvSpPr>
        <p:spPr>
          <a:xfrm>
            <a:off x="3143250" y="6429375"/>
            <a:ext cx="619125" cy="953"/>
          </a:xfrm>
          <a:custGeom>
            <a:avLst/>
            <a:gdLst/>
            <a:ahLst/>
            <a:cxnLst/>
            <a:rect l="0" t="0" r="0" b="0"/>
            <a:pathLst>
              <a:path w="619125" h="953">
                <a:moveTo>
                  <a:pt x="0" y="0"/>
                </a:moveTo>
                <a:lnTo>
                  <a:pt x="619125" y="0"/>
                </a:lnTo>
              </a:path>
            </a:pathLst>
          </a:custGeom>
          <a:noFill/>
          <a:ln w="15240">
            <a:solidFill>
              <a:srgbClr val="82878C"/>
            </a:solidFill>
            <a:prstDash val="solid"/>
          </a:ln>
        </p:spPr>
      </p:sp>
      <p:sp>
        <p:nvSpPr>
          <p:cNvPr id="47" name="flow.junction">
            <a:extLst>
              <a:ext uri="{FF2B5EF4-FFF2-40B4-BE49-F238E27FC236}">
                <a16:creationId xmlns:a16="http://schemas.microsoft.com/office/drawing/2014/main" id="{7832177A-E54E-4845-9731-DFFAF86CAC86}"/>
              </a:ext>
            </a:extLst>
          </p:cNvPr>
          <p:cNvSpPr>
            <a:spLocks noGrp="1"/>
          </p:cNvSpPr>
          <p:nvPr/>
        </p:nvSpPr>
        <p:spPr>
          <a:xfrm>
            <a:off x="3724275" y="6391275"/>
            <a:ext cx="76200" cy="76200"/>
          </a:xfrm>
          <a:prstGeom prst="ellipse">
            <a:avLst/>
          </a:prstGeom>
          <a:solidFill>
            <a:srgbClr val="82878C"/>
          </a:solidFill>
          <a:ln w="9525">
            <a:solidFill>
              <a:srgbClr val="FFFFFF"/>
            </a:solidFill>
          </a:ln>
        </p:spPr>
      </p:sp>
      <p:sp>
        <p:nvSpPr>
          <p:cNvPr id="48" name="flow.sample-to-mdm">
            <a:extLst>
              <a:ext uri="{FF2B5EF4-FFF2-40B4-BE49-F238E27FC236}">
                <a16:creationId xmlns:a16="http://schemas.microsoft.com/office/drawing/2014/main" id="{CE39EE64-95A3-4A52-905F-778571271EE9}"/>
              </a:ext>
            </a:extLst>
          </p:cNvPr>
          <p:cNvSpPr>
            <a:spLocks noGrp="1"/>
          </p:cNvSpPr>
          <p:nvPr/>
        </p:nvSpPr>
        <p:spPr>
          <a:xfrm>
            <a:off x="3762375" y="6429375"/>
            <a:ext cx="619125" cy="953"/>
          </a:xfrm>
          <a:custGeom>
            <a:avLst/>
            <a:gdLst/>
            <a:ahLst/>
            <a:cxnLst/>
            <a:rect l="0" t="0" r="0" b="0"/>
            <a:pathLst>
              <a:path w="619125" h="953">
                <a:moveTo>
                  <a:pt x="0" y="0"/>
                </a:moveTo>
                <a:lnTo>
                  <a:pt x="619125" y="0"/>
                </a:lnTo>
              </a:path>
            </a:pathLst>
          </a:custGeom>
          <a:noFill/>
          <a:ln w="15240">
            <a:solidFill>
              <a:srgbClr val="82878C"/>
            </a:solidFill>
            <a:prstDash val="solid"/>
          </a:ln>
        </p:spPr>
      </p:sp>
      <p:sp>
        <p:nvSpPr>
          <p:cNvPr id="49" name="flow.sample-to-mdm.head">
            <a:extLst>
              <a:ext uri="{FF2B5EF4-FFF2-40B4-BE49-F238E27FC236}">
                <a16:creationId xmlns:a16="http://schemas.microsoft.com/office/drawing/2014/main" id="{5B5DACAC-8A46-463F-8AF7-70FFFFE168B6}"/>
              </a:ext>
            </a:extLst>
          </p:cNvPr>
          <p:cNvSpPr>
            <a:spLocks noGrp="1"/>
          </p:cNvSpPr>
          <p:nvPr/>
        </p:nvSpPr>
        <p:spPr>
          <a:xfrm>
            <a:off x="4295732" y="6387945"/>
            <a:ext cx="85768" cy="82861"/>
          </a:xfrm>
          <a:custGeom>
            <a:avLst/>
            <a:gdLst/>
            <a:ahLst/>
            <a:cxnLst/>
            <a:rect l="0" t="0" r="0" b="0"/>
            <a:pathLst>
              <a:path w="85768" h="82861">
                <a:moveTo>
                  <a:pt x="0" y="82861"/>
                </a:moveTo>
                <a:lnTo>
                  <a:pt x="85768" y="41430"/>
                </a:lnTo>
                <a:lnTo>
                  <a:pt x="0" y="0"/>
                </a:lnTo>
              </a:path>
            </a:pathLst>
          </a:custGeom>
          <a:noFill/>
          <a:ln w="15240">
            <a:solidFill>
              <a:srgbClr val="82878C"/>
            </a:solidFill>
            <a:prstDash val="solid"/>
          </a:ln>
        </p:spPr>
      </p:sp>
      <p:sp>
        <p:nvSpPr>
          <p:cNvPr id="50" name="flow.sample-to-adapt">
            <a:extLst>
              <a:ext uri="{FF2B5EF4-FFF2-40B4-BE49-F238E27FC236}">
                <a16:creationId xmlns:a16="http://schemas.microsoft.com/office/drawing/2014/main" id="{91EA0729-58B0-4181-A502-B341595B8C52}"/>
              </a:ext>
            </a:extLst>
          </p:cNvPr>
          <p:cNvSpPr>
            <a:spLocks noGrp="1"/>
          </p:cNvSpPr>
          <p:nvPr/>
        </p:nvSpPr>
        <p:spPr>
          <a:xfrm>
            <a:off x="3762375" y="2009775"/>
            <a:ext cx="619125" cy="4419600"/>
          </a:xfrm>
          <a:custGeom>
            <a:avLst/>
            <a:gdLst/>
            <a:ahLst/>
            <a:cxnLst/>
            <a:rect l="0" t="0" r="0" b="0"/>
            <a:pathLst>
              <a:path w="619125" h="4419600">
                <a:moveTo>
                  <a:pt x="0" y="4419600"/>
                </a:moveTo>
                <a:lnTo>
                  <a:pt x="0" y="0"/>
                </a:lnTo>
                <a:lnTo>
                  <a:pt x="619125" y="0"/>
                </a:lnTo>
              </a:path>
            </a:pathLst>
          </a:custGeom>
          <a:noFill/>
          <a:ln w="15240">
            <a:solidFill>
              <a:srgbClr val="147AAA"/>
            </a:solidFill>
            <a:prstDash val="solid"/>
          </a:ln>
        </p:spPr>
      </p:sp>
      <p:sp>
        <p:nvSpPr>
          <p:cNvPr id="51" name="flow.sample-to-adapt.head">
            <a:extLst>
              <a:ext uri="{FF2B5EF4-FFF2-40B4-BE49-F238E27FC236}">
                <a16:creationId xmlns:a16="http://schemas.microsoft.com/office/drawing/2014/main" id="{52DC5173-5685-4BAC-B8A3-04DDF03F7779}"/>
              </a:ext>
            </a:extLst>
          </p:cNvPr>
          <p:cNvSpPr>
            <a:spLocks noGrp="1"/>
          </p:cNvSpPr>
          <p:nvPr/>
        </p:nvSpPr>
        <p:spPr>
          <a:xfrm>
            <a:off x="4295732" y="1968345"/>
            <a:ext cx="85768" cy="82861"/>
          </a:xfrm>
          <a:custGeom>
            <a:avLst/>
            <a:gdLst/>
            <a:ahLst/>
            <a:cxnLst/>
            <a:rect l="0" t="0" r="0" b="0"/>
            <a:pathLst>
              <a:path w="85768" h="82861">
                <a:moveTo>
                  <a:pt x="0" y="82861"/>
                </a:moveTo>
                <a:lnTo>
                  <a:pt x="85768" y="41430"/>
                </a:lnTo>
                <a:lnTo>
                  <a:pt x="0" y="0"/>
                </a:lnTo>
              </a:path>
            </a:pathLst>
          </a:custGeom>
          <a:noFill/>
          <a:ln w="15240">
            <a:solidFill>
              <a:srgbClr val="147AAA"/>
            </a:solidFill>
            <a:prstDash val="solid"/>
          </a:ln>
        </p:spPr>
      </p:sp>
      <p:sp>
        <p:nvSpPr>
          <p:cNvPr id="52" name="flow.adaptive-offset">
            <a:extLst>
              <a:ext uri="{FF2B5EF4-FFF2-40B4-BE49-F238E27FC236}">
                <a16:creationId xmlns:a16="http://schemas.microsoft.com/office/drawing/2014/main" id="{DDE566A5-D781-4060-8F7E-93DCB486A34C}"/>
              </a:ext>
            </a:extLst>
          </p:cNvPr>
          <p:cNvSpPr>
            <a:spLocks noGrp="1"/>
          </p:cNvSpPr>
          <p:nvPr/>
        </p:nvSpPr>
        <p:spPr>
          <a:xfrm>
            <a:off x="6619875" y="3238500"/>
            <a:ext cx="8953500" cy="2000250"/>
          </a:xfrm>
          <a:custGeom>
            <a:avLst/>
            <a:gdLst/>
            <a:ahLst/>
            <a:cxnLst/>
            <a:rect l="0" t="0" r="0" b="0"/>
            <a:pathLst>
              <a:path w="8953500" h="2000250">
                <a:moveTo>
                  <a:pt x="8953500" y="0"/>
                </a:moveTo>
                <a:lnTo>
                  <a:pt x="8953500" y="504825"/>
                </a:lnTo>
                <a:lnTo>
                  <a:pt x="0" y="504825"/>
                </a:lnTo>
                <a:lnTo>
                  <a:pt x="0" y="2000250"/>
                </a:lnTo>
              </a:path>
            </a:pathLst>
          </a:custGeom>
          <a:noFill/>
          <a:ln w="15240">
            <a:solidFill>
              <a:srgbClr val="147AAA"/>
            </a:solidFill>
            <a:prstDash val="solid"/>
          </a:ln>
        </p:spPr>
      </p:sp>
      <p:sp>
        <p:nvSpPr>
          <p:cNvPr id="53" name="flow.adaptive-offset.head">
            <a:extLst>
              <a:ext uri="{FF2B5EF4-FFF2-40B4-BE49-F238E27FC236}">
                <a16:creationId xmlns:a16="http://schemas.microsoft.com/office/drawing/2014/main" id="{65113347-B3CD-4E68-BF92-5A6851294671}"/>
              </a:ext>
            </a:extLst>
          </p:cNvPr>
          <p:cNvSpPr>
            <a:spLocks noGrp="1"/>
          </p:cNvSpPr>
          <p:nvPr/>
        </p:nvSpPr>
        <p:spPr>
          <a:xfrm>
            <a:off x="6578445" y="5152982"/>
            <a:ext cx="82861" cy="85768"/>
          </a:xfrm>
          <a:custGeom>
            <a:avLst/>
            <a:gdLst/>
            <a:ahLst/>
            <a:cxnLst/>
            <a:rect l="0" t="0" r="0" b="0"/>
            <a:pathLst>
              <a:path w="82861" h="85768">
                <a:moveTo>
                  <a:pt x="0" y="0"/>
                </a:moveTo>
                <a:lnTo>
                  <a:pt x="41430" y="85768"/>
                </a:lnTo>
                <a:lnTo>
                  <a:pt x="82861" y="0"/>
                </a:lnTo>
              </a:path>
            </a:pathLst>
          </a:custGeom>
          <a:noFill/>
          <a:ln w="15240">
            <a:solidFill>
              <a:srgbClr val="147AAA"/>
            </a:solidFill>
            <a:prstDash val="solid"/>
          </a:ln>
        </p:spPr>
      </p:sp>
      <p:sp>
        <p:nvSpPr>
          <p:cNvPr id="54" name="flow.offset-label">
            <a:extLst>
              <a:ext uri="{FF2B5EF4-FFF2-40B4-BE49-F238E27FC236}">
                <a16:creationId xmlns:a16="http://schemas.microsoft.com/office/drawing/2014/main" id="{313ABF5C-011F-4087-99B7-399A32030DE5}"/>
              </a:ext>
            </a:extLst>
          </p:cNvPr>
          <p:cNvSpPr>
            <a:spLocks noGrp="1"/>
          </p:cNvSpPr>
          <p:nvPr/>
        </p:nvSpPr>
        <p:spPr>
          <a:xfrm>
            <a:off x="9191625" y="3333750"/>
            <a:ext cx="3714750" cy="304800"/>
          </a:xfrm>
          <a:prstGeom prst="rect">
            <a:avLst/>
          </a:prstGeom>
          <a:noFill/>
          <a:ln w="12383">
            <a:noFill/>
            <a:prstDash val="solid"/>
          </a:ln>
        </p:spPr>
        <p:txBody>
          <a:bodyPr wrap="none" lIns="0" tIns="0" rIns="0" bIns="0" anchor="ctr">
            <a:noAutofit/>
          </a:bodyPr>
          <a:lstStyle/>
          <a:p>
            <a:pPr algn="ctr">
              <a:defRPr sz="1725" b="0">
                <a:solidFill>
                  <a:srgbClr val="147AAA"/>
                </a:solidFill>
                <a:latin typeface="Microsoft YaHei"/>
                <a:ea typeface="Microsoft YaHei"/>
                <a:cs typeface="Microsoft YaHei"/>
              </a:defRPr>
            </a:pPr>
            <a:r>
              <a:rPr sz="1725" b="0">
                <a:solidFill>
                  <a:srgbClr val="147AAA"/>
                </a:solidFill>
                <a:latin typeface="Microsoft YaHei"/>
                <a:ea typeface="Microsoft YaHei"/>
                <a:cs typeface="Microsoft YaHei"/>
              </a:rPr>
              <a:t>所选偏移用于位置求解</a:t>
            </a:r>
          </a:p>
        </p:txBody>
      </p:sp>
      <p:sp>
        <p:nvSpPr>
          <p:cNvPr id="55" name="flow.result">
            <a:extLst>
              <a:ext uri="{FF2B5EF4-FFF2-40B4-BE49-F238E27FC236}">
                <a16:creationId xmlns:a16="http://schemas.microsoft.com/office/drawing/2014/main" id="{423852DF-656C-4774-9BBB-770BB248C397}"/>
              </a:ext>
            </a:extLst>
          </p:cNvPr>
          <p:cNvSpPr>
            <a:spLocks noGrp="1"/>
          </p:cNvSpPr>
          <p:nvPr/>
        </p:nvSpPr>
        <p:spPr>
          <a:xfrm>
            <a:off x="17621250" y="6353175"/>
            <a:ext cx="952500" cy="953"/>
          </a:xfrm>
          <a:custGeom>
            <a:avLst/>
            <a:gdLst/>
            <a:ahLst/>
            <a:cxnLst/>
            <a:rect l="0" t="0" r="0" b="0"/>
            <a:pathLst>
              <a:path w="952500" h="953">
                <a:moveTo>
                  <a:pt x="0" y="0"/>
                </a:moveTo>
                <a:lnTo>
                  <a:pt x="952500" y="0"/>
                </a:lnTo>
              </a:path>
            </a:pathLst>
          </a:custGeom>
          <a:noFill/>
          <a:ln w="15240">
            <a:solidFill>
              <a:srgbClr val="82878C"/>
            </a:solidFill>
            <a:prstDash val="solid"/>
          </a:ln>
        </p:spPr>
      </p:sp>
      <p:sp>
        <p:nvSpPr>
          <p:cNvPr id="56" name="flow.result.head">
            <a:extLst>
              <a:ext uri="{FF2B5EF4-FFF2-40B4-BE49-F238E27FC236}">
                <a16:creationId xmlns:a16="http://schemas.microsoft.com/office/drawing/2014/main" id="{01ED1772-6F85-4448-B8EA-88D4298285EF}"/>
              </a:ext>
            </a:extLst>
          </p:cNvPr>
          <p:cNvSpPr>
            <a:spLocks noGrp="1"/>
          </p:cNvSpPr>
          <p:nvPr/>
        </p:nvSpPr>
        <p:spPr>
          <a:xfrm>
            <a:off x="18487982" y="6311745"/>
            <a:ext cx="85768" cy="82861"/>
          </a:xfrm>
          <a:custGeom>
            <a:avLst/>
            <a:gdLst/>
            <a:ahLst/>
            <a:cxnLst/>
            <a:rect l="0" t="0" r="0" b="0"/>
            <a:pathLst>
              <a:path w="85768" h="82861">
                <a:moveTo>
                  <a:pt x="0" y="82861"/>
                </a:moveTo>
                <a:lnTo>
                  <a:pt x="85768" y="41430"/>
                </a:lnTo>
                <a:lnTo>
                  <a:pt x="0" y="0"/>
                </a:lnTo>
              </a:path>
            </a:pathLst>
          </a:custGeom>
          <a:noFill/>
          <a:ln w="15240">
            <a:solidFill>
              <a:srgbClr val="82878C"/>
            </a:solidFill>
            <a:prstDash val="solid"/>
          </a:ln>
        </p:spPr>
      </p:sp>
      <p:graphicFrame>
        <p:nvGraphicFramePr>
          <p:cNvPr id="58" name="MathType.input.sample-vector">
            <a:extLst>
              <a:ext uri="{FF2B5EF4-FFF2-40B4-BE49-F238E27FC236}">
                <a16:creationId xmlns:a16="http://schemas.microsoft.com/office/drawing/2014/main" id="{4C1FB366-4CE7-B8EE-2EAE-CDF7F9C9BE73}"/>
              </a:ext>
            </a:extLst>
          </p:cNvPr>
          <p:cNvGraphicFramePr>
            <a:graphicFrameLocks noChangeAspect="1"/>
          </p:cNvGraphicFramePr>
          <p:nvPr>
            <p:extLst>
              <p:ext uri="{D42A27DB-BD31-4B8C-83A1-F6EECF244321}">
                <p14:modId xmlns:p14="http://schemas.microsoft.com/office/powerpoint/2010/main" val="93962669"/>
              </p:ext>
            </p:extLst>
          </p:nvPr>
        </p:nvGraphicFramePr>
        <p:xfrm>
          <a:off x="781050" y="6388099"/>
          <a:ext cx="1866900" cy="444502"/>
        </p:xfrm>
        <a:graphic>
          <a:graphicData uri="http://schemas.openxmlformats.org/presentationml/2006/ole">
            <mc:AlternateContent xmlns:mc="http://schemas.openxmlformats.org/markup-compatibility/2006">
              <mc:Choice xmlns:v="urn:schemas-microsoft-com:vml" Requires="v">
                <p:oleObj name="Equation" r:id="rId3" imgW="1066680" imgH="253800" progId="Equation.DSMT4">
                  <p:embed/>
                </p:oleObj>
              </mc:Choice>
              <mc:Fallback>
                <p:oleObj name="Equation" r:id="rId3" imgW="1066680" imgH="253800" progId="Equation.DSMT4">
                  <p:embed/>
                  <p:pic>
                    <p:nvPicPr>
                      <p:cNvPr id="0" name=""/>
                      <p:cNvPicPr/>
                      <p:nvPr/>
                    </p:nvPicPr>
                    <p:blipFill>
                      <a:blip r:embed="rId4"/>
                      <a:stretch>
                        <a:fillRect/>
                      </a:stretch>
                    </p:blipFill>
                    <p:spPr>
                      <a:xfrm>
                        <a:off x="781050" y="6388099"/>
                        <a:ext cx="1866900" cy="444502"/>
                      </a:xfrm>
                      <a:prstGeom prst="rect">
                        <a:avLst/>
                      </a:prstGeom>
                    </p:spPr>
                  </p:pic>
                </p:oleObj>
              </mc:Fallback>
            </mc:AlternateContent>
          </a:graphicData>
        </a:graphic>
      </p:graphicFrame>
      <p:graphicFrame>
        <p:nvGraphicFramePr>
          <p:cNvPr id="59" name="MathType.adapt.normalized">
            <a:extLst>
              <a:ext uri="{FF2B5EF4-FFF2-40B4-BE49-F238E27FC236}">
                <a16:creationId xmlns:a16="http://schemas.microsoft.com/office/drawing/2014/main" id="{2E6AF2A4-6E37-CCAE-F3E8-1954CC329F2C}"/>
              </a:ext>
            </a:extLst>
          </p:cNvPr>
          <p:cNvGraphicFramePr>
            <a:graphicFrameLocks noChangeAspect="1"/>
          </p:cNvGraphicFramePr>
          <p:nvPr>
            <p:extLst>
              <p:ext uri="{D42A27DB-BD31-4B8C-83A1-F6EECF244321}">
                <p14:modId xmlns:p14="http://schemas.microsoft.com/office/powerpoint/2010/main" val="3444198291"/>
              </p:ext>
            </p:extLst>
          </p:nvPr>
        </p:nvGraphicFramePr>
        <p:xfrm>
          <a:off x="5774531" y="2162174"/>
          <a:ext cx="1214438" cy="428627"/>
        </p:xfrm>
        <a:graphic>
          <a:graphicData uri="http://schemas.openxmlformats.org/presentationml/2006/ole">
            <mc:AlternateContent xmlns:mc="http://schemas.openxmlformats.org/markup-compatibility/2006">
              <mc:Choice xmlns:v="urn:schemas-microsoft-com:vml" Requires="v">
                <p:oleObj name="Equation" r:id="rId5" imgW="647640" imgH="228600" progId="Equation.DSMT4">
                  <p:embed/>
                </p:oleObj>
              </mc:Choice>
              <mc:Fallback>
                <p:oleObj name="Equation" r:id="rId5" imgW="647640" imgH="228600" progId="Equation.DSMT4">
                  <p:embed/>
                  <p:pic>
                    <p:nvPicPr>
                      <p:cNvPr id="0" name=""/>
                      <p:cNvPicPr/>
                      <p:nvPr/>
                    </p:nvPicPr>
                    <p:blipFill>
                      <a:blip r:embed="rId6"/>
                      <a:stretch>
                        <a:fillRect/>
                      </a:stretch>
                    </p:blipFill>
                    <p:spPr>
                      <a:xfrm>
                        <a:off x="5774531" y="2162174"/>
                        <a:ext cx="1214438" cy="428627"/>
                      </a:xfrm>
                      <a:prstGeom prst="rect">
                        <a:avLst/>
                      </a:prstGeom>
                    </p:spPr>
                  </p:pic>
                </p:oleObj>
              </mc:Fallback>
            </mc:AlternateContent>
          </a:graphicData>
        </a:graphic>
      </p:graphicFrame>
      <p:graphicFrame>
        <p:nvGraphicFramePr>
          <p:cNvPr id="60" name="MathType.adapt.model">
            <a:extLst>
              <a:ext uri="{FF2B5EF4-FFF2-40B4-BE49-F238E27FC236}">
                <a16:creationId xmlns:a16="http://schemas.microsoft.com/office/drawing/2014/main" id="{A15D08EB-1493-8394-C104-EB37735DAA16}"/>
              </a:ext>
            </a:extLst>
          </p:cNvPr>
          <p:cNvGraphicFramePr>
            <a:graphicFrameLocks noChangeAspect="1"/>
          </p:cNvGraphicFramePr>
          <p:nvPr>
            <p:extLst>
              <p:ext uri="{D42A27DB-BD31-4B8C-83A1-F6EECF244321}">
                <p14:modId xmlns:p14="http://schemas.microsoft.com/office/powerpoint/2010/main" val="3806668584"/>
              </p:ext>
            </p:extLst>
          </p:nvPr>
        </p:nvGraphicFramePr>
        <p:xfrm>
          <a:off x="10525125" y="1754980"/>
          <a:ext cx="904875" cy="452439"/>
        </p:xfrm>
        <a:graphic>
          <a:graphicData uri="http://schemas.openxmlformats.org/presentationml/2006/ole">
            <mc:AlternateContent xmlns:mc="http://schemas.openxmlformats.org/markup-compatibility/2006">
              <mc:Choice xmlns:v="urn:schemas-microsoft-com:vml" Requires="v">
                <p:oleObj name="Equation" r:id="rId7" imgW="482400" imgH="241200" progId="Equation.DSMT4">
                  <p:embed/>
                </p:oleObj>
              </mc:Choice>
              <mc:Fallback>
                <p:oleObj name="Equation" r:id="rId7" imgW="482400" imgH="241200" progId="Equation.DSMT4">
                  <p:embed/>
                  <p:pic>
                    <p:nvPicPr>
                      <p:cNvPr id="0" name=""/>
                      <p:cNvPicPr/>
                      <p:nvPr/>
                    </p:nvPicPr>
                    <p:blipFill>
                      <a:blip r:embed="rId8"/>
                      <a:stretch>
                        <a:fillRect/>
                      </a:stretch>
                    </p:blipFill>
                    <p:spPr>
                      <a:xfrm>
                        <a:off x="10525125" y="1754980"/>
                        <a:ext cx="904875" cy="452439"/>
                      </a:xfrm>
                      <a:prstGeom prst="rect">
                        <a:avLst/>
                      </a:prstGeom>
                    </p:spPr>
                  </p:pic>
                </p:oleObj>
              </mc:Fallback>
            </mc:AlternateContent>
          </a:graphicData>
        </a:graphic>
      </p:graphicFrame>
      <p:graphicFrame>
        <p:nvGraphicFramePr>
          <p:cNvPr id="61" name="MathType.adapt.delta">
            <a:extLst>
              <a:ext uri="{FF2B5EF4-FFF2-40B4-BE49-F238E27FC236}">
                <a16:creationId xmlns:a16="http://schemas.microsoft.com/office/drawing/2014/main" id="{4005120F-41A1-1F58-3C95-28B56264DCC6}"/>
              </a:ext>
            </a:extLst>
          </p:cNvPr>
          <p:cNvGraphicFramePr>
            <a:graphicFrameLocks noChangeAspect="1"/>
          </p:cNvGraphicFramePr>
          <p:nvPr>
            <p:extLst>
              <p:ext uri="{D42A27DB-BD31-4B8C-83A1-F6EECF244321}">
                <p14:modId xmlns:p14="http://schemas.microsoft.com/office/powerpoint/2010/main" val="3866166943"/>
              </p:ext>
            </p:extLst>
          </p:nvPr>
        </p:nvGraphicFramePr>
        <p:xfrm>
          <a:off x="15182056" y="2078037"/>
          <a:ext cx="782638" cy="539752"/>
        </p:xfrm>
        <a:graphic>
          <a:graphicData uri="http://schemas.openxmlformats.org/presentationml/2006/ole">
            <mc:AlternateContent xmlns:mc="http://schemas.openxmlformats.org/markup-compatibility/2006">
              <mc:Choice xmlns:v="urn:schemas-microsoft-com:vml" Requires="v">
                <p:oleObj name="Equation" r:id="rId9" imgW="368280" imgH="253800" progId="Equation.DSMT4">
                  <p:embed/>
                </p:oleObj>
              </mc:Choice>
              <mc:Fallback>
                <p:oleObj name="Equation" r:id="rId9" imgW="368280" imgH="253800" progId="Equation.DSMT4">
                  <p:embed/>
                  <p:pic>
                    <p:nvPicPr>
                      <p:cNvPr id="0" name=""/>
                      <p:cNvPicPr/>
                      <p:nvPr/>
                    </p:nvPicPr>
                    <p:blipFill>
                      <a:blip r:embed="rId10"/>
                      <a:stretch>
                        <a:fillRect/>
                      </a:stretch>
                    </p:blipFill>
                    <p:spPr>
                      <a:xfrm>
                        <a:off x="15182056" y="2078037"/>
                        <a:ext cx="782638" cy="539752"/>
                      </a:xfrm>
                      <a:prstGeom prst="rect">
                        <a:avLst/>
                      </a:prstGeom>
                    </p:spPr>
                  </p:pic>
                </p:oleObj>
              </mc:Fallback>
            </mc:AlternateContent>
          </a:graphicData>
        </a:graphic>
      </p:graphicFrame>
      <p:graphicFrame>
        <p:nvGraphicFramePr>
          <p:cNvPr id="62" name="MathType.main.root">
            <a:extLst>
              <a:ext uri="{FF2B5EF4-FFF2-40B4-BE49-F238E27FC236}">
                <a16:creationId xmlns:a16="http://schemas.microsoft.com/office/drawing/2014/main" id="{E4AC7E43-051A-1B3B-EE05-17F5F1033AC2}"/>
              </a:ext>
            </a:extLst>
          </p:cNvPr>
          <p:cNvGraphicFramePr>
            <a:graphicFrameLocks noChangeAspect="1"/>
          </p:cNvGraphicFramePr>
          <p:nvPr>
            <p:extLst>
              <p:ext uri="{D42A27DB-BD31-4B8C-83A1-F6EECF244321}">
                <p14:modId xmlns:p14="http://schemas.microsoft.com/office/powerpoint/2010/main" val="945095166"/>
              </p:ext>
            </p:extLst>
          </p:nvPr>
        </p:nvGraphicFramePr>
        <p:xfrm>
          <a:off x="5832475" y="5983286"/>
          <a:ext cx="1574800" cy="492127"/>
        </p:xfrm>
        <a:graphic>
          <a:graphicData uri="http://schemas.openxmlformats.org/presentationml/2006/ole">
            <mc:AlternateContent xmlns:mc="http://schemas.openxmlformats.org/markup-compatibility/2006">
              <mc:Choice xmlns:v="urn:schemas-microsoft-com:vml" Requires="v">
                <p:oleObj name="Equation" r:id="rId11" imgW="812520" imgH="253800" progId="Equation.DSMT4">
                  <p:embed/>
                </p:oleObj>
              </mc:Choice>
              <mc:Fallback>
                <p:oleObj name="Equation" r:id="rId11" imgW="812520" imgH="253800" progId="Equation.DSMT4">
                  <p:embed/>
                  <p:pic>
                    <p:nvPicPr>
                      <p:cNvPr id="0" name=""/>
                      <p:cNvPicPr/>
                      <p:nvPr/>
                    </p:nvPicPr>
                    <p:blipFill>
                      <a:blip r:embed="rId12"/>
                      <a:stretch>
                        <a:fillRect/>
                      </a:stretch>
                    </p:blipFill>
                    <p:spPr>
                      <a:xfrm>
                        <a:off x="5832475" y="5983286"/>
                        <a:ext cx="1574800" cy="492127"/>
                      </a:xfrm>
                      <a:prstGeom prst="rect">
                        <a:avLst/>
                      </a:prstGeom>
                    </p:spPr>
                  </p:pic>
                </p:oleObj>
              </mc:Fallback>
            </mc:AlternateContent>
          </a:graphicData>
        </a:graphic>
      </p:graphicFrame>
      <p:graphicFrame>
        <p:nvGraphicFramePr>
          <p:cNvPr id="63" name="MathType.main.gradient">
            <a:extLst>
              <a:ext uri="{FF2B5EF4-FFF2-40B4-BE49-F238E27FC236}">
                <a16:creationId xmlns:a16="http://schemas.microsoft.com/office/drawing/2014/main" id="{8B5DD3BA-7DAF-6609-BBA7-396A6B299EDF}"/>
              </a:ext>
            </a:extLst>
          </p:cNvPr>
          <p:cNvGraphicFramePr>
            <a:graphicFrameLocks noChangeAspect="1"/>
          </p:cNvGraphicFramePr>
          <p:nvPr>
            <p:extLst>
              <p:ext uri="{D42A27DB-BD31-4B8C-83A1-F6EECF244321}">
                <p14:modId xmlns:p14="http://schemas.microsoft.com/office/powerpoint/2010/main" val="4290707804"/>
              </p:ext>
            </p:extLst>
          </p:nvPr>
        </p:nvGraphicFramePr>
        <p:xfrm>
          <a:off x="5651048" y="7534275"/>
          <a:ext cx="1937653" cy="762000"/>
        </p:xfrm>
        <a:graphic>
          <a:graphicData uri="http://schemas.openxmlformats.org/presentationml/2006/ole">
            <mc:AlternateContent xmlns:mc="http://schemas.openxmlformats.org/markup-compatibility/2006">
              <mc:Choice xmlns:v="urn:schemas-microsoft-com:vml" Requires="v">
                <p:oleObj name="Equation" r:id="rId13" imgW="1130040" imgH="444240" progId="Equation.DSMT4">
                  <p:embed/>
                </p:oleObj>
              </mc:Choice>
              <mc:Fallback>
                <p:oleObj name="Equation" r:id="rId13" imgW="1130040" imgH="444240" progId="Equation.DSMT4">
                  <p:embed/>
                  <p:pic>
                    <p:nvPicPr>
                      <p:cNvPr id="0" name=""/>
                      <p:cNvPicPr/>
                      <p:nvPr/>
                    </p:nvPicPr>
                    <p:blipFill>
                      <a:blip r:embed="rId14"/>
                      <a:stretch>
                        <a:fillRect/>
                      </a:stretch>
                    </p:blipFill>
                    <p:spPr>
                      <a:xfrm>
                        <a:off x="5651048" y="7534275"/>
                        <a:ext cx="1937653" cy="762000"/>
                      </a:xfrm>
                      <a:prstGeom prst="rect">
                        <a:avLst/>
                      </a:prstGeom>
                    </p:spPr>
                  </p:pic>
                </p:oleObj>
              </mc:Fallback>
            </mc:AlternateContent>
          </a:graphicData>
        </a:graphic>
      </p:graphicFrame>
      <p:graphicFrame>
        <p:nvGraphicFramePr>
          <p:cNvPr id="64" name="MathType.main.beta">
            <a:extLst>
              <a:ext uri="{FF2B5EF4-FFF2-40B4-BE49-F238E27FC236}">
                <a16:creationId xmlns:a16="http://schemas.microsoft.com/office/drawing/2014/main" id="{DCC88618-AF84-321A-25E4-3E5CD90E715F}"/>
              </a:ext>
            </a:extLst>
          </p:cNvPr>
          <p:cNvGraphicFramePr>
            <a:graphicFrameLocks noChangeAspect="1"/>
          </p:cNvGraphicFramePr>
          <p:nvPr>
            <p:extLst>
              <p:ext uri="{D42A27DB-BD31-4B8C-83A1-F6EECF244321}">
                <p14:modId xmlns:p14="http://schemas.microsoft.com/office/powerpoint/2010/main" val="2369068252"/>
              </p:ext>
            </p:extLst>
          </p:nvPr>
        </p:nvGraphicFramePr>
        <p:xfrm>
          <a:off x="9803606" y="6019799"/>
          <a:ext cx="2500313" cy="666752"/>
        </p:xfrm>
        <a:graphic>
          <a:graphicData uri="http://schemas.openxmlformats.org/presentationml/2006/ole">
            <mc:AlternateContent xmlns:mc="http://schemas.openxmlformats.org/markup-compatibility/2006">
              <mc:Choice xmlns:v="urn:schemas-microsoft-com:vml" Requires="v">
                <p:oleObj name="Equation" r:id="rId15" imgW="1333440" imgH="355320" progId="Equation.DSMT4">
                  <p:embed/>
                </p:oleObj>
              </mc:Choice>
              <mc:Fallback>
                <p:oleObj name="Equation" r:id="rId15" imgW="1333440" imgH="355320" progId="Equation.DSMT4">
                  <p:embed/>
                  <p:pic>
                    <p:nvPicPr>
                      <p:cNvPr id="0" name=""/>
                      <p:cNvPicPr/>
                      <p:nvPr/>
                    </p:nvPicPr>
                    <p:blipFill>
                      <a:blip r:embed="rId16"/>
                      <a:stretch>
                        <a:fillRect/>
                      </a:stretch>
                    </p:blipFill>
                    <p:spPr>
                      <a:xfrm>
                        <a:off x="9803606" y="6019799"/>
                        <a:ext cx="2500313" cy="666752"/>
                      </a:xfrm>
                      <a:prstGeom prst="rect">
                        <a:avLst/>
                      </a:prstGeom>
                    </p:spPr>
                  </p:pic>
                </p:oleObj>
              </mc:Fallback>
            </mc:AlternateContent>
          </a:graphicData>
        </a:graphic>
      </p:graphicFrame>
      <p:graphicFrame>
        <p:nvGraphicFramePr>
          <p:cNvPr id="65" name="MathType.main.eta">
            <a:extLst>
              <a:ext uri="{FF2B5EF4-FFF2-40B4-BE49-F238E27FC236}">
                <a16:creationId xmlns:a16="http://schemas.microsoft.com/office/drawing/2014/main" id="{2B842E92-A9AE-BD57-91C9-61B014247200}"/>
              </a:ext>
            </a:extLst>
          </p:cNvPr>
          <p:cNvGraphicFramePr>
            <a:graphicFrameLocks noChangeAspect="1"/>
          </p:cNvGraphicFramePr>
          <p:nvPr>
            <p:extLst>
              <p:ext uri="{D42A27DB-BD31-4B8C-83A1-F6EECF244321}">
                <p14:modId xmlns:p14="http://schemas.microsoft.com/office/powerpoint/2010/main" val="1998234957"/>
              </p:ext>
            </p:extLst>
          </p:nvPr>
        </p:nvGraphicFramePr>
        <p:xfrm>
          <a:off x="14516100" y="5948361"/>
          <a:ext cx="2000250" cy="809627"/>
        </p:xfrm>
        <a:graphic>
          <a:graphicData uri="http://schemas.openxmlformats.org/presentationml/2006/ole">
            <mc:AlternateContent xmlns:mc="http://schemas.openxmlformats.org/markup-compatibility/2006">
              <mc:Choice xmlns:v="urn:schemas-microsoft-com:vml" Requires="v">
                <p:oleObj name="Equation" r:id="rId17" imgW="1066680" imgH="431640" progId="Equation.DSMT4">
                  <p:embed/>
                </p:oleObj>
              </mc:Choice>
              <mc:Fallback>
                <p:oleObj name="Equation" r:id="rId17" imgW="1066680" imgH="431640" progId="Equation.DSMT4">
                  <p:embed/>
                  <p:pic>
                    <p:nvPicPr>
                      <p:cNvPr id="0" name=""/>
                      <p:cNvPicPr/>
                      <p:nvPr/>
                    </p:nvPicPr>
                    <p:blipFill>
                      <a:blip r:embed="rId18"/>
                      <a:stretch>
                        <a:fillRect/>
                      </a:stretch>
                    </p:blipFill>
                    <p:spPr>
                      <a:xfrm>
                        <a:off x="14516100" y="5948361"/>
                        <a:ext cx="2000250" cy="809627"/>
                      </a:xfrm>
                      <a:prstGeom prst="rect">
                        <a:avLst/>
                      </a:prstGeom>
                    </p:spPr>
                  </p:pic>
                </p:oleObj>
              </mc:Fallback>
            </mc:AlternateContent>
          </a:graphicData>
        </a:graphic>
      </p:graphicFrame>
      <p:graphicFrame>
        <p:nvGraphicFramePr>
          <p:cNvPr id="66" name="MathType.output.parameters">
            <a:extLst>
              <a:ext uri="{FF2B5EF4-FFF2-40B4-BE49-F238E27FC236}">
                <a16:creationId xmlns:a16="http://schemas.microsoft.com/office/drawing/2014/main" id="{B9FC9394-E79D-6FEA-D660-6408EABEE0F9}"/>
              </a:ext>
            </a:extLst>
          </p:cNvPr>
          <p:cNvGraphicFramePr>
            <a:graphicFrameLocks noChangeAspect="1"/>
          </p:cNvGraphicFramePr>
          <p:nvPr>
            <p:extLst>
              <p:ext uri="{D42A27DB-BD31-4B8C-83A1-F6EECF244321}">
                <p14:modId xmlns:p14="http://schemas.microsoft.com/office/powerpoint/2010/main" val="549108278"/>
              </p:ext>
            </p:extLst>
          </p:nvPr>
        </p:nvGraphicFramePr>
        <p:xfrm>
          <a:off x="19054763" y="6130924"/>
          <a:ext cx="2466975" cy="444502"/>
        </p:xfrm>
        <a:graphic>
          <a:graphicData uri="http://schemas.openxmlformats.org/presentationml/2006/ole">
            <mc:AlternateContent xmlns:mc="http://schemas.openxmlformats.org/markup-compatibility/2006">
              <mc:Choice xmlns:v="urn:schemas-microsoft-com:vml" Requires="v">
                <p:oleObj name="Equation" r:id="rId19" imgW="1409400" imgH="253800" progId="Equation.DSMT4">
                  <p:embed/>
                </p:oleObj>
              </mc:Choice>
              <mc:Fallback>
                <p:oleObj name="Equation" r:id="rId19" imgW="1409400" imgH="253800" progId="Equation.DSMT4">
                  <p:embed/>
                  <p:pic>
                    <p:nvPicPr>
                      <p:cNvPr id="0" name=""/>
                      <p:cNvPicPr/>
                      <p:nvPr/>
                    </p:nvPicPr>
                    <p:blipFill>
                      <a:blip r:embed="rId20"/>
                      <a:stretch>
                        <a:fillRect/>
                      </a:stretch>
                    </p:blipFill>
                    <p:spPr>
                      <a:xfrm>
                        <a:off x="19054763" y="6130924"/>
                        <a:ext cx="2466975" cy="444502"/>
                      </a:xfrm>
                      <a:prstGeom prst="rect">
                        <a:avLst/>
                      </a:prstGeom>
                    </p:spPr>
                  </p:pic>
                </p:oleObj>
              </mc:Fallback>
            </mc:AlternateContent>
          </a:graphicData>
        </a:graphic>
      </p:graphicFrame>
    </p:spTree>
    <p:extLst>
      <p:ext uri="{BB962C8B-B14F-4D97-AF65-F5344CB8AC3E}">
        <p14:creationId xmlns:p14="http://schemas.microsoft.com/office/powerpoint/2010/main" val="20721203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138</Words>
  <Application>Microsoft Office PowerPoint</Application>
  <DocSecurity>0</DocSecurity>
  <PresentationFormat>自定义</PresentationFormat>
  <Paragraphs>18</Paragraphs>
  <Slides>1</Slides>
  <Notes>1</Notes>
  <HiddenSlides>0</HiddenSlides>
  <MMClips>0</MMClips>
  <ScaleCrop>false</ScaleCrop>
  <HeadingPairs>
    <vt:vector size="8" baseType="variant">
      <vt:variant>
        <vt:lpstr>已用的字体</vt:lpstr>
      </vt:variant>
      <vt:variant>
        <vt:i4>2</vt:i4>
      </vt:variant>
      <vt:variant>
        <vt:lpstr>主题</vt:lpstr>
      </vt:variant>
      <vt:variant>
        <vt:i4>1</vt:i4>
      </vt:variant>
      <vt:variant>
        <vt:lpstr>嵌入 OLE 服务器</vt:lpstr>
      </vt:variant>
      <vt:variant>
        <vt:i4>1</vt:i4>
      </vt:variant>
      <vt:variant>
        <vt:lpstr>幻灯片标题</vt:lpstr>
      </vt:variant>
      <vt:variant>
        <vt:i4>1</vt:i4>
      </vt:variant>
    </vt:vector>
  </HeadingPairs>
  <TitlesOfParts>
    <vt:vector size="5" baseType="lpstr">
      <vt:lpstr>Microsoft YaHei</vt:lpstr>
      <vt:lpstr>Calibri</vt:lpstr>
      <vt:lpstr>ChatGPT</vt:lpstr>
      <vt:lpstr>MathType 7.0 Equation</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1</cp:revision>
  <dcterms:created xsi:type="dcterms:W3CDTF">2026-09-23T08:31:48Z</dcterms:created>
  <dcterms:modified xsi:type="dcterms:W3CDTF">2026-09-23T08:32:01Z</dcterms:modified>
</cp:coreProperties>
</file>