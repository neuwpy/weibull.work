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5810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。单样本</a:t>
            </a:r>
            <a:r>
              <a:rPr lang="en-US"/>
              <a:t>MDM</a:t>
            </a:r>
            <a:r>
              <a:rPr lang="zh-CN" altLang="en-US"/>
              <a:t>求解流程，零梯度判据。依据</a:t>
            </a:r>
            <a:r>
              <a:rPr lang="en-US"/>
              <a:t>MDM</a:t>
            </a:r>
            <a:r>
              <a:rPr lang="zh-CN" altLang="en-US"/>
              <a:t>原理重绘；来源 </a:t>
            </a:r>
            <a:r>
              <a:rPr lang="en-US"/>
              <a:t>DOI 10.1142/S0219455423500852、10.12068/j.issn.1005-3026.2025.20240194。</a:t>
            </a:r>
            <a:r>
              <a:rPr lang="zh-CN" altLang="en-US"/>
              <a:t>数据：</a:t>
            </a:r>
            <a:r>
              <a:rPr lang="en-US"/>
              <a:t>public/case-studies/mdm/verification-182-046/data.csv</a:t>
            </a:r>
            <a:r>
              <a:rPr lang="zh-CN" altLang="en-US"/>
              <a:t>中的</a:t>
            </a:r>
            <a:r>
              <a:rPr lang="en-US"/>
              <a:t>Sample-1-3，7</a:t>
            </a:r>
            <a:r>
              <a:rPr lang="zh-CN" altLang="en-US"/>
              <a:t>个排序观测。曲线为既有</a:t>
            </a:r>
            <a:r>
              <a:rPr lang="en-US"/>
              <a:t>F01 CSV</a:t>
            </a:r>
            <a:r>
              <a:rPr lang="zh-CN" altLang="en-US"/>
              <a:t>的真实轨迹，无新模拟。秩概率</a:t>
            </a:r>
            <a:r>
              <a:rPr lang="en-US" altLang="zh-CN"/>
              <a:t>(</a:t>
            </a:r>
            <a:r>
              <a:rPr lang="en-US"/>
              <a:t>i−0.3)/(n+0.4)，</a:t>
            </a:r>
            <a:r>
              <a:rPr lang="zh-CN" altLang="en-US"/>
              <a:t>标准差</a:t>
            </a:r>
            <a:r>
              <a:rPr lang="en-US"/>
              <a:t>ddof=1。</a:t>
            </a:r>
            <a:r>
              <a:rPr lang="zh-CN" altLang="en-US"/>
              <a:t>公式为可双击编辑的</a:t>
            </a:r>
            <a:r>
              <a:rPr lang="en-US"/>
              <a:t>MathType OLE</a:t>
            </a:r>
            <a:r>
              <a:rPr lang="zh-CN" altLang="en-US"/>
              <a:t>对象；曲线为可编辑自由曲线。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.main">
            <a:extLst>
              <a:ext uri="{FF2B5EF4-FFF2-40B4-BE49-F238E27FC236}">
                <a16:creationId xmlns:a16="http://schemas.microsoft.com/office/drawing/2014/main" id="{AE4668E0-704B-4CA1-90EA-F2F345D29E76}"/>
              </a:ext>
            </a:extLst>
          </p:cNvPr>
          <p:cNvSpPr>
            <a:spLocks noGrp="1"/>
          </p:cNvSpPr>
          <p:nvPr/>
        </p:nvSpPr>
        <p:spPr>
          <a:xfrm>
            <a:off x="381000" y="209550"/>
            <a:ext cx="21526500" cy="4572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单样本 MDM：由最小差异准则确定三个参数</a:t>
            </a:r>
          </a:p>
        </p:txBody>
      </p:sp>
      <p:sp>
        <p:nvSpPr>
          <p:cNvPr id="2" name="criterion.boundary">
            <a:extLst>
              <a:ext uri="{FF2B5EF4-FFF2-40B4-BE49-F238E27FC236}">
                <a16:creationId xmlns:a16="http://schemas.microsoft.com/office/drawing/2014/main" id="{ACF182C1-11C9-43F6-84BF-F1AA65D7D241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43865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3" name="criterion.header">
            <a:extLst>
              <a:ext uri="{FF2B5EF4-FFF2-40B4-BE49-F238E27FC236}">
                <a16:creationId xmlns:a16="http://schemas.microsoft.com/office/drawing/2014/main" id="{E40A8E79-BA94-4662-B8FB-99D31A71EED2}"/>
              </a:ext>
            </a:extLst>
          </p:cNvPr>
          <p:cNvSpPr>
            <a:spLocks noGrp="1"/>
          </p:cNvSpPr>
          <p:nvPr/>
        </p:nvSpPr>
        <p:spPr>
          <a:xfrm>
            <a:off x="381000" y="914400"/>
            <a:ext cx="4762500" cy="400050"/>
          </a:xfrm>
          <a:prstGeom prst="rect">
            <a:avLst/>
          </a:prstGeom>
          <a:solidFill>
            <a:srgbClr val="A8C0E5"/>
          </a:solidFill>
          <a:ln w="9525">
            <a:noFill/>
            <a:prstDash val="solid"/>
          </a:ln>
        </p:spPr>
      </p:sp>
      <p:sp>
        <p:nvSpPr>
          <p:cNvPr id="4" name="criterion.title">
            <a:extLst>
              <a:ext uri="{FF2B5EF4-FFF2-40B4-BE49-F238E27FC236}">
                <a16:creationId xmlns:a16="http://schemas.microsoft.com/office/drawing/2014/main" id="{97ECFFE6-39F3-45E9-B867-7A13D03D2679}"/>
              </a:ext>
            </a:extLst>
          </p:cNvPr>
          <p:cNvSpPr>
            <a:spLocks noGrp="1"/>
          </p:cNvSpPr>
          <p:nvPr/>
        </p:nvSpPr>
        <p:spPr>
          <a:xfrm>
            <a:off x="47625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5" name="criterion.input-region">
            <a:extLst>
              <a:ext uri="{FF2B5EF4-FFF2-40B4-BE49-F238E27FC236}">
                <a16:creationId xmlns:a16="http://schemas.microsoft.com/office/drawing/2014/main" id="{823BFEFF-6B9A-4D34-BA0B-CFB9E7453F12}"/>
              </a:ext>
            </a:extLst>
          </p:cNvPr>
          <p:cNvSpPr>
            <a:spLocks noGrp="1"/>
          </p:cNvSpPr>
          <p:nvPr/>
        </p:nvSpPr>
        <p:spPr>
          <a:xfrm>
            <a:off x="504825" y="1371600"/>
            <a:ext cx="4514850" cy="1304925"/>
          </a:xfrm>
          <a:prstGeom prst="rect">
            <a:avLst/>
          </a:prstGeom>
          <a:solidFill>
            <a:srgbClr val="F5F5F5"/>
          </a:solidFill>
          <a:ln w="9525">
            <a:noFill/>
            <a:prstDash val="solid"/>
          </a:ln>
        </p:spPr>
      </p:sp>
      <p:sp>
        <p:nvSpPr>
          <p:cNvPr id="6" name="criterion.input-label">
            <a:extLst>
              <a:ext uri="{FF2B5EF4-FFF2-40B4-BE49-F238E27FC236}">
                <a16:creationId xmlns:a16="http://schemas.microsoft.com/office/drawing/2014/main" id="{1085899E-86DB-4A1A-9C15-3FEBB1D2DC35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5240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7" name="criterion.sample-baseline">
            <a:extLst>
              <a:ext uri="{FF2B5EF4-FFF2-40B4-BE49-F238E27FC236}">
                <a16:creationId xmlns:a16="http://schemas.microsoft.com/office/drawing/2014/main" id="{47DB2A77-A2A4-4CEA-B967-9B4E75F92887}"/>
              </a:ext>
            </a:extLst>
          </p:cNvPr>
          <p:cNvSpPr>
            <a:spLocks noGrp="1"/>
          </p:cNvSpPr>
          <p:nvPr/>
        </p:nvSpPr>
        <p:spPr>
          <a:xfrm>
            <a:off x="657225" y="2133600"/>
            <a:ext cx="1743075" cy="953"/>
          </a:xfrm>
          <a:custGeom>
            <a:avLst/>
            <a:gdLst/>
            <a:ahLst/>
            <a:cxnLst/>
            <a:rect l="0" t="0" r="0" b="0"/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/>
          <a:ln w="9525">
            <a:solidFill>
              <a:srgbClr val="82878C"/>
            </a:solidFill>
            <a:prstDash val="solid"/>
          </a:ln>
        </p:spPr>
      </p:sp>
      <p:sp>
        <p:nvSpPr>
          <p:cNvPr id="8" name="criterion.sample-stem0">
            <a:extLst>
              <a:ext uri="{FF2B5EF4-FFF2-40B4-BE49-F238E27FC236}">
                <a16:creationId xmlns:a16="http://schemas.microsoft.com/office/drawing/2014/main" id="{D1175C92-0C80-4C36-96EC-63E85BEE7E5C}"/>
              </a:ext>
            </a:extLst>
          </p:cNvPr>
          <p:cNvSpPr>
            <a:spLocks noGrp="1"/>
          </p:cNvSpPr>
          <p:nvPr/>
        </p:nvSpPr>
        <p:spPr>
          <a:xfrm>
            <a:off x="841747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9" name="criterion.sample-dot0">
            <a:extLst>
              <a:ext uri="{FF2B5EF4-FFF2-40B4-BE49-F238E27FC236}">
                <a16:creationId xmlns:a16="http://schemas.microsoft.com/office/drawing/2014/main" id="{9ADE09C3-DE31-45BE-B2E0-60A37B1713C8}"/>
              </a:ext>
            </a:extLst>
          </p:cNvPr>
          <p:cNvSpPr>
            <a:spLocks noGrp="1"/>
          </p:cNvSpPr>
          <p:nvPr/>
        </p:nvSpPr>
        <p:spPr>
          <a:xfrm>
            <a:off x="808409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0" name="criterion.sample-stem1">
            <a:extLst>
              <a:ext uri="{FF2B5EF4-FFF2-40B4-BE49-F238E27FC236}">
                <a16:creationId xmlns:a16="http://schemas.microsoft.com/office/drawing/2014/main" id="{93F3F202-EB06-4DC4-9C96-9606F8FA5692}"/>
              </a:ext>
            </a:extLst>
          </p:cNvPr>
          <p:cNvSpPr>
            <a:spLocks noGrp="1"/>
          </p:cNvSpPr>
          <p:nvPr/>
        </p:nvSpPr>
        <p:spPr>
          <a:xfrm>
            <a:off x="874219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1" name="criterion.sample-dot1">
            <a:extLst>
              <a:ext uri="{FF2B5EF4-FFF2-40B4-BE49-F238E27FC236}">
                <a16:creationId xmlns:a16="http://schemas.microsoft.com/office/drawing/2014/main" id="{435D5579-7215-4566-8C4B-205CEB527A8B}"/>
              </a:ext>
            </a:extLst>
          </p:cNvPr>
          <p:cNvSpPr>
            <a:spLocks noGrp="1"/>
          </p:cNvSpPr>
          <p:nvPr/>
        </p:nvSpPr>
        <p:spPr>
          <a:xfrm>
            <a:off x="840881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2" name="criterion.sample-stem2">
            <a:extLst>
              <a:ext uri="{FF2B5EF4-FFF2-40B4-BE49-F238E27FC236}">
                <a16:creationId xmlns:a16="http://schemas.microsoft.com/office/drawing/2014/main" id="{A3112D32-BCDD-40FC-8A79-14AEE534A912}"/>
              </a:ext>
            </a:extLst>
          </p:cNvPr>
          <p:cNvSpPr>
            <a:spLocks noGrp="1"/>
          </p:cNvSpPr>
          <p:nvPr/>
        </p:nvSpPr>
        <p:spPr>
          <a:xfrm>
            <a:off x="125906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3" name="criterion.sample-dot2">
            <a:extLst>
              <a:ext uri="{FF2B5EF4-FFF2-40B4-BE49-F238E27FC236}">
                <a16:creationId xmlns:a16="http://schemas.microsoft.com/office/drawing/2014/main" id="{E1C75AA5-1191-483D-A787-FCCF7C32633D}"/>
              </a:ext>
            </a:extLst>
          </p:cNvPr>
          <p:cNvSpPr>
            <a:spLocks noGrp="1"/>
          </p:cNvSpPr>
          <p:nvPr/>
        </p:nvSpPr>
        <p:spPr>
          <a:xfrm>
            <a:off x="122572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4" name="criterion.sample-stem3">
            <a:extLst>
              <a:ext uri="{FF2B5EF4-FFF2-40B4-BE49-F238E27FC236}">
                <a16:creationId xmlns:a16="http://schemas.microsoft.com/office/drawing/2014/main" id="{4A76C248-CB96-4933-B742-6F4FF1A6225E}"/>
              </a:ext>
            </a:extLst>
          </p:cNvPr>
          <p:cNvSpPr>
            <a:spLocks noGrp="1"/>
          </p:cNvSpPr>
          <p:nvPr/>
        </p:nvSpPr>
        <p:spPr>
          <a:xfrm>
            <a:off x="1382440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5" name="criterion.sample-dot3">
            <a:extLst>
              <a:ext uri="{FF2B5EF4-FFF2-40B4-BE49-F238E27FC236}">
                <a16:creationId xmlns:a16="http://schemas.microsoft.com/office/drawing/2014/main" id="{77C121D9-EB04-4403-8D41-E9C21EB4E373}"/>
              </a:ext>
            </a:extLst>
          </p:cNvPr>
          <p:cNvSpPr>
            <a:spLocks noGrp="1"/>
          </p:cNvSpPr>
          <p:nvPr/>
        </p:nvSpPr>
        <p:spPr>
          <a:xfrm>
            <a:off x="1349103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6" name="criterion.sample-stem4">
            <a:extLst>
              <a:ext uri="{FF2B5EF4-FFF2-40B4-BE49-F238E27FC236}">
                <a16:creationId xmlns:a16="http://schemas.microsoft.com/office/drawing/2014/main" id="{74CE5771-B6B6-4DD0-B48B-65329821C59D}"/>
              </a:ext>
            </a:extLst>
          </p:cNvPr>
          <p:cNvSpPr>
            <a:spLocks noGrp="1"/>
          </p:cNvSpPr>
          <p:nvPr/>
        </p:nvSpPr>
        <p:spPr>
          <a:xfrm>
            <a:off x="1434266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7" name="criterion.sample-dot4">
            <a:extLst>
              <a:ext uri="{FF2B5EF4-FFF2-40B4-BE49-F238E27FC236}">
                <a16:creationId xmlns:a16="http://schemas.microsoft.com/office/drawing/2014/main" id="{7A21C698-C336-4248-986B-894CD4552CC3}"/>
              </a:ext>
            </a:extLst>
          </p:cNvPr>
          <p:cNvSpPr>
            <a:spLocks noGrp="1"/>
          </p:cNvSpPr>
          <p:nvPr/>
        </p:nvSpPr>
        <p:spPr>
          <a:xfrm>
            <a:off x="1400928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18" name="criterion.sample-stem5">
            <a:extLst>
              <a:ext uri="{FF2B5EF4-FFF2-40B4-BE49-F238E27FC236}">
                <a16:creationId xmlns:a16="http://schemas.microsoft.com/office/drawing/2014/main" id="{FB5CD9C4-93FA-43D2-8A6D-FED9778FD858}"/>
              </a:ext>
            </a:extLst>
          </p:cNvPr>
          <p:cNvSpPr>
            <a:spLocks noGrp="1"/>
          </p:cNvSpPr>
          <p:nvPr/>
        </p:nvSpPr>
        <p:spPr>
          <a:xfrm>
            <a:off x="1697212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19" name="criterion.sample-dot5">
            <a:extLst>
              <a:ext uri="{FF2B5EF4-FFF2-40B4-BE49-F238E27FC236}">
                <a16:creationId xmlns:a16="http://schemas.microsoft.com/office/drawing/2014/main" id="{5B8B8199-C1B0-4336-99BD-C4DBB93B119C}"/>
              </a:ext>
            </a:extLst>
          </p:cNvPr>
          <p:cNvSpPr>
            <a:spLocks noGrp="1"/>
          </p:cNvSpPr>
          <p:nvPr/>
        </p:nvSpPr>
        <p:spPr>
          <a:xfrm>
            <a:off x="1663874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0" name="criterion.sample-stem6">
            <a:extLst>
              <a:ext uri="{FF2B5EF4-FFF2-40B4-BE49-F238E27FC236}">
                <a16:creationId xmlns:a16="http://schemas.microsoft.com/office/drawing/2014/main" id="{3B62A037-3ADF-4EF4-A9DC-A050854646A0}"/>
              </a:ext>
            </a:extLst>
          </p:cNvPr>
          <p:cNvSpPr>
            <a:spLocks noGrp="1"/>
          </p:cNvSpPr>
          <p:nvPr/>
        </p:nvSpPr>
        <p:spPr>
          <a:xfrm>
            <a:off x="2190544" y="1943100"/>
            <a:ext cx="953" cy="190500"/>
          </a:xfrm>
          <a:custGeom>
            <a:avLst/>
            <a:gdLst/>
            <a:ahLst/>
            <a:cxnLst/>
            <a:rect l="0" t="0" r="0" b="0"/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147AAA"/>
            </a:solidFill>
            <a:prstDash val="solid"/>
          </a:ln>
        </p:spPr>
      </p:sp>
      <p:sp>
        <p:nvSpPr>
          <p:cNvPr id="21" name="criterion.sample-dot6">
            <a:extLst>
              <a:ext uri="{FF2B5EF4-FFF2-40B4-BE49-F238E27FC236}">
                <a16:creationId xmlns:a16="http://schemas.microsoft.com/office/drawing/2014/main" id="{18A07B62-286E-42C6-94C2-418FD57D4557}"/>
              </a:ext>
            </a:extLst>
          </p:cNvPr>
          <p:cNvSpPr>
            <a:spLocks noGrp="1"/>
          </p:cNvSpPr>
          <p:nvPr/>
        </p:nvSpPr>
        <p:spPr>
          <a:xfrm>
            <a:off x="2157206" y="1909763"/>
            <a:ext cx="66675" cy="66675"/>
          </a:xfrm>
          <a:prstGeom prst="ellipse">
            <a:avLst/>
          </a:prstGeom>
          <a:solidFill>
            <a:srgbClr val="147AAA"/>
          </a:solidFill>
          <a:ln w="13335">
            <a:solidFill>
              <a:srgbClr val="147AAA"/>
            </a:solidFill>
          </a:ln>
        </p:spPr>
      </p:sp>
      <p:sp>
        <p:nvSpPr>
          <p:cNvPr id="27" name="criterion.rank-label">
            <a:extLst>
              <a:ext uri="{FF2B5EF4-FFF2-40B4-BE49-F238E27FC236}">
                <a16:creationId xmlns:a16="http://schemas.microsoft.com/office/drawing/2014/main" id="{12ED502F-7811-4B45-8990-E56BF2369AB6}"/>
              </a:ext>
            </a:extLst>
          </p:cNvPr>
          <p:cNvSpPr>
            <a:spLocks noGrp="1"/>
          </p:cNvSpPr>
          <p:nvPr/>
        </p:nvSpPr>
        <p:spPr>
          <a:xfrm>
            <a:off x="2886075" y="1371600"/>
            <a:ext cx="16192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28" name="flow.input-pseudo">
            <a:extLst>
              <a:ext uri="{FF2B5EF4-FFF2-40B4-BE49-F238E27FC236}">
                <a16:creationId xmlns:a16="http://schemas.microsoft.com/office/drawing/2014/main" id="{DEC7CA87-5C7E-4B72-A878-3ED68F5D38B5}"/>
              </a:ext>
            </a:extLst>
          </p:cNvPr>
          <p:cNvSpPr>
            <a:spLocks noGrp="1"/>
          </p:cNvSpPr>
          <p:nvPr/>
        </p:nvSpPr>
        <p:spPr>
          <a:xfrm rot="5400000">
            <a:off x="2667000" y="2609850"/>
            <a:ext cx="3810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4" name="criterion.pseudo-label">
            <a:extLst>
              <a:ext uri="{FF2B5EF4-FFF2-40B4-BE49-F238E27FC236}">
                <a16:creationId xmlns:a16="http://schemas.microsoft.com/office/drawing/2014/main" id="{8A40D2B7-C2F7-4BC5-B353-1512B44BB83D}"/>
              </a:ext>
            </a:extLst>
          </p:cNvPr>
          <p:cNvSpPr>
            <a:spLocks noGrp="1"/>
          </p:cNvSpPr>
          <p:nvPr/>
        </p:nvSpPr>
        <p:spPr>
          <a:xfrm>
            <a:off x="752475" y="3743325"/>
            <a:ext cx="394335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44" name="flow.pseudo-difference">
            <a:extLst>
              <a:ext uri="{FF2B5EF4-FFF2-40B4-BE49-F238E27FC236}">
                <a16:creationId xmlns:a16="http://schemas.microsoft.com/office/drawing/2014/main" id="{BBEFF80A-9826-4A5A-BE7C-284684CDB538}"/>
              </a:ext>
            </a:extLst>
          </p:cNvPr>
          <p:cNvSpPr>
            <a:spLocks noGrp="1"/>
          </p:cNvSpPr>
          <p:nvPr/>
        </p:nvSpPr>
        <p:spPr>
          <a:xfrm rot="5400000">
            <a:off x="2695575" y="3933825"/>
            <a:ext cx="247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5" name="flow.difference-minimum">
            <a:extLst>
              <a:ext uri="{FF2B5EF4-FFF2-40B4-BE49-F238E27FC236}">
                <a16:creationId xmlns:a16="http://schemas.microsoft.com/office/drawing/2014/main" id="{DAF24932-ED47-4698-B34C-7CAB07EF4BF3}"/>
              </a:ext>
            </a:extLst>
          </p:cNvPr>
          <p:cNvSpPr>
            <a:spLocks noGrp="1"/>
          </p:cNvSpPr>
          <p:nvPr/>
        </p:nvSpPr>
        <p:spPr>
          <a:xfrm rot="5400000">
            <a:off x="2695575" y="4552950"/>
            <a:ext cx="2286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6" name="gamma.boundary">
            <a:extLst>
              <a:ext uri="{FF2B5EF4-FFF2-40B4-BE49-F238E27FC236}">
                <a16:creationId xmlns:a16="http://schemas.microsoft.com/office/drawing/2014/main" id="{7CC56488-555D-48F6-8432-7C4FF7B7E4AE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43865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47" name="gamma.header">
            <a:extLst>
              <a:ext uri="{FF2B5EF4-FFF2-40B4-BE49-F238E27FC236}">
                <a16:creationId xmlns:a16="http://schemas.microsoft.com/office/drawing/2014/main" id="{49E67055-159F-4D03-9354-994CE1A15D54}"/>
              </a:ext>
            </a:extLst>
          </p:cNvPr>
          <p:cNvSpPr>
            <a:spLocks noGrp="1"/>
          </p:cNvSpPr>
          <p:nvPr/>
        </p:nvSpPr>
        <p:spPr>
          <a:xfrm>
            <a:off x="6000750" y="914400"/>
            <a:ext cx="4762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48" name="gamma.title">
            <a:extLst>
              <a:ext uri="{FF2B5EF4-FFF2-40B4-BE49-F238E27FC236}">
                <a16:creationId xmlns:a16="http://schemas.microsoft.com/office/drawing/2014/main" id="{6E4B3979-432D-47D9-A5F1-1CECA5BEBD31}"/>
              </a:ext>
            </a:extLst>
          </p:cNvPr>
          <p:cNvSpPr>
            <a:spLocks noGrp="1"/>
          </p:cNvSpPr>
          <p:nvPr/>
        </p:nvSpPr>
        <p:spPr>
          <a:xfrm>
            <a:off x="6096000" y="933450"/>
            <a:ext cx="4572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55" name="gamma.meaning">
            <a:extLst>
              <a:ext uri="{FF2B5EF4-FFF2-40B4-BE49-F238E27FC236}">
                <a16:creationId xmlns:a16="http://schemas.microsoft.com/office/drawing/2014/main" id="{2660F02D-9810-4BE6-8839-C9E0D89CF043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191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56" name="gamma.axisx">
            <a:extLst>
              <a:ext uri="{FF2B5EF4-FFF2-40B4-BE49-F238E27FC236}">
                <a16:creationId xmlns:a16="http://schemas.microsoft.com/office/drawing/2014/main" id="{D609B230-70FF-4846-B49D-16F8873DB122}"/>
              </a:ext>
            </a:extLst>
          </p:cNvPr>
          <p:cNvSpPr>
            <a:spLocks noGrp="1"/>
          </p:cNvSpPr>
          <p:nvPr/>
        </p:nvSpPr>
        <p:spPr>
          <a:xfrm>
            <a:off x="6667500" y="4638675"/>
            <a:ext cx="3371850" cy="953"/>
          </a:xfrm>
          <a:custGeom>
            <a:avLst/>
            <a:gdLst/>
            <a:ahLst/>
            <a:cxnLst/>
            <a:rect l="0" t="0" r="0" b="0"/>
            <a:pathLst>
              <a:path w="3371850" h="953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7" name="gamma.axisy">
            <a:extLst>
              <a:ext uri="{FF2B5EF4-FFF2-40B4-BE49-F238E27FC236}">
                <a16:creationId xmlns:a16="http://schemas.microsoft.com/office/drawing/2014/main" id="{E09E4A8C-CAA5-44D0-BFAB-274F0F932F56}"/>
              </a:ext>
            </a:extLst>
          </p:cNvPr>
          <p:cNvSpPr>
            <a:spLocks noGrp="1"/>
          </p:cNvSpPr>
          <p:nvPr/>
        </p:nvSpPr>
        <p:spPr>
          <a:xfrm>
            <a:off x="6667500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58" name="gamma.xtick800">
            <a:extLst>
              <a:ext uri="{FF2B5EF4-FFF2-40B4-BE49-F238E27FC236}">
                <a16:creationId xmlns:a16="http://schemas.microsoft.com/office/drawing/2014/main" id="{41D1CFCA-92B5-4AD9-AFD6-6C631AC6194E}"/>
              </a:ext>
            </a:extLst>
          </p:cNvPr>
          <p:cNvSpPr>
            <a:spLocks noGrp="1"/>
          </p:cNvSpPr>
          <p:nvPr/>
        </p:nvSpPr>
        <p:spPr>
          <a:xfrm>
            <a:off x="7280564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59" name="gamma.xtxt800">
            <a:extLst>
              <a:ext uri="{FF2B5EF4-FFF2-40B4-BE49-F238E27FC236}">
                <a16:creationId xmlns:a16="http://schemas.microsoft.com/office/drawing/2014/main" id="{ED435CE6-8A6C-444B-B74E-37674B5BD1F6}"/>
              </a:ext>
            </a:extLst>
          </p:cNvPr>
          <p:cNvSpPr>
            <a:spLocks noGrp="1"/>
          </p:cNvSpPr>
          <p:nvPr/>
        </p:nvSpPr>
        <p:spPr>
          <a:xfrm>
            <a:off x="6947189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60" name="gamma.xtick1000">
            <a:extLst>
              <a:ext uri="{FF2B5EF4-FFF2-40B4-BE49-F238E27FC236}">
                <a16:creationId xmlns:a16="http://schemas.microsoft.com/office/drawing/2014/main" id="{9EB53ED6-AECF-4C1B-A189-17313649CA36}"/>
              </a:ext>
            </a:extLst>
          </p:cNvPr>
          <p:cNvSpPr>
            <a:spLocks noGrp="1"/>
          </p:cNvSpPr>
          <p:nvPr/>
        </p:nvSpPr>
        <p:spPr>
          <a:xfrm>
            <a:off x="8506691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1" name="gamma.xtxt1000">
            <a:extLst>
              <a:ext uri="{FF2B5EF4-FFF2-40B4-BE49-F238E27FC236}">
                <a16:creationId xmlns:a16="http://schemas.microsoft.com/office/drawing/2014/main" id="{BD424C9C-4983-4685-98E3-D5AD1AF0A851}"/>
              </a:ext>
            </a:extLst>
          </p:cNvPr>
          <p:cNvSpPr>
            <a:spLocks noGrp="1"/>
          </p:cNvSpPr>
          <p:nvPr/>
        </p:nvSpPr>
        <p:spPr>
          <a:xfrm>
            <a:off x="8173316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2" name="gamma.xtick1200">
            <a:extLst>
              <a:ext uri="{FF2B5EF4-FFF2-40B4-BE49-F238E27FC236}">
                <a16:creationId xmlns:a16="http://schemas.microsoft.com/office/drawing/2014/main" id="{E92FC44D-0197-42D4-9B7B-C0E469D254B9}"/>
              </a:ext>
            </a:extLst>
          </p:cNvPr>
          <p:cNvSpPr>
            <a:spLocks noGrp="1"/>
          </p:cNvSpPr>
          <p:nvPr/>
        </p:nvSpPr>
        <p:spPr>
          <a:xfrm>
            <a:off x="9732818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3" name="gamma.xtxt1200">
            <a:extLst>
              <a:ext uri="{FF2B5EF4-FFF2-40B4-BE49-F238E27FC236}">
                <a16:creationId xmlns:a16="http://schemas.microsoft.com/office/drawing/2014/main" id="{651E5594-2FD1-4D9E-BC4D-39449C6F7EF8}"/>
              </a:ext>
            </a:extLst>
          </p:cNvPr>
          <p:cNvSpPr>
            <a:spLocks noGrp="1"/>
          </p:cNvSpPr>
          <p:nvPr/>
        </p:nvSpPr>
        <p:spPr>
          <a:xfrm>
            <a:off x="9399443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4" name="gamma.ytick0">
            <a:extLst>
              <a:ext uri="{FF2B5EF4-FFF2-40B4-BE49-F238E27FC236}">
                <a16:creationId xmlns:a16="http://schemas.microsoft.com/office/drawing/2014/main" id="{DE544D5E-6613-4353-9B95-CED3392A220A}"/>
              </a:ext>
            </a:extLst>
          </p:cNvPr>
          <p:cNvSpPr>
            <a:spLocks noGrp="1"/>
          </p:cNvSpPr>
          <p:nvPr/>
        </p:nvSpPr>
        <p:spPr>
          <a:xfrm>
            <a:off x="6610350" y="442722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5" name="gamma.ytxt0">
            <a:extLst>
              <a:ext uri="{FF2B5EF4-FFF2-40B4-BE49-F238E27FC236}">
                <a16:creationId xmlns:a16="http://schemas.microsoft.com/office/drawing/2014/main" id="{CE90DC29-8345-404F-9216-FCF5C718167C}"/>
              </a:ext>
            </a:extLst>
          </p:cNvPr>
          <p:cNvSpPr>
            <a:spLocks noGrp="1"/>
          </p:cNvSpPr>
          <p:nvPr/>
        </p:nvSpPr>
        <p:spPr>
          <a:xfrm>
            <a:off x="6076950" y="430339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6" name="gamma.ytick0.2">
            <a:extLst>
              <a:ext uri="{FF2B5EF4-FFF2-40B4-BE49-F238E27FC236}">
                <a16:creationId xmlns:a16="http://schemas.microsoft.com/office/drawing/2014/main" id="{503225D1-2D2E-4D18-943A-2E041B5B62E5}"/>
              </a:ext>
            </a:extLst>
          </p:cNvPr>
          <p:cNvSpPr>
            <a:spLocks noGrp="1"/>
          </p:cNvSpPr>
          <p:nvPr/>
        </p:nvSpPr>
        <p:spPr>
          <a:xfrm>
            <a:off x="6610350" y="386334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7" name="gamma.ytxt0.2">
            <a:extLst>
              <a:ext uri="{FF2B5EF4-FFF2-40B4-BE49-F238E27FC236}">
                <a16:creationId xmlns:a16="http://schemas.microsoft.com/office/drawing/2014/main" id="{0F85EE43-BEFF-49E8-AD15-7983E2240EC8}"/>
              </a:ext>
            </a:extLst>
          </p:cNvPr>
          <p:cNvSpPr>
            <a:spLocks noGrp="1"/>
          </p:cNvSpPr>
          <p:nvPr/>
        </p:nvSpPr>
        <p:spPr>
          <a:xfrm>
            <a:off x="6076950" y="373951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68" name="gamma.ytick0.4">
            <a:extLst>
              <a:ext uri="{FF2B5EF4-FFF2-40B4-BE49-F238E27FC236}">
                <a16:creationId xmlns:a16="http://schemas.microsoft.com/office/drawing/2014/main" id="{18190A5E-8F28-453F-90C5-22F63D78A2A8}"/>
              </a:ext>
            </a:extLst>
          </p:cNvPr>
          <p:cNvSpPr>
            <a:spLocks noGrp="1"/>
          </p:cNvSpPr>
          <p:nvPr/>
        </p:nvSpPr>
        <p:spPr>
          <a:xfrm>
            <a:off x="6610350" y="3299460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69" name="gamma.ytxt0.4">
            <a:extLst>
              <a:ext uri="{FF2B5EF4-FFF2-40B4-BE49-F238E27FC236}">
                <a16:creationId xmlns:a16="http://schemas.microsoft.com/office/drawing/2014/main" id="{9A5F7545-7B94-43F5-9D68-D80C9744D794}"/>
              </a:ext>
            </a:extLst>
          </p:cNvPr>
          <p:cNvSpPr>
            <a:spLocks noGrp="1"/>
          </p:cNvSpPr>
          <p:nvPr/>
        </p:nvSpPr>
        <p:spPr>
          <a:xfrm>
            <a:off x="6076950" y="3175635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70" name="gamma.xlabel">
            <a:extLst>
              <a:ext uri="{FF2B5EF4-FFF2-40B4-BE49-F238E27FC236}">
                <a16:creationId xmlns:a16="http://schemas.microsoft.com/office/drawing/2014/main" id="{74BEFE07-4E3E-4DC8-B892-FC17B7563EB3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33718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1" name="gamma.ylabel">
            <a:extLst>
              <a:ext uri="{FF2B5EF4-FFF2-40B4-BE49-F238E27FC236}">
                <a16:creationId xmlns:a16="http://schemas.microsoft.com/office/drawing/2014/main" id="{6C7F6B64-4735-4EF8-815D-A2FE0FA46CF5}"/>
              </a:ext>
            </a:extLst>
          </p:cNvPr>
          <p:cNvSpPr>
            <a:spLocks noGrp="1"/>
          </p:cNvSpPr>
          <p:nvPr/>
        </p:nvSpPr>
        <p:spPr>
          <a:xfrm rot="16200000">
            <a:off x="5191125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2" name="gamma.curve.segment0">
            <a:extLst>
              <a:ext uri="{FF2B5EF4-FFF2-40B4-BE49-F238E27FC236}">
                <a16:creationId xmlns:a16="http://schemas.microsoft.com/office/drawing/2014/main" id="{4400E2B6-5F2A-4728-9F1B-9F28AB82B924}"/>
              </a:ext>
            </a:extLst>
          </p:cNvPr>
          <p:cNvSpPr>
            <a:spLocks noGrp="1"/>
          </p:cNvSpPr>
          <p:nvPr/>
        </p:nvSpPr>
        <p:spPr>
          <a:xfrm>
            <a:off x="6667500" y="2995065"/>
            <a:ext cx="3371850" cy="1461820"/>
          </a:xfrm>
          <a:custGeom>
            <a:avLst/>
            <a:gdLst/>
            <a:ahLst/>
            <a:cxnLst/>
            <a:rect l="0" t="0" r="0" b="0"/>
            <a:pathLst>
              <a:path w="3371850" h="1461820">
                <a:moveTo>
                  <a:pt x="0" y="1461791"/>
                </a:moveTo>
                <a:lnTo>
                  <a:pt x="40429" y="1461812"/>
                </a:lnTo>
                <a:lnTo>
                  <a:pt x="83993" y="1461820"/>
                </a:lnTo>
                <a:lnTo>
                  <a:pt x="127059" y="1461815"/>
                </a:lnTo>
                <a:lnTo>
                  <a:pt x="169631" y="1461795"/>
                </a:lnTo>
                <a:lnTo>
                  <a:pt x="211716" y="1461760"/>
                </a:lnTo>
                <a:lnTo>
                  <a:pt x="253318" y="1461709"/>
                </a:lnTo>
                <a:lnTo>
                  <a:pt x="294444" y="1461642"/>
                </a:lnTo>
                <a:lnTo>
                  <a:pt x="335099" y="1461558"/>
                </a:lnTo>
                <a:lnTo>
                  <a:pt x="375289" y="1461456"/>
                </a:lnTo>
                <a:lnTo>
                  <a:pt x="415018" y="1461336"/>
                </a:lnTo>
                <a:lnTo>
                  <a:pt x="454292" y="1461197"/>
                </a:lnTo>
                <a:lnTo>
                  <a:pt x="493116" y="1461039"/>
                </a:lnTo>
                <a:lnTo>
                  <a:pt x="531496" y="1460860"/>
                </a:lnTo>
                <a:lnTo>
                  <a:pt x="569436" y="1460660"/>
                </a:lnTo>
                <a:lnTo>
                  <a:pt x="606942" y="1460439"/>
                </a:lnTo>
                <a:lnTo>
                  <a:pt x="644018" y="1460195"/>
                </a:lnTo>
                <a:lnTo>
                  <a:pt x="680669" y="1459928"/>
                </a:lnTo>
                <a:lnTo>
                  <a:pt x="716901" y="1459637"/>
                </a:lnTo>
                <a:lnTo>
                  <a:pt x="752717" y="1459322"/>
                </a:lnTo>
                <a:lnTo>
                  <a:pt x="788124" y="1458981"/>
                </a:lnTo>
                <a:lnTo>
                  <a:pt x="823124" y="1458613"/>
                </a:lnTo>
                <a:lnTo>
                  <a:pt x="857724" y="1458219"/>
                </a:lnTo>
                <a:lnTo>
                  <a:pt x="891928" y="1457796"/>
                </a:lnTo>
                <a:lnTo>
                  <a:pt x="925740" y="1457345"/>
                </a:lnTo>
                <a:lnTo>
                  <a:pt x="959165" y="1456864"/>
                </a:lnTo>
                <a:lnTo>
                  <a:pt x="992207" y="1456352"/>
                </a:lnTo>
                <a:lnTo>
                  <a:pt x="1024870" y="1455809"/>
                </a:lnTo>
                <a:lnTo>
                  <a:pt x="1057159" y="1455234"/>
                </a:lnTo>
                <a:lnTo>
                  <a:pt x="1089079" y="1454625"/>
                </a:lnTo>
                <a:lnTo>
                  <a:pt x="1120633" y="1453981"/>
                </a:lnTo>
                <a:lnTo>
                  <a:pt x="1151825" y="1453302"/>
                </a:lnTo>
                <a:lnTo>
                  <a:pt x="1182661" y="1452587"/>
                </a:lnTo>
                <a:lnTo>
                  <a:pt x="1213143" y="1451834"/>
                </a:lnTo>
                <a:lnTo>
                  <a:pt x="1243276" y="1451043"/>
                </a:lnTo>
                <a:lnTo>
                  <a:pt x="1273064" y="1450213"/>
                </a:lnTo>
                <a:lnTo>
                  <a:pt x="1302511" y="1449341"/>
                </a:lnTo>
                <a:lnTo>
                  <a:pt x="1331620" y="1448428"/>
                </a:lnTo>
                <a:lnTo>
                  <a:pt x="1360396" y="1447473"/>
                </a:lnTo>
                <a:lnTo>
                  <a:pt x="1388843" y="1446473"/>
                </a:lnTo>
                <a:lnTo>
                  <a:pt x="1416963" y="1445428"/>
                </a:lnTo>
                <a:lnTo>
                  <a:pt x="1444762" y="1444337"/>
                </a:lnTo>
                <a:lnTo>
                  <a:pt x="1472242" y="1443198"/>
                </a:lnTo>
                <a:lnTo>
                  <a:pt x="1499408" y="1442011"/>
                </a:lnTo>
                <a:lnTo>
                  <a:pt x="1526262" y="1440774"/>
                </a:lnTo>
                <a:lnTo>
                  <a:pt x="1552809" y="1439485"/>
                </a:lnTo>
                <a:lnTo>
                  <a:pt x="1579052" y="1438144"/>
                </a:lnTo>
                <a:lnTo>
                  <a:pt x="1604994" y="1436750"/>
                </a:lnTo>
                <a:lnTo>
                  <a:pt x="1630639" y="1435300"/>
                </a:lnTo>
                <a:lnTo>
                  <a:pt x="1655990" y="1433794"/>
                </a:lnTo>
                <a:lnTo>
                  <a:pt x="1681051" y="1432230"/>
                </a:lnTo>
                <a:lnTo>
                  <a:pt x="1682221" y="1432155"/>
                </a:lnTo>
                <a:lnTo>
                  <a:pt x="1705825" y="1430607"/>
                </a:lnTo>
                <a:lnTo>
                  <a:pt x="1730315" y="1428924"/>
                </a:lnTo>
                <a:lnTo>
                  <a:pt x="1754525" y="1427178"/>
                </a:lnTo>
                <a:lnTo>
                  <a:pt x="1778457" y="1425370"/>
                </a:lnTo>
                <a:lnTo>
                  <a:pt x="1802116" y="1423496"/>
                </a:lnTo>
                <a:lnTo>
                  <a:pt x="1825503" y="1421557"/>
                </a:lnTo>
                <a:lnTo>
                  <a:pt x="1848623" y="1419550"/>
                </a:lnTo>
                <a:lnTo>
                  <a:pt x="1871477" y="1417473"/>
                </a:lnTo>
                <a:lnTo>
                  <a:pt x="1894070" y="1415326"/>
                </a:lnTo>
                <a:lnTo>
                  <a:pt x="1916405" y="1413107"/>
                </a:lnTo>
                <a:lnTo>
                  <a:pt x="1938483" y="1410814"/>
                </a:lnTo>
                <a:lnTo>
                  <a:pt x="1960308" y="1408445"/>
                </a:lnTo>
                <a:lnTo>
                  <a:pt x="1981884" y="1406000"/>
                </a:lnTo>
                <a:lnTo>
                  <a:pt x="2003212" y="1403476"/>
                </a:lnTo>
                <a:lnTo>
                  <a:pt x="2024297" y="1400872"/>
                </a:lnTo>
                <a:lnTo>
                  <a:pt x="2045139" y="1398186"/>
                </a:lnTo>
                <a:lnTo>
                  <a:pt x="2065743" y="1395417"/>
                </a:lnTo>
                <a:lnTo>
                  <a:pt x="2086111" y="1392563"/>
                </a:lnTo>
                <a:lnTo>
                  <a:pt x="2106246" y="1389621"/>
                </a:lnTo>
                <a:lnTo>
                  <a:pt x="2126150" y="1386592"/>
                </a:lnTo>
                <a:lnTo>
                  <a:pt x="2145826" y="1383472"/>
                </a:lnTo>
                <a:lnTo>
                  <a:pt x="2165277" y="1380260"/>
                </a:lnTo>
                <a:lnTo>
                  <a:pt x="2184505" y="1376955"/>
                </a:lnTo>
                <a:lnTo>
                  <a:pt x="2203513" y="1373553"/>
                </a:lnTo>
                <a:lnTo>
                  <a:pt x="2222303" y="1370055"/>
                </a:lnTo>
                <a:lnTo>
                  <a:pt x="2240878" y="1366458"/>
                </a:lnTo>
                <a:lnTo>
                  <a:pt x="2259240" y="1362760"/>
                </a:lnTo>
                <a:lnTo>
                  <a:pt x="2277392" y="1358959"/>
                </a:lnTo>
                <a:lnTo>
                  <a:pt x="2295336" y="1355053"/>
                </a:lnTo>
                <a:lnTo>
                  <a:pt x="2313074" y="1351041"/>
                </a:lnTo>
                <a:lnTo>
                  <a:pt x="2330609" y="1346921"/>
                </a:lnTo>
                <a:lnTo>
                  <a:pt x="2347944" y="1342690"/>
                </a:lnTo>
                <a:lnTo>
                  <a:pt x="2365080" y="1338348"/>
                </a:lnTo>
                <a:lnTo>
                  <a:pt x="2382019" y="1333892"/>
                </a:lnTo>
                <a:lnTo>
                  <a:pt x="2398765" y="1329319"/>
                </a:lnTo>
                <a:lnTo>
                  <a:pt x="2415319" y="1324629"/>
                </a:lnTo>
                <a:lnTo>
                  <a:pt x="2431683" y="1319819"/>
                </a:lnTo>
                <a:lnTo>
                  <a:pt x="2447860" y="1314887"/>
                </a:lnTo>
                <a:lnTo>
                  <a:pt x="2463851" y="1309832"/>
                </a:lnTo>
                <a:lnTo>
                  <a:pt x="2479660" y="1304651"/>
                </a:lnTo>
                <a:lnTo>
                  <a:pt x="2495287" y="1299342"/>
                </a:lnTo>
                <a:lnTo>
                  <a:pt x="2510735" y="1293903"/>
                </a:lnTo>
                <a:lnTo>
                  <a:pt x="2526007" y="1288333"/>
                </a:lnTo>
                <a:lnTo>
                  <a:pt x="2541103" y="1282629"/>
                </a:lnTo>
                <a:lnTo>
                  <a:pt x="2556027" y="1276789"/>
                </a:lnTo>
                <a:lnTo>
                  <a:pt x="2570779" y="1270812"/>
                </a:lnTo>
                <a:lnTo>
                  <a:pt x="2585363" y="1264694"/>
                </a:lnTo>
                <a:lnTo>
                  <a:pt x="2599780" y="1258434"/>
                </a:lnTo>
                <a:lnTo>
                  <a:pt x="2614031" y="1252031"/>
                </a:lnTo>
                <a:lnTo>
                  <a:pt x="2628119" y="1245481"/>
                </a:lnTo>
                <a:lnTo>
                  <a:pt x="2642046" y="1238783"/>
                </a:lnTo>
                <a:lnTo>
                  <a:pt x="2655814" y="1231935"/>
                </a:lnTo>
                <a:lnTo>
                  <a:pt x="2669424" y="1224934"/>
                </a:lnTo>
                <a:lnTo>
                  <a:pt x="2682878" y="1217779"/>
                </a:lnTo>
                <a:lnTo>
                  <a:pt x="2696177" y="1210467"/>
                </a:lnTo>
                <a:lnTo>
                  <a:pt x="2709325" y="1202996"/>
                </a:lnTo>
                <a:lnTo>
                  <a:pt x="2722322" y="1195364"/>
                </a:lnTo>
                <a:lnTo>
                  <a:pt x="2735170" y="1187569"/>
                </a:lnTo>
                <a:lnTo>
                  <a:pt x="2747871" y="1179609"/>
                </a:lnTo>
                <a:lnTo>
                  <a:pt x="2760426" y="1171481"/>
                </a:lnTo>
                <a:lnTo>
                  <a:pt x="2772838" y="1163183"/>
                </a:lnTo>
                <a:lnTo>
                  <a:pt x="2785107" y="1154714"/>
                </a:lnTo>
                <a:lnTo>
                  <a:pt x="2791469" y="1150215"/>
                </a:lnTo>
                <a:lnTo>
                  <a:pt x="2797236" y="1146071"/>
                </a:lnTo>
                <a:lnTo>
                  <a:pt x="2809226" y="1137252"/>
                </a:lnTo>
                <a:lnTo>
                  <a:pt x="2821079" y="1128254"/>
                </a:lnTo>
                <a:lnTo>
                  <a:pt x="2832796" y="1119076"/>
                </a:lnTo>
                <a:lnTo>
                  <a:pt x="2844379" y="1109714"/>
                </a:lnTo>
                <a:lnTo>
                  <a:pt x="2855829" y="1100168"/>
                </a:lnTo>
                <a:lnTo>
                  <a:pt x="2867148" y="1090435"/>
                </a:lnTo>
                <a:lnTo>
                  <a:pt x="2878337" y="1080512"/>
                </a:lnTo>
                <a:lnTo>
                  <a:pt x="2889398" y="1070398"/>
                </a:lnTo>
                <a:lnTo>
                  <a:pt x="2900333" y="1060090"/>
                </a:lnTo>
                <a:lnTo>
                  <a:pt x="2911142" y="1049585"/>
                </a:lnTo>
                <a:lnTo>
                  <a:pt x="2921827" y="1038882"/>
                </a:lnTo>
                <a:lnTo>
                  <a:pt x="2932390" y="1027979"/>
                </a:lnTo>
                <a:lnTo>
                  <a:pt x="2942832" y="1016873"/>
                </a:lnTo>
                <a:lnTo>
                  <a:pt x="2953155" y="1005562"/>
                </a:lnTo>
                <a:lnTo>
                  <a:pt x="2963359" y="994043"/>
                </a:lnTo>
                <a:lnTo>
                  <a:pt x="2973447" y="982315"/>
                </a:lnTo>
                <a:lnTo>
                  <a:pt x="2983418" y="970375"/>
                </a:lnTo>
                <a:lnTo>
                  <a:pt x="2993276" y="958221"/>
                </a:lnTo>
                <a:lnTo>
                  <a:pt x="3003021" y="945850"/>
                </a:lnTo>
                <a:lnTo>
                  <a:pt x="3012654" y="933261"/>
                </a:lnTo>
                <a:lnTo>
                  <a:pt x="3022177" y="920451"/>
                </a:lnTo>
                <a:lnTo>
                  <a:pt x="3031590" y="907418"/>
                </a:lnTo>
                <a:lnTo>
                  <a:pt x="3040896" y="894159"/>
                </a:lnTo>
                <a:lnTo>
                  <a:pt x="3050096" y="880673"/>
                </a:lnTo>
                <a:lnTo>
                  <a:pt x="3059190" y="866957"/>
                </a:lnTo>
                <a:lnTo>
                  <a:pt x="3068179" y="853009"/>
                </a:lnTo>
                <a:lnTo>
                  <a:pt x="3077066" y="838826"/>
                </a:lnTo>
                <a:lnTo>
                  <a:pt x="3085851" y="824407"/>
                </a:lnTo>
                <a:lnTo>
                  <a:pt x="3094536" y="809748"/>
                </a:lnTo>
                <a:lnTo>
                  <a:pt x="3103121" y="794849"/>
                </a:lnTo>
                <a:lnTo>
                  <a:pt x="3111607" y="779706"/>
                </a:lnTo>
                <a:lnTo>
                  <a:pt x="3119997" y="764317"/>
                </a:lnTo>
                <a:lnTo>
                  <a:pt x="3128290" y="748681"/>
                </a:lnTo>
                <a:lnTo>
                  <a:pt x="3136489" y="732794"/>
                </a:lnTo>
                <a:lnTo>
                  <a:pt x="3144593" y="716655"/>
                </a:lnTo>
                <a:lnTo>
                  <a:pt x="3152605" y="700261"/>
                </a:lnTo>
                <a:lnTo>
                  <a:pt x="3160525" y="683611"/>
                </a:lnTo>
                <a:lnTo>
                  <a:pt x="3168354" y="666701"/>
                </a:lnTo>
                <a:lnTo>
                  <a:pt x="3176094" y="649530"/>
                </a:lnTo>
                <a:lnTo>
                  <a:pt x="3183744" y="632096"/>
                </a:lnTo>
                <a:lnTo>
                  <a:pt x="3191308" y="614396"/>
                </a:lnTo>
                <a:lnTo>
                  <a:pt x="3198784" y="596429"/>
                </a:lnTo>
                <a:lnTo>
                  <a:pt x="3206175" y="578192"/>
                </a:lnTo>
                <a:lnTo>
                  <a:pt x="3213482" y="559682"/>
                </a:lnTo>
                <a:lnTo>
                  <a:pt x="3220704" y="540899"/>
                </a:lnTo>
                <a:lnTo>
                  <a:pt x="3227844" y="521839"/>
                </a:lnTo>
                <a:lnTo>
                  <a:pt x="3234902" y="502501"/>
                </a:lnTo>
                <a:lnTo>
                  <a:pt x="3241880" y="482882"/>
                </a:lnTo>
                <a:lnTo>
                  <a:pt x="3248777" y="462981"/>
                </a:lnTo>
                <a:lnTo>
                  <a:pt x="3255596" y="442796"/>
                </a:lnTo>
                <a:lnTo>
                  <a:pt x="3262336" y="422324"/>
                </a:lnTo>
                <a:lnTo>
                  <a:pt x="3268999" y="401564"/>
                </a:lnTo>
                <a:lnTo>
                  <a:pt x="3275586" y="380513"/>
                </a:lnTo>
                <a:lnTo>
                  <a:pt x="3282097" y="359170"/>
                </a:lnTo>
                <a:lnTo>
                  <a:pt x="3288534" y="337533"/>
                </a:lnTo>
                <a:lnTo>
                  <a:pt x="3294897" y="315600"/>
                </a:lnTo>
                <a:lnTo>
                  <a:pt x="3301187" y="293369"/>
                </a:lnTo>
                <a:lnTo>
                  <a:pt x="3307406" y="270839"/>
                </a:lnTo>
                <a:lnTo>
                  <a:pt x="3313553" y="248007"/>
                </a:lnTo>
                <a:lnTo>
                  <a:pt x="3319629" y="224872"/>
                </a:lnTo>
                <a:lnTo>
                  <a:pt x="3325636" y="201432"/>
                </a:lnTo>
                <a:lnTo>
                  <a:pt x="3331574" y="177686"/>
                </a:lnTo>
                <a:lnTo>
                  <a:pt x="3337444" y="153632"/>
                </a:lnTo>
                <a:lnTo>
                  <a:pt x="3343247" y="129269"/>
                </a:lnTo>
                <a:lnTo>
                  <a:pt x="3348984" y="104595"/>
                </a:lnTo>
                <a:lnTo>
                  <a:pt x="3354654" y="79608"/>
                </a:lnTo>
                <a:lnTo>
                  <a:pt x="3360260" y="54309"/>
                </a:lnTo>
                <a:lnTo>
                  <a:pt x="3365802" y="28694"/>
                </a:lnTo>
                <a:lnTo>
                  <a:pt x="3371280" y="2764"/>
                </a:lnTo>
                <a:lnTo>
                  <a:pt x="3371850" y="0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73" name="gamma.zero">
            <a:extLst>
              <a:ext uri="{FF2B5EF4-FFF2-40B4-BE49-F238E27FC236}">
                <a16:creationId xmlns:a16="http://schemas.microsoft.com/office/drawing/2014/main" id="{FA2BACC6-CE94-4061-89ED-0288DA7A3DDA}"/>
              </a:ext>
            </a:extLst>
          </p:cNvPr>
          <p:cNvSpPr>
            <a:spLocks noGrp="1"/>
          </p:cNvSpPr>
          <p:nvPr/>
        </p:nvSpPr>
        <p:spPr>
          <a:xfrm>
            <a:off x="6667500" y="4427220"/>
            <a:ext cx="3371850" cy="953"/>
          </a:xfrm>
          <a:custGeom>
            <a:avLst/>
            <a:gdLst/>
            <a:ahLst/>
            <a:cxnLst/>
            <a:rect l="0" t="0" r="0" b="0"/>
            <a:pathLst>
              <a:path w="3371850" h="953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/>
          <a:ln w="11430">
            <a:solidFill>
              <a:srgbClr val="82878C"/>
            </a:solidFill>
            <a:prstDash val="dash"/>
          </a:ln>
        </p:spPr>
      </p:sp>
      <p:sp>
        <p:nvSpPr>
          <p:cNvPr id="74" name="gamma.selected">
            <a:extLst>
              <a:ext uri="{FF2B5EF4-FFF2-40B4-BE49-F238E27FC236}">
                <a16:creationId xmlns:a16="http://schemas.microsoft.com/office/drawing/2014/main" id="{4EB166D7-0753-4947-AD34-D4D4CD1080F5}"/>
              </a:ext>
            </a:extLst>
          </p:cNvPr>
          <p:cNvSpPr>
            <a:spLocks noGrp="1"/>
          </p:cNvSpPr>
          <p:nvPr/>
        </p:nvSpPr>
        <p:spPr>
          <a:xfrm>
            <a:off x="8302096" y="4379595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75" name="gamma.projection">
            <a:extLst>
              <a:ext uri="{FF2B5EF4-FFF2-40B4-BE49-F238E27FC236}">
                <a16:creationId xmlns:a16="http://schemas.microsoft.com/office/drawing/2014/main" id="{48724ACA-B12A-45E1-BB26-4BFAF3045EFF}"/>
              </a:ext>
            </a:extLst>
          </p:cNvPr>
          <p:cNvSpPr>
            <a:spLocks noGrp="1"/>
          </p:cNvSpPr>
          <p:nvPr/>
        </p:nvSpPr>
        <p:spPr>
          <a:xfrm>
            <a:off x="8349721" y="4427220"/>
            <a:ext cx="953" cy="211455"/>
          </a:xfrm>
          <a:custGeom>
            <a:avLst/>
            <a:gdLst/>
            <a:ahLst/>
            <a:cxnLst/>
            <a:rect l="0" t="0" r="0" b="0"/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77" name="gamma.root-leader">
            <a:extLst>
              <a:ext uri="{FF2B5EF4-FFF2-40B4-BE49-F238E27FC236}">
                <a16:creationId xmlns:a16="http://schemas.microsoft.com/office/drawing/2014/main" id="{9631F470-C2E6-4CA5-815D-B70180016867}"/>
              </a:ext>
            </a:extLst>
          </p:cNvPr>
          <p:cNvSpPr>
            <a:spLocks noGrp="1"/>
          </p:cNvSpPr>
          <p:nvPr/>
        </p:nvSpPr>
        <p:spPr>
          <a:xfrm>
            <a:off x="8302096" y="4048125"/>
            <a:ext cx="32279" cy="312420"/>
          </a:xfrm>
          <a:custGeom>
            <a:avLst/>
            <a:gdLst/>
            <a:ahLst/>
            <a:cxnLst/>
            <a:rect l="0" t="0" r="0" b="0"/>
            <a:pathLst>
              <a:path w="32279" h="312420">
                <a:moveTo>
                  <a:pt x="32279" y="0"/>
                </a:moveTo>
                <a:lnTo>
                  <a:pt x="0" y="31242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79" name="flow.criterion-gamma">
            <a:extLst>
              <a:ext uri="{FF2B5EF4-FFF2-40B4-BE49-F238E27FC236}">
                <a16:creationId xmlns:a16="http://schemas.microsoft.com/office/drawing/2014/main" id="{F30E2B37-AECA-47F4-853B-A8BAE9092FCA}"/>
              </a:ext>
            </a:extLst>
          </p:cNvPr>
          <p:cNvSpPr>
            <a:spLocks noGrp="1"/>
          </p:cNvSpPr>
          <p:nvPr/>
        </p:nvSpPr>
        <p:spPr>
          <a:xfrm>
            <a:off x="5257800" y="3228975"/>
            <a:ext cx="5905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80" name="flow.criterion-transfer">
            <a:extLst>
              <a:ext uri="{FF2B5EF4-FFF2-40B4-BE49-F238E27FC236}">
                <a16:creationId xmlns:a16="http://schemas.microsoft.com/office/drawing/2014/main" id="{CF4CEC26-E92D-48B0-BDD2-B78D529648E0}"/>
              </a:ext>
            </a:extLst>
          </p:cNvPr>
          <p:cNvSpPr>
            <a:spLocks noGrp="1"/>
          </p:cNvSpPr>
          <p:nvPr/>
        </p:nvSpPr>
        <p:spPr>
          <a:xfrm>
            <a:off x="5267325" y="2847975"/>
            <a:ext cx="6477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1" name="beta.boundary">
            <a:extLst>
              <a:ext uri="{FF2B5EF4-FFF2-40B4-BE49-F238E27FC236}">
                <a16:creationId xmlns:a16="http://schemas.microsoft.com/office/drawing/2014/main" id="{1B7B0A30-9956-4CD6-8ED3-F59548955CDF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43865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</p:sp>
      <p:sp>
        <p:nvSpPr>
          <p:cNvPr id="82" name="beta.header">
            <a:extLst>
              <a:ext uri="{FF2B5EF4-FFF2-40B4-BE49-F238E27FC236}">
                <a16:creationId xmlns:a16="http://schemas.microsoft.com/office/drawing/2014/main" id="{5C134F38-D424-4E34-8AAF-227E57115052}"/>
              </a:ext>
            </a:extLst>
          </p:cNvPr>
          <p:cNvSpPr>
            <a:spLocks noGrp="1"/>
          </p:cNvSpPr>
          <p:nvPr/>
        </p:nvSpPr>
        <p:spPr>
          <a:xfrm>
            <a:off x="11811000" y="914400"/>
            <a:ext cx="49530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</p:sp>
      <p:sp>
        <p:nvSpPr>
          <p:cNvPr id="83" name="beta.title">
            <a:extLst>
              <a:ext uri="{FF2B5EF4-FFF2-40B4-BE49-F238E27FC236}">
                <a16:creationId xmlns:a16="http://schemas.microsoft.com/office/drawing/2014/main" id="{78EB8B24-E16A-499C-865F-840A708A0397}"/>
              </a:ext>
            </a:extLst>
          </p:cNvPr>
          <p:cNvSpPr>
            <a:spLocks noGrp="1"/>
          </p:cNvSpPr>
          <p:nvPr/>
        </p:nvSpPr>
        <p:spPr>
          <a:xfrm>
            <a:off x="11906250" y="933450"/>
            <a:ext cx="47625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88" name="beta.fixed">
            <a:extLst>
              <a:ext uri="{FF2B5EF4-FFF2-40B4-BE49-F238E27FC236}">
                <a16:creationId xmlns:a16="http://schemas.microsoft.com/office/drawing/2014/main" id="{271E644D-1689-4B11-9669-847C8A2592D8}"/>
              </a:ext>
            </a:extLst>
          </p:cNvPr>
          <p:cNvSpPr>
            <a:spLocks noGrp="1"/>
          </p:cNvSpPr>
          <p:nvPr/>
        </p:nvSpPr>
        <p:spPr>
          <a:xfrm>
            <a:off x="12096750" y="2295525"/>
            <a:ext cx="43815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89" name="beta.axisx">
            <a:extLst>
              <a:ext uri="{FF2B5EF4-FFF2-40B4-BE49-F238E27FC236}">
                <a16:creationId xmlns:a16="http://schemas.microsoft.com/office/drawing/2014/main" id="{B80E6666-8E40-42B1-9E82-990467FB3001}"/>
              </a:ext>
            </a:extLst>
          </p:cNvPr>
          <p:cNvSpPr>
            <a:spLocks noGrp="1"/>
          </p:cNvSpPr>
          <p:nvPr/>
        </p:nvSpPr>
        <p:spPr>
          <a:xfrm>
            <a:off x="12715875" y="4638675"/>
            <a:ext cx="3333750" cy="953"/>
          </a:xfrm>
          <a:custGeom>
            <a:avLst/>
            <a:gdLst/>
            <a:ahLst/>
            <a:cxnLst/>
            <a:rect l="0" t="0" r="0" b="0"/>
            <a:pathLst>
              <a:path w="3333750" h="953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0" name="beta.axisy">
            <a:extLst>
              <a:ext uri="{FF2B5EF4-FFF2-40B4-BE49-F238E27FC236}">
                <a16:creationId xmlns:a16="http://schemas.microsoft.com/office/drawing/2014/main" id="{C0CAE5D4-D4C3-413B-B64B-74FA3BC7450B}"/>
              </a:ext>
            </a:extLst>
          </p:cNvPr>
          <p:cNvSpPr>
            <a:spLocks noGrp="1"/>
          </p:cNvSpPr>
          <p:nvPr/>
        </p:nvSpPr>
        <p:spPr>
          <a:xfrm>
            <a:off x="12715875" y="2876550"/>
            <a:ext cx="953" cy="1762125"/>
          </a:xfrm>
          <a:custGeom>
            <a:avLst/>
            <a:gdLst/>
            <a:ahLst/>
            <a:cxnLst/>
            <a:rect l="0" t="0" r="0" b="0"/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</p:sp>
      <p:sp>
        <p:nvSpPr>
          <p:cNvPr id="91" name="beta.xtick1.5">
            <a:extLst>
              <a:ext uri="{FF2B5EF4-FFF2-40B4-BE49-F238E27FC236}">
                <a16:creationId xmlns:a16="http://schemas.microsoft.com/office/drawing/2014/main" id="{E1D11E4A-8C26-4ADB-82BE-32A4D530AB89}"/>
              </a:ext>
            </a:extLst>
          </p:cNvPr>
          <p:cNvSpPr>
            <a:spLocks noGrp="1"/>
          </p:cNvSpPr>
          <p:nvPr/>
        </p:nvSpPr>
        <p:spPr>
          <a:xfrm>
            <a:off x="1271587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2" name="beta.xtxt1.5">
            <a:extLst>
              <a:ext uri="{FF2B5EF4-FFF2-40B4-BE49-F238E27FC236}">
                <a16:creationId xmlns:a16="http://schemas.microsoft.com/office/drawing/2014/main" id="{F541BF54-187E-4DDF-B820-22752B37CEE3}"/>
              </a:ext>
            </a:extLst>
          </p:cNvPr>
          <p:cNvSpPr>
            <a:spLocks noGrp="1"/>
          </p:cNvSpPr>
          <p:nvPr/>
        </p:nvSpPr>
        <p:spPr>
          <a:xfrm>
            <a:off x="1238250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3" name="beta.xtick2.5">
            <a:extLst>
              <a:ext uri="{FF2B5EF4-FFF2-40B4-BE49-F238E27FC236}">
                <a16:creationId xmlns:a16="http://schemas.microsoft.com/office/drawing/2014/main" id="{EE362F16-9A3D-4AB8-B248-ADEFE8B5D1C4}"/>
              </a:ext>
            </a:extLst>
          </p:cNvPr>
          <p:cNvSpPr>
            <a:spLocks noGrp="1"/>
          </p:cNvSpPr>
          <p:nvPr/>
        </p:nvSpPr>
        <p:spPr>
          <a:xfrm>
            <a:off x="1404937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4" name="beta.xtxt2.5">
            <a:extLst>
              <a:ext uri="{FF2B5EF4-FFF2-40B4-BE49-F238E27FC236}">
                <a16:creationId xmlns:a16="http://schemas.microsoft.com/office/drawing/2014/main" id="{D0DABC7F-2A92-4BA7-9E54-4B235C6713B4}"/>
              </a:ext>
            </a:extLst>
          </p:cNvPr>
          <p:cNvSpPr>
            <a:spLocks noGrp="1"/>
          </p:cNvSpPr>
          <p:nvPr/>
        </p:nvSpPr>
        <p:spPr>
          <a:xfrm>
            <a:off x="1371600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5" name="beta.xtick3.5">
            <a:extLst>
              <a:ext uri="{FF2B5EF4-FFF2-40B4-BE49-F238E27FC236}">
                <a16:creationId xmlns:a16="http://schemas.microsoft.com/office/drawing/2014/main" id="{21B53ED5-B786-49D9-9D05-6AAEDD7215F0}"/>
              </a:ext>
            </a:extLst>
          </p:cNvPr>
          <p:cNvSpPr>
            <a:spLocks noGrp="1"/>
          </p:cNvSpPr>
          <p:nvPr/>
        </p:nvSpPr>
        <p:spPr>
          <a:xfrm>
            <a:off x="15382875" y="463867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6" name="beta.xtxt3.5">
            <a:extLst>
              <a:ext uri="{FF2B5EF4-FFF2-40B4-BE49-F238E27FC236}">
                <a16:creationId xmlns:a16="http://schemas.microsoft.com/office/drawing/2014/main" id="{9EC5EE23-122C-4EDE-ACE8-1A41E05BF763}"/>
              </a:ext>
            </a:extLst>
          </p:cNvPr>
          <p:cNvSpPr>
            <a:spLocks noGrp="1"/>
          </p:cNvSpPr>
          <p:nvPr/>
        </p:nvSpPr>
        <p:spPr>
          <a:xfrm>
            <a:off x="15049500" y="4724400"/>
            <a:ext cx="66675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97" name="beta.ytick0">
            <a:extLst>
              <a:ext uri="{FF2B5EF4-FFF2-40B4-BE49-F238E27FC236}">
                <a16:creationId xmlns:a16="http://schemas.microsoft.com/office/drawing/2014/main" id="{83A6BD32-0DC5-4B70-99E1-AECF99316297}"/>
              </a:ext>
            </a:extLst>
          </p:cNvPr>
          <p:cNvSpPr>
            <a:spLocks noGrp="1"/>
          </p:cNvSpPr>
          <p:nvPr/>
        </p:nvSpPr>
        <p:spPr>
          <a:xfrm>
            <a:off x="12658725" y="4638675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98" name="beta.ytxt0">
            <a:extLst>
              <a:ext uri="{FF2B5EF4-FFF2-40B4-BE49-F238E27FC236}">
                <a16:creationId xmlns:a16="http://schemas.microsoft.com/office/drawing/2014/main" id="{5343FD4C-A3C7-476B-A623-6EB84F43159E}"/>
              </a:ext>
            </a:extLst>
          </p:cNvPr>
          <p:cNvSpPr>
            <a:spLocks noGrp="1"/>
          </p:cNvSpPr>
          <p:nvPr/>
        </p:nvSpPr>
        <p:spPr>
          <a:xfrm>
            <a:off x="12125325" y="4514850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9" name="beta.ytick100">
            <a:extLst>
              <a:ext uri="{FF2B5EF4-FFF2-40B4-BE49-F238E27FC236}">
                <a16:creationId xmlns:a16="http://schemas.microsoft.com/office/drawing/2014/main" id="{1FCB39AA-6FA5-4309-BB22-BCCB0B7BF504}"/>
              </a:ext>
            </a:extLst>
          </p:cNvPr>
          <p:cNvSpPr>
            <a:spLocks noGrp="1"/>
          </p:cNvSpPr>
          <p:nvPr/>
        </p:nvSpPr>
        <p:spPr>
          <a:xfrm>
            <a:off x="12658725" y="4135211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0" name="beta.ytxt100">
            <a:extLst>
              <a:ext uri="{FF2B5EF4-FFF2-40B4-BE49-F238E27FC236}">
                <a16:creationId xmlns:a16="http://schemas.microsoft.com/office/drawing/2014/main" id="{6731F0E0-F51E-4689-947A-1B5769BB50C0}"/>
              </a:ext>
            </a:extLst>
          </p:cNvPr>
          <p:cNvSpPr>
            <a:spLocks noGrp="1"/>
          </p:cNvSpPr>
          <p:nvPr/>
        </p:nvSpPr>
        <p:spPr>
          <a:xfrm>
            <a:off x="12125325" y="4011386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1" name="beta.ytick200">
            <a:extLst>
              <a:ext uri="{FF2B5EF4-FFF2-40B4-BE49-F238E27FC236}">
                <a16:creationId xmlns:a16="http://schemas.microsoft.com/office/drawing/2014/main" id="{D718B2B2-946D-49EE-BAD6-976FA04107FC}"/>
              </a:ext>
            </a:extLst>
          </p:cNvPr>
          <p:cNvSpPr>
            <a:spLocks noGrp="1"/>
          </p:cNvSpPr>
          <p:nvPr/>
        </p:nvSpPr>
        <p:spPr>
          <a:xfrm>
            <a:off x="12658725" y="3631746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2" name="beta.ytxt200">
            <a:extLst>
              <a:ext uri="{FF2B5EF4-FFF2-40B4-BE49-F238E27FC236}">
                <a16:creationId xmlns:a16="http://schemas.microsoft.com/office/drawing/2014/main" id="{5CA24AB7-1EB7-47DF-87E8-F5B57F5C1D3E}"/>
              </a:ext>
            </a:extLst>
          </p:cNvPr>
          <p:cNvSpPr>
            <a:spLocks noGrp="1"/>
          </p:cNvSpPr>
          <p:nvPr/>
        </p:nvSpPr>
        <p:spPr>
          <a:xfrm>
            <a:off x="12125325" y="3507921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3" name="beta.ytick300">
            <a:extLst>
              <a:ext uri="{FF2B5EF4-FFF2-40B4-BE49-F238E27FC236}">
                <a16:creationId xmlns:a16="http://schemas.microsoft.com/office/drawing/2014/main" id="{5FFC6231-94FF-4ED7-8DEB-00D21A4C6B56}"/>
              </a:ext>
            </a:extLst>
          </p:cNvPr>
          <p:cNvSpPr>
            <a:spLocks noGrp="1"/>
          </p:cNvSpPr>
          <p:nvPr/>
        </p:nvSpPr>
        <p:spPr>
          <a:xfrm>
            <a:off x="12658725" y="3128282"/>
            <a:ext cx="57150" cy="953"/>
          </a:xfrm>
          <a:custGeom>
            <a:avLst/>
            <a:gdLst/>
            <a:ahLst/>
            <a:cxnLst/>
            <a:rect l="0" t="0" r="0" b="0"/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04" name="beta.ytxt300">
            <a:extLst>
              <a:ext uri="{FF2B5EF4-FFF2-40B4-BE49-F238E27FC236}">
                <a16:creationId xmlns:a16="http://schemas.microsoft.com/office/drawing/2014/main" id="{4150D36B-B187-4EA7-A02D-59B5DE62A8B2}"/>
              </a:ext>
            </a:extLst>
          </p:cNvPr>
          <p:cNvSpPr>
            <a:spLocks noGrp="1"/>
          </p:cNvSpPr>
          <p:nvPr/>
        </p:nvSpPr>
        <p:spPr>
          <a:xfrm>
            <a:off x="12125325" y="3004457"/>
            <a:ext cx="4572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5" name="beta.xlabel">
            <a:extLst>
              <a:ext uri="{FF2B5EF4-FFF2-40B4-BE49-F238E27FC236}">
                <a16:creationId xmlns:a16="http://schemas.microsoft.com/office/drawing/2014/main" id="{2C47772D-B4B4-4C9F-9DF2-7DFEEEE3F379}"/>
              </a:ext>
            </a:extLst>
          </p:cNvPr>
          <p:cNvSpPr>
            <a:spLocks noGrp="1"/>
          </p:cNvSpPr>
          <p:nvPr/>
        </p:nvSpPr>
        <p:spPr>
          <a:xfrm>
            <a:off x="12715875" y="5048250"/>
            <a:ext cx="333375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06" name="beta.ylabel">
            <a:extLst>
              <a:ext uri="{FF2B5EF4-FFF2-40B4-BE49-F238E27FC236}">
                <a16:creationId xmlns:a16="http://schemas.microsoft.com/office/drawing/2014/main" id="{122A4F6E-DC35-470F-BE73-BF9703176667}"/>
              </a:ext>
            </a:extLst>
          </p:cNvPr>
          <p:cNvSpPr>
            <a:spLocks noGrp="1"/>
          </p:cNvSpPr>
          <p:nvPr/>
        </p:nvSpPr>
        <p:spPr>
          <a:xfrm rot="16200000">
            <a:off x="11239500" y="3586163"/>
            <a:ext cx="1524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07" name="beta.curve.segment0">
            <a:extLst>
              <a:ext uri="{FF2B5EF4-FFF2-40B4-BE49-F238E27FC236}">
                <a16:creationId xmlns:a16="http://schemas.microsoft.com/office/drawing/2014/main" id="{3F6C36C5-C0AA-49DE-A21A-9CB5E5CE5967}"/>
              </a:ext>
            </a:extLst>
          </p:cNvPr>
          <p:cNvSpPr>
            <a:spLocks noGrp="1"/>
          </p:cNvSpPr>
          <p:nvPr/>
        </p:nvSpPr>
        <p:spPr>
          <a:xfrm>
            <a:off x="12715875" y="2998906"/>
            <a:ext cx="3333750" cy="1171654"/>
          </a:xfrm>
          <a:custGeom>
            <a:avLst/>
            <a:gdLst/>
            <a:ahLst/>
            <a:cxnLst/>
            <a:rect l="0" t="0" r="0" b="0"/>
            <a:pathLst>
              <a:path w="3333750" h="1171654">
                <a:moveTo>
                  <a:pt x="0" y="0"/>
                </a:moveTo>
                <a:lnTo>
                  <a:pt x="4763" y="11426"/>
                </a:lnTo>
                <a:lnTo>
                  <a:pt x="9525" y="22756"/>
                </a:lnTo>
                <a:lnTo>
                  <a:pt x="14288" y="33991"/>
                </a:lnTo>
                <a:lnTo>
                  <a:pt x="19050" y="45132"/>
                </a:lnTo>
                <a:lnTo>
                  <a:pt x="23813" y="56179"/>
                </a:lnTo>
                <a:lnTo>
                  <a:pt x="28575" y="67134"/>
                </a:lnTo>
                <a:lnTo>
                  <a:pt x="33338" y="77998"/>
                </a:lnTo>
                <a:lnTo>
                  <a:pt x="38100" y="88771"/>
                </a:lnTo>
                <a:lnTo>
                  <a:pt x="42863" y="99456"/>
                </a:lnTo>
                <a:lnTo>
                  <a:pt x="47625" y="110052"/>
                </a:lnTo>
                <a:lnTo>
                  <a:pt x="52388" y="120560"/>
                </a:lnTo>
                <a:lnTo>
                  <a:pt x="57150" y="130982"/>
                </a:lnTo>
                <a:lnTo>
                  <a:pt x="61913" y="141318"/>
                </a:lnTo>
                <a:lnTo>
                  <a:pt x="66675" y="151569"/>
                </a:lnTo>
                <a:lnTo>
                  <a:pt x="71438" y="161737"/>
                </a:lnTo>
                <a:lnTo>
                  <a:pt x="76200" y="171821"/>
                </a:lnTo>
                <a:lnTo>
                  <a:pt x="80963" y="181823"/>
                </a:lnTo>
                <a:lnTo>
                  <a:pt x="85725" y="191744"/>
                </a:lnTo>
                <a:lnTo>
                  <a:pt x="90488" y="201584"/>
                </a:lnTo>
                <a:lnTo>
                  <a:pt x="95250" y="211345"/>
                </a:lnTo>
                <a:lnTo>
                  <a:pt x="100013" y="221026"/>
                </a:lnTo>
                <a:lnTo>
                  <a:pt x="104775" y="230629"/>
                </a:lnTo>
                <a:lnTo>
                  <a:pt x="109538" y="240155"/>
                </a:lnTo>
                <a:lnTo>
                  <a:pt x="114300" y="249604"/>
                </a:lnTo>
                <a:lnTo>
                  <a:pt x="119063" y="258977"/>
                </a:lnTo>
                <a:lnTo>
                  <a:pt x="123825" y="268275"/>
                </a:lnTo>
                <a:lnTo>
                  <a:pt x="128588" y="277498"/>
                </a:lnTo>
                <a:lnTo>
                  <a:pt x="133350" y="286647"/>
                </a:lnTo>
                <a:lnTo>
                  <a:pt x="138113" y="295724"/>
                </a:lnTo>
                <a:lnTo>
                  <a:pt x="142875" y="304727"/>
                </a:lnTo>
                <a:lnTo>
                  <a:pt x="147638" y="313660"/>
                </a:lnTo>
                <a:lnTo>
                  <a:pt x="152400" y="322521"/>
                </a:lnTo>
                <a:lnTo>
                  <a:pt x="157163" y="331311"/>
                </a:lnTo>
                <a:lnTo>
                  <a:pt x="161925" y="340032"/>
                </a:lnTo>
                <a:lnTo>
                  <a:pt x="166688" y="348684"/>
                </a:lnTo>
                <a:lnTo>
                  <a:pt x="171450" y="357268"/>
                </a:lnTo>
                <a:lnTo>
                  <a:pt x="176213" y="365783"/>
                </a:lnTo>
                <a:lnTo>
                  <a:pt x="180975" y="374231"/>
                </a:lnTo>
                <a:lnTo>
                  <a:pt x="185738" y="382613"/>
                </a:lnTo>
                <a:lnTo>
                  <a:pt x="190500" y="390928"/>
                </a:lnTo>
                <a:lnTo>
                  <a:pt x="195263" y="399178"/>
                </a:lnTo>
                <a:lnTo>
                  <a:pt x="200025" y="407364"/>
                </a:lnTo>
                <a:lnTo>
                  <a:pt x="204788" y="415484"/>
                </a:lnTo>
                <a:lnTo>
                  <a:pt x="209550" y="423541"/>
                </a:lnTo>
                <a:lnTo>
                  <a:pt x="214313" y="431535"/>
                </a:lnTo>
                <a:lnTo>
                  <a:pt x="219075" y="439466"/>
                </a:lnTo>
                <a:lnTo>
                  <a:pt x="223838" y="447335"/>
                </a:lnTo>
                <a:lnTo>
                  <a:pt x="228600" y="455143"/>
                </a:lnTo>
                <a:lnTo>
                  <a:pt x="233363" y="462889"/>
                </a:lnTo>
                <a:lnTo>
                  <a:pt x="238125" y="470575"/>
                </a:lnTo>
                <a:lnTo>
                  <a:pt x="242888" y="478200"/>
                </a:lnTo>
                <a:lnTo>
                  <a:pt x="247650" y="485766"/>
                </a:lnTo>
                <a:lnTo>
                  <a:pt x="252413" y="493273"/>
                </a:lnTo>
                <a:lnTo>
                  <a:pt x="257175" y="500722"/>
                </a:lnTo>
                <a:lnTo>
                  <a:pt x="261938" y="508112"/>
                </a:lnTo>
                <a:lnTo>
                  <a:pt x="266700" y="515444"/>
                </a:lnTo>
                <a:lnTo>
                  <a:pt x="271463" y="522720"/>
                </a:lnTo>
                <a:lnTo>
                  <a:pt x="276225" y="529938"/>
                </a:lnTo>
                <a:lnTo>
                  <a:pt x="280988" y="537101"/>
                </a:lnTo>
                <a:lnTo>
                  <a:pt x="285750" y="544207"/>
                </a:lnTo>
                <a:lnTo>
                  <a:pt x="290513" y="551258"/>
                </a:lnTo>
                <a:lnTo>
                  <a:pt x="295275" y="558254"/>
                </a:lnTo>
                <a:lnTo>
                  <a:pt x="300038" y="565195"/>
                </a:lnTo>
                <a:lnTo>
                  <a:pt x="304800" y="572082"/>
                </a:lnTo>
                <a:lnTo>
                  <a:pt x="309563" y="578916"/>
                </a:lnTo>
                <a:lnTo>
                  <a:pt x="314325" y="585696"/>
                </a:lnTo>
                <a:lnTo>
                  <a:pt x="319088" y="592423"/>
                </a:lnTo>
                <a:lnTo>
                  <a:pt x="323850" y="599097"/>
                </a:lnTo>
                <a:lnTo>
                  <a:pt x="328613" y="605720"/>
                </a:lnTo>
                <a:lnTo>
                  <a:pt x="333375" y="612290"/>
                </a:lnTo>
                <a:lnTo>
                  <a:pt x="338138" y="618809"/>
                </a:lnTo>
                <a:lnTo>
                  <a:pt x="342900" y="625278"/>
                </a:lnTo>
                <a:lnTo>
                  <a:pt x="347663" y="631695"/>
                </a:lnTo>
                <a:lnTo>
                  <a:pt x="352425" y="638062"/>
                </a:lnTo>
                <a:lnTo>
                  <a:pt x="357188" y="644379"/>
                </a:lnTo>
                <a:lnTo>
                  <a:pt x="361950" y="650646"/>
                </a:lnTo>
                <a:lnTo>
                  <a:pt x="366713" y="656864"/>
                </a:lnTo>
                <a:lnTo>
                  <a:pt x="371475" y="663033"/>
                </a:lnTo>
                <a:lnTo>
                  <a:pt x="376238" y="669154"/>
                </a:lnTo>
                <a:lnTo>
                  <a:pt x="381000" y="675226"/>
                </a:lnTo>
                <a:lnTo>
                  <a:pt x="385763" y="681250"/>
                </a:lnTo>
                <a:lnTo>
                  <a:pt x="390525" y="687227"/>
                </a:lnTo>
                <a:lnTo>
                  <a:pt x="395288" y="693156"/>
                </a:lnTo>
                <a:lnTo>
                  <a:pt x="400050" y="699038"/>
                </a:lnTo>
                <a:lnTo>
                  <a:pt x="404813" y="704873"/>
                </a:lnTo>
                <a:lnTo>
                  <a:pt x="409575" y="710662"/>
                </a:lnTo>
                <a:lnTo>
                  <a:pt x="414338" y="716405"/>
                </a:lnTo>
                <a:lnTo>
                  <a:pt x="419100" y="722102"/>
                </a:lnTo>
                <a:lnTo>
                  <a:pt x="423863" y="727753"/>
                </a:lnTo>
                <a:lnTo>
                  <a:pt x="428625" y="733359"/>
                </a:lnTo>
                <a:lnTo>
                  <a:pt x="433388" y="738920"/>
                </a:lnTo>
                <a:lnTo>
                  <a:pt x="438150" y="744436"/>
                </a:lnTo>
                <a:lnTo>
                  <a:pt x="442913" y="749908"/>
                </a:lnTo>
                <a:lnTo>
                  <a:pt x="447675" y="755335"/>
                </a:lnTo>
                <a:lnTo>
                  <a:pt x="452438" y="760718"/>
                </a:lnTo>
                <a:lnTo>
                  <a:pt x="457200" y="766058"/>
                </a:lnTo>
                <a:lnTo>
                  <a:pt x="461963" y="771354"/>
                </a:lnTo>
                <a:lnTo>
                  <a:pt x="466725" y="776607"/>
                </a:lnTo>
                <a:lnTo>
                  <a:pt x="471488" y="781818"/>
                </a:lnTo>
                <a:lnTo>
                  <a:pt x="476250" y="786985"/>
                </a:lnTo>
                <a:lnTo>
                  <a:pt x="481013" y="792110"/>
                </a:lnTo>
                <a:lnTo>
                  <a:pt x="485775" y="797192"/>
                </a:lnTo>
                <a:lnTo>
                  <a:pt x="490538" y="802233"/>
                </a:lnTo>
                <a:lnTo>
                  <a:pt x="495300" y="807231"/>
                </a:lnTo>
                <a:lnTo>
                  <a:pt x="500063" y="812188"/>
                </a:lnTo>
                <a:lnTo>
                  <a:pt x="504825" y="817104"/>
                </a:lnTo>
                <a:lnTo>
                  <a:pt x="509588" y="821979"/>
                </a:lnTo>
                <a:lnTo>
                  <a:pt x="514350" y="826812"/>
                </a:lnTo>
                <a:lnTo>
                  <a:pt x="519113" y="831605"/>
                </a:lnTo>
                <a:lnTo>
                  <a:pt x="523875" y="836357"/>
                </a:lnTo>
                <a:lnTo>
                  <a:pt x="528638" y="841069"/>
                </a:lnTo>
                <a:lnTo>
                  <a:pt x="533400" y="845741"/>
                </a:lnTo>
                <a:lnTo>
                  <a:pt x="538163" y="850373"/>
                </a:lnTo>
                <a:lnTo>
                  <a:pt x="542925" y="854965"/>
                </a:lnTo>
                <a:lnTo>
                  <a:pt x="547688" y="859517"/>
                </a:lnTo>
                <a:lnTo>
                  <a:pt x="552450" y="864030"/>
                </a:lnTo>
                <a:lnTo>
                  <a:pt x="557213" y="868504"/>
                </a:lnTo>
                <a:lnTo>
                  <a:pt x="561975" y="872939"/>
                </a:lnTo>
                <a:lnTo>
                  <a:pt x="566738" y="877335"/>
                </a:lnTo>
                <a:lnTo>
                  <a:pt x="571500" y="881693"/>
                </a:lnTo>
                <a:lnTo>
                  <a:pt x="576263" y="886011"/>
                </a:lnTo>
                <a:lnTo>
                  <a:pt x="581025" y="890292"/>
                </a:lnTo>
                <a:lnTo>
                  <a:pt x="585788" y="894534"/>
                </a:lnTo>
                <a:lnTo>
                  <a:pt x="590550" y="898739"/>
                </a:lnTo>
                <a:lnTo>
                  <a:pt x="595313" y="902905"/>
                </a:lnTo>
                <a:lnTo>
                  <a:pt x="600075" y="907034"/>
                </a:lnTo>
                <a:lnTo>
                  <a:pt x="604838" y="911126"/>
                </a:lnTo>
                <a:lnTo>
                  <a:pt x="609600" y="915180"/>
                </a:lnTo>
                <a:lnTo>
                  <a:pt x="614363" y="919196"/>
                </a:lnTo>
                <a:lnTo>
                  <a:pt x="619125" y="923176"/>
                </a:lnTo>
                <a:lnTo>
                  <a:pt x="623888" y="927119"/>
                </a:lnTo>
                <a:lnTo>
                  <a:pt x="628650" y="931025"/>
                </a:lnTo>
                <a:lnTo>
                  <a:pt x="633413" y="934894"/>
                </a:lnTo>
                <a:lnTo>
                  <a:pt x="638175" y="938727"/>
                </a:lnTo>
                <a:lnTo>
                  <a:pt x="642938" y="942524"/>
                </a:lnTo>
                <a:lnTo>
                  <a:pt x="647700" y="946284"/>
                </a:lnTo>
                <a:lnTo>
                  <a:pt x="652463" y="950009"/>
                </a:lnTo>
                <a:lnTo>
                  <a:pt x="657225" y="953697"/>
                </a:lnTo>
                <a:lnTo>
                  <a:pt x="661988" y="957350"/>
                </a:lnTo>
                <a:lnTo>
                  <a:pt x="666750" y="960967"/>
                </a:lnTo>
                <a:lnTo>
                  <a:pt x="671513" y="964548"/>
                </a:lnTo>
                <a:lnTo>
                  <a:pt x="676275" y="968094"/>
                </a:lnTo>
                <a:lnTo>
                  <a:pt x="681038" y="971605"/>
                </a:lnTo>
                <a:lnTo>
                  <a:pt x="685800" y="975080"/>
                </a:lnTo>
                <a:lnTo>
                  <a:pt x="690563" y="978520"/>
                </a:lnTo>
                <a:lnTo>
                  <a:pt x="695325" y="981926"/>
                </a:lnTo>
                <a:lnTo>
                  <a:pt x="700088" y="985297"/>
                </a:lnTo>
                <a:lnTo>
                  <a:pt x="704850" y="988633"/>
                </a:lnTo>
                <a:lnTo>
                  <a:pt x="709613" y="991934"/>
                </a:lnTo>
                <a:lnTo>
                  <a:pt x="714375" y="995201"/>
                </a:lnTo>
                <a:lnTo>
                  <a:pt x="719138" y="998434"/>
                </a:lnTo>
                <a:lnTo>
                  <a:pt x="723900" y="1001633"/>
                </a:lnTo>
                <a:lnTo>
                  <a:pt x="728663" y="1004797"/>
                </a:lnTo>
                <a:lnTo>
                  <a:pt x="733425" y="1007927"/>
                </a:lnTo>
                <a:lnTo>
                  <a:pt x="738188" y="1011024"/>
                </a:lnTo>
                <a:lnTo>
                  <a:pt x="742950" y="1014087"/>
                </a:lnTo>
                <a:lnTo>
                  <a:pt x="747713" y="1017116"/>
                </a:lnTo>
                <a:lnTo>
                  <a:pt x="752475" y="1020111"/>
                </a:lnTo>
                <a:lnTo>
                  <a:pt x="757238" y="1023073"/>
                </a:lnTo>
                <a:lnTo>
                  <a:pt x="762000" y="1026002"/>
                </a:lnTo>
                <a:lnTo>
                  <a:pt x="766763" y="1028898"/>
                </a:lnTo>
                <a:lnTo>
                  <a:pt x="771525" y="1031760"/>
                </a:lnTo>
                <a:lnTo>
                  <a:pt x="776288" y="1034589"/>
                </a:lnTo>
                <a:lnTo>
                  <a:pt x="781050" y="1037386"/>
                </a:lnTo>
                <a:lnTo>
                  <a:pt x="785813" y="1040149"/>
                </a:lnTo>
                <a:lnTo>
                  <a:pt x="790575" y="1042880"/>
                </a:lnTo>
                <a:lnTo>
                  <a:pt x="795338" y="1045579"/>
                </a:lnTo>
                <a:lnTo>
                  <a:pt x="800100" y="1048244"/>
                </a:lnTo>
                <a:lnTo>
                  <a:pt x="804863" y="1050878"/>
                </a:lnTo>
                <a:lnTo>
                  <a:pt x="809625" y="1053479"/>
                </a:lnTo>
                <a:lnTo>
                  <a:pt x="814388" y="1056048"/>
                </a:lnTo>
                <a:lnTo>
                  <a:pt x="819150" y="1058585"/>
                </a:lnTo>
                <a:lnTo>
                  <a:pt x="823913" y="1061090"/>
                </a:lnTo>
                <a:lnTo>
                  <a:pt x="828675" y="1063563"/>
                </a:lnTo>
                <a:lnTo>
                  <a:pt x="833438" y="1066004"/>
                </a:lnTo>
                <a:lnTo>
                  <a:pt x="838200" y="1068414"/>
                </a:lnTo>
                <a:lnTo>
                  <a:pt x="842963" y="1070792"/>
                </a:lnTo>
                <a:lnTo>
                  <a:pt x="847725" y="1073139"/>
                </a:lnTo>
                <a:lnTo>
                  <a:pt x="852488" y="1075454"/>
                </a:lnTo>
                <a:lnTo>
                  <a:pt x="857250" y="1077738"/>
                </a:lnTo>
                <a:lnTo>
                  <a:pt x="862013" y="1079991"/>
                </a:lnTo>
                <a:lnTo>
                  <a:pt x="866775" y="1082213"/>
                </a:lnTo>
                <a:lnTo>
                  <a:pt x="871538" y="1084404"/>
                </a:lnTo>
                <a:lnTo>
                  <a:pt x="876300" y="1086564"/>
                </a:lnTo>
                <a:lnTo>
                  <a:pt x="881063" y="1088693"/>
                </a:lnTo>
                <a:lnTo>
                  <a:pt x="885825" y="1090792"/>
                </a:lnTo>
                <a:lnTo>
                  <a:pt x="890588" y="1092861"/>
                </a:lnTo>
                <a:lnTo>
                  <a:pt x="895350" y="1094899"/>
                </a:lnTo>
                <a:lnTo>
                  <a:pt x="900113" y="1096906"/>
                </a:lnTo>
                <a:lnTo>
                  <a:pt x="904875" y="1098884"/>
                </a:lnTo>
                <a:lnTo>
                  <a:pt x="909638" y="1100831"/>
                </a:lnTo>
                <a:lnTo>
                  <a:pt x="914400" y="1102749"/>
                </a:lnTo>
                <a:lnTo>
                  <a:pt x="919163" y="1104637"/>
                </a:lnTo>
                <a:lnTo>
                  <a:pt x="923925" y="1106495"/>
                </a:lnTo>
                <a:lnTo>
                  <a:pt x="928688" y="1108324"/>
                </a:lnTo>
                <a:lnTo>
                  <a:pt x="933450" y="1110123"/>
                </a:lnTo>
                <a:lnTo>
                  <a:pt x="938213" y="1111893"/>
                </a:lnTo>
                <a:lnTo>
                  <a:pt x="942975" y="1113633"/>
                </a:lnTo>
                <a:lnTo>
                  <a:pt x="947738" y="1115345"/>
                </a:lnTo>
                <a:lnTo>
                  <a:pt x="952500" y="1117027"/>
                </a:lnTo>
                <a:lnTo>
                  <a:pt x="957263" y="1118681"/>
                </a:lnTo>
                <a:lnTo>
                  <a:pt x="962025" y="1120306"/>
                </a:lnTo>
                <a:lnTo>
                  <a:pt x="966788" y="1121902"/>
                </a:lnTo>
                <a:lnTo>
                  <a:pt x="971550" y="1123470"/>
                </a:lnTo>
                <a:lnTo>
                  <a:pt x="976313" y="1125010"/>
                </a:lnTo>
                <a:lnTo>
                  <a:pt x="981075" y="1126521"/>
                </a:lnTo>
                <a:lnTo>
                  <a:pt x="985838" y="1128004"/>
                </a:lnTo>
                <a:lnTo>
                  <a:pt x="990600" y="1129460"/>
                </a:lnTo>
                <a:lnTo>
                  <a:pt x="995363" y="1130887"/>
                </a:lnTo>
                <a:lnTo>
                  <a:pt x="1000125" y="1132287"/>
                </a:lnTo>
                <a:lnTo>
                  <a:pt x="1004888" y="1133660"/>
                </a:lnTo>
                <a:lnTo>
                  <a:pt x="1009650" y="1135005"/>
                </a:lnTo>
                <a:lnTo>
                  <a:pt x="1014413" y="1136322"/>
                </a:lnTo>
                <a:lnTo>
                  <a:pt x="1019175" y="1137613"/>
                </a:lnTo>
                <a:lnTo>
                  <a:pt x="1023938" y="1138877"/>
                </a:lnTo>
                <a:lnTo>
                  <a:pt x="1028700" y="1140114"/>
                </a:lnTo>
                <a:lnTo>
                  <a:pt x="1033463" y="1141324"/>
                </a:lnTo>
                <a:lnTo>
                  <a:pt x="1038225" y="1142507"/>
                </a:lnTo>
                <a:lnTo>
                  <a:pt x="1042988" y="1143665"/>
                </a:lnTo>
                <a:lnTo>
                  <a:pt x="1047750" y="1144796"/>
                </a:lnTo>
                <a:lnTo>
                  <a:pt x="1052513" y="1145901"/>
                </a:lnTo>
                <a:lnTo>
                  <a:pt x="1057275" y="1146980"/>
                </a:lnTo>
                <a:lnTo>
                  <a:pt x="1062038" y="1148033"/>
                </a:lnTo>
                <a:lnTo>
                  <a:pt x="1066800" y="1149061"/>
                </a:lnTo>
                <a:lnTo>
                  <a:pt x="1071563" y="1150064"/>
                </a:lnTo>
                <a:lnTo>
                  <a:pt x="1076325" y="1151041"/>
                </a:lnTo>
                <a:lnTo>
                  <a:pt x="1081088" y="1151993"/>
                </a:lnTo>
                <a:lnTo>
                  <a:pt x="1085850" y="1152919"/>
                </a:lnTo>
                <a:lnTo>
                  <a:pt x="1090613" y="1153822"/>
                </a:lnTo>
                <a:lnTo>
                  <a:pt x="1095375" y="1154699"/>
                </a:lnTo>
                <a:lnTo>
                  <a:pt x="1100138" y="1155552"/>
                </a:lnTo>
                <a:lnTo>
                  <a:pt x="1104900" y="1156381"/>
                </a:lnTo>
                <a:lnTo>
                  <a:pt x="1109663" y="1157186"/>
                </a:lnTo>
                <a:lnTo>
                  <a:pt x="1114425" y="1157966"/>
                </a:lnTo>
                <a:lnTo>
                  <a:pt x="1119188" y="1158723"/>
                </a:lnTo>
                <a:lnTo>
                  <a:pt x="1123950" y="1159456"/>
                </a:lnTo>
                <a:lnTo>
                  <a:pt x="1128713" y="1160166"/>
                </a:lnTo>
                <a:lnTo>
                  <a:pt x="1133475" y="1160853"/>
                </a:lnTo>
                <a:lnTo>
                  <a:pt x="1138238" y="1161516"/>
                </a:lnTo>
                <a:lnTo>
                  <a:pt x="1143000" y="1162157"/>
                </a:lnTo>
                <a:lnTo>
                  <a:pt x="1147763" y="1162775"/>
                </a:lnTo>
                <a:lnTo>
                  <a:pt x="1152525" y="1163370"/>
                </a:lnTo>
                <a:lnTo>
                  <a:pt x="1157288" y="1163943"/>
                </a:lnTo>
                <a:lnTo>
                  <a:pt x="1162050" y="1164494"/>
                </a:lnTo>
                <a:lnTo>
                  <a:pt x="1166813" y="1165022"/>
                </a:lnTo>
                <a:lnTo>
                  <a:pt x="1171575" y="1165529"/>
                </a:lnTo>
                <a:lnTo>
                  <a:pt x="1176338" y="1166014"/>
                </a:lnTo>
                <a:lnTo>
                  <a:pt x="1181100" y="1166478"/>
                </a:lnTo>
                <a:lnTo>
                  <a:pt x="1185863" y="1166920"/>
                </a:lnTo>
                <a:lnTo>
                  <a:pt x="1190625" y="1167342"/>
                </a:lnTo>
                <a:lnTo>
                  <a:pt x="1195388" y="1167742"/>
                </a:lnTo>
                <a:lnTo>
                  <a:pt x="1200150" y="1168122"/>
                </a:lnTo>
                <a:lnTo>
                  <a:pt x="1204913" y="1168481"/>
                </a:lnTo>
                <a:lnTo>
                  <a:pt x="1209675" y="1168820"/>
                </a:lnTo>
                <a:lnTo>
                  <a:pt x="1214438" y="1169138"/>
                </a:lnTo>
                <a:lnTo>
                  <a:pt x="1219200" y="1169437"/>
                </a:lnTo>
                <a:lnTo>
                  <a:pt x="1223963" y="1169716"/>
                </a:lnTo>
                <a:lnTo>
                  <a:pt x="1228725" y="1169975"/>
                </a:lnTo>
                <a:lnTo>
                  <a:pt x="1233488" y="1170215"/>
                </a:lnTo>
                <a:lnTo>
                  <a:pt x="1238250" y="1170436"/>
                </a:lnTo>
                <a:lnTo>
                  <a:pt x="1243013" y="1170638"/>
                </a:lnTo>
                <a:lnTo>
                  <a:pt x="1247775" y="1170820"/>
                </a:lnTo>
                <a:lnTo>
                  <a:pt x="1252538" y="1170985"/>
                </a:lnTo>
                <a:lnTo>
                  <a:pt x="1257300" y="1171130"/>
                </a:lnTo>
                <a:lnTo>
                  <a:pt x="1262063" y="1171258"/>
                </a:lnTo>
                <a:lnTo>
                  <a:pt x="1266825" y="1171367"/>
                </a:lnTo>
                <a:lnTo>
                  <a:pt x="1271588" y="1171459"/>
                </a:lnTo>
                <a:lnTo>
                  <a:pt x="1276350" y="1171532"/>
                </a:lnTo>
                <a:lnTo>
                  <a:pt x="1281113" y="1171589"/>
                </a:lnTo>
                <a:lnTo>
                  <a:pt x="1285875" y="1171628"/>
                </a:lnTo>
                <a:lnTo>
                  <a:pt x="1290638" y="1171649"/>
                </a:lnTo>
                <a:lnTo>
                  <a:pt x="1295400" y="1171654"/>
                </a:lnTo>
                <a:lnTo>
                  <a:pt x="1300163" y="1171643"/>
                </a:lnTo>
                <a:lnTo>
                  <a:pt x="1304925" y="1171614"/>
                </a:lnTo>
                <a:lnTo>
                  <a:pt x="1309688" y="1171569"/>
                </a:lnTo>
                <a:lnTo>
                  <a:pt x="1314450" y="1171508"/>
                </a:lnTo>
                <a:lnTo>
                  <a:pt x="1319213" y="1171431"/>
                </a:lnTo>
                <a:lnTo>
                  <a:pt x="1323975" y="1171339"/>
                </a:lnTo>
                <a:lnTo>
                  <a:pt x="1328738" y="1171230"/>
                </a:lnTo>
                <a:lnTo>
                  <a:pt x="1333500" y="1171106"/>
                </a:lnTo>
                <a:lnTo>
                  <a:pt x="1338263" y="1170967"/>
                </a:lnTo>
                <a:lnTo>
                  <a:pt x="1343025" y="1170813"/>
                </a:lnTo>
                <a:lnTo>
                  <a:pt x="1347788" y="1170644"/>
                </a:lnTo>
                <a:lnTo>
                  <a:pt x="1352550" y="1170460"/>
                </a:lnTo>
                <a:lnTo>
                  <a:pt x="1357313" y="1170262"/>
                </a:lnTo>
                <a:lnTo>
                  <a:pt x="1362075" y="1170050"/>
                </a:lnTo>
                <a:lnTo>
                  <a:pt x="1366838" y="1169823"/>
                </a:lnTo>
                <a:lnTo>
                  <a:pt x="1371600" y="1169582"/>
                </a:lnTo>
                <a:lnTo>
                  <a:pt x="1376363" y="1169328"/>
                </a:lnTo>
                <a:lnTo>
                  <a:pt x="1381125" y="1169060"/>
                </a:lnTo>
                <a:lnTo>
                  <a:pt x="1385888" y="1168778"/>
                </a:lnTo>
                <a:lnTo>
                  <a:pt x="1390650" y="1168483"/>
                </a:lnTo>
                <a:lnTo>
                  <a:pt x="1395413" y="1168175"/>
                </a:lnTo>
                <a:lnTo>
                  <a:pt x="1400175" y="1167854"/>
                </a:lnTo>
                <a:lnTo>
                  <a:pt x="1404938" y="1167521"/>
                </a:lnTo>
                <a:lnTo>
                  <a:pt x="1409700" y="1167175"/>
                </a:lnTo>
                <a:lnTo>
                  <a:pt x="1414463" y="1166816"/>
                </a:lnTo>
                <a:lnTo>
                  <a:pt x="1419225" y="1166445"/>
                </a:lnTo>
                <a:lnTo>
                  <a:pt x="1423988" y="1166062"/>
                </a:lnTo>
                <a:lnTo>
                  <a:pt x="1428750" y="1165667"/>
                </a:lnTo>
                <a:lnTo>
                  <a:pt x="1433513" y="1165261"/>
                </a:lnTo>
                <a:lnTo>
                  <a:pt x="1438275" y="1164843"/>
                </a:lnTo>
                <a:lnTo>
                  <a:pt x="1443038" y="1164413"/>
                </a:lnTo>
                <a:lnTo>
                  <a:pt x="1447800" y="1163973"/>
                </a:lnTo>
                <a:lnTo>
                  <a:pt x="1452563" y="1163521"/>
                </a:lnTo>
                <a:lnTo>
                  <a:pt x="1457325" y="1163058"/>
                </a:lnTo>
                <a:lnTo>
                  <a:pt x="1462088" y="1162585"/>
                </a:lnTo>
                <a:lnTo>
                  <a:pt x="1466850" y="1162101"/>
                </a:lnTo>
                <a:lnTo>
                  <a:pt x="1471613" y="1161606"/>
                </a:lnTo>
                <a:lnTo>
                  <a:pt x="1476375" y="1161101"/>
                </a:lnTo>
                <a:lnTo>
                  <a:pt x="1481138" y="1160586"/>
                </a:lnTo>
                <a:lnTo>
                  <a:pt x="1485900" y="1160061"/>
                </a:lnTo>
                <a:lnTo>
                  <a:pt x="1490663" y="1159527"/>
                </a:lnTo>
                <a:lnTo>
                  <a:pt x="1495425" y="1158982"/>
                </a:lnTo>
                <a:lnTo>
                  <a:pt x="1500188" y="1158428"/>
                </a:lnTo>
                <a:lnTo>
                  <a:pt x="1504950" y="1157865"/>
                </a:lnTo>
                <a:lnTo>
                  <a:pt x="1509713" y="1157292"/>
                </a:lnTo>
                <a:lnTo>
                  <a:pt x="1514475" y="1156710"/>
                </a:lnTo>
                <a:lnTo>
                  <a:pt x="1519238" y="1156120"/>
                </a:lnTo>
                <a:lnTo>
                  <a:pt x="1524000" y="1155520"/>
                </a:lnTo>
                <a:lnTo>
                  <a:pt x="1528763" y="1154912"/>
                </a:lnTo>
                <a:lnTo>
                  <a:pt x="1533525" y="1154295"/>
                </a:lnTo>
                <a:lnTo>
                  <a:pt x="1538288" y="1153670"/>
                </a:lnTo>
                <a:lnTo>
                  <a:pt x="1543050" y="1153037"/>
                </a:lnTo>
                <a:lnTo>
                  <a:pt x="1547813" y="1152396"/>
                </a:lnTo>
                <a:lnTo>
                  <a:pt x="1552575" y="1151746"/>
                </a:lnTo>
                <a:lnTo>
                  <a:pt x="1557338" y="1151089"/>
                </a:lnTo>
                <a:lnTo>
                  <a:pt x="1562100" y="1150424"/>
                </a:lnTo>
                <a:lnTo>
                  <a:pt x="1566863" y="1149751"/>
                </a:lnTo>
                <a:lnTo>
                  <a:pt x="1571625" y="1149071"/>
                </a:lnTo>
                <a:lnTo>
                  <a:pt x="1576388" y="1148384"/>
                </a:lnTo>
                <a:lnTo>
                  <a:pt x="1581150" y="1147689"/>
                </a:lnTo>
                <a:lnTo>
                  <a:pt x="1585913" y="1146987"/>
                </a:lnTo>
                <a:lnTo>
                  <a:pt x="1590675" y="1146278"/>
                </a:lnTo>
                <a:lnTo>
                  <a:pt x="1595438" y="1145563"/>
                </a:lnTo>
                <a:lnTo>
                  <a:pt x="1600200" y="1144840"/>
                </a:lnTo>
                <a:lnTo>
                  <a:pt x="1604963" y="1144111"/>
                </a:lnTo>
                <a:lnTo>
                  <a:pt x="1609725" y="1143376"/>
                </a:lnTo>
                <a:lnTo>
                  <a:pt x="1614488" y="1142634"/>
                </a:lnTo>
                <a:lnTo>
                  <a:pt x="1619250" y="1141886"/>
                </a:lnTo>
                <a:lnTo>
                  <a:pt x="1624013" y="1141132"/>
                </a:lnTo>
                <a:lnTo>
                  <a:pt x="1628775" y="1140371"/>
                </a:lnTo>
                <a:lnTo>
                  <a:pt x="1633538" y="1139605"/>
                </a:lnTo>
                <a:lnTo>
                  <a:pt x="1638300" y="1138833"/>
                </a:lnTo>
                <a:lnTo>
                  <a:pt x="1643063" y="1138055"/>
                </a:lnTo>
                <a:lnTo>
                  <a:pt x="1647825" y="1137272"/>
                </a:lnTo>
                <a:lnTo>
                  <a:pt x="1652588" y="1136483"/>
                </a:lnTo>
                <a:lnTo>
                  <a:pt x="1657350" y="1135688"/>
                </a:lnTo>
                <a:lnTo>
                  <a:pt x="1662113" y="1134889"/>
                </a:lnTo>
                <a:lnTo>
                  <a:pt x="1666875" y="1134084"/>
                </a:lnTo>
                <a:lnTo>
                  <a:pt x="1671638" y="1133274"/>
                </a:lnTo>
                <a:lnTo>
                  <a:pt x="1676400" y="1132459"/>
                </a:lnTo>
                <a:lnTo>
                  <a:pt x="1681163" y="1131639"/>
                </a:lnTo>
                <a:lnTo>
                  <a:pt x="1685925" y="1130814"/>
                </a:lnTo>
                <a:lnTo>
                  <a:pt x="1690688" y="1129985"/>
                </a:lnTo>
                <a:lnTo>
                  <a:pt x="1695450" y="1129151"/>
                </a:lnTo>
                <a:lnTo>
                  <a:pt x="1700213" y="1128312"/>
                </a:lnTo>
                <a:lnTo>
                  <a:pt x="1704975" y="1127469"/>
                </a:lnTo>
                <a:lnTo>
                  <a:pt x="1709738" y="1126622"/>
                </a:lnTo>
                <a:lnTo>
                  <a:pt x="1714500" y="1125771"/>
                </a:lnTo>
                <a:lnTo>
                  <a:pt x="1719263" y="1124915"/>
                </a:lnTo>
                <a:lnTo>
                  <a:pt x="1724025" y="1124055"/>
                </a:lnTo>
                <a:lnTo>
                  <a:pt x="1728788" y="1123191"/>
                </a:lnTo>
                <a:lnTo>
                  <a:pt x="1733550" y="1122323"/>
                </a:lnTo>
                <a:lnTo>
                  <a:pt x="1738313" y="1121452"/>
                </a:lnTo>
                <a:lnTo>
                  <a:pt x="1743075" y="1120576"/>
                </a:lnTo>
                <a:lnTo>
                  <a:pt x="1747838" y="1119697"/>
                </a:lnTo>
                <a:lnTo>
                  <a:pt x="1752600" y="1118815"/>
                </a:lnTo>
                <a:lnTo>
                  <a:pt x="1757363" y="1117928"/>
                </a:lnTo>
                <a:lnTo>
                  <a:pt x="1762125" y="1117039"/>
                </a:lnTo>
                <a:lnTo>
                  <a:pt x="1766888" y="1116146"/>
                </a:lnTo>
                <a:lnTo>
                  <a:pt x="1771650" y="1115250"/>
                </a:lnTo>
                <a:lnTo>
                  <a:pt x="1776413" y="1114350"/>
                </a:lnTo>
                <a:lnTo>
                  <a:pt x="1781175" y="1113448"/>
                </a:lnTo>
                <a:lnTo>
                  <a:pt x="1785938" y="1112542"/>
                </a:lnTo>
                <a:lnTo>
                  <a:pt x="1790700" y="1111633"/>
                </a:lnTo>
                <a:lnTo>
                  <a:pt x="1795463" y="1110722"/>
                </a:lnTo>
                <a:lnTo>
                  <a:pt x="1800225" y="1109807"/>
                </a:lnTo>
                <a:lnTo>
                  <a:pt x="1804988" y="1108890"/>
                </a:lnTo>
                <a:lnTo>
                  <a:pt x="1809750" y="1107970"/>
                </a:lnTo>
                <a:lnTo>
                  <a:pt x="1814513" y="1107048"/>
                </a:lnTo>
                <a:lnTo>
                  <a:pt x="1819275" y="1106123"/>
                </a:lnTo>
                <a:lnTo>
                  <a:pt x="1824038" y="1105195"/>
                </a:lnTo>
                <a:lnTo>
                  <a:pt x="1828800" y="1104265"/>
                </a:lnTo>
                <a:lnTo>
                  <a:pt x="1833563" y="1103332"/>
                </a:lnTo>
                <a:lnTo>
                  <a:pt x="1838325" y="1102398"/>
                </a:lnTo>
                <a:lnTo>
                  <a:pt x="1843088" y="1101460"/>
                </a:lnTo>
                <a:lnTo>
                  <a:pt x="1847850" y="1100521"/>
                </a:lnTo>
                <a:lnTo>
                  <a:pt x="1852613" y="1099580"/>
                </a:lnTo>
                <a:lnTo>
                  <a:pt x="1857375" y="1098636"/>
                </a:lnTo>
                <a:lnTo>
                  <a:pt x="1862138" y="1097690"/>
                </a:lnTo>
                <a:lnTo>
                  <a:pt x="1866900" y="1096743"/>
                </a:lnTo>
                <a:lnTo>
                  <a:pt x="1871663" y="1095793"/>
                </a:lnTo>
                <a:lnTo>
                  <a:pt x="1876425" y="1094842"/>
                </a:lnTo>
                <a:lnTo>
                  <a:pt x="1881188" y="1093889"/>
                </a:lnTo>
                <a:lnTo>
                  <a:pt x="1885950" y="1092934"/>
                </a:lnTo>
                <a:lnTo>
                  <a:pt x="1890713" y="1091977"/>
                </a:lnTo>
                <a:lnTo>
                  <a:pt x="1895475" y="1091019"/>
                </a:lnTo>
                <a:lnTo>
                  <a:pt x="1900238" y="1090059"/>
                </a:lnTo>
                <a:lnTo>
                  <a:pt x="1905000" y="1089097"/>
                </a:lnTo>
                <a:lnTo>
                  <a:pt x="1909763" y="1088134"/>
                </a:lnTo>
                <a:lnTo>
                  <a:pt x="1914525" y="1087170"/>
                </a:lnTo>
                <a:lnTo>
                  <a:pt x="1919288" y="1086204"/>
                </a:lnTo>
                <a:lnTo>
                  <a:pt x="1924050" y="1085236"/>
                </a:lnTo>
                <a:lnTo>
                  <a:pt x="1928813" y="1084268"/>
                </a:lnTo>
                <a:lnTo>
                  <a:pt x="1933575" y="1083298"/>
                </a:lnTo>
                <a:lnTo>
                  <a:pt x="1938338" y="1082327"/>
                </a:lnTo>
                <a:lnTo>
                  <a:pt x="1943100" y="1081355"/>
                </a:lnTo>
                <a:lnTo>
                  <a:pt x="1947863" y="1080381"/>
                </a:lnTo>
                <a:lnTo>
                  <a:pt x="1952625" y="1079407"/>
                </a:lnTo>
                <a:lnTo>
                  <a:pt x="1957388" y="1078431"/>
                </a:lnTo>
                <a:lnTo>
                  <a:pt x="1962150" y="1077455"/>
                </a:lnTo>
                <a:lnTo>
                  <a:pt x="1966913" y="1076477"/>
                </a:lnTo>
                <a:lnTo>
                  <a:pt x="1971675" y="1075499"/>
                </a:lnTo>
                <a:lnTo>
                  <a:pt x="1976438" y="1074519"/>
                </a:lnTo>
                <a:lnTo>
                  <a:pt x="1981200" y="1073539"/>
                </a:lnTo>
                <a:lnTo>
                  <a:pt x="1985963" y="1072558"/>
                </a:lnTo>
                <a:lnTo>
                  <a:pt x="1990725" y="1071576"/>
                </a:lnTo>
                <a:lnTo>
                  <a:pt x="1995488" y="1070594"/>
                </a:lnTo>
                <a:lnTo>
                  <a:pt x="2000250" y="1069610"/>
                </a:lnTo>
                <a:lnTo>
                  <a:pt x="2005013" y="1068626"/>
                </a:lnTo>
                <a:lnTo>
                  <a:pt x="2009775" y="1067642"/>
                </a:lnTo>
                <a:lnTo>
                  <a:pt x="2014538" y="1066657"/>
                </a:lnTo>
                <a:lnTo>
                  <a:pt x="2019300" y="1065671"/>
                </a:lnTo>
                <a:lnTo>
                  <a:pt x="2024063" y="1064685"/>
                </a:lnTo>
                <a:lnTo>
                  <a:pt x="2028825" y="1063698"/>
                </a:lnTo>
                <a:lnTo>
                  <a:pt x="2033588" y="1062711"/>
                </a:lnTo>
                <a:lnTo>
                  <a:pt x="2038350" y="1061724"/>
                </a:lnTo>
                <a:lnTo>
                  <a:pt x="2043113" y="1060736"/>
                </a:lnTo>
                <a:lnTo>
                  <a:pt x="2047875" y="1059747"/>
                </a:lnTo>
                <a:lnTo>
                  <a:pt x="2052638" y="1058759"/>
                </a:lnTo>
                <a:lnTo>
                  <a:pt x="2057400" y="1057770"/>
                </a:lnTo>
                <a:lnTo>
                  <a:pt x="2062163" y="1056780"/>
                </a:lnTo>
                <a:lnTo>
                  <a:pt x="2066925" y="1055791"/>
                </a:lnTo>
                <a:lnTo>
                  <a:pt x="2071688" y="1054801"/>
                </a:lnTo>
                <a:lnTo>
                  <a:pt x="2076450" y="1053811"/>
                </a:lnTo>
                <a:lnTo>
                  <a:pt x="2081213" y="1052821"/>
                </a:lnTo>
                <a:lnTo>
                  <a:pt x="2085975" y="1051831"/>
                </a:lnTo>
                <a:lnTo>
                  <a:pt x="2090738" y="1050841"/>
                </a:lnTo>
                <a:lnTo>
                  <a:pt x="2095500" y="1049851"/>
                </a:lnTo>
                <a:lnTo>
                  <a:pt x="2100263" y="1048860"/>
                </a:lnTo>
                <a:lnTo>
                  <a:pt x="2105025" y="1047870"/>
                </a:lnTo>
                <a:lnTo>
                  <a:pt x="2109788" y="1046879"/>
                </a:lnTo>
                <a:lnTo>
                  <a:pt x="2114550" y="1045889"/>
                </a:lnTo>
                <a:lnTo>
                  <a:pt x="2119313" y="1044899"/>
                </a:lnTo>
                <a:lnTo>
                  <a:pt x="2124075" y="1043908"/>
                </a:lnTo>
                <a:lnTo>
                  <a:pt x="2128838" y="1042918"/>
                </a:lnTo>
                <a:lnTo>
                  <a:pt x="2133600" y="1041928"/>
                </a:lnTo>
                <a:lnTo>
                  <a:pt x="2138363" y="1040938"/>
                </a:lnTo>
                <a:lnTo>
                  <a:pt x="2143125" y="1039949"/>
                </a:lnTo>
                <a:lnTo>
                  <a:pt x="2147888" y="1038959"/>
                </a:lnTo>
                <a:lnTo>
                  <a:pt x="2152650" y="1037970"/>
                </a:lnTo>
                <a:lnTo>
                  <a:pt x="2157413" y="1036981"/>
                </a:lnTo>
                <a:lnTo>
                  <a:pt x="2162175" y="1035992"/>
                </a:lnTo>
                <a:lnTo>
                  <a:pt x="2166938" y="1035004"/>
                </a:lnTo>
                <a:lnTo>
                  <a:pt x="2171700" y="1034015"/>
                </a:lnTo>
                <a:lnTo>
                  <a:pt x="2176463" y="1033028"/>
                </a:lnTo>
                <a:lnTo>
                  <a:pt x="2181225" y="1032040"/>
                </a:lnTo>
                <a:lnTo>
                  <a:pt x="2185988" y="1031053"/>
                </a:lnTo>
                <a:lnTo>
                  <a:pt x="2190750" y="1030066"/>
                </a:lnTo>
                <a:lnTo>
                  <a:pt x="2195513" y="1029080"/>
                </a:lnTo>
                <a:lnTo>
                  <a:pt x="2200275" y="1028094"/>
                </a:lnTo>
                <a:lnTo>
                  <a:pt x="2205038" y="1027108"/>
                </a:lnTo>
                <a:lnTo>
                  <a:pt x="2209800" y="1026123"/>
                </a:lnTo>
                <a:lnTo>
                  <a:pt x="2214563" y="1025138"/>
                </a:lnTo>
                <a:lnTo>
                  <a:pt x="2219325" y="1024154"/>
                </a:lnTo>
                <a:lnTo>
                  <a:pt x="2224088" y="1023170"/>
                </a:lnTo>
                <a:lnTo>
                  <a:pt x="2228850" y="1022187"/>
                </a:lnTo>
                <a:lnTo>
                  <a:pt x="2233613" y="1021205"/>
                </a:lnTo>
                <a:lnTo>
                  <a:pt x="2238375" y="1020223"/>
                </a:lnTo>
                <a:lnTo>
                  <a:pt x="2243138" y="1019241"/>
                </a:lnTo>
                <a:lnTo>
                  <a:pt x="2247900" y="1018260"/>
                </a:lnTo>
                <a:lnTo>
                  <a:pt x="2252663" y="1017280"/>
                </a:lnTo>
                <a:lnTo>
                  <a:pt x="2257425" y="1016300"/>
                </a:lnTo>
                <a:lnTo>
                  <a:pt x="2262188" y="1015321"/>
                </a:lnTo>
                <a:lnTo>
                  <a:pt x="2266950" y="1014343"/>
                </a:lnTo>
                <a:lnTo>
                  <a:pt x="2271713" y="1013365"/>
                </a:lnTo>
                <a:lnTo>
                  <a:pt x="2276475" y="1012388"/>
                </a:lnTo>
                <a:lnTo>
                  <a:pt x="2281238" y="1011411"/>
                </a:lnTo>
                <a:lnTo>
                  <a:pt x="2286000" y="1010436"/>
                </a:lnTo>
                <a:lnTo>
                  <a:pt x="2290763" y="1009460"/>
                </a:lnTo>
                <a:lnTo>
                  <a:pt x="2295525" y="1008486"/>
                </a:lnTo>
                <a:lnTo>
                  <a:pt x="2300288" y="1007513"/>
                </a:lnTo>
                <a:lnTo>
                  <a:pt x="2305050" y="1006540"/>
                </a:lnTo>
                <a:lnTo>
                  <a:pt x="2309813" y="1005568"/>
                </a:lnTo>
                <a:lnTo>
                  <a:pt x="2314575" y="1004597"/>
                </a:lnTo>
                <a:lnTo>
                  <a:pt x="2319338" y="1003626"/>
                </a:lnTo>
                <a:lnTo>
                  <a:pt x="2324100" y="1002656"/>
                </a:lnTo>
                <a:lnTo>
                  <a:pt x="2328863" y="1001687"/>
                </a:lnTo>
                <a:lnTo>
                  <a:pt x="2333625" y="1000719"/>
                </a:lnTo>
                <a:lnTo>
                  <a:pt x="2338388" y="999752"/>
                </a:lnTo>
                <a:lnTo>
                  <a:pt x="2343150" y="998786"/>
                </a:lnTo>
                <a:lnTo>
                  <a:pt x="2347913" y="997820"/>
                </a:lnTo>
                <a:lnTo>
                  <a:pt x="2352675" y="996856"/>
                </a:lnTo>
                <a:lnTo>
                  <a:pt x="2357438" y="995892"/>
                </a:lnTo>
                <a:lnTo>
                  <a:pt x="2362200" y="994929"/>
                </a:lnTo>
                <a:lnTo>
                  <a:pt x="2366963" y="993967"/>
                </a:lnTo>
                <a:lnTo>
                  <a:pt x="2371725" y="993006"/>
                </a:lnTo>
                <a:lnTo>
                  <a:pt x="2376488" y="992045"/>
                </a:lnTo>
                <a:lnTo>
                  <a:pt x="2381250" y="991086"/>
                </a:lnTo>
                <a:lnTo>
                  <a:pt x="2386013" y="990128"/>
                </a:lnTo>
                <a:lnTo>
                  <a:pt x="2390775" y="989170"/>
                </a:lnTo>
                <a:lnTo>
                  <a:pt x="2395538" y="988214"/>
                </a:lnTo>
                <a:lnTo>
                  <a:pt x="2400300" y="987258"/>
                </a:lnTo>
                <a:lnTo>
                  <a:pt x="2405063" y="986304"/>
                </a:lnTo>
                <a:lnTo>
                  <a:pt x="2409825" y="985350"/>
                </a:lnTo>
                <a:lnTo>
                  <a:pt x="2414588" y="984398"/>
                </a:lnTo>
                <a:lnTo>
                  <a:pt x="2419350" y="983446"/>
                </a:lnTo>
                <a:lnTo>
                  <a:pt x="2424113" y="982495"/>
                </a:lnTo>
                <a:lnTo>
                  <a:pt x="2428875" y="981546"/>
                </a:lnTo>
                <a:lnTo>
                  <a:pt x="2433638" y="980597"/>
                </a:lnTo>
                <a:lnTo>
                  <a:pt x="2438400" y="979650"/>
                </a:lnTo>
                <a:lnTo>
                  <a:pt x="2443163" y="978703"/>
                </a:lnTo>
                <a:lnTo>
                  <a:pt x="2447925" y="977757"/>
                </a:lnTo>
                <a:lnTo>
                  <a:pt x="2452688" y="976813"/>
                </a:lnTo>
                <a:lnTo>
                  <a:pt x="2457450" y="975869"/>
                </a:lnTo>
                <a:lnTo>
                  <a:pt x="2462213" y="974927"/>
                </a:lnTo>
                <a:lnTo>
                  <a:pt x="2466975" y="973986"/>
                </a:lnTo>
                <a:lnTo>
                  <a:pt x="2471738" y="973045"/>
                </a:lnTo>
                <a:lnTo>
                  <a:pt x="2476500" y="972106"/>
                </a:lnTo>
                <a:lnTo>
                  <a:pt x="2481263" y="971168"/>
                </a:lnTo>
                <a:lnTo>
                  <a:pt x="2486025" y="970231"/>
                </a:lnTo>
                <a:lnTo>
                  <a:pt x="2490788" y="969295"/>
                </a:lnTo>
                <a:lnTo>
                  <a:pt x="2495550" y="968360"/>
                </a:lnTo>
                <a:lnTo>
                  <a:pt x="2500313" y="967426"/>
                </a:lnTo>
                <a:lnTo>
                  <a:pt x="2505075" y="966494"/>
                </a:lnTo>
                <a:lnTo>
                  <a:pt x="2509838" y="965562"/>
                </a:lnTo>
                <a:lnTo>
                  <a:pt x="2514600" y="964632"/>
                </a:lnTo>
                <a:lnTo>
                  <a:pt x="2519363" y="963703"/>
                </a:lnTo>
                <a:lnTo>
                  <a:pt x="2524125" y="962774"/>
                </a:lnTo>
                <a:lnTo>
                  <a:pt x="2528888" y="961847"/>
                </a:lnTo>
                <a:lnTo>
                  <a:pt x="2533650" y="960921"/>
                </a:lnTo>
                <a:lnTo>
                  <a:pt x="2538413" y="959997"/>
                </a:lnTo>
                <a:lnTo>
                  <a:pt x="2543175" y="959073"/>
                </a:lnTo>
                <a:lnTo>
                  <a:pt x="2547938" y="958151"/>
                </a:lnTo>
                <a:lnTo>
                  <a:pt x="2552700" y="957229"/>
                </a:lnTo>
                <a:lnTo>
                  <a:pt x="2557463" y="956309"/>
                </a:lnTo>
                <a:lnTo>
                  <a:pt x="2562225" y="955390"/>
                </a:lnTo>
                <a:lnTo>
                  <a:pt x="2566988" y="954472"/>
                </a:lnTo>
                <a:lnTo>
                  <a:pt x="2571750" y="953555"/>
                </a:lnTo>
                <a:lnTo>
                  <a:pt x="2576513" y="952640"/>
                </a:lnTo>
                <a:lnTo>
                  <a:pt x="2581275" y="951726"/>
                </a:lnTo>
                <a:lnTo>
                  <a:pt x="2586038" y="950813"/>
                </a:lnTo>
                <a:lnTo>
                  <a:pt x="2590800" y="949901"/>
                </a:lnTo>
                <a:lnTo>
                  <a:pt x="2595563" y="948990"/>
                </a:lnTo>
                <a:lnTo>
                  <a:pt x="2600325" y="948080"/>
                </a:lnTo>
                <a:lnTo>
                  <a:pt x="2605088" y="947172"/>
                </a:lnTo>
                <a:lnTo>
                  <a:pt x="2609850" y="946265"/>
                </a:lnTo>
                <a:lnTo>
                  <a:pt x="2614613" y="945359"/>
                </a:lnTo>
                <a:lnTo>
                  <a:pt x="2619375" y="944454"/>
                </a:lnTo>
                <a:lnTo>
                  <a:pt x="2624138" y="943550"/>
                </a:lnTo>
                <a:lnTo>
                  <a:pt x="2628900" y="942648"/>
                </a:lnTo>
                <a:lnTo>
                  <a:pt x="2633663" y="941747"/>
                </a:lnTo>
                <a:lnTo>
                  <a:pt x="2638425" y="940847"/>
                </a:lnTo>
                <a:lnTo>
                  <a:pt x="2643188" y="939948"/>
                </a:lnTo>
                <a:lnTo>
                  <a:pt x="2647950" y="939050"/>
                </a:lnTo>
                <a:lnTo>
                  <a:pt x="2652713" y="938154"/>
                </a:lnTo>
                <a:lnTo>
                  <a:pt x="2657475" y="937259"/>
                </a:lnTo>
                <a:lnTo>
                  <a:pt x="2662238" y="936365"/>
                </a:lnTo>
                <a:lnTo>
                  <a:pt x="2667000" y="935473"/>
                </a:lnTo>
                <a:lnTo>
                  <a:pt x="2671763" y="934581"/>
                </a:lnTo>
                <a:lnTo>
                  <a:pt x="2676525" y="933691"/>
                </a:lnTo>
                <a:lnTo>
                  <a:pt x="2681288" y="932802"/>
                </a:lnTo>
                <a:lnTo>
                  <a:pt x="2686050" y="931914"/>
                </a:lnTo>
                <a:lnTo>
                  <a:pt x="2690813" y="931028"/>
                </a:lnTo>
                <a:lnTo>
                  <a:pt x="2695575" y="930143"/>
                </a:lnTo>
                <a:lnTo>
                  <a:pt x="2700338" y="929259"/>
                </a:lnTo>
                <a:lnTo>
                  <a:pt x="2705100" y="928376"/>
                </a:lnTo>
                <a:lnTo>
                  <a:pt x="2709863" y="927494"/>
                </a:lnTo>
                <a:lnTo>
                  <a:pt x="2714625" y="926614"/>
                </a:lnTo>
                <a:lnTo>
                  <a:pt x="2719388" y="925735"/>
                </a:lnTo>
                <a:lnTo>
                  <a:pt x="2724150" y="924857"/>
                </a:lnTo>
                <a:lnTo>
                  <a:pt x="2728913" y="923981"/>
                </a:lnTo>
                <a:lnTo>
                  <a:pt x="2733675" y="923106"/>
                </a:lnTo>
                <a:lnTo>
                  <a:pt x="2738438" y="922232"/>
                </a:lnTo>
                <a:lnTo>
                  <a:pt x="2743200" y="921359"/>
                </a:lnTo>
                <a:lnTo>
                  <a:pt x="2747963" y="920487"/>
                </a:lnTo>
                <a:lnTo>
                  <a:pt x="2752725" y="919617"/>
                </a:lnTo>
                <a:lnTo>
                  <a:pt x="2757488" y="918748"/>
                </a:lnTo>
                <a:lnTo>
                  <a:pt x="2762250" y="917880"/>
                </a:lnTo>
                <a:lnTo>
                  <a:pt x="2767013" y="917014"/>
                </a:lnTo>
                <a:lnTo>
                  <a:pt x="2771775" y="916149"/>
                </a:lnTo>
                <a:lnTo>
                  <a:pt x="2776538" y="915285"/>
                </a:lnTo>
                <a:lnTo>
                  <a:pt x="2781300" y="914422"/>
                </a:lnTo>
                <a:lnTo>
                  <a:pt x="2786063" y="913560"/>
                </a:lnTo>
                <a:lnTo>
                  <a:pt x="2790825" y="912700"/>
                </a:lnTo>
                <a:lnTo>
                  <a:pt x="2795588" y="911841"/>
                </a:lnTo>
                <a:lnTo>
                  <a:pt x="2800350" y="910984"/>
                </a:lnTo>
                <a:lnTo>
                  <a:pt x="2805113" y="910127"/>
                </a:lnTo>
                <a:lnTo>
                  <a:pt x="2809875" y="909272"/>
                </a:lnTo>
                <a:lnTo>
                  <a:pt x="2814638" y="908418"/>
                </a:lnTo>
                <a:lnTo>
                  <a:pt x="2819400" y="907566"/>
                </a:lnTo>
                <a:lnTo>
                  <a:pt x="2824163" y="906714"/>
                </a:lnTo>
                <a:lnTo>
                  <a:pt x="2828925" y="905864"/>
                </a:lnTo>
                <a:lnTo>
                  <a:pt x="2833688" y="905015"/>
                </a:lnTo>
                <a:lnTo>
                  <a:pt x="2838450" y="904168"/>
                </a:lnTo>
                <a:lnTo>
                  <a:pt x="2843213" y="903322"/>
                </a:lnTo>
                <a:lnTo>
                  <a:pt x="2847975" y="902477"/>
                </a:lnTo>
                <a:lnTo>
                  <a:pt x="2852738" y="901633"/>
                </a:lnTo>
                <a:lnTo>
                  <a:pt x="2857500" y="900790"/>
                </a:lnTo>
                <a:lnTo>
                  <a:pt x="2862263" y="899949"/>
                </a:lnTo>
                <a:lnTo>
                  <a:pt x="2867025" y="899109"/>
                </a:lnTo>
                <a:lnTo>
                  <a:pt x="2871788" y="898270"/>
                </a:lnTo>
                <a:lnTo>
                  <a:pt x="2876550" y="897433"/>
                </a:lnTo>
                <a:lnTo>
                  <a:pt x="2881313" y="896597"/>
                </a:lnTo>
                <a:lnTo>
                  <a:pt x="2886075" y="895762"/>
                </a:lnTo>
                <a:lnTo>
                  <a:pt x="2890838" y="894928"/>
                </a:lnTo>
                <a:lnTo>
                  <a:pt x="2895600" y="894096"/>
                </a:lnTo>
                <a:lnTo>
                  <a:pt x="2900363" y="893265"/>
                </a:lnTo>
                <a:lnTo>
                  <a:pt x="2905125" y="892435"/>
                </a:lnTo>
                <a:lnTo>
                  <a:pt x="2909888" y="891606"/>
                </a:lnTo>
                <a:lnTo>
                  <a:pt x="2914650" y="890779"/>
                </a:lnTo>
                <a:lnTo>
                  <a:pt x="2919413" y="889953"/>
                </a:lnTo>
                <a:lnTo>
                  <a:pt x="2924175" y="889128"/>
                </a:lnTo>
                <a:lnTo>
                  <a:pt x="2928938" y="888305"/>
                </a:lnTo>
                <a:lnTo>
                  <a:pt x="2933700" y="887482"/>
                </a:lnTo>
                <a:lnTo>
                  <a:pt x="2938463" y="886661"/>
                </a:lnTo>
                <a:lnTo>
                  <a:pt x="2943225" y="885841"/>
                </a:lnTo>
                <a:lnTo>
                  <a:pt x="2947988" y="885023"/>
                </a:lnTo>
                <a:lnTo>
                  <a:pt x="2952750" y="884206"/>
                </a:lnTo>
                <a:lnTo>
                  <a:pt x="2957513" y="883390"/>
                </a:lnTo>
                <a:lnTo>
                  <a:pt x="2962275" y="882575"/>
                </a:lnTo>
                <a:lnTo>
                  <a:pt x="2967038" y="881762"/>
                </a:lnTo>
                <a:lnTo>
                  <a:pt x="2971800" y="880949"/>
                </a:lnTo>
                <a:lnTo>
                  <a:pt x="2976563" y="880138"/>
                </a:lnTo>
                <a:lnTo>
                  <a:pt x="2981325" y="879329"/>
                </a:lnTo>
                <a:lnTo>
                  <a:pt x="2986088" y="878520"/>
                </a:lnTo>
                <a:lnTo>
                  <a:pt x="2990850" y="877713"/>
                </a:lnTo>
                <a:lnTo>
                  <a:pt x="2995613" y="876907"/>
                </a:lnTo>
                <a:lnTo>
                  <a:pt x="3000375" y="876102"/>
                </a:lnTo>
                <a:lnTo>
                  <a:pt x="3005138" y="875299"/>
                </a:lnTo>
                <a:lnTo>
                  <a:pt x="3009900" y="874497"/>
                </a:lnTo>
                <a:lnTo>
                  <a:pt x="3014663" y="873696"/>
                </a:lnTo>
                <a:lnTo>
                  <a:pt x="3019425" y="872896"/>
                </a:lnTo>
                <a:lnTo>
                  <a:pt x="3024188" y="872097"/>
                </a:lnTo>
                <a:lnTo>
                  <a:pt x="3028950" y="871300"/>
                </a:lnTo>
                <a:lnTo>
                  <a:pt x="3033713" y="870504"/>
                </a:lnTo>
                <a:lnTo>
                  <a:pt x="3038475" y="869709"/>
                </a:lnTo>
                <a:lnTo>
                  <a:pt x="3043238" y="868916"/>
                </a:lnTo>
                <a:lnTo>
                  <a:pt x="3048000" y="868124"/>
                </a:lnTo>
                <a:lnTo>
                  <a:pt x="3052763" y="867333"/>
                </a:lnTo>
                <a:lnTo>
                  <a:pt x="3057525" y="866543"/>
                </a:lnTo>
                <a:lnTo>
                  <a:pt x="3062288" y="865754"/>
                </a:lnTo>
                <a:lnTo>
                  <a:pt x="3067050" y="864967"/>
                </a:lnTo>
                <a:lnTo>
                  <a:pt x="3071813" y="864181"/>
                </a:lnTo>
                <a:lnTo>
                  <a:pt x="3076575" y="863396"/>
                </a:lnTo>
                <a:lnTo>
                  <a:pt x="3081338" y="862613"/>
                </a:lnTo>
                <a:lnTo>
                  <a:pt x="3086100" y="861830"/>
                </a:lnTo>
                <a:lnTo>
                  <a:pt x="3090863" y="861049"/>
                </a:lnTo>
                <a:lnTo>
                  <a:pt x="3095625" y="860269"/>
                </a:lnTo>
                <a:lnTo>
                  <a:pt x="3100388" y="859490"/>
                </a:lnTo>
                <a:lnTo>
                  <a:pt x="3105150" y="858713"/>
                </a:lnTo>
                <a:lnTo>
                  <a:pt x="3109913" y="857937"/>
                </a:lnTo>
                <a:lnTo>
                  <a:pt x="3114675" y="857162"/>
                </a:lnTo>
                <a:lnTo>
                  <a:pt x="3119438" y="856388"/>
                </a:lnTo>
                <a:lnTo>
                  <a:pt x="3124200" y="855615"/>
                </a:lnTo>
                <a:lnTo>
                  <a:pt x="3128963" y="854844"/>
                </a:lnTo>
                <a:lnTo>
                  <a:pt x="3133725" y="854074"/>
                </a:lnTo>
                <a:lnTo>
                  <a:pt x="3138488" y="853305"/>
                </a:lnTo>
                <a:lnTo>
                  <a:pt x="3143250" y="852537"/>
                </a:lnTo>
                <a:lnTo>
                  <a:pt x="3148013" y="851770"/>
                </a:lnTo>
                <a:lnTo>
                  <a:pt x="3152775" y="851005"/>
                </a:lnTo>
                <a:lnTo>
                  <a:pt x="3157538" y="850241"/>
                </a:lnTo>
                <a:lnTo>
                  <a:pt x="3162300" y="849478"/>
                </a:lnTo>
                <a:lnTo>
                  <a:pt x="3167063" y="848717"/>
                </a:lnTo>
                <a:lnTo>
                  <a:pt x="3171825" y="847956"/>
                </a:lnTo>
                <a:lnTo>
                  <a:pt x="3176588" y="847197"/>
                </a:lnTo>
                <a:lnTo>
                  <a:pt x="3181350" y="846439"/>
                </a:lnTo>
                <a:lnTo>
                  <a:pt x="3186113" y="845682"/>
                </a:lnTo>
                <a:lnTo>
                  <a:pt x="3190875" y="844926"/>
                </a:lnTo>
                <a:lnTo>
                  <a:pt x="3195638" y="844172"/>
                </a:lnTo>
                <a:lnTo>
                  <a:pt x="3200400" y="843419"/>
                </a:lnTo>
                <a:lnTo>
                  <a:pt x="3205163" y="842666"/>
                </a:lnTo>
                <a:lnTo>
                  <a:pt x="3209925" y="841916"/>
                </a:lnTo>
                <a:lnTo>
                  <a:pt x="3214688" y="841166"/>
                </a:lnTo>
                <a:lnTo>
                  <a:pt x="3219450" y="840417"/>
                </a:lnTo>
                <a:lnTo>
                  <a:pt x="3224213" y="839670"/>
                </a:lnTo>
                <a:lnTo>
                  <a:pt x="3228975" y="838924"/>
                </a:lnTo>
                <a:lnTo>
                  <a:pt x="3233738" y="838179"/>
                </a:lnTo>
                <a:lnTo>
                  <a:pt x="3238500" y="837435"/>
                </a:lnTo>
                <a:lnTo>
                  <a:pt x="3243263" y="836693"/>
                </a:lnTo>
                <a:lnTo>
                  <a:pt x="3248025" y="835951"/>
                </a:lnTo>
                <a:lnTo>
                  <a:pt x="3252788" y="835211"/>
                </a:lnTo>
                <a:lnTo>
                  <a:pt x="3257550" y="834472"/>
                </a:lnTo>
                <a:lnTo>
                  <a:pt x="3262313" y="833734"/>
                </a:lnTo>
                <a:lnTo>
                  <a:pt x="3267075" y="832997"/>
                </a:lnTo>
                <a:lnTo>
                  <a:pt x="3271838" y="832262"/>
                </a:lnTo>
                <a:lnTo>
                  <a:pt x="3276600" y="831528"/>
                </a:lnTo>
                <a:lnTo>
                  <a:pt x="3281363" y="830794"/>
                </a:lnTo>
                <a:lnTo>
                  <a:pt x="3286125" y="830062"/>
                </a:lnTo>
                <a:lnTo>
                  <a:pt x="3290888" y="829332"/>
                </a:lnTo>
                <a:lnTo>
                  <a:pt x="3295650" y="828602"/>
                </a:lnTo>
                <a:lnTo>
                  <a:pt x="3300413" y="827873"/>
                </a:lnTo>
                <a:lnTo>
                  <a:pt x="3305175" y="827146"/>
                </a:lnTo>
                <a:lnTo>
                  <a:pt x="3309938" y="826420"/>
                </a:lnTo>
                <a:lnTo>
                  <a:pt x="3314700" y="825695"/>
                </a:lnTo>
                <a:lnTo>
                  <a:pt x="3319463" y="824971"/>
                </a:lnTo>
                <a:lnTo>
                  <a:pt x="3324225" y="824248"/>
                </a:lnTo>
                <a:lnTo>
                  <a:pt x="3328988" y="823526"/>
                </a:lnTo>
                <a:lnTo>
                  <a:pt x="3333750" y="822806"/>
                </a:lnTo>
              </a:path>
            </a:pathLst>
          </a:custGeom>
          <a:noFill/>
          <a:ln w="19050">
            <a:solidFill>
              <a:srgbClr val="263238"/>
            </a:solidFill>
            <a:prstDash val="solid"/>
          </a:ln>
        </p:spPr>
      </p:sp>
      <p:sp>
        <p:nvSpPr>
          <p:cNvPr id="108" name="beta.selected">
            <a:extLst>
              <a:ext uri="{FF2B5EF4-FFF2-40B4-BE49-F238E27FC236}">
                <a16:creationId xmlns:a16="http://schemas.microsoft.com/office/drawing/2014/main" id="{6EAE7765-909B-4387-A82F-43F913D0D89F}"/>
              </a:ext>
            </a:extLst>
          </p:cNvPr>
          <p:cNvSpPr>
            <a:spLocks noGrp="1"/>
          </p:cNvSpPr>
          <p:nvPr/>
        </p:nvSpPr>
        <p:spPr>
          <a:xfrm>
            <a:off x="13962656" y="4122936"/>
            <a:ext cx="95250" cy="95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63238"/>
            </a:solidFill>
          </a:ln>
        </p:spPr>
      </p:sp>
      <p:sp>
        <p:nvSpPr>
          <p:cNvPr id="109" name="beta.projection">
            <a:extLst>
              <a:ext uri="{FF2B5EF4-FFF2-40B4-BE49-F238E27FC236}">
                <a16:creationId xmlns:a16="http://schemas.microsoft.com/office/drawing/2014/main" id="{3BC0E416-D903-4657-A579-5C9D8F953A51}"/>
              </a:ext>
            </a:extLst>
          </p:cNvPr>
          <p:cNvSpPr>
            <a:spLocks noGrp="1"/>
          </p:cNvSpPr>
          <p:nvPr/>
        </p:nvSpPr>
        <p:spPr>
          <a:xfrm>
            <a:off x="14010281" y="4170561"/>
            <a:ext cx="953" cy="468114"/>
          </a:xfrm>
          <a:custGeom>
            <a:avLst/>
            <a:gdLst/>
            <a:ahLst/>
            <a:cxnLst/>
            <a:rect l="0" t="0" r="0" b="0"/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/>
          <a:ln w="10478">
            <a:solidFill>
              <a:srgbClr val="82878C"/>
            </a:solidFill>
            <a:prstDash val="dash"/>
          </a:ln>
        </p:spPr>
      </p:sp>
      <p:sp>
        <p:nvSpPr>
          <p:cNvPr id="111" name="beta.minimum-leader">
            <a:extLst>
              <a:ext uri="{FF2B5EF4-FFF2-40B4-BE49-F238E27FC236}">
                <a16:creationId xmlns:a16="http://schemas.microsoft.com/office/drawing/2014/main" id="{06A2D72B-BD8D-4FB9-8626-F5D1E5157C0A}"/>
              </a:ext>
            </a:extLst>
          </p:cNvPr>
          <p:cNvSpPr>
            <a:spLocks noGrp="1"/>
          </p:cNvSpPr>
          <p:nvPr/>
        </p:nvSpPr>
        <p:spPr>
          <a:xfrm>
            <a:off x="14076956" y="3781425"/>
            <a:ext cx="496294" cy="331986"/>
          </a:xfrm>
          <a:custGeom>
            <a:avLst/>
            <a:gdLst/>
            <a:ahLst/>
            <a:cxnLst/>
            <a:rect l="0" t="0" r="0" b="0"/>
            <a:pathLst>
              <a:path w="496294" h="331986">
                <a:moveTo>
                  <a:pt x="496294" y="0"/>
                </a:moveTo>
                <a:lnTo>
                  <a:pt x="0" y="331986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</p:sp>
      <p:sp>
        <p:nvSpPr>
          <p:cNvPr id="112" name="flow.gamma-beta">
            <a:extLst>
              <a:ext uri="{FF2B5EF4-FFF2-40B4-BE49-F238E27FC236}">
                <a16:creationId xmlns:a16="http://schemas.microsoft.com/office/drawing/2014/main" id="{01064133-0DA2-49D4-A3B7-D2D62EAA4B10}"/>
              </a:ext>
            </a:extLst>
          </p:cNvPr>
          <p:cNvSpPr>
            <a:spLocks noGrp="1"/>
          </p:cNvSpPr>
          <p:nvPr/>
        </p:nvSpPr>
        <p:spPr>
          <a:xfrm>
            <a:off x="10953750" y="3228975"/>
            <a:ext cx="666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4" name="result.boundary">
            <a:extLst>
              <a:ext uri="{FF2B5EF4-FFF2-40B4-BE49-F238E27FC236}">
                <a16:creationId xmlns:a16="http://schemas.microsoft.com/office/drawing/2014/main" id="{DDFB494E-B30F-4503-A19F-A5D58343F46F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438650"/>
          </a:xfrm>
          <a:prstGeom prst="rect">
            <a:avLst/>
          </a:prstGeom>
          <a:noFill/>
          <a:ln w="12383">
            <a:solidFill>
              <a:srgbClr val="CFA582"/>
            </a:solidFill>
            <a:prstDash val="dash"/>
          </a:ln>
        </p:spPr>
      </p:sp>
      <p:sp>
        <p:nvSpPr>
          <p:cNvPr id="115" name="result.header">
            <a:extLst>
              <a:ext uri="{FF2B5EF4-FFF2-40B4-BE49-F238E27FC236}">
                <a16:creationId xmlns:a16="http://schemas.microsoft.com/office/drawing/2014/main" id="{AC559FDE-14CB-4490-955C-FD3938AA9791}"/>
              </a:ext>
            </a:extLst>
          </p:cNvPr>
          <p:cNvSpPr>
            <a:spLocks noGrp="1"/>
          </p:cNvSpPr>
          <p:nvPr/>
        </p:nvSpPr>
        <p:spPr>
          <a:xfrm>
            <a:off x="17811750" y="914400"/>
            <a:ext cx="4095750" cy="400050"/>
          </a:xfrm>
          <a:prstGeom prst="rect">
            <a:avLst/>
          </a:prstGeom>
          <a:solidFill>
            <a:srgbClr val="FAEAD9"/>
          </a:solidFill>
          <a:ln w="9525">
            <a:noFill/>
            <a:prstDash val="solid"/>
          </a:ln>
        </p:spPr>
      </p:sp>
      <p:sp>
        <p:nvSpPr>
          <p:cNvPr id="116" name="result.title">
            <a:extLst>
              <a:ext uri="{FF2B5EF4-FFF2-40B4-BE49-F238E27FC236}">
                <a16:creationId xmlns:a16="http://schemas.microsoft.com/office/drawing/2014/main" id="{BA8B2940-B2D1-4622-BAB0-DAD6BBD8A23C}"/>
              </a:ext>
            </a:extLst>
          </p:cNvPr>
          <p:cNvSpPr>
            <a:spLocks noGrp="1"/>
          </p:cNvSpPr>
          <p:nvPr/>
        </p:nvSpPr>
        <p:spPr>
          <a:xfrm>
            <a:off x="17907000" y="933450"/>
            <a:ext cx="390525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尺度计算与三参数输出</a:t>
            </a:r>
          </a:p>
        </p:txBody>
      </p:sp>
      <p:sp>
        <p:nvSpPr>
          <p:cNvPr id="117" name="eta.title">
            <a:extLst>
              <a:ext uri="{FF2B5EF4-FFF2-40B4-BE49-F238E27FC236}">
                <a16:creationId xmlns:a16="http://schemas.microsoft.com/office/drawing/2014/main" id="{92154703-84AF-4E79-959B-99D916F7AD97}"/>
              </a:ext>
            </a:extLst>
          </p:cNvPr>
          <p:cNvSpPr>
            <a:spLocks noGrp="1"/>
          </p:cNvSpPr>
          <p:nvPr/>
        </p:nvSpPr>
        <p:spPr>
          <a:xfrm>
            <a:off x="17945100" y="1838325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19" name="flow.beta-eta">
            <a:extLst>
              <a:ext uri="{FF2B5EF4-FFF2-40B4-BE49-F238E27FC236}">
                <a16:creationId xmlns:a16="http://schemas.microsoft.com/office/drawing/2014/main" id="{07A6CDE3-2FDF-4750-9C7B-F557B5307C3B}"/>
              </a:ext>
            </a:extLst>
          </p:cNvPr>
          <p:cNvSpPr>
            <a:spLocks noGrp="1"/>
          </p:cNvSpPr>
          <p:nvPr/>
        </p:nvSpPr>
        <p:spPr>
          <a:xfrm>
            <a:off x="16973550" y="3228975"/>
            <a:ext cx="6286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0" name="flow.eta-output">
            <a:extLst>
              <a:ext uri="{FF2B5EF4-FFF2-40B4-BE49-F238E27FC236}">
                <a16:creationId xmlns:a16="http://schemas.microsoft.com/office/drawing/2014/main" id="{923B18CF-EF9E-4E58-B1A6-A2424B98104E}"/>
              </a:ext>
            </a:extLst>
          </p:cNvPr>
          <p:cNvSpPr>
            <a:spLocks noGrp="1"/>
          </p:cNvSpPr>
          <p:nvPr/>
        </p:nvSpPr>
        <p:spPr>
          <a:xfrm rot="5400000">
            <a:off x="19754850" y="3476625"/>
            <a:ext cx="28575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21" name="output.title">
            <a:extLst>
              <a:ext uri="{FF2B5EF4-FFF2-40B4-BE49-F238E27FC236}">
                <a16:creationId xmlns:a16="http://schemas.microsoft.com/office/drawing/2014/main" id="{EF9D6777-497B-4BE2-AFAB-CEA35A02F33E}"/>
              </a:ext>
            </a:extLst>
          </p:cNvPr>
          <p:cNvSpPr>
            <a:spLocks noGrp="1"/>
          </p:cNvSpPr>
          <p:nvPr/>
        </p:nvSpPr>
        <p:spPr>
          <a:xfrm>
            <a:off x="17945100" y="3848100"/>
            <a:ext cx="38100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graphicFrame>
        <p:nvGraphicFramePr>
          <p:cNvPr id="124" name="MathType.sorted">
            <a:extLst>
              <a:ext uri="{FF2B5EF4-FFF2-40B4-BE49-F238E27FC236}">
                <a16:creationId xmlns:a16="http://schemas.microsoft.com/office/drawing/2014/main" id="{BF6EBBD0-09BF-28BF-3D36-3A46A68BB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60021"/>
              </p:ext>
            </p:extLst>
          </p:nvPr>
        </p:nvGraphicFramePr>
        <p:xfrm>
          <a:off x="1047752" y="2190750"/>
          <a:ext cx="9143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DSMT4">
                  <p:embed/>
                </p:oleObj>
              </mc:Choice>
              <mc:Fallback>
                <p:oleObj name="Equation" r:id="rId3" imgW="609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2" y="2190750"/>
                        <a:ext cx="9143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MathType.rank">
            <a:extLst>
              <a:ext uri="{FF2B5EF4-FFF2-40B4-BE49-F238E27FC236}">
                <a16:creationId xmlns:a16="http://schemas.microsoft.com/office/drawing/2014/main" id="{2707744D-BB6C-0F67-271A-727E77FC3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47747"/>
              </p:ext>
            </p:extLst>
          </p:nvPr>
        </p:nvGraphicFramePr>
        <p:xfrm>
          <a:off x="2882503" y="1653778"/>
          <a:ext cx="1693069" cy="664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2960" imgH="393480" progId="Equation.DSMT4">
                  <p:embed/>
                </p:oleObj>
              </mc:Choice>
              <mc:Fallback>
                <p:oleObj name="Equation" r:id="rId5" imgW="10029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2503" y="1653778"/>
                        <a:ext cx="1693069" cy="664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MathType.pseudo">
            <a:extLst>
              <a:ext uri="{FF2B5EF4-FFF2-40B4-BE49-F238E27FC236}">
                <a16:creationId xmlns:a16="http://schemas.microsoft.com/office/drawing/2014/main" id="{5E8DC75D-DBAF-8C0A-D0FD-1DE0945ACB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079043"/>
              </p:ext>
            </p:extLst>
          </p:nvPr>
        </p:nvGraphicFramePr>
        <p:xfrm>
          <a:off x="1161301" y="2962275"/>
          <a:ext cx="314474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42920" imgH="482400" progId="Equation.DSMT4">
                  <p:embed/>
                </p:oleObj>
              </mc:Choice>
              <mc:Fallback>
                <p:oleObj name="Equation" r:id="rId7" imgW="1942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1301" y="2962275"/>
                        <a:ext cx="3144747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MathType.discrepancy">
            <a:extLst>
              <a:ext uri="{FF2B5EF4-FFF2-40B4-BE49-F238E27FC236}">
                <a16:creationId xmlns:a16="http://schemas.microsoft.com/office/drawing/2014/main" id="{C5872056-122E-AB13-7391-C4C217DC4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528634"/>
              </p:ext>
            </p:extLst>
          </p:nvPr>
        </p:nvGraphicFramePr>
        <p:xfrm>
          <a:off x="1399429" y="4152900"/>
          <a:ext cx="271611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99429" y="4152900"/>
                        <a:ext cx="2716118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MathType.profile">
            <a:extLst>
              <a:ext uri="{FF2B5EF4-FFF2-40B4-BE49-F238E27FC236}">
                <a16:creationId xmlns:a16="http://schemas.microsoft.com/office/drawing/2014/main" id="{2FD39E45-73D1-EA06-4551-F1B38EB1D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062219"/>
              </p:ext>
            </p:extLst>
          </p:nvPr>
        </p:nvGraphicFramePr>
        <p:xfrm>
          <a:off x="1196975" y="4818061"/>
          <a:ext cx="311150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7680" imgH="241200" progId="Equation.DSMT4">
                  <p:embed/>
                </p:oleObj>
              </mc:Choice>
              <mc:Fallback>
                <p:oleObj name="Equation" r:id="rId11" imgW="1777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6975" y="4818061"/>
                        <a:ext cx="311150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MathType.gradient">
            <a:extLst>
              <a:ext uri="{FF2B5EF4-FFF2-40B4-BE49-F238E27FC236}">
                <a16:creationId xmlns:a16="http://schemas.microsoft.com/office/drawing/2014/main" id="{C1BC10D1-A0F7-6DC8-2722-F5A422729E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427261"/>
              </p:ext>
            </p:extLst>
          </p:nvPr>
        </p:nvGraphicFramePr>
        <p:xfrm>
          <a:off x="7275606" y="1390650"/>
          <a:ext cx="2155639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444240" progId="Equation.DSMT4">
                  <p:embed/>
                </p:oleObj>
              </mc:Choice>
              <mc:Fallback>
                <p:oleObj name="Equation" r:id="rId13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5606" y="1390650"/>
                        <a:ext cx="2155639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MathType.root">
            <a:extLst>
              <a:ext uri="{FF2B5EF4-FFF2-40B4-BE49-F238E27FC236}">
                <a16:creationId xmlns:a16="http://schemas.microsoft.com/office/drawing/2014/main" id="{64E33603-897A-F724-5492-9367BB1979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842793"/>
              </p:ext>
            </p:extLst>
          </p:nvPr>
        </p:nvGraphicFramePr>
        <p:xfrm>
          <a:off x="7143752" y="3829050"/>
          <a:ext cx="857246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15640" progId="Equation.DSMT4">
                  <p:embed/>
                </p:oleObj>
              </mc:Choice>
              <mc:Fallback>
                <p:oleObj name="Equation" r:id="rId15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43752" y="3829050"/>
                        <a:ext cx="857246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MathType.gamma-est">
            <a:extLst>
              <a:ext uri="{FF2B5EF4-FFF2-40B4-BE49-F238E27FC236}">
                <a16:creationId xmlns:a16="http://schemas.microsoft.com/office/drawing/2014/main" id="{57C7BFCD-0DC2-0872-114F-CE52A7C85B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231780"/>
              </p:ext>
            </p:extLst>
          </p:nvPr>
        </p:nvGraphicFramePr>
        <p:xfrm>
          <a:off x="8751236" y="2581275"/>
          <a:ext cx="823629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215640" progId="Equation.DSMT4">
                  <p:embed/>
                </p:oleObj>
              </mc:Choice>
              <mc:Fallback>
                <p:oleObj name="Equation" r:id="rId17" imgW="622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51236" y="2581275"/>
                        <a:ext cx="823629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MathType.gamma-transfer">
            <a:extLst>
              <a:ext uri="{FF2B5EF4-FFF2-40B4-BE49-F238E27FC236}">
                <a16:creationId xmlns:a16="http://schemas.microsoft.com/office/drawing/2014/main" id="{7E5F9DB8-3EE4-43B1-54B8-661DE84535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198743"/>
              </p:ext>
            </p:extLst>
          </p:nvPr>
        </p:nvGraphicFramePr>
        <p:xfrm>
          <a:off x="11191876" y="2847975"/>
          <a:ext cx="190499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6720" imgH="215640" progId="Equation.DSMT4">
                  <p:embed/>
                </p:oleObj>
              </mc:Choice>
              <mc:Fallback>
                <p:oleObj name="Equation" r:id="rId1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191876" y="2847975"/>
                        <a:ext cx="190499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MathType.beta-min">
            <a:extLst>
              <a:ext uri="{FF2B5EF4-FFF2-40B4-BE49-F238E27FC236}">
                <a16:creationId xmlns:a16="http://schemas.microsoft.com/office/drawing/2014/main" id="{63591F52-E290-4A21-E4D0-948221F3B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732256"/>
              </p:ext>
            </p:extLst>
          </p:nvPr>
        </p:nvGraphicFramePr>
        <p:xfrm>
          <a:off x="12995672" y="1531937"/>
          <a:ext cx="2583656" cy="688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333440" imgH="355320" progId="Equation.DSMT4">
                  <p:embed/>
                </p:oleObj>
              </mc:Choice>
              <mc:Fallback>
                <p:oleObj name="Equation" r:id="rId21" imgW="133344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995672" y="1531937"/>
                        <a:ext cx="2583656" cy="6889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MathType.beta-est">
            <a:extLst>
              <a:ext uri="{FF2B5EF4-FFF2-40B4-BE49-F238E27FC236}">
                <a16:creationId xmlns:a16="http://schemas.microsoft.com/office/drawing/2014/main" id="{E748081D-FEF7-9E1B-8E80-4C57251A48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313601"/>
              </p:ext>
            </p:extLst>
          </p:nvPr>
        </p:nvGraphicFramePr>
        <p:xfrm>
          <a:off x="14787564" y="3438525"/>
          <a:ext cx="952496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34680" imgH="241200" progId="Equation.DSMT4">
                  <p:embed/>
                </p:oleObj>
              </mc:Choice>
              <mc:Fallback>
                <p:oleObj name="Equation" r:id="rId23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787564" y="3438525"/>
                        <a:ext cx="952496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MathType.eta">
            <a:extLst>
              <a:ext uri="{FF2B5EF4-FFF2-40B4-BE49-F238E27FC236}">
                <a16:creationId xmlns:a16="http://schemas.microsoft.com/office/drawing/2014/main" id="{670689C5-822B-764E-176C-0BD4AD846F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389091"/>
              </p:ext>
            </p:extLst>
          </p:nvPr>
        </p:nvGraphicFramePr>
        <p:xfrm>
          <a:off x="18407063" y="2366962"/>
          <a:ext cx="2905125" cy="809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549080" imgH="431640" progId="Equation.DSMT4">
                  <p:embed/>
                </p:oleObj>
              </mc:Choice>
              <mc:Fallback>
                <p:oleObj name="Equation" r:id="rId25" imgW="1549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407063" y="2366962"/>
                        <a:ext cx="2905125" cy="809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MathType.output">
            <a:extLst>
              <a:ext uri="{FF2B5EF4-FFF2-40B4-BE49-F238E27FC236}">
                <a16:creationId xmlns:a16="http://schemas.microsoft.com/office/drawing/2014/main" id="{F6887965-5C46-D9E0-E88F-E2E4579D22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069953"/>
              </p:ext>
            </p:extLst>
          </p:nvPr>
        </p:nvGraphicFramePr>
        <p:xfrm>
          <a:off x="18192750" y="4418011"/>
          <a:ext cx="3333750" cy="422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241200" progId="Equation.DSMT4">
                  <p:embed/>
                </p:oleObj>
              </mc:Choice>
              <mc:Fallback>
                <p:oleObj name="Equation" r:id="rId27" imgW="19047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8192750" y="4418011"/>
                        <a:ext cx="3333750" cy="422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33273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DocSecurity>0</DocSecurity>
  <PresentationFormat>自定义</PresentationFormat>
  <Paragraphs>31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2026-09-23T01:53:51Z</dcterms:created>
  <dcterms:modified xsi:type="dcterms:W3CDTF">2026-09-23T01:54:28Z</dcterms:modified>
</cp:coreProperties>
</file>