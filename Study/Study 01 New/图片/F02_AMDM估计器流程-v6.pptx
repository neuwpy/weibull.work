
<file path=[Content_Types].xml><?xml version="1.0" encoding="utf-8"?>
<Types xmlns="http://schemas.openxmlformats.org/package/2006/content-types">
  <Default Extension="bin" ContentType="application/vnd.openxmlformats-officedocument.oleObject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22288500" cy="809625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图</a:t>
            </a:r>
            <a:r>
              <a:rPr lang="en-US" altLang="zh-CN"/>
              <a:t>2</a:t>
            </a:r>
            <a:r>
              <a:rPr lang="zh-CN" altLang="en-US"/>
              <a:t>定义</a:t>
            </a:r>
            <a:r>
              <a:rPr lang="en-US" altLang="zh-CN"/>
              <a:t>AMDM</a:t>
            </a:r>
            <a:r>
              <a:rPr lang="zh-CN" altLang="en-US"/>
              <a:t>估计方法。上方完整</a:t>
            </a:r>
            <a:r>
              <a:rPr lang="en-US" altLang="zh-CN"/>
              <a:t>MDM</a:t>
            </a:r>
            <a:r>
              <a:rPr lang="zh-CN" altLang="en-US"/>
              <a:t>主流程从原始观测开始，构造样本求解准则，再依次求位置、形状和尺度参数，最终估计结果仍在同一流程内。下方支路利用同一观测进行样本表征与候选偏移评价，所选偏移明确进入位置参数求解步骤；不是预先处理完偏移再将观测传入一个独立</a:t>
            </a:r>
            <a:r>
              <a:rPr lang="en-US" altLang="zh-CN"/>
              <a:t>MDM</a:t>
            </a:r>
            <a:r>
              <a:rPr lang="zh-CN" altLang="en-US"/>
              <a:t>黑箱。网络只是已训练模型示意，不展开训练、梯度曲线或性能结果。输入散点来自图</a:t>
            </a:r>
            <a:r>
              <a:rPr lang="en-US" altLang="zh-CN"/>
              <a:t>1</a:t>
            </a:r>
            <a:r>
              <a:rPr lang="zh-CN" altLang="en-US"/>
              <a:t>既有样本；符号用</a:t>
            </a:r>
            <a:r>
              <a:rPr lang="en-US" altLang="zh-CN"/>
              <a:t>MathType</a:t>
            </a:r>
            <a:r>
              <a:rPr lang="zh-CN" altLang="en-US"/>
              <a:t>对象。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4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main.boundary">
            <a:extLst>
              <a:ext uri="{FF2B5EF4-FFF2-40B4-BE49-F238E27FC236}">
                <a16:creationId xmlns:a16="http://schemas.microsoft.com/office/drawing/2014/main" id="{8E73D4FD-09EA-4ACC-BF6B-EB288BBC9921}"/>
              </a:ext>
            </a:extLst>
          </p:cNvPr>
          <p:cNvSpPr>
            <a:spLocks noGrp="1"/>
          </p:cNvSpPr>
          <p:nvPr/>
        </p:nvSpPr>
        <p:spPr>
          <a:xfrm>
            <a:off x="285750" y="285750"/>
            <a:ext cx="21717000" cy="4095750"/>
          </a:xfrm>
          <a:prstGeom prst="rect">
            <a:avLst/>
          </a:prstGeom>
          <a:solidFill>
            <a:srgbClr val="FCFDF9"/>
          </a:solidFill>
          <a:ln w="12383">
            <a:solidFill>
              <a:srgbClr val="9FBAA5"/>
            </a:solidFill>
            <a:prstDash val="dash"/>
          </a:ln>
        </p:spPr>
      </p:sp>
      <p:sp>
        <p:nvSpPr>
          <p:cNvPr id="2" name="main.sample.body">
            <a:extLst>
              <a:ext uri="{FF2B5EF4-FFF2-40B4-BE49-F238E27FC236}">
                <a16:creationId xmlns:a16="http://schemas.microsoft.com/office/drawing/2014/main" id="{A7F40879-7794-4F81-9520-8E5A8167D9F2}"/>
              </a:ext>
            </a:extLst>
          </p:cNvPr>
          <p:cNvSpPr>
            <a:spLocks noGrp="1"/>
          </p:cNvSpPr>
          <p:nvPr/>
        </p:nvSpPr>
        <p:spPr>
          <a:xfrm>
            <a:off x="571500" y="666750"/>
            <a:ext cx="2381250" cy="3143250"/>
          </a:xfrm>
          <a:prstGeom prst="rect">
            <a:avLst/>
          </a:prstGeom>
          <a:solidFill>
            <a:srgbClr val="FFFFFF"/>
          </a:solidFill>
          <a:ln w="12383">
            <a:noFill/>
            <a:prstDash val="solid"/>
          </a:ln>
        </p:spPr>
      </p:sp>
      <p:sp>
        <p:nvSpPr>
          <p:cNvPr id="3" name="main.sample.header">
            <a:extLst>
              <a:ext uri="{FF2B5EF4-FFF2-40B4-BE49-F238E27FC236}">
                <a16:creationId xmlns:a16="http://schemas.microsoft.com/office/drawing/2014/main" id="{1BCFDEEA-54E0-4E93-8D1F-57822EB9CD88}"/>
              </a:ext>
            </a:extLst>
          </p:cNvPr>
          <p:cNvSpPr>
            <a:spLocks noGrp="1"/>
          </p:cNvSpPr>
          <p:nvPr/>
        </p:nvSpPr>
        <p:spPr>
          <a:xfrm>
            <a:off x="571500" y="666750"/>
            <a:ext cx="2381250" cy="400050"/>
          </a:xfrm>
          <a:prstGeom prst="rect">
            <a:avLst/>
          </a:prstGeom>
          <a:solidFill>
            <a:srgbClr val="A8C0E5"/>
          </a:solidFill>
          <a:ln w="12383">
            <a:noFill/>
            <a:prstDash val="solid"/>
          </a:ln>
        </p:spPr>
      </p:sp>
      <p:sp>
        <p:nvSpPr>
          <p:cNvPr id="4" name="main.sample.title">
            <a:extLst>
              <a:ext uri="{FF2B5EF4-FFF2-40B4-BE49-F238E27FC236}">
                <a16:creationId xmlns:a16="http://schemas.microsoft.com/office/drawing/2014/main" id="{12322BEA-D786-4C30-9897-8F1A64C6574F}"/>
              </a:ext>
            </a:extLst>
          </p:cNvPr>
          <p:cNvSpPr>
            <a:spLocks noGrp="1"/>
          </p:cNvSpPr>
          <p:nvPr/>
        </p:nvSpPr>
        <p:spPr>
          <a:xfrm>
            <a:off x="619125" y="685800"/>
            <a:ext cx="2286000" cy="36195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观测样本</a:t>
            </a:r>
          </a:p>
        </p:txBody>
      </p:sp>
      <p:sp>
        <p:nvSpPr>
          <p:cNvPr id="5" name="main.sample.axis">
            <a:extLst>
              <a:ext uri="{FF2B5EF4-FFF2-40B4-BE49-F238E27FC236}">
                <a16:creationId xmlns:a16="http://schemas.microsoft.com/office/drawing/2014/main" id="{98C2E0D6-620F-4387-A392-26B6AC78DD3E}"/>
              </a:ext>
            </a:extLst>
          </p:cNvPr>
          <p:cNvSpPr>
            <a:spLocks noGrp="1"/>
          </p:cNvSpPr>
          <p:nvPr/>
        </p:nvSpPr>
        <p:spPr>
          <a:xfrm>
            <a:off x="800100" y="2038350"/>
            <a:ext cx="1924050" cy="953"/>
          </a:xfrm>
          <a:custGeom>
            <a:avLst/>
            <a:gdLst/>
            <a:ahLst/>
            <a:cxnLst/>
            <a:rect l="0" t="0" r="0" b="0"/>
            <a:pathLst>
              <a:path w="1924050" h="953">
                <a:moveTo>
                  <a:pt x="0" y="0"/>
                </a:moveTo>
                <a:lnTo>
                  <a:pt x="1924050" y="0"/>
                </a:lnTo>
              </a:path>
            </a:pathLst>
          </a:custGeom>
          <a:noFill/>
          <a:ln w="9525">
            <a:solidFill>
              <a:srgbClr val="B5BEC5"/>
            </a:solidFill>
            <a:prstDash val="solid"/>
          </a:ln>
        </p:spPr>
      </p:sp>
      <p:sp>
        <p:nvSpPr>
          <p:cNvPr id="6" name="main.sample.stem0">
            <a:extLst>
              <a:ext uri="{FF2B5EF4-FFF2-40B4-BE49-F238E27FC236}">
                <a16:creationId xmlns:a16="http://schemas.microsoft.com/office/drawing/2014/main" id="{0061BFBF-18F2-45BB-BF9D-8A02BCC0CC66}"/>
              </a:ext>
            </a:extLst>
          </p:cNvPr>
          <p:cNvSpPr>
            <a:spLocks noGrp="1"/>
          </p:cNvSpPr>
          <p:nvPr/>
        </p:nvSpPr>
        <p:spPr>
          <a:xfrm>
            <a:off x="942975" y="1828800"/>
            <a:ext cx="953" cy="209550"/>
          </a:xfrm>
          <a:custGeom>
            <a:avLst/>
            <a:gdLst/>
            <a:ahLst/>
            <a:cxnLst/>
            <a:rect l="0" t="0" r="0" b="0"/>
            <a:pathLst>
              <a:path w="953" h="209550">
                <a:moveTo>
                  <a:pt x="0" y="209550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147AAA"/>
            </a:solidFill>
            <a:prstDash val="solid"/>
          </a:ln>
        </p:spPr>
      </p:sp>
      <p:sp>
        <p:nvSpPr>
          <p:cNvPr id="7" name="main.sample.dot0">
            <a:extLst>
              <a:ext uri="{FF2B5EF4-FFF2-40B4-BE49-F238E27FC236}">
                <a16:creationId xmlns:a16="http://schemas.microsoft.com/office/drawing/2014/main" id="{94D41CA4-43E3-4275-86FC-7EDE568A0969}"/>
              </a:ext>
            </a:extLst>
          </p:cNvPr>
          <p:cNvSpPr>
            <a:spLocks noGrp="1"/>
          </p:cNvSpPr>
          <p:nvPr/>
        </p:nvSpPr>
        <p:spPr>
          <a:xfrm>
            <a:off x="900113" y="1785938"/>
            <a:ext cx="85725" cy="85725"/>
          </a:xfrm>
          <a:prstGeom prst="ellipse">
            <a:avLst/>
          </a:prstGeom>
          <a:solidFill>
            <a:srgbClr val="147AAA"/>
          </a:solidFill>
          <a:ln w="9525">
            <a:solidFill>
              <a:srgbClr val="FFFFFF"/>
            </a:solidFill>
          </a:ln>
        </p:spPr>
      </p:sp>
      <p:sp>
        <p:nvSpPr>
          <p:cNvPr id="8" name="main.sample.stem1">
            <a:extLst>
              <a:ext uri="{FF2B5EF4-FFF2-40B4-BE49-F238E27FC236}">
                <a16:creationId xmlns:a16="http://schemas.microsoft.com/office/drawing/2014/main" id="{E3EC2388-6D7A-4843-9960-D07CBD8DD378}"/>
              </a:ext>
            </a:extLst>
          </p:cNvPr>
          <p:cNvSpPr>
            <a:spLocks noGrp="1"/>
          </p:cNvSpPr>
          <p:nvPr/>
        </p:nvSpPr>
        <p:spPr>
          <a:xfrm>
            <a:off x="982417" y="1828800"/>
            <a:ext cx="953" cy="209550"/>
          </a:xfrm>
          <a:custGeom>
            <a:avLst/>
            <a:gdLst/>
            <a:ahLst/>
            <a:cxnLst/>
            <a:rect l="0" t="0" r="0" b="0"/>
            <a:pathLst>
              <a:path w="953" h="209550">
                <a:moveTo>
                  <a:pt x="0" y="209550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147AAA"/>
            </a:solidFill>
            <a:prstDash val="solid"/>
          </a:ln>
        </p:spPr>
      </p:sp>
      <p:sp>
        <p:nvSpPr>
          <p:cNvPr id="9" name="main.sample.dot1">
            <a:extLst>
              <a:ext uri="{FF2B5EF4-FFF2-40B4-BE49-F238E27FC236}">
                <a16:creationId xmlns:a16="http://schemas.microsoft.com/office/drawing/2014/main" id="{4D8D177A-8278-4E18-BD97-CE06C9506414}"/>
              </a:ext>
            </a:extLst>
          </p:cNvPr>
          <p:cNvSpPr>
            <a:spLocks noGrp="1"/>
          </p:cNvSpPr>
          <p:nvPr/>
        </p:nvSpPr>
        <p:spPr>
          <a:xfrm>
            <a:off x="939554" y="1785938"/>
            <a:ext cx="85725" cy="85725"/>
          </a:xfrm>
          <a:prstGeom prst="ellipse">
            <a:avLst/>
          </a:prstGeom>
          <a:solidFill>
            <a:srgbClr val="147AAA"/>
          </a:solidFill>
          <a:ln w="9525">
            <a:solidFill>
              <a:srgbClr val="FFFFFF"/>
            </a:solidFill>
          </a:ln>
        </p:spPr>
      </p:sp>
      <p:sp>
        <p:nvSpPr>
          <p:cNvPr id="10" name="main.sample.stem2">
            <a:extLst>
              <a:ext uri="{FF2B5EF4-FFF2-40B4-BE49-F238E27FC236}">
                <a16:creationId xmlns:a16="http://schemas.microsoft.com/office/drawing/2014/main" id="{4520C23E-24E4-403A-89D0-C7715BE1B794}"/>
              </a:ext>
            </a:extLst>
          </p:cNvPr>
          <p:cNvSpPr>
            <a:spLocks noGrp="1"/>
          </p:cNvSpPr>
          <p:nvPr/>
        </p:nvSpPr>
        <p:spPr>
          <a:xfrm>
            <a:off x="1449861" y="1828800"/>
            <a:ext cx="953" cy="209550"/>
          </a:xfrm>
          <a:custGeom>
            <a:avLst/>
            <a:gdLst/>
            <a:ahLst/>
            <a:cxnLst/>
            <a:rect l="0" t="0" r="0" b="0"/>
            <a:pathLst>
              <a:path w="953" h="209550">
                <a:moveTo>
                  <a:pt x="0" y="209550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147AAA"/>
            </a:solidFill>
            <a:prstDash val="solid"/>
          </a:ln>
        </p:spPr>
      </p:sp>
      <p:sp>
        <p:nvSpPr>
          <p:cNvPr id="11" name="main.sample.dot2">
            <a:extLst>
              <a:ext uri="{FF2B5EF4-FFF2-40B4-BE49-F238E27FC236}">
                <a16:creationId xmlns:a16="http://schemas.microsoft.com/office/drawing/2014/main" id="{38CA0F87-2256-4883-8F16-1DD3D9E57088}"/>
              </a:ext>
            </a:extLst>
          </p:cNvPr>
          <p:cNvSpPr>
            <a:spLocks noGrp="1"/>
          </p:cNvSpPr>
          <p:nvPr/>
        </p:nvSpPr>
        <p:spPr>
          <a:xfrm>
            <a:off x="1406999" y="1785938"/>
            <a:ext cx="85725" cy="85725"/>
          </a:xfrm>
          <a:prstGeom prst="ellipse">
            <a:avLst/>
          </a:prstGeom>
          <a:solidFill>
            <a:srgbClr val="147AAA"/>
          </a:solidFill>
          <a:ln w="9525">
            <a:solidFill>
              <a:srgbClr val="FFFFFF"/>
            </a:solidFill>
          </a:ln>
        </p:spPr>
      </p:sp>
      <p:sp>
        <p:nvSpPr>
          <p:cNvPr id="12" name="main.sample.stem3">
            <a:extLst>
              <a:ext uri="{FF2B5EF4-FFF2-40B4-BE49-F238E27FC236}">
                <a16:creationId xmlns:a16="http://schemas.microsoft.com/office/drawing/2014/main" id="{C015CA72-EABD-45FC-A534-EB5013F469D9}"/>
              </a:ext>
            </a:extLst>
          </p:cNvPr>
          <p:cNvSpPr>
            <a:spLocks noGrp="1"/>
          </p:cNvSpPr>
          <p:nvPr/>
        </p:nvSpPr>
        <p:spPr>
          <a:xfrm>
            <a:off x="1599722" y="1828800"/>
            <a:ext cx="953" cy="209550"/>
          </a:xfrm>
          <a:custGeom>
            <a:avLst/>
            <a:gdLst/>
            <a:ahLst/>
            <a:cxnLst/>
            <a:rect l="0" t="0" r="0" b="0"/>
            <a:pathLst>
              <a:path w="953" h="209550">
                <a:moveTo>
                  <a:pt x="0" y="209550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147AAA"/>
            </a:solidFill>
            <a:prstDash val="solid"/>
          </a:ln>
        </p:spPr>
      </p:sp>
      <p:sp>
        <p:nvSpPr>
          <p:cNvPr id="13" name="main.sample.dot3">
            <a:extLst>
              <a:ext uri="{FF2B5EF4-FFF2-40B4-BE49-F238E27FC236}">
                <a16:creationId xmlns:a16="http://schemas.microsoft.com/office/drawing/2014/main" id="{34F19744-6229-403F-945F-007A6CC86CD6}"/>
              </a:ext>
            </a:extLst>
          </p:cNvPr>
          <p:cNvSpPr>
            <a:spLocks noGrp="1"/>
          </p:cNvSpPr>
          <p:nvPr/>
        </p:nvSpPr>
        <p:spPr>
          <a:xfrm>
            <a:off x="1556859" y="1785938"/>
            <a:ext cx="85725" cy="85725"/>
          </a:xfrm>
          <a:prstGeom prst="ellipse">
            <a:avLst/>
          </a:prstGeom>
          <a:solidFill>
            <a:srgbClr val="147AAA"/>
          </a:solidFill>
          <a:ln w="9525">
            <a:solidFill>
              <a:srgbClr val="FFFFFF"/>
            </a:solidFill>
          </a:ln>
        </p:spPr>
      </p:sp>
      <p:sp>
        <p:nvSpPr>
          <p:cNvPr id="14" name="main.sample.stem4">
            <a:extLst>
              <a:ext uri="{FF2B5EF4-FFF2-40B4-BE49-F238E27FC236}">
                <a16:creationId xmlns:a16="http://schemas.microsoft.com/office/drawing/2014/main" id="{ADD96A6A-CF50-46F6-A264-D0C1609BD226}"/>
              </a:ext>
            </a:extLst>
          </p:cNvPr>
          <p:cNvSpPr>
            <a:spLocks noGrp="1"/>
          </p:cNvSpPr>
          <p:nvPr/>
        </p:nvSpPr>
        <p:spPr>
          <a:xfrm>
            <a:off x="1662671" y="1828800"/>
            <a:ext cx="953" cy="209550"/>
          </a:xfrm>
          <a:custGeom>
            <a:avLst/>
            <a:gdLst/>
            <a:ahLst/>
            <a:cxnLst/>
            <a:rect l="0" t="0" r="0" b="0"/>
            <a:pathLst>
              <a:path w="953" h="209550">
                <a:moveTo>
                  <a:pt x="0" y="209550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147AAA"/>
            </a:solidFill>
            <a:prstDash val="solid"/>
          </a:ln>
        </p:spPr>
      </p:sp>
      <p:sp>
        <p:nvSpPr>
          <p:cNvPr id="15" name="main.sample.dot4">
            <a:extLst>
              <a:ext uri="{FF2B5EF4-FFF2-40B4-BE49-F238E27FC236}">
                <a16:creationId xmlns:a16="http://schemas.microsoft.com/office/drawing/2014/main" id="{717F8678-AB7E-4229-B02C-06B1E6E8A55E}"/>
              </a:ext>
            </a:extLst>
          </p:cNvPr>
          <p:cNvSpPr>
            <a:spLocks noGrp="1"/>
          </p:cNvSpPr>
          <p:nvPr/>
        </p:nvSpPr>
        <p:spPr>
          <a:xfrm>
            <a:off x="1619808" y="1785938"/>
            <a:ext cx="85725" cy="85725"/>
          </a:xfrm>
          <a:prstGeom prst="ellipse">
            <a:avLst/>
          </a:prstGeom>
          <a:solidFill>
            <a:srgbClr val="147AAA"/>
          </a:solidFill>
          <a:ln w="9525">
            <a:solidFill>
              <a:srgbClr val="FFFFFF"/>
            </a:solidFill>
          </a:ln>
        </p:spPr>
      </p:sp>
      <p:sp>
        <p:nvSpPr>
          <p:cNvPr id="16" name="main.sample.stem5">
            <a:extLst>
              <a:ext uri="{FF2B5EF4-FFF2-40B4-BE49-F238E27FC236}">
                <a16:creationId xmlns:a16="http://schemas.microsoft.com/office/drawing/2014/main" id="{3EF83585-BCD0-4995-AADA-3639F121B64B}"/>
              </a:ext>
            </a:extLst>
          </p:cNvPr>
          <p:cNvSpPr>
            <a:spLocks noGrp="1"/>
          </p:cNvSpPr>
          <p:nvPr/>
        </p:nvSpPr>
        <p:spPr>
          <a:xfrm>
            <a:off x="1982055" y="1828800"/>
            <a:ext cx="953" cy="209550"/>
          </a:xfrm>
          <a:custGeom>
            <a:avLst/>
            <a:gdLst/>
            <a:ahLst/>
            <a:cxnLst/>
            <a:rect l="0" t="0" r="0" b="0"/>
            <a:pathLst>
              <a:path w="953" h="209550">
                <a:moveTo>
                  <a:pt x="0" y="209550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147AAA"/>
            </a:solidFill>
            <a:prstDash val="solid"/>
          </a:ln>
        </p:spPr>
      </p:sp>
      <p:sp>
        <p:nvSpPr>
          <p:cNvPr id="17" name="main.sample.dot5">
            <a:extLst>
              <a:ext uri="{FF2B5EF4-FFF2-40B4-BE49-F238E27FC236}">
                <a16:creationId xmlns:a16="http://schemas.microsoft.com/office/drawing/2014/main" id="{A7CDC113-9901-49AA-9073-76FF56003AC6}"/>
              </a:ext>
            </a:extLst>
          </p:cNvPr>
          <p:cNvSpPr>
            <a:spLocks noGrp="1"/>
          </p:cNvSpPr>
          <p:nvPr/>
        </p:nvSpPr>
        <p:spPr>
          <a:xfrm>
            <a:off x="1939192" y="1785938"/>
            <a:ext cx="85725" cy="85725"/>
          </a:xfrm>
          <a:prstGeom prst="ellipse">
            <a:avLst/>
          </a:prstGeom>
          <a:solidFill>
            <a:srgbClr val="147AAA"/>
          </a:solidFill>
          <a:ln w="9525">
            <a:solidFill>
              <a:srgbClr val="FFFFFF"/>
            </a:solidFill>
          </a:ln>
        </p:spPr>
      </p:sp>
      <p:sp>
        <p:nvSpPr>
          <p:cNvPr id="18" name="main.sample.stem6">
            <a:extLst>
              <a:ext uri="{FF2B5EF4-FFF2-40B4-BE49-F238E27FC236}">
                <a16:creationId xmlns:a16="http://schemas.microsoft.com/office/drawing/2014/main" id="{EBEEBAEF-0B06-4265-96BB-AB3E2F788681}"/>
              </a:ext>
            </a:extLst>
          </p:cNvPr>
          <p:cNvSpPr>
            <a:spLocks noGrp="1"/>
          </p:cNvSpPr>
          <p:nvPr/>
        </p:nvSpPr>
        <p:spPr>
          <a:xfrm>
            <a:off x="2581275" y="1828800"/>
            <a:ext cx="953" cy="209550"/>
          </a:xfrm>
          <a:custGeom>
            <a:avLst/>
            <a:gdLst/>
            <a:ahLst/>
            <a:cxnLst/>
            <a:rect l="0" t="0" r="0" b="0"/>
            <a:pathLst>
              <a:path w="953" h="209550">
                <a:moveTo>
                  <a:pt x="0" y="209550"/>
                </a:moveTo>
                <a:lnTo>
                  <a:pt x="0" y="0"/>
                </a:lnTo>
              </a:path>
            </a:pathLst>
          </a:custGeom>
          <a:noFill/>
          <a:ln w="10478">
            <a:solidFill>
              <a:srgbClr val="147AAA"/>
            </a:solidFill>
            <a:prstDash val="solid"/>
          </a:ln>
        </p:spPr>
      </p:sp>
      <p:sp>
        <p:nvSpPr>
          <p:cNvPr id="19" name="main.sample.dot6">
            <a:extLst>
              <a:ext uri="{FF2B5EF4-FFF2-40B4-BE49-F238E27FC236}">
                <a16:creationId xmlns:a16="http://schemas.microsoft.com/office/drawing/2014/main" id="{922C0A61-0B2C-4558-839B-D076DE7DB40B}"/>
              </a:ext>
            </a:extLst>
          </p:cNvPr>
          <p:cNvSpPr>
            <a:spLocks noGrp="1"/>
          </p:cNvSpPr>
          <p:nvPr/>
        </p:nvSpPr>
        <p:spPr>
          <a:xfrm>
            <a:off x="2538413" y="1785938"/>
            <a:ext cx="85725" cy="85725"/>
          </a:xfrm>
          <a:prstGeom prst="ellipse">
            <a:avLst/>
          </a:prstGeom>
          <a:solidFill>
            <a:srgbClr val="147AAA"/>
          </a:solidFill>
          <a:ln w="9525">
            <a:solidFill>
              <a:srgbClr val="FFFFFF"/>
            </a:solidFill>
          </a:ln>
        </p:spPr>
      </p:sp>
      <p:sp>
        <p:nvSpPr>
          <p:cNvPr id="20" name="main.sample-note">
            <a:extLst>
              <a:ext uri="{FF2B5EF4-FFF2-40B4-BE49-F238E27FC236}">
                <a16:creationId xmlns:a16="http://schemas.microsoft.com/office/drawing/2014/main" id="{FDB1E411-1C00-41F8-BB6C-CB17925EEB14}"/>
              </a:ext>
            </a:extLst>
          </p:cNvPr>
          <p:cNvSpPr>
            <a:spLocks noGrp="1"/>
          </p:cNvSpPr>
          <p:nvPr/>
        </p:nvSpPr>
        <p:spPr>
          <a:xfrm>
            <a:off x="723900" y="3267075"/>
            <a:ext cx="2076450" cy="32385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原始寿命观测</a:t>
            </a:r>
          </a:p>
        </p:txBody>
      </p:sp>
      <p:sp>
        <p:nvSpPr>
          <p:cNvPr id="21" name="main.sample-to-criterion">
            <a:extLst>
              <a:ext uri="{FF2B5EF4-FFF2-40B4-BE49-F238E27FC236}">
                <a16:creationId xmlns:a16="http://schemas.microsoft.com/office/drawing/2014/main" id="{B63CA169-9865-4EEA-BED6-9A33A8165A71}"/>
              </a:ext>
            </a:extLst>
          </p:cNvPr>
          <p:cNvSpPr>
            <a:spLocks noGrp="1"/>
          </p:cNvSpPr>
          <p:nvPr/>
        </p:nvSpPr>
        <p:spPr>
          <a:xfrm>
            <a:off x="3133725" y="2286000"/>
            <a:ext cx="495300" cy="190500"/>
          </a:xfrm>
          <a:prstGeom prst="right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22" name="main.criterion.body">
            <a:extLst>
              <a:ext uri="{FF2B5EF4-FFF2-40B4-BE49-F238E27FC236}">
                <a16:creationId xmlns:a16="http://schemas.microsoft.com/office/drawing/2014/main" id="{9EA320EE-5B15-4F29-996B-9AF573A03109}"/>
              </a:ext>
            </a:extLst>
          </p:cNvPr>
          <p:cNvSpPr>
            <a:spLocks noGrp="1"/>
          </p:cNvSpPr>
          <p:nvPr/>
        </p:nvSpPr>
        <p:spPr>
          <a:xfrm>
            <a:off x="3810000" y="666750"/>
            <a:ext cx="3143250" cy="3143250"/>
          </a:xfrm>
          <a:prstGeom prst="rect">
            <a:avLst/>
          </a:prstGeom>
          <a:solidFill>
            <a:srgbClr val="FFFFFF"/>
          </a:solidFill>
          <a:ln w="12383">
            <a:noFill/>
            <a:prstDash val="solid"/>
          </a:ln>
        </p:spPr>
      </p:sp>
      <p:sp>
        <p:nvSpPr>
          <p:cNvPr id="23" name="main.criterion.header">
            <a:extLst>
              <a:ext uri="{FF2B5EF4-FFF2-40B4-BE49-F238E27FC236}">
                <a16:creationId xmlns:a16="http://schemas.microsoft.com/office/drawing/2014/main" id="{3F73C7C8-DF1C-406A-A582-3C9A53FBE943}"/>
              </a:ext>
            </a:extLst>
          </p:cNvPr>
          <p:cNvSpPr>
            <a:spLocks noGrp="1"/>
          </p:cNvSpPr>
          <p:nvPr/>
        </p:nvSpPr>
        <p:spPr>
          <a:xfrm>
            <a:off x="3810000" y="666750"/>
            <a:ext cx="3143250" cy="400050"/>
          </a:xfrm>
          <a:prstGeom prst="rect">
            <a:avLst/>
          </a:prstGeom>
          <a:solidFill>
            <a:srgbClr val="EAF1D8"/>
          </a:solidFill>
          <a:ln w="12383">
            <a:noFill/>
            <a:prstDash val="solid"/>
          </a:ln>
        </p:spPr>
      </p:sp>
      <p:sp>
        <p:nvSpPr>
          <p:cNvPr id="24" name="main.criterion.title">
            <a:extLst>
              <a:ext uri="{FF2B5EF4-FFF2-40B4-BE49-F238E27FC236}">
                <a16:creationId xmlns:a16="http://schemas.microsoft.com/office/drawing/2014/main" id="{1897091E-19C4-4534-BE61-CE0F58E6392D}"/>
              </a:ext>
            </a:extLst>
          </p:cNvPr>
          <p:cNvSpPr>
            <a:spLocks noGrp="1"/>
          </p:cNvSpPr>
          <p:nvPr/>
        </p:nvSpPr>
        <p:spPr>
          <a:xfrm>
            <a:off x="3857625" y="685800"/>
            <a:ext cx="3048000" cy="36195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构造求解准则</a:t>
            </a:r>
          </a:p>
        </p:txBody>
      </p:sp>
      <p:sp>
        <p:nvSpPr>
          <p:cNvPr id="25" name="main.criterion-line1">
            <a:extLst>
              <a:ext uri="{FF2B5EF4-FFF2-40B4-BE49-F238E27FC236}">
                <a16:creationId xmlns:a16="http://schemas.microsoft.com/office/drawing/2014/main" id="{D4384B38-542F-4FF8-8A5E-1532CEA13CC3}"/>
              </a:ext>
            </a:extLst>
          </p:cNvPr>
          <p:cNvSpPr>
            <a:spLocks noGrp="1"/>
          </p:cNvSpPr>
          <p:nvPr/>
        </p:nvSpPr>
        <p:spPr>
          <a:xfrm>
            <a:off x="4000500" y="1819275"/>
            <a:ext cx="2762250" cy="36195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由当前样本构造</a:t>
            </a:r>
          </a:p>
        </p:txBody>
      </p:sp>
      <p:sp>
        <p:nvSpPr>
          <p:cNvPr id="26" name="main.criterion-line2">
            <a:extLst>
              <a:ext uri="{FF2B5EF4-FFF2-40B4-BE49-F238E27FC236}">
                <a16:creationId xmlns:a16="http://schemas.microsoft.com/office/drawing/2014/main" id="{24318780-47AE-419F-919F-E6604F2D959F}"/>
              </a:ext>
            </a:extLst>
          </p:cNvPr>
          <p:cNvSpPr>
            <a:spLocks noGrp="1"/>
          </p:cNvSpPr>
          <p:nvPr/>
        </p:nvSpPr>
        <p:spPr>
          <a:xfrm>
            <a:off x="4000500" y="2324100"/>
            <a:ext cx="2762250" cy="36195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最小差异准则</a:t>
            </a:r>
          </a:p>
        </p:txBody>
      </p:sp>
      <p:sp>
        <p:nvSpPr>
          <p:cNvPr id="27" name="main.criterion-line3">
            <a:extLst>
              <a:ext uri="{FF2B5EF4-FFF2-40B4-BE49-F238E27FC236}">
                <a16:creationId xmlns:a16="http://schemas.microsoft.com/office/drawing/2014/main" id="{68F1B9EC-BFAE-4F9D-988D-DA036C18B81B}"/>
              </a:ext>
            </a:extLst>
          </p:cNvPr>
          <p:cNvSpPr>
            <a:spLocks noGrp="1"/>
          </p:cNvSpPr>
          <p:nvPr/>
        </p:nvSpPr>
        <p:spPr>
          <a:xfrm>
            <a:off x="3914775" y="3267075"/>
            <a:ext cx="2933700" cy="32385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形成位置参数搜索过程</a:t>
            </a:r>
          </a:p>
        </p:txBody>
      </p:sp>
      <p:sp>
        <p:nvSpPr>
          <p:cNvPr id="28" name="main.criterion-to-location">
            <a:extLst>
              <a:ext uri="{FF2B5EF4-FFF2-40B4-BE49-F238E27FC236}">
                <a16:creationId xmlns:a16="http://schemas.microsoft.com/office/drawing/2014/main" id="{6AE3E61E-EE19-4A20-A5C8-278E49BFA4AA}"/>
              </a:ext>
            </a:extLst>
          </p:cNvPr>
          <p:cNvSpPr>
            <a:spLocks noGrp="1"/>
          </p:cNvSpPr>
          <p:nvPr/>
        </p:nvSpPr>
        <p:spPr>
          <a:xfrm>
            <a:off x="7258050" y="2286000"/>
            <a:ext cx="533400" cy="190500"/>
          </a:xfrm>
          <a:prstGeom prst="right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29" name="main.location.body">
            <a:extLst>
              <a:ext uri="{FF2B5EF4-FFF2-40B4-BE49-F238E27FC236}">
                <a16:creationId xmlns:a16="http://schemas.microsoft.com/office/drawing/2014/main" id="{A98F82BC-AED5-4A47-AAE2-910502D6DAA2}"/>
              </a:ext>
            </a:extLst>
          </p:cNvPr>
          <p:cNvSpPr>
            <a:spLocks noGrp="1"/>
          </p:cNvSpPr>
          <p:nvPr/>
        </p:nvSpPr>
        <p:spPr>
          <a:xfrm>
            <a:off x="8096250" y="666750"/>
            <a:ext cx="2857500" cy="3143250"/>
          </a:xfrm>
          <a:prstGeom prst="rect">
            <a:avLst/>
          </a:prstGeom>
          <a:solidFill>
            <a:srgbClr val="FFFFFF"/>
          </a:solidFill>
          <a:ln w="12383">
            <a:noFill/>
            <a:prstDash val="solid"/>
          </a:ln>
        </p:spPr>
      </p:sp>
      <p:sp>
        <p:nvSpPr>
          <p:cNvPr id="30" name="main.location.header">
            <a:extLst>
              <a:ext uri="{FF2B5EF4-FFF2-40B4-BE49-F238E27FC236}">
                <a16:creationId xmlns:a16="http://schemas.microsoft.com/office/drawing/2014/main" id="{562713BA-FA27-4372-92B8-7D38B9AF49CD}"/>
              </a:ext>
            </a:extLst>
          </p:cNvPr>
          <p:cNvSpPr>
            <a:spLocks noGrp="1"/>
          </p:cNvSpPr>
          <p:nvPr/>
        </p:nvSpPr>
        <p:spPr>
          <a:xfrm>
            <a:off x="8096250" y="666750"/>
            <a:ext cx="2857500" cy="400050"/>
          </a:xfrm>
          <a:prstGeom prst="rect">
            <a:avLst/>
          </a:prstGeom>
          <a:solidFill>
            <a:srgbClr val="FAEAD9"/>
          </a:solidFill>
          <a:ln w="12383">
            <a:noFill/>
            <a:prstDash val="solid"/>
          </a:ln>
        </p:spPr>
      </p:sp>
      <p:sp>
        <p:nvSpPr>
          <p:cNvPr id="31" name="main.location.title">
            <a:extLst>
              <a:ext uri="{FF2B5EF4-FFF2-40B4-BE49-F238E27FC236}">
                <a16:creationId xmlns:a16="http://schemas.microsoft.com/office/drawing/2014/main" id="{48AEEB4E-FC24-4CF9-BECE-9D7BBA09702A}"/>
              </a:ext>
            </a:extLst>
          </p:cNvPr>
          <p:cNvSpPr>
            <a:spLocks noGrp="1"/>
          </p:cNvSpPr>
          <p:nvPr/>
        </p:nvSpPr>
        <p:spPr>
          <a:xfrm>
            <a:off x="8143875" y="685800"/>
            <a:ext cx="2762250" cy="36195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位置参数求解</a:t>
            </a:r>
          </a:p>
        </p:txBody>
      </p:sp>
      <p:sp>
        <p:nvSpPr>
          <p:cNvPr id="32" name="main.location-focus">
            <a:extLst>
              <a:ext uri="{FF2B5EF4-FFF2-40B4-BE49-F238E27FC236}">
                <a16:creationId xmlns:a16="http://schemas.microsoft.com/office/drawing/2014/main" id="{74AD354D-B848-4DA2-832E-CF079DEB6A06}"/>
              </a:ext>
            </a:extLst>
          </p:cNvPr>
          <p:cNvSpPr>
            <a:spLocks noGrp="1"/>
          </p:cNvSpPr>
          <p:nvPr/>
        </p:nvSpPr>
        <p:spPr>
          <a:xfrm>
            <a:off x="8096250" y="666750"/>
            <a:ext cx="2857500" cy="3143250"/>
          </a:xfrm>
          <a:prstGeom prst="rect">
            <a:avLst/>
          </a:prstGeom>
          <a:noFill/>
          <a:ln w="12383">
            <a:solidFill>
              <a:srgbClr val="D5AA85"/>
            </a:solidFill>
            <a:prstDash val="solid"/>
          </a:ln>
        </p:spPr>
      </p:sp>
      <p:sp>
        <p:nvSpPr>
          <p:cNvPr id="33" name="main.location-description">
            <a:extLst>
              <a:ext uri="{FF2B5EF4-FFF2-40B4-BE49-F238E27FC236}">
                <a16:creationId xmlns:a16="http://schemas.microsoft.com/office/drawing/2014/main" id="{6367BA44-D8C6-44FA-AC33-FD12890A4F20}"/>
              </a:ext>
            </a:extLst>
          </p:cNvPr>
          <p:cNvSpPr>
            <a:spLocks noGrp="1"/>
          </p:cNvSpPr>
          <p:nvPr/>
        </p:nvSpPr>
        <p:spPr>
          <a:xfrm>
            <a:off x="8239125" y="1685925"/>
            <a:ext cx="2571750" cy="34290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按所选偏移确定</a:t>
            </a:r>
          </a:p>
        </p:txBody>
      </p:sp>
      <p:sp>
        <p:nvSpPr>
          <p:cNvPr id="34" name="main.location-description2">
            <a:extLst>
              <a:ext uri="{FF2B5EF4-FFF2-40B4-BE49-F238E27FC236}">
                <a16:creationId xmlns:a16="http://schemas.microsoft.com/office/drawing/2014/main" id="{59D27CBC-FF05-48E1-8710-6A9336BAB02B}"/>
              </a:ext>
            </a:extLst>
          </p:cNvPr>
          <p:cNvSpPr>
            <a:spLocks noGrp="1"/>
          </p:cNvSpPr>
          <p:nvPr/>
        </p:nvSpPr>
        <p:spPr>
          <a:xfrm>
            <a:off x="8239125" y="2124075"/>
            <a:ext cx="2571750" cy="34290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位置求解落点</a:t>
            </a:r>
          </a:p>
        </p:txBody>
      </p:sp>
      <p:sp>
        <p:nvSpPr>
          <p:cNvPr id="35" name="main.location-to-shape">
            <a:extLst>
              <a:ext uri="{FF2B5EF4-FFF2-40B4-BE49-F238E27FC236}">
                <a16:creationId xmlns:a16="http://schemas.microsoft.com/office/drawing/2014/main" id="{82B1361D-3733-4F4B-B1CD-F2BD071FDC1E}"/>
              </a:ext>
            </a:extLst>
          </p:cNvPr>
          <p:cNvSpPr>
            <a:spLocks noGrp="1"/>
          </p:cNvSpPr>
          <p:nvPr/>
        </p:nvSpPr>
        <p:spPr>
          <a:xfrm>
            <a:off x="11258550" y="2286000"/>
            <a:ext cx="533400" cy="190500"/>
          </a:xfrm>
          <a:prstGeom prst="right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36" name="main.shape.body">
            <a:extLst>
              <a:ext uri="{FF2B5EF4-FFF2-40B4-BE49-F238E27FC236}">
                <a16:creationId xmlns:a16="http://schemas.microsoft.com/office/drawing/2014/main" id="{A6E59971-F113-40E2-84E4-F22FB2AA01D7}"/>
              </a:ext>
            </a:extLst>
          </p:cNvPr>
          <p:cNvSpPr>
            <a:spLocks noGrp="1"/>
          </p:cNvSpPr>
          <p:nvPr/>
        </p:nvSpPr>
        <p:spPr>
          <a:xfrm>
            <a:off x="12096750" y="666750"/>
            <a:ext cx="2476500" cy="3143250"/>
          </a:xfrm>
          <a:prstGeom prst="rect">
            <a:avLst/>
          </a:prstGeom>
          <a:solidFill>
            <a:srgbClr val="FFFFFF"/>
          </a:solidFill>
          <a:ln w="12383">
            <a:noFill/>
            <a:prstDash val="solid"/>
          </a:ln>
        </p:spPr>
      </p:sp>
      <p:sp>
        <p:nvSpPr>
          <p:cNvPr id="37" name="main.shape.header">
            <a:extLst>
              <a:ext uri="{FF2B5EF4-FFF2-40B4-BE49-F238E27FC236}">
                <a16:creationId xmlns:a16="http://schemas.microsoft.com/office/drawing/2014/main" id="{22665C58-5DF7-4510-BF51-D43285EA1F42}"/>
              </a:ext>
            </a:extLst>
          </p:cNvPr>
          <p:cNvSpPr>
            <a:spLocks noGrp="1"/>
          </p:cNvSpPr>
          <p:nvPr/>
        </p:nvSpPr>
        <p:spPr>
          <a:xfrm>
            <a:off x="12096750" y="666750"/>
            <a:ext cx="2476500" cy="400050"/>
          </a:xfrm>
          <a:prstGeom prst="rect">
            <a:avLst/>
          </a:prstGeom>
          <a:solidFill>
            <a:srgbClr val="EAF1D8"/>
          </a:solidFill>
          <a:ln w="12383">
            <a:noFill/>
            <a:prstDash val="solid"/>
          </a:ln>
        </p:spPr>
      </p:sp>
      <p:sp>
        <p:nvSpPr>
          <p:cNvPr id="38" name="main.shape.title">
            <a:extLst>
              <a:ext uri="{FF2B5EF4-FFF2-40B4-BE49-F238E27FC236}">
                <a16:creationId xmlns:a16="http://schemas.microsoft.com/office/drawing/2014/main" id="{390AEF83-6A92-43E1-99D7-7402D7D02252}"/>
              </a:ext>
            </a:extLst>
          </p:cNvPr>
          <p:cNvSpPr>
            <a:spLocks noGrp="1"/>
          </p:cNvSpPr>
          <p:nvPr/>
        </p:nvSpPr>
        <p:spPr>
          <a:xfrm>
            <a:off x="12144375" y="685800"/>
            <a:ext cx="2381250" cy="36195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形状参数回代</a:t>
            </a:r>
          </a:p>
        </p:txBody>
      </p:sp>
      <p:sp>
        <p:nvSpPr>
          <p:cNvPr id="39" name="main.shape-description">
            <a:extLst>
              <a:ext uri="{FF2B5EF4-FFF2-40B4-BE49-F238E27FC236}">
                <a16:creationId xmlns:a16="http://schemas.microsoft.com/office/drawing/2014/main" id="{023D7CA7-0E58-4926-85F4-CD3205703097}"/>
              </a:ext>
            </a:extLst>
          </p:cNvPr>
          <p:cNvSpPr>
            <a:spLocks noGrp="1"/>
          </p:cNvSpPr>
          <p:nvPr/>
        </p:nvSpPr>
        <p:spPr>
          <a:xfrm>
            <a:off x="12211050" y="1743075"/>
            <a:ext cx="2247900" cy="34290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代入位置估计</a:t>
            </a:r>
          </a:p>
        </p:txBody>
      </p:sp>
      <p:sp>
        <p:nvSpPr>
          <p:cNvPr id="40" name="main.shape-description2">
            <a:extLst>
              <a:ext uri="{FF2B5EF4-FFF2-40B4-BE49-F238E27FC236}">
                <a16:creationId xmlns:a16="http://schemas.microsoft.com/office/drawing/2014/main" id="{47A488B6-A90F-47DE-B61E-18F96CA2BC32}"/>
              </a:ext>
            </a:extLst>
          </p:cNvPr>
          <p:cNvSpPr>
            <a:spLocks noGrp="1"/>
          </p:cNvSpPr>
          <p:nvPr/>
        </p:nvSpPr>
        <p:spPr>
          <a:xfrm>
            <a:off x="12211050" y="2181225"/>
            <a:ext cx="2247900" cy="34290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求条件最小差异</a:t>
            </a:r>
          </a:p>
        </p:txBody>
      </p:sp>
      <p:sp>
        <p:nvSpPr>
          <p:cNvPr id="41" name="main.shape-to-scale">
            <a:extLst>
              <a:ext uri="{FF2B5EF4-FFF2-40B4-BE49-F238E27FC236}">
                <a16:creationId xmlns:a16="http://schemas.microsoft.com/office/drawing/2014/main" id="{02D1C964-5B90-4AF4-8D53-3B6D953704DD}"/>
              </a:ext>
            </a:extLst>
          </p:cNvPr>
          <p:cNvSpPr>
            <a:spLocks noGrp="1"/>
          </p:cNvSpPr>
          <p:nvPr/>
        </p:nvSpPr>
        <p:spPr>
          <a:xfrm>
            <a:off x="14744700" y="2286000"/>
            <a:ext cx="504825" cy="190500"/>
          </a:xfrm>
          <a:prstGeom prst="right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42" name="main.scale.body">
            <a:extLst>
              <a:ext uri="{FF2B5EF4-FFF2-40B4-BE49-F238E27FC236}">
                <a16:creationId xmlns:a16="http://schemas.microsoft.com/office/drawing/2014/main" id="{4B02940D-F125-4CAD-8342-D770633D400D}"/>
              </a:ext>
            </a:extLst>
          </p:cNvPr>
          <p:cNvSpPr>
            <a:spLocks noGrp="1"/>
          </p:cNvSpPr>
          <p:nvPr/>
        </p:nvSpPr>
        <p:spPr>
          <a:xfrm>
            <a:off x="15430500" y="666750"/>
            <a:ext cx="2857500" cy="3143250"/>
          </a:xfrm>
          <a:prstGeom prst="rect">
            <a:avLst/>
          </a:prstGeom>
          <a:solidFill>
            <a:srgbClr val="FFFFFF"/>
          </a:solidFill>
          <a:ln w="12383">
            <a:noFill/>
            <a:prstDash val="solid"/>
          </a:ln>
        </p:spPr>
      </p:sp>
      <p:sp>
        <p:nvSpPr>
          <p:cNvPr id="43" name="main.scale.header">
            <a:extLst>
              <a:ext uri="{FF2B5EF4-FFF2-40B4-BE49-F238E27FC236}">
                <a16:creationId xmlns:a16="http://schemas.microsoft.com/office/drawing/2014/main" id="{A5967BF9-8642-447B-A2BE-B1860C1242C6}"/>
              </a:ext>
            </a:extLst>
          </p:cNvPr>
          <p:cNvSpPr>
            <a:spLocks noGrp="1"/>
          </p:cNvSpPr>
          <p:nvPr/>
        </p:nvSpPr>
        <p:spPr>
          <a:xfrm>
            <a:off x="15430500" y="666750"/>
            <a:ext cx="2857500" cy="400050"/>
          </a:xfrm>
          <a:prstGeom prst="rect">
            <a:avLst/>
          </a:prstGeom>
          <a:solidFill>
            <a:srgbClr val="EAF1D8"/>
          </a:solidFill>
          <a:ln w="12383">
            <a:noFill/>
            <a:prstDash val="solid"/>
          </a:ln>
        </p:spPr>
      </p:sp>
      <p:sp>
        <p:nvSpPr>
          <p:cNvPr id="44" name="main.scale.title">
            <a:extLst>
              <a:ext uri="{FF2B5EF4-FFF2-40B4-BE49-F238E27FC236}">
                <a16:creationId xmlns:a16="http://schemas.microsoft.com/office/drawing/2014/main" id="{614BEE2A-5DDA-4A91-89DD-676857FF616A}"/>
              </a:ext>
            </a:extLst>
          </p:cNvPr>
          <p:cNvSpPr>
            <a:spLocks noGrp="1"/>
          </p:cNvSpPr>
          <p:nvPr/>
        </p:nvSpPr>
        <p:spPr>
          <a:xfrm>
            <a:off x="15478125" y="685800"/>
            <a:ext cx="2762250" cy="36195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尺度参数计算</a:t>
            </a:r>
          </a:p>
        </p:txBody>
      </p:sp>
      <p:sp>
        <p:nvSpPr>
          <p:cNvPr id="45" name="main.scale-description">
            <a:extLst>
              <a:ext uri="{FF2B5EF4-FFF2-40B4-BE49-F238E27FC236}">
                <a16:creationId xmlns:a16="http://schemas.microsoft.com/office/drawing/2014/main" id="{8E064384-1A7D-4ACF-A2C2-253FD0847A9E}"/>
              </a:ext>
            </a:extLst>
          </p:cNvPr>
          <p:cNvSpPr>
            <a:spLocks noGrp="1"/>
          </p:cNvSpPr>
          <p:nvPr/>
        </p:nvSpPr>
        <p:spPr>
          <a:xfrm>
            <a:off x="15525750" y="1743075"/>
            <a:ext cx="2667000" cy="34290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代入位置与形状估计</a:t>
            </a:r>
          </a:p>
        </p:txBody>
      </p:sp>
      <p:sp>
        <p:nvSpPr>
          <p:cNvPr id="46" name="main.scale-description2">
            <a:extLst>
              <a:ext uri="{FF2B5EF4-FFF2-40B4-BE49-F238E27FC236}">
                <a16:creationId xmlns:a16="http://schemas.microsoft.com/office/drawing/2014/main" id="{4FDE4693-ECF9-4333-B6DF-BE86A8B39F5E}"/>
              </a:ext>
            </a:extLst>
          </p:cNvPr>
          <p:cNvSpPr>
            <a:spLocks noGrp="1"/>
          </p:cNvSpPr>
          <p:nvPr/>
        </p:nvSpPr>
        <p:spPr>
          <a:xfrm>
            <a:off x="15525750" y="2181225"/>
            <a:ext cx="2667000" cy="34290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伪尺度取均值</a:t>
            </a:r>
          </a:p>
        </p:txBody>
      </p:sp>
      <p:sp>
        <p:nvSpPr>
          <p:cNvPr id="47" name="main.scale-to-result">
            <a:extLst>
              <a:ext uri="{FF2B5EF4-FFF2-40B4-BE49-F238E27FC236}">
                <a16:creationId xmlns:a16="http://schemas.microsoft.com/office/drawing/2014/main" id="{CD1BEDC5-C0F0-4FBF-A733-EA2E4814A7E9}"/>
              </a:ext>
            </a:extLst>
          </p:cNvPr>
          <p:cNvSpPr>
            <a:spLocks noGrp="1"/>
          </p:cNvSpPr>
          <p:nvPr/>
        </p:nvSpPr>
        <p:spPr>
          <a:xfrm>
            <a:off x="18478500" y="2286000"/>
            <a:ext cx="542925" cy="190500"/>
          </a:xfrm>
          <a:prstGeom prst="right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48" name="main.result-bg">
            <a:extLst>
              <a:ext uri="{FF2B5EF4-FFF2-40B4-BE49-F238E27FC236}">
                <a16:creationId xmlns:a16="http://schemas.microsoft.com/office/drawing/2014/main" id="{311AE92D-2938-400A-A841-EB9685EC9BAC}"/>
              </a:ext>
            </a:extLst>
          </p:cNvPr>
          <p:cNvSpPr>
            <a:spLocks noGrp="1"/>
          </p:cNvSpPr>
          <p:nvPr/>
        </p:nvSpPr>
        <p:spPr>
          <a:xfrm>
            <a:off x="19240500" y="666750"/>
            <a:ext cx="2381250" cy="3143250"/>
          </a:xfrm>
          <a:prstGeom prst="rect">
            <a:avLst/>
          </a:prstGeom>
          <a:solidFill>
            <a:srgbClr val="FAEAD9"/>
          </a:solidFill>
          <a:ln w="12383">
            <a:noFill/>
            <a:prstDash val="solid"/>
          </a:ln>
        </p:spPr>
      </p:sp>
      <p:sp>
        <p:nvSpPr>
          <p:cNvPr id="49" name="main.result-label">
            <a:extLst>
              <a:ext uri="{FF2B5EF4-FFF2-40B4-BE49-F238E27FC236}">
                <a16:creationId xmlns:a16="http://schemas.microsoft.com/office/drawing/2014/main" id="{DA9170CE-0905-4DF7-82C3-AF634724295C}"/>
              </a:ext>
            </a:extLst>
          </p:cNvPr>
          <p:cNvSpPr>
            <a:spLocks noGrp="1"/>
          </p:cNvSpPr>
          <p:nvPr/>
        </p:nvSpPr>
        <p:spPr>
          <a:xfrm>
            <a:off x="19288125" y="809625"/>
            <a:ext cx="2286000" cy="371475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AMDM估计结果</a:t>
            </a:r>
          </a:p>
        </p:txBody>
      </p:sp>
      <p:sp>
        <p:nvSpPr>
          <p:cNvPr id="50" name="main.result-meaning">
            <a:extLst>
              <a:ext uri="{FF2B5EF4-FFF2-40B4-BE49-F238E27FC236}">
                <a16:creationId xmlns:a16="http://schemas.microsoft.com/office/drawing/2014/main" id="{38CCE3F1-D2C6-48A1-A292-4581DF3F670D}"/>
              </a:ext>
            </a:extLst>
          </p:cNvPr>
          <p:cNvSpPr>
            <a:spLocks noGrp="1"/>
          </p:cNvSpPr>
          <p:nvPr/>
        </p:nvSpPr>
        <p:spPr>
          <a:xfrm>
            <a:off x="19316700" y="3276600"/>
            <a:ext cx="2228850" cy="32385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形状 · 尺度 · 位置</a:t>
            </a:r>
          </a:p>
        </p:txBody>
      </p:sp>
      <p:sp>
        <p:nvSpPr>
          <p:cNvPr id="51" name="adapt.boundary">
            <a:extLst>
              <a:ext uri="{FF2B5EF4-FFF2-40B4-BE49-F238E27FC236}">
                <a16:creationId xmlns:a16="http://schemas.microsoft.com/office/drawing/2014/main" id="{F700170C-D633-492B-B0FB-6282EC341AF9}"/>
              </a:ext>
            </a:extLst>
          </p:cNvPr>
          <p:cNvSpPr>
            <a:spLocks noGrp="1"/>
          </p:cNvSpPr>
          <p:nvPr/>
        </p:nvSpPr>
        <p:spPr>
          <a:xfrm>
            <a:off x="3810000" y="5429250"/>
            <a:ext cx="10953750" cy="2286000"/>
          </a:xfrm>
          <a:prstGeom prst="rect">
            <a:avLst/>
          </a:prstGeom>
          <a:noFill/>
          <a:ln w="12383">
            <a:solidFill>
              <a:srgbClr val="6A92BD"/>
            </a:solidFill>
            <a:prstDash val="dash"/>
          </a:ln>
        </p:spPr>
      </p:sp>
      <p:sp>
        <p:nvSpPr>
          <p:cNvPr id="52" name="adapt.header">
            <a:extLst>
              <a:ext uri="{FF2B5EF4-FFF2-40B4-BE49-F238E27FC236}">
                <a16:creationId xmlns:a16="http://schemas.microsoft.com/office/drawing/2014/main" id="{6BA89854-ECD3-4AF4-A70B-0CE61A237600}"/>
              </a:ext>
            </a:extLst>
          </p:cNvPr>
          <p:cNvSpPr>
            <a:spLocks noGrp="1"/>
          </p:cNvSpPr>
          <p:nvPr/>
        </p:nvSpPr>
        <p:spPr>
          <a:xfrm>
            <a:off x="3810000" y="5429250"/>
            <a:ext cx="10953750" cy="400050"/>
          </a:xfrm>
          <a:prstGeom prst="rect">
            <a:avLst/>
          </a:prstGeom>
          <a:solidFill>
            <a:srgbClr val="A8C0E5"/>
          </a:solidFill>
          <a:ln w="12383">
            <a:noFill/>
            <a:prstDash val="solid"/>
          </a:ln>
        </p:spPr>
      </p:sp>
      <p:sp>
        <p:nvSpPr>
          <p:cNvPr id="53" name="adapt.title">
            <a:extLst>
              <a:ext uri="{FF2B5EF4-FFF2-40B4-BE49-F238E27FC236}">
                <a16:creationId xmlns:a16="http://schemas.microsoft.com/office/drawing/2014/main" id="{B55AB595-3DC5-47A6-B072-F57352190FE8}"/>
              </a:ext>
            </a:extLst>
          </p:cNvPr>
          <p:cNvSpPr>
            <a:spLocks noGrp="1"/>
          </p:cNvSpPr>
          <p:nvPr/>
        </p:nvSpPr>
        <p:spPr>
          <a:xfrm>
            <a:off x="3905250" y="5448300"/>
            <a:ext cx="10763250" cy="36195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样本驱动的估计调节</a:t>
            </a:r>
          </a:p>
        </p:txBody>
      </p:sp>
      <p:sp>
        <p:nvSpPr>
          <p:cNvPr id="54" name="adapt.representation">
            <a:extLst>
              <a:ext uri="{FF2B5EF4-FFF2-40B4-BE49-F238E27FC236}">
                <a16:creationId xmlns:a16="http://schemas.microsoft.com/office/drawing/2014/main" id="{04922423-C7AE-4437-8FA8-9ADD11509EE5}"/>
              </a:ext>
            </a:extLst>
          </p:cNvPr>
          <p:cNvSpPr>
            <a:spLocks noGrp="1"/>
          </p:cNvSpPr>
          <p:nvPr/>
        </p:nvSpPr>
        <p:spPr>
          <a:xfrm>
            <a:off x="4124325" y="6181725"/>
            <a:ext cx="1838325" cy="971550"/>
          </a:xfrm>
          <a:prstGeom prst="rect">
            <a:avLst/>
          </a:prstGeom>
          <a:solidFill>
            <a:srgbClr val="F2F5F9"/>
          </a:solidFill>
          <a:ln w="12383">
            <a:noFill/>
            <a:prstDash val="solid"/>
          </a:ln>
        </p:spPr>
      </p:sp>
      <p:sp>
        <p:nvSpPr>
          <p:cNvPr id="55" name="adapt.representation-title">
            <a:extLst>
              <a:ext uri="{FF2B5EF4-FFF2-40B4-BE49-F238E27FC236}">
                <a16:creationId xmlns:a16="http://schemas.microsoft.com/office/drawing/2014/main" id="{FF67D110-197A-4934-AE9C-E19943B205DD}"/>
              </a:ext>
            </a:extLst>
          </p:cNvPr>
          <p:cNvSpPr>
            <a:spLocks noGrp="1"/>
          </p:cNvSpPr>
          <p:nvPr/>
        </p:nvSpPr>
        <p:spPr>
          <a:xfrm>
            <a:off x="4171950" y="6257925"/>
            <a:ext cx="1743075" cy="34290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样本表征</a:t>
            </a:r>
          </a:p>
        </p:txBody>
      </p:sp>
      <p:sp>
        <p:nvSpPr>
          <p:cNvPr id="56" name="adapt.representation-note">
            <a:extLst>
              <a:ext uri="{FF2B5EF4-FFF2-40B4-BE49-F238E27FC236}">
                <a16:creationId xmlns:a16="http://schemas.microsoft.com/office/drawing/2014/main" id="{BD73C5E3-CF28-45E1-ABFF-5FA2443D100E}"/>
              </a:ext>
            </a:extLst>
          </p:cNvPr>
          <p:cNvSpPr>
            <a:spLocks noGrp="1"/>
          </p:cNvSpPr>
          <p:nvPr/>
        </p:nvSpPr>
        <p:spPr>
          <a:xfrm>
            <a:off x="4171950" y="6705600"/>
            <a:ext cx="1743075" cy="295275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排序 · 归一化</a:t>
            </a:r>
          </a:p>
        </p:txBody>
      </p:sp>
      <p:sp>
        <p:nvSpPr>
          <p:cNvPr id="57" name="adapt.to-evaluation">
            <a:extLst>
              <a:ext uri="{FF2B5EF4-FFF2-40B4-BE49-F238E27FC236}">
                <a16:creationId xmlns:a16="http://schemas.microsoft.com/office/drawing/2014/main" id="{BA1E2135-0EEF-4658-892B-593FD90B60BB}"/>
              </a:ext>
            </a:extLst>
          </p:cNvPr>
          <p:cNvSpPr>
            <a:spLocks noGrp="1"/>
          </p:cNvSpPr>
          <p:nvPr/>
        </p:nvSpPr>
        <p:spPr>
          <a:xfrm>
            <a:off x="6181725" y="6553200"/>
            <a:ext cx="419100" cy="190500"/>
          </a:xfrm>
          <a:prstGeom prst="right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58" name="adapt.network.weight0-0-0">
            <a:extLst>
              <a:ext uri="{FF2B5EF4-FFF2-40B4-BE49-F238E27FC236}">
                <a16:creationId xmlns:a16="http://schemas.microsoft.com/office/drawing/2014/main" id="{1261EB83-1C5E-497D-AEF7-93FA43FBC6CA}"/>
              </a:ext>
            </a:extLst>
          </p:cNvPr>
          <p:cNvSpPr>
            <a:spLocks noGrp="1"/>
          </p:cNvSpPr>
          <p:nvPr/>
        </p:nvSpPr>
        <p:spPr>
          <a:xfrm>
            <a:off x="6896100" y="6288881"/>
            <a:ext cx="628650" cy="38894"/>
          </a:xfrm>
          <a:custGeom>
            <a:avLst/>
            <a:gdLst/>
            <a:ahLst/>
            <a:cxnLst/>
            <a:rect l="0" t="0" r="0" b="0"/>
            <a:pathLst>
              <a:path w="628650" h="38894">
                <a:moveTo>
                  <a:pt x="0" y="38894"/>
                </a:moveTo>
                <a:lnTo>
                  <a:pt x="628650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59" name="adapt.network.weight0-0-1">
            <a:extLst>
              <a:ext uri="{FF2B5EF4-FFF2-40B4-BE49-F238E27FC236}">
                <a16:creationId xmlns:a16="http://schemas.microsoft.com/office/drawing/2014/main" id="{20627409-78D4-4EEC-8FB5-C67E4A5C1640}"/>
              </a:ext>
            </a:extLst>
          </p:cNvPr>
          <p:cNvSpPr>
            <a:spLocks noGrp="1"/>
          </p:cNvSpPr>
          <p:nvPr/>
        </p:nvSpPr>
        <p:spPr>
          <a:xfrm>
            <a:off x="6896100" y="6327775"/>
            <a:ext cx="628650" cy="194469"/>
          </a:xfrm>
          <a:custGeom>
            <a:avLst/>
            <a:gdLst/>
            <a:ahLst/>
            <a:cxnLst/>
            <a:rect l="0" t="0" r="0" b="0"/>
            <a:pathLst>
              <a:path w="628650" h="194469">
                <a:moveTo>
                  <a:pt x="0" y="0"/>
                </a:moveTo>
                <a:lnTo>
                  <a:pt x="628650" y="194469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60" name="adapt.network.weight0-0-2">
            <a:extLst>
              <a:ext uri="{FF2B5EF4-FFF2-40B4-BE49-F238E27FC236}">
                <a16:creationId xmlns:a16="http://schemas.microsoft.com/office/drawing/2014/main" id="{45AF8781-3989-4D22-9BAD-940EB6E654B0}"/>
              </a:ext>
            </a:extLst>
          </p:cNvPr>
          <p:cNvSpPr>
            <a:spLocks noGrp="1"/>
          </p:cNvSpPr>
          <p:nvPr/>
        </p:nvSpPr>
        <p:spPr>
          <a:xfrm>
            <a:off x="6896100" y="6327775"/>
            <a:ext cx="628650" cy="427831"/>
          </a:xfrm>
          <a:custGeom>
            <a:avLst/>
            <a:gdLst/>
            <a:ahLst/>
            <a:cxnLst/>
            <a:rect l="0" t="0" r="0" b="0"/>
            <a:pathLst>
              <a:path w="628650" h="427831">
                <a:moveTo>
                  <a:pt x="0" y="0"/>
                </a:moveTo>
                <a:lnTo>
                  <a:pt x="628650" y="427831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61" name="adapt.network.weight0-0-3">
            <a:extLst>
              <a:ext uri="{FF2B5EF4-FFF2-40B4-BE49-F238E27FC236}">
                <a16:creationId xmlns:a16="http://schemas.microsoft.com/office/drawing/2014/main" id="{C198CF01-3DD3-4631-B77C-82BBDEA72E88}"/>
              </a:ext>
            </a:extLst>
          </p:cNvPr>
          <p:cNvSpPr>
            <a:spLocks noGrp="1"/>
          </p:cNvSpPr>
          <p:nvPr/>
        </p:nvSpPr>
        <p:spPr>
          <a:xfrm>
            <a:off x="6896100" y="6327775"/>
            <a:ext cx="628650" cy="661194"/>
          </a:xfrm>
          <a:custGeom>
            <a:avLst/>
            <a:gdLst/>
            <a:ahLst/>
            <a:cxnLst/>
            <a:rect l="0" t="0" r="0" b="0"/>
            <a:pathLst>
              <a:path w="628650" h="661194">
                <a:moveTo>
                  <a:pt x="0" y="0"/>
                </a:moveTo>
                <a:lnTo>
                  <a:pt x="628650" y="661194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62" name="adapt.network.weight0-1-0">
            <a:extLst>
              <a:ext uri="{FF2B5EF4-FFF2-40B4-BE49-F238E27FC236}">
                <a16:creationId xmlns:a16="http://schemas.microsoft.com/office/drawing/2014/main" id="{5A76CAEA-0E0A-46C3-884E-941A1ED46D32}"/>
              </a:ext>
            </a:extLst>
          </p:cNvPr>
          <p:cNvSpPr>
            <a:spLocks noGrp="1"/>
          </p:cNvSpPr>
          <p:nvPr/>
        </p:nvSpPr>
        <p:spPr>
          <a:xfrm>
            <a:off x="6896100" y="6288881"/>
            <a:ext cx="628650" cy="350044"/>
          </a:xfrm>
          <a:custGeom>
            <a:avLst/>
            <a:gdLst/>
            <a:ahLst/>
            <a:cxnLst/>
            <a:rect l="0" t="0" r="0" b="0"/>
            <a:pathLst>
              <a:path w="628650" h="350044">
                <a:moveTo>
                  <a:pt x="0" y="350044"/>
                </a:moveTo>
                <a:lnTo>
                  <a:pt x="628650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63" name="adapt.network.weight0-1-1">
            <a:extLst>
              <a:ext uri="{FF2B5EF4-FFF2-40B4-BE49-F238E27FC236}">
                <a16:creationId xmlns:a16="http://schemas.microsoft.com/office/drawing/2014/main" id="{D0F5CE4B-890D-4EE7-A609-E43C91B83AF7}"/>
              </a:ext>
            </a:extLst>
          </p:cNvPr>
          <p:cNvSpPr>
            <a:spLocks noGrp="1"/>
          </p:cNvSpPr>
          <p:nvPr/>
        </p:nvSpPr>
        <p:spPr>
          <a:xfrm>
            <a:off x="6896100" y="6522244"/>
            <a:ext cx="628650" cy="116681"/>
          </a:xfrm>
          <a:custGeom>
            <a:avLst/>
            <a:gdLst/>
            <a:ahLst/>
            <a:cxnLst/>
            <a:rect l="0" t="0" r="0" b="0"/>
            <a:pathLst>
              <a:path w="628650" h="116681">
                <a:moveTo>
                  <a:pt x="0" y="116681"/>
                </a:moveTo>
                <a:lnTo>
                  <a:pt x="628650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64" name="adapt.network.weight0-1-2">
            <a:extLst>
              <a:ext uri="{FF2B5EF4-FFF2-40B4-BE49-F238E27FC236}">
                <a16:creationId xmlns:a16="http://schemas.microsoft.com/office/drawing/2014/main" id="{EF3F176E-4ED3-4AC4-A63A-45F631907C5E}"/>
              </a:ext>
            </a:extLst>
          </p:cNvPr>
          <p:cNvSpPr>
            <a:spLocks noGrp="1"/>
          </p:cNvSpPr>
          <p:nvPr/>
        </p:nvSpPr>
        <p:spPr>
          <a:xfrm>
            <a:off x="6896100" y="6638925"/>
            <a:ext cx="628650" cy="116681"/>
          </a:xfrm>
          <a:custGeom>
            <a:avLst/>
            <a:gdLst/>
            <a:ahLst/>
            <a:cxnLst/>
            <a:rect l="0" t="0" r="0" b="0"/>
            <a:pathLst>
              <a:path w="628650" h="116681">
                <a:moveTo>
                  <a:pt x="0" y="0"/>
                </a:moveTo>
                <a:lnTo>
                  <a:pt x="628650" y="116681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65" name="adapt.network.weight0-1-3">
            <a:extLst>
              <a:ext uri="{FF2B5EF4-FFF2-40B4-BE49-F238E27FC236}">
                <a16:creationId xmlns:a16="http://schemas.microsoft.com/office/drawing/2014/main" id="{06B3541B-12DC-4758-8DE2-9D0B05F66383}"/>
              </a:ext>
            </a:extLst>
          </p:cNvPr>
          <p:cNvSpPr>
            <a:spLocks noGrp="1"/>
          </p:cNvSpPr>
          <p:nvPr/>
        </p:nvSpPr>
        <p:spPr>
          <a:xfrm>
            <a:off x="6896100" y="6638925"/>
            <a:ext cx="628650" cy="350044"/>
          </a:xfrm>
          <a:custGeom>
            <a:avLst/>
            <a:gdLst/>
            <a:ahLst/>
            <a:cxnLst/>
            <a:rect l="0" t="0" r="0" b="0"/>
            <a:pathLst>
              <a:path w="628650" h="350044">
                <a:moveTo>
                  <a:pt x="0" y="0"/>
                </a:moveTo>
                <a:lnTo>
                  <a:pt x="628650" y="350044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66" name="adapt.network.weight0-2-0">
            <a:extLst>
              <a:ext uri="{FF2B5EF4-FFF2-40B4-BE49-F238E27FC236}">
                <a16:creationId xmlns:a16="http://schemas.microsoft.com/office/drawing/2014/main" id="{EA9F184E-13B3-49E4-BDBD-40BE527345A6}"/>
              </a:ext>
            </a:extLst>
          </p:cNvPr>
          <p:cNvSpPr>
            <a:spLocks noGrp="1"/>
          </p:cNvSpPr>
          <p:nvPr/>
        </p:nvSpPr>
        <p:spPr>
          <a:xfrm>
            <a:off x="6896100" y="6288881"/>
            <a:ext cx="628650" cy="661194"/>
          </a:xfrm>
          <a:custGeom>
            <a:avLst/>
            <a:gdLst/>
            <a:ahLst/>
            <a:cxnLst/>
            <a:rect l="0" t="0" r="0" b="0"/>
            <a:pathLst>
              <a:path w="628650" h="661194">
                <a:moveTo>
                  <a:pt x="0" y="661194"/>
                </a:moveTo>
                <a:lnTo>
                  <a:pt x="628650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67" name="adapt.network.weight0-2-1">
            <a:extLst>
              <a:ext uri="{FF2B5EF4-FFF2-40B4-BE49-F238E27FC236}">
                <a16:creationId xmlns:a16="http://schemas.microsoft.com/office/drawing/2014/main" id="{DE01F640-646E-40D5-9081-7A21538A23E1}"/>
              </a:ext>
            </a:extLst>
          </p:cNvPr>
          <p:cNvSpPr>
            <a:spLocks noGrp="1"/>
          </p:cNvSpPr>
          <p:nvPr/>
        </p:nvSpPr>
        <p:spPr>
          <a:xfrm>
            <a:off x="6896100" y="6522244"/>
            <a:ext cx="628650" cy="427831"/>
          </a:xfrm>
          <a:custGeom>
            <a:avLst/>
            <a:gdLst/>
            <a:ahLst/>
            <a:cxnLst/>
            <a:rect l="0" t="0" r="0" b="0"/>
            <a:pathLst>
              <a:path w="628650" h="427831">
                <a:moveTo>
                  <a:pt x="0" y="427831"/>
                </a:moveTo>
                <a:lnTo>
                  <a:pt x="628650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68" name="adapt.network.weight0-2-2">
            <a:extLst>
              <a:ext uri="{FF2B5EF4-FFF2-40B4-BE49-F238E27FC236}">
                <a16:creationId xmlns:a16="http://schemas.microsoft.com/office/drawing/2014/main" id="{A2FC3EA9-B94E-4EA3-843A-7097510051AD}"/>
              </a:ext>
            </a:extLst>
          </p:cNvPr>
          <p:cNvSpPr>
            <a:spLocks noGrp="1"/>
          </p:cNvSpPr>
          <p:nvPr/>
        </p:nvSpPr>
        <p:spPr>
          <a:xfrm>
            <a:off x="6896100" y="6755606"/>
            <a:ext cx="628650" cy="194469"/>
          </a:xfrm>
          <a:custGeom>
            <a:avLst/>
            <a:gdLst/>
            <a:ahLst/>
            <a:cxnLst/>
            <a:rect l="0" t="0" r="0" b="0"/>
            <a:pathLst>
              <a:path w="628650" h="194469">
                <a:moveTo>
                  <a:pt x="0" y="194469"/>
                </a:moveTo>
                <a:lnTo>
                  <a:pt x="628650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69" name="adapt.network.weight0-2-3">
            <a:extLst>
              <a:ext uri="{FF2B5EF4-FFF2-40B4-BE49-F238E27FC236}">
                <a16:creationId xmlns:a16="http://schemas.microsoft.com/office/drawing/2014/main" id="{0C3CC2F3-42B5-404C-8B4D-0E6871B85019}"/>
              </a:ext>
            </a:extLst>
          </p:cNvPr>
          <p:cNvSpPr>
            <a:spLocks noGrp="1"/>
          </p:cNvSpPr>
          <p:nvPr/>
        </p:nvSpPr>
        <p:spPr>
          <a:xfrm>
            <a:off x="6896100" y="6950075"/>
            <a:ext cx="628650" cy="38894"/>
          </a:xfrm>
          <a:custGeom>
            <a:avLst/>
            <a:gdLst/>
            <a:ahLst/>
            <a:cxnLst/>
            <a:rect l="0" t="0" r="0" b="0"/>
            <a:pathLst>
              <a:path w="628650" h="38894">
                <a:moveTo>
                  <a:pt x="0" y="0"/>
                </a:moveTo>
                <a:lnTo>
                  <a:pt x="628650" y="38894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70" name="adapt.network.weight1-0-0">
            <a:extLst>
              <a:ext uri="{FF2B5EF4-FFF2-40B4-BE49-F238E27FC236}">
                <a16:creationId xmlns:a16="http://schemas.microsoft.com/office/drawing/2014/main" id="{3CB8DCFC-1199-42D7-9494-B9C831C968FF}"/>
              </a:ext>
            </a:extLst>
          </p:cNvPr>
          <p:cNvSpPr>
            <a:spLocks noGrp="1"/>
          </p:cNvSpPr>
          <p:nvPr/>
        </p:nvSpPr>
        <p:spPr>
          <a:xfrm>
            <a:off x="7524750" y="6288881"/>
            <a:ext cx="628650" cy="953"/>
          </a:xfrm>
          <a:custGeom>
            <a:avLst/>
            <a:gdLst/>
            <a:ahLst/>
            <a:cxnLst/>
            <a:rect l="0" t="0" r="0" b="0"/>
            <a:pathLst>
              <a:path w="628650" h="953">
                <a:moveTo>
                  <a:pt x="0" y="0"/>
                </a:moveTo>
                <a:lnTo>
                  <a:pt x="628650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71" name="adapt.network.weight1-0-1">
            <a:extLst>
              <a:ext uri="{FF2B5EF4-FFF2-40B4-BE49-F238E27FC236}">
                <a16:creationId xmlns:a16="http://schemas.microsoft.com/office/drawing/2014/main" id="{3BB7CB59-0287-46B7-B031-E88ABFBE4EC0}"/>
              </a:ext>
            </a:extLst>
          </p:cNvPr>
          <p:cNvSpPr>
            <a:spLocks noGrp="1"/>
          </p:cNvSpPr>
          <p:nvPr/>
        </p:nvSpPr>
        <p:spPr>
          <a:xfrm>
            <a:off x="7524750" y="6288881"/>
            <a:ext cx="628650" cy="233363"/>
          </a:xfrm>
          <a:custGeom>
            <a:avLst/>
            <a:gdLst/>
            <a:ahLst/>
            <a:cxnLst/>
            <a:rect l="0" t="0" r="0" b="0"/>
            <a:pathLst>
              <a:path w="628650" h="233363">
                <a:moveTo>
                  <a:pt x="0" y="0"/>
                </a:moveTo>
                <a:lnTo>
                  <a:pt x="628650" y="233363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72" name="adapt.network.weight1-0-2">
            <a:extLst>
              <a:ext uri="{FF2B5EF4-FFF2-40B4-BE49-F238E27FC236}">
                <a16:creationId xmlns:a16="http://schemas.microsoft.com/office/drawing/2014/main" id="{8EB214BD-C535-4F47-B158-1A50B854411C}"/>
              </a:ext>
            </a:extLst>
          </p:cNvPr>
          <p:cNvSpPr>
            <a:spLocks noGrp="1"/>
          </p:cNvSpPr>
          <p:nvPr/>
        </p:nvSpPr>
        <p:spPr>
          <a:xfrm>
            <a:off x="7524750" y="6288881"/>
            <a:ext cx="628650" cy="466725"/>
          </a:xfrm>
          <a:custGeom>
            <a:avLst/>
            <a:gdLst/>
            <a:ahLst/>
            <a:cxnLst/>
            <a:rect l="0" t="0" r="0" b="0"/>
            <a:pathLst>
              <a:path w="628650" h="466725">
                <a:moveTo>
                  <a:pt x="0" y="0"/>
                </a:moveTo>
                <a:lnTo>
                  <a:pt x="628650" y="466725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73" name="adapt.network.weight1-0-3">
            <a:extLst>
              <a:ext uri="{FF2B5EF4-FFF2-40B4-BE49-F238E27FC236}">
                <a16:creationId xmlns:a16="http://schemas.microsoft.com/office/drawing/2014/main" id="{C4968C87-32A7-4D16-BCDB-8095C97C3A52}"/>
              </a:ext>
            </a:extLst>
          </p:cNvPr>
          <p:cNvSpPr>
            <a:spLocks noGrp="1"/>
          </p:cNvSpPr>
          <p:nvPr/>
        </p:nvSpPr>
        <p:spPr>
          <a:xfrm>
            <a:off x="7524750" y="6288881"/>
            <a:ext cx="628650" cy="700088"/>
          </a:xfrm>
          <a:custGeom>
            <a:avLst/>
            <a:gdLst/>
            <a:ahLst/>
            <a:cxnLst/>
            <a:rect l="0" t="0" r="0" b="0"/>
            <a:pathLst>
              <a:path w="628650" h="700088">
                <a:moveTo>
                  <a:pt x="0" y="0"/>
                </a:moveTo>
                <a:lnTo>
                  <a:pt x="628650" y="700088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74" name="adapt.network.weight1-1-0">
            <a:extLst>
              <a:ext uri="{FF2B5EF4-FFF2-40B4-BE49-F238E27FC236}">
                <a16:creationId xmlns:a16="http://schemas.microsoft.com/office/drawing/2014/main" id="{D1EC5135-69CF-4E42-BF62-50EBD5A72FAF}"/>
              </a:ext>
            </a:extLst>
          </p:cNvPr>
          <p:cNvSpPr>
            <a:spLocks noGrp="1"/>
          </p:cNvSpPr>
          <p:nvPr/>
        </p:nvSpPr>
        <p:spPr>
          <a:xfrm>
            <a:off x="7524750" y="6288881"/>
            <a:ext cx="628650" cy="233363"/>
          </a:xfrm>
          <a:custGeom>
            <a:avLst/>
            <a:gdLst/>
            <a:ahLst/>
            <a:cxnLst/>
            <a:rect l="0" t="0" r="0" b="0"/>
            <a:pathLst>
              <a:path w="628650" h="233363">
                <a:moveTo>
                  <a:pt x="0" y="233363"/>
                </a:moveTo>
                <a:lnTo>
                  <a:pt x="628650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75" name="adapt.network.weight1-1-1">
            <a:extLst>
              <a:ext uri="{FF2B5EF4-FFF2-40B4-BE49-F238E27FC236}">
                <a16:creationId xmlns:a16="http://schemas.microsoft.com/office/drawing/2014/main" id="{7DD876CF-8E86-462E-A51F-C1F147D6CC8D}"/>
              </a:ext>
            </a:extLst>
          </p:cNvPr>
          <p:cNvSpPr>
            <a:spLocks noGrp="1"/>
          </p:cNvSpPr>
          <p:nvPr/>
        </p:nvSpPr>
        <p:spPr>
          <a:xfrm>
            <a:off x="7524750" y="6522244"/>
            <a:ext cx="628650" cy="953"/>
          </a:xfrm>
          <a:custGeom>
            <a:avLst/>
            <a:gdLst/>
            <a:ahLst/>
            <a:cxnLst/>
            <a:rect l="0" t="0" r="0" b="0"/>
            <a:pathLst>
              <a:path w="628650" h="953">
                <a:moveTo>
                  <a:pt x="0" y="0"/>
                </a:moveTo>
                <a:lnTo>
                  <a:pt x="628650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76" name="adapt.network.weight1-1-2">
            <a:extLst>
              <a:ext uri="{FF2B5EF4-FFF2-40B4-BE49-F238E27FC236}">
                <a16:creationId xmlns:a16="http://schemas.microsoft.com/office/drawing/2014/main" id="{EDC31C95-802A-4917-B4B1-76FCAF8976C4}"/>
              </a:ext>
            </a:extLst>
          </p:cNvPr>
          <p:cNvSpPr>
            <a:spLocks noGrp="1"/>
          </p:cNvSpPr>
          <p:nvPr/>
        </p:nvSpPr>
        <p:spPr>
          <a:xfrm>
            <a:off x="7524750" y="6522244"/>
            <a:ext cx="628650" cy="233363"/>
          </a:xfrm>
          <a:custGeom>
            <a:avLst/>
            <a:gdLst/>
            <a:ahLst/>
            <a:cxnLst/>
            <a:rect l="0" t="0" r="0" b="0"/>
            <a:pathLst>
              <a:path w="628650" h="233363">
                <a:moveTo>
                  <a:pt x="0" y="0"/>
                </a:moveTo>
                <a:lnTo>
                  <a:pt x="628650" y="233363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77" name="adapt.network.weight1-1-3">
            <a:extLst>
              <a:ext uri="{FF2B5EF4-FFF2-40B4-BE49-F238E27FC236}">
                <a16:creationId xmlns:a16="http://schemas.microsoft.com/office/drawing/2014/main" id="{004037F1-F106-41B1-91DA-71554639128D}"/>
              </a:ext>
            </a:extLst>
          </p:cNvPr>
          <p:cNvSpPr>
            <a:spLocks noGrp="1"/>
          </p:cNvSpPr>
          <p:nvPr/>
        </p:nvSpPr>
        <p:spPr>
          <a:xfrm>
            <a:off x="7524750" y="6522244"/>
            <a:ext cx="628650" cy="466725"/>
          </a:xfrm>
          <a:custGeom>
            <a:avLst/>
            <a:gdLst/>
            <a:ahLst/>
            <a:cxnLst/>
            <a:rect l="0" t="0" r="0" b="0"/>
            <a:pathLst>
              <a:path w="628650" h="466725">
                <a:moveTo>
                  <a:pt x="0" y="0"/>
                </a:moveTo>
                <a:lnTo>
                  <a:pt x="628650" y="466725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78" name="adapt.network.weight1-2-0">
            <a:extLst>
              <a:ext uri="{FF2B5EF4-FFF2-40B4-BE49-F238E27FC236}">
                <a16:creationId xmlns:a16="http://schemas.microsoft.com/office/drawing/2014/main" id="{0A354703-6831-4709-A002-DDF4505CE87B}"/>
              </a:ext>
            </a:extLst>
          </p:cNvPr>
          <p:cNvSpPr>
            <a:spLocks noGrp="1"/>
          </p:cNvSpPr>
          <p:nvPr/>
        </p:nvSpPr>
        <p:spPr>
          <a:xfrm>
            <a:off x="7524750" y="6288881"/>
            <a:ext cx="628650" cy="466725"/>
          </a:xfrm>
          <a:custGeom>
            <a:avLst/>
            <a:gdLst/>
            <a:ahLst/>
            <a:cxnLst/>
            <a:rect l="0" t="0" r="0" b="0"/>
            <a:pathLst>
              <a:path w="628650" h="466725">
                <a:moveTo>
                  <a:pt x="0" y="466725"/>
                </a:moveTo>
                <a:lnTo>
                  <a:pt x="628650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79" name="adapt.network.weight1-2-1">
            <a:extLst>
              <a:ext uri="{FF2B5EF4-FFF2-40B4-BE49-F238E27FC236}">
                <a16:creationId xmlns:a16="http://schemas.microsoft.com/office/drawing/2014/main" id="{81DA6ED3-A123-4626-9E87-19F38351A726}"/>
              </a:ext>
            </a:extLst>
          </p:cNvPr>
          <p:cNvSpPr>
            <a:spLocks noGrp="1"/>
          </p:cNvSpPr>
          <p:nvPr/>
        </p:nvSpPr>
        <p:spPr>
          <a:xfrm>
            <a:off x="7524750" y="6522244"/>
            <a:ext cx="628650" cy="233363"/>
          </a:xfrm>
          <a:custGeom>
            <a:avLst/>
            <a:gdLst/>
            <a:ahLst/>
            <a:cxnLst/>
            <a:rect l="0" t="0" r="0" b="0"/>
            <a:pathLst>
              <a:path w="628650" h="233363">
                <a:moveTo>
                  <a:pt x="0" y="233363"/>
                </a:moveTo>
                <a:lnTo>
                  <a:pt x="628650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80" name="adapt.network.weight1-2-2">
            <a:extLst>
              <a:ext uri="{FF2B5EF4-FFF2-40B4-BE49-F238E27FC236}">
                <a16:creationId xmlns:a16="http://schemas.microsoft.com/office/drawing/2014/main" id="{F65ADC1B-8034-4929-820D-C3CC86611900}"/>
              </a:ext>
            </a:extLst>
          </p:cNvPr>
          <p:cNvSpPr>
            <a:spLocks noGrp="1"/>
          </p:cNvSpPr>
          <p:nvPr/>
        </p:nvSpPr>
        <p:spPr>
          <a:xfrm>
            <a:off x="7524750" y="6755606"/>
            <a:ext cx="628650" cy="953"/>
          </a:xfrm>
          <a:custGeom>
            <a:avLst/>
            <a:gdLst/>
            <a:ahLst/>
            <a:cxnLst/>
            <a:rect l="0" t="0" r="0" b="0"/>
            <a:pathLst>
              <a:path w="628650" h="953">
                <a:moveTo>
                  <a:pt x="0" y="0"/>
                </a:moveTo>
                <a:lnTo>
                  <a:pt x="628650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81" name="adapt.network.weight1-2-3">
            <a:extLst>
              <a:ext uri="{FF2B5EF4-FFF2-40B4-BE49-F238E27FC236}">
                <a16:creationId xmlns:a16="http://schemas.microsoft.com/office/drawing/2014/main" id="{5DF5E91A-2D30-4E69-9F19-CEDEF273E611}"/>
              </a:ext>
            </a:extLst>
          </p:cNvPr>
          <p:cNvSpPr>
            <a:spLocks noGrp="1"/>
          </p:cNvSpPr>
          <p:nvPr/>
        </p:nvSpPr>
        <p:spPr>
          <a:xfrm>
            <a:off x="7524750" y="6755606"/>
            <a:ext cx="628650" cy="233363"/>
          </a:xfrm>
          <a:custGeom>
            <a:avLst/>
            <a:gdLst/>
            <a:ahLst/>
            <a:cxnLst/>
            <a:rect l="0" t="0" r="0" b="0"/>
            <a:pathLst>
              <a:path w="628650" h="233363">
                <a:moveTo>
                  <a:pt x="0" y="0"/>
                </a:moveTo>
                <a:lnTo>
                  <a:pt x="628650" y="233363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82" name="adapt.network.weight1-3-0">
            <a:extLst>
              <a:ext uri="{FF2B5EF4-FFF2-40B4-BE49-F238E27FC236}">
                <a16:creationId xmlns:a16="http://schemas.microsoft.com/office/drawing/2014/main" id="{908E4387-A6A9-4FAF-8954-CAB86EEBD6EF}"/>
              </a:ext>
            </a:extLst>
          </p:cNvPr>
          <p:cNvSpPr>
            <a:spLocks noGrp="1"/>
          </p:cNvSpPr>
          <p:nvPr/>
        </p:nvSpPr>
        <p:spPr>
          <a:xfrm>
            <a:off x="7524750" y="6288881"/>
            <a:ext cx="628650" cy="700088"/>
          </a:xfrm>
          <a:custGeom>
            <a:avLst/>
            <a:gdLst/>
            <a:ahLst/>
            <a:cxnLst/>
            <a:rect l="0" t="0" r="0" b="0"/>
            <a:pathLst>
              <a:path w="628650" h="700088">
                <a:moveTo>
                  <a:pt x="0" y="700088"/>
                </a:moveTo>
                <a:lnTo>
                  <a:pt x="628650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83" name="adapt.network.weight1-3-1">
            <a:extLst>
              <a:ext uri="{FF2B5EF4-FFF2-40B4-BE49-F238E27FC236}">
                <a16:creationId xmlns:a16="http://schemas.microsoft.com/office/drawing/2014/main" id="{E264877B-E880-4F80-A7F4-7FCB40F78FDB}"/>
              </a:ext>
            </a:extLst>
          </p:cNvPr>
          <p:cNvSpPr>
            <a:spLocks noGrp="1"/>
          </p:cNvSpPr>
          <p:nvPr/>
        </p:nvSpPr>
        <p:spPr>
          <a:xfrm>
            <a:off x="7524750" y="6522244"/>
            <a:ext cx="628650" cy="466725"/>
          </a:xfrm>
          <a:custGeom>
            <a:avLst/>
            <a:gdLst/>
            <a:ahLst/>
            <a:cxnLst/>
            <a:rect l="0" t="0" r="0" b="0"/>
            <a:pathLst>
              <a:path w="628650" h="466725">
                <a:moveTo>
                  <a:pt x="0" y="466725"/>
                </a:moveTo>
                <a:lnTo>
                  <a:pt x="628650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84" name="adapt.network.weight1-3-2">
            <a:extLst>
              <a:ext uri="{FF2B5EF4-FFF2-40B4-BE49-F238E27FC236}">
                <a16:creationId xmlns:a16="http://schemas.microsoft.com/office/drawing/2014/main" id="{BCF7A3A4-3487-43E6-A0D4-767627162635}"/>
              </a:ext>
            </a:extLst>
          </p:cNvPr>
          <p:cNvSpPr>
            <a:spLocks noGrp="1"/>
          </p:cNvSpPr>
          <p:nvPr/>
        </p:nvSpPr>
        <p:spPr>
          <a:xfrm>
            <a:off x="7524750" y="6755606"/>
            <a:ext cx="628650" cy="233363"/>
          </a:xfrm>
          <a:custGeom>
            <a:avLst/>
            <a:gdLst/>
            <a:ahLst/>
            <a:cxnLst/>
            <a:rect l="0" t="0" r="0" b="0"/>
            <a:pathLst>
              <a:path w="628650" h="233363">
                <a:moveTo>
                  <a:pt x="0" y="233363"/>
                </a:moveTo>
                <a:lnTo>
                  <a:pt x="628650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85" name="adapt.network.weight1-3-3">
            <a:extLst>
              <a:ext uri="{FF2B5EF4-FFF2-40B4-BE49-F238E27FC236}">
                <a16:creationId xmlns:a16="http://schemas.microsoft.com/office/drawing/2014/main" id="{539379D9-906E-43E9-9727-25A9CDD9F327}"/>
              </a:ext>
            </a:extLst>
          </p:cNvPr>
          <p:cNvSpPr>
            <a:spLocks noGrp="1"/>
          </p:cNvSpPr>
          <p:nvPr/>
        </p:nvSpPr>
        <p:spPr>
          <a:xfrm>
            <a:off x="7524750" y="6988969"/>
            <a:ext cx="628650" cy="953"/>
          </a:xfrm>
          <a:custGeom>
            <a:avLst/>
            <a:gdLst/>
            <a:ahLst/>
            <a:cxnLst/>
            <a:rect l="0" t="0" r="0" b="0"/>
            <a:pathLst>
              <a:path w="628650" h="953">
                <a:moveTo>
                  <a:pt x="0" y="0"/>
                </a:moveTo>
                <a:lnTo>
                  <a:pt x="628650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86" name="adapt.network.weight2-0-0">
            <a:extLst>
              <a:ext uri="{FF2B5EF4-FFF2-40B4-BE49-F238E27FC236}">
                <a16:creationId xmlns:a16="http://schemas.microsoft.com/office/drawing/2014/main" id="{80E4E6BB-90B9-413C-AEE8-C491C1D77F50}"/>
              </a:ext>
            </a:extLst>
          </p:cNvPr>
          <p:cNvSpPr>
            <a:spLocks noGrp="1"/>
          </p:cNvSpPr>
          <p:nvPr/>
        </p:nvSpPr>
        <p:spPr>
          <a:xfrm>
            <a:off x="8153400" y="6288881"/>
            <a:ext cx="628650" cy="38894"/>
          </a:xfrm>
          <a:custGeom>
            <a:avLst/>
            <a:gdLst/>
            <a:ahLst/>
            <a:cxnLst/>
            <a:rect l="0" t="0" r="0" b="0"/>
            <a:pathLst>
              <a:path w="628650" h="38894">
                <a:moveTo>
                  <a:pt x="0" y="0"/>
                </a:moveTo>
                <a:lnTo>
                  <a:pt x="628650" y="38894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87" name="adapt.network.weight2-0-1">
            <a:extLst>
              <a:ext uri="{FF2B5EF4-FFF2-40B4-BE49-F238E27FC236}">
                <a16:creationId xmlns:a16="http://schemas.microsoft.com/office/drawing/2014/main" id="{FF1F227C-833F-4993-9EB0-9941DE4F6FDB}"/>
              </a:ext>
            </a:extLst>
          </p:cNvPr>
          <p:cNvSpPr>
            <a:spLocks noGrp="1"/>
          </p:cNvSpPr>
          <p:nvPr/>
        </p:nvSpPr>
        <p:spPr>
          <a:xfrm>
            <a:off x="8153400" y="6288881"/>
            <a:ext cx="628650" cy="350044"/>
          </a:xfrm>
          <a:custGeom>
            <a:avLst/>
            <a:gdLst/>
            <a:ahLst/>
            <a:cxnLst/>
            <a:rect l="0" t="0" r="0" b="0"/>
            <a:pathLst>
              <a:path w="628650" h="350044">
                <a:moveTo>
                  <a:pt x="0" y="0"/>
                </a:moveTo>
                <a:lnTo>
                  <a:pt x="628650" y="350044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88" name="adapt.network.weight2-0-2">
            <a:extLst>
              <a:ext uri="{FF2B5EF4-FFF2-40B4-BE49-F238E27FC236}">
                <a16:creationId xmlns:a16="http://schemas.microsoft.com/office/drawing/2014/main" id="{25A411D6-474E-425B-893E-9E4EED337DEF}"/>
              </a:ext>
            </a:extLst>
          </p:cNvPr>
          <p:cNvSpPr>
            <a:spLocks noGrp="1"/>
          </p:cNvSpPr>
          <p:nvPr/>
        </p:nvSpPr>
        <p:spPr>
          <a:xfrm>
            <a:off x="8153400" y="6288881"/>
            <a:ext cx="628650" cy="661194"/>
          </a:xfrm>
          <a:custGeom>
            <a:avLst/>
            <a:gdLst/>
            <a:ahLst/>
            <a:cxnLst/>
            <a:rect l="0" t="0" r="0" b="0"/>
            <a:pathLst>
              <a:path w="628650" h="661194">
                <a:moveTo>
                  <a:pt x="0" y="0"/>
                </a:moveTo>
                <a:lnTo>
                  <a:pt x="628650" y="661194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89" name="adapt.network.weight2-1-0">
            <a:extLst>
              <a:ext uri="{FF2B5EF4-FFF2-40B4-BE49-F238E27FC236}">
                <a16:creationId xmlns:a16="http://schemas.microsoft.com/office/drawing/2014/main" id="{FF7134AB-B1D5-444D-B569-4BFD6516710C}"/>
              </a:ext>
            </a:extLst>
          </p:cNvPr>
          <p:cNvSpPr>
            <a:spLocks noGrp="1"/>
          </p:cNvSpPr>
          <p:nvPr/>
        </p:nvSpPr>
        <p:spPr>
          <a:xfrm>
            <a:off x="8153400" y="6327775"/>
            <a:ext cx="628650" cy="194469"/>
          </a:xfrm>
          <a:custGeom>
            <a:avLst/>
            <a:gdLst/>
            <a:ahLst/>
            <a:cxnLst/>
            <a:rect l="0" t="0" r="0" b="0"/>
            <a:pathLst>
              <a:path w="628650" h="194469">
                <a:moveTo>
                  <a:pt x="0" y="194469"/>
                </a:moveTo>
                <a:lnTo>
                  <a:pt x="628650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90" name="adapt.network.weight2-1-1">
            <a:extLst>
              <a:ext uri="{FF2B5EF4-FFF2-40B4-BE49-F238E27FC236}">
                <a16:creationId xmlns:a16="http://schemas.microsoft.com/office/drawing/2014/main" id="{A7CD4EE8-6531-475A-B386-1E8479CEB338}"/>
              </a:ext>
            </a:extLst>
          </p:cNvPr>
          <p:cNvSpPr>
            <a:spLocks noGrp="1"/>
          </p:cNvSpPr>
          <p:nvPr/>
        </p:nvSpPr>
        <p:spPr>
          <a:xfrm>
            <a:off x="8153400" y="6522244"/>
            <a:ext cx="628650" cy="116681"/>
          </a:xfrm>
          <a:custGeom>
            <a:avLst/>
            <a:gdLst/>
            <a:ahLst/>
            <a:cxnLst/>
            <a:rect l="0" t="0" r="0" b="0"/>
            <a:pathLst>
              <a:path w="628650" h="116681">
                <a:moveTo>
                  <a:pt x="0" y="0"/>
                </a:moveTo>
                <a:lnTo>
                  <a:pt x="628650" y="116681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91" name="adapt.network.weight2-1-2">
            <a:extLst>
              <a:ext uri="{FF2B5EF4-FFF2-40B4-BE49-F238E27FC236}">
                <a16:creationId xmlns:a16="http://schemas.microsoft.com/office/drawing/2014/main" id="{1FE60937-55DD-4E63-A793-F6289ED685F7}"/>
              </a:ext>
            </a:extLst>
          </p:cNvPr>
          <p:cNvSpPr>
            <a:spLocks noGrp="1"/>
          </p:cNvSpPr>
          <p:nvPr/>
        </p:nvSpPr>
        <p:spPr>
          <a:xfrm>
            <a:off x="8153400" y="6522244"/>
            <a:ext cx="628650" cy="427831"/>
          </a:xfrm>
          <a:custGeom>
            <a:avLst/>
            <a:gdLst/>
            <a:ahLst/>
            <a:cxnLst/>
            <a:rect l="0" t="0" r="0" b="0"/>
            <a:pathLst>
              <a:path w="628650" h="427831">
                <a:moveTo>
                  <a:pt x="0" y="0"/>
                </a:moveTo>
                <a:lnTo>
                  <a:pt x="628650" y="427831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92" name="adapt.network.weight2-2-0">
            <a:extLst>
              <a:ext uri="{FF2B5EF4-FFF2-40B4-BE49-F238E27FC236}">
                <a16:creationId xmlns:a16="http://schemas.microsoft.com/office/drawing/2014/main" id="{9F27A5ED-2A40-496B-B02B-1AB78A56238D}"/>
              </a:ext>
            </a:extLst>
          </p:cNvPr>
          <p:cNvSpPr>
            <a:spLocks noGrp="1"/>
          </p:cNvSpPr>
          <p:nvPr/>
        </p:nvSpPr>
        <p:spPr>
          <a:xfrm>
            <a:off x="8153400" y="6327775"/>
            <a:ext cx="628650" cy="427831"/>
          </a:xfrm>
          <a:custGeom>
            <a:avLst/>
            <a:gdLst/>
            <a:ahLst/>
            <a:cxnLst/>
            <a:rect l="0" t="0" r="0" b="0"/>
            <a:pathLst>
              <a:path w="628650" h="427831">
                <a:moveTo>
                  <a:pt x="0" y="427831"/>
                </a:moveTo>
                <a:lnTo>
                  <a:pt x="628650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93" name="adapt.network.weight2-2-1">
            <a:extLst>
              <a:ext uri="{FF2B5EF4-FFF2-40B4-BE49-F238E27FC236}">
                <a16:creationId xmlns:a16="http://schemas.microsoft.com/office/drawing/2014/main" id="{536BF733-4C1E-47CF-8606-193E5EC7019D}"/>
              </a:ext>
            </a:extLst>
          </p:cNvPr>
          <p:cNvSpPr>
            <a:spLocks noGrp="1"/>
          </p:cNvSpPr>
          <p:nvPr/>
        </p:nvSpPr>
        <p:spPr>
          <a:xfrm>
            <a:off x="8153400" y="6638925"/>
            <a:ext cx="628650" cy="116681"/>
          </a:xfrm>
          <a:custGeom>
            <a:avLst/>
            <a:gdLst/>
            <a:ahLst/>
            <a:cxnLst/>
            <a:rect l="0" t="0" r="0" b="0"/>
            <a:pathLst>
              <a:path w="628650" h="116681">
                <a:moveTo>
                  <a:pt x="0" y="116681"/>
                </a:moveTo>
                <a:lnTo>
                  <a:pt x="628650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94" name="adapt.network.weight2-2-2">
            <a:extLst>
              <a:ext uri="{FF2B5EF4-FFF2-40B4-BE49-F238E27FC236}">
                <a16:creationId xmlns:a16="http://schemas.microsoft.com/office/drawing/2014/main" id="{834E58E7-D987-404A-8234-153E3354DE3B}"/>
              </a:ext>
            </a:extLst>
          </p:cNvPr>
          <p:cNvSpPr>
            <a:spLocks noGrp="1"/>
          </p:cNvSpPr>
          <p:nvPr/>
        </p:nvSpPr>
        <p:spPr>
          <a:xfrm>
            <a:off x="8153400" y="6755606"/>
            <a:ext cx="628650" cy="194469"/>
          </a:xfrm>
          <a:custGeom>
            <a:avLst/>
            <a:gdLst/>
            <a:ahLst/>
            <a:cxnLst/>
            <a:rect l="0" t="0" r="0" b="0"/>
            <a:pathLst>
              <a:path w="628650" h="194469">
                <a:moveTo>
                  <a:pt x="0" y="0"/>
                </a:moveTo>
                <a:lnTo>
                  <a:pt x="628650" y="194469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95" name="adapt.network.weight2-3-0">
            <a:extLst>
              <a:ext uri="{FF2B5EF4-FFF2-40B4-BE49-F238E27FC236}">
                <a16:creationId xmlns:a16="http://schemas.microsoft.com/office/drawing/2014/main" id="{B93F8370-EF11-4070-B273-9C8CE75A281F}"/>
              </a:ext>
            </a:extLst>
          </p:cNvPr>
          <p:cNvSpPr>
            <a:spLocks noGrp="1"/>
          </p:cNvSpPr>
          <p:nvPr/>
        </p:nvSpPr>
        <p:spPr>
          <a:xfrm>
            <a:off x="8153400" y="6327775"/>
            <a:ext cx="628650" cy="661194"/>
          </a:xfrm>
          <a:custGeom>
            <a:avLst/>
            <a:gdLst/>
            <a:ahLst/>
            <a:cxnLst/>
            <a:rect l="0" t="0" r="0" b="0"/>
            <a:pathLst>
              <a:path w="628650" h="661194">
                <a:moveTo>
                  <a:pt x="0" y="661194"/>
                </a:moveTo>
                <a:lnTo>
                  <a:pt x="628650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96" name="adapt.network.weight2-3-1">
            <a:extLst>
              <a:ext uri="{FF2B5EF4-FFF2-40B4-BE49-F238E27FC236}">
                <a16:creationId xmlns:a16="http://schemas.microsoft.com/office/drawing/2014/main" id="{048DFA05-B389-44E5-9167-7DE6DF59CF55}"/>
              </a:ext>
            </a:extLst>
          </p:cNvPr>
          <p:cNvSpPr>
            <a:spLocks noGrp="1"/>
          </p:cNvSpPr>
          <p:nvPr/>
        </p:nvSpPr>
        <p:spPr>
          <a:xfrm>
            <a:off x="8153400" y="6638925"/>
            <a:ext cx="628650" cy="350044"/>
          </a:xfrm>
          <a:custGeom>
            <a:avLst/>
            <a:gdLst/>
            <a:ahLst/>
            <a:cxnLst/>
            <a:rect l="0" t="0" r="0" b="0"/>
            <a:pathLst>
              <a:path w="628650" h="350044">
                <a:moveTo>
                  <a:pt x="0" y="350044"/>
                </a:moveTo>
                <a:lnTo>
                  <a:pt x="628650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97" name="adapt.network.weight2-3-2">
            <a:extLst>
              <a:ext uri="{FF2B5EF4-FFF2-40B4-BE49-F238E27FC236}">
                <a16:creationId xmlns:a16="http://schemas.microsoft.com/office/drawing/2014/main" id="{9B992DF1-A9C5-4CCA-B5AC-70A5A143F0D0}"/>
              </a:ext>
            </a:extLst>
          </p:cNvPr>
          <p:cNvSpPr>
            <a:spLocks noGrp="1"/>
          </p:cNvSpPr>
          <p:nvPr/>
        </p:nvSpPr>
        <p:spPr>
          <a:xfrm>
            <a:off x="8153400" y="6950075"/>
            <a:ext cx="628650" cy="38894"/>
          </a:xfrm>
          <a:custGeom>
            <a:avLst/>
            <a:gdLst/>
            <a:ahLst/>
            <a:cxnLst/>
            <a:rect l="0" t="0" r="0" b="0"/>
            <a:pathLst>
              <a:path w="628650" h="38894">
                <a:moveTo>
                  <a:pt x="0" y="38894"/>
                </a:moveTo>
                <a:lnTo>
                  <a:pt x="628650" y="0"/>
                </a:lnTo>
              </a:path>
            </a:pathLst>
          </a:custGeom>
          <a:noFill/>
          <a:ln w="9525">
            <a:solidFill>
              <a:srgbClr val="C7D5DD"/>
            </a:solidFill>
            <a:prstDash val="solid"/>
          </a:ln>
        </p:spPr>
      </p:sp>
      <p:sp>
        <p:nvSpPr>
          <p:cNvPr id="98" name="adapt.network.unit0-0">
            <a:extLst>
              <a:ext uri="{FF2B5EF4-FFF2-40B4-BE49-F238E27FC236}">
                <a16:creationId xmlns:a16="http://schemas.microsoft.com/office/drawing/2014/main" id="{716F7239-878F-4E3F-9387-E0D987A0B0F2}"/>
              </a:ext>
            </a:extLst>
          </p:cNvPr>
          <p:cNvSpPr>
            <a:spLocks noGrp="1"/>
          </p:cNvSpPr>
          <p:nvPr/>
        </p:nvSpPr>
        <p:spPr>
          <a:xfrm>
            <a:off x="6800850" y="6232525"/>
            <a:ext cx="190500" cy="190500"/>
          </a:xfrm>
          <a:prstGeom prst="ellipse">
            <a:avLst/>
          </a:prstGeom>
          <a:solidFill>
            <a:srgbClr val="147AAA"/>
          </a:solidFill>
          <a:ln w="9525">
            <a:solidFill>
              <a:srgbClr val="FFFFFF"/>
            </a:solidFill>
          </a:ln>
        </p:spPr>
      </p:sp>
      <p:sp>
        <p:nvSpPr>
          <p:cNvPr id="99" name="adapt.network.unit0-1">
            <a:extLst>
              <a:ext uri="{FF2B5EF4-FFF2-40B4-BE49-F238E27FC236}">
                <a16:creationId xmlns:a16="http://schemas.microsoft.com/office/drawing/2014/main" id="{19EEC55B-F2E4-4D72-9836-B3C72BDB501F}"/>
              </a:ext>
            </a:extLst>
          </p:cNvPr>
          <p:cNvSpPr>
            <a:spLocks noGrp="1"/>
          </p:cNvSpPr>
          <p:nvPr/>
        </p:nvSpPr>
        <p:spPr>
          <a:xfrm>
            <a:off x="6800850" y="6543675"/>
            <a:ext cx="190500" cy="190500"/>
          </a:xfrm>
          <a:prstGeom prst="ellipse">
            <a:avLst/>
          </a:prstGeom>
          <a:solidFill>
            <a:srgbClr val="147AAA"/>
          </a:solidFill>
          <a:ln w="9525">
            <a:solidFill>
              <a:srgbClr val="FFFFFF"/>
            </a:solidFill>
          </a:ln>
        </p:spPr>
      </p:sp>
      <p:sp>
        <p:nvSpPr>
          <p:cNvPr id="100" name="adapt.network.unit0-2">
            <a:extLst>
              <a:ext uri="{FF2B5EF4-FFF2-40B4-BE49-F238E27FC236}">
                <a16:creationId xmlns:a16="http://schemas.microsoft.com/office/drawing/2014/main" id="{1D2F0051-7D7B-4F02-9B5D-F8F833205846}"/>
              </a:ext>
            </a:extLst>
          </p:cNvPr>
          <p:cNvSpPr>
            <a:spLocks noGrp="1"/>
          </p:cNvSpPr>
          <p:nvPr/>
        </p:nvSpPr>
        <p:spPr>
          <a:xfrm>
            <a:off x="6800850" y="6854825"/>
            <a:ext cx="190500" cy="190500"/>
          </a:xfrm>
          <a:prstGeom prst="ellipse">
            <a:avLst/>
          </a:prstGeom>
          <a:solidFill>
            <a:srgbClr val="147AAA"/>
          </a:solidFill>
          <a:ln w="9525">
            <a:solidFill>
              <a:srgbClr val="FFFFFF"/>
            </a:solidFill>
          </a:ln>
        </p:spPr>
      </p:sp>
      <p:sp>
        <p:nvSpPr>
          <p:cNvPr id="101" name="adapt.network.unit1-0">
            <a:extLst>
              <a:ext uri="{FF2B5EF4-FFF2-40B4-BE49-F238E27FC236}">
                <a16:creationId xmlns:a16="http://schemas.microsoft.com/office/drawing/2014/main" id="{C1E57AE5-94A5-444D-82A3-E40AEE875B76}"/>
              </a:ext>
            </a:extLst>
          </p:cNvPr>
          <p:cNvSpPr>
            <a:spLocks noGrp="1"/>
          </p:cNvSpPr>
          <p:nvPr/>
        </p:nvSpPr>
        <p:spPr>
          <a:xfrm>
            <a:off x="7429500" y="6193631"/>
            <a:ext cx="190500" cy="190500"/>
          </a:xfrm>
          <a:prstGeom prst="ellipse">
            <a:avLst/>
          </a:prstGeom>
          <a:solidFill>
            <a:srgbClr val="9FBAA5"/>
          </a:solidFill>
          <a:ln w="9525">
            <a:solidFill>
              <a:srgbClr val="FFFFFF"/>
            </a:solidFill>
          </a:ln>
        </p:spPr>
      </p:sp>
      <p:sp>
        <p:nvSpPr>
          <p:cNvPr id="102" name="adapt.network.unit1-1">
            <a:extLst>
              <a:ext uri="{FF2B5EF4-FFF2-40B4-BE49-F238E27FC236}">
                <a16:creationId xmlns:a16="http://schemas.microsoft.com/office/drawing/2014/main" id="{BD8F9A30-1BF5-498A-926B-79DFB7F94F95}"/>
              </a:ext>
            </a:extLst>
          </p:cNvPr>
          <p:cNvSpPr>
            <a:spLocks noGrp="1"/>
          </p:cNvSpPr>
          <p:nvPr/>
        </p:nvSpPr>
        <p:spPr>
          <a:xfrm>
            <a:off x="7429500" y="6426994"/>
            <a:ext cx="190500" cy="190500"/>
          </a:xfrm>
          <a:prstGeom prst="ellipse">
            <a:avLst/>
          </a:prstGeom>
          <a:solidFill>
            <a:srgbClr val="9FBAA5"/>
          </a:solidFill>
          <a:ln w="9525">
            <a:solidFill>
              <a:srgbClr val="FFFFFF"/>
            </a:solidFill>
          </a:ln>
        </p:spPr>
      </p:sp>
      <p:sp>
        <p:nvSpPr>
          <p:cNvPr id="103" name="adapt.network.unit1-2">
            <a:extLst>
              <a:ext uri="{FF2B5EF4-FFF2-40B4-BE49-F238E27FC236}">
                <a16:creationId xmlns:a16="http://schemas.microsoft.com/office/drawing/2014/main" id="{9DD694AB-FC40-4F1D-ABDF-8E7EE60152BB}"/>
              </a:ext>
            </a:extLst>
          </p:cNvPr>
          <p:cNvSpPr>
            <a:spLocks noGrp="1"/>
          </p:cNvSpPr>
          <p:nvPr/>
        </p:nvSpPr>
        <p:spPr>
          <a:xfrm>
            <a:off x="7429500" y="6660356"/>
            <a:ext cx="190500" cy="190500"/>
          </a:xfrm>
          <a:prstGeom prst="ellipse">
            <a:avLst/>
          </a:prstGeom>
          <a:solidFill>
            <a:srgbClr val="9FBAA5"/>
          </a:solidFill>
          <a:ln w="9525">
            <a:solidFill>
              <a:srgbClr val="FFFFFF"/>
            </a:solidFill>
          </a:ln>
        </p:spPr>
      </p:sp>
      <p:sp>
        <p:nvSpPr>
          <p:cNvPr id="104" name="adapt.network.unit1-3">
            <a:extLst>
              <a:ext uri="{FF2B5EF4-FFF2-40B4-BE49-F238E27FC236}">
                <a16:creationId xmlns:a16="http://schemas.microsoft.com/office/drawing/2014/main" id="{6CA8AD87-5270-4D48-8111-D173265CEB0A}"/>
              </a:ext>
            </a:extLst>
          </p:cNvPr>
          <p:cNvSpPr>
            <a:spLocks noGrp="1"/>
          </p:cNvSpPr>
          <p:nvPr/>
        </p:nvSpPr>
        <p:spPr>
          <a:xfrm>
            <a:off x="7429500" y="6893719"/>
            <a:ext cx="190500" cy="190500"/>
          </a:xfrm>
          <a:prstGeom prst="ellipse">
            <a:avLst/>
          </a:prstGeom>
          <a:solidFill>
            <a:srgbClr val="9FBAA5"/>
          </a:solidFill>
          <a:ln w="9525">
            <a:solidFill>
              <a:srgbClr val="FFFFFF"/>
            </a:solidFill>
          </a:ln>
        </p:spPr>
      </p:sp>
      <p:sp>
        <p:nvSpPr>
          <p:cNvPr id="105" name="adapt.network.unit2-0">
            <a:extLst>
              <a:ext uri="{FF2B5EF4-FFF2-40B4-BE49-F238E27FC236}">
                <a16:creationId xmlns:a16="http://schemas.microsoft.com/office/drawing/2014/main" id="{CA493DDD-6786-4AC7-9B01-FCC5EC2BD4DE}"/>
              </a:ext>
            </a:extLst>
          </p:cNvPr>
          <p:cNvSpPr>
            <a:spLocks noGrp="1"/>
          </p:cNvSpPr>
          <p:nvPr/>
        </p:nvSpPr>
        <p:spPr>
          <a:xfrm>
            <a:off x="8058150" y="6193631"/>
            <a:ext cx="190500" cy="190500"/>
          </a:xfrm>
          <a:prstGeom prst="ellipse">
            <a:avLst/>
          </a:prstGeom>
          <a:solidFill>
            <a:srgbClr val="9FBAA5"/>
          </a:solidFill>
          <a:ln w="9525">
            <a:solidFill>
              <a:srgbClr val="FFFFFF"/>
            </a:solidFill>
          </a:ln>
        </p:spPr>
      </p:sp>
      <p:sp>
        <p:nvSpPr>
          <p:cNvPr id="106" name="adapt.network.unit2-1">
            <a:extLst>
              <a:ext uri="{FF2B5EF4-FFF2-40B4-BE49-F238E27FC236}">
                <a16:creationId xmlns:a16="http://schemas.microsoft.com/office/drawing/2014/main" id="{D4784457-7C81-4D39-9D7E-BDF3195048AF}"/>
              </a:ext>
            </a:extLst>
          </p:cNvPr>
          <p:cNvSpPr>
            <a:spLocks noGrp="1"/>
          </p:cNvSpPr>
          <p:nvPr/>
        </p:nvSpPr>
        <p:spPr>
          <a:xfrm>
            <a:off x="8058150" y="6426994"/>
            <a:ext cx="190500" cy="190500"/>
          </a:xfrm>
          <a:prstGeom prst="ellipse">
            <a:avLst/>
          </a:prstGeom>
          <a:solidFill>
            <a:srgbClr val="9FBAA5"/>
          </a:solidFill>
          <a:ln w="9525">
            <a:solidFill>
              <a:srgbClr val="FFFFFF"/>
            </a:solidFill>
          </a:ln>
        </p:spPr>
      </p:sp>
      <p:sp>
        <p:nvSpPr>
          <p:cNvPr id="107" name="adapt.network.unit2-2">
            <a:extLst>
              <a:ext uri="{FF2B5EF4-FFF2-40B4-BE49-F238E27FC236}">
                <a16:creationId xmlns:a16="http://schemas.microsoft.com/office/drawing/2014/main" id="{A4D91FA6-C1C1-4EF1-8D9B-143B96A2EEE9}"/>
              </a:ext>
            </a:extLst>
          </p:cNvPr>
          <p:cNvSpPr>
            <a:spLocks noGrp="1"/>
          </p:cNvSpPr>
          <p:nvPr/>
        </p:nvSpPr>
        <p:spPr>
          <a:xfrm>
            <a:off x="8058150" y="6660356"/>
            <a:ext cx="190500" cy="190500"/>
          </a:xfrm>
          <a:prstGeom prst="ellipse">
            <a:avLst/>
          </a:prstGeom>
          <a:solidFill>
            <a:srgbClr val="9FBAA5"/>
          </a:solidFill>
          <a:ln w="9525">
            <a:solidFill>
              <a:srgbClr val="FFFFFF"/>
            </a:solidFill>
          </a:ln>
        </p:spPr>
      </p:sp>
      <p:sp>
        <p:nvSpPr>
          <p:cNvPr id="108" name="adapt.network.unit2-3">
            <a:extLst>
              <a:ext uri="{FF2B5EF4-FFF2-40B4-BE49-F238E27FC236}">
                <a16:creationId xmlns:a16="http://schemas.microsoft.com/office/drawing/2014/main" id="{DB402FD3-F3BA-450E-B401-7E0854FBC600}"/>
              </a:ext>
            </a:extLst>
          </p:cNvPr>
          <p:cNvSpPr>
            <a:spLocks noGrp="1"/>
          </p:cNvSpPr>
          <p:nvPr/>
        </p:nvSpPr>
        <p:spPr>
          <a:xfrm>
            <a:off x="8058150" y="6893719"/>
            <a:ext cx="190500" cy="190500"/>
          </a:xfrm>
          <a:prstGeom prst="ellipse">
            <a:avLst/>
          </a:prstGeom>
          <a:solidFill>
            <a:srgbClr val="9FBAA5"/>
          </a:solidFill>
          <a:ln w="9525">
            <a:solidFill>
              <a:srgbClr val="FFFFFF"/>
            </a:solidFill>
          </a:ln>
        </p:spPr>
      </p:sp>
      <p:sp>
        <p:nvSpPr>
          <p:cNvPr id="109" name="adapt.network.unit3-0">
            <a:extLst>
              <a:ext uri="{FF2B5EF4-FFF2-40B4-BE49-F238E27FC236}">
                <a16:creationId xmlns:a16="http://schemas.microsoft.com/office/drawing/2014/main" id="{BDA8B761-F90B-41E9-A20C-6DC74729DC7E}"/>
              </a:ext>
            </a:extLst>
          </p:cNvPr>
          <p:cNvSpPr>
            <a:spLocks noGrp="1"/>
          </p:cNvSpPr>
          <p:nvPr/>
        </p:nvSpPr>
        <p:spPr>
          <a:xfrm>
            <a:off x="8686800" y="6232525"/>
            <a:ext cx="190500" cy="190500"/>
          </a:xfrm>
          <a:prstGeom prst="ellipse">
            <a:avLst/>
          </a:prstGeom>
          <a:solidFill>
            <a:srgbClr val="D19B66"/>
          </a:solidFill>
          <a:ln w="9525">
            <a:solidFill>
              <a:srgbClr val="FFFFFF"/>
            </a:solidFill>
          </a:ln>
        </p:spPr>
      </p:sp>
      <p:sp>
        <p:nvSpPr>
          <p:cNvPr id="110" name="adapt.network.unit3-1">
            <a:extLst>
              <a:ext uri="{FF2B5EF4-FFF2-40B4-BE49-F238E27FC236}">
                <a16:creationId xmlns:a16="http://schemas.microsoft.com/office/drawing/2014/main" id="{FE933CFA-D874-4ED2-8432-D33B2EA382DC}"/>
              </a:ext>
            </a:extLst>
          </p:cNvPr>
          <p:cNvSpPr>
            <a:spLocks noGrp="1"/>
          </p:cNvSpPr>
          <p:nvPr/>
        </p:nvSpPr>
        <p:spPr>
          <a:xfrm>
            <a:off x="8686800" y="6543675"/>
            <a:ext cx="190500" cy="190500"/>
          </a:xfrm>
          <a:prstGeom prst="ellipse">
            <a:avLst/>
          </a:prstGeom>
          <a:solidFill>
            <a:srgbClr val="D19B66"/>
          </a:solidFill>
          <a:ln w="9525">
            <a:solidFill>
              <a:srgbClr val="FFFFFF"/>
            </a:solidFill>
          </a:ln>
        </p:spPr>
      </p:sp>
      <p:sp>
        <p:nvSpPr>
          <p:cNvPr id="111" name="adapt.network.unit3-2">
            <a:extLst>
              <a:ext uri="{FF2B5EF4-FFF2-40B4-BE49-F238E27FC236}">
                <a16:creationId xmlns:a16="http://schemas.microsoft.com/office/drawing/2014/main" id="{E85433FB-5324-4673-9A13-3869C54BE8DC}"/>
              </a:ext>
            </a:extLst>
          </p:cNvPr>
          <p:cNvSpPr>
            <a:spLocks noGrp="1"/>
          </p:cNvSpPr>
          <p:nvPr/>
        </p:nvSpPr>
        <p:spPr>
          <a:xfrm>
            <a:off x="8686800" y="6854825"/>
            <a:ext cx="190500" cy="190500"/>
          </a:xfrm>
          <a:prstGeom prst="ellipse">
            <a:avLst/>
          </a:prstGeom>
          <a:solidFill>
            <a:srgbClr val="D19B66"/>
          </a:solidFill>
          <a:ln w="9525">
            <a:solidFill>
              <a:srgbClr val="FFFFFF"/>
            </a:solidFill>
          </a:ln>
        </p:spPr>
      </p:sp>
      <p:sp>
        <p:nvSpPr>
          <p:cNvPr id="112" name="adapt.network-label">
            <a:extLst>
              <a:ext uri="{FF2B5EF4-FFF2-40B4-BE49-F238E27FC236}">
                <a16:creationId xmlns:a16="http://schemas.microsoft.com/office/drawing/2014/main" id="{42D26E5C-4888-4E5E-94DC-1B07DC7B0637}"/>
              </a:ext>
            </a:extLst>
          </p:cNvPr>
          <p:cNvSpPr>
            <a:spLocks noGrp="1"/>
          </p:cNvSpPr>
          <p:nvPr/>
        </p:nvSpPr>
        <p:spPr>
          <a:xfrm>
            <a:off x="6781800" y="7267575"/>
            <a:ext cx="2114550" cy="28575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候选偏移评价</a:t>
            </a:r>
          </a:p>
        </p:txBody>
      </p:sp>
      <p:sp>
        <p:nvSpPr>
          <p:cNvPr id="113" name="adapt.to-choice">
            <a:extLst>
              <a:ext uri="{FF2B5EF4-FFF2-40B4-BE49-F238E27FC236}">
                <a16:creationId xmlns:a16="http://schemas.microsoft.com/office/drawing/2014/main" id="{FA7297DD-FD86-4E0A-BCB1-1EC645B6320D}"/>
              </a:ext>
            </a:extLst>
          </p:cNvPr>
          <p:cNvSpPr>
            <a:spLocks noGrp="1"/>
          </p:cNvSpPr>
          <p:nvPr/>
        </p:nvSpPr>
        <p:spPr>
          <a:xfrm>
            <a:off x="9001125" y="6553200"/>
            <a:ext cx="409575" cy="190500"/>
          </a:xfrm>
          <a:prstGeom prst="rightArrow">
            <a:avLst/>
          </a:prstGeom>
          <a:solidFill>
            <a:srgbClr val="C6D9E7"/>
          </a:solidFill>
          <a:ln w="11430">
            <a:solidFill>
              <a:srgbClr val="73869A"/>
            </a:solidFill>
          </a:ln>
        </p:spPr>
      </p:sp>
      <p:sp>
        <p:nvSpPr>
          <p:cNvPr id="114" name="adapt.choice">
            <a:extLst>
              <a:ext uri="{FF2B5EF4-FFF2-40B4-BE49-F238E27FC236}">
                <a16:creationId xmlns:a16="http://schemas.microsoft.com/office/drawing/2014/main" id="{162CEC27-7C0B-4919-9759-8CF348D847EC}"/>
              </a:ext>
            </a:extLst>
          </p:cNvPr>
          <p:cNvSpPr>
            <a:spLocks noGrp="1"/>
          </p:cNvSpPr>
          <p:nvPr/>
        </p:nvSpPr>
        <p:spPr>
          <a:xfrm>
            <a:off x="9620250" y="6143625"/>
            <a:ext cx="2228850" cy="1066800"/>
          </a:xfrm>
          <a:prstGeom prst="rect">
            <a:avLst/>
          </a:prstGeom>
          <a:solidFill>
            <a:srgbClr val="FAEAD9"/>
          </a:solidFill>
          <a:ln w="12383">
            <a:noFill/>
            <a:prstDash val="solid"/>
          </a:ln>
        </p:spPr>
      </p:sp>
      <p:sp>
        <p:nvSpPr>
          <p:cNvPr id="115" name="adapt.choice-label">
            <a:extLst>
              <a:ext uri="{FF2B5EF4-FFF2-40B4-BE49-F238E27FC236}">
                <a16:creationId xmlns:a16="http://schemas.microsoft.com/office/drawing/2014/main" id="{F1F93070-FA4C-452E-943F-F4AEE293B14A}"/>
              </a:ext>
            </a:extLst>
          </p:cNvPr>
          <p:cNvSpPr>
            <a:spLocks noGrp="1"/>
          </p:cNvSpPr>
          <p:nvPr/>
        </p:nvSpPr>
        <p:spPr>
          <a:xfrm>
            <a:off x="9696450" y="6200775"/>
            <a:ext cx="2076450" cy="409575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选择预测误差最低的偏移</a:t>
            </a:r>
          </a:p>
        </p:txBody>
      </p:sp>
      <p:sp>
        <p:nvSpPr>
          <p:cNvPr id="116" name="adapt.chosen-delta">
            <a:extLst>
              <a:ext uri="{FF2B5EF4-FFF2-40B4-BE49-F238E27FC236}">
                <a16:creationId xmlns:a16="http://schemas.microsoft.com/office/drawing/2014/main" id="{72AF4B98-26FC-4C45-AD65-7E550689992E}"/>
              </a:ext>
            </a:extLst>
          </p:cNvPr>
          <p:cNvSpPr>
            <a:spLocks noGrp="1"/>
          </p:cNvSpPr>
          <p:nvPr/>
        </p:nvSpPr>
        <p:spPr>
          <a:xfrm>
            <a:off x="11849100" y="5429250"/>
            <a:ext cx="1724025" cy="1219200"/>
          </a:xfrm>
          <a:custGeom>
            <a:avLst/>
            <a:gdLst/>
            <a:ahLst/>
            <a:cxnLst/>
            <a:rect l="0" t="0" r="0" b="0"/>
            <a:pathLst>
              <a:path w="1724025" h="1219200">
                <a:moveTo>
                  <a:pt x="0" y="1219200"/>
                </a:moveTo>
                <a:lnTo>
                  <a:pt x="1724025" y="1219200"/>
                </a:lnTo>
                <a:lnTo>
                  <a:pt x="1724025" y="0"/>
                </a:lnTo>
              </a:path>
            </a:pathLst>
          </a:custGeom>
          <a:noFill/>
          <a:ln w="15240">
            <a:solidFill>
              <a:srgbClr val="147AAA"/>
            </a:solidFill>
            <a:prstDash val="solid"/>
          </a:ln>
        </p:spPr>
      </p:sp>
      <p:sp>
        <p:nvSpPr>
          <p:cNvPr id="117" name="adapt.output-label">
            <a:extLst>
              <a:ext uri="{FF2B5EF4-FFF2-40B4-BE49-F238E27FC236}">
                <a16:creationId xmlns:a16="http://schemas.microsoft.com/office/drawing/2014/main" id="{780DCA52-D71A-48E4-9B42-FD4A51903497}"/>
              </a:ext>
            </a:extLst>
          </p:cNvPr>
          <p:cNvSpPr>
            <a:spLocks noGrp="1"/>
          </p:cNvSpPr>
          <p:nvPr/>
        </p:nvSpPr>
        <p:spPr>
          <a:xfrm>
            <a:off x="12077700" y="7200900"/>
            <a:ext cx="2381250" cy="30480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rPr>
              <a:t>样本自适应偏移</a:t>
            </a:r>
          </a:p>
        </p:txBody>
      </p:sp>
      <p:sp>
        <p:nvSpPr>
          <p:cNvPr id="118" name="flow.sample-information">
            <a:extLst>
              <a:ext uri="{FF2B5EF4-FFF2-40B4-BE49-F238E27FC236}">
                <a16:creationId xmlns:a16="http://schemas.microsoft.com/office/drawing/2014/main" id="{6284195A-FA30-45F6-8641-605B3450B792}"/>
              </a:ext>
            </a:extLst>
          </p:cNvPr>
          <p:cNvSpPr>
            <a:spLocks noGrp="1"/>
          </p:cNvSpPr>
          <p:nvPr/>
        </p:nvSpPr>
        <p:spPr>
          <a:xfrm>
            <a:off x="1762125" y="3810000"/>
            <a:ext cx="2047875" cy="2838450"/>
          </a:xfrm>
          <a:custGeom>
            <a:avLst/>
            <a:gdLst/>
            <a:ahLst/>
            <a:cxnLst/>
            <a:rect l="0" t="0" r="0" b="0"/>
            <a:pathLst>
              <a:path w="2047875" h="2838450">
                <a:moveTo>
                  <a:pt x="0" y="0"/>
                </a:moveTo>
                <a:lnTo>
                  <a:pt x="0" y="2838450"/>
                </a:lnTo>
                <a:lnTo>
                  <a:pt x="2047875" y="2838450"/>
                </a:lnTo>
              </a:path>
            </a:pathLst>
          </a:custGeom>
          <a:noFill/>
          <a:ln w="15240">
            <a:solidFill>
              <a:srgbClr val="147AAA"/>
            </a:solidFill>
            <a:prstDash val="solid"/>
          </a:ln>
        </p:spPr>
      </p:sp>
      <p:sp>
        <p:nvSpPr>
          <p:cNvPr id="119" name="flow.sample-information.head">
            <a:extLst>
              <a:ext uri="{FF2B5EF4-FFF2-40B4-BE49-F238E27FC236}">
                <a16:creationId xmlns:a16="http://schemas.microsoft.com/office/drawing/2014/main" id="{0DE38BBF-4672-4ADD-BDC2-9E8710A5245A}"/>
              </a:ext>
            </a:extLst>
          </p:cNvPr>
          <p:cNvSpPr>
            <a:spLocks noGrp="1"/>
          </p:cNvSpPr>
          <p:nvPr/>
        </p:nvSpPr>
        <p:spPr>
          <a:xfrm>
            <a:off x="3724232" y="6607020"/>
            <a:ext cx="85768" cy="82861"/>
          </a:xfrm>
          <a:custGeom>
            <a:avLst/>
            <a:gdLst/>
            <a:ahLst/>
            <a:cxnLst/>
            <a:rect l="0" t="0" r="0" b="0"/>
            <a:pathLst>
              <a:path w="85768" h="82861">
                <a:moveTo>
                  <a:pt x="0" y="82861"/>
                </a:moveTo>
                <a:lnTo>
                  <a:pt x="85768" y="41430"/>
                </a:lnTo>
                <a:lnTo>
                  <a:pt x="0" y="0"/>
                </a:lnTo>
              </a:path>
            </a:pathLst>
          </a:custGeom>
          <a:noFill/>
          <a:ln w="15240">
            <a:solidFill>
              <a:srgbClr val="147AAA"/>
            </a:solidFill>
            <a:prstDash val="solid"/>
          </a:ln>
        </p:spPr>
      </p:sp>
      <p:sp>
        <p:nvSpPr>
          <p:cNvPr id="120" name="flow.sample-information-label">
            <a:extLst>
              <a:ext uri="{FF2B5EF4-FFF2-40B4-BE49-F238E27FC236}">
                <a16:creationId xmlns:a16="http://schemas.microsoft.com/office/drawing/2014/main" id="{E7E16A3A-DBB6-42C2-8F84-1D6FA840BFFD}"/>
              </a:ext>
            </a:extLst>
          </p:cNvPr>
          <p:cNvSpPr>
            <a:spLocks noGrp="1"/>
          </p:cNvSpPr>
          <p:nvPr/>
        </p:nvSpPr>
        <p:spPr>
          <a:xfrm>
            <a:off x="2095500" y="6238875"/>
            <a:ext cx="1428750" cy="30480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rPr>
              <a:t>样本信息</a:t>
            </a:r>
          </a:p>
        </p:txBody>
      </p:sp>
      <p:sp>
        <p:nvSpPr>
          <p:cNvPr id="121" name="flow.adjust">
            <a:extLst>
              <a:ext uri="{FF2B5EF4-FFF2-40B4-BE49-F238E27FC236}">
                <a16:creationId xmlns:a16="http://schemas.microsoft.com/office/drawing/2014/main" id="{715C8AFA-AC76-4570-90BC-F1F2E59BEA6A}"/>
              </a:ext>
            </a:extLst>
          </p:cNvPr>
          <p:cNvSpPr>
            <a:spLocks noGrp="1"/>
          </p:cNvSpPr>
          <p:nvPr/>
        </p:nvSpPr>
        <p:spPr>
          <a:xfrm>
            <a:off x="9525000" y="3810000"/>
            <a:ext cx="4048125" cy="1619250"/>
          </a:xfrm>
          <a:custGeom>
            <a:avLst/>
            <a:gdLst/>
            <a:ahLst/>
            <a:cxnLst/>
            <a:rect l="0" t="0" r="0" b="0"/>
            <a:pathLst>
              <a:path w="4048125" h="1619250">
                <a:moveTo>
                  <a:pt x="4048125" y="1619250"/>
                </a:moveTo>
                <a:lnTo>
                  <a:pt x="4048125" y="1000125"/>
                </a:lnTo>
                <a:lnTo>
                  <a:pt x="0" y="1000125"/>
                </a:lnTo>
                <a:lnTo>
                  <a:pt x="0" y="0"/>
                </a:lnTo>
              </a:path>
            </a:pathLst>
          </a:custGeom>
          <a:noFill/>
          <a:ln w="15240">
            <a:solidFill>
              <a:srgbClr val="147AAA"/>
            </a:solidFill>
            <a:prstDash val="solid"/>
          </a:ln>
        </p:spPr>
      </p:sp>
      <p:sp>
        <p:nvSpPr>
          <p:cNvPr id="122" name="flow.adjust.head">
            <a:extLst>
              <a:ext uri="{FF2B5EF4-FFF2-40B4-BE49-F238E27FC236}">
                <a16:creationId xmlns:a16="http://schemas.microsoft.com/office/drawing/2014/main" id="{350E851E-D190-4171-A6E3-728919EBCF0C}"/>
              </a:ext>
            </a:extLst>
          </p:cNvPr>
          <p:cNvSpPr>
            <a:spLocks noGrp="1"/>
          </p:cNvSpPr>
          <p:nvPr/>
        </p:nvSpPr>
        <p:spPr>
          <a:xfrm>
            <a:off x="9483570" y="3810000"/>
            <a:ext cx="82861" cy="85768"/>
          </a:xfrm>
          <a:custGeom>
            <a:avLst/>
            <a:gdLst/>
            <a:ahLst/>
            <a:cxnLst/>
            <a:rect l="0" t="0" r="0" b="0"/>
            <a:pathLst>
              <a:path w="82861" h="85768">
                <a:moveTo>
                  <a:pt x="82861" y="85768"/>
                </a:moveTo>
                <a:lnTo>
                  <a:pt x="41430" y="0"/>
                </a:lnTo>
                <a:lnTo>
                  <a:pt x="0" y="85768"/>
                </a:lnTo>
              </a:path>
            </a:pathLst>
          </a:custGeom>
          <a:noFill/>
          <a:ln w="15240">
            <a:solidFill>
              <a:srgbClr val="147AAA"/>
            </a:solidFill>
            <a:prstDash val="solid"/>
          </a:ln>
        </p:spPr>
      </p:sp>
      <p:sp>
        <p:nvSpPr>
          <p:cNvPr id="123" name="flow.adjust-label-bg">
            <a:extLst>
              <a:ext uri="{FF2B5EF4-FFF2-40B4-BE49-F238E27FC236}">
                <a16:creationId xmlns:a16="http://schemas.microsoft.com/office/drawing/2014/main" id="{C1698CA6-9018-46FE-8336-DDD314CAA87D}"/>
              </a:ext>
            </a:extLst>
          </p:cNvPr>
          <p:cNvSpPr>
            <a:spLocks noGrp="1"/>
          </p:cNvSpPr>
          <p:nvPr/>
        </p:nvSpPr>
        <p:spPr>
          <a:xfrm>
            <a:off x="10001250" y="4600575"/>
            <a:ext cx="3076575" cy="400050"/>
          </a:xfrm>
          <a:prstGeom prst="rect">
            <a:avLst/>
          </a:prstGeom>
          <a:solidFill>
            <a:srgbClr val="FFFFFF"/>
          </a:solidFill>
          <a:ln w="12383">
            <a:noFill/>
            <a:prstDash val="solid"/>
          </a:ln>
        </p:spPr>
      </p:sp>
      <p:sp>
        <p:nvSpPr>
          <p:cNvPr id="124" name="flow.adjust-label">
            <a:extLst>
              <a:ext uri="{FF2B5EF4-FFF2-40B4-BE49-F238E27FC236}">
                <a16:creationId xmlns:a16="http://schemas.microsoft.com/office/drawing/2014/main" id="{583B957B-4CD5-4538-9D0A-4E1905CF7545}"/>
              </a:ext>
            </a:extLst>
          </p:cNvPr>
          <p:cNvSpPr>
            <a:spLocks noGrp="1"/>
          </p:cNvSpPr>
          <p:nvPr/>
        </p:nvSpPr>
        <p:spPr>
          <a:xfrm>
            <a:off x="10039350" y="4619625"/>
            <a:ext cx="3000375" cy="361950"/>
          </a:xfrm>
          <a:prstGeom prst="rect">
            <a:avLst/>
          </a:prstGeom>
          <a:noFill/>
          <a:ln w="12383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rPr>
              <a:t>调节位置参数求解判据</a:t>
            </a:r>
          </a:p>
        </p:txBody>
      </p:sp>
      <p:graphicFrame>
        <p:nvGraphicFramePr>
          <p:cNvPr id="126" name="MathType.main.sample-vector">
            <a:extLst>
              <a:ext uri="{FF2B5EF4-FFF2-40B4-BE49-F238E27FC236}">
                <a16:creationId xmlns:a16="http://schemas.microsoft.com/office/drawing/2014/main" id="{2723C313-FAAA-1FB5-8774-C716E9EF65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4383407"/>
              </p:ext>
            </p:extLst>
          </p:nvPr>
        </p:nvGraphicFramePr>
        <p:xfrm>
          <a:off x="1604963" y="2436018"/>
          <a:ext cx="314325" cy="4714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2280" imgH="228600" progId="Equation.DSMT4">
                  <p:embed/>
                </p:oleObj>
              </mc:Choice>
              <mc:Fallback>
                <p:oleObj name="Equation" r:id="rId3" imgW="1522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04963" y="2436018"/>
                        <a:ext cx="314325" cy="4714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7" name="MathType.main.gamma">
            <a:extLst>
              <a:ext uri="{FF2B5EF4-FFF2-40B4-BE49-F238E27FC236}">
                <a16:creationId xmlns:a16="http://schemas.microsoft.com/office/drawing/2014/main" id="{91D55815-CBCD-39AD-3D05-D28BFF873A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0672803"/>
              </p:ext>
            </p:extLst>
          </p:nvPr>
        </p:nvGraphicFramePr>
        <p:xfrm>
          <a:off x="9386094" y="2854721"/>
          <a:ext cx="277813" cy="4722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6720" imgH="215640" progId="Equation.DSMT4">
                  <p:embed/>
                </p:oleObj>
              </mc:Choice>
              <mc:Fallback>
                <p:oleObj name="Equation" r:id="rId5" imgW="1267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386094" y="2854721"/>
                        <a:ext cx="277813" cy="4722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8" name="MathType.main.beta">
            <a:extLst>
              <a:ext uri="{FF2B5EF4-FFF2-40B4-BE49-F238E27FC236}">
                <a16:creationId xmlns:a16="http://schemas.microsoft.com/office/drawing/2014/main" id="{C48BD1C6-35AD-29E1-7143-C538988BD6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4598443"/>
              </p:ext>
            </p:extLst>
          </p:nvPr>
        </p:nvGraphicFramePr>
        <p:xfrm>
          <a:off x="13168313" y="2826939"/>
          <a:ext cx="333375" cy="5278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52280" imgH="241200" progId="Equation.DSMT4">
                  <p:embed/>
                </p:oleObj>
              </mc:Choice>
              <mc:Fallback>
                <p:oleObj name="Equation" r:id="rId7" imgW="15228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3168313" y="2826939"/>
                        <a:ext cx="333375" cy="5278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" name="MathType.main.eta">
            <a:extLst>
              <a:ext uri="{FF2B5EF4-FFF2-40B4-BE49-F238E27FC236}">
                <a16:creationId xmlns:a16="http://schemas.microsoft.com/office/drawing/2014/main" id="{58530314-DB3E-7901-AA26-7918BD8C7F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3435190"/>
              </p:ext>
            </p:extLst>
          </p:nvPr>
        </p:nvGraphicFramePr>
        <p:xfrm>
          <a:off x="16720344" y="2854721"/>
          <a:ext cx="277813" cy="4722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26720" imgH="215640" progId="Equation.DSMT4">
                  <p:embed/>
                </p:oleObj>
              </mc:Choice>
              <mc:Fallback>
                <p:oleObj name="Equation" r:id="rId9" imgW="1267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6720344" y="2854721"/>
                        <a:ext cx="277813" cy="4722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" name="MathType.main.parameters">
            <a:extLst>
              <a:ext uri="{FF2B5EF4-FFF2-40B4-BE49-F238E27FC236}">
                <a16:creationId xmlns:a16="http://schemas.microsoft.com/office/drawing/2014/main" id="{2593502A-C3F0-1DEE-EC1F-6AE7FB0555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8735523"/>
              </p:ext>
            </p:extLst>
          </p:nvPr>
        </p:nvGraphicFramePr>
        <p:xfrm>
          <a:off x="19864388" y="2239168"/>
          <a:ext cx="1133475" cy="512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533160" imgH="241200" progId="Equation.DSMT4">
                  <p:embed/>
                </p:oleObj>
              </mc:Choice>
              <mc:Fallback>
                <p:oleObj name="Equation" r:id="rId11" imgW="53316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9864388" y="2239168"/>
                        <a:ext cx="1133475" cy="5127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1" name="MathType.adapt.delta">
            <a:extLst>
              <a:ext uri="{FF2B5EF4-FFF2-40B4-BE49-F238E27FC236}">
                <a16:creationId xmlns:a16="http://schemas.microsoft.com/office/drawing/2014/main" id="{FC51D6E5-91CF-5D89-B25B-4C23C4EC9A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2718815"/>
              </p:ext>
            </p:extLst>
          </p:nvPr>
        </p:nvGraphicFramePr>
        <p:xfrm>
          <a:off x="10403207" y="6677025"/>
          <a:ext cx="66293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68280" imgH="253800" progId="Equation.DSMT4">
                  <p:embed/>
                </p:oleObj>
              </mc:Choice>
              <mc:Fallback>
                <p:oleObj name="Equation" r:id="rId13" imgW="36828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0403207" y="6677025"/>
                        <a:ext cx="662937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2312202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</Words>
  <Application>Microsoft Office PowerPoint</Application>
  <DocSecurity>0</DocSecurity>
  <PresentationFormat>自定义</PresentationFormat>
  <Paragraphs>26</Paragraphs>
  <Slides>1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</vt:lpstr>
      <vt:lpstr>Calibri</vt:lpstr>
      <vt:lpstr>ChatGPT</vt:lpstr>
      <vt:lpstr>MathType 7.0 Equation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H60655@365mak.com</cp:lastModifiedBy>
  <cp:revision>1</cp:revision>
  <dcterms:created xsi:type="dcterms:W3CDTF">2026-09-23T06:50:07Z</dcterms:created>
  <dcterms:modified xsi:type="dcterms:W3CDTF">2026-09-23T06:50:17Z</dcterms:modified>
</cp:coreProperties>
</file>