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63" r:id="rId3"/>
  </p:sldMasterIdLst>
  <p:notesMasterIdLst>
    <p:notesMasterId r:id="rId26"/>
  </p:notesMasterIdLst>
  <p:sldIdLst>
    <p:sldId id="256" r:id="rId4"/>
    <p:sldId id="292" r:id="rId5"/>
    <p:sldId id="258" r:id="rId6"/>
    <p:sldId id="259" r:id="rId7"/>
    <p:sldId id="293" r:id="rId8"/>
    <p:sldId id="294" r:id="rId9"/>
    <p:sldId id="295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96" r:id="rId21"/>
    <p:sldId id="297" r:id="rId22"/>
    <p:sldId id="298" r:id="rId23"/>
    <p:sldId id="299" r:id="rId24"/>
    <p:sldId id="301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163" autoAdjust="0"/>
  </p:normalViewPr>
  <p:slideViewPr>
    <p:cSldViewPr snapToGrid="0">
      <p:cViewPr>
        <p:scale>
          <a:sx n="75" d="100"/>
          <a:sy n="75" d="100"/>
        </p:scale>
        <p:origin x="94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老师好，今天我讲的是三参数</a:t>
            </a:r>
            <a:r>
              <a:rPr lang="en-US" altLang="zh-CN" sz="1800"/>
              <a:t>Weibull</a:t>
            </a:r>
            <a:r>
              <a:rPr lang="zh-CN" altLang="en-US" sz="1800"/>
              <a:t>分布参数估计方法的评价依据。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7883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次主要想明确：完整样本，尤其是小样本条件下，怎样评价一个估计方法的有效性。有效性就是相对合理的对比方法，估计得准、估计稳定，而且能够有效求解。可以分两方面：先确定对比方法，用蒙特卡洛衡量参数精度和稳定性；再用真实数据看可用性和拟合表现。</a:t>
            </a:r>
            <a:endParaRPr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0467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先从选对比方法来看，现有方法可以归纳成四条路线：从</a:t>
            </a:r>
            <a:r>
              <a:rPr lang="en-US" altLang="zh-CN" sz="1800"/>
              <a:t>MLE</a:t>
            </a:r>
            <a:r>
              <a:rPr lang="zh-CN" altLang="en-US" sz="1800"/>
              <a:t>出发的似然路线，概率图和回归路线，构造统计量或准则的路线，以及组合与学习路线。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4627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似然路线从极大似然估计开始。三参数模型有小样本偏差，也有位置边界附近似然无界的问题，因此产生了不同改进。</a:t>
            </a:r>
            <a:r>
              <a:rPr lang="en-US" altLang="zh-CN" sz="1800"/>
              <a:t>WMLE</a:t>
            </a:r>
            <a:r>
              <a:rPr lang="zh-CN" altLang="en-US" sz="1800"/>
              <a:t>用权重修正估计方程，是常见的一种；</a:t>
            </a:r>
            <a:r>
              <a:rPr lang="en-US" altLang="zh-CN" sz="1800"/>
              <a:t>MMLE</a:t>
            </a:r>
            <a:r>
              <a:rPr lang="zh-CN" altLang="en-US" sz="1800"/>
              <a:t>改变似然构造，</a:t>
            </a:r>
            <a:r>
              <a:rPr lang="en-US" altLang="zh-CN" sz="1800"/>
              <a:t>DMMLE</a:t>
            </a:r>
            <a:r>
              <a:rPr lang="zh-CN" altLang="en-US" sz="1800"/>
              <a:t>再加入偏差修正。另外还有</a:t>
            </a:r>
            <a:r>
              <a:rPr lang="en-US" altLang="zh-CN" sz="1800"/>
              <a:t>CMLE</a:t>
            </a:r>
            <a:r>
              <a:rPr lang="zh-CN" altLang="en-US" sz="1800"/>
              <a:t>等似然构造。智能优化主要改求解过程，后面讲近期工作时再说。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610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概率图路线先从二参数说起：把</a:t>
            </a:r>
            <a:r>
              <a:rPr lang="en-US" altLang="zh-CN" sz="1800"/>
              <a:t>Weibull</a:t>
            </a:r>
            <a:r>
              <a:rPr lang="zh-CN" altLang="en-US" sz="1800"/>
              <a:t>分布变成直线，就能用最小二乘估计。到了三参数，关键是多了一个未知位置</a:t>
            </a:r>
            <a:r>
              <a:rPr lang="en-US" altLang="zh-CN" sz="1800"/>
              <a:t>γ</a:t>
            </a:r>
            <a:r>
              <a:rPr lang="zh-CN" altLang="en-US" sz="1800"/>
              <a:t>。</a:t>
            </a:r>
            <a:r>
              <a:rPr lang="en-US" altLang="zh-CN" sz="1800"/>
              <a:t>Soman</a:t>
            </a:r>
            <a:r>
              <a:rPr lang="zh-CN" altLang="en-US" sz="1800"/>
              <a:t>和</a:t>
            </a:r>
            <a:r>
              <a:rPr lang="en-US" altLang="zh-CN" sz="1800"/>
              <a:t>Misra</a:t>
            </a:r>
            <a:r>
              <a:rPr lang="zh-CN" altLang="en-US" sz="1800"/>
              <a:t>在</a:t>
            </a:r>
            <a:r>
              <a:rPr lang="en-US" altLang="zh-CN" sz="1800"/>
              <a:t>1992</a:t>
            </a:r>
            <a:r>
              <a:rPr lang="zh-CN" altLang="en-US" sz="1800"/>
              <a:t>年把</a:t>
            </a:r>
            <a:r>
              <a:rPr lang="en-US" altLang="zh-CN" sz="1800"/>
              <a:t>White</a:t>
            </a:r>
            <a:r>
              <a:rPr lang="zh-CN" altLang="en-US" sz="1800"/>
              <a:t>的</a:t>
            </a:r>
            <a:r>
              <a:rPr lang="en-US" altLang="zh-CN" sz="1800"/>
              <a:t>LS</a:t>
            </a:r>
            <a:r>
              <a:rPr lang="zh-CN" altLang="en-US" sz="1800"/>
              <a:t>构造扩展到三参数：试不同的</a:t>
            </a:r>
            <a:r>
              <a:rPr lang="en-US" altLang="zh-CN" sz="1800"/>
              <a:t>γ</a:t>
            </a:r>
            <a:r>
              <a:rPr lang="zh-CN" altLang="en-US" sz="1800"/>
              <a:t>，每次做回归，保留</a:t>
            </a:r>
            <a:r>
              <a:rPr lang="en-US" altLang="zh-CN" sz="1800"/>
              <a:t>F</a:t>
            </a:r>
            <a:r>
              <a:rPr lang="zh-CN" altLang="en-US" sz="1800"/>
              <a:t>比最大的那组结果。
</a:t>
            </a:r>
            <a:r>
              <a:rPr lang="en-US" altLang="zh-CN" sz="1800"/>
              <a:t>LRE</a:t>
            </a:r>
            <a:r>
              <a:rPr lang="zh-CN" altLang="en-US" sz="1800"/>
              <a:t>就是线性回归估计，和</a:t>
            </a:r>
            <a:r>
              <a:rPr lang="en-US" altLang="zh-CN" sz="1800"/>
              <a:t>LS</a:t>
            </a:r>
            <a:r>
              <a:rPr lang="zh-CN" altLang="en-US" sz="1800"/>
              <a:t>不是并列的大类。</a:t>
            </a:r>
            <a:r>
              <a:rPr lang="en-US" altLang="zh-CN" sz="1800"/>
              <a:t>Li</a:t>
            </a:r>
            <a:r>
              <a:rPr lang="zh-CN" altLang="en-US" sz="1800"/>
              <a:t>在</a:t>
            </a:r>
            <a:r>
              <a:rPr lang="en-US" altLang="zh-CN" sz="1800"/>
              <a:t>1994</a:t>
            </a:r>
            <a:r>
              <a:rPr lang="zh-CN" altLang="en-US" sz="1800"/>
              <a:t>年的方法，是给定形状回归求位置，再由位置回归求形状，通过区间收缩找到彼此一致的解，最后恢复尺度。
</a:t>
            </a:r>
            <a:r>
              <a:rPr lang="en-US" altLang="zh-CN" sz="1800"/>
              <a:t>Park</a:t>
            </a:r>
            <a:r>
              <a:rPr lang="zh-CN" altLang="en-US" sz="1800"/>
              <a:t>也是寻找最直的概率图，但把相关系数写成</a:t>
            </a:r>
            <a:r>
              <a:rPr lang="en-US" altLang="zh-CN" sz="1800"/>
              <a:t>γ</a:t>
            </a:r>
            <a:r>
              <a:rPr lang="zh-CN" altLang="en-US" sz="1800"/>
              <a:t>的函数，通过最大化相关系数确定位置，再回归得到另外两个参数。</a:t>
            </a:r>
            <a:r>
              <a:rPr lang="en-US" altLang="zh-CN" sz="1800"/>
              <a:t>S–M</a:t>
            </a:r>
            <a:r>
              <a:rPr lang="zh-CN" altLang="en-US" sz="1800"/>
              <a:t>和</a:t>
            </a:r>
            <a:r>
              <a:rPr lang="en-US" altLang="zh-CN" sz="1800"/>
              <a:t>Park</a:t>
            </a:r>
            <a:r>
              <a:rPr lang="zh-CN" altLang="en-US" sz="1800"/>
              <a:t>的目标很接近，具体区别还在分数、回归方向和位置求法。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7101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这几种方法的构造差别较大，共同点是构造一个量，再让它满足某种条件。矩方法让样本矩匹配理论矩；</a:t>
            </a:r>
            <a:r>
              <a:rPr lang="en-US" altLang="zh-CN" sz="1800"/>
              <a:t>PWM</a:t>
            </a:r>
            <a:r>
              <a:rPr lang="zh-CN" altLang="en-US" sz="1800"/>
              <a:t>引入累计概率加权，</a:t>
            </a:r>
            <a:r>
              <a:rPr lang="en-US" altLang="zh-CN" sz="1800"/>
              <a:t>L</a:t>
            </a:r>
            <a:r>
              <a:rPr lang="zh-CN" altLang="en-US" sz="1800"/>
              <a:t>矩可以由</a:t>
            </a:r>
            <a:r>
              <a:rPr lang="en-US" altLang="zh-CN" sz="1800"/>
              <a:t>PWM</a:t>
            </a:r>
            <a:r>
              <a:rPr lang="zh-CN" altLang="en-US" sz="1800"/>
              <a:t>线性组合得到。最大乘积间距法让相邻累计概率间隔的乘积最大。</a:t>
            </a:r>
            <a:r>
              <a:rPr lang="en-US" altLang="zh-CN" sz="1800"/>
              <a:t>MDM</a:t>
            </a:r>
            <a:r>
              <a:rPr lang="zh-CN" altLang="en-US" sz="1800"/>
              <a:t>则让各观测反推的尺度值尽量一致。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3088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还有一些方法组合不同关系来求参数。</a:t>
            </a:r>
            <a:r>
              <a:rPr lang="en-US" altLang="zh-CN" sz="1800"/>
              <a:t>SAM</a:t>
            </a:r>
            <a:r>
              <a:rPr lang="zh-CN" altLang="en-US" sz="1800"/>
              <a:t>用最小观测值的期望关系修正位置，再回归更新其他参数；</a:t>
            </a:r>
            <a:r>
              <a:rPr lang="en-US" altLang="zh-CN" sz="1800"/>
              <a:t>PM</a:t>
            </a:r>
            <a:r>
              <a:rPr lang="zh-CN" altLang="en-US" sz="1800"/>
              <a:t>换成中位数关系并结合条件似然，逐次更新。</a:t>
            </a:r>
            <a:r>
              <a:rPr lang="en-US" altLang="zh-CN" sz="1800"/>
              <a:t>LSPF</a:t>
            </a:r>
            <a:r>
              <a:rPr lang="zh-CN" altLang="en-US" sz="1800"/>
              <a:t>通过样本变换先估形状，再恢复其他参数。</a:t>
            </a:r>
            <a:r>
              <a:rPr lang="en-US" altLang="zh-CN" sz="1800"/>
              <a:t>BPNN</a:t>
            </a:r>
            <a:r>
              <a:rPr lang="zh-CN" altLang="en-US" sz="1800"/>
              <a:t>则直接学习样本到参数的映射。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0862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我整理了这十二篇论文实际选择的对照。每篇通常选几种，可以看到，比较中反复出现的仍然是</a:t>
            </a:r>
            <a:r>
              <a:rPr lang="en-US" altLang="zh-CN" sz="1800"/>
              <a:t>MLE</a:t>
            </a:r>
            <a:r>
              <a:rPr lang="zh-CN" altLang="en-US" sz="1800"/>
              <a:t>、矩估计、回归等经典方法。那近期也有研究，为什么这些经典对照仍然常见？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3195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不是没有新研究，而是完整、小样本条件下的三参数点估计，只是其中一个分支。其他工作还在研究删失、截尾、污染等数据条件，或者用智能优化改善</a:t>
            </a:r>
            <a:r>
              <a:rPr lang="en-US" altLang="zh-CN" sz="1800"/>
              <a:t>MLE</a:t>
            </a:r>
            <a:r>
              <a:rPr lang="zh-CN" altLang="en-US" sz="1800"/>
              <a:t>的初值敏感和计算效率，还有一些转向区间和预测。所以，近期工作很多，并不意味着都能直接作为当前任务的对照。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3115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这里列了几个近期方法的例子，可以看到，它们跟谁比、用什么参数范围，都围绕各自要解决的问题来安排。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92601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从这些文献可以归纳三点：保留共同的经典参照，选一两种已有竞争力的方法，再与原理相近或直接改进的母方法比较。具体对手随研究问题而定，没有统一的固定组合。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3522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蒙特卡洛一般选若干参数和样本量组合，再反复抽样。这里几篇文献每个条件分别重复一千、五千或一万次。真值已知，就能比较不同方法估得准不准、稳不稳。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25504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指标主要用通用的</a:t>
            </a:r>
            <a:r>
              <a:rPr lang="en-US" altLang="zh-CN" sz="1800"/>
              <a:t>Bias</a:t>
            </a:r>
            <a:r>
              <a:rPr lang="zh-CN" altLang="en-US" sz="1800"/>
              <a:t>、</a:t>
            </a:r>
            <a:r>
              <a:rPr lang="en-US" altLang="zh-CN" sz="1800"/>
              <a:t>RMSE</a:t>
            </a:r>
            <a:r>
              <a:rPr lang="zh-CN" altLang="en-US" sz="1800"/>
              <a:t>和</a:t>
            </a:r>
            <a:r>
              <a:rPr lang="en-US" altLang="zh-CN" sz="1800"/>
              <a:t>SD</a:t>
            </a:r>
            <a:r>
              <a:rPr lang="zh-CN" altLang="en-US" sz="1800"/>
              <a:t>：分别看偏差、总体误差和估计波动。通常分三个参数报告，需要时再看寿命分位点，同时统计有效求解率。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6308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像</a:t>
            </a:r>
            <a:r>
              <a:rPr lang="en-US" altLang="zh-CN" sz="1800"/>
              <a:t>MLE</a:t>
            </a:r>
            <a:r>
              <a:rPr lang="zh-CN" altLang="en-US" sz="1800"/>
              <a:t>会出现算不出有效结果的样本。文献有的只在收敛样本上算误差，有的另报失败次数，也有通过约束参数空间处理求解问题的做法。比较时把有效样本上的误差和有效求解次数一起交代；用了什么约束，也要说明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33125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真实数据不知道参数真值，所以不能直接算参数估计误差。主要看方法能不能用、拟合曲线怎样，以及算出的寿命量有没有实际意义。这里比较的是拟合和应用表现。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686267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这几个例子也是这样：</a:t>
            </a:r>
            <a:r>
              <a:rPr lang="en-US" altLang="zh-CN"/>
              <a:t>BPNN</a:t>
            </a:r>
            <a:r>
              <a:rPr lang="zh-CN" altLang="en-US"/>
              <a:t>主要比较拟合曲线和</a:t>
            </a:r>
            <a:r>
              <a:rPr lang="en-US" altLang="zh-CN"/>
              <a:t>K-S</a:t>
            </a:r>
            <a:r>
              <a:rPr lang="zh-CN" altLang="en-US"/>
              <a:t>结果，</a:t>
            </a:r>
            <a:r>
              <a:rPr lang="en-US" altLang="zh-CN"/>
              <a:t>LSPF</a:t>
            </a:r>
            <a:r>
              <a:rPr lang="zh-CN" altLang="en-US"/>
              <a:t>展示困难小样本上能否求解，</a:t>
            </a:r>
            <a:r>
              <a:rPr lang="en-US" altLang="zh-CN"/>
              <a:t>SAM</a:t>
            </a:r>
            <a:r>
              <a:rPr lang="zh-CN" altLang="en-US"/>
              <a:t>再给出平均寿命和可靠度寿命。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84309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所以评价可以沿这条线：选合理的对比方法，用蒙特卡洛看精度、稳定性和有效求解，再用真实数据补充可用性与拟合表现。最后把结论落到具体样本和参数条件上。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13649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下面快速说一下自适应最小差异法的包装。找最优</a:t>
            </a:r>
            <a:r>
              <a:rPr lang="en-US" altLang="zh-CN" sz="1800"/>
              <a:t>δ</a:t>
            </a:r>
            <a:r>
              <a:rPr lang="zh-CN" altLang="en-US" sz="1800"/>
              <a:t>之前已经汇报过，这次把它组织成完整的</a:t>
            </a:r>
            <a:r>
              <a:rPr lang="en-US" altLang="zh-CN" sz="1800"/>
              <a:t>AMDM</a:t>
            </a:r>
            <a:r>
              <a:rPr lang="zh-CN" altLang="en-US" sz="1800"/>
              <a:t>估计方法：利用当前样本选择偏移，再由</a:t>
            </a:r>
            <a:r>
              <a:rPr lang="en-US" altLang="zh-CN" sz="1800"/>
              <a:t>MDM</a:t>
            </a:r>
            <a:r>
              <a:rPr lang="zh-CN" altLang="en-US" sz="1800"/>
              <a:t>完成三参数估计。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13649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这张图把</a:t>
            </a:r>
            <a:r>
              <a:rPr lang="en-US" altLang="zh-CN" sz="1800"/>
              <a:t>MDM</a:t>
            </a:r>
            <a:r>
              <a:rPr lang="zh-CN" altLang="en-US" sz="1800"/>
              <a:t>原理重新串起来：样本构造差异曲线，求位置，再回代形状和尺度。下面说明偏移会改变求解落点。既然曲线随样本变化，就进一步让偏移也利用当前样本的信息。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13649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/>
              <a:t>AMDM</a:t>
            </a:r>
            <a:r>
              <a:rPr lang="zh-CN" altLang="en-US" sz="1800"/>
              <a:t>就是这两条支路：一条用样本预测候选偏移的损失、选择偏移；另一条保留</a:t>
            </a:r>
            <a:r>
              <a:rPr lang="en-US" altLang="zh-CN" sz="1800"/>
              <a:t>MDM</a:t>
            </a:r>
            <a:r>
              <a:rPr lang="zh-CN" altLang="en-US" sz="1800"/>
              <a:t>求解，用选出的偏移求位置，再得到形状和尺度。样本既决定曲线，也参与选点。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13649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玫瑰图放了四个样本量，蓝、橙、绿分别是形状、尺度、位置的标准化</a:t>
            </a:r>
            <a:r>
              <a:rPr lang="en-US" altLang="zh-CN" sz="1800"/>
              <a:t>RMSE</a:t>
            </a:r>
            <a:r>
              <a:rPr lang="zh-CN" altLang="en-US" sz="1800"/>
              <a:t>，越短越好。在六方法共同有效的样本上，</a:t>
            </a:r>
            <a:r>
              <a:rPr lang="en-US" altLang="zh-CN" sz="1800"/>
              <a:t>AMDM</a:t>
            </a:r>
            <a:r>
              <a:rPr lang="zh-CN" altLang="en-US" sz="1800"/>
              <a:t>三个参数的误差都较低。相对固定</a:t>
            </a:r>
            <a:r>
              <a:rPr lang="en-US" altLang="zh-CN" sz="1800"/>
              <a:t>MDM</a:t>
            </a:r>
            <a:r>
              <a:rPr lang="zh-CN" altLang="en-US" sz="1800"/>
              <a:t>，全部配对测试的联合误差降低</a:t>
            </a:r>
            <a:r>
              <a:rPr lang="en-US" altLang="zh-CN" sz="1800"/>
              <a:t>8.45%</a:t>
            </a:r>
            <a:r>
              <a:rPr lang="zh-CN" altLang="en-US" sz="1800"/>
              <a:t>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13649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/>
              <a:t>再把样本量扩展到</a:t>
            </a:r>
            <a:r>
              <a:rPr lang="en-US" altLang="zh-CN" sz="1800"/>
              <a:t>50</a:t>
            </a:r>
            <a:r>
              <a:rPr lang="zh-CN" altLang="en-US" sz="1800"/>
              <a:t>。这里看相对</a:t>
            </a:r>
            <a:r>
              <a:rPr lang="en-US" altLang="zh-CN" sz="1800"/>
              <a:t>MLE</a:t>
            </a:r>
            <a:r>
              <a:rPr lang="zh-CN" altLang="en-US" sz="1800"/>
              <a:t>的</a:t>
            </a:r>
            <a:r>
              <a:rPr lang="en-US" altLang="zh-CN" sz="1800"/>
              <a:t>RMSE</a:t>
            </a:r>
            <a:r>
              <a:rPr lang="zh-CN" altLang="en-US" sz="1800"/>
              <a:t>降幅，越高表示改善越多。当前参数设计下，</a:t>
            </a:r>
            <a:r>
              <a:rPr lang="en-US" altLang="zh-CN" sz="1800"/>
              <a:t>AMDM</a:t>
            </a:r>
            <a:r>
              <a:rPr lang="zh-CN" altLang="en-US" sz="1800"/>
              <a:t>在较小样本量时收益更明显，形状参数尤其突出。</a:t>
            </a:r>
            <a:endParaRPr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1364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21"/>
          <p:cNvPicPr>
            <a:picLocks noChangeAspect="1"/>
          </p:cNvPicPr>
          <p:nvPr/>
        </p:nvPicPr>
        <p:blipFill>
          <a:blip r:embed="rId2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-375" t="36417" r="375" b="17715"/>
          <a:stretch>
            <a:fillRect/>
          </a:stretch>
        </p:blipFill>
        <p:spPr>
          <a:xfrm>
            <a:off x="-188953" y="3125718"/>
            <a:ext cx="12697941" cy="4114800"/>
          </a:xfrm>
          <a:prstGeom prst="rect">
            <a:avLst/>
          </a:prstGeom>
        </p:spPr>
      </p:pic>
      <p:pic>
        <p:nvPicPr>
          <p:cNvPr id="5" name="图片 24"/>
          <p:cNvPicPr>
            <a:picLocks noChangeAspect="1"/>
          </p:cNvPicPr>
          <p:nvPr/>
        </p:nvPicPr>
        <p:blipFill>
          <a:blip r:embed="rId3"/>
          <a:srcRect b="60826"/>
          <a:stretch>
            <a:fillRect/>
          </a:stretch>
        </p:blipFill>
        <p:spPr>
          <a:xfrm>
            <a:off x="133584" y="72497"/>
            <a:ext cx="3337845" cy="708895"/>
          </a:xfrm>
          <a:prstGeom prst="rect">
            <a:avLst/>
          </a:prstGeom>
        </p:spPr>
      </p:pic>
      <p:pic>
        <p:nvPicPr>
          <p:cNvPr id="6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206" y="72497"/>
            <a:ext cx="5102794" cy="9144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矩形 332">
            <a:extLst>
              <a:ext uri="{FF2B5EF4-FFF2-40B4-BE49-F238E27FC236}">
                <a16:creationId xmlns:a16="http://schemas.microsoft.com/office/drawing/2014/main" id="{25D00A80-15F0-4C3D-BA1C-D2B8DF5713B7}"/>
              </a:ext>
            </a:extLst>
          </p:cNvPr>
          <p:cNvSpPr>
            <a:spLocks noGrp="1"/>
          </p:cNvSpPr>
          <p:nvPr/>
        </p:nvSpPr>
        <p:spPr>
          <a:xfrm>
            <a:off x="334962" y="833952"/>
            <a:ext cx="11522073" cy="499299"/>
          </a:xfrm>
          <a:prstGeom prst="rect">
            <a:avLst/>
          </a:prstGeom>
          <a:gradFill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b="100000"/>
            </a:path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noChangeAspect="1"/>
          </p:cNvPicPr>
          <p:nvPr/>
        </p:nvPicPr>
        <p:blipFill>
          <a:blip r:embed="rId2"/>
          <a:srcRect b="59104"/>
          <a:stretch>
            <a:fillRect/>
          </a:stretch>
        </p:blipFill>
        <p:spPr>
          <a:xfrm>
            <a:off x="9374637" y="198304"/>
            <a:ext cx="2675956" cy="593304"/>
          </a:xfrm>
          <a:prstGeom prst="rect">
            <a:avLst/>
          </a:prstGeom>
        </p:spPr>
      </p:pic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C33201AA-A72A-42CB-BA87-C4E3F68D7C54}"/>
              </a:ext>
            </a:extLst>
          </p:cNvPr>
          <p:cNvSpPr>
            <a:spLocks noGrp="1"/>
          </p:cNvSpPr>
          <p:nvPr/>
        </p:nvSpPr>
        <p:spPr>
          <a:xfrm>
            <a:off x="334962" y="6564990"/>
            <a:ext cx="11522076" cy="0"/>
          </a:xfrm>
          <a:prstGeom prst="line">
            <a:avLst/>
          </a:prstGeom>
          <a:ln w="508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318508C9-E08C-4A63-8DC5-682D5D25DC9D}"/>
              </a:ext>
            </a:extLst>
          </p:cNvPr>
          <p:cNvSpPr>
            <a:spLocks noGrp="1"/>
          </p:cNvSpPr>
          <p:nvPr/>
        </p:nvSpPr>
        <p:spPr>
          <a:xfrm>
            <a:off x="334963" y="1402294"/>
            <a:ext cx="11522075" cy="0"/>
          </a:xfrm>
          <a:prstGeom prst="line">
            <a:avLst/>
          </a:prstGeom>
          <a:noFill/>
          <a:ln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8FF3E6BE-823E-41AB-9EE5-04BCCFD4A87C}"/>
              </a:ext>
            </a:extLst>
          </p:cNvPr>
          <p:cNvSpPr>
            <a:spLocks noGrp="1"/>
          </p:cNvSpPr>
          <p:nvPr/>
        </p:nvSpPr>
        <p:spPr>
          <a:xfrm rot="10800000">
            <a:off x="2562" y="10535"/>
            <a:ext cx="4440577" cy="2998608"/>
          </a:xfrm>
          <a:custGeom>
            <a:avLst/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ahLst/>
            <a:cxnLst/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w="12700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1BD28AC6-1683-4006-BB10-0F7A4C13FDE0}"/>
              </a:ext>
            </a:extLst>
          </p:cNvPr>
          <p:cNvSpPr>
            <a:spLocks noGrp="1"/>
          </p:cNvSpPr>
          <p:nvPr/>
        </p:nvSpPr>
        <p:spPr>
          <a:xfrm>
            <a:off x="-79985" y="1085380"/>
            <a:ext cx="326230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</a:p>
        </p:txBody>
      </p:sp>
      <p:pic>
        <p:nvPicPr>
          <p:cNvPr id="135" name="图片 124"/>
          <p:cNvPicPr>
            <a:picLocks noChangeAspect="1"/>
          </p:cNvPicPr>
          <p:nvPr/>
        </p:nvPicPr>
        <p:blipFill>
          <a:blip r:embed="rId2">
            <a:alphaModFix amt="70000"/>
          </a:blip>
          <a:srcRect b="58808"/>
          <a:stretch>
            <a:fillRect/>
          </a:stretch>
        </p:blipFill>
        <p:spPr>
          <a:xfrm>
            <a:off x="662962" y="3707963"/>
            <a:ext cx="3024288" cy="2020666"/>
          </a:xfrm>
          <a:prstGeom prst="rect">
            <a:avLst/>
          </a:prstGeom>
        </p:spPr>
      </p:pic>
      <p:sp>
        <p:nvSpPr>
          <p:cNvPr id="88" name="文本框 87">
            <a:extLst>
              <a:ext uri="{FF2B5EF4-FFF2-40B4-BE49-F238E27FC236}">
                <a16:creationId xmlns:a16="http://schemas.microsoft.com/office/drawing/2014/main" id="{A61A7C37-D891-4BA3-A964-5035F355B85B}"/>
              </a:ext>
            </a:extLst>
          </p:cNvPr>
          <p:cNvSpPr>
            <a:spLocks noGrp="1"/>
          </p:cNvSpPr>
          <p:nvPr/>
        </p:nvSpPr>
        <p:spPr>
          <a:xfrm>
            <a:off x="851667" y="1479325"/>
            <a:ext cx="264687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25C8C45D-7CBB-4B9F-860A-0AD2A7965893}"/>
              </a:ext>
            </a:extLst>
          </p:cNvPr>
          <p:cNvSpPr>
            <a:spLocks noGrp="1"/>
          </p:cNvSpPr>
          <p:nvPr/>
        </p:nvSpPr>
        <p:spPr>
          <a:xfrm>
            <a:off x="8895335" y="4602588"/>
            <a:ext cx="3296666" cy="2255412"/>
          </a:xfrm>
          <a:custGeom>
            <a:avLst/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ahLst/>
            <a:cxnLst/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w="12700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494629-B2BD-4D20-9BE8-A348383E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CFFA4A-116A-46C5-A2F8-3F07BD47C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1F2C58-CD69-4C73-AF93-AEE85893F66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64EF93-C77E-4753-89A2-B42BC54E813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CFF673-FA18-4DF9-A003-A42740ABB11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BA5EFC-8B17-4E3A-963D-8B491CAC20C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49F442-F8B7-4971-BD4A-13BCD800E1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92642B2-6F22-4B9B-82AD-D3B06406DB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D6529E-89F7-4F18-91FE-AF7BE991C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0D0125-25E2-4ABE-96A0-B7C76CE65F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B9997D-42C9-4983-A767-A637AEACB1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25489B-D304-43A8-BF8C-F0785C3ABA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B0469B-7200-416A-8519-9A34B72696B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4601A5-F3B0-4399-9527-C8006666D47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D499D1-62B7-4375-94B0-BE149AA674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162A2E-9955-4F6B-B7C2-492157C65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7410B8-7366-4009-A65C-B1C17B3E6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2A7BB3-FEFF-4145-A73C-8783DB1D45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CC7F14-C2B0-43C1-B6CC-E1F0AE2440E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703B2A-433F-4968-8C3C-29BC33BCD1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570E6A-2266-4B2E-A208-4304DCF2EA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4C00C0-1E1B-46DC-877B-6999AB72E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0375EC-D403-474C-BDCD-B13299755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5140C5-2534-4D01-A054-8799B7EE14F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C7DBA3-D86D-49F2-9C7E-E2938054A2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67B2D7-B8CF-4FD9-B641-7A5799E77D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0216AD-9FFB-43B0-9ABC-443132024F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20E21E-06F7-4579-9A72-57FA309B3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67E993-74FC-4441-AB5C-FD3475EC7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3AFDDC-B246-4BAC-B53B-FC8B767342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447F40-7F16-4FFF-B022-C3AEDC4023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82E804-6DF3-4452-B271-5DEBCCCB06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3744352-F64F-4B8F-9586-65854C208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4EFCDB-0053-44F0-B075-A052FA3CB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46FA22-B463-4AD2-BF7D-5708AC9221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2AA74-DB7E-448B-B9B2-35075A5FDA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F0FDDA-4DAE-4539-9492-C374F102CA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/>
          <p:cNvPicPr>
            <a:picLocks noChangeAspect="1"/>
          </p:cNvPicPr>
          <p:nvPr/>
        </p:nvPicPr>
        <p:blipFill>
          <a:blip r:embed="rId2"/>
          <a:srcRect b="14645"/>
          <a:stretch>
            <a:fillRect/>
          </a:stretch>
        </p:blipFill>
        <p:spPr>
          <a:xfrm>
            <a:off x="0" y="584200"/>
            <a:ext cx="12192000" cy="804333"/>
          </a:xfrm>
          <a:prstGeom prst="rect">
            <a:avLst/>
          </a:prstGeom>
          <a:ln>
            <a:noFill/>
          </a:ln>
        </p:spPr>
      </p:pic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09E19A7D-2866-457A-BEAF-73A8399A6E5B}"/>
              </a:ext>
            </a:extLst>
          </p:cNvPr>
          <p:cNvSpPr>
            <a:spLocks noGrp="1"/>
          </p:cNvSpPr>
          <p:nvPr/>
        </p:nvSpPr>
        <p:spPr>
          <a:xfrm>
            <a:off x="0" y="1411819"/>
            <a:ext cx="12192000" cy="211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C83403-7610-4894-903F-C2CE1502F044}"/>
              </a:ext>
            </a:extLst>
          </p:cNvPr>
          <p:cNvSpPr>
            <a:spLocks noGrp="1"/>
          </p:cNvSpPr>
          <p:nvPr/>
        </p:nvSpPr>
        <p:spPr>
          <a:xfrm>
            <a:off x="821267" y="584200"/>
            <a:ext cx="8652933" cy="7112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>
              <a:ext uri="{FF2B5EF4-FFF2-40B4-BE49-F238E27FC236}">
                <a16:creationId xmlns:a16="http://schemas.microsoft.com/office/drawing/2014/main" id="{5B060BB9-701E-4619-A899-CCDFFD479B5F}"/>
              </a:ext>
            </a:extLst>
          </p:cNvPr>
          <p:cNvSpPr>
            <a:spLocks noGrp="1"/>
          </p:cNvSpPr>
          <p:nvPr/>
        </p:nvSpPr>
        <p:spPr>
          <a:xfrm>
            <a:off x="2393370" y="1413933"/>
            <a:ext cx="9798631" cy="101600"/>
          </a:xfrm>
          <a:custGeom>
            <a:avLst/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ahLst/>
            <a:cxnLst/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6DC3910A-EC10-4F93-8646-30BBA9F2C728}"/>
              </a:ext>
            </a:extLst>
          </p:cNvPr>
          <p:cNvSpPr>
            <a:spLocks noGrp="1"/>
          </p:cNvSpPr>
          <p:nvPr/>
        </p:nvSpPr>
        <p:spPr>
          <a:xfrm>
            <a:off x="-2539" y="1414739"/>
            <a:ext cx="2395908" cy="100793"/>
          </a:xfrm>
          <a:custGeom>
            <a:avLst/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ahLst/>
            <a:cxnLst/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/>
          <p:cNvPicPr>
            <a:picLocks noChangeAspect="1"/>
          </p:cNvPicPr>
          <p:nvPr/>
        </p:nvPicPr>
        <p:blipFill>
          <a:blip r:embed="rId2"/>
          <a:srcRect b="14645"/>
          <a:stretch>
            <a:fillRect/>
          </a:stretch>
        </p:blipFill>
        <p:spPr>
          <a:xfrm>
            <a:off x="0" y="584200"/>
            <a:ext cx="12192000" cy="804333"/>
          </a:xfrm>
          <a:prstGeom prst="rect">
            <a:avLst/>
          </a:prstGeom>
          <a:ln>
            <a:noFill/>
          </a:ln>
        </p:spPr>
      </p:pic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9A0B4D86-B6A6-4319-9D74-77BBE9E5D6EA}"/>
              </a:ext>
            </a:extLst>
          </p:cNvPr>
          <p:cNvSpPr>
            <a:spLocks noGrp="1"/>
          </p:cNvSpPr>
          <p:nvPr/>
        </p:nvSpPr>
        <p:spPr>
          <a:xfrm>
            <a:off x="0" y="1411819"/>
            <a:ext cx="12192000" cy="211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3E1BE0-EAE1-483E-87A3-69C453C2936E}"/>
              </a:ext>
            </a:extLst>
          </p:cNvPr>
          <p:cNvSpPr>
            <a:spLocks noGrp="1"/>
          </p:cNvSpPr>
          <p:nvPr/>
        </p:nvSpPr>
        <p:spPr>
          <a:xfrm>
            <a:off x="821267" y="584200"/>
            <a:ext cx="8652933" cy="7112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>
              <a:ext uri="{FF2B5EF4-FFF2-40B4-BE49-F238E27FC236}">
                <a16:creationId xmlns:a16="http://schemas.microsoft.com/office/drawing/2014/main" id="{6809F24B-B5D1-48C5-A62B-0A9E1AD4D251}"/>
              </a:ext>
            </a:extLst>
          </p:cNvPr>
          <p:cNvSpPr>
            <a:spLocks noGrp="1"/>
          </p:cNvSpPr>
          <p:nvPr/>
        </p:nvSpPr>
        <p:spPr>
          <a:xfrm>
            <a:off x="2393370" y="1413933"/>
            <a:ext cx="9798631" cy="101600"/>
          </a:xfrm>
          <a:custGeom>
            <a:avLst/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ahLst/>
            <a:cxnLst/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AA37E693-00A9-4A40-A608-1C6383C928CB}"/>
              </a:ext>
            </a:extLst>
          </p:cNvPr>
          <p:cNvSpPr>
            <a:spLocks noGrp="1"/>
          </p:cNvSpPr>
          <p:nvPr/>
        </p:nvSpPr>
        <p:spPr>
          <a:xfrm>
            <a:off x="-2539" y="1414739"/>
            <a:ext cx="2395908" cy="100793"/>
          </a:xfrm>
          <a:custGeom>
            <a:avLst/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ahLst/>
            <a:cxnLst/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3266A96-2003-4025-B2F8-B8F2F9ECB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983D7F-B2AC-4A42-9D2C-62EB1B677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914962-296F-427C-B8E8-7EDCE69C9B2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852F6-D0EE-43FF-9758-4449F4064C7C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13DB23-E2DB-49F2-9F10-5147AE6EF39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432BD1-FB6C-40B0-9AA8-7ED1D01112C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>
            <a:extLst>
              <a:ext uri="{FF2B5EF4-FFF2-40B4-BE49-F238E27FC236}">
                <a16:creationId xmlns:a16="http://schemas.microsoft.com/office/drawing/2014/main" id="{FFA7703D-0678-4454-B923-F3F7A0E09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ctr"/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>
              <a:ext uri="{FF2B5EF4-FFF2-40B4-BE49-F238E27FC236}">
                <a16:creationId xmlns:a16="http://schemas.microsoft.com/office/drawing/2014/main" id="{DF91456B-26C3-48E2-A393-7419A47BC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5"/>
            <a:ext cx="10515600" cy="4351867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2558CF-41BB-4DD8-8273-786F324207D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3"/>
            <a:ext cx="27432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292F71EF-02F8-4FDD-93F8-D030AB7FC83F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75D491-3100-4AF4-B449-158D8E6C529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3"/>
            <a:ext cx="41148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A0ED3A-25B1-4D00-AC74-A03166EB8C2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3"/>
            <a:ext cx="2743200" cy="364067"/>
          </a:xfrm>
          <a:prstGeom prst="rect">
            <a:avLst/>
          </a:prstGeom>
        </p:spPr>
        <p:txBody>
          <a:bodyPr vert="horz" wrap="square" lIns="65019" tIns="32509" rIns="65019" bIns="32509" anchor="ctr"/>
          <a:lstStyle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>
            <a:extLst>
              <a:ext uri="{FF2B5EF4-FFF2-40B4-BE49-F238E27FC236}">
                <a16:creationId xmlns:a16="http://schemas.microsoft.com/office/drawing/2014/main" id="{2DD986D5-7C62-452D-8061-B302A09E4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ctr"/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>
              <a:ext uri="{FF2B5EF4-FFF2-40B4-BE49-F238E27FC236}">
                <a16:creationId xmlns:a16="http://schemas.microsoft.com/office/drawing/2014/main" id="{86233082-5315-4B8B-AE57-8EC41B5E3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5"/>
            <a:ext cx="10515600" cy="4351867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159EDC-FC9C-46E9-9B21-874A8A61675B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3"/>
            <a:ext cx="27432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292F71EF-02F8-4FDD-93F8-D030AB7FC83F}" type="datetimeFigureOut">
              <a:t>2026/9/28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D6B1E0-9C14-4FFB-8B26-287FA97D06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3"/>
            <a:ext cx="41148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71AD2-D63B-4944-8A4A-B20C7084E0B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3"/>
            <a:ext cx="2743200" cy="364067"/>
          </a:xfrm>
          <a:prstGeom prst="rect">
            <a:avLst/>
          </a:prstGeom>
        </p:spPr>
        <p:txBody>
          <a:bodyPr vert="horz" wrap="square" lIns="65019" tIns="32509" rIns="65019" bIns="32509" anchor="ctr"/>
          <a:lstStyle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>
            <a:extLst>
              <a:ext uri="{FF2B5EF4-FFF2-40B4-BE49-F238E27FC236}">
                <a16:creationId xmlns:a16="http://schemas.microsoft.com/office/drawing/2014/main" id="{2AFE1FA7-4B66-4A9F-984E-BB326964C74E}"/>
              </a:ext>
            </a:extLst>
          </p:cNvPr>
          <p:cNvSpPr>
            <a:spLocks noGrp="1"/>
          </p:cNvSpPr>
          <p:nvPr/>
        </p:nvSpPr>
        <p:spPr>
          <a:xfrm>
            <a:off x="0" y="1513114"/>
            <a:ext cx="12192000" cy="2376715"/>
          </a:xfrm>
          <a:prstGeom prst="rect">
            <a:avLst/>
          </a:prstGeom>
          <a:gradFill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12700" cmpd="sng">
            <a:noFill/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>
              <a:ext uri="{FF2B5EF4-FFF2-40B4-BE49-F238E27FC236}">
                <a16:creationId xmlns:a16="http://schemas.microsoft.com/office/drawing/2014/main" id="{453F7129-0504-4CA9-9BFA-E5B0C91D7760}"/>
              </a:ext>
            </a:extLst>
          </p:cNvPr>
          <p:cNvSpPr>
            <a:spLocks noGrp="1"/>
          </p:cNvSpPr>
          <p:nvPr/>
        </p:nvSpPr>
        <p:spPr>
          <a:xfrm>
            <a:off x="4514780" y="4695050"/>
            <a:ext cx="3283986" cy="62404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4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>
              <a:ext uri="{FF2B5EF4-FFF2-40B4-BE49-F238E27FC236}">
                <a16:creationId xmlns:a16="http://schemas.microsoft.com/office/drawing/2014/main" id="{75A733F7-8760-4CC4-8DFD-EF4760B6CE4C}"/>
              </a:ext>
            </a:extLst>
          </p:cNvPr>
          <p:cNvSpPr>
            <a:spLocks noGrp="1"/>
          </p:cNvSpPr>
          <p:nvPr/>
        </p:nvSpPr>
        <p:spPr>
          <a:xfrm>
            <a:off x="4514780" y="5531496"/>
            <a:ext cx="3283986" cy="62404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0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2026.09.28</a:t>
            </a:r>
          </a:p>
        </p:txBody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AB104E52-D31B-4F84-930E-BB68DA292DA8}"/>
              </a:ext>
            </a:extLst>
          </p:cNvPr>
          <p:cNvSpPr>
            <a:spLocks noGrp="1"/>
          </p:cNvSpPr>
          <p:nvPr/>
        </p:nvSpPr>
        <p:spPr>
          <a:xfrm>
            <a:off x="0" y="4007644"/>
            <a:ext cx="12192000" cy="0"/>
          </a:xfrm>
          <a:prstGeom prst="line">
            <a:avLst/>
          </a:prstGeom>
          <a:noFill/>
          <a:ln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标题 8">
            <a:extLst>
              <a:ext uri="{FF2B5EF4-FFF2-40B4-BE49-F238E27FC236}">
                <a16:creationId xmlns:a16="http://schemas.microsoft.com/office/drawing/2014/main" id="{C744971D-495E-438A-B8C9-359A6F079A77}"/>
              </a:ext>
            </a:extLst>
          </p:cNvPr>
          <p:cNvSpPr>
            <a:spLocks noGrp="1"/>
          </p:cNvSpPr>
          <p:nvPr/>
        </p:nvSpPr>
        <p:spPr>
          <a:xfrm>
            <a:off x="161706" y="1887437"/>
            <a:ext cx="11932078" cy="161355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 algn="ctr">
              <a:lnSpc>
                <a:spcPct val="125000"/>
              </a:lnSpc>
              <a:spcBef>
                <a:spcPts val="0"/>
              </a:spcBef>
              <a:buNone/>
              <a:defRPr sz="37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3600" i="0" u="none" cap="none" spc="0" dirty="0" err="1">
                <a:ln>
                  <a:noFill/>
                </a:ln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三参数</a:t>
            </a:r>
            <a:r>
              <a:rPr sz="3600" i="0" u="none" cap="none" spc="0" dirty="0">
                <a:ln>
                  <a:noFill/>
                </a:ln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 Weibull </a:t>
            </a:r>
            <a:r>
              <a:rPr lang="zh-CN" altLang="en-US" sz="3600" i="0" u="none" cap="none" spc="0" dirty="0">
                <a:ln>
                  <a:noFill/>
                </a:ln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分布</a:t>
            </a:r>
            <a:r>
              <a:rPr sz="3600" i="0" u="none" cap="none" spc="0" dirty="0" err="1">
                <a:ln>
                  <a:noFill/>
                </a:ln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参数估计方法</a:t>
            </a:r>
            <a:r>
              <a:rPr sz="3600" dirty="0" err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的评价依据</a:t>
            </a:r>
            <a:endParaRPr sz="3600" i="0" u="none" cap="none" spc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latin typeface="汉仪文润宋韵 U"/>
              <a:ea typeface="汉仪文润宋韵 U"/>
              <a:cs typeface="汉仪文润宋韵 U"/>
            </a:endParaRPr>
          </a:p>
        </p:txBody>
      </p:sp>
    </p:spTree>
    <p:extLst>
      <p:ext uri="{BB962C8B-B14F-4D97-AF65-F5344CB8AC3E}">
        <p14:creationId xmlns:p14="http://schemas.microsoft.com/office/powerpoint/2010/main" val="3064330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明确完整样本</a:t>
            </a:r>
            <a:r>
              <a:rPr lang="en-US" altLang="zh-CN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+</a:t>
            </a:r>
            <a:r>
              <a:rPr lang="zh-CN" altLang="en-US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小样本条件下的三参数</a:t>
            </a:r>
            <a:r>
              <a:rPr lang="en-US" altLang="zh-CN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Weibull</a:t>
            </a:r>
            <a:r>
              <a:rPr lang="zh-CN" altLang="en-US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分布参数估计方法怎么评价“有效性”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研究问题与评价框架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研究目标">
            <a:extLst>
              <a:ext uri="{FF2B5EF4-FFF2-40B4-BE49-F238E27FC236}">
                <a16:creationId xmlns:a16="http://schemas.microsoft.com/office/drawing/2014/main" id="{08DABA51-670F-26F6-1412-71C5A9E15E19}"/>
              </a:ext>
            </a:extLst>
          </p:cNvPr>
          <p:cNvSpPr txBox="1"/>
          <p:nvPr/>
        </p:nvSpPr>
        <p:spPr>
          <a:xfrm>
            <a:off x="609599" y="1689100"/>
            <a:ext cx="2670495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方法需要证明有效性：</a:t>
            </a:r>
          </a:p>
        </p:txBody>
      </p:sp>
      <p:sp>
        <p:nvSpPr>
          <p:cNvPr id="17" name="目标内容">
            <a:extLst>
              <a:ext uri="{FF2B5EF4-FFF2-40B4-BE49-F238E27FC236}">
                <a16:creationId xmlns:a16="http://schemas.microsoft.com/office/drawing/2014/main" id="{462ABA51-9EE3-66EF-8409-A14F5DEAC889}"/>
              </a:ext>
            </a:extLst>
          </p:cNvPr>
          <p:cNvSpPr txBox="1"/>
          <p:nvPr/>
        </p:nvSpPr>
        <p:spPr>
          <a:xfrm>
            <a:off x="609599" y="2047836"/>
            <a:ext cx="10972800" cy="7888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dirty="0"/>
              <a:t>在目标样本条件下，相对于合理的比较对象，具有良好的参数估计精度、</a:t>
            </a:r>
            <a:r>
              <a:rPr lang="zh-CN" altLang="en-US" dirty="0"/>
              <a:t>估计</a:t>
            </a:r>
            <a:r>
              <a:rPr lang="zh-CN" altLang="zh-CN" dirty="0"/>
              <a:t>稳定性和有效求解能力；真实数据补充说明实际可用性</a:t>
            </a:r>
          </a:p>
        </p:txBody>
      </p:sp>
      <p:sp>
        <p:nvSpPr>
          <p:cNvPr id="28" name="Mermaid-A">
            <a:extLst>
              <a:ext uri="{FF2B5EF4-FFF2-40B4-BE49-F238E27FC236}">
                <a16:creationId xmlns:a16="http://schemas.microsoft.com/office/drawing/2014/main" id="{0DD011D5-D241-6155-0CB9-12F5875B9FFF}"/>
              </a:ext>
            </a:extLst>
          </p:cNvPr>
          <p:cNvSpPr/>
          <p:nvPr/>
        </p:nvSpPr>
        <p:spPr>
          <a:xfrm>
            <a:off x="609600" y="4249606"/>
            <a:ext cx="23114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研究问题：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新方法在目标条件下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是否有效</a:t>
            </a:r>
          </a:p>
        </p:txBody>
      </p:sp>
      <p:sp>
        <p:nvSpPr>
          <p:cNvPr id="29" name="Mermaid-B">
            <a:extLst>
              <a:ext uri="{FF2B5EF4-FFF2-40B4-BE49-F238E27FC236}">
                <a16:creationId xmlns:a16="http://schemas.microsoft.com/office/drawing/2014/main" id="{07EA1AC9-B6EB-E948-883C-A63B92B86EEC}"/>
              </a:ext>
            </a:extLst>
          </p:cNvPr>
          <p:cNvSpPr/>
          <p:nvPr/>
        </p:nvSpPr>
        <p:spPr>
          <a:xfrm>
            <a:off x="3390900" y="3576506"/>
            <a:ext cx="3543300" cy="7747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先确定对比方法</a:t>
            </a:r>
          </a:p>
        </p:txBody>
      </p:sp>
      <p:sp>
        <p:nvSpPr>
          <p:cNvPr id="30" name="Mermaid-C">
            <a:extLst>
              <a:ext uri="{FF2B5EF4-FFF2-40B4-BE49-F238E27FC236}">
                <a16:creationId xmlns:a16="http://schemas.microsoft.com/office/drawing/2014/main" id="{D076890E-B70C-749F-CF6C-92DC944885FE}"/>
              </a:ext>
            </a:extLst>
          </p:cNvPr>
          <p:cNvSpPr/>
          <p:nvPr/>
        </p:nvSpPr>
        <p:spPr>
          <a:xfrm>
            <a:off x="7467600" y="3576506"/>
            <a:ext cx="4114800" cy="6096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6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形成合理衡量标准</a:t>
            </a:r>
          </a:p>
        </p:txBody>
      </p:sp>
      <p:sp>
        <p:nvSpPr>
          <p:cNvPr id="31" name="Mermaid-D">
            <a:extLst>
              <a:ext uri="{FF2B5EF4-FFF2-40B4-BE49-F238E27FC236}">
                <a16:creationId xmlns:a16="http://schemas.microsoft.com/office/drawing/2014/main" id="{58E890BD-6675-FAF5-2C6A-D9F919531B9B}"/>
              </a:ext>
            </a:extLst>
          </p:cNvPr>
          <p:cNvSpPr/>
          <p:nvPr/>
        </p:nvSpPr>
        <p:spPr>
          <a:xfrm>
            <a:off x="7467600" y="4554406"/>
            <a:ext cx="4114800" cy="838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共同</a:t>
            </a:r>
            <a:r>
              <a:rPr lang="en-US" altLang="zh-CN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Monte Carlo</a:t>
            </a:r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逐参数精度、估计稳定性、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有效求解率</a:t>
            </a:r>
          </a:p>
        </p:txBody>
      </p:sp>
      <p:sp>
        <p:nvSpPr>
          <p:cNvPr id="32" name="Mermaid-E">
            <a:extLst>
              <a:ext uri="{FF2B5EF4-FFF2-40B4-BE49-F238E27FC236}">
                <a16:creationId xmlns:a16="http://schemas.microsoft.com/office/drawing/2014/main" id="{4B65E912-EC16-8050-4851-35393A7AD4CE}"/>
              </a:ext>
            </a:extLst>
          </p:cNvPr>
          <p:cNvSpPr/>
          <p:nvPr/>
        </p:nvSpPr>
        <p:spPr>
          <a:xfrm>
            <a:off x="3390900" y="4656006"/>
            <a:ext cx="3543300" cy="7366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真实数据：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实际可用性、拟合</a:t>
            </a:r>
          </a:p>
        </p:txBody>
      </p:sp>
      <p:sp>
        <p:nvSpPr>
          <p:cNvPr id="33" name="Mermaid-F">
            <a:extLst>
              <a:ext uri="{FF2B5EF4-FFF2-40B4-BE49-F238E27FC236}">
                <a16:creationId xmlns:a16="http://schemas.microsoft.com/office/drawing/2014/main" id="{438E2490-C1CD-00BC-0A6F-ACE81C8CFC07}"/>
              </a:ext>
            </a:extLst>
          </p:cNvPr>
          <p:cNvSpPr/>
          <p:nvPr/>
        </p:nvSpPr>
        <p:spPr>
          <a:xfrm>
            <a:off x="3390900" y="5760906"/>
            <a:ext cx="8191500" cy="3810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8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38100" rIns="63500" bIns="38100" rtlCol="0" anchor="ctr"/>
          <a:lstStyle/>
          <a:p>
            <a:pPr algn="ctr"/>
            <a:r>
              <a:rPr lang="zh-CN" altLang="en-US" sz="16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综合判断</a:t>
            </a:r>
          </a:p>
        </p:txBody>
      </p:sp>
      <p:cxnSp>
        <p:nvCxnSpPr>
          <p:cNvPr id="34" name="Mermaid-AB-1">
            <a:extLst>
              <a:ext uri="{FF2B5EF4-FFF2-40B4-BE49-F238E27FC236}">
                <a16:creationId xmlns:a16="http://schemas.microsoft.com/office/drawing/2014/main" id="{871ECF2C-2A71-264E-3560-3B50BA688D93}"/>
              </a:ext>
            </a:extLst>
          </p:cNvPr>
          <p:cNvCxnSpPr/>
          <p:nvPr/>
        </p:nvCxnSpPr>
        <p:spPr>
          <a:xfrm>
            <a:off x="2921000" y="4490906"/>
            <a:ext cx="228600" cy="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Mermaid-AB-2">
            <a:extLst>
              <a:ext uri="{FF2B5EF4-FFF2-40B4-BE49-F238E27FC236}">
                <a16:creationId xmlns:a16="http://schemas.microsoft.com/office/drawing/2014/main" id="{1BC0BA69-E3A7-99B0-716E-5A36175AFFA7}"/>
              </a:ext>
            </a:extLst>
          </p:cNvPr>
          <p:cNvCxnSpPr/>
          <p:nvPr/>
        </p:nvCxnSpPr>
        <p:spPr>
          <a:xfrm flipV="1">
            <a:off x="3149600" y="3963856"/>
            <a:ext cx="0" cy="52705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Mermaid-AB-3">
            <a:extLst>
              <a:ext uri="{FF2B5EF4-FFF2-40B4-BE49-F238E27FC236}">
                <a16:creationId xmlns:a16="http://schemas.microsoft.com/office/drawing/2014/main" id="{E485042C-D99D-1F94-7FCE-6A370D66C169}"/>
              </a:ext>
            </a:extLst>
          </p:cNvPr>
          <p:cNvCxnSpPr/>
          <p:nvPr/>
        </p:nvCxnSpPr>
        <p:spPr>
          <a:xfrm>
            <a:off x="3149600" y="3963856"/>
            <a:ext cx="241300" cy="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Mermaid-BC">
            <a:extLst>
              <a:ext uri="{FF2B5EF4-FFF2-40B4-BE49-F238E27FC236}">
                <a16:creationId xmlns:a16="http://schemas.microsoft.com/office/drawing/2014/main" id="{73650BC9-F6D9-5779-EC0F-047B872E4F20}"/>
              </a:ext>
            </a:extLst>
          </p:cNvPr>
          <p:cNvCxnSpPr/>
          <p:nvPr/>
        </p:nvCxnSpPr>
        <p:spPr>
          <a:xfrm>
            <a:off x="6934200" y="3963856"/>
            <a:ext cx="533400" cy="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Mermaid-CD">
            <a:extLst>
              <a:ext uri="{FF2B5EF4-FFF2-40B4-BE49-F238E27FC236}">
                <a16:creationId xmlns:a16="http://schemas.microsoft.com/office/drawing/2014/main" id="{811EA8E6-E5A1-A3DE-078F-19E4CE51EB18}"/>
              </a:ext>
            </a:extLst>
          </p:cNvPr>
          <p:cNvCxnSpPr/>
          <p:nvPr/>
        </p:nvCxnSpPr>
        <p:spPr>
          <a:xfrm>
            <a:off x="9525000" y="4186106"/>
            <a:ext cx="0" cy="36830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Mermaid-DF">
            <a:extLst>
              <a:ext uri="{FF2B5EF4-FFF2-40B4-BE49-F238E27FC236}">
                <a16:creationId xmlns:a16="http://schemas.microsoft.com/office/drawing/2014/main" id="{606084D3-31F5-A011-A6C5-955613580983}"/>
              </a:ext>
            </a:extLst>
          </p:cNvPr>
          <p:cNvCxnSpPr/>
          <p:nvPr/>
        </p:nvCxnSpPr>
        <p:spPr>
          <a:xfrm>
            <a:off x="9525000" y="5392606"/>
            <a:ext cx="0" cy="36830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Mermaid-AE-1">
            <a:extLst>
              <a:ext uri="{FF2B5EF4-FFF2-40B4-BE49-F238E27FC236}">
                <a16:creationId xmlns:a16="http://schemas.microsoft.com/office/drawing/2014/main" id="{6EF1C689-37AD-1F45-CF5F-67BFE5A15B23}"/>
              </a:ext>
            </a:extLst>
          </p:cNvPr>
          <p:cNvCxnSpPr/>
          <p:nvPr/>
        </p:nvCxnSpPr>
        <p:spPr>
          <a:xfrm>
            <a:off x="2921000" y="4935406"/>
            <a:ext cx="228600" cy="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Mermaid-AE-2">
            <a:extLst>
              <a:ext uri="{FF2B5EF4-FFF2-40B4-BE49-F238E27FC236}">
                <a16:creationId xmlns:a16="http://schemas.microsoft.com/office/drawing/2014/main" id="{D22BBFCD-6D79-984B-A50C-DAA17EBE1BFD}"/>
              </a:ext>
            </a:extLst>
          </p:cNvPr>
          <p:cNvCxnSpPr/>
          <p:nvPr/>
        </p:nvCxnSpPr>
        <p:spPr>
          <a:xfrm>
            <a:off x="3149600" y="4935406"/>
            <a:ext cx="0" cy="88900"/>
          </a:xfrm>
          <a:prstGeom prst="line">
            <a:avLst/>
          </a:prstGeom>
          <a:ln w="19050">
            <a:solidFill>
              <a:srgbClr val="2F8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Mermaid-AE-3">
            <a:extLst>
              <a:ext uri="{FF2B5EF4-FFF2-40B4-BE49-F238E27FC236}">
                <a16:creationId xmlns:a16="http://schemas.microsoft.com/office/drawing/2014/main" id="{4FC5A968-BABB-A333-9357-AB8B4CF522DE}"/>
              </a:ext>
            </a:extLst>
          </p:cNvPr>
          <p:cNvCxnSpPr/>
          <p:nvPr/>
        </p:nvCxnSpPr>
        <p:spPr>
          <a:xfrm>
            <a:off x="3149600" y="5024306"/>
            <a:ext cx="241300" cy="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Mermaid-EF">
            <a:extLst>
              <a:ext uri="{FF2B5EF4-FFF2-40B4-BE49-F238E27FC236}">
                <a16:creationId xmlns:a16="http://schemas.microsoft.com/office/drawing/2014/main" id="{7EF3BD25-8896-4F84-0EE7-A29D1D6C422E}"/>
              </a:ext>
            </a:extLst>
          </p:cNvPr>
          <p:cNvCxnSpPr/>
          <p:nvPr/>
        </p:nvCxnSpPr>
        <p:spPr>
          <a:xfrm>
            <a:off x="5162550" y="5392606"/>
            <a:ext cx="0" cy="368300"/>
          </a:xfrm>
          <a:prstGeom prst="line">
            <a:avLst/>
          </a:prstGeom>
          <a:ln w="19050">
            <a:solidFill>
              <a:srgbClr val="2F8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85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参数估计的四类主要思路</a:t>
            </a:r>
            <a:endParaRPr sz="255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参数估计方法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02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讲解-10">
            <a:extLst>
              <a:ext uri="{FF2B5EF4-FFF2-40B4-BE49-F238E27FC236}">
                <a16:creationId xmlns:a16="http://schemas.microsoft.com/office/drawing/2014/main" id="{17E62921-E1E5-E709-B231-14F0A3E31EA4}"/>
              </a:ext>
            </a:extLst>
          </p:cNvPr>
          <p:cNvSpPr txBox="1"/>
          <p:nvPr/>
        </p:nvSpPr>
        <p:spPr>
          <a:xfrm>
            <a:off x="609600" y="1676400"/>
            <a:ext cx="109728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同样估计形状</a:t>
            </a:r>
            <a:r>
              <a:rPr lang="en-US" altLang="zh-CN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zh-CN" altLang="en-US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、尺度</a:t>
            </a:r>
            <a:r>
              <a:rPr lang="en-US" altLang="zh-CN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</a:t>
            </a:r>
            <a:r>
              <a:rPr lang="zh-CN" altLang="en-US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和位置</a:t>
            </a:r>
            <a:r>
              <a:rPr lang="en-US" altLang="zh-CN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</a:t>
            </a:r>
            <a:r>
              <a:rPr lang="zh-CN" altLang="en-US" sz="19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，区别在于用什么关系确定参数。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B18904ED-1F64-D5E5-4699-D410456C5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27037"/>
              </p:ext>
            </p:extLst>
          </p:nvPr>
        </p:nvGraphicFramePr>
        <p:xfrm>
          <a:off x="609600" y="2438400"/>
          <a:ext cx="10972800" cy="345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787263699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3300862410"/>
                    </a:ext>
                  </a:extLst>
                </a:gridCol>
                <a:gridCol w="4241800">
                  <a:extLst>
                    <a:ext uri="{9D8B030D-6E8A-4147-A177-3AD203B41FA5}">
                      <a16:colId xmlns:a16="http://schemas.microsoft.com/office/drawing/2014/main" val="2869927685"/>
                    </a:ext>
                  </a:extLst>
                </a:gridCol>
              </a:tblGrid>
              <a:tr h="6908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方法类别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估计依据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代表方法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985541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 </a:t>
                      </a:r>
                      <a:r>
                        <a:rPr lang="zh-CN" altLang="en-US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似然路线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让观测样本的似然较大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MLE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WMLE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MMLE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DMMLE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10862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 </a:t>
                      </a:r>
                      <a:r>
                        <a:rPr lang="zh-CN" altLang="en-US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概率图路线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将分布关系变成直线，再做回归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LS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LRE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、相关系数法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178542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 </a:t>
                      </a:r>
                      <a:r>
                        <a:rPr lang="zh-CN" altLang="en-US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统计量与构造准则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匹配统计量，或优化间距、差异量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PWM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矩、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MPS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MDM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745152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 </a:t>
                      </a:r>
                      <a:r>
                        <a:rPr lang="zh-CN" altLang="en-US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组合与学习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组合统计关系，或学习样本到参数的映射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SAM</a:t>
                      </a:r>
                      <a:r>
                        <a:rPr lang="zh-CN" altLang="en-US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PM</a:t>
                      </a:r>
                      <a:r>
                        <a:rPr lang="zh-CN" altLang="en-US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LSPF</a:t>
                      </a:r>
                      <a:r>
                        <a:rPr lang="zh-CN" altLang="en-US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BPNN</a:t>
                      </a:r>
                      <a:endParaRPr lang="zh-CN" altLang="en-US" sz="1700" b="0" dirty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617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413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lang="en-US" altLang="zh-CN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A  </a:t>
            </a:r>
            <a:r>
              <a:rPr lang="zh-CN" altLang="en-US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似然路线：从</a:t>
            </a:r>
            <a:r>
              <a:rPr lang="en-US" altLang="zh-CN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MLE</a:t>
            </a:r>
            <a:r>
              <a:rPr lang="zh-CN" altLang="en-US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到权重、似然与偏差修正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参数估计方法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02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82E52D-4601-B1F3-0C0E-B00CE691318A}"/>
              </a:ext>
            </a:extLst>
          </p:cNvPr>
          <p:cNvSpPr>
            <a:spLocks noGrp="1"/>
          </p:cNvSpPr>
          <p:nvPr/>
        </p:nvSpPr>
        <p:spPr>
          <a:xfrm>
            <a:off x="622300" y="1638300"/>
            <a:ext cx="10922000" cy="406400"/>
          </a:xfrm>
          <a:prstGeom prst="rect">
            <a:avLst/>
          </a:prstGeom>
          <a:noFill/>
        </p:spPr>
        <p:txBody>
          <a:bodyPr vert="horz" wrap="square" lIns="38100" tIns="25400" rIns="38100" bIns="25400" anchor="t">
            <a:noAutofit/>
          </a:bodyPr>
          <a:lstStyle/>
          <a:p>
            <a:pPr>
              <a:lnSpc>
                <a:spcPts val="2006"/>
              </a:lnSpc>
              <a:buNone/>
            </a:pPr>
            <a:r>
              <a:rPr lang="en-US" altLang="zh-CN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MLE</a:t>
            </a:r>
            <a:r>
              <a:rPr lang="zh-CN" altLang="en-US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：把观测点的密度相乘，寻找最能解释这组样本的参数。</a:t>
            </a:r>
            <a:endParaRPr sz="1700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fig1-mle">
            <a:extLst>
              <a:ext uri="{FF2B5EF4-FFF2-40B4-BE49-F238E27FC236}">
                <a16:creationId xmlns:a16="http://schemas.microsoft.com/office/drawing/2014/main" id="{3F549896-0F81-B81E-3E4D-D1F4CA76133E}"/>
              </a:ext>
            </a:extLst>
          </p:cNvPr>
          <p:cNvSpPr>
            <a:spLocks noGrp="1"/>
          </p:cNvSpPr>
          <p:nvPr/>
        </p:nvSpPr>
        <p:spPr>
          <a:xfrm>
            <a:off x="622300" y="3225800"/>
            <a:ext cx="1841500" cy="838200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MLE 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Fisher · 1922</a:t>
            </a:r>
          </a:p>
        </p:txBody>
      </p:sp>
      <p:sp>
        <p:nvSpPr>
          <p:cNvPr id="20" name="fig1-wmle">
            <a:extLst>
              <a:ext uri="{FF2B5EF4-FFF2-40B4-BE49-F238E27FC236}">
                <a16:creationId xmlns:a16="http://schemas.microsoft.com/office/drawing/2014/main" id="{5416E38E-8E81-E443-7AE9-B716E959045E}"/>
              </a:ext>
            </a:extLst>
          </p:cNvPr>
          <p:cNvSpPr>
            <a:spLocks noGrp="1"/>
          </p:cNvSpPr>
          <p:nvPr/>
        </p:nvSpPr>
        <p:spPr>
          <a:xfrm>
            <a:off x="5003800" y="2209800"/>
            <a:ext cx="2679700" cy="7366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 dirty="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WMLE </a:t>
            </a:r>
            <a:r>
              <a:rPr sz="1400" dirty="0" err="1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加权极大似然估计</a:t>
            </a:r>
            <a:endParaRPr sz="1400" dirty="0">
              <a:solidFill>
                <a:srgbClr val="203040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ts val="1652"/>
              </a:lnSpc>
              <a:buNone/>
            </a:pPr>
            <a:r>
              <a:rPr sz="1400" dirty="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Cousineau · 2009</a:t>
            </a:r>
          </a:p>
        </p:txBody>
      </p:sp>
      <p:sp>
        <p:nvSpPr>
          <p:cNvPr id="21" name="fig1-mmle">
            <a:extLst>
              <a:ext uri="{FF2B5EF4-FFF2-40B4-BE49-F238E27FC236}">
                <a16:creationId xmlns:a16="http://schemas.microsoft.com/office/drawing/2014/main" id="{B3FB964F-6897-E78A-451B-97829A5DD69B}"/>
              </a:ext>
            </a:extLst>
          </p:cNvPr>
          <p:cNvSpPr>
            <a:spLocks noGrp="1"/>
          </p:cNvSpPr>
          <p:nvPr/>
        </p:nvSpPr>
        <p:spPr>
          <a:xfrm>
            <a:off x="5003800" y="3225800"/>
            <a:ext cx="2679700" cy="7366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MMLE 修改极大似然估计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Kundu &amp; Raqab · 2009</a:t>
            </a:r>
          </a:p>
        </p:txBody>
      </p:sp>
      <p:sp>
        <p:nvSpPr>
          <p:cNvPr id="22" name="fig1-solver">
            <a:extLst>
              <a:ext uri="{FF2B5EF4-FFF2-40B4-BE49-F238E27FC236}">
                <a16:creationId xmlns:a16="http://schemas.microsoft.com/office/drawing/2014/main" id="{116337BF-9C34-45F6-B739-96E1382ED323}"/>
              </a:ext>
            </a:extLst>
          </p:cNvPr>
          <p:cNvSpPr>
            <a:spLocks noGrp="1"/>
          </p:cNvSpPr>
          <p:nvPr/>
        </p:nvSpPr>
        <p:spPr>
          <a:xfrm>
            <a:off x="5003800" y="4241800"/>
            <a:ext cx="2679700" cy="736600"/>
          </a:xfrm>
          <a:prstGeom prst="roundRect">
            <a:avLst>
              <a:gd name="adj" fmla="val 7000"/>
            </a:avLst>
          </a:prstGeom>
          <a:solidFill>
            <a:srgbClr val="F4EEDC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lang="zh-CN" altLang="en-US"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其他似然构造</a:t>
            </a:r>
          </a:p>
          <a:p>
            <a:pPr algn="ctr">
              <a:lnSpc>
                <a:spcPts val="1652"/>
              </a:lnSpc>
              <a:buNone/>
            </a:pPr>
            <a:r>
              <a:rPr lang="zh-CN" altLang="en-US"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如</a:t>
            </a:r>
            <a:r>
              <a:rPr lang="en-US"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CMLE（</a:t>
            </a:r>
            <a:r>
              <a:rPr lang="zh-CN" altLang="en-US"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正确似然）</a:t>
            </a:r>
            <a:endParaRPr sz="1400">
              <a:solidFill>
                <a:srgbClr val="20304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fig1-firth">
            <a:extLst>
              <a:ext uri="{FF2B5EF4-FFF2-40B4-BE49-F238E27FC236}">
                <a16:creationId xmlns:a16="http://schemas.microsoft.com/office/drawing/2014/main" id="{516109D5-65F7-7C6F-6EB1-588D61EAE408}"/>
              </a:ext>
            </a:extLst>
          </p:cNvPr>
          <p:cNvSpPr>
            <a:spLocks noGrp="1"/>
          </p:cNvSpPr>
          <p:nvPr/>
        </p:nvSpPr>
        <p:spPr>
          <a:xfrm>
            <a:off x="9321800" y="2209800"/>
            <a:ext cx="2222500" cy="736600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 dirty="0" err="1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得分偏差修正</a:t>
            </a:r>
            <a:endParaRPr sz="1400" dirty="0">
              <a:solidFill>
                <a:srgbClr val="203040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ts val="1652"/>
              </a:lnSpc>
              <a:buNone/>
            </a:pPr>
            <a:r>
              <a:rPr sz="1400" dirty="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Firth · 1993</a:t>
            </a:r>
          </a:p>
        </p:txBody>
      </p:sp>
      <p:sp>
        <p:nvSpPr>
          <p:cNvPr id="24" name="fig1-dmmle">
            <a:extLst>
              <a:ext uri="{FF2B5EF4-FFF2-40B4-BE49-F238E27FC236}">
                <a16:creationId xmlns:a16="http://schemas.microsoft.com/office/drawing/2014/main" id="{2AC304CE-AA20-F1BD-CCDB-C472C745E2BA}"/>
              </a:ext>
            </a:extLst>
          </p:cNvPr>
          <p:cNvSpPr>
            <a:spLocks noGrp="1"/>
          </p:cNvSpPr>
          <p:nvPr/>
        </p:nvSpPr>
        <p:spPr>
          <a:xfrm>
            <a:off x="9321800" y="3225800"/>
            <a:ext cx="2222500" cy="889000"/>
          </a:xfrm>
          <a:prstGeom prst="roundRect">
            <a:avLst>
              <a:gd name="adj" fmla="val 7000"/>
            </a:avLst>
          </a:prstGeom>
          <a:solidFill>
            <a:srgbClr val="EDE9F4"/>
          </a:solidFill>
          <a:ln w="12700">
            <a:solidFill>
              <a:srgbClr val="6375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anchor="ctr">
            <a:noAutofit/>
          </a:bodyPr>
          <a:lstStyle/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DMMLE 双重修改极大似然估计</a:t>
            </a:r>
          </a:p>
          <a:p>
            <a:pPr algn="ctr">
              <a:lnSpc>
                <a:spcPts val="1652"/>
              </a:lnSpc>
              <a:buNone/>
            </a:pPr>
            <a:r>
              <a:rPr sz="1400">
                <a:solidFill>
                  <a:srgbClr val="203040"/>
                </a:solidFill>
                <a:latin typeface="Microsoft YaHei"/>
                <a:ea typeface="Microsoft YaHei"/>
                <a:cs typeface="Microsoft YaHei"/>
              </a:rPr>
              <a:t>da Silva等 · 2025</a:t>
            </a:r>
          </a:p>
        </p:txBody>
      </p:sp>
      <p:sp>
        <p:nvSpPr>
          <p:cNvPr id="25" name="fig1-text_edge1">
            <a:extLst>
              <a:ext uri="{FF2B5EF4-FFF2-40B4-BE49-F238E27FC236}">
                <a16:creationId xmlns:a16="http://schemas.microsoft.com/office/drawing/2014/main" id="{59737199-1D4A-7ABA-8568-245599796836}"/>
              </a:ext>
            </a:extLst>
          </p:cNvPr>
          <p:cNvSpPr>
            <a:spLocks noGrp="1"/>
          </p:cNvSpPr>
          <p:nvPr/>
        </p:nvSpPr>
        <p:spPr>
          <a:xfrm>
            <a:off x="2806700" y="2120900"/>
            <a:ext cx="21082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减小小样本偏差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修正估计方程</a:t>
            </a:r>
          </a:p>
        </p:txBody>
      </p:sp>
      <p:sp>
        <p:nvSpPr>
          <p:cNvPr id="26" name="fig1-text_edge2">
            <a:extLst>
              <a:ext uri="{FF2B5EF4-FFF2-40B4-BE49-F238E27FC236}">
                <a16:creationId xmlns:a16="http://schemas.microsoft.com/office/drawing/2014/main" id="{2293B625-BEC5-3B2A-A86E-9386781AFB81}"/>
              </a:ext>
            </a:extLst>
          </p:cNvPr>
          <p:cNvSpPr>
            <a:spLocks noGrp="1"/>
          </p:cNvSpPr>
          <p:nvPr/>
        </p:nvSpPr>
        <p:spPr>
          <a:xfrm>
            <a:off x="2806700" y="3162300"/>
            <a:ext cx="21082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处理边界奇异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改变似然构造</a:t>
            </a:r>
          </a:p>
        </p:txBody>
      </p:sp>
      <p:sp>
        <p:nvSpPr>
          <p:cNvPr id="27" name="fig1-text_edge5">
            <a:extLst>
              <a:ext uri="{FF2B5EF4-FFF2-40B4-BE49-F238E27FC236}">
                <a16:creationId xmlns:a16="http://schemas.microsoft.com/office/drawing/2014/main" id="{8060B0A7-DA03-DA54-5E73-A07FAB8713B8}"/>
              </a:ext>
            </a:extLst>
          </p:cNvPr>
          <p:cNvSpPr>
            <a:spLocks noGrp="1"/>
          </p:cNvSpPr>
          <p:nvPr/>
        </p:nvSpPr>
        <p:spPr>
          <a:xfrm>
            <a:off x="2806700" y="4152900"/>
            <a:ext cx="21082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lang="zh-CN" altLang="en-US"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从似然定义出发</a:t>
            </a:r>
          </a:p>
          <a:p>
            <a:pPr algn="ctr">
              <a:lnSpc>
                <a:spcPts val="1416"/>
              </a:lnSpc>
              <a:buNone/>
            </a:pPr>
            <a:r>
              <a:rPr lang="zh-CN" altLang="en-US"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处理非正则估计问题</a:t>
            </a:r>
            <a:endParaRPr sz="1200">
              <a:solidFill>
                <a:srgbClr val="30455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fig1-text_edge3">
            <a:extLst>
              <a:ext uri="{FF2B5EF4-FFF2-40B4-BE49-F238E27FC236}">
                <a16:creationId xmlns:a16="http://schemas.microsoft.com/office/drawing/2014/main" id="{1D92B7E6-D647-3717-6D68-A4243B1E4895}"/>
              </a:ext>
            </a:extLst>
          </p:cNvPr>
          <p:cNvSpPr>
            <a:spLocks noGrp="1"/>
          </p:cNvSpPr>
          <p:nvPr/>
        </p:nvSpPr>
        <p:spPr>
          <a:xfrm>
            <a:off x="7747000" y="3124200"/>
            <a:ext cx="1524000" cy="4445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剩余偏差</a:t>
            </a:r>
          </a:p>
          <a:p>
            <a:pPr algn="ctr">
              <a:lnSpc>
                <a:spcPts val="1416"/>
              </a:lnSpc>
              <a:buNone/>
            </a:pPr>
            <a:r>
              <a:rPr sz="12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引入Firth修正</a:t>
            </a:r>
          </a:p>
        </p:txBody>
      </p:sp>
      <p:sp>
        <p:nvSpPr>
          <p:cNvPr id="29" name="fig1-text_edge4">
            <a:extLst>
              <a:ext uri="{FF2B5EF4-FFF2-40B4-BE49-F238E27FC236}">
                <a16:creationId xmlns:a16="http://schemas.microsoft.com/office/drawing/2014/main" id="{A7DDFAD8-0F92-FD68-9A8F-9D08F41C5B79}"/>
              </a:ext>
            </a:extLst>
          </p:cNvPr>
          <p:cNvSpPr>
            <a:spLocks noGrp="1"/>
          </p:cNvSpPr>
          <p:nvPr/>
        </p:nvSpPr>
        <p:spPr>
          <a:xfrm>
            <a:off x="10579100" y="2959100"/>
            <a:ext cx="927100" cy="241300"/>
          </a:xfrm>
          <a:prstGeom prst="rect">
            <a:avLst/>
          </a:prstGeom>
          <a:noFill/>
        </p:spPr>
        <p:txBody>
          <a:bodyPr vert="horz" wrap="square" lIns="38100" tIns="25400" rIns="38100" bIns="25400" anchor="ctr">
            <a:noAutofit/>
          </a:bodyPr>
          <a:lstStyle/>
          <a:p>
            <a:pPr algn="ctr">
              <a:lnSpc>
                <a:spcPts val="1298"/>
              </a:lnSpc>
              <a:buNone/>
            </a:pPr>
            <a:r>
              <a:rPr sz="1100">
                <a:solidFill>
                  <a:srgbClr val="304559"/>
                </a:solidFill>
                <a:latin typeface="Microsoft YaHei"/>
                <a:ea typeface="Microsoft YaHei"/>
                <a:cs typeface="Microsoft YaHei"/>
              </a:rPr>
              <a:t>修正思想</a:t>
            </a:r>
          </a:p>
        </p:txBody>
      </p:sp>
      <p:sp>
        <p:nvSpPr>
          <p:cNvPr id="30" name="panel-description">
            <a:extLst>
              <a:ext uri="{FF2B5EF4-FFF2-40B4-BE49-F238E27FC236}">
                <a16:creationId xmlns:a16="http://schemas.microsoft.com/office/drawing/2014/main" id="{C52DB519-AB17-D781-A557-DC4D1405FE31}"/>
              </a:ext>
            </a:extLst>
          </p:cNvPr>
          <p:cNvSpPr>
            <a:spLocks noGrp="1"/>
          </p:cNvSpPr>
          <p:nvPr/>
        </p:nvSpPr>
        <p:spPr>
          <a:xfrm>
            <a:off x="622300" y="5384800"/>
            <a:ext cx="10922000" cy="609600"/>
          </a:xfrm>
          <a:prstGeom prst="rect">
            <a:avLst/>
          </a:prstGeom>
          <a:noFill/>
        </p:spPr>
        <p:txBody>
          <a:bodyPr vert="horz" wrap="square" lIns="38100" tIns="0" rIns="38100" bIns="0" anchor="t">
            <a:noAutofit/>
          </a:bodyPr>
          <a:lstStyle/>
          <a:p>
            <a:pPr>
              <a:lnSpc>
                <a:spcPts val="2006"/>
              </a:lnSpc>
              <a:buNone/>
            </a:pPr>
            <a:r>
              <a:rPr lang="zh-CN" altLang="en-US" sz="1700">
                <a:solidFill>
                  <a:srgbClr val="2F6096"/>
                </a:solidFill>
                <a:latin typeface="Microsoft YaHei"/>
                <a:ea typeface="Microsoft YaHei"/>
                <a:cs typeface="Microsoft YaHei"/>
              </a:rPr>
              <a:t>小样本偏差 → 权重或得分修正；位置边界困难 → 调整似然构造。</a:t>
            </a:r>
            <a:endParaRPr sz="1700">
              <a:solidFill>
                <a:srgbClr val="2F609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fig1-edge1-1">
            <a:extLst>
              <a:ext uri="{FF2B5EF4-FFF2-40B4-BE49-F238E27FC236}">
                <a16:creationId xmlns:a16="http://schemas.microsoft.com/office/drawing/2014/main" id="{6E92AD90-669A-49E5-901C-E4F838C25B57}"/>
              </a:ext>
            </a:extLst>
          </p:cNvPr>
          <p:cNvSpPr>
            <a:spLocks noGrp="1"/>
          </p:cNvSpPr>
          <p:nvPr/>
        </p:nvSpPr>
        <p:spPr>
          <a:xfrm>
            <a:off x="2463800" y="3378200"/>
            <a:ext cx="2667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3" name="fig1-edge1-2">
            <a:extLst>
              <a:ext uri="{FF2B5EF4-FFF2-40B4-BE49-F238E27FC236}">
                <a16:creationId xmlns:a16="http://schemas.microsoft.com/office/drawing/2014/main" id="{A3E25788-F79D-4275-9D97-514AE73D9FAB}"/>
              </a:ext>
            </a:extLst>
          </p:cNvPr>
          <p:cNvSpPr>
            <a:spLocks noGrp="1"/>
          </p:cNvSpPr>
          <p:nvPr/>
        </p:nvSpPr>
        <p:spPr>
          <a:xfrm flipV="1">
            <a:off x="2730500" y="2578100"/>
            <a:ext cx="0" cy="80010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4" name="fig1-edge1-3">
            <a:extLst>
              <a:ext uri="{FF2B5EF4-FFF2-40B4-BE49-F238E27FC236}">
                <a16:creationId xmlns:a16="http://schemas.microsoft.com/office/drawing/2014/main" id="{D56C5989-3BA1-4DA8-B603-2C65CBEFFF6C}"/>
              </a:ext>
            </a:extLst>
          </p:cNvPr>
          <p:cNvSpPr>
            <a:spLocks noGrp="1"/>
          </p:cNvSpPr>
          <p:nvPr/>
        </p:nvSpPr>
        <p:spPr>
          <a:xfrm>
            <a:off x="2730500" y="2578100"/>
            <a:ext cx="22733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5" name="fig1-edge2-1">
            <a:extLst>
              <a:ext uri="{FF2B5EF4-FFF2-40B4-BE49-F238E27FC236}">
                <a16:creationId xmlns:a16="http://schemas.microsoft.com/office/drawing/2014/main" id="{3B2C1C55-881A-4C6F-9AD2-DCF1EAF5B5EB}"/>
              </a:ext>
            </a:extLst>
          </p:cNvPr>
          <p:cNvSpPr>
            <a:spLocks noGrp="1"/>
          </p:cNvSpPr>
          <p:nvPr/>
        </p:nvSpPr>
        <p:spPr>
          <a:xfrm>
            <a:off x="2463800" y="3644900"/>
            <a:ext cx="25400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6" name="fig1-edge5-1">
            <a:extLst>
              <a:ext uri="{FF2B5EF4-FFF2-40B4-BE49-F238E27FC236}">
                <a16:creationId xmlns:a16="http://schemas.microsoft.com/office/drawing/2014/main" id="{2DA16478-21D8-4B29-9282-8BFE3E738370}"/>
              </a:ext>
            </a:extLst>
          </p:cNvPr>
          <p:cNvSpPr>
            <a:spLocks noGrp="1"/>
          </p:cNvSpPr>
          <p:nvPr/>
        </p:nvSpPr>
        <p:spPr>
          <a:xfrm>
            <a:off x="2463800" y="3911600"/>
            <a:ext cx="266700" cy="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7" name="fig1-edge5-2">
            <a:extLst>
              <a:ext uri="{FF2B5EF4-FFF2-40B4-BE49-F238E27FC236}">
                <a16:creationId xmlns:a16="http://schemas.microsoft.com/office/drawing/2014/main" id="{9F66D62E-AAD0-4433-8535-89EAA8D7FF91}"/>
              </a:ext>
            </a:extLst>
          </p:cNvPr>
          <p:cNvSpPr>
            <a:spLocks noGrp="1"/>
          </p:cNvSpPr>
          <p:nvPr/>
        </p:nvSpPr>
        <p:spPr>
          <a:xfrm>
            <a:off x="2730500" y="3911600"/>
            <a:ext cx="0" cy="698500"/>
          </a:xfrm>
          <a:prstGeom prst="line">
            <a:avLst/>
          </a:prstGeom>
          <a:ln w="16510">
            <a:solidFill>
              <a:srgbClr val="526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8" name="fig1-edge5-3">
            <a:extLst>
              <a:ext uri="{FF2B5EF4-FFF2-40B4-BE49-F238E27FC236}">
                <a16:creationId xmlns:a16="http://schemas.microsoft.com/office/drawing/2014/main" id="{569DA4BF-F3FF-48C1-A1E8-B5A7D2248511}"/>
              </a:ext>
            </a:extLst>
          </p:cNvPr>
          <p:cNvSpPr>
            <a:spLocks noGrp="1"/>
          </p:cNvSpPr>
          <p:nvPr/>
        </p:nvSpPr>
        <p:spPr>
          <a:xfrm>
            <a:off x="2730500" y="4610100"/>
            <a:ext cx="22733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9" name="fig1-edge3-1">
            <a:extLst>
              <a:ext uri="{FF2B5EF4-FFF2-40B4-BE49-F238E27FC236}">
                <a16:creationId xmlns:a16="http://schemas.microsoft.com/office/drawing/2014/main" id="{98BF49C1-30B1-4EA9-91B8-25052B2F7188}"/>
              </a:ext>
            </a:extLst>
          </p:cNvPr>
          <p:cNvSpPr>
            <a:spLocks noGrp="1"/>
          </p:cNvSpPr>
          <p:nvPr/>
        </p:nvSpPr>
        <p:spPr>
          <a:xfrm>
            <a:off x="7683500" y="3594100"/>
            <a:ext cx="1638300" cy="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0" name="fig1-edge4-1">
            <a:extLst>
              <a:ext uri="{FF2B5EF4-FFF2-40B4-BE49-F238E27FC236}">
                <a16:creationId xmlns:a16="http://schemas.microsoft.com/office/drawing/2014/main" id="{1E2AD48F-43FA-489E-B128-DC45DDC8E022}"/>
              </a:ext>
            </a:extLst>
          </p:cNvPr>
          <p:cNvSpPr>
            <a:spLocks noGrp="1"/>
          </p:cNvSpPr>
          <p:nvPr/>
        </p:nvSpPr>
        <p:spPr>
          <a:xfrm>
            <a:off x="10433050" y="2946400"/>
            <a:ext cx="0" cy="279400"/>
          </a:xfrm>
          <a:prstGeom prst="line">
            <a:avLst/>
          </a:prstGeom>
          <a:ln w="16510">
            <a:solidFill>
              <a:srgbClr val="52677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6457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lang="en-US" altLang="zh-CN" sz="240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B  </a:t>
            </a:r>
            <a:r>
              <a:rPr lang="zh-CN" altLang="en-US" sz="240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概率图路线：</a:t>
            </a:r>
            <a:endParaRPr sz="2400" b="1" spc="-150" dirty="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参数估计方法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02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6152326B-ED50-38A4-22CA-E25E97C82B82}"/>
              </a:ext>
            </a:extLst>
          </p:cNvPr>
          <p:cNvSpPr txBox="1"/>
          <p:nvPr/>
        </p:nvSpPr>
        <p:spPr>
          <a:xfrm>
            <a:off x="508000" y="1574800"/>
            <a:ext cx="11176000" cy="355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900" b="1" dirty="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共同基础：</a:t>
            </a:r>
            <a:r>
              <a:rPr lang="en-US" altLang="zh-CN" sz="1900" b="1" dirty="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Weibull</a:t>
            </a:r>
            <a:r>
              <a:rPr lang="zh-CN" altLang="en-US" sz="1900" b="1" dirty="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线性化 → 概率图 → 用最小二乘拟合直线（</a:t>
            </a:r>
            <a:r>
              <a:rPr lang="en-US" altLang="zh-CN" sz="1900" b="1" dirty="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LS</a:t>
            </a:r>
            <a:r>
              <a:rPr lang="zh-CN" altLang="en-US" sz="1900" b="1" dirty="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9E6BCF96-7688-3F9D-5206-098317E32476}"/>
              </a:ext>
            </a:extLst>
          </p:cNvPr>
          <p:cNvSpPr txBox="1"/>
          <p:nvPr/>
        </p:nvSpPr>
        <p:spPr>
          <a:xfrm>
            <a:off x="508000" y="2006600"/>
            <a:ext cx="11176000" cy="3429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sz="19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 = ln(t − </a:t>
            </a:r>
            <a:r>
              <a:rPr lang="el-GR" altLang="zh-CN" sz="19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γ)</a:t>
            </a:r>
            <a:r>
              <a:rPr lang="zh-CN" altLang="el-GR" sz="19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9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 = ln[−ln(1 − p)]</a:t>
            </a:r>
            <a:r>
              <a:rPr lang="zh-CN" altLang="en-US" sz="19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9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 = </a:t>
            </a:r>
            <a:r>
              <a:rPr lang="el-GR" altLang="zh-CN" sz="19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en-US" altLang="zh-CN" sz="19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 − </a:t>
            </a:r>
            <a:r>
              <a:rPr lang="el-GR" altLang="zh-CN" sz="19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en-US" altLang="zh-CN" sz="19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ln</a:t>
            </a:r>
            <a:r>
              <a:rPr lang="el-GR" altLang="zh-CN" sz="19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</a:t>
            </a:r>
            <a:endParaRPr lang="zh-CN" altLang="en-US" sz="19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66E04888-3C5B-C944-7808-6E617C4C596D}"/>
              </a:ext>
            </a:extLst>
          </p:cNvPr>
          <p:cNvSpPr txBox="1"/>
          <p:nvPr/>
        </p:nvSpPr>
        <p:spPr>
          <a:xfrm>
            <a:off x="508000" y="2425700"/>
            <a:ext cx="11176000" cy="304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6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二参数</a:t>
            </a:r>
            <a:r>
              <a:rPr lang="en-US" altLang="zh-CN" sz="16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</a:t>
            </a:r>
            <a:r>
              <a:rPr lang="zh-CN" altLang="en-US" sz="16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已知；三参数</a:t>
            </a:r>
            <a:r>
              <a:rPr lang="en-US" altLang="zh-CN" sz="16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</a:t>
            </a:r>
            <a:r>
              <a:rPr lang="zh-CN" altLang="en-US" sz="16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未知，新增的关键是位置参数如何求解。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0971DA41-1EBE-11F9-33DF-28F0F08BAE45}"/>
              </a:ext>
            </a:extLst>
          </p:cNvPr>
          <p:cNvSpPr txBox="1"/>
          <p:nvPr/>
        </p:nvSpPr>
        <p:spPr>
          <a:xfrm>
            <a:off x="508000" y="3060700"/>
            <a:ext cx="2425700" cy="635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传统</a:t>
            </a:r>
            <a:r>
              <a:rPr lang="en-US" altLang="zh-CN" sz="15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LS</a:t>
            </a:r>
            <a:r>
              <a:rPr lang="zh-CN" altLang="en-US" sz="15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的三参数扩展</a:t>
            </a:r>
          </a:p>
          <a:p>
            <a:r>
              <a:rPr lang="en-US" altLang="zh-CN" sz="15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White → S–M</a:t>
            </a:r>
            <a:r>
              <a:rPr lang="zh-CN" altLang="en-US" sz="15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5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1992</a:t>
            </a:r>
            <a:r>
              <a:rPr lang="zh-CN" altLang="en-US" sz="15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0A67BF1C-CD86-388A-A081-FA2802F9BC75}"/>
              </a:ext>
            </a:extLst>
          </p:cNvPr>
          <p:cNvSpPr/>
          <p:nvPr/>
        </p:nvSpPr>
        <p:spPr>
          <a:xfrm>
            <a:off x="3124200" y="2971800"/>
            <a:ext cx="2463800" cy="77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试一个</a:t>
            </a:r>
            <a:r>
              <a:rPr lang="en-US" altLang="zh-CN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做最小二乘</a:t>
            </a: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757EF92C-C1E9-4674-5082-2B944D84CA6C}"/>
              </a:ext>
            </a:extLst>
          </p:cNvPr>
          <p:cNvCxnSpPr/>
          <p:nvPr/>
        </p:nvCxnSpPr>
        <p:spPr>
          <a:xfrm>
            <a:off x="5588000" y="3352800"/>
            <a:ext cx="381000" cy="0"/>
          </a:xfrm>
          <a:prstGeom prst="line">
            <a:avLst/>
          </a:prstGeom>
          <a:ln w="1651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>
            <a:extLst>
              <a:ext uri="{FF2B5EF4-FFF2-40B4-BE49-F238E27FC236}">
                <a16:creationId xmlns:a16="http://schemas.microsoft.com/office/drawing/2014/main" id="{60B1398A-0E1B-0684-90A7-C4C55282E195}"/>
              </a:ext>
            </a:extLst>
          </p:cNvPr>
          <p:cNvSpPr/>
          <p:nvPr/>
        </p:nvSpPr>
        <p:spPr>
          <a:xfrm>
            <a:off x="5969000" y="2971800"/>
            <a:ext cx="2463800" cy="77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</a:t>
            </a:r>
            <a:r>
              <a:rPr lang="en-US" altLang="zh-CN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</a:t>
            </a: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换</a:t>
            </a:r>
            <a:r>
              <a:rPr lang="en-US" altLang="zh-CN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</a:t>
            </a:r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重复比较</a:t>
            </a:r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4F695671-F340-BFDF-FA86-E17244847B2A}"/>
              </a:ext>
            </a:extLst>
          </p:cNvPr>
          <p:cNvCxnSpPr/>
          <p:nvPr/>
        </p:nvCxnSpPr>
        <p:spPr>
          <a:xfrm>
            <a:off x="8432800" y="3352800"/>
            <a:ext cx="381000" cy="0"/>
          </a:xfrm>
          <a:prstGeom prst="line">
            <a:avLst/>
          </a:prstGeom>
          <a:ln w="1651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D11149B4-205A-E547-5ED2-0A19BF61CAFA}"/>
              </a:ext>
            </a:extLst>
          </p:cNvPr>
          <p:cNvSpPr/>
          <p:nvPr/>
        </p:nvSpPr>
        <p:spPr>
          <a:xfrm>
            <a:off x="8813800" y="2971800"/>
            <a:ext cx="2870200" cy="77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取</a:t>
            </a:r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比最大的</a:t>
            </a:r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</a:t>
            </a:r>
          </a:p>
          <a:p>
            <a:pPr algn="ctr"/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保留对应</a:t>
            </a:r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</a:t>
            </a:r>
            <a:endParaRPr lang="zh-CN" altLang="en-US" sz="15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C4C8BFC1-33B3-F667-C9AE-4212FC6DFC5A}"/>
              </a:ext>
            </a:extLst>
          </p:cNvPr>
          <p:cNvSpPr txBox="1"/>
          <p:nvPr/>
        </p:nvSpPr>
        <p:spPr>
          <a:xfrm>
            <a:off x="508000" y="4216400"/>
            <a:ext cx="2425700" cy="635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LRE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：联立回归求解</a:t>
            </a:r>
          </a:p>
          <a:p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Li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1994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67FCED1E-3FD5-930A-312A-DE9413A9DB5C}"/>
              </a:ext>
            </a:extLst>
          </p:cNvPr>
          <p:cNvSpPr/>
          <p:nvPr/>
        </p:nvSpPr>
        <p:spPr>
          <a:xfrm>
            <a:off x="3124200" y="4127500"/>
            <a:ext cx="2463800" cy="77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给定</a:t>
            </a:r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 → </a:t>
            </a:r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回归求</a:t>
            </a:r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</a:t>
            </a:r>
          </a:p>
          <a:p>
            <a:pPr algn="ctr"/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 = g₂(β)</a:t>
            </a:r>
            <a:endParaRPr lang="zh-CN" altLang="en-US" sz="15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0FC212E5-0F17-8F9F-8B8C-077F793B50FF}"/>
              </a:ext>
            </a:extLst>
          </p:cNvPr>
          <p:cNvCxnSpPr/>
          <p:nvPr/>
        </p:nvCxnSpPr>
        <p:spPr>
          <a:xfrm>
            <a:off x="5588000" y="4508500"/>
            <a:ext cx="381000" cy="0"/>
          </a:xfrm>
          <a:prstGeom prst="line">
            <a:avLst/>
          </a:prstGeom>
          <a:ln w="1651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>
            <a:extLst>
              <a:ext uri="{FF2B5EF4-FFF2-40B4-BE49-F238E27FC236}">
                <a16:creationId xmlns:a16="http://schemas.microsoft.com/office/drawing/2014/main" id="{32F33945-09F8-EC3E-EE93-AA105BD7DD89}"/>
              </a:ext>
            </a:extLst>
          </p:cNvPr>
          <p:cNvSpPr/>
          <p:nvPr/>
        </p:nvSpPr>
        <p:spPr>
          <a:xfrm>
            <a:off x="5969000" y="4127500"/>
            <a:ext cx="2463800" cy="77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给定</a:t>
            </a:r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 → </a:t>
            </a:r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回归求</a:t>
            </a:r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β′</a:t>
            </a:r>
          </a:p>
          <a:p>
            <a:pPr algn="ctr"/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β′ = g₁(γ)</a:t>
            </a:r>
            <a:endParaRPr lang="zh-CN" altLang="en-US" sz="15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A294FDAD-8694-0489-A989-9BBFD7B28C0D}"/>
              </a:ext>
            </a:extLst>
          </p:cNvPr>
          <p:cNvCxnSpPr/>
          <p:nvPr/>
        </p:nvCxnSpPr>
        <p:spPr>
          <a:xfrm>
            <a:off x="8432800" y="4508500"/>
            <a:ext cx="381000" cy="0"/>
          </a:xfrm>
          <a:prstGeom prst="line">
            <a:avLst/>
          </a:prstGeom>
          <a:ln w="1651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 86">
            <a:extLst>
              <a:ext uri="{FF2B5EF4-FFF2-40B4-BE49-F238E27FC236}">
                <a16:creationId xmlns:a16="http://schemas.microsoft.com/office/drawing/2014/main" id="{D5DC7E28-E9B4-BB04-B0F5-57D16F2F71B8}"/>
              </a:ext>
            </a:extLst>
          </p:cNvPr>
          <p:cNvSpPr/>
          <p:nvPr/>
        </p:nvSpPr>
        <p:spPr>
          <a:xfrm>
            <a:off x="8813800" y="4127500"/>
            <a:ext cx="2870200" cy="77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收缩</a:t>
            </a:r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区间，使</a:t>
            </a:r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β′≈β</a:t>
            </a:r>
          </a:p>
          <a:p>
            <a:pPr algn="ctr"/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得到自洽解，再求</a:t>
            </a:r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</a:t>
            </a:r>
            <a:endParaRPr lang="zh-CN" altLang="en-US" sz="15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B2EABAD3-4FD5-DC45-8DA6-28EA74AD3F83}"/>
              </a:ext>
            </a:extLst>
          </p:cNvPr>
          <p:cNvSpPr txBox="1"/>
          <p:nvPr/>
        </p:nvSpPr>
        <p:spPr>
          <a:xfrm>
            <a:off x="508000" y="5372100"/>
            <a:ext cx="2425700" cy="635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LRE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：相关系数定位</a:t>
            </a:r>
          </a:p>
          <a:p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Park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2017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F6CE6CF8-C87F-0951-818F-E7E640D93267}"/>
              </a:ext>
            </a:extLst>
          </p:cNvPr>
          <p:cNvSpPr/>
          <p:nvPr/>
        </p:nvSpPr>
        <p:spPr>
          <a:xfrm>
            <a:off x="3124200" y="5283200"/>
            <a:ext cx="2463800" cy="77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改变</a:t>
            </a:r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</a:t>
            </a:r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，计算</a:t>
            </a:r>
          </a:p>
          <a:p>
            <a:pPr algn="ctr"/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概率图相关系数</a:t>
            </a:r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R(γ)</a:t>
            </a:r>
            <a:endParaRPr lang="zh-CN" altLang="en-US" sz="15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0141A479-9517-B6C9-BF62-F4674E5AD290}"/>
              </a:ext>
            </a:extLst>
          </p:cNvPr>
          <p:cNvCxnSpPr/>
          <p:nvPr/>
        </p:nvCxnSpPr>
        <p:spPr>
          <a:xfrm>
            <a:off x="5588000" y="5664200"/>
            <a:ext cx="381000" cy="0"/>
          </a:xfrm>
          <a:prstGeom prst="line">
            <a:avLst/>
          </a:prstGeom>
          <a:ln w="1651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 90">
            <a:extLst>
              <a:ext uri="{FF2B5EF4-FFF2-40B4-BE49-F238E27FC236}">
                <a16:creationId xmlns:a16="http://schemas.microsoft.com/office/drawing/2014/main" id="{5D6015A4-4E39-E6C6-044C-0B05FFEEF4C3}"/>
              </a:ext>
            </a:extLst>
          </p:cNvPr>
          <p:cNvSpPr/>
          <p:nvPr/>
        </p:nvSpPr>
        <p:spPr>
          <a:xfrm>
            <a:off x="5969000" y="5283200"/>
            <a:ext cx="2463800" cy="77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最大化</a:t>
            </a:r>
            <a:r>
              <a:rPr lang="en-US" altLang="zh-CN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R(</a:t>
            </a:r>
            <a:r>
              <a:rPr lang="el-GR" altLang="zh-CN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γ)</a:t>
            </a:r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</a:t>
            </a:r>
            <a:endParaRPr lang="el-GR" altLang="zh-CN" sz="1500" dirty="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CN" altLang="en-US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计算确定位置</a:t>
            </a:r>
            <a:r>
              <a:rPr lang="el-GR" altLang="zh-CN" sz="15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</a:t>
            </a:r>
            <a:endParaRPr lang="zh-CN" altLang="en-US" sz="1500" dirty="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22A91A1C-C97C-C48F-3089-ABF8ED57A527}"/>
              </a:ext>
            </a:extLst>
          </p:cNvPr>
          <p:cNvCxnSpPr/>
          <p:nvPr/>
        </p:nvCxnSpPr>
        <p:spPr>
          <a:xfrm>
            <a:off x="8432800" y="5664200"/>
            <a:ext cx="381000" cy="0"/>
          </a:xfrm>
          <a:prstGeom prst="line">
            <a:avLst/>
          </a:prstGeom>
          <a:ln w="1651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矩形 92">
            <a:extLst>
              <a:ext uri="{FF2B5EF4-FFF2-40B4-BE49-F238E27FC236}">
                <a16:creationId xmlns:a16="http://schemas.microsoft.com/office/drawing/2014/main" id="{066561D2-A3CE-42E0-2E55-A705758E76E3}"/>
              </a:ext>
            </a:extLst>
          </p:cNvPr>
          <p:cNvSpPr/>
          <p:nvPr/>
        </p:nvSpPr>
        <p:spPr>
          <a:xfrm>
            <a:off x="8813800" y="5283200"/>
            <a:ext cx="2870200" cy="77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再回归 </a:t>
            </a:r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 = a + bx</a:t>
            </a:r>
          </a:p>
          <a:p>
            <a:pPr algn="ctr"/>
            <a:r>
              <a:rPr lang="el-GR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 = </a:t>
            </a:r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l-GR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 = </a:t>
            </a:r>
            <a:r>
              <a:rPr lang="en-US" altLang="zh-CN" sz="15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exp(−a/b)</a:t>
            </a:r>
            <a:endParaRPr lang="zh-CN" altLang="en-US" sz="15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55287CA1-5B59-1657-BD2D-B3053BA2D307}"/>
              </a:ext>
            </a:extLst>
          </p:cNvPr>
          <p:cNvSpPr txBox="1"/>
          <p:nvPr/>
        </p:nvSpPr>
        <p:spPr>
          <a:xfrm>
            <a:off x="508000" y="6159500"/>
            <a:ext cx="111760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endParaRPr lang="zh-CN" altLang="en-US" sz="1350" b="1" dirty="0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7631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lang="en-US" altLang="zh-CN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C  </a:t>
            </a:r>
            <a:r>
              <a:rPr lang="zh-CN" altLang="en-US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统计量与构造准则：让什么量满足什么条件？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参数估计方法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02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1083F93-324F-4BD2-0D98-5E864C7BED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091779"/>
              </p:ext>
            </p:extLst>
          </p:nvPr>
        </p:nvGraphicFramePr>
        <p:xfrm>
          <a:off x="609600" y="1879600"/>
          <a:ext cx="10972800" cy="384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5800">
                  <a:extLst>
                    <a:ext uri="{9D8B030D-6E8A-4147-A177-3AD203B41FA5}">
                      <a16:colId xmlns:a16="http://schemas.microsoft.com/office/drawing/2014/main" val="122427032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546597449"/>
                    </a:ext>
                  </a:extLst>
                </a:gridCol>
                <a:gridCol w="4089400">
                  <a:extLst>
                    <a:ext uri="{9D8B030D-6E8A-4147-A177-3AD203B41FA5}">
                      <a16:colId xmlns:a16="http://schemas.microsoft.com/office/drawing/2014/main" val="1231782647"/>
                    </a:ext>
                  </a:extLst>
                </a:gridCol>
              </a:tblGrid>
              <a:tr h="9620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构造什么量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用什么条件确定参数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461993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矩／概率加权矩／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矩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PWM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LM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样本矩、概率加权矩或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矩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样本统计量与理论值匹配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用统计特征约束参数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782973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最大乘积间距（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MPS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Cheng &amp; Amin · 1983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相邻排序观测在</a:t>
                      </a:r>
                      <a:r>
                        <a:rPr lang="en-US" altLang="zh-CN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CDF</a:t>
                      </a:r>
                      <a:r>
                        <a:rPr lang="zh-CN" altLang="en-US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上的概率间隔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最大化各间隔的乘积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惩罚接近零的概率间隔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366738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最小差异法（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MDM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Xie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等 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· 2022/2023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由每个观测和绘图概率反推的尺度值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最小化尺度伪估计的差异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407294"/>
                  </a:ext>
                </a:extLst>
              </a:tr>
            </a:tbl>
          </a:graphicData>
        </a:graphic>
      </p:graphicFrame>
      <p:sp>
        <p:nvSpPr>
          <p:cNvPr id="11" name="讲解-11">
            <a:extLst>
              <a:ext uri="{FF2B5EF4-FFF2-40B4-BE49-F238E27FC236}">
                <a16:creationId xmlns:a16="http://schemas.microsoft.com/office/drawing/2014/main" id="{E903A833-96C3-48C9-B0F1-64956B1B4B4E}"/>
              </a:ext>
            </a:extLst>
          </p:cNvPr>
          <p:cNvSpPr txBox="1"/>
          <p:nvPr/>
        </p:nvSpPr>
        <p:spPr>
          <a:xfrm>
            <a:off x="609600" y="6019800"/>
            <a:ext cx="10972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三种依据：统计量匹配、概率间距、尺度一致性。</a:t>
            </a:r>
          </a:p>
        </p:txBody>
      </p:sp>
    </p:spTree>
    <p:extLst>
      <p:ext uri="{BB962C8B-B14F-4D97-AF65-F5344CB8AC3E}">
        <p14:creationId xmlns:p14="http://schemas.microsoft.com/office/powerpoint/2010/main" val="3007810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lang="en-US" altLang="zh-CN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D  </a:t>
            </a:r>
            <a:r>
              <a:rPr lang="zh-CN" altLang="en-US"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组合与学习：交替更新参数，或学习参数映射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参数估计方法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02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3" name="讲解-43">
            <a:extLst>
              <a:ext uri="{FF2B5EF4-FFF2-40B4-BE49-F238E27FC236}">
                <a16:creationId xmlns:a16="http://schemas.microsoft.com/office/drawing/2014/main" id="{20AF8012-D777-0AEE-7A0A-789A925436EB}"/>
              </a:ext>
            </a:extLst>
          </p:cNvPr>
          <p:cNvSpPr txBox="1"/>
          <p:nvPr/>
        </p:nvSpPr>
        <p:spPr>
          <a:xfrm>
            <a:off x="609600" y="16510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最小观测值通常高于分布起点：先修正位置，再更新形状和尺度。</a:t>
            </a:r>
          </a:p>
        </p:txBody>
      </p:sp>
      <p:sp>
        <p:nvSpPr>
          <p:cNvPr id="44" name="讲解-44">
            <a:extLst>
              <a:ext uri="{FF2B5EF4-FFF2-40B4-BE49-F238E27FC236}">
                <a16:creationId xmlns:a16="http://schemas.microsoft.com/office/drawing/2014/main" id="{C6CA318E-0F11-9BA1-4DDA-78DDB183C0DD}"/>
              </a:ext>
            </a:extLst>
          </p:cNvPr>
          <p:cNvSpPr txBox="1"/>
          <p:nvPr/>
        </p:nvSpPr>
        <p:spPr>
          <a:xfrm>
            <a:off x="609600" y="2260600"/>
            <a:ext cx="4635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逐次逼近（</a:t>
            </a:r>
            <a:r>
              <a:rPr lang="en-US" altLang="zh-CN" sz="1700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SAM</a:t>
            </a:r>
            <a:r>
              <a:rPr lang="zh-CN" altLang="en-US" sz="1700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）｜</a:t>
            </a:r>
            <a:r>
              <a:rPr lang="en-US" altLang="zh-CN" sz="1700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Guo</a:t>
            </a:r>
            <a:r>
              <a:rPr lang="zh-CN" altLang="en-US" sz="1700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 </a:t>
            </a:r>
            <a:r>
              <a:rPr lang="en-US" altLang="zh-CN" sz="1700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2023</a:t>
            </a:r>
            <a:endParaRPr lang="zh-CN" altLang="en-US" sz="1700" b="1" dirty="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D895765-A9E6-BD13-35B9-8BAAED07732A}"/>
              </a:ext>
            </a:extLst>
          </p:cNvPr>
          <p:cNvSpPr/>
          <p:nvPr/>
        </p:nvSpPr>
        <p:spPr>
          <a:xfrm>
            <a:off x="609600" y="2743200"/>
            <a:ext cx="3111500" cy="711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最小值期望关系</a:t>
            </a:r>
          </a:p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修正位置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A0DD4E6-6881-6067-8798-7FA18BAEF551}"/>
              </a:ext>
            </a:extLst>
          </p:cNvPr>
          <p:cNvSpPr/>
          <p:nvPr/>
        </p:nvSpPr>
        <p:spPr>
          <a:xfrm>
            <a:off x="4521200" y="2743200"/>
            <a:ext cx="3111500" cy="711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概率图回归</a:t>
            </a:r>
          </a:p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更新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9C34FC9-BCFA-FBB0-932A-BF6085F9470D}"/>
              </a:ext>
            </a:extLst>
          </p:cNvPr>
          <p:cNvSpPr/>
          <p:nvPr/>
        </p:nvSpPr>
        <p:spPr>
          <a:xfrm>
            <a:off x="8432800" y="2743200"/>
            <a:ext cx="3149600" cy="711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重复至参数稳定</a:t>
            </a: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4594C6DB-EB2E-0A34-21CB-484B3E0E1E65}"/>
              </a:ext>
            </a:extLst>
          </p:cNvPr>
          <p:cNvCxnSpPr/>
          <p:nvPr/>
        </p:nvCxnSpPr>
        <p:spPr>
          <a:xfrm>
            <a:off x="3721100" y="3098800"/>
            <a:ext cx="8001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E137AAD1-1BFC-5C7D-380C-9B89F1126775}"/>
              </a:ext>
            </a:extLst>
          </p:cNvPr>
          <p:cNvCxnSpPr/>
          <p:nvPr/>
        </p:nvCxnSpPr>
        <p:spPr>
          <a:xfrm>
            <a:off x="7632700" y="3098800"/>
            <a:ext cx="8001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讲解-50">
            <a:extLst>
              <a:ext uri="{FF2B5EF4-FFF2-40B4-BE49-F238E27FC236}">
                <a16:creationId xmlns:a16="http://schemas.microsoft.com/office/drawing/2014/main" id="{666FAB35-34BF-ABD8-5543-D7273D9D535B}"/>
              </a:ext>
            </a:extLst>
          </p:cNvPr>
          <p:cNvSpPr txBox="1"/>
          <p:nvPr/>
        </p:nvSpPr>
        <p:spPr>
          <a:xfrm>
            <a:off x="609600" y="3708400"/>
            <a:ext cx="825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位置修正逐次逼近（</a:t>
            </a:r>
            <a:r>
              <a:rPr lang="en-US" altLang="zh-CN" sz="1700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PM</a:t>
            </a:r>
            <a:r>
              <a:rPr lang="zh-CN" altLang="en-US" sz="1700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）｜</a:t>
            </a:r>
            <a:r>
              <a:rPr lang="en-US" altLang="zh-CN" sz="1700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Guo</a:t>
            </a:r>
            <a:r>
              <a:rPr lang="zh-CN" altLang="en-US" sz="1700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 </a:t>
            </a:r>
            <a:r>
              <a:rPr lang="en-US" altLang="zh-CN" sz="1700" b="1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2024</a:t>
            </a:r>
            <a:endParaRPr lang="zh-CN" altLang="en-US" sz="1700" b="1" dirty="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E7D6D91-9B9C-F2EF-3FFA-A0B2D0877F4A}"/>
              </a:ext>
            </a:extLst>
          </p:cNvPr>
          <p:cNvSpPr/>
          <p:nvPr/>
        </p:nvSpPr>
        <p:spPr>
          <a:xfrm>
            <a:off x="609600" y="4191000"/>
            <a:ext cx="3111500" cy="711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最小值中位数关系</a:t>
            </a:r>
          </a:p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修正位置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33F958F-997A-F5F6-D96E-1B303955B98E}"/>
              </a:ext>
            </a:extLst>
          </p:cNvPr>
          <p:cNvSpPr/>
          <p:nvPr/>
        </p:nvSpPr>
        <p:spPr>
          <a:xfrm>
            <a:off x="4521200" y="4191000"/>
            <a:ext cx="3111500" cy="711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条件似然</a:t>
            </a:r>
          </a:p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更新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5EB5BC8-3A76-5816-8653-A84C56DF9019}"/>
              </a:ext>
            </a:extLst>
          </p:cNvPr>
          <p:cNvSpPr/>
          <p:nvPr/>
        </p:nvSpPr>
        <p:spPr>
          <a:xfrm>
            <a:off x="8432800" y="4191000"/>
            <a:ext cx="3149600" cy="7112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重复至参数稳定</a:t>
            </a: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458DE0BE-E47E-DADC-39CB-2A9C825CE4D1}"/>
              </a:ext>
            </a:extLst>
          </p:cNvPr>
          <p:cNvCxnSpPr/>
          <p:nvPr/>
        </p:nvCxnSpPr>
        <p:spPr>
          <a:xfrm>
            <a:off x="3721100" y="4546600"/>
            <a:ext cx="8001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C9FECA9C-EB4A-27CE-9B8A-E23C2DB2F1F1}"/>
              </a:ext>
            </a:extLst>
          </p:cNvPr>
          <p:cNvCxnSpPr/>
          <p:nvPr/>
        </p:nvCxnSpPr>
        <p:spPr>
          <a:xfrm>
            <a:off x="7632700" y="4546600"/>
            <a:ext cx="8001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讲解-56">
            <a:extLst>
              <a:ext uri="{FF2B5EF4-FFF2-40B4-BE49-F238E27FC236}">
                <a16:creationId xmlns:a16="http://schemas.microsoft.com/office/drawing/2014/main" id="{186C46B9-4F71-5CAC-7F76-2A94028C12FD}"/>
              </a:ext>
            </a:extLst>
          </p:cNvPr>
          <p:cNvSpPr txBox="1"/>
          <p:nvPr/>
        </p:nvSpPr>
        <p:spPr>
          <a:xfrm>
            <a:off x="609600" y="53721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LSPF</a:t>
            </a:r>
            <a:r>
              <a:rPr lang="zh-CN" altLang="en-US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：消除位置、尺度影响 → 估计形状 → 恢复其余参数</a:t>
            </a:r>
          </a:p>
        </p:txBody>
      </p:sp>
      <p:sp>
        <p:nvSpPr>
          <p:cNvPr id="57" name="讲解-57">
            <a:extLst>
              <a:ext uri="{FF2B5EF4-FFF2-40B4-BE49-F238E27FC236}">
                <a16:creationId xmlns:a16="http://schemas.microsoft.com/office/drawing/2014/main" id="{FD351DDB-474E-D16E-90CB-1DDE28507A63}"/>
              </a:ext>
            </a:extLst>
          </p:cNvPr>
          <p:cNvSpPr txBox="1"/>
          <p:nvPr/>
        </p:nvSpPr>
        <p:spPr>
          <a:xfrm>
            <a:off x="609600" y="59309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BPNN</a:t>
            </a:r>
            <a:r>
              <a:rPr lang="zh-CN" altLang="en-US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：模拟样本＋已知参数训练 → 从样本特征直接输出参数</a:t>
            </a:r>
          </a:p>
        </p:txBody>
      </p:sp>
    </p:spTree>
    <p:extLst>
      <p:ext uri="{BB962C8B-B14F-4D97-AF65-F5344CB8AC3E}">
        <p14:creationId xmlns:p14="http://schemas.microsoft.com/office/powerpoint/2010/main" val="117705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en-US" altLang="zh-CN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12</a:t>
            </a: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篇论文实际选择了哪些对照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文献怎样选择比较对象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03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822FB5B6-7794-FA5F-1CAC-42E29B7CBBBB}"/>
              </a:ext>
            </a:extLst>
          </p:cNvPr>
          <p:cNvSpPr txBox="1"/>
          <p:nvPr/>
        </p:nvSpPr>
        <p:spPr>
          <a:xfrm>
            <a:off x="609600" y="1536700"/>
            <a:ext cx="109728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7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MLE</a:t>
            </a:r>
            <a:r>
              <a:rPr lang="zh-CN" altLang="en-US" sz="17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出现</a:t>
            </a:r>
            <a:r>
              <a:rPr lang="en-US" altLang="zh-CN" sz="17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en-US" sz="17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篇，相关回归路线出现</a:t>
            </a:r>
            <a:r>
              <a:rPr lang="en-US" altLang="zh-CN" sz="17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sz="1700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篇；经典方法仍是常见参照。</a:t>
            </a: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CB029EDA-F941-FD15-CD23-D6B79CADAA47}"/>
              </a:ext>
            </a:extLst>
          </p:cNvPr>
          <p:cNvSpPr/>
          <p:nvPr/>
        </p:nvSpPr>
        <p:spPr>
          <a:xfrm>
            <a:off x="4064000" y="2032000"/>
            <a:ext cx="7721600" cy="276860"/>
          </a:xfrm>
          <a:prstGeom prst="rect">
            <a:avLst/>
          </a:prstGeom>
          <a:solidFill>
            <a:srgbClr val="F1F5F7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椭圆 191">
            <a:extLst>
              <a:ext uri="{FF2B5EF4-FFF2-40B4-BE49-F238E27FC236}">
                <a16:creationId xmlns:a16="http://schemas.microsoft.com/office/drawing/2014/main" id="{16DBA23C-045E-A585-AC76-C7C9F564C027}"/>
              </a:ext>
            </a:extLst>
          </p:cNvPr>
          <p:cNvSpPr/>
          <p:nvPr/>
        </p:nvSpPr>
        <p:spPr>
          <a:xfrm>
            <a:off x="4325408" y="211010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椭圆 192">
            <a:extLst>
              <a:ext uri="{FF2B5EF4-FFF2-40B4-BE49-F238E27FC236}">
                <a16:creationId xmlns:a16="http://schemas.microsoft.com/office/drawing/2014/main" id="{E2520C3E-BC14-5633-2A48-A48FFD0A2252}"/>
              </a:ext>
            </a:extLst>
          </p:cNvPr>
          <p:cNvSpPr/>
          <p:nvPr/>
        </p:nvSpPr>
        <p:spPr>
          <a:xfrm>
            <a:off x="5612342" y="211010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椭圆 194">
            <a:extLst>
              <a:ext uri="{FF2B5EF4-FFF2-40B4-BE49-F238E27FC236}">
                <a16:creationId xmlns:a16="http://schemas.microsoft.com/office/drawing/2014/main" id="{E4ED373D-75FE-2AC1-8BDB-43551BAC3FB3}"/>
              </a:ext>
            </a:extLst>
          </p:cNvPr>
          <p:cNvSpPr/>
          <p:nvPr/>
        </p:nvSpPr>
        <p:spPr>
          <a:xfrm>
            <a:off x="5612342" y="238696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B5E73185-90AD-DF40-6C1F-D65E4A434BED}"/>
              </a:ext>
            </a:extLst>
          </p:cNvPr>
          <p:cNvSpPr/>
          <p:nvPr/>
        </p:nvSpPr>
        <p:spPr>
          <a:xfrm>
            <a:off x="4064000" y="2585720"/>
            <a:ext cx="7721600" cy="276860"/>
          </a:xfrm>
          <a:prstGeom prst="rect">
            <a:avLst/>
          </a:prstGeom>
          <a:solidFill>
            <a:srgbClr val="F1F5F7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椭圆 197">
            <a:extLst>
              <a:ext uri="{FF2B5EF4-FFF2-40B4-BE49-F238E27FC236}">
                <a16:creationId xmlns:a16="http://schemas.microsoft.com/office/drawing/2014/main" id="{CC74500D-00B5-8CC8-9093-D47737855897}"/>
              </a:ext>
            </a:extLst>
          </p:cNvPr>
          <p:cNvSpPr/>
          <p:nvPr/>
        </p:nvSpPr>
        <p:spPr>
          <a:xfrm>
            <a:off x="4325408" y="266382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椭圆 199">
            <a:extLst>
              <a:ext uri="{FF2B5EF4-FFF2-40B4-BE49-F238E27FC236}">
                <a16:creationId xmlns:a16="http://schemas.microsoft.com/office/drawing/2014/main" id="{D7DFD2E1-526C-3E4A-3265-0BBBD322BADE}"/>
              </a:ext>
            </a:extLst>
          </p:cNvPr>
          <p:cNvSpPr/>
          <p:nvPr/>
        </p:nvSpPr>
        <p:spPr>
          <a:xfrm>
            <a:off x="4325408" y="294068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椭圆 200">
            <a:extLst>
              <a:ext uri="{FF2B5EF4-FFF2-40B4-BE49-F238E27FC236}">
                <a16:creationId xmlns:a16="http://schemas.microsoft.com/office/drawing/2014/main" id="{707AF035-D6CD-A8D4-F086-1EA4DEC33A89}"/>
              </a:ext>
            </a:extLst>
          </p:cNvPr>
          <p:cNvSpPr/>
          <p:nvPr/>
        </p:nvSpPr>
        <p:spPr>
          <a:xfrm>
            <a:off x="6255808" y="294068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椭圆 201">
            <a:extLst>
              <a:ext uri="{FF2B5EF4-FFF2-40B4-BE49-F238E27FC236}">
                <a16:creationId xmlns:a16="http://schemas.microsoft.com/office/drawing/2014/main" id="{706B65E9-EEDD-D83A-EB11-9BE663B9771F}"/>
              </a:ext>
            </a:extLst>
          </p:cNvPr>
          <p:cNvSpPr/>
          <p:nvPr/>
        </p:nvSpPr>
        <p:spPr>
          <a:xfrm>
            <a:off x="6899275" y="294068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6DD88665-BD84-F470-6521-8032AF0B15BA}"/>
              </a:ext>
            </a:extLst>
          </p:cNvPr>
          <p:cNvSpPr/>
          <p:nvPr/>
        </p:nvSpPr>
        <p:spPr>
          <a:xfrm>
            <a:off x="4064000" y="3139440"/>
            <a:ext cx="7721600" cy="276860"/>
          </a:xfrm>
          <a:prstGeom prst="rect">
            <a:avLst/>
          </a:prstGeom>
          <a:solidFill>
            <a:srgbClr val="F1F5F7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椭圆 204">
            <a:extLst>
              <a:ext uri="{FF2B5EF4-FFF2-40B4-BE49-F238E27FC236}">
                <a16:creationId xmlns:a16="http://schemas.microsoft.com/office/drawing/2014/main" id="{962F3799-5247-9765-F69F-6EE6E3980A7C}"/>
              </a:ext>
            </a:extLst>
          </p:cNvPr>
          <p:cNvSpPr/>
          <p:nvPr/>
        </p:nvSpPr>
        <p:spPr>
          <a:xfrm>
            <a:off x="6255808" y="321754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椭圆 205">
            <a:extLst>
              <a:ext uri="{FF2B5EF4-FFF2-40B4-BE49-F238E27FC236}">
                <a16:creationId xmlns:a16="http://schemas.microsoft.com/office/drawing/2014/main" id="{BF9F3B71-0E61-C444-2FB1-6B3D089F8483}"/>
              </a:ext>
            </a:extLst>
          </p:cNvPr>
          <p:cNvSpPr/>
          <p:nvPr/>
        </p:nvSpPr>
        <p:spPr>
          <a:xfrm>
            <a:off x="9473142" y="321754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椭圆 207">
            <a:extLst>
              <a:ext uri="{FF2B5EF4-FFF2-40B4-BE49-F238E27FC236}">
                <a16:creationId xmlns:a16="http://schemas.microsoft.com/office/drawing/2014/main" id="{BE3BA54D-BC1E-A196-3958-1A0B460FD554}"/>
              </a:ext>
            </a:extLst>
          </p:cNvPr>
          <p:cNvSpPr/>
          <p:nvPr/>
        </p:nvSpPr>
        <p:spPr>
          <a:xfrm>
            <a:off x="4325408" y="349440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" name="椭圆 208">
            <a:extLst>
              <a:ext uri="{FF2B5EF4-FFF2-40B4-BE49-F238E27FC236}">
                <a16:creationId xmlns:a16="http://schemas.microsoft.com/office/drawing/2014/main" id="{0D59097E-19FA-8201-D51B-890C61767E64}"/>
              </a:ext>
            </a:extLst>
          </p:cNvPr>
          <p:cNvSpPr/>
          <p:nvPr/>
        </p:nvSpPr>
        <p:spPr>
          <a:xfrm>
            <a:off x="5612342" y="349440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椭圆 209">
            <a:extLst>
              <a:ext uri="{FF2B5EF4-FFF2-40B4-BE49-F238E27FC236}">
                <a16:creationId xmlns:a16="http://schemas.microsoft.com/office/drawing/2014/main" id="{4E0B3752-9864-BA82-98AF-9764EF3AA470}"/>
              </a:ext>
            </a:extLst>
          </p:cNvPr>
          <p:cNvSpPr/>
          <p:nvPr/>
        </p:nvSpPr>
        <p:spPr>
          <a:xfrm>
            <a:off x="6899275" y="349440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椭圆 210">
            <a:extLst>
              <a:ext uri="{FF2B5EF4-FFF2-40B4-BE49-F238E27FC236}">
                <a16:creationId xmlns:a16="http://schemas.microsoft.com/office/drawing/2014/main" id="{1A01843F-4F2E-DBE0-509B-96DD6D43F3D6}"/>
              </a:ext>
            </a:extLst>
          </p:cNvPr>
          <p:cNvSpPr/>
          <p:nvPr/>
        </p:nvSpPr>
        <p:spPr>
          <a:xfrm>
            <a:off x="8186208" y="349440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椭圆 211">
            <a:extLst>
              <a:ext uri="{FF2B5EF4-FFF2-40B4-BE49-F238E27FC236}">
                <a16:creationId xmlns:a16="http://schemas.microsoft.com/office/drawing/2014/main" id="{E7E06AFE-6A87-F2FD-AF6F-F0DD3E840D34}"/>
              </a:ext>
            </a:extLst>
          </p:cNvPr>
          <p:cNvSpPr/>
          <p:nvPr/>
        </p:nvSpPr>
        <p:spPr>
          <a:xfrm>
            <a:off x="10760075" y="349440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椭圆 212">
            <a:extLst>
              <a:ext uri="{FF2B5EF4-FFF2-40B4-BE49-F238E27FC236}">
                <a16:creationId xmlns:a16="http://schemas.microsoft.com/office/drawing/2014/main" id="{99010D66-6365-CCFC-3B2C-90115BFC6412}"/>
              </a:ext>
            </a:extLst>
          </p:cNvPr>
          <p:cNvSpPr/>
          <p:nvPr/>
        </p:nvSpPr>
        <p:spPr>
          <a:xfrm>
            <a:off x="11403542" y="349440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BE81BBCB-8D0D-EB58-6C40-4CC3E2339079}"/>
              </a:ext>
            </a:extLst>
          </p:cNvPr>
          <p:cNvSpPr/>
          <p:nvPr/>
        </p:nvSpPr>
        <p:spPr>
          <a:xfrm>
            <a:off x="4064000" y="3693160"/>
            <a:ext cx="7721600" cy="276860"/>
          </a:xfrm>
          <a:prstGeom prst="rect">
            <a:avLst/>
          </a:prstGeom>
          <a:solidFill>
            <a:srgbClr val="F1F5F7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椭圆 215">
            <a:extLst>
              <a:ext uri="{FF2B5EF4-FFF2-40B4-BE49-F238E27FC236}">
                <a16:creationId xmlns:a16="http://schemas.microsoft.com/office/drawing/2014/main" id="{8ED90C36-940C-FEAC-12FE-BAC90874A2FA}"/>
              </a:ext>
            </a:extLst>
          </p:cNvPr>
          <p:cNvSpPr/>
          <p:nvPr/>
        </p:nvSpPr>
        <p:spPr>
          <a:xfrm>
            <a:off x="4968875" y="377126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椭圆 217">
            <a:extLst>
              <a:ext uri="{FF2B5EF4-FFF2-40B4-BE49-F238E27FC236}">
                <a16:creationId xmlns:a16="http://schemas.microsoft.com/office/drawing/2014/main" id="{CE2C2083-1B26-9BD6-DD79-023A1BE2C685}"/>
              </a:ext>
            </a:extLst>
          </p:cNvPr>
          <p:cNvSpPr/>
          <p:nvPr/>
        </p:nvSpPr>
        <p:spPr>
          <a:xfrm>
            <a:off x="4325408" y="404812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椭圆 218">
            <a:extLst>
              <a:ext uri="{FF2B5EF4-FFF2-40B4-BE49-F238E27FC236}">
                <a16:creationId xmlns:a16="http://schemas.microsoft.com/office/drawing/2014/main" id="{8B38294D-67CC-B676-6353-21C770E55DC0}"/>
              </a:ext>
            </a:extLst>
          </p:cNvPr>
          <p:cNvSpPr/>
          <p:nvPr/>
        </p:nvSpPr>
        <p:spPr>
          <a:xfrm>
            <a:off x="4968875" y="404812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椭圆 219">
            <a:extLst>
              <a:ext uri="{FF2B5EF4-FFF2-40B4-BE49-F238E27FC236}">
                <a16:creationId xmlns:a16="http://schemas.microsoft.com/office/drawing/2014/main" id="{D38A03CE-6964-4A54-746B-2863840FC087}"/>
              </a:ext>
            </a:extLst>
          </p:cNvPr>
          <p:cNvSpPr/>
          <p:nvPr/>
        </p:nvSpPr>
        <p:spPr>
          <a:xfrm>
            <a:off x="7542742" y="404812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3C416B1B-44E3-6422-3FDC-FDF9F8B61B14}"/>
              </a:ext>
            </a:extLst>
          </p:cNvPr>
          <p:cNvSpPr/>
          <p:nvPr/>
        </p:nvSpPr>
        <p:spPr>
          <a:xfrm>
            <a:off x="4064000" y="4246880"/>
            <a:ext cx="7721600" cy="276860"/>
          </a:xfrm>
          <a:prstGeom prst="rect">
            <a:avLst/>
          </a:prstGeom>
          <a:solidFill>
            <a:srgbClr val="F1F5F7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椭圆 222">
            <a:extLst>
              <a:ext uri="{FF2B5EF4-FFF2-40B4-BE49-F238E27FC236}">
                <a16:creationId xmlns:a16="http://schemas.microsoft.com/office/drawing/2014/main" id="{20D19915-01CC-4716-AAC7-6A91FC524F9A}"/>
              </a:ext>
            </a:extLst>
          </p:cNvPr>
          <p:cNvSpPr/>
          <p:nvPr/>
        </p:nvSpPr>
        <p:spPr>
          <a:xfrm>
            <a:off x="4325408" y="432498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椭圆 223">
            <a:extLst>
              <a:ext uri="{FF2B5EF4-FFF2-40B4-BE49-F238E27FC236}">
                <a16:creationId xmlns:a16="http://schemas.microsoft.com/office/drawing/2014/main" id="{46C98FE2-3DE4-FBA9-7CC5-1ED1FC33BA5A}"/>
              </a:ext>
            </a:extLst>
          </p:cNvPr>
          <p:cNvSpPr/>
          <p:nvPr/>
        </p:nvSpPr>
        <p:spPr>
          <a:xfrm>
            <a:off x="7542742" y="432498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椭圆 224">
            <a:extLst>
              <a:ext uri="{FF2B5EF4-FFF2-40B4-BE49-F238E27FC236}">
                <a16:creationId xmlns:a16="http://schemas.microsoft.com/office/drawing/2014/main" id="{FDC363D7-4A0A-6636-0256-1D6C8D6A2A80}"/>
              </a:ext>
            </a:extLst>
          </p:cNvPr>
          <p:cNvSpPr/>
          <p:nvPr/>
        </p:nvSpPr>
        <p:spPr>
          <a:xfrm>
            <a:off x="8829675" y="432498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椭圆 226">
            <a:extLst>
              <a:ext uri="{FF2B5EF4-FFF2-40B4-BE49-F238E27FC236}">
                <a16:creationId xmlns:a16="http://schemas.microsoft.com/office/drawing/2014/main" id="{5C11832D-0DA7-5572-4EE9-4500A243E046}"/>
              </a:ext>
            </a:extLst>
          </p:cNvPr>
          <p:cNvSpPr/>
          <p:nvPr/>
        </p:nvSpPr>
        <p:spPr>
          <a:xfrm>
            <a:off x="8186208" y="460184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椭圆 227">
            <a:extLst>
              <a:ext uri="{FF2B5EF4-FFF2-40B4-BE49-F238E27FC236}">
                <a16:creationId xmlns:a16="http://schemas.microsoft.com/office/drawing/2014/main" id="{A9F2D6F1-D98F-932D-F64B-FC5832805705}"/>
              </a:ext>
            </a:extLst>
          </p:cNvPr>
          <p:cNvSpPr/>
          <p:nvPr/>
        </p:nvSpPr>
        <p:spPr>
          <a:xfrm>
            <a:off x="10116608" y="460184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2FAEEF04-4DED-BF75-D5C9-E54240125B99}"/>
              </a:ext>
            </a:extLst>
          </p:cNvPr>
          <p:cNvSpPr/>
          <p:nvPr/>
        </p:nvSpPr>
        <p:spPr>
          <a:xfrm>
            <a:off x="4064000" y="4800600"/>
            <a:ext cx="7721600" cy="276860"/>
          </a:xfrm>
          <a:prstGeom prst="rect">
            <a:avLst/>
          </a:prstGeom>
          <a:solidFill>
            <a:srgbClr val="F1F5F7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1" name="椭圆 230">
            <a:extLst>
              <a:ext uri="{FF2B5EF4-FFF2-40B4-BE49-F238E27FC236}">
                <a16:creationId xmlns:a16="http://schemas.microsoft.com/office/drawing/2014/main" id="{28351CF6-6D77-B2FB-4BD6-43D2E78280EB}"/>
              </a:ext>
            </a:extLst>
          </p:cNvPr>
          <p:cNvSpPr/>
          <p:nvPr/>
        </p:nvSpPr>
        <p:spPr>
          <a:xfrm>
            <a:off x="4968875" y="487870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椭圆 232">
            <a:extLst>
              <a:ext uri="{FF2B5EF4-FFF2-40B4-BE49-F238E27FC236}">
                <a16:creationId xmlns:a16="http://schemas.microsoft.com/office/drawing/2014/main" id="{E853D4E3-6802-ECAD-C388-DB381F8BD359}"/>
              </a:ext>
            </a:extLst>
          </p:cNvPr>
          <p:cNvSpPr/>
          <p:nvPr/>
        </p:nvSpPr>
        <p:spPr>
          <a:xfrm>
            <a:off x="4325408" y="515556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椭圆 233">
            <a:extLst>
              <a:ext uri="{FF2B5EF4-FFF2-40B4-BE49-F238E27FC236}">
                <a16:creationId xmlns:a16="http://schemas.microsoft.com/office/drawing/2014/main" id="{BC1660B1-2419-9740-52F6-6F55EFE2E5F1}"/>
              </a:ext>
            </a:extLst>
          </p:cNvPr>
          <p:cNvSpPr/>
          <p:nvPr/>
        </p:nvSpPr>
        <p:spPr>
          <a:xfrm>
            <a:off x="4968875" y="5155565"/>
            <a:ext cx="120650" cy="120650"/>
          </a:xfrm>
          <a:prstGeom prst="ellipse">
            <a:avLst/>
          </a:prstGeom>
          <a:solidFill>
            <a:srgbClr val="2F6096"/>
          </a:solidFill>
          <a:ln w="1270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5" name="直接连接符 234">
            <a:extLst>
              <a:ext uri="{FF2B5EF4-FFF2-40B4-BE49-F238E27FC236}">
                <a16:creationId xmlns:a16="http://schemas.microsoft.com/office/drawing/2014/main" id="{479C20FA-27AC-9FB6-31E4-A8EB926DCF04}"/>
              </a:ext>
            </a:extLst>
          </p:cNvPr>
          <p:cNvCxnSpPr/>
          <p:nvPr/>
        </p:nvCxnSpPr>
        <p:spPr>
          <a:xfrm>
            <a:off x="4385733" y="2032000"/>
            <a:ext cx="0" cy="33223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文本框 235">
            <a:extLst>
              <a:ext uri="{FF2B5EF4-FFF2-40B4-BE49-F238E27FC236}">
                <a16:creationId xmlns:a16="http://schemas.microsoft.com/office/drawing/2014/main" id="{4EDA14EC-058D-42F9-20E2-6728C65B4345}"/>
              </a:ext>
            </a:extLst>
          </p:cNvPr>
          <p:cNvSpPr txBox="1"/>
          <p:nvPr/>
        </p:nvSpPr>
        <p:spPr>
          <a:xfrm>
            <a:off x="4233333" y="1803399"/>
            <a:ext cx="304800" cy="228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endParaRPr lang="zh-CN" altLang="en-US" sz="1300" b="1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8" name="对照标签-0">
            <a:extLst>
              <a:ext uri="{FF2B5EF4-FFF2-40B4-BE49-F238E27FC236}">
                <a16:creationId xmlns:a16="http://schemas.microsoft.com/office/drawing/2014/main" id="{54EA2EAF-4545-CF9E-A2BD-35C53CEB3170}"/>
              </a:ext>
            </a:extLst>
          </p:cNvPr>
          <p:cNvSpPr/>
          <p:nvPr/>
        </p:nvSpPr>
        <p:spPr>
          <a:xfrm>
            <a:off x="4064000" y="5461000"/>
            <a:ext cx="643467" cy="990600"/>
          </a:xfrm>
          <a:prstGeom prst="rect">
            <a:avLst/>
          </a:prstGeom>
          <a:noFill/>
          <a:ln w="1143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143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t"/>
          <a:lstStyle/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极大似然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估计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MLE</a:t>
            </a: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>
              <a:lnSpc>
                <a:spcPts val="1350"/>
              </a:lnSpc>
            </a:pP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1982</a:t>
            </a:r>
            <a:endParaRPr lang="zh-CN" altLang="en-US" sz="115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39" name="直接连接符 238">
            <a:extLst>
              <a:ext uri="{FF2B5EF4-FFF2-40B4-BE49-F238E27FC236}">
                <a16:creationId xmlns:a16="http://schemas.microsoft.com/office/drawing/2014/main" id="{8A0756BF-8B6D-FE8E-B84A-3FA2660D863E}"/>
              </a:ext>
            </a:extLst>
          </p:cNvPr>
          <p:cNvCxnSpPr/>
          <p:nvPr/>
        </p:nvCxnSpPr>
        <p:spPr>
          <a:xfrm>
            <a:off x="5029200" y="2032000"/>
            <a:ext cx="0" cy="33223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文本框 239">
            <a:extLst>
              <a:ext uri="{FF2B5EF4-FFF2-40B4-BE49-F238E27FC236}">
                <a16:creationId xmlns:a16="http://schemas.microsoft.com/office/drawing/2014/main" id="{0831B46E-AAD0-E8C6-EE2A-4DD88F1D0DE3}"/>
              </a:ext>
            </a:extLst>
          </p:cNvPr>
          <p:cNvSpPr txBox="1"/>
          <p:nvPr/>
        </p:nvSpPr>
        <p:spPr>
          <a:xfrm>
            <a:off x="4876800" y="1803399"/>
            <a:ext cx="304800" cy="228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300" b="1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2" name="对照标签-1">
            <a:extLst>
              <a:ext uri="{FF2B5EF4-FFF2-40B4-BE49-F238E27FC236}">
                <a16:creationId xmlns:a16="http://schemas.microsoft.com/office/drawing/2014/main" id="{37BF8C94-0461-4594-BAF2-CCB576D5391E}"/>
              </a:ext>
            </a:extLst>
          </p:cNvPr>
          <p:cNvSpPr/>
          <p:nvPr/>
        </p:nvSpPr>
        <p:spPr>
          <a:xfrm>
            <a:off x="4707467" y="5461000"/>
            <a:ext cx="643467" cy="990600"/>
          </a:xfrm>
          <a:prstGeom prst="rect">
            <a:avLst/>
          </a:prstGeom>
          <a:noFill/>
          <a:ln w="1143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143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t"/>
          <a:lstStyle/>
          <a:p>
            <a:pPr algn="ctr">
              <a:lnSpc>
                <a:spcPts val="1350"/>
              </a:lnSpc>
            </a:pPr>
            <a:r>
              <a:rPr lang="zh-CN" altLang="en-US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相关回归</a:t>
            </a:r>
          </a:p>
          <a:p>
            <a:pPr algn="ctr">
              <a:lnSpc>
                <a:spcPts val="1350"/>
              </a:lnSpc>
            </a:pPr>
            <a:r>
              <a:rPr lang="zh-CN" altLang="en-US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估计</a:t>
            </a:r>
          </a:p>
          <a:p>
            <a:pPr algn="ctr">
              <a:lnSpc>
                <a:spcPts val="1350"/>
              </a:lnSpc>
            </a:pPr>
            <a:r>
              <a:rPr lang="zh-CN" altLang="en-US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LRE</a:t>
            </a:r>
            <a:r>
              <a:rPr lang="zh-CN" altLang="en-US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>
              <a:lnSpc>
                <a:spcPts val="1350"/>
              </a:lnSpc>
            </a:pPr>
            <a:r>
              <a:rPr lang="en-US" altLang="zh-CN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2017</a:t>
            </a:r>
            <a:endParaRPr lang="zh-CN" altLang="en-US" sz="1150" dirty="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43" name="直接连接符 242">
            <a:extLst>
              <a:ext uri="{FF2B5EF4-FFF2-40B4-BE49-F238E27FC236}">
                <a16:creationId xmlns:a16="http://schemas.microsoft.com/office/drawing/2014/main" id="{DFD087CC-17E7-68C8-A05D-7190AB3E3C0D}"/>
              </a:ext>
            </a:extLst>
          </p:cNvPr>
          <p:cNvCxnSpPr/>
          <p:nvPr/>
        </p:nvCxnSpPr>
        <p:spPr>
          <a:xfrm>
            <a:off x="5672667" y="2032000"/>
            <a:ext cx="0" cy="33223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文本框 243">
            <a:extLst>
              <a:ext uri="{FF2B5EF4-FFF2-40B4-BE49-F238E27FC236}">
                <a16:creationId xmlns:a16="http://schemas.microsoft.com/office/drawing/2014/main" id="{49B99DFF-A487-18B6-5EB3-43B4DC08F2E2}"/>
              </a:ext>
            </a:extLst>
          </p:cNvPr>
          <p:cNvSpPr txBox="1"/>
          <p:nvPr/>
        </p:nvSpPr>
        <p:spPr>
          <a:xfrm>
            <a:off x="5520267" y="1803399"/>
            <a:ext cx="304800" cy="228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300" b="1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6" name="对照标签-2">
            <a:extLst>
              <a:ext uri="{FF2B5EF4-FFF2-40B4-BE49-F238E27FC236}">
                <a16:creationId xmlns:a16="http://schemas.microsoft.com/office/drawing/2014/main" id="{F233E0D0-E830-9F22-DA59-89746D286428}"/>
              </a:ext>
            </a:extLst>
          </p:cNvPr>
          <p:cNvSpPr/>
          <p:nvPr/>
        </p:nvSpPr>
        <p:spPr>
          <a:xfrm>
            <a:off x="5350933" y="5461000"/>
            <a:ext cx="643467" cy="990600"/>
          </a:xfrm>
          <a:prstGeom prst="rect">
            <a:avLst/>
          </a:prstGeom>
          <a:noFill/>
          <a:ln w="1143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143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t"/>
          <a:lstStyle/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矩估计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MM</a:t>
            </a: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>
              <a:lnSpc>
                <a:spcPts val="1350"/>
              </a:lnSpc>
            </a:pP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1982 /</a:t>
            </a:r>
          </a:p>
          <a:p>
            <a:pPr algn="ctr">
              <a:lnSpc>
                <a:spcPts val="1350"/>
              </a:lnSpc>
            </a:pP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1988</a:t>
            </a:r>
            <a:endParaRPr lang="zh-CN" altLang="en-US" sz="115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47" name="直接连接符 246">
            <a:extLst>
              <a:ext uri="{FF2B5EF4-FFF2-40B4-BE49-F238E27FC236}">
                <a16:creationId xmlns:a16="http://schemas.microsoft.com/office/drawing/2014/main" id="{76BE2FB3-A815-A2A4-746C-FCBD874DA60D}"/>
              </a:ext>
            </a:extLst>
          </p:cNvPr>
          <p:cNvCxnSpPr/>
          <p:nvPr/>
        </p:nvCxnSpPr>
        <p:spPr>
          <a:xfrm>
            <a:off x="6316133" y="2032000"/>
            <a:ext cx="0" cy="33223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文本框 247">
            <a:extLst>
              <a:ext uri="{FF2B5EF4-FFF2-40B4-BE49-F238E27FC236}">
                <a16:creationId xmlns:a16="http://schemas.microsoft.com/office/drawing/2014/main" id="{6B1F3F54-E0B2-F0FF-81F2-4004D255EC04}"/>
              </a:ext>
            </a:extLst>
          </p:cNvPr>
          <p:cNvSpPr txBox="1"/>
          <p:nvPr/>
        </p:nvSpPr>
        <p:spPr>
          <a:xfrm>
            <a:off x="6163733" y="1803399"/>
            <a:ext cx="304800" cy="228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300" b="1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0" name="对照标签-3">
            <a:extLst>
              <a:ext uri="{FF2B5EF4-FFF2-40B4-BE49-F238E27FC236}">
                <a16:creationId xmlns:a16="http://schemas.microsoft.com/office/drawing/2014/main" id="{F5E80F2D-7CD5-BE29-80EF-B2F82F991CB8}"/>
              </a:ext>
            </a:extLst>
          </p:cNvPr>
          <p:cNvSpPr/>
          <p:nvPr/>
        </p:nvSpPr>
        <p:spPr>
          <a:xfrm>
            <a:off x="5994400" y="5461000"/>
            <a:ext cx="643467" cy="990600"/>
          </a:xfrm>
          <a:prstGeom prst="rect">
            <a:avLst/>
          </a:prstGeom>
          <a:noFill/>
          <a:ln w="1143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143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t"/>
          <a:lstStyle/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加权极大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似然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WMLE</a:t>
            </a: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>
              <a:lnSpc>
                <a:spcPts val="1350"/>
              </a:lnSpc>
            </a:pP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2009 /</a:t>
            </a:r>
          </a:p>
          <a:p>
            <a:pPr algn="ctr">
              <a:lnSpc>
                <a:spcPts val="1350"/>
              </a:lnSpc>
            </a:pP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2011</a:t>
            </a:r>
            <a:endParaRPr lang="zh-CN" altLang="en-US" sz="115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51" name="直接连接符 250">
            <a:extLst>
              <a:ext uri="{FF2B5EF4-FFF2-40B4-BE49-F238E27FC236}">
                <a16:creationId xmlns:a16="http://schemas.microsoft.com/office/drawing/2014/main" id="{120C0BAA-F9A4-2009-A0A5-851987C8E1DC}"/>
              </a:ext>
            </a:extLst>
          </p:cNvPr>
          <p:cNvCxnSpPr/>
          <p:nvPr/>
        </p:nvCxnSpPr>
        <p:spPr>
          <a:xfrm>
            <a:off x="6959600" y="2032000"/>
            <a:ext cx="0" cy="33223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文本框 251">
            <a:extLst>
              <a:ext uri="{FF2B5EF4-FFF2-40B4-BE49-F238E27FC236}">
                <a16:creationId xmlns:a16="http://schemas.microsoft.com/office/drawing/2014/main" id="{736818D7-12DD-7355-001F-5A613C958D67}"/>
              </a:ext>
            </a:extLst>
          </p:cNvPr>
          <p:cNvSpPr txBox="1"/>
          <p:nvPr/>
        </p:nvSpPr>
        <p:spPr>
          <a:xfrm>
            <a:off x="6807200" y="1803399"/>
            <a:ext cx="304800" cy="228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300" b="1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4" name="对照标签-4">
            <a:extLst>
              <a:ext uri="{FF2B5EF4-FFF2-40B4-BE49-F238E27FC236}">
                <a16:creationId xmlns:a16="http://schemas.microsoft.com/office/drawing/2014/main" id="{D683CE74-3BF4-6E44-7E19-BBEE9AB34C53}"/>
              </a:ext>
            </a:extLst>
          </p:cNvPr>
          <p:cNvSpPr/>
          <p:nvPr/>
        </p:nvSpPr>
        <p:spPr>
          <a:xfrm>
            <a:off x="6637867" y="5461000"/>
            <a:ext cx="643467" cy="990600"/>
          </a:xfrm>
          <a:prstGeom prst="rect">
            <a:avLst/>
          </a:prstGeom>
          <a:noFill/>
          <a:ln w="1143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143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t"/>
          <a:lstStyle/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最大乘积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间距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MPS</a:t>
            </a: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>
              <a:lnSpc>
                <a:spcPts val="1350"/>
              </a:lnSpc>
            </a:pP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1983</a:t>
            </a:r>
            <a:endParaRPr lang="zh-CN" altLang="en-US" sz="115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55" name="直接连接符 254">
            <a:extLst>
              <a:ext uri="{FF2B5EF4-FFF2-40B4-BE49-F238E27FC236}">
                <a16:creationId xmlns:a16="http://schemas.microsoft.com/office/drawing/2014/main" id="{04A025DE-023D-9A75-446C-D5644C991037}"/>
              </a:ext>
            </a:extLst>
          </p:cNvPr>
          <p:cNvCxnSpPr/>
          <p:nvPr/>
        </p:nvCxnSpPr>
        <p:spPr>
          <a:xfrm>
            <a:off x="7603067" y="2032000"/>
            <a:ext cx="0" cy="33223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文本框 255">
            <a:extLst>
              <a:ext uri="{FF2B5EF4-FFF2-40B4-BE49-F238E27FC236}">
                <a16:creationId xmlns:a16="http://schemas.microsoft.com/office/drawing/2014/main" id="{109F9DB5-D8AC-C579-3275-59845BE70ADD}"/>
              </a:ext>
            </a:extLst>
          </p:cNvPr>
          <p:cNvSpPr txBox="1"/>
          <p:nvPr/>
        </p:nvSpPr>
        <p:spPr>
          <a:xfrm>
            <a:off x="7450667" y="1803399"/>
            <a:ext cx="304800" cy="228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300" b="1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8" name="对照标签-5">
            <a:extLst>
              <a:ext uri="{FF2B5EF4-FFF2-40B4-BE49-F238E27FC236}">
                <a16:creationId xmlns:a16="http://schemas.microsoft.com/office/drawing/2014/main" id="{0FD55393-12E8-8876-909E-1E31B356E410}"/>
              </a:ext>
            </a:extLst>
          </p:cNvPr>
          <p:cNvSpPr/>
          <p:nvPr/>
        </p:nvSpPr>
        <p:spPr>
          <a:xfrm>
            <a:off x="7281333" y="5461000"/>
            <a:ext cx="643467" cy="990600"/>
          </a:xfrm>
          <a:prstGeom prst="rect">
            <a:avLst/>
          </a:prstGeom>
          <a:noFill/>
          <a:ln w="1143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143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t"/>
          <a:lstStyle/>
          <a:p>
            <a:pPr algn="ctr">
              <a:lnSpc>
                <a:spcPts val="1350"/>
              </a:lnSpc>
            </a:pPr>
            <a:r>
              <a:rPr lang="zh-CN" altLang="en-US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概率加权</a:t>
            </a:r>
          </a:p>
          <a:p>
            <a:pPr algn="ctr">
              <a:lnSpc>
                <a:spcPts val="1350"/>
              </a:lnSpc>
            </a:pPr>
            <a:r>
              <a:rPr lang="zh-CN" altLang="en-US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矩估计</a:t>
            </a:r>
          </a:p>
          <a:p>
            <a:pPr algn="ctr">
              <a:lnSpc>
                <a:spcPts val="1350"/>
              </a:lnSpc>
            </a:pPr>
            <a:r>
              <a:rPr lang="zh-CN" altLang="en-US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PWM</a:t>
            </a:r>
            <a:r>
              <a:rPr lang="zh-CN" altLang="en-US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>
              <a:lnSpc>
                <a:spcPts val="1350"/>
              </a:lnSpc>
            </a:pPr>
            <a:r>
              <a:rPr lang="en-US" altLang="zh-CN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1979</a:t>
            </a:r>
            <a:endParaRPr lang="zh-CN" altLang="en-US" sz="1150" dirty="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59" name="直接连接符 258">
            <a:extLst>
              <a:ext uri="{FF2B5EF4-FFF2-40B4-BE49-F238E27FC236}">
                <a16:creationId xmlns:a16="http://schemas.microsoft.com/office/drawing/2014/main" id="{7B2A4493-B887-DA1E-F671-C8D008BF35EE}"/>
              </a:ext>
            </a:extLst>
          </p:cNvPr>
          <p:cNvCxnSpPr/>
          <p:nvPr/>
        </p:nvCxnSpPr>
        <p:spPr>
          <a:xfrm>
            <a:off x="8246533" y="2032000"/>
            <a:ext cx="0" cy="33223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文本框 259">
            <a:extLst>
              <a:ext uri="{FF2B5EF4-FFF2-40B4-BE49-F238E27FC236}">
                <a16:creationId xmlns:a16="http://schemas.microsoft.com/office/drawing/2014/main" id="{26973175-FC3E-BE8E-CFF7-A5D834FDA81F}"/>
              </a:ext>
            </a:extLst>
          </p:cNvPr>
          <p:cNvSpPr txBox="1"/>
          <p:nvPr/>
        </p:nvSpPr>
        <p:spPr>
          <a:xfrm>
            <a:off x="8094133" y="1803399"/>
            <a:ext cx="304800" cy="228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300" b="1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2" name="对照标签-6">
            <a:extLst>
              <a:ext uri="{FF2B5EF4-FFF2-40B4-BE49-F238E27FC236}">
                <a16:creationId xmlns:a16="http://schemas.microsoft.com/office/drawing/2014/main" id="{92CF060F-D79C-A2C3-A05B-E156D4A0E1EE}"/>
              </a:ext>
            </a:extLst>
          </p:cNvPr>
          <p:cNvSpPr/>
          <p:nvPr/>
        </p:nvSpPr>
        <p:spPr>
          <a:xfrm>
            <a:off x="7924800" y="5461000"/>
            <a:ext cx="643467" cy="990600"/>
          </a:xfrm>
          <a:prstGeom prst="rect">
            <a:avLst/>
          </a:prstGeom>
          <a:noFill/>
          <a:ln w="1143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143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t"/>
          <a:lstStyle/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修改极大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似然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MMLE</a:t>
            </a: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>
              <a:lnSpc>
                <a:spcPts val="1350"/>
              </a:lnSpc>
            </a:pP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1982 /</a:t>
            </a:r>
          </a:p>
          <a:p>
            <a:pPr algn="ctr">
              <a:lnSpc>
                <a:spcPts val="1350"/>
              </a:lnSpc>
            </a:pP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2009</a:t>
            </a:r>
            <a:endParaRPr lang="zh-CN" altLang="en-US" sz="115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63" name="直接连接符 262">
            <a:extLst>
              <a:ext uri="{FF2B5EF4-FFF2-40B4-BE49-F238E27FC236}">
                <a16:creationId xmlns:a16="http://schemas.microsoft.com/office/drawing/2014/main" id="{B22B64EA-D763-A84E-D79D-24109C05E58E}"/>
              </a:ext>
            </a:extLst>
          </p:cNvPr>
          <p:cNvCxnSpPr/>
          <p:nvPr/>
        </p:nvCxnSpPr>
        <p:spPr>
          <a:xfrm>
            <a:off x="8890000" y="2032000"/>
            <a:ext cx="0" cy="33223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文本框 263">
            <a:extLst>
              <a:ext uri="{FF2B5EF4-FFF2-40B4-BE49-F238E27FC236}">
                <a16:creationId xmlns:a16="http://schemas.microsoft.com/office/drawing/2014/main" id="{2AD13C08-53E2-839F-8ECB-DFFBA1805484}"/>
              </a:ext>
            </a:extLst>
          </p:cNvPr>
          <p:cNvSpPr txBox="1"/>
          <p:nvPr/>
        </p:nvSpPr>
        <p:spPr>
          <a:xfrm>
            <a:off x="8737600" y="1803399"/>
            <a:ext cx="304800" cy="228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300" b="1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6" name="对照标签-7">
            <a:extLst>
              <a:ext uri="{FF2B5EF4-FFF2-40B4-BE49-F238E27FC236}">
                <a16:creationId xmlns:a16="http://schemas.microsoft.com/office/drawing/2014/main" id="{DA31E6E6-3BA7-93B6-0CC8-05C058CB6F56}"/>
              </a:ext>
            </a:extLst>
          </p:cNvPr>
          <p:cNvSpPr/>
          <p:nvPr/>
        </p:nvSpPr>
        <p:spPr>
          <a:xfrm>
            <a:off x="8568267" y="5461000"/>
            <a:ext cx="643467" cy="990600"/>
          </a:xfrm>
          <a:prstGeom prst="rect">
            <a:avLst/>
          </a:prstGeom>
          <a:noFill/>
          <a:ln w="1143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143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t"/>
          <a:lstStyle/>
          <a:p>
            <a:pPr algn="ctr">
              <a:lnSpc>
                <a:spcPts val="1350"/>
              </a:lnSpc>
            </a:pPr>
            <a:r>
              <a:rPr lang="zh-CN" altLang="en-US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最小二乘</a:t>
            </a:r>
          </a:p>
          <a:p>
            <a:pPr algn="ctr">
              <a:lnSpc>
                <a:spcPts val="1350"/>
              </a:lnSpc>
            </a:pPr>
            <a:r>
              <a:rPr lang="zh-CN" altLang="en-US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估计</a:t>
            </a:r>
          </a:p>
          <a:p>
            <a:pPr algn="ctr">
              <a:lnSpc>
                <a:spcPts val="1350"/>
              </a:lnSpc>
            </a:pPr>
            <a:r>
              <a:rPr lang="zh-CN" altLang="en-US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LS</a:t>
            </a:r>
            <a:r>
              <a:rPr lang="zh-CN" altLang="en-US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>
              <a:lnSpc>
                <a:spcPts val="1350"/>
              </a:lnSpc>
            </a:pPr>
            <a:r>
              <a:rPr lang="en-US" altLang="zh-CN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2024</a:t>
            </a:r>
          </a:p>
          <a:p>
            <a:pPr algn="ctr">
              <a:lnSpc>
                <a:spcPts val="1350"/>
              </a:lnSpc>
            </a:pPr>
            <a:r>
              <a:rPr lang="zh-CN" altLang="en-US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采用</a:t>
            </a:r>
          </a:p>
        </p:txBody>
      </p:sp>
      <p:cxnSp>
        <p:nvCxnSpPr>
          <p:cNvPr id="267" name="直接连接符 266">
            <a:extLst>
              <a:ext uri="{FF2B5EF4-FFF2-40B4-BE49-F238E27FC236}">
                <a16:creationId xmlns:a16="http://schemas.microsoft.com/office/drawing/2014/main" id="{6387A126-BBDF-360B-7D72-2CCDD49C717A}"/>
              </a:ext>
            </a:extLst>
          </p:cNvPr>
          <p:cNvCxnSpPr/>
          <p:nvPr/>
        </p:nvCxnSpPr>
        <p:spPr>
          <a:xfrm>
            <a:off x="9533467" y="2032000"/>
            <a:ext cx="0" cy="33223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文本框 267">
            <a:extLst>
              <a:ext uri="{FF2B5EF4-FFF2-40B4-BE49-F238E27FC236}">
                <a16:creationId xmlns:a16="http://schemas.microsoft.com/office/drawing/2014/main" id="{8D540813-2648-05F6-56DC-56957F98452F}"/>
              </a:ext>
            </a:extLst>
          </p:cNvPr>
          <p:cNvSpPr txBox="1"/>
          <p:nvPr/>
        </p:nvSpPr>
        <p:spPr>
          <a:xfrm>
            <a:off x="9381067" y="1803399"/>
            <a:ext cx="304800" cy="228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300" b="1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0" name="对照标签-8">
            <a:extLst>
              <a:ext uri="{FF2B5EF4-FFF2-40B4-BE49-F238E27FC236}">
                <a16:creationId xmlns:a16="http://schemas.microsoft.com/office/drawing/2014/main" id="{AAF97828-F8D4-AB3C-5A0B-0D5CDE61DA4E}"/>
              </a:ext>
            </a:extLst>
          </p:cNvPr>
          <p:cNvSpPr/>
          <p:nvPr/>
        </p:nvSpPr>
        <p:spPr>
          <a:xfrm>
            <a:off x="9211733" y="5461000"/>
            <a:ext cx="643467" cy="990600"/>
          </a:xfrm>
          <a:prstGeom prst="rect">
            <a:avLst/>
          </a:prstGeom>
          <a:noFill/>
          <a:ln w="1143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143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t"/>
          <a:lstStyle/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贝叶斯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似然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BL</a:t>
            </a: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>
              <a:lnSpc>
                <a:spcPts val="1350"/>
              </a:lnSpc>
            </a:pP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2005</a:t>
            </a:r>
            <a:endParaRPr lang="zh-CN" altLang="en-US" sz="115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562D034B-2D2C-C07E-080D-40F630C8F3CF}"/>
              </a:ext>
            </a:extLst>
          </p:cNvPr>
          <p:cNvCxnSpPr/>
          <p:nvPr/>
        </p:nvCxnSpPr>
        <p:spPr>
          <a:xfrm>
            <a:off x="10176933" y="2032000"/>
            <a:ext cx="0" cy="33223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文本框 271">
            <a:extLst>
              <a:ext uri="{FF2B5EF4-FFF2-40B4-BE49-F238E27FC236}">
                <a16:creationId xmlns:a16="http://schemas.microsoft.com/office/drawing/2014/main" id="{934EB8B4-FE07-44BD-ED1A-7A43206AFFCE}"/>
              </a:ext>
            </a:extLst>
          </p:cNvPr>
          <p:cNvSpPr txBox="1"/>
          <p:nvPr/>
        </p:nvSpPr>
        <p:spPr>
          <a:xfrm>
            <a:off x="10024533" y="1803399"/>
            <a:ext cx="304800" cy="228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300" b="1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4" name="对照标签-9">
            <a:extLst>
              <a:ext uri="{FF2B5EF4-FFF2-40B4-BE49-F238E27FC236}">
                <a16:creationId xmlns:a16="http://schemas.microsoft.com/office/drawing/2014/main" id="{20D349D9-B384-5956-A2CB-B58CB6C0D150}"/>
              </a:ext>
            </a:extLst>
          </p:cNvPr>
          <p:cNvSpPr/>
          <p:nvPr/>
        </p:nvSpPr>
        <p:spPr>
          <a:xfrm>
            <a:off x="9855200" y="5461000"/>
            <a:ext cx="643467" cy="990600"/>
          </a:xfrm>
          <a:prstGeom prst="rect">
            <a:avLst/>
          </a:prstGeom>
          <a:noFill/>
          <a:ln w="1143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143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t"/>
          <a:lstStyle/>
          <a:p>
            <a:pPr algn="ctr">
              <a:lnSpc>
                <a:spcPts val="1350"/>
              </a:lnSpc>
            </a:pPr>
            <a:r>
              <a:rPr lang="zh-CN" altLang="en-US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校正极大</a:t>
            </a:r>
          </a:p>
          <a:p>
            <a:pPr algn="ctr">
              <a:lnSpc>
                <a:spcPts val="1350"/>
              </a:lnSpc>
            </a:pPr>
            <a:r>
              <a:rPr lang="zh-CN" altLang="en-US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似然</a:t>
            </a:r>
          </a:p>
          <a:p>
            <a:pPr algn="ctr">
              <a:lnSpc>
                <a:spcPts val="1350"/>
              </a:lnSpc>
            </a:pPr>
            <a:r>
              <a:rPr lang="zh-CN" altLang="en-US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CMLE</a:t>
            </a:r>
            <a:r>
              <a:rPr lang="zh-CN" altLang="en-US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>
              <a:lnSpc>
                <a:spcPts val="1350"/>
              </a:lnSpc>
            </a:pPr>
            <a:r>
              <a:rPr lang="en-US" altLang="zh-CN" sz="115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1987</a:t>
            </a:r>
            <a:endParaRPr lang="zh-CN" altLang="en-US" sz="1150" dirty="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75" name="直接连接符 274">
            <a:extLst>
              <a:ext uri="{FF2B5EF4-FFF2-40B4-BE49-F238E27FC236}">
                <a16:creationId xmlns:a16="http://schemas.microsoft.com/office/drawing/2014/main" id="{33D50641-7C71-F0E7-BB9D-08A37D402F82}"/>
              </a:ext>
            </a:extLst>
          </p:cNvPr>
          <p:cNvCxnSpPr/>
          <p:nvPr/>
        </p:nvCxnSpPr>
        <p:spPr>
          <a:xfrm>
            <a:off x="10820400" y="2032000"/>
            <a:ext cx="0" cy="33223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文本框 275">
            <a:extLst>
              <a:ext uri="{FF2B5EF4-FFF2-40B4-BE49-F238E27FC236}">
                <a16:creationId xmlns:a16="http://schemas.microsoft.com/office/drawing/2014/main" id="{C7AABB17-258A-C673-5008-3244E0C8051D}"/>
              </a:ext>
            </a:extLst>
          </p:cNvPr>
          <p:cNvSpPr txBox="1"/>
          <p:nvPr/>
        </p:nvSpPr>
        <p:spPr>
          <a:xfrm>
            <a:off x="10668000" y="1803399"/>
            <a:ext cx="304800" cy="228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300" b="1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8" name="对照标签-10">
            <a:extLst>
              <a:ext uri="{FF2B5EF4-FFF2-40B4-BE49-F238E27FC236}">
                <a16:creationId xmlns:a16="http://schemas.microsoft.com/office/drawing/2014/main" id="{63614651-B1F0-17AC-444E-56CDB8A7867F}"/>
              </a:ext>
            </a:extLst>
          </p:cNvPr>
          <p:cNvSpPr/>
          <p:nvPr/>
        </p:nvSpPr>
        <p:spPr>
          <a:xfrm>
            <a:off x="10498667" y="5461000"/>
            <a:ext cx="643467" cy="990600"/>
          </a:xfrm>
          <a:prstGeom prst="rect">
            <a:avLst/>
          </a:prstGeom>
          <a:noFill/>
          <a:ln w="1143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143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t"/>
          <a:lstStyle/>
          <a:p>
            <a:pPr algn="ctr">
              <a:lnSpc>
                <a:spcPts val="1350"/>
              </a:lnSpc>
            </a:pP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矩估计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LM</a:t>
            </a: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>
              <a:lnSpc>
                <a:spcPts val="1350"/>
              </a:lnSpc>
            </a:pP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1990</a:t>
            </a:r>
            <a:endParaRPr lang="zh-CN" altLang="en-US" sz="115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79" name="直接连接符 278">
            <a:extLst>
              <a:ext uri="{FF2B5EF4-FFF2-40B4-BE49-F238E27FC236}">
                <a16:creationId xmlns:a16="http://schemas.microsoft.com/office/drawing/2014/main" id="{9B41B28E-9B1A-7549-2B14-A8673192D3C1}"/>
              </a:ext>
            </a:extLst>
          </p:cNvPr>
          <p:cNvCxnSpPr/>
          <p:nvPr/>
        </p:nvCxnSpPr>
        <p:spPr>
          <a:xfrm>
            <a:off x="11463867" y="2032000"/>
            <a:ext cx="0" cy="33223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文本框 279">
            <a:extLst>
              <a:ext uri="{FF2B5EF4-FFF2-40B4-BE49-F238E27FC236}">
                <a16:creationId xmlns:a16="http://schemas.microsoft.com/office/drawing/2014/main" id="{3321D238-915C-F877-472E-DB6933492C1E}"/>
              </a:ext>
            </a:extLst>
          </p:cNvPr>
          <p:cNvSpPr txBox="1"/>
          <p:nvPr/>
        </p:nvSpPr>
        <p:spPr>
          <a:xfrm>
            <a:off x="11311467" y="1803399"/>
            <a:ext cx="304800" cy="228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zh-CN" sz="13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300" b="1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2" name="对照标签-11">
            <a:extLst>
              <a:ext uri="{FF2B5EF4-FFF2-40B4-BE49-F238E27FC236}">
                <a16:creationId xmlns:a16="http://schemas.microsoft.com/office/drawing/2014/main" id="{4B3C5822-D9B2-AB44-867E-24178099D4AC}"/>
              </a:ext>
            </a:extLst>
          </p:cNvPr>
          <p:cNvSpPr/>
          <p:nvPr/>
        </p:nvSpPr>
        <p:spPr>
          <a:xfrm>
            <a:off x="11142133" y="5461000"/>
            <a:ext cx="643467" cy="990600"/>
          </a:xfrm>
          <a:prstGeom prst="rect">
            <a:avLst/>
          </a:prstGeom>
          <a:noFill/>
          <a:ln w="1143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143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t"/>
          <a:lstStyle/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修正矩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估计</a:t>
            </a:r>
          </a:p>
          <a:p>
            <a:pPr algn="ctr">
              <a:lnSpc>
                <a:spcPts val="1350"/>
              </a:lnSpc>
            </a:pP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MMoE</a:t>
            </a:r>
            <a:r>
              <a:rPr lang="zh-CN" altLang="en-US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 algn="ctr">
              <a:lnSpc>
                <a:spcPts val="1350"/>
              </a:lnSpc>
            </a:pPr>
            <a:r>
              <a:rPr lang="en-US" altLang="zh-CN" sz="115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1982</a:t>
            </a:r>
            <a:endParaRPr lang="zh-CN" altLang="en-US" sz="115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4" name="论文行标签-0">
            <a:extLst>
              <a:ext uri="{FF2B5EF4-FFF2-40B4-BE49-F238E27FC236}">
                <a16:creationId xmlns:a16="http://schemas.microsoft.com/office/drawing/2014/main" id="{EEE1A0ED-312C-991E-1266-36334B0CECDE}"/>
              </a:ext>
            </a:extLst>
          </p:cNvPr>
          <p:cNvSpPr/>
          <p:nvPr/>
        </p:nvSpPr>
        <p:spPr>
          <a:xfrm>
            <a:off x="152400" y="2032000"/>
            <a:ext cx="3810000" cy="276860"/>
          </a:xfrm>
          <a:prstGeom prst="rect">
            <a:avLst/>
          </a:prstGeom>
          <a:noFill/>
          <a:ln w="889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>
              <a:lnSpc>
                <a:spcPts val="1350"/>
              </a:lnSpc>
            </a:pP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修正似然与矩估计（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MMLE / MMoE</a:t>
            </a: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 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1982</a:t>
            </a:r>
            <a:endParaRPr lang="zh-CN" altLang="en-US" sz="122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6" name="论文行标签-1">
            <a:extLst>
              <a:ext uri="{FF2B5EF4-FFF2-40B4-BE49-F238E27FC236}">
                <a16:creationId xmlns:a16="http://schemas.microsoft.com/office/drawing/2014/main" id="{4183919C-A975-30DE-1238-2F950AFEC486}"/>
              </a:ext>
            </a:extLst>
          </p:cNvPr>
          <p:cNvSpPr/>
          <p:nvPr/>
        </p:nvSpPr>
        <p:spPr>
          <a:xfrm>
            <a:off x="152400" y="2308860"/>
            <a:ext cx="3810000" cy="276860"/>
          </a:xfrm>
          <a:prstGeom prst="rect">
            <a:avLst/>
          </a:prstGeom>
          <a:noFill/>
          <a:ln w="889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>
              <a:lnSpc>
                <a:spcPts val="1350"/>
              </a:lnSpc>
            </a:pP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人工神经网络估计（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ANN</a:t>
            </a: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 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2008</a:t>
            </a:r>
            <a:endParaRPr lang="zh-CN" altLang="en-US" sz="122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8" name="论文行标签-2">
            <a:extLst>
              <a:ext uri="{FF2B5EF4-FFF2-40B4-BE49-F238E27FC236}">
                <a16:creationId xmlns:a16="http://schemas.microsoft.com/office/drawing/2014/main" id="{87400985-2EAD-7C97-28DB-EC6F8554F8C7}"/>
              </a:ext>
            </a:extLst>
          </p:cNvPr>
          <p:cNvSpPr/>
          <p:nvPr/>
        </p:nvSpPr>
        <p:spPr>
          <a:xfrm>
            <a:off x="152400" y="2585720"/>
            <a:ext cx="3810000" cy="276860"/>
          </a:xfrm>
          <a:prstGeom prst="rect">
            <a:avLst/>
          </a:prstGeom>
          <a:noFill/>
          <a:ln w="889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>
              <a:lnSpc>
                <a:spcPts val="1350"/>
              </a:lnSpc>
            </a:pP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加权极大似然估计（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WMLE</a:t>
            </a: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 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2009</a:t>
            </a:r>
            <a:endParaRPr lang="zh-CN" altLang="en-US" sz="122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0" name="论文行标签-3">
            <a:extLst>
              <a:ext uri="{FF2B5EF4-FFF2-40B4-BE49-F238E27FC236}">
                <a16:creationId xmlns:a16="http://schemas.microsoft.com/office/drawing/2014/main" id="{CDD331B5-4733-BE73-316B-B401F76EC3AC}"/>
              </a:ext>
            </a:extLst>
          </p:cNvPr>
          <p:cNvSpPr/>
          <p:nvPr/>
        </p:nvSpPr>
        <p:spPr>
          <a:xfrm>
            <a:off x="152400" y="2862580"/>
            <a:ext cx="3810000" cy="276860"/>
          </a:xfrm>
          <a:prstGeom prst="rect">
            <a:avLst/>
          </a:prstGeom>
          <a:noFill/>
          <a:ln w="889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>
              <a:lnSpc>
                <a:spcPts val="1350"/>
              </a:lnSpc>
            </a:pPr>
            <a:r>
              <a:rPr lang="zh-CN" altLang="en-US" sz="122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估计方法比较研究 </a:t>
            </a:r>
            <a:r>
              <a:rPr lang="en-US" altLang="zh-CN" sz="122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2009</a:t>
            </a:r>
            <a:endParaRPr lang="zh-CN" altLang="en-US" sz="1220" dirty="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2" name="论文行标签-4">
            <a:extLst>
              <a:ext uri="{FF2B5EF4-FFF2-40B4-BE49-F238E27FC236}">
                <a16:creationId xmlns:a16="http://schemas.microsoft.com/office/drawing/2014/main" id="{7BAB0B3A-BC50-EC93-8048-3FBEB91E247E}"/>
              </a:ext>
            </a:extLst>
          </p:cNvPr>
          <p:cNvSpPr/>
          <p:nvPr/>
        </p:nvSpPr>
        <p:spPr>
          <a:xfrm>
            <a:off x="152400" y="3139440"/>
            <a:ext cx="3810000" cy="276860"/>
          </a:xfrm>
          <a:prstGeom prst="rect">
            <a:avLst/>
          </a:prstGeom>
          <a:noFill/>
          <a:ln w="889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>
              <a:lnSpc>
                <a:spcPts val="1350"/>
              </a:lnSpc>
            </a:pP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变换统计量似然估计（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LSPF</a:t>
            </a: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 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2013</a:t>
            </a:r>
            <a:endParaRPr lang="zh-CN" altLang="en-US" sz="122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4" name="论文行标签-5">
            <a:extLst>
              <a:ext uri="{FF2B5EF4-FFF2-40B4-BE49-F238E27FC236}">
                <a16:creationId xmlns:a16="http://schemas.microsoft.com/office/drawing/2014/main" id="{DAD1F639-4D87-981D-6A76-7C74D560CA0A}"/>
              </a:ext>
            </a:extLst>
          </p:cNvPr>
          <p:cNvSpPr/>
          <p:nvPr/>
        </p:nvSpPr>
        <p:spPr>
          <a:xfrm>
            <a:off x="152400" y="3416300"/>
            <a:ext cx="3810000" cy="276860"/>
          </a:xfrm>
          <a:prstGeom prst="rect">
            <a:avLst/>
          </a:prstGeom>
          <a:noFill/>
          <a:ln w="889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>
              <a:lnSpc>
                <a:spcPts val="1350"/>
              </a:lnSpc>
            </a:pP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估计方法综合比较 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2014</a:t>
            </a:r>
            <a:endParaRPr lang="zh-CN" altLang="en-US" sz="122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6" name="论文行标签-6">
            <a:extLst>
              <a:ext uri="{FF2B5EF4-FFF2-40B4-BE49-F238E27FC236}">
                <a16:creationId xmlns:a16="http://schemas.microsoft.com/office/drawing/2014/main" id="{00B06239-69F7-E577-12DC-ADB1DF0E0D92}"/>
              </a:ext>
            </a:extLst>
          </p:cNvPr>
          <p:cNvSpPr/>
          <p:nvPr/>
        </p:nvSpPr>
        <p:spPr>
          <a:xfrm>
            <a:off x="152400" y="3693160"/>
            <a:ext cx="3810000" cy="276860"/>
          </a:xfrm>
          <a:prstGeom prst="rect">
            <a:avLst/>
          </a:prstGeom>
          <a:noFill/>
          <a:ln w="889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>
              <a:lnSpc>
                <a:spcPts val="1350"/>
              </a:lnSpc>
            </a:pP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最小二乘迭代估计（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LS</a:t>
            </a: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迭代） 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2023</a:t>
            </a:r>
            <a:endParaRPr lang="zh-CN" altLang="en-US" sz="122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8" name="论文行标签-7">
            <a:extLst>
              <a:ext uri="{FF2B5EF4-FFF2-40B4-BE49-F238E27FC236}">
                <a16:creationId xmlns:a16="http://schemas.microsoft.com/office/drawing/2014/main" id="{C3A04C98-09EB-87E6-FA1C-816EE10BF06C}"/>
              </a:ext>
            </a:extLst>
          </p:cNvPr>
          <p:cNvSpPr/>
          <p:nvPr/>
        </p:nvSpPr>
        <p:spPr>
          <a:xfrm>
            <a:off x="152400" y="3970020"/>
            <a:ext cx="3810000" cy="276860"/>
          </a:xfrm>
          <a:prstGeom prst="rect">
            <a:avLst/>
          </a:prstGeom>
          <a:noFill/>
          <a:ln w="889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>
              <a:lnSpc>
                <a:spcPts val="1350"/>
              </a:lnSpc>
            </a:pP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逐次逼近估计（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SAM</a:t>
            </a: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 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2023</a:t>
            </a:r>
            <a:endParaRPr lang="zh-CN" altLang="en-US" sz="122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0" name="论文行标签-8">
            <a:extLst>
              <a:ext uri="{FF2B5EF4-FFF2-40B4-BE49-F238E27FC236}">
                <a16:creationId xmlns:a16="http://schemas.microsoft.com/office/drawing/2014/main" id="{7E5049B8-21E2-FA99-F0FC-202727CF6829}"/>
              </a:ext>
            </a:extLst>
          </p:cNvPr>
          <p:cNvSpPr/>
          <p:nvPr/>
        </p:nvSpPr>
        <p:spPr>
          <a:xfrm>
            <a:off x="152400" y="4246880"/>
            <a:ext cx="3810000" cy="276860"/>
          </a:xfrm>
          <a:prstGeom prst="rect">
            <a:avLst/>
          </a:prstGeom>
          <a:noFill/>
          <a:ln w="889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>
              <a:lnSpc>
                <a:spcPts val="1350"/>
              </a:lnSpc>
            </a:pP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位置修正逐次逼近估计（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PM</a:t>
            </a: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 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2024</a:t>
            </a:r>
            <a:endParaRPr lang="zh-CN" altLang="en-US" sz="122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2" name="论文行标签-9">
            <a:extLst>
              <a:ext uri="{FF2B5EF4-FFF2-40B4-BE49-F238E27FC236}">
                <a16:creationId xmlns:a16="http://schemas.microsoft.com/office/drawing/2014/main" id="{5C403F15-A0CB-D870-87A0-33D5363D8ED1}"/>
              </a:ext>
            </a:extLst>
          </p:cNvPr>
          <p:cNvSpPr/>
          <p:nvPr/>
        </p:nvSpPr>
        <p:spPr>
          <a:xfrm>
            <a:off x="152400" y="4523740"/>
            <a:ext cx="3810000" cy="276860"/>
          </a:xfrm>
          <a:prstGeom prst="rect">
            <a:avLst/>
          </a:prstGeom>
          <a:noFill/>
          <a:ln w="889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>
              <a:lnSpc>
                <a:spcPts val="1350"/>
              </a:lnSpc>
            </a:pP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双重修正极大似然估计（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DMMLE</a:t>
            </a: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 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2025</a:t>
            </a:r>
            <a:endParaRPr lang="zh-CN" altLang="en-US" sz="122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4" name="论文行标签-10">
            <a:extLst>
              <a:ext uri="{FF2B5EF4-FFF2-40B4-BE49-F238E27FC236}">
                <a16:creationId xmlns:a16="http://schemas.microsoft.com/office/drawing/2014/main" id="{DB2729F2-4B9A-D829-F6F0-66B5B7EC56C7}"/>
              </a:ext>
            </a:extLst>
          </p:cNvPr>
          <p:cNvSpPr/>
          <p:nvPr/>
        </p:nvSpPr>
        <p:spPr>
          <a:xfrm>
            <a:off x="152400" y="4800600"/>
            <a:ext cx="3810000" cy="276860"/>
          </a:xfrm>
          <a:prstGeom prst="rect">
            <a:avLst/>
          </a:prstGeom>
          <a:noFill/>
          <a:ln w="889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>
              <a:lnSpc>
                <a:spcPts val="1350"/>
              </a:lnSpc>
            </a:pP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反向传播神经网络估计（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BPNN</a:t>
            </a: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 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2025</a:t>
            </a:r>
            <a:endParaRPr lang="zh-CN" altLang="en-US" sz="122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6" name="论文行标签-11">
            <a:extLst>
              <a:ext uri="{FF2B5EF4-FFF2-40B4-BE49-F238E27FC236}">
                <a16:creationId xmlns:a16="http://schemas.microsoft.com/office/drawing/2014/main" id="{D0ACAB4C-B64C-3D83-8BBE-7F1A5B9BEA33}"/>
              </a:ext>
            </a:extLst>
          </p:cNvPr>
          <p:cNvSpPr/>
          <p:nvPr/>
        </p:nvSpPr>
        <p:spPr>
          <a:xfrm>
            <a:off x="152400" y="5077460"/>
            <a:ext cx="3810000" cy="276860"/>
          </a:xfrm>
          <a:prstGeom prst="rect">
            <a:avLst/>
          </a:prstGeom>
          <a:noFill/>
          <a:ln w="8890">
            <a:noFill/>
            <a:prstDash val="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8890">
                <a:solidFill>
                  <a:srgbClr val="2F6096"/>
                </a:solidFill>
                <a:prstDash val="dash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>
              <a:lnSpc>
                <a:spcPts val="1350"/>
              </a:lnSpc>
            </a:pP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自适应梯度优化（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ADGBO</a:t>
            </a:r>
            <a:r>
              <a:rPr lang="zh-CN" altLang="en-US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 </a:t>
            </a:r>
            <a:r>
              <a:rPr lang="en-US" altLang="zh-CN" sz="122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2026</a:t>
            </a:r>
            <a:endParaRPr lang="zh-CN" altLang="en-US" sz="122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9458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为什么近年也有对</a:t>
            </a:r>
            <a:r>
              <a:rPr lang="en-US" altLang="zh-CN" sz="2550" b="1" spc="-150" dirty="0" err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weibull</a:t>
            </a:r>
            <a:r>
              <a:rPr lang="zh-CN" altLang="en-US" sz="2550" b="1" spc="-150" dirty="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参数估计进行研究的，但比较中仍常见经典方法？</a:t>
            </a:r>
            <a:endParaRPr sz="2550" b="1" spc="-150" dirty="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文献怎样选择比较对象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03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6D61CF-4800-F220-008C-5A4E484CB9E2}"/>
              </a:ext>
            </a:extLst>
          </p:cNvPr>
          <p:cNvSpPr/>
          <p:nvPr/>
        </p:nvSpPr>
        <p:spPr>
          <a:xfrm>
            <a:off x="609600" y="3556000"/>
            <a:ext cx="2489200" cy="7874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近期</a:t>
            </a:r>
            <a:r>
              <a:rPr lang="en-US" altLang="zh-CN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Weibull</a:t>
            </a:r>
            <a:r>
              <a:rPr lang="zh-CN" altLang="en-US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估计研究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BAA30C0-1E9E-23A6-5E35-FDF07F4B5885}"/>
              </a:ext>
            </a:extLst>
          </p:cNvPr>
          <p:cNvCxnSpPr/>
          <p:nvPr/>
        </p:nvCxnSpPr>
        <p:spPr>
          <a:xfrm>
            <a:off x="3098800" y="3949700"/>
            <a:ext cx="393700" cy="0"/>
          </a:xfrm>
          <a:prstGeom prst="line">
            <a:avLst/>
          </a:prstGeom>
          <a:ln w="17780">
            <a:solidFill>
              <a:srgbClr val="2F6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D64E2F5-1CF7-2336-BAF1-CB869D212AD2}"/>
              </a:ext>
            </a:extLst>
          </p:cNvPr>
          <p:cNvCxnSpPr/>
          <p:nvPr/>
        </p:nvCxnSpPr>
        <p:spPr>
          <a:xfrm>
            <a:off x="3492500" y="2286000"/>
            <a:ext cx="0" cy="3429000"/>
          </a:xfrm>
          <a:prstGeom prst="line">
            <a:avLst/>
          </a:prstGeom>
          <a:ln w="17780">
            <a:solidFill>
              <a:srgbClr val="2F60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5064BB3-3175-4F8B-65F9-D4C506E7B493}"/>
              </a:ext>
            </a:extLst>
          </p:cNvPr>
          <p:cNvCxnSpPr/>
          <p:nvPr/>
        </p:nvCxnSpPr>
        <p:spPr>
          <a:xfrm>
            <a:off x="3492500" y="2286000"/>
            <a:ext cx="4445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832E14B8-64BA-E46E-2862-F4845236C7E3}"/>
              </a:ext>
            </a:extLst>
          </p:cNvPr>
          <p:cNvSpPr/>
          <p:nvPr/>
        </p:nvSpPr>
        <p:spPr>
          <a:xfrm>
            <a:off x="3937000" y="1841500"/>
            <a:ext cx="2032000" cy="8763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7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改估计构造</a:t>
            </a:r>
          </a:p>
        </p:txBody>
      </p:sp>
      <p:sp>
        <p:nvSpPr>
          <p:cNvPr id="22" name="讲解-22">
            <a:extLst>
              <a:ext uri="{FF2B5EF4-FFF2-40B4-BE49-F238E27FC236}">
                <a16:creationId xmlns:a16="http://schemas.microsoft.com/office/drawing/2014/main" id="{222577AF-DE6E-3730-3196-C31745F7A984}"/>
              </a:ext>
            </a:extLst>
          </p:cNvPr>
          <p:cNvSpPr txBox="1"/>
          <p:nvPr/>
        </p:nvSpPr>
        <p:spPr>
          <a:xfrm>
            <a:off x="6248400" y="1943100"/>
            <a:ext cx="5334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小样本、位置与偏差修正：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WMLE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SAM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PM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DMMLE</a:t>
            </a:r>
          </a:p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学习估计：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BPNN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95981E8-CBC1-6AC3-A087-0EF61A3CEBEC}"/>
              </a:ext>
            </a:extLst>
          </p:cNvPr>
          <p:cNvCxnSpPr/>
          <p:nvPr/>
        </p:nvCxnSpPr>
        <p:spPr>
          <a:xfrm>
            <a:off x="3492500" y="3429000"/>
            <a:ext cx="4445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A9E1E68-E458-3AFD-5FB8-F006CF69B13A}"/>
              </a:ext>
            </a:extLst>
          </p:cNvPr>
          <p:cNvSpPr/>
          <p:nvPr/>
        </p:nvSpPr>
        <p:spPr>
          <a:xfrm>
            <a:off x="3937000" y="2984500"/>
            <a:ext cx="2032000" cy="8763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7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改观测与数据条件</a:t>
            </a:r>
          </a:p>
        </p:txBody>
      </p:sp>
      <p:sp>
        <p:nvSpPr>
          <p:cNvPr id="25" name="讲解-25">
            <a:extLst>
              <a:ext uri="{FF2B5EF4-FFF2-40B4-BE49-F238E27FC236}">
                <a16:creationId xmlns:a16="http://schemas.microsoft.com/office/drawing/2014/main" id="{D0F854A7-A467-CE04-8784-4CAAAB2A18CE}"/>
              </a:ext>
            </a:extLst>
          </p:cNvPr>
          <p:cNvSpPr txBox="1"/>
          <p:nvPr/>
        </p:nvSpPr>
        <p:spPr>
          <a:xfrm>
            <a:off x="6248400" y="3086100"/>
            <a:ext cx="5334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删失、截尾、离群污染、加速寿命试验</a:t>
            </a:r>
          </a:p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所用数据和假设发生变化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7A3006B-DD13-77D6-DD8A-A00D92AE73CC}"/>
              </a:ext>
            </a:extLst>
          </p:cNvPr>
          <p:cNvCxnSpPr/>
          <p:nvPr/>
        </p:nvCxnSpPr>
        <p:spPr>
          <a:xfrm>
            <a:off x="3492500" y="4572000"/>
            <a:ext cx="4445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137B338E-ACF4-D64F-B459-ADE0E8567277}"/>
              </a:ext>
            </a:extLst>
          </p:cNvPr>
          <p:cNvSpPr/>
          <p:nvPr/>
        </p:nvSpPr>
        <p:spPr>
          <a:xfrm>
            <a:off x="3937000" y="4127500"/>
            <a:ext cx="2032000" cy="8763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700" dirty="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改计算过程</a:t>
            </a:r>
          </a:p>
        </p:txBody>
      </p:sp>
      <p:sp>
        <p:nvSpPr>
          <p:cNvPr id="28" name="讲解-28">
            <a:extLst>
              <a:ext uri="{FF2B5EF4-FFF2-40B4-BE49-F238E27FC236}">
                <a16:creationId xmlns:a16="http://schemas.microsoft.com/office/drawing/2014/main" id="{2073E926-3C6D-179D-BD85-290EC556704B}"/>
              </a:ext>
            </a:extLst>
          </p:cNvPr>
          <p:cNvSpPr txBox="1"/>
          <p:nvPr/>
        </p:nvSpPr>
        <p:spPr>
          <a:xfrm>
            <a:off x="6248400" y="4229100"/>
            <a:ext cx="5334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PSO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ADGBO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等求解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MLE</a:t>
            </a:r>
          </a:p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改善初值敏感、搜索停滞与计算效率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7BF3800-F8BE-33DA-DBAA-CCBD6BCA4A73}"/>
              </a:ext>
            </a:extLst>
          </p:cNvPr>
          <p:cNvCxnSpPr/>
          <p:nvPr/>
        </p:nvCxnSpPr>
        <p:spPr>
          <a:xfrm>
            <a:off x="3492500" y="5715000"/>
            <a:ext cx="4445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59D0386B-D623-A132-947B-1D2A79C0AB77}"/>
              </a:ext>
            </a:extLst>
          </p:cNvPr>
          <p:cNvSpPr/>
          <p:nvPr/>
        </p:nvSpPr>
        <p:spPr>
          <a:xfrm>
            <a:off x="3937000" y="5270500"/>
            <a:ext cx="2032000" cy="876300"/>
          </a:xfrm>
          <a:prstGeom prst="rect">
            <a:avLst/>
          </a:prstGeom>
          <a:solidFill>
            <a:srgbClr val="FFFFFF"/>
          </a:solidFill>
          <a:ln w="13970">
            <a:solidFill>
              <a:srgbClr val="2F60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zh-CN" altLang="en-US" sz="17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扩展推断目标</a:t>
            </a:r>
          </a:p>
        </p:txBody>
      </p:sp>
      <p:sp>
        <p:nvSpPr>
          <p:cNvPr id="31" name="讲解-31">
            <a:extLst>
              <a:ext uri="{FF2B5EF4-FFF2-40B4-BE49-F238E27FC236}">
                <a16:creationId xmlns:a16="http://schemas.microsoft.com/office/drawing/2014/main" id="{A96B4E68-5D7B-CC0F-7C2F-A84F2821EC2C}"/>
              </a:ext>
            </a:extLst>
          </p:cNvPr>
          <p:cNvSpPr txBox="1"/>
          <p:nvPr/>
        </p:nvSpPr>
        <p:spPr>
          <a:xfrm>
            <a:off x="6248400" y="5372100"/>
            <a:ext cx="5334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区间、预测、可靠度与贝叶斯推断</a:t>
            </a:r>
          </a:p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关注的不只是三个参数的点估计</a:t>
            </a:r>
          </a:p>
        </p:txBody>
      </p:sp>
    </p:spTree>
    <p:extLst>
      <p:ext uri="{BB962C8B-B14F-4D97-AF65-F5344CB8AC3E}">
        <p14:creationId xmlns:p14="http://schemas.microsoft.com/office/powerpoint/2010/main" val="1829369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近年的新方法，实际和谁比、在什么条件下比？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文献怎样选择比较对象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03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091B521-167D-FAF6-6A90-F88C0D89D5D3}"/>
              </a:ext>
            </a:extLst>
          </p:cNvPr>
          <p:cNvSpPr txBox="1"/>
          <p:nvPr/>
        </p:nvSpPr>
        <p:spPr>
          <a:xfrm>
            <a:off x="609600" y="1866900"/>
            <a:ext cx="34671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LSPF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Nagatsuka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 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2013</a:t>
            </a:r>
          </a:p>
          <a:p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 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BL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WMLE</a:t>
            </a:r>
            <a:endParaRPr lang="zh-CN" altLang="en-US" sz="1600" b="1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046296C-D31A-8A40-3339-CCD22C0DBA39}"/>
              </a:ext>
            </a:extLst>
          </p:cNvPr>
          <p:cNvCxnSpPr/>
          <p:nvPr/>
        </p:nvCxnSpPr>
        <p:spPr>
          <a:xfrm>
            <a:off x="4127500" y="2159000"/>
            <a:ext cx="2794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0301B443-D5FE-91A4-7A5F-D4F07BBEF766}"/>
              </a:ext>
            </a:extLst>
          </p:cNvPr>
          <p:cNvSpPr txBox="1"/>
          <p:nvPr/>
        </p:nvSpPr>
        <p:spPr>
          <a:xfrm>
            <a:off x="4597400" y="1866900"/>
            <a:ext cx="32258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l-GR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β=0.5—5</a:t>
            </a:r>
            <a:r>
              <a:rPr lang="zh-CN" altLang="el-GR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l-GR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η=1</a:t>
            </a:r>
            <a:r>
              <a:rPr lang="zh-CN" altLang="el-GR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l-GR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γ=0</a:t>
            </a:r>
          </a:p>
          <a:p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n=10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489209EB-BE79-A50F-1632-72A8EC015A0E}"/>
              </a:ext>
            </a:extLst>
          </p:cNvPr>
          <p:cNvCxnSpPr/>
          <p:nvPr/>
        </p:nvCxnSpPr>
        <p:spPr>
          <a:xfrm>
            <a:off x="7912100" y="2159000"/>
            <a:ext cx="2794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A992FA58-F87B-DFD1-3EBC-4011432515D8}"/>
              </a:ext>
            </a:extLst>
          </p:cNvPr>
          <p:cNvSpPr txBox="1"/>
          <p:nvPr/>
        </p:nvSpPr>
        <p:spPr>
          <a:xfrm>
            <a:off x="8382000" y="1866900"/>
            <a:ext cx="32004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检验形状似然构造</a:t>
            </a:r>
          </a:p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结果随样本量与参数变化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C4FAD69-354D-B040-7C65-BF776891E95F}"/>
              </a:ext>
            </a:extLst>
          </p:cNvPr>
          <p:cNvCxnSpPr/>
          <p:nvPr/>
        </p:nvCxnSpPr>
        <p:spPr>
          <a:xfrm>
            <a:off x="609600" y="2730500"/>
            <a:ext cx="109728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E6416F6F-071F-EBCA-D167-4B4166562E50}"/>
              </a:ext>
            </a:extLst>
          </p:cNvPr>
          <p:cNvSpPr txBox="1"/>
          <p:nvPr/>
        </p:nvSpPr>
        <p:spPr>
          <a:xfrm>
            <a:off x="609600" y="2921000"/>
            <a:ext cx="34671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SAM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Guo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 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2023</a:t>
            </a:r>
          </a:p>
          <a:p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 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MLE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CCWP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PWM</a:t>
            </a:r>
            <a:endParaRPr lang="zh-CN" altLang="en-US" sz="1600" b="1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745676B-7D68-4EB1-B3ED-31017A018C25}"/>
              </a:ext>
            </a:extLst>
          </p:cNvPr>
          <p:cNvCxnSpPr/>
          <p:nvPr/>
        </p:nvCxnSpPr>
        <p:spPr>
          <a:xfrm>
            <a:off x="4127500" y="3213100"/>
            <a:ext cx="2794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8E3D29A0-F6F3-1888-3198-78F2CE7E4C3D}"/>
              </a:ext>
            </a:extLst>
          </p:cNvPr>
          <p:cNvSpPr txBox="1"/>
          <p:nvPr/>
        </p:nvSpPr>
        <p:spPr>
          <a:xfrm>
            <a:off x="4597400" y="2921000"/>
            <a:ext cx="32258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l-GR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β=1.5</a:t>
            </a:r>
            <a:r>
              <a:rPr lang="zh-CN" altLang="el-GR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l-GR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l-GR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l-GR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2.5</a:t>
            </a:r>
            <a:r>
              <a:rPr lang="zh-CN" altLang="el-GR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l-GR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γ=1</a:t>
            </a:r>
          </a:p>
          <a:p>
            <a:r>
              <a:rPr lang="el-GR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η=0.2—4</a:t>
            </a:r>
            <a:r>
              <a:rPr lang="zh-CN" altLang="el-GR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l-GR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n=5—20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5B0113C6-DD55-423A-8247-0D4BD0E5CDC6}"/>
              </a:ext>
            </a:extLst>
          </p:cNvPr>
          <p:cNvCxnSpPr/>
          <p:nvPr/>
        </p:nvCxnSpPr>
        <p:spPr>
          <a:xfrm>
            <a:off x="7912100" y="3213100"/>
            <a:ext cx="2794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03BE6D4B-1591-C2CC-3079-F7DFE60AEB52}"/>
              </a:ext>
            </a:extLst>
          </p:cNvPr>
          <p:cNvSpPr txBox="1"/>
          <p:nvPr/>
        </p:nvSpPr>
        <p:spPr>
          <a:xfrm>
            <a:off x="8382000" y="2921000"/>
            <a:ext cx="32004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检验极小样本的误差与波动</a:t>
            </a:r>
          </a:p>
          <a:p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n≤10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时平均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MAD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优势明显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8597063A-4C60-487F-E627-B7A815C7914A}"/>
              </a:ext>
            </a:extLst>
          </p:cNvPr>
          <p:cNvCxnSpPr/>
          <p:nvPr/>
        </p:nvCxnSpPr>
        <p:spPr>
          <a:xfrm>
            <a:off x="609600" y="3784600"/>
            <a:ext cx="109728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E9625C1C-A368-A9EE-27F0-1F20BDCFC978}"/>
              </a:ext>
            </a:extLst>
          </p:cNvPr>
          <p:cNvSpPr txBox="1"/>
          <p:nvPr/>
        </p:nvSpPr>
        <p:spPr>
          <a:xfrm>
            <a:off x="609600" y="3975100"/>
            <a:ext cx="34671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DMMLE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 Silva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 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2025</a:t>
            </a:r>
          </a:p>
          <a:p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 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MMLE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CMLE</a:t>
            </a:r>
            <a:endParaRPr lang="zh-CN" altLang="en-US" sz="1600" b="1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5E613148-7A06-3BA7-CAF0-5D0397526120}"/>
              </a:ext>
            </a:extLst>
          </p:cNvPr>
          <p:cNvCxnSpPr/>
          <p:nvPr/>
        </p:nvCxnSpPr>
        <p:spPr>
          <a:xfrm>
            <a:off x="4127500" y="4267200"/>
            <a:ext cx="2794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7F1B2B1B-63D5-2A55-0F53-26FB84211963}"/>
              </a:ext>
            </a:extLst>
          </p:cNvPr>
          <p:cNvSpPr txBox="1"/>
          <p:nvPr/>
        </p:nvSpPr>
        <p:spPr>
          <a:xfrm>
            <a:off x="4597400" y="3975100"/>
            <a:ext cx="32258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三组真参数</a:t>
            </a:r>
          </a:p>
          <a:p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n=50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1000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547DA388-81B4-C427-22E2-5702879C9F2E}"/>
              </a:ext>
            </a:extLst>
          </p:cNvPr>
          <p:cNvCxnSpPr/>
          <p:nvPr/>
        </p:nvCxnSpPr>
        <p:spPr>
          <a:xfrm>
            <a:off x="7912100" y="4267200"/>
            <a:ext cx="2794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F4B18E2B-B2DE-8EAE-1EE4-D7F30B2C89BA}"/>
              </a:ext>
            </a:extLst>
          </p:cNvPr>
          <p:cNvSpPr txBox="1"/>
          <p:nvPr/>
        </p:nvSpPr>
        <p:spPr>
          <a:xfrm>
            <a:off x="8382000" y="3975100"/>
            <a:ext cx="32004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检验新增偏差修正</a:t>
            </a:r>
          </a:p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偏差改善，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RMSE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总体接近</a:t>
            </a: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099F4187-AF97-2F05-1819-48EBD2421530}"/>
              </a:ext>
            </a:extLst>
          </p:cNvPr>
          <p:cNvCxnSpPr/>
          <p:nvPr/>
        </p:nvCxnSpPr>
        <p:spPr>
          <a:xfrm>
            <a:off x="609600" y="4838700"/>
            <a:ext cx="109728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887087D4-FD07-F5EE-3EBC-61FC66153514}"/>
              </a:ext>
            </a:extLst>
          </p:cNvPr>
          <p:cNvSpPr txBox="1"/>
          <p:nvPr/>
        </p:nvSpPr>
        <p:spPr>
          <a:xfrm>
            <a:off x="609600" y="5029200"/>
            <a:ext cx="34671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BPNN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Yang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 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2025</a:t>
            </a:r>
          </a:p>
          <a:p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 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CCM</a:t>
            </a:r>
            <a:r>
              <a:rPr lang="zh-CN" altLang="en-US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MDM</a:t>
            </a:r>
            <a:endParaRPr lang="zh-CN" altLang="en-US" sz="1600" b="1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39EC1060-2904-269B-EC4C-8D43A4374904}"/>
              </a:ext>
            </a:extLst>
          </p:cNvPr>
          <p:cNvCxnSpPr/>
          <p:nvPr/>
        </p:nvCxnSpPr>
        <p:spPr>
          <a:xfrm>
            <a:off x="4127500" y="5321300"/>
            <a:ext cx="2794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4DB59A06-E459-2E71-261B-F24AC9824989}"/>
              </a:ext>
            </a:extLst>
          </p:cNvPr>
          <p:cNvSpPr txBox="1"/>
          <p:nvPr/>
        </p:nvSpPr>
        <p:spPr>
          <a:xfrm>
            <a:off x="4597400" y="5029200"/>
            <a:ext cx="32258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给定训练与测试参数范围</a:t>
            </a:r>
          </a:p>
          <a:p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n=5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F864C6BE-89B3-615B-DF56-751E2E74966F}"/>
              </a:ext>
            </a:extLst>
          </p:cNvPr>
          <p:cNvCxnSpPr/>
          <p:nvPr/>
        </p:nvCxnSpPr>
        <p:spPr>
          <a:xfrm>
            <a:off x="7912100" y="5321300"/>
            <a:ext cx="279400" cy="0"/>
          </a:xfrm>
          <a:prstGeom prst="line">
            <a:avLst/>
          </a:prstGeom>
          <a:ln w="17780">
            <a:solidFill>
              <a:srgbClr val="2F60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348E3D88-5757-9BF8-E885-C12B8617AE0B}"/>
              </a:ext>
            </a:extLst>
          </p:cNvPr>
          <p:cNvSpPr txBox="1"/>
          <p:nvPr/>
        </p:nvSpPr>
        <p:spPr>
          <a:xfrm>
            <a:off x="8382000" y="5029200"/>
            <a:ext cx="32004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检验学习型小样本估计</a:t>
            </a:r>
          </a:p>
          <a:p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参数与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1%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分位点的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SD</a:t>
            </a:r>
            <a:r>
              <a:rPr lang="zh-CN" altLang="en-US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RMSE</a:t>
            </a:r>
            <a:endParaRPr lang="zh-CN" altLang="en-US" sz="1600">
              <a:solidFill>
                <a:srgbClr val="182B3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1583503-B2E1-BA6C-D500-36E960A06AAA}"/>
              </a:ext>
            </a:extLst>
          </p:cNvPr>
          <p:cNvSpPr txBox="1"/>
          <p:nvPr/>
        </p:nvSpPr>
        <p:spPr>
          <a:xfrm>
            <a:off x="609600" y="6159500"/>
            <a:ext cx="109728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研究主张决定比较对象，也决定样本量、参数条件与评价指标。</a:t>
            </a:r>
          </a:p>
        </p:txBody>
      </p:sp>
    </p:spTree>
    <p:extLst>
      <p:ext uri="{BB962C8B-B14F-4D97-AF65-F5344CB8AC3E}">
        <p14:creationId xmlns:p14="http://schemas.microsoft.com/office/powerpoint/2010/main" val="3369819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从文献比较安排中，可以归纳出哪些规律？</a:t>
            </a:r>
            <a:endParaRPr sz="255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文献怎样选择比较对象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03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A994C5B-6B4C-1C03-9881-63958D88D1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950833"/>
              </p:ext>
            </p:extLst>
          </p:nvPr>
        </p:nvGraphicFramePr>
        <p:xfrm>
          <a:off x="609600" y="1917700"/>
          <a:ext cx="6718300" cy="387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1945703674"/>
                    </a:ext>
                  </a:extLst>
                </a:gridCol>
                <a:gridCol w="3441700">
                  <a:extLst>
                    <a:ext uri="{9D8B030D-6E8A-4147-A177-3AD203B41FA5}">
                      <a16:colId xmlns:a16="http://schemas.microsoft.com/office/drawing/2014/main" val="3137893772"/>
                    </a:ext>
                  </a:extLst>
                </a:gridCol>
              </a:tblGrid>
              <a:tr h="7747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常见比较思路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 dirty="0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比较作用</a:t>
                      </a:r>
                    </a:p>
                  </a:txBody>
                  <a:tcPr marL="76200" marR="63500" marT="38100" marB="3810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872524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保留共同经典参照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联系已有研究</a:t>
                      </a:r>
                    </a:p>
                  </a:txBody>
                  <a:tcPr marL="76200" marR="63500" marT="38100" marB="3810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B0B0B0"/>
                      </a:solidFill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521213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选择已有较强方法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检验与有竞争力方法的差距</a:t>
                      </a:r>
                    </a:p>
                  </a:txBody>
                  <a:tcPr marL="76200" marR="63500" marT="38100" marB="3810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B0B0B0"/>
                      </a:solidFill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421419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与相近原理或母方法比较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识别新增修正的收益</a:t>
                      </a:r>
                    </a:p>
                  </a:txBody>
                  <a:tcPr marL="76200" marR="63500" marT="38100" marB="3810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B0B0B0"/>
                      </a:solidFill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128894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覆盖同任务的不同估计思路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观察新构造在同一任务中的表现</a:t>
                      </a:r>
                    </a:p>
                  </a:txBody>
                  <a:tcPr marL="76200" marR="63500" marT="38100" marB="38100" anchor="ctr">
                    <a:lnL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mpd="sng">
                      <a:solidFill>
                        <a:srgbClr val="B0B0B0"/>
                      </a:solidFill>
                    </a:lnR>
                    <a:lnT w="6350" cap="flat" cmpd="sng" algn="ctr">
                      <a:solidFill>
                        <a:srgbClr val="B0B0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10740"/>
                  </a:ext>
                </a:extLst>
              </a:tr>
            </a:tbl>
          </a:graphicData>
        </a:graphic>
      </p:graphicFrame>
      <p:sp>
        <p:nvSpPr>
          <p:cNvPr id="9" name="讲解-9">
            <a:extLst>
              <a:ext uri="{FF2B5EF4-FFF2-40B4-BE49-F238E27FC236}">
                <a16:creationId xmlns:a16="http://schemas.microsoft.com/office/drawing/2014/main" id="{68F358A1-B628-1DA7-2046-9072002BA0A3}"/>
              </a:ext>
            </a:extLst>
          </p:cNvPr>
          <p:cNvSpPr txBox="1"/>
          <p:nvPr/>
        </p:nvSpPr>
        <p:spPr>
          <a:xfrm>
            <a:off x="609600" y="60706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共同特点：围绕所解决的问题选择对手，具体组合随研究而变化。</a:t>
            </a:r>
          </a:p>
        </p:txBody>
      </p:sp>
    </p:spTree>
    <p:extLst>
      <p:ext uri="{BB962C8B-B14F-4D97-AF65-F5344CB8AC3E}">
        <p14:creationId xmlns:p14="http://schemas.microsoft.com/office/powerpoint/2010/main" val="3931503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Monte Carlo</a:t>
            </a: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怎样设置：已知真值，反复生成样本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1800">
                <a:latin typeface="Microsoft YaHei"/>
                <a:ea typeface="Microsoft YaHei"/>
                <a:cs typeface="Microsoft YaHei"/>
              </a:rPr>
              <a:t>Monte Carlo</a:t>
            </a:r>
            <a:r>
              <a:rPr lang="zh-CN" altLang="en-US" sz="1800">
                <a:latin typeface="Microsoft YaHei"/>
                <a:ea typeface="Microsoft YaHei"/>
                <a:cs typeface="Microsoft YaHei"/>
              </a:rPr>
              <a:t>怎样评价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04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讲解-7">
            <a:extLst>
              <a:ext uri="{FF2B5EF4-FFF2-40B4-BE49-F238E27FC236}">
                <a16:creationId xmlns:a16="http://schemas.microsoft.com/office/drawing/2014/main" id="{5A36121D-6736-A585-2764-28EC939E0BB3}"/>
              </a:ext>
            </a:extLst>
          </p:cNvPr>
          <p:cNvSpPr txBox="1"/>
          <p:nvPr/>
        </p:nvSpPr>
        <p:spPr>
          <a:xfrm>
            <a:off x="609600" y="16383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设定</a:t>
            </a:r>
            <a:r>
              <a:rPr lang="en-US" altLang="zh-CN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(β,η,γ)</a:t>
            </a:r>
            <a:r>
              <a:rPr lang="zh-CN" altLang="en-US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与样本量</a:t>
            </a:r>
            <a:r>
              <a:rPr lang="en-US" altLang="zh-CN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 → </a:t>
            </a:r>
            <a:r>
              <a:rPr lang="zh-CN" altLang="en-US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反复抽样 → 各方法估计 → 汇总误差与波动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D889225E-B103-E8CD-0604-2DDC3EDAE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61119"/>
              </p:ext>
            </p:extLst>
          </p:nvPr>
        </p:nvGraphicFramePr>
        <p:xfrm>
          <a:off x="609600" y="2425700"/>
          <a:ext cx="10972800" cy="321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4500">
                  <a:extLst>
                    <a:ext uri="{9D8B030D-6E8A-4147-A177-3AD203B41FA5}">
                      <a16:colId xmlns:a16="http://schemas.microsoft.com/office/drawing/2014/main" val="1497350617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1902088046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3397422742"/>
                    </a:ext>
                  </a:extLst>
                </a:gridCol>
              </a:tblGrid>
              <a:tr h="8032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文献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参数与样本量设置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每条件重复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482398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LSPF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2013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l-GR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β=0.5—5</a:t>
                      </a:r>
                      <a:r>
                        <a:rPr lang="zh-CN" altLang="el-GR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el-GR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η=1</a:t>
                      </a:r>
                      <a:r>
                        <a:rPr lang="zh-CN" altLang="el-GR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el-GR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γ=0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n=10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500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1000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次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028502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SAM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l-GR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β=1.5</a:t>
                      </a:r>
                      <a:r>
                        <a:rPr lang="zh-CN" altLang="el-GR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l-GR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r>
                        <a:rPr lang="zh-CN" altLang="el-GR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l-GR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2.5</a:t>
                      </a:r>
                      <a:r>
                        <a:rPr lang="zh-CN" altLang="el-GR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el-GR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η=0.2—4</a:t>
                      </a:r>
                      <a:r>
                        <a:rPr lang="zh-CN" altLang="el-GR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el-GR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γ=1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n=5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15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10000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次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290143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Akram–Hayat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2014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l-GR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β=0.5—9</a:t>
                      </a:r>
                      <a:r>
                        <a:rPr lang="zh-CN" altLang="el-GR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el-GR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η=100</a:t>
                      </a:r>
                      <a:r>
                        <a:rPr lang="zh-CN" altLang="el-GR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el-GR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γ=90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n=10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5000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次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996277"/>
                  </a:ext>
                </a:extLst>
              </a:tr>
            </a:tbl>
          </a:graphicData>
        </a:graphic>
      </p:graphicFrame>
      <p:sp>
        <p:nvSpPr>
          <p:cNvPr id="11" name="讲解-11">
            <a:extLst>
              <a:ext uri="{FF2B5EF4-FFF2-40B4-BE49-F238E27FC236}">
                <a16:creationId xmlns:a16="http://schemas.microsoft.com/office/drawing/2014/main" id="{412202E9-FA3F-C500-6100-0E0BE068653B}"/>
              </a:ext>
            </a:extLst>
          </p:cNvPr>
          <p:cNvSpPr txBox="1"/>
          <p:nvPr/>
        </p:nvSpPr>
        <p:spPr>
          <a:xfrm>
            <a:off x="609600" y="60325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按参数条件和样本量分别看结果：优势出现在哪里，随样本增加怎样变化。</a:t>
            </a:r>
          </a:p>
        </p:txBody>
      </p:sp>
    </p:spTree>
    <p:extLst>
      <p:ext uri="{BB962C8B-B14F-4D97-AF65-F5344CB8AC3E}">
        <p14:creationId xmlns:p14="http://schemas.microsoft.com/office/powerpoint/2010/main" val="4133368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模拟结果主要看：准确性、估计稳定性与有效率</a:t>
            </a:r>
            <a:endParaRPr sz="255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1800">
                <a:latin typeface="Microsoft YaHei"/>
                <a:ea typeface="Microsoft YaHei"/>
                <a:cs typeface="Microsoft YaHei"/>
              </a:rPr>
              <a:t>Monte Carlo</a:t>
            </a:r>
            <a:r>
              <a:rPr lang="zh-CN" altLang="en-US" sz="1800">
                <a:latin typeface="Microsoft YaHei"/>
                <a:ea typeface="Microsoft YaHei"/>
                <a:cs typeface="Microsoft YaHei"/>
              </a:rPr>
              <a:t>怎样评价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04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AF3FA49-E3F9-01DE-0B10-B119D0B59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38577"/>
              </p:ext>
            </p:extLst>
          </p:nvPr>
        </p:nvGraphicFramePr>
        <p:xfrm>
          <a:off x="609600" y="1955800"/>
          <a:ext cx="109728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304772527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122272364"/>
                    </a:ext>
                  </a:extLst>
                </a:gridCol>
                <a:gridCol w="5067300">
                  <a:extLst>
                    <a:ext uri="{9D8B030D-6E8A-4147-A177-3AD203B41FA5}">
                      <a16:colId xmlns:a16="http://schemas.microsoft.com/office/drawing/2014/main" val="2390186091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评价问题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常用指标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指标回答什么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177908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估得准不准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Bias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；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RMSE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或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MSE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平均偏向哪里；总体偏离真值多远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47522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估计稳不稳定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SD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换一批样本，估计值有多大变化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914975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能否得到有效结果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有效率／失败率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全部抽样中，有多少得到有效估计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478517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寿命量是否准确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分位点或可靠度寿命误差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参数误差如何传递到实际寿命量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337248"/>
                  </a:ext>
                </a:extLst>
              </a:tr>
            </a:tbl>
          </a:graphicData>
        </a:graphic>
      </p:graphicFrame>
      <p:sp>
        <p:nvSpPr>
          <p:cNvPr id="9" name="讲解-9">
            <a:extLst>
              <a:ext uri="{FF2B5EF4-FFF2-40B4-BE49-F238E27FC236}">
                <a16:creationId xmlns:a16="http://schemas.microsoft.com/office/drawing/2014/main" id="{3FC65FFC-C68B-A5C8-380A-C7618095EBDD}"/>
              </a:ext>
            </a:extLst>
          </p:cNvPr>
          <p:cNvSpPr txBox="1"/>
          <p:nvPr/>
        </p:nvSpPr>
        <p:spPr>
          <a:xfrm>
            <a:off x="609600" y="59817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β</a:t>
            </a:r>
            <a:r>
              <a:rPr lang="zh-CN" altLang="en-US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η</a:t>
            </a:r>
            <a:r>
              <a:rPr lang="zh-CN" altLang="en-US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γ</a:t>
            </a:r>
            <a:r>
              <a:rPr lang="zh-CN" altLang="en-US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分别统计；</a:t>
            </a:r>
            <a:r>
              <a:rPr lang="en-US" altLang="zh-CN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SAM</a:t>
            </a:r>
            <a:r>
              <a:rPr lang="zh-CN" altLang="en-US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等也报告跨参数平均</a:t>
            </a:r>
            <a:r>
              <a:rPr lang="en-US" altLang="zh-CN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MAD</a:t>
            </a:r>
            <a:r>
              <a:rPr lang="zh-CN" altLang="en-US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MSD</a:t>
            </a:r>
            <a:r>
              <a:rPr lang="zh-CN" altLang="en-US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52791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遇到无解或不收敛的样本，论文怎样比较？</a:t>
            </a:r>
            <a:endParaRPr sz="24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1800">
                <a:latin typeface="Microsoft YaHei"/>
                <a:ea typeface="Microsoft YaHei"/>
                <a:cs typeface="Microsoft YaHei"/>
              </a:rPr>
              <a:t>Monte Carlo</a:t>
            </a:r>
            <a:r>
              <a:rPr lang="zh-CN" altLang="en-US" sz="1800">
                <a:latin typeface="Microsoft YaHei"/>
                <a:ea typeface="Microsoft YaHei"/>
                <a:cs typeface="Microsoft YaHei"/>
              </a:rPr>
              <a:t>怎样评价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04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9B540FB-147B-FC4F-C270-1563D10BC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498696"/>
              </p:ext>
            </p:extLst>
          </p:nvPr>
        </p:nvGraphicFramePr>
        <p:xfrm>
          <a:off x="609600" y="1905000"/>
          <a:ext cx="10972800" cy="3289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8500">
                  <a:extLst>
                    <a:ext uri="{9D8B030D-6E8A-4147-A177-3AD203B41FA5}">
                      <a16:colId xmlns:a16="http://schemas.microsoft.com/office/drawing/2014/main" val="2449981795"/>
                    </a:ext>
                  </a:extLst>
                </a:gridCol>
                <a:gridCol w="5194300">
                  <a:extLst>
                    <a:ext uri="{9D8B030D-6E8A-4147-A177-3AD203B41FA5}">
                      <a16:colId xmlns:a16="http://schemas.microsoft.com/office/drawing/2014/main" val="2930267420"/>
                    </a:ext>
                  </a:extLst>
                </a:gridCol>
              </a:tblGrid>
              <a:tr h="8223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文献中的处理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结果实际说明什么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679206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仅保留收敛样本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Akram–Hayat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2014</a:t>
                      </a: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得到的是成功样本上的误差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956255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限制搜索条件并报告未得到估计次数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比较研究</a:t>
                      </a:r>
                      <a:r>
                        <a:rPr lang="en-US" altLang="zh-CN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[182-091]</a:t>
                      </a:r>
                      <a:endParaRPr lang="zh-CN" altLang="en-US" sz="17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同时展示计算设置与有效求解情况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494753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排除失败的样本，只对比有解子集的结果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70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做失败标记，计算误差排除标记值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534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279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真实数据没有参数真值，究竟评价什么？</a:t>
            </a:r>
            <a:endParaRPr sz="255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真实数据怎样分析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05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D04D4AB-1661-9048-C3A2-9A2ECE345F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603647"/>
              </p:ext>
            </p:extLst>
          </p:nvPr>
        </p:nvGraphicFramePr>
        <p:xfrm>
          <a:off x="609600" y="1981200"/>
          <a:ext cx="10972800" cy="354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3500">
                  <a:extLst>
                    <a:ext uri="{9D8B030D-6E8A-4147-A177-3AD203B41FA5}">
                      <a16:colId xmlns:a16="http://schemas.microsoft.com/office/drawing/2014/main" val="1869646350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497979012"/>
                    </a:ext>
                  </a:extLst>
                </a:gridCol>
                <a:gridCol w="3721100">
                  <a:extLst>
                    <a:ext uri="{9D8B030D-6E8A-4147-A177-3AD203B41FA5}">
                      <a16:colId xmlns:a16="http://schemas.microsoft.com/office/drawing/2014/main" val="3050300134"/>
                    </a:ext>
                  </a:extLst>
                </a:gridCol>
              </a:tblGrid>
              <a:tr h="8858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分析内容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文献怎样做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可以回答的问题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754791"/>
                  </a:ext>
                </a:extLst>
              </a:tr>
              <a:tr h="8858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实际可用性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给出参数估计、运行结果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这组数据能否得到有效结果？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524728"/>
                  </a:ext>
                </a:extLst>
              </a:tr>
              <a:tr h="8858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拟合表现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经验</a:t>
                      </a:r>
                      <a:r>
                        <a:rPr lang="en-US" altLang="zh-CN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CDF</a:t>
                      </a:r>
                      <a:r>
                        <a:rPr lang="zh-CN" altLang="en-US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与拟合曲线；</a:t>
                      </a:r>
                      <a:r>
                        <a:rPr lang="en-US" altLang="zh-CN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K-S</a:t>
                      </a:r>
                      <a:r>
                        <a:rPr lang="zh-CN" altLang="en-US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／</a:t>
                      </a:r>
                      <a:r>
                        <a:rPr lang="en-US" altLang="zh-CN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AD</a:t>
                      </a:r>
                      <a:endParaRPr lang="zh-CN" altLang="en-US" sz="1800" b="0">
                        <a:solidFill>
                          <a:srgbClr val="182B38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模型与观测数据符合得怎样？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532246"/>
                  </a:ext>
                </a:extLst>
              </a:tr>
              <a:tr h="885825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寿命量及应用解释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平均寿命、可靠度寿命、分位点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80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估计结果怎样用于实际问题？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910784"/>
                  </a:ext>
                </a:extLst>
              </a:tr>
            </a:tbl>
          </a:graphicData>
        </a:graphic>
      </p:graphicFrame>
      <p:sp>
        <p:nvSpPr>
          <p:cNvPr id="9" name="讲解-9">
            <a:extLst>
              <a:ext uri="{FF2B5EF4-FFF2-40B4-BE49-F238E27FC236}">
                <a16:creationId xmlns:a16="http://schemas.microsoft.com/office/drawing/2014/main" id="{C28CB002-DDB4-A316-2E23-48E7E6A8A434}"/>
              </a:ext>
            </a:extLst>
          </p:cNvPr>
          <p:cNvSpPr txBox="1"/>
          <p:nvPr/>
        </p:nvSpPr>
        <p:spPr>
          <a:xfrm>
            <a:off x="609600" y="59563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可以比较方法，也可以展示应用；参数真值未知，不能直接计算参数误差。</a:t>
            </a:r>
          </a:p>
        </p:txBody>
      </p:sp>
    </p:spTree>
    <p:extLst>
      <p:ext uri="{BB962C8B-B14F-4D97-AF65-F5344CB8AC3E}">
        <p14:creationId xmlns:p14="http://schemas.microsoft.com/office/powerpoint/2010/main" val="1306900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真实案例：有的比较拟合，有的展示能否算、怎样用</a:t>
            </a:r>
            <a:endParaRPr sz="260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真实数据怎样分析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05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F02C61F-19F8-53CC-BD35-C58EBA52E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431598"/>
              </p:ext>
            </p:extLst>
          </p:nvPr>
        </p:nvGraphicFramePr>
        <p:xfrm>
          <a:off x="609600" y="1943100"/>
          <a:ext cx="10972800" cy="375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8200">
                  <a:extLst>
                    <a:ext uri="{9D8B030D-6E8A-4147-A177-3AD203B41FA5}">
                      <a16:colId xmlns:a16="http://schemas.microsoft.com/office/drawing/2014/main" val="4205755636"/>
                    </a:ext>
                  </a:extLst>
                </a:gridCol>
                <a:gridCol w="4838700">
                  <a:extLst>
                    <a:ext uri="{9D8B030D-6E8A-4147-A177-3AD203B41FA5}">
                      <a16:colId xmlns:a16="http://schemas.microsoft.com/office/drawing/2014/main" val="3385929888"/>
                    </a:ext>
                  </a:extLst>
                </a:gridCol>
                <a:gridCol w="2755900">
                  <a:extLst>
                    <a:ext uri="{9D8B030D-6E8A-4147-A177-3AD203B41FA5}">
                      <a16:colId xmlns:a16="http://schemas.microsoft.com/office/drawing/2014/main" val="3030457455"/>
                    </a:ext>
                  </a:extLst>
                </a:gridCol>
              </a:tblGrid>
              <a:tr h="939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论文与数据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实际分析内容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5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主要说明什么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2F60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663216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BPNN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2025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15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个铝合金疲劳寿命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5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对</a:t>
                      </a:r>
                      <a:r>
                        <a:rPr lang="en-US" altLang="zh-CN" sz="165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CCM</a:t>
                      </a:r>
                      <a:r>
                        <a:rPr lang="zh-CN" altLang="en-US" sz="165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65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MDM</a:t>
                      </a:r>
                      <a:r>
                        <a:rPr lang="zh-CN" altLang="en-US" sz="165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比较参数、</a:t>
                      </a:r>
                      <a:r>
                        <a:rPr lang="en-US" altLang="zh-CN" sz="165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CDF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5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K-S</a:t>
                      </a:r>
                      <a:r>
                        <a:rPr lang="zh-CN" altLang="en-US" sz="165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统计量及</a:t>
                      </a:r>
                      <a:r>
                        <a:rPr lang="en-US" altLang="zh-CN" sz="165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</a:t>
                      </a:r>
                      <a:r>
                        <a:rPr lang="zh-CN" altLang="en-US" sz="165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值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这组数据上的拟合表现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196251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LSPF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2013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点轴承寿命、</a:t>
                      </a: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点寿命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参数结果、变换似然形状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同时记录不收敛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困难小样本上的可计算性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221959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SAM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2023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点轴承寿命、</a:t>
                      </a: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点寿命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K-S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CDF</a:t>
                      </a: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、平均寿命与可靠度寿命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50" b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部分对照采用历史结果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50" b="0" dirty="0">
                          <a:solidFill>
                            <a:srgbClr val="182B38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拟合与实际寿命量的解释</a:t>
                      </a:r>
                    </a:p>
                  </a:txBody>
                  <a:tcPr marL="76200" marR="63500" marT="38100" marB="38100" anchor="ctr">
                    <a:lnL w="6350" cmpd="sng">
                      <a:solidFill>
                        <a:srgbClr val="B0B0B0"/>
                      </a:solidFill>
                    </a:lnL>
                    <a:lnR w="6350" cmpd="sng">
                      <a:solidFill>
                        <a:srgbClr val="B0B0B0"/>
                      </a:solidFill>
                    </a:lnR>
                    <a:lnT w="6350" cmpd="sng">
                      <a:solidFill>
                        <a:srgbClr val="B0B0B0"/>
                      </a:solidFill>
                    </a:lnT>
                    <a:lnB w="6350" cmpd="sng">
                      <a:solidFill>
                        <a:srgbClr val="B0B0B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976285"/>
                  </a:ext>
                </a:extLst>
              </a:tr>
            </a:tbl>
          </a:graphicData>
        </a:graphic>
      </p:graphicFrame>
      <p:sp>
        <p:nvSpPr>
          <p:cNvPr id="10" name="讲解-10">
            <a:extLst>
              <a:ext uri="{FF2B5EF4-FFF2-40B4-BE49-F238E27FC236}">
                <a16:creationId xmlns:a16="http://schemas.microsoft.com/office/drawing/2014/main" id="{F0700ACF-5AA2-6EE9-32B2-E859E2B12F05}"/>
              </a:ext>
            </a:extLst>
          </p:cNvPr>
          <p:cNvSpPr txBox="1"/>
          <p:nvPr/>
        </p:nvSpPr>
        <p:spPr>
          <a:xfrm>
            <a:off x="609600" y="60579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真实案例提供应用证据；</a:t>
            </a:r>
            <a:r>
              <a:rPr lang="en-US" altLang="zh-CN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Monte Carlo</a:t>
            </a:r>
            <a:r>
              <a:rPr lang="zh-CN" altLang="en-US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提供已知真值下的参数性能证据。</a:t>
            </a:r>
          </a:p>
        </p:txBody>
      </p:sp>
    </p:spTree>
    <p:extLst>
      <p:ext uri="{BB962C8B-B14F-4D97-AF65-F5344CB8AC3E}">
        <p14:creationId xmlns:p14="http://schemas.microsoft.com/office/powerpoint/2010/main" val="383128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回到研究问题：怎样评价一种参数估计方法？</a:t>
            </a:r>
            <a:endParaRPr sz="255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总结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06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讲解-7">
            <a:extLst>
              <a:ext uri="{FF2B5EF4-FFF2-40B4-BE49-F238E27FC236}">
                <a16:creationId xmlns:a16="http://schemas.microsoft.com/office/drawing/2014/main" id="{7E03810D-092F-80E2-E8B6-D815D00F94E4}"/>
              </a:ext>
            </a:extLst>
          </p:cNvPr>
          <p:cNvSpPr txBox="1"/>
          <p:nvPr/>
        </p:nvSpPr>
        <p:spPr>
          <a:xfrm>
            <a:off x="609600" y="1981200"/>
            <a:ext cx="241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方法依据</a:t>
            </a:r>
          </a:p>
        </p:txBody>
      </p:sp>
      <p:sp>
        <p:nvSpPr>
          <p:cNvPr id="9" name="讲解-9">
            <a:extLst>
              <a:ext uri="{FF2B5EF4-FFF2-40B4-BE49-F238E27FC236}">
                <a16:creationId xmlns:a16="http://schemas.microsoft.com/office/drawing/2014/main" id="{07AAD46B-B5B4-B78B-64E1-346F9B576A66}"/>
              </a:ext>
            </a:extLst>
          </p:cNvPr>
          <p:cNvSpPr txBox="1"/>
          <p:nvPr/>
        </p:nvSpPr>
        <p:spPr>
          <a:xfrm>
            <a:off x="3200400" y="1981200"/>
            <a:ext cx="838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它用什么关系估计参数，主要解决什么问题？</a:t>
            </a:r>
          </a:p>
        </p:txBody>
      </p:sp>
      <p:sp>
        <p:nvSpPr>
          <p:cNvPr id="10" name="讲解-10">
            <a:extLst>
              <a:ext uri="{FF2B5EF4-FFF2-40B4-BE49-F238E27FC236}">
                <a16:creationId xmlns:a16="http://schemas.microsoft.com/office/drawing/2014/main" id="{E96614E7-54BA-5AC3-D165-6F9CA5C55AA7}"/>
              </a:ext>
            </a:extLst>
          </p:cNvPr>
          <p:cNvSpPr txBox="1"/>
          <p:nvPr/>
        </p:nvSpPr>
        <p:spPr>
          <a:xfrm>
            <a:off x="609600" y="2946400"/>
            <a:ext cx="241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对比对象</a:t>
            </a:r>
          </a:p>
        </p:txBody>
      </p:sp>
      <p:sp>
        <p:nvSpPr>
          <p:cNvPr id="11" name="讲解-11">
            <a:extLst>
              <a:ext uri="{FF2B5EF4-FFF2-40B4-BE49-F238E27FC236}">
                <a16:creationId xmlns:a16="http://schemas.microsoft.com/office/drawing/2014/main" id="{16C0F3E1-65C7-5B1A-BEB7-8F8CD2321252}"/>
              </a:ext>
            </a:extLst>
          </p:cNvPr>
          <p:cNvSpPr txBox="1"/>
          <p:nvPr/>
        </p:nvSpPr>
        <p:spPr>
          <a:xfrm>
            <a:off x="3200400" y="2946400"/>
            <a:ext cx="838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文献中同类问题选择了谁，为什么这样比较？</a:t>
            </a:r>
          </a:p>
        </p:txBody>
      </p:sp>
      <p:sp>
        <p:nvSpPr>
          <p:cNvPr id="12" name="讲解-12">
            <a:extLst>
              <a:ext uri="{FF2B5EF4-FFF2-40B4-BE49-F238E27FC236}">
                <a16:creationId xmlns:a16="http://schemas.microsoft.com/office/drawing/2014/main" id="{1E7E0D4C-36FD-FF46-D3E1-20B029F03D3F}"/>
              </a:ext>
            </a:extLst>
          </p:cNvPr>
          <p:cNvSpPr txBox="1"/>
          <p:nvPr/>
        </p:nvSpPr>
        <p:spPr>
          <a:xfrm>
            <a:off x="609600" y="3911600"/>
            <a:ext cx="241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Monte Carlo</a:t>
            </a:r>
            <a:endParaRPr lang="zh-CN" altLang="en-US" sz="2200" b="1">
              <a:solidFill>
                <a:srgbClr val="2F609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讲解-13">
            <a:extLst>
              <a:ext uri="{FF2B5EF4-FFF2-40B4-BE49-F238E27FC236}">
                <a16:creationId xmlns:a16="http://schemas.microsoft.com/office/drawing/2014/main" id="{1EF8E9B1-6A91-4A57-F58A-5BD6DDA43DC4}"/>
              </a:ext>
            </a:extLst>
          </p:cNvPr>
          <p:cNvSpPr txBox="1"/>
          <p:nvPr/>
        </p:nvSpPr>
        <p:spPr>
          <a:xfrm>
            <a:off x="3200400" y="3911600"/>
            <a:ext cx="838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在目标参数空间与样本量下，估得准不准、稳不稳、能否有效求解？</a:t>
            </a:r>
          </a:p>
        </p:txBody>
      </p:sp>
      <p:sp>
        <p:nvSpPr>
          <p:cNvPr id="15" name="讲解-15">
            <a:extLst>
              <a:ext uri="{FF2B5EF4-FFF2-40B4-BE49-F238E27FC236}">
                <a16:creationId xmlns:a16="http://schemas.microsoft.com/office/drawing/2014/main" id="{4BC0E6AB-153C-6699-D8E2-EBAA254E7EA0}"/>
              </a:ext>
            </a:extLst>
          </p:cNvPr>
          <p:cNvSpPr txBox="1"/>
          <p:nvPr/>
        </p:nvSpPr>
        <p:spPr>
          <a:xfrm>
            <a:off x="609600" y="4876800"/>
            <a:ext cx="241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真实数据</a:t>
            </a:r>
          </a:p>
        </p:txBody>
      </p:sp>
      <p:sp>
        <p:nvSpPr>
          <p:cNvPr id="16" name="讲解-16">
            <a:extLst>
              <a:ext uri="{FF2B5EF4-FFF2-40B4-BE49-F238E27FC236}">
                <a16:creationId xmlns:a16="http://schemas.microsoft.com/office/drawing/2014/main" id="{88B593F1-8B9B-EF53-3384-CDCA0077A1B5}"/>
              </a:ext>
            </a:extLst>
          </p:cNvPr>
          <p:cNvSpPr txBox="1"/>
          <p:nvPr/>
        </p:nvSpPr>
        <p:spPr>
          <a:xfrm>
            <a:off x="3200400" y="4876800"/>
            <a:ext cx="838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>
                <a:solidFill>
                  <a:srgbClr val="182B3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在实际样本上，能否使用、拟合怎样、寿命量如何解释？</a:t>
            </a:r>
          </a:p>
        </p:txBody>
      </p:sp>
      <p:sp>
        <p:nvSpPr>
          <p:cNvPr id="17" name="讲解-17">
            <a:extLst>
              <a:ext uri="{FF2B5EF4-FFF2-40B4-BE49-F238E27FC236}">
                <a16:creationId xmlns:a16="http://schemas.microsoft.com/office/drawing/2014/main" id="{25A3CD51-E859-40CC-D946-1C84A5434E93}"/>
              </a:ext>
            </a:extLst>
          </p:cNvPr>
          <p:cNvSpPr txBox="1"/>
          <p:nvPr/>
        </p:nvSpPr>
        <p:spPr>
          <a:xfrm>
            <a:off x="609600" y="6070600"/>
            <a:ext cx="109728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900" b="1">
                <a:solidFill>
                  <a:srgbClr val="2F609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结论落到具体条件：相对于谁、改善什么、在哪些条件下成立。</a:t>
            </a:r>
          </a:p>
        </p:txBody>
      </p:sp>
    </p:spTree>
    <p:extLst>
      <p:ext uri="{BB962C8B-B14F-4D97-AF65-F5344CB8AC3E}">
        <p14:creationId xmlns:p14="http://schemas.microsoft.com/office/powerpoint/2010/main" val="2237248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en-US" altLang="zh-CN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Study01</a:t>
            </a: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：从寻找最优</a:t>
            </a:r>
            <a:r>
              <a:rPr lang="en-US" altLang="zh-CN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δ</a:t>
            </a: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，到样本自适应最小差异法</a:t>
            </a:r>
            <a:endParaRPr sz="255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自适应最小差异法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07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7490DE-13F9-FFD6-649D-BE2BE7688760}"/>
              </a:ext>
            </a:extLst>
          </p:cNvPr>
          <p:cNvSpPr txBox="1"/>
          <p:nvPr/>
        </p:nvSpPr>
        <p:spPr>
          <a:xfrm>
            <a:off x="533400" y="1739900"/>
            <a:ext cx="1104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 dirty="0">
                <a:solidFill>
                  <a:srgbClr val="2F6096"/>
                </a:solidFill>
                <a:latin typeface="微软雅黑" panose="020B0503020204020204" pitchFamily="34" charset="-122"/>
              </a:rPr>
              <a:t>面向三参数 </a:t>
            </a:r>
            <a:r>
              <a:rPr lang="en-US" altLang="zh-CN" sz="2400" b="1" dirty="0">
                <a:solidFill>
                  <a:srgbClr val="2F6096"/>
                </a:solidFill>
                <a:latin typeface="微软雅黑" panose="020B0503020204020204" pitchFamily="34" charset="-122"/>
              </a:rPr>
              <a:t>Weibull </a:t>
            </a:r>
            <a:r>
              <a:rPr lang="zh-CN" altLang="en-US" sz="2400" b="1" dirty="0">
                <a:solidFill>
                  <a:srgbClr val="2F6096"/>
                </a:solidFill>
                <a:latin typeface="微软雅黑" panose="020B0503020204020204" pitchFamily="34" charset="-122"/>
              </a:rPr>
              <a:t>小样本估计的样本自适应最小差异法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793E105-7315-F5FB-742D-4DF1A4123DED}"/>
              </a:ext>
            </a:extLst>
          </p:cNvPr>
          <p:cNvSpPr txBox="1"/>
          <p:nvPr/>
        </p:nvSpPr>
        <p:spPr>
          <a:xfrm>
            <a:off x="533400" y="2438400"/>
            <a:ext cx="18415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100" b="1">
                <a:solidFill>
                  <a:srgbClr val="2F6096"/>
                </a:solidFill>
                <a:latin typeface="微软雅黑" panose="020B0503020204020204" pitchFamily="34" charset="-122"/>
              </a:rPr>
              <a:t>前期工作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86E6CB8-E336-26A8-3E60-E3639452FA0F}"/>
              </a:ext>
            </a:extLst>
          </p:cNvPr>
          <p:cNvSpPr txBox="1"/>
          <p:nvPr/>
        </p:nvSpPr>
        <p:spPr>
          <a:xfrm>
            <a:off x="2540000" y="2425700"/>
            <a:ext cx="8763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>
                <a:solidFill>
                  <a:srgbClr val="182B38"/>
                </a:solidFill>
                <a:latin typeface="微软雅黑" panose="020B0503020204020204" pitchFamily="34" charset="-122"/>
              </a:rPr>
              <a:t>寻找合适的</a:t>
            </a:r>
            <a:r>
              <a:rPr lang="en-US" altLang="zh-CN" sz="2200">
                <a:solidFill>
                  <a:srgbClr val="182B38"/>
                </a:solidFill>
                <a:latin typeface="微软雅黑" panose="020B0503020204020204" pitchFamily="34" charset="-122"/>
              </a:rPr>
              <a:t>δ</a:t>
            </a:r>
            <a:r>
              <a:rPr lang="zh-CN" altLang="en-US" sz="2200">
                <a:solidFill>
                  <a:srgbClr val="182B38"/>
                </a:solidFill>
                <a:latin typeface="微软雅黑" panose="020B0503020204020204" pitchFamily="34" charset="-122"/>
              </a:rPr>
              <a:t>，改善固定偏移</a:t>
            </a:r>
            <a:r>
              <a:rPr lang="en-US" altLang="zh-CN" sz="2200">
                <a:solidFill>
                  <a:srgbClr val="182B38"/>
                </a:solidFill>
                <a:latin typeface="微软雅黑" panose="020B0503020204020204" pitchFamily="34" charset="-122"/>
              </a:rPr>
              <a:t>MDM</a:t>
            </a:r>
            <a:r>
              <a:rPr lang="zh-CN" altLang="en-US" sz="2200">
                <a:solidFill>
                  <a:srgbClr val="182B38"/>
                </a:solidFill>
                <a:latin typeface="微软雅黑" panose="020B0503020204020204" pitchFamily="34" charset="-122"/>
              </a:rPr>
              <a:t>的参数估计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27D8733-253A-347B-9379-26D8F6DF8AE3}"/>
              </a:ext>
            </a:extLst>
          </p:cNvPr>
          <p:cNvSpPr txBox="1"/>
          <p:nvPr/>
        </p:nvSpPr>
        <p:spPr>
          <a:xfrm>
            <a:off x="533400" y="3429000"/>
            <a:ext cx="18415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100" b="1">
                <a:solidFill>
                  <a:srgbClr val="2F6096"/>
                </a:solidFill>
                <a:latin typeface="微软雅黑" panose="020B0503020204020204" pitchFamily="34" charset="-122"/>
              </a:rPr>
              <a:t>现在的主线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6517F29-3126-7A73-FBB0-F339056A6A45}"/>
              </a:ext>
            </a:extLst>
          </p:cNvPr>
          <p:cNvSpPr txBox="1"/>
          <p:nvPr/>
        </p:nvSpPr>
        <p:spPr>
          <a:xfrm>
            <a:off x="2540000" y="3365500"/>
            <a:ext cx="8763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2F6096"/>
                </a:solidFill>
                <a:latin typeface="微软雅黑" panose="020B0503020204020204" pitchFamily="34" charset="-122"/>
              </a:rPr>
              <a:t>利用当前样本调节估计规则，形成完整的</a:t>
            </a:r>
            <a:r>
              <a:rPr lang="en-US" altLang="zh-CN" sz="2400" b="1">
                <a:solidFill>
                  <a:srgbClr val="2F6096"/>
                </a:solidFill>
                <a:latin typeface="微软雅黑" panose="020B0503020204020204" pitchFamily="34" charset="-122"/>
              </a:rPr>
              <a:t>AMDM</a:t>
            </a:r>
            <a:r>
              <a:rPr lang="zh-CN" altLang="en-US" sz="2400" b="1">
                <a:solidFill>
                  <a:srgbClr val="2F6096"/>
                </a:solidFill>
                <a:latin typeface="微软雅黑" panose="020B0503020204020204" pitchFamily="34" charset="-122"/>
              </a:rPr>
              <a:t>估计器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27E571F-F7C5-D0DC-EE57-F4F4175BFE04}"/>
              </a:ext>
            </a:extLst>
          </p:cNvPr>
          <p:cNvSpPr txBox="1"/>
          <p:nvPr/>
        </p:nvSpPr>
        <p:spPr>
          <a:xfrm>
            <a:off x="533400" y="4572000"/>
            <a:ext cx="18415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100" b="1">
                <a:solidFill>
                  <a:srgbClr val="2F6096"/>
                </a:solidFill>
                <a:latin typeface="微软雅黑" panose="020B0503020204020204" pitchFamily="34" charset="-122"/>
              </a:rPr>
              <a:t>方法构成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593FAB6-E3E1-6BE0-9271-CDE028249820}"/>
              </a:ext>
            </a:extLst>
          </p:cNvPr>
          <p:cNvSpPr txBox="1"/>
          <p:nvPr/>
        </p:nvSpPr>
        <p:spPr>
          <a:xfrm>
            <a:off x="2540000" y="4470400"/>
            <a:ext cx="87630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200" dirty="0">
                <a:solidFill>
                  <a:srgbClr val="182B38"/>
                </a:solidFill>
                <a:latin typeface="微软雅黑" panose="020B0503020204020204" pitchFamily="34" charset="-122"/>
              </a:rPr>
              <a:t>根据样本预测候选偏移的损失，选择</a:t>
            </a:r>
            <a:r>
              <a:rPr lang="en-US" altLang="zh-CN" sz="2200" dirty="0">
                <a:solidFill>
                  <a:srgbClr val="182B38"/>
                </a:solidFill>
                <a:latin typeface="微软雅黑" panose="020B0503020204020204" pitchFamily="34" charset="-122"/>
              </a:rPr>
              <a:t>δ</a:t>
            </a:r>
          </a:p>
          <a:p>
            <a:r>
              <a:rPr lang="en-US" altLang="zh-CN" sz="2200" dirty="0">
                <a:solidFill>
                  <a:srgbClr val="182B38"/>
                </a:solidFill>
                <a:latin typeface="微软雅黑" panose="020B0503020204020204" pitchFamily="34" charset="-122"/>
              </a:rPr>
              <a:t>MDM</a:t>
            </a:r>
            <a:r>
              <a:rPr lang="zh-CN" altLang="en-US" sz="2200" dirty="0">
                <a:solidFill>
                  <a:srgbClr val="182B38"/>
                </a:solidFill>
                <a:latin typeface="微软雅黑" panose="020B0503020204020204" pitchFamily="34" charset="-122"/>
              </a:rPr>
              <a:t>据此求解位置，再恢复形状和尺度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E32E98B-B8DF-7189-5F9C-F9D5E16DF8BF}"/>
              </a:ext>
            </a:extLst>
          </p:cNvPr>
          <p:cNvSpPr txBox="1"/>
          <p:nvPr/>
        </p:nvSpPr>
        <p:spPr>
          <a:xfrm>
            <a:off x="533400" y="5918200"/>
            <a:ext cx="11176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2F6096"/>
                </a:solidFill>
                <a:latin typeface="微软雅黑" panose="020B0503020204020204" pitchFamily="34" charset="-122"/>
              </a:rPr>
              <a:t>评价：自适应是否有效 → 与常用方法的比较 → 小样本优势</a:t>
            </a:r>
          </a:p>
        </p:txBody>
      </p:sp>
    </p:spTree>
    <p:extLst>
      <p:ext uri="{BB962C8B-B14F-4D97-AF65-F5344CB8AC3E}">
        <p14:creationId xmlns:p14="http://schemas.microsoft.com/office/powerpoint/2010/main" val="1996898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en-US" altLang="zh-CN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MDM</a:t>
            </a: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基础：样本构造曲线，偏移改变求解落点</a:t>
            </a:r>
            <a:endParaRPr sz="255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自适应最小差异法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07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EEC26D0-FC90-CB06-DE7D-8F17259FC9B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20" y="1483360"/>
            <a:ext cx="10751820" cy="525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239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en-US" altLang="zh-CN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AMDM</a:t>
            </a: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：让当前样本参与偏移选择与完整参数估计</a:t>
            </a:r>
            <a:endParaRPr sz="255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自适应最小差异法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07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D0204AE-B5FA-1319-B2DA-8E524D977B5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409700"/>
            <a:ext cx="11557000" cy="49403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FE36CEC-F5A6-4D3A-4235-04F891AFBD5C}"/>
              </a:ext>
            </a:extLst>
          </p:cNvPr>
          <p:cNvSpPr txBox="1"/>
          <p:nvPr/>
        </p:nvSpPr>
        <p:spPr>
          <a:xfrm>
            <a:off x="533400" y="6273800"/>
            <a:ext cx="11176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2F6096"/>
                </a:solidFill>
                <a:latin typeface="微软雅黑" panose="020B0503020204020204" pitchFamily="34" charset="-122"/>
              </a:rPr>
              <a:t>样本既决定求解曲线，也参与确定曲线上的选点规则。</a:t>
            </a:r>
          </a:p>
        </p:txBody>
      </p:sp>
    </p:spTree>
    <p:extLst>
      <p:ext uri="{BB962C8B-B14F-4D97-AF65-F5344CB8AC3E}">
        <p14:creationId xmlns:p14="http://schemas.microsoft.com/office/powerpoint/2010/main" val="2360430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方法比较：四个小样本量下的三参数估计误差</a:t>
            </a:r>
            <a:endParaRPr sz="255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自适应最小差异法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07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8C451F98-0265-6E69-1D4A-29EA8FDE87A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2" t="45576" r="-962" b="8381"/>
          <a:stretch>
            <a:fillRect/>
          </a:stretch>
        </p:blipFill>
        <p:spPr>
          <a:xfrm>
            <a:off x="5433788" y="3298000"/>
            <a:ext cx="6698207" cy="301180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1C7BC4B-23E0-DBF4-7E89-76B14FEC1E11}"/>
              </a:ext>
            </a:extLst>
          </p:cNvPr>
          <p:cNvPicPr>
            <a:picLocks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957"/>
          <a:stretch>
            <a:fillRect/>
          </a:stretch>
        </p:blipFill>
        <p:spPr>
          <a:xfrm>
            <a:off x="-362118" y="1550035"/>
            <a:ext cx="6698207" cy="301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7092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15DA01A-2910-3342-B5D4-99A92B16D64B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23850">
              <a:buNone/>
              <a:defRPr sz="25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小样本优势：相对</a:t>
            </a:r>
            <a:r>
              <a:rPr lang="en-US" altLang="zh-CN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MLE</a:t>
            </a:r>
            <a:r>
              <a:rPr lang="zh-CN" altLang="en-US" sz="255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的误差降幅随样本量变化</a:t>
            </a:r>
            <a:endParaRPr sz="2550" b="1" spc="-150">
              <a:solidFill>
                <a:srgbClr val="FFFFFF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4E24BC-645C-45E5-4B2A-ABE7C7E2BE1A}"/>
              </a:ext>
            </a:extLst>
          </p:cNvPr>
          <p:cNvSpPr>
            <a:spLocks noGrp="1"/>
          </p:cNvSpPr>
          <p:nvPr/>
        </p:nvSpPr>
        <p:spPr>
          <a:xfrm>
            <a:off x="1065043" y="352424"/>
            <a:ext cx="8778240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800">
                <a:latin typeface="Microsoft YaHei"/>
                <a:ea typeface="Microsoft YaHei"/>
                <a:cs typeface="Microsoft YaHei"/>
              </a:rPr>
              <a:t>自适应最小差异法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0319A6-1BEB-71B0-ACC1-3DBD8C30C9BE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0CC4B99C-8837-D9FF-2AD7-93B40BA4FC63}"/>
              </a:ext>
            </a:extLst>
          </p:cNvPr>
          <p:cNvSpPr>
            <a:spLocks noGrp="1"/>
          </p:cNvSpPr>
          <p:nvPr/>
        </p:nvSpPr>
        <p:spPr>
          <a:xfrm>
            <a:off x="415122" y="352424"/>
            <a:ext cx="1299843" cy="40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800">
                <a:latin typeface="Microsoft YaHei"/>
                <a:ea typeface="Microsoft YaHei"/>
                <a:cs typeface="Microsoft YaHei"/>
              </a:rPr>
              <a:t>07</a:t>
            </a:r>
            <a:endParaRPr sz="180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BF05FB9-83B9-13E3-40DC-0631F49B3F9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536700"/>
            <a:ext cx="11430000" cy="487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769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1170</TotalTime>
  <Words>3531</Words>
  <Application>Microsoft Office PowerPoint</Application>
  <DocSecurity>0</DocSecurity>
  <PresentationFormat>宽屏</PresentationFormat>
  <Paragraphs>418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等线</vt:lpstr>
      <vt:lpstr>等线 Light</vt:lpstr>
      <vt:lpstr>汉仪粗宋简</vt:lpstr>
      <vt:lpstr>汉仪文润宋韵 U</vt:lpstr>
      <vt:lpstr>Microsoft YaHei</vt:lpstr>
      <vt:lpstr>Microsoft YaHei</vt:lpstr>
      <vt:lpstr>Arial</vt:lpstr>
      <vt:lpstr>Calibri</vt:lpstr>
      <vt:lpstr>Calibri Light</vt:lpstr>
      <vt:lpstr>Office 主题​​</vt:lpstr>
      <vt:lpstr>2_自定义设计方案</vt:lpstr>
      <vt:lpstr>3_自定义设计方案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H60655@365mak.com</cp:lastModifiedBy>
  <cp:revision>66</cp:revision>
  <dcterms:created xsi:type="dcterms:W3CDTF">2026-09-06T04:22:26Z</dcterms:created>
  <dcterms:modified xsi:type="dcterms:W3CDTF">2026-09-28T10:37:28Z</dcterms:modified>
</cp:coreProperties>
</file>