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1b490dab924980" /><Relationship Type="http://schemas.openxmlformats.org/officeDocument/2006/relationships/extended-properties" Target="/docProps/app.xml" Id="R46c6bd245d1f49da" /><Relationship Type="http://schemas.openxmlformats.org/officeDocument/2006/relationships/officeDocument" Target="/ppt/presentation.xml" Id="R113a5d24ee6b494a" /></Relationships>
</file>

<file path=ppt/presentation.xml><?xml version="1.0" encoding="utf-8"?>
<p:presentation xmlns:p="http://schemas.openxmlformats.org/presentationml/2006/main">
  <p:sldMasterIdLst>
    <p:sldMasterId xmlns:r="http://schemas.openxmlformats.org/officeDocument/2006/relationships" id="2147483648" r:id="R7a7ba9d9d8d542f6"/>
    <p:sldMasterId xmlns:r="http://schemas.openxmlformats.org/officeDocument/2006/relationships" id="2147483660" r:id="R8ddce9bf03c54e0b"/>
    <p:sldMasterId xmlns:r="http://schemas.openxmlformats.org/officeDocument/2006/relationships" id="2147483663" r:id="R8a26d2f6443e41cb"/>
  </p:sldMasterIdLst>
  <p:notesMasterIdLst>
    <p:notesMasterId xmlns:r="http://schemas.openxmlformats.org/officeDocument/2006/relationships" r:id="Rcfcdfde829ae40a4"/>
  </p:notesMasterIdLst>
  <p:sldIdLst>
    <p:sldId xmlns:r="http://schemas.openxmlformats.org/officeDocument/2006/relationships" id="256" r:id="R53a5776bfc8a4aa1"/>
    <p:sldId xmlns:r="http://schemas.openxmlformats.org/officeDocument/2006/relationships" id="257" r:id="Raa3b07db78c74c5c"/>
    <p:sldId xmlns:r="http://schemas.openxmlformats.org/officeDocument/2006/relationships" id="258" r:id="Rd51ff08f6c64457b"/>
    <p:sldId xmlns:r="http://schemas.openxmlformats.org/officeDocument/2006/relationships" id="259" r:id="Re4c50fc94618494d"/>
    <p:sldId xmlns:r="http://schemas.openxmlformats.org/officeDocument/2006/relationships" id="260" r:id="R5a2f896356054462"/>
    <p:sldId xmlns:r="http://schemas.openxmlformats.org/officeDocument/2006/relationships" id="261" r:id="R9f744211c28f4810"/>
    <p:sldId xmlns:r="http://schemas.openxmlformats.org/officeDocument/2006/relationships" id="262" r:id="R61836ebd5a484849"/>
    <p:sldId xmlns:r="http://schemas.openxmlformats.org/officeDocument/2006/relationships" id="263" r:id="R6fe5dd31af5d489c"/>
    <p:sldId xmlns:r="http://schemas.openxmlformats.org/officeDocument/2006/relationships" id="264" r:id="R55e36cdde18349a5"/>
    <p:sldId xmlns:r="http://schemas.openxmlformats.org/officeDocument/2006/relationships" id="265" r:id="Re1566d17cc224c54"/>
    <p:sldId xmlns:r="http://schemas.openxmlformats.org/officeDocument/2006/relationships" id="266" r:id="Rdea4637732d14c9b"/>
    <p:sldId xmlns:r="http://schemas.openxmlformats.org/officeDocument/2006/relationships" id="267" r:id="R910ab5dc45c5447a"/>
    <p:sldId xmlns:r="http://schemas.openxmlformats.org/officeDocument/2006/relationships" id="268" r:id="R96fe85c98b8945df"/>
    <p:sldId xmlns:r="http://schemas.openxmlformats.org/officeDocument/2006/relationships" id="269" r:id="R85cf48986f124aee"/>
    <p:sldId xmlns:r="http://schemas.openxmlformats.org/officeDocument/2006/relationships" id="270" r:id="Rfc250d682b8e4a1b"/>
    <p:sldId xmlns:r="http://schemas.openxmlformats.org/officeDocument/2006/relationships" id="271" r:id="Rf7be7443506341a7"/>
    <p:sldId xmlns:r="http://schemas.openxmlformats.org/officeDocument/2006/relationships" id="272" r:id="R4e6078942b5f404b"/>
    <p:sldId xmlns:r="http://schemas.openxmlformats.org/officeDocument/2006/relationships" id="273" r:id="R5f5f5a6967b640ee"/>
    <p:sldId xmlns:r="http://schemas.openxmlformats.org/officeDocument/2006/relationships" id="274" r:id="R395f549e619e41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cac6e851a154a4c" /><Relationship Type="http://schemas.openxmlformats.org/officeDocument/2006/relationships/slideMaster" Target="/ppt/slideMasters/slideMaster1.xml" Id="R7a7ba9d9d8d542f6" /><Relationship Type="http://schemas.openxmlformats.org/officeDocument/2006/relationships/slideMaster" Target="/ppt/slideMasters/slideMaster2.xml" Id="R8ddce9bf03c54e0b" /><Relationship Type="http://schemas.openxmlformats.org/officeDocument/2006/relationships/slideMaster" Target="/ppt/slideMasters/slideMaster3.xml" Id="R8a26d2f6443e41cb" /><Relationship Type="http://schemas.openxmlformats.org/officeDocument/2006/relationships/notesMaster" Target="/ppt/notesMasters/notesMaster1.xml" Id="Rcfcdfde829ae40a4" /><Relationship Type="http://schemas.openxmlformats.org/officeDocument/2006/relationships/presProps" Target="/ppt/presProps.xml" Id="R31ccedc2614d40db" /><Relationship Type="http://schemas.openxmlformats.org/officeDocument/2006/relationships/viewProps" Target="/ppt/viewProps.xml" Id="Rf8ec2affe381436a" /><Relationship Type="http://schemas.openxmlformats.org/officeDocument/2006/relationships/tableStyles" Target="/ppt/tableStyles.xml" Id="R9cb0070063f942b2" /><Relationship Type="http://schemas.openxmlformats.org/officeDocument/2006/relationships/slide" Target="/ppt/slides/slide1.xml" Id="R53a5776bfc8a4aa1" /><Relationship Type="http://schemas.openxmlformats.org/officeDocument/2006/relationships/slide" Target="/ppt/slides/slide2.xml" Id="Raa3b07db78c74c5c" /><Relationship Type="http://schemas.openxmlformats.org/officeDocument/2006/relationships/slide" Target="/ppt/slides/slide3.xml" Id="Rd51ff08f6c64457b" /><Relationship Type="http://schemas.openxmlformats.org/officeDocument/2006/relationships/slide" Target="/ppt/slides/slide4.xml" Id="Re4c50fc94618494d" /><Relationship Type="http://schemas.openxmlformats.org/officeDocument/2006/relationships/slide" Target="/ppt/slides/slide5.xml" Id="R5a2f896356054462" /><Relationship Type="http://schemas.openxmlformats.org/officeDocument/2006/relationships/slide" Target="/ppt/slides/slide6.xml" Id="R9f744211c28f4810" /><Relationship Type="http://schemas.openxmlformats.org/officeDocument/2006/relationships/slide" Target="/ppt/slides/slide7.xml" Id="R61836ebd5a484849" /><Relationship Type="http://schemas.openxmlformats.org/officeDocument/2006/relationships/slide" Target="/ppt/slides/slide8.xml" Id="R6fe5dd31af5d489c" /><Relationship Type="http://schemas.openxmlformats.org/officeDocument/2006/relationships/slide" Target="/ppt/slides/slide9.xml" Id="R55e36cdde18349a5" /><Relationship Type="http://schemas.openxmlformats.org/officeDocument/2006/relationships/slide" Target="/ppt/slides/slide10.xml" Id="Re1566d17cc224c54" /><Relationship Type="http://schemas.openxmlformats.org/officeDocument/2006/relationships/slide" Target="/ppt/slides/slide11.xml" Id="Rdea4637732d14c9b" /><Relationship Type="http://schemas.openxmlformats.org/officeDocument/2006/relationships/slide" Target="/ppt/slides/slide12.xml" Id="R910ab5dc45c5447a" /><Relationship Type="http://schemas.openxmlformats.org/officeDocument/2006/relationships/slide" Target="/ppt/slides/slide13.xml" Id="R96fe85c98b8945df" /><Relationship Type="http://schemas.openxmlformats.org/officeDocument/2006/relationships/slide" Target="/ppt/slides/slide14.xml" Id="R85cf48986f124aee" /><Relationship Type="http://schemas.openxmlformats.org/officeDocument/2006/relationships/slide" Target="/ppt/slides/slide15.xml" Id="Rfc250d682b8e4a1b" /><Relationship Type="http://schemas.openxmlformats.org/officeDocument/2006/relationships/slide" Target="/ppt/slides/slide16.xml" Id="Rf7be7443506341a7" /><Relationship Type="http://schemas.openxmlformats.org/officeDocument/2006/relationships/slide" Target="/ppt/slides/slide17.xml" Id="R4e6078942b5f404b" /><Relationship Type="http://schemas.openxmlformats.org/officeDocument/2006/relationships/slide" Target="/ppt/slides/slide18.xml" Id="R5f5f5a6967b640ee" /><Relationship Type="http://schemas.openxmlformats.org/officeDocument/2006/relationships/slide" Target="/ppt/slides/slide19.xml" Id="R395f549e619e41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0d4502dadf1a4d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33447249b04238" /><Relationship Type="http://schemas.openxmlformats.org/officeDocument/2006/relationships/notesMaster" Target="/ppt/notesMasters/notesMaster1.xml" Id="R56526901aa2449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fc7a9d1a14c89" /><Relationship Type="http://schemas.openxmlformats.org/officeDocument/2006/relationships/notesMaster" Target="/ppt/notesMasters/notesMaster1.xml" Id="R72a86cdfdde240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a69beeb4ed4c88" /><Relationship Type="http://schemas.openxmlformats.org/officeDocument/2006/relationships/notesMaster" Target="/ppt/notesMasters/notesMaster1.xml" Id="R7447388e07f048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9cba3d42a04e5e" /><Relationship Type="http://schemas.openxmlformats.org/officeDocument/2006/relationships/notesMaster" Target="/ppt/notesMasters/notesMaster1.xml" Id="R52e4f4dafdf341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362b124d614683" /><Relationship Type="http://schemas.openxmlformats.org/officeDocument/2006/relationships/notesMaster" Target="/ppt/notesMasters/notesMaster1.xml" Id="R6c5e84f8e37749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f2f31d06ab4076" /><Relationship Type="http://schemas.openxmlformats.org/officeDocument/2006/relationships/notesMaster" Target="/ppt/notesMasters/notesMaster1.xml" Id="R970fced6064241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f6754aecc94037" /><Relationship Type="http://schemas.openxmlformats.org/officeDocument/2006/relationships/notesMaster" Target="/ppt/notesMasters/notesMaster1.xml" Id="R30a06ad333774c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44d390a0164b6b" /><Relationship Type="http://schemas.openxmlformats.org/officeDocument/2006/relationships/notesMaster" Target="/ppt/notesMasters/notesMaster1.xml" Id="Rf8588d407b774b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b049521eda4ee2" /><Relationship Type="http://schemas.openxmlformats.org/officeDocument/2006/relationships/notesMaster" Target="/ppt/notesMasters/notesMaster1.xml" Id="Rbe7e9c5cf1e14a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1e2c2cf9494629" /><Relationship Type="http://schemas.openxmlformats.org/officeDocument/2006/relationships/notesMaster" Target="/ppt/notesMasters/notesMaster1.xml" Id="R7d3a264bc43048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438d7f05c946d9" /><Relationship Type="http://schemas.openxmlformats.org/officeDocument/2006/relationships/notesMaster" Target="/ppt/notesMasters/notesMaster1.xml" Id="Ra79b74cfeee249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963808ff2f40ed" /><Relationship Type="http://schemas.openxmlformats.org/officeDocument/2006/relationships/notesMaster" Target="/ppt/notesMasters/notesMaster1.xml" Id="Rfb83f139f86341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c9de4d7fb44e05" /><Relationship Type="http://schemas.openxmlformats.org/officeDocument/2006/relationships/notesMaster" Target="/ppt/notesMasters/notesMaster1.xml" Id="Reca5c99ab42349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e7ed95a34d45ea" /><Relationship Type="http://schemas.openxmlformats.org/officeDocument/2006/relationships/notesMaster" Target="/ppt/notesMasters/notesMaster1.xml" Id="Rdfab6f2f10de44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1d5eeb1ba64e79" /><Relationship Type="http://schemas.openxmlformats.org/officeDocument/2006/relationships/notesMaster" Target="/ppt/notesMasters/notesMaster1.xml" Id="R9911fecdce2041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35b21c747f47d9" /><Relationship Type="http://schemas.openxmlformats.org/officeDocument/2006/relationships/notesMaster" Target="/ppt/notesMasters/notesMaster1.xml" Id="R13773f6f9a6f43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550148aad44543" /><Relationship Type="http://schemas.openxmlformats.org/officeDocument/2006/relationships/notesMaster" Target="/ppt/notesMasters/notesMaster1.xml" Id="R9c0c52cdea764e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1005800eec4fa7" /><Relationship Type="http://schemas.openxmlformats.org/officeDocument/2006/relationships/notesMaster" Target="/ppt/notesMasters/notesMaster1.xml" Id="Rd3c75224dff4439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c0ef32215854972" /><Relationship Type="http://schemas.openxmlformats.org/officeDocument/2006/relationships/notesMaster" Target="/ppt/notesMasters/notesMaster1.xml" Id="R8abbdde149ae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与报告</a:t>
            </a:r>
            <a:r>
              <a:rPr sz="1800"/>
              <a:t>1.1</a:t>
            </a:r>
            <a:r>
              <a:rPr sz="1800"/>
              <a:t>及图</a:t>
            </a:r>
            <a:r>
              <a:rPr sz="1800"/>
              <a:t>1</a:t>
            </a:r>
            <a:r>
              <a:rPr sz="1800"/>
              <a:t>统一为</a:t>
            </a:r>
            <a:r>
              <a:rPr sz="1800"/>
              <a:t>A/B/C/D</a:t>
            </a:r>
            <a:r>
              <a:rPr sz="1800"/>
              <a:t>四组。不是互斥穷尽的数学分类。项目</a:t>
            </a:r>
            <a:r>
              <a:rPr sz="1800"/>
              <a:t>LS</a:t>
            </a:r>
            <a:r>
              <a:rPr sz="1800"/>
              <a:t>和</a:t>
            </a:r>
            <a:r>
              <a:rPr sz="1800"/>
              <a:t>LRE</a:t>
            </a:r>
            <a:r>
              <a:rPr sz="1800"/>
              <a:t>均可用最小二乘回归，主要差异是分数和回归方向。</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来源：报告图</a:t>
            </a:r>
            <a:r>
              <a:rPr sz="1800"/>
              <a:t>1</a:t>
            </a:r>
            <a:r>
              <a:rPr sz="1800"/>
              <a:t>原有的</a:t>
            </a:r>
            <a:r>
              <a:rPr sz="1800"/>
              <a:t>A</a:t>
            </a:r>
            <a:r>
              <a:rPr sz="1800"/>
              <a:t>部分。节点、作者年份和连线关系沿用原图，按</a:t>
            </a:r>
            <a:r>
              <a:rPr sz="1800"/>
              <a:t>PPT</a:t>
            </a:r>
            <a:r>
              <a:rPr sz="1800"/>
              <a:t>版面重排。</a:t>
            </a:r>
          </a:p>
          <a:p xmlns:a="http://schemas.openxmlformats.org/drawingml/2006/main">
            <a:r>
              <a:rPr sz="1800"/>
              <a:t>共同起点是样本似然，后续工作分别处理偏差、边界和数值求解。</a:t>
            </a:r>
          </a:p>
          <a:p xmlns:a="http://schemas.openxmlformats.org/drawingml/2006/main">
            <a:r>
              <a:rPr sz="1800"/>
              <a:t>WMLE</a:t>
            </a:r>
            <a:r>
              <a:rPr sz="1800"/>
              <a:t>修正有限样本估计方程，</a:t>
            </a:r>
            <a:r>
              <a:rPr sz="1800"/>
              <a:t>MMLE</a:t>
            </a:r>
            <a:r>
              <a:rPr sz="1800"/>
              <a:t>改变似然构造，</a:t>
            </a:r>
            <a:r>
              <a:rPr sz="1800"/>
              <a:t>DMMLE</a:t>
            </a:r>
            <a:r>
              <a:rPr sz="1800"/>
              <a:t>进一步修正得分偏差。</a:t>
            </a:r>
          </a:p>
          <a:p xmlns:a="http://schemas.openxmlformats.org/drawingml/2006/main">
            <a:r>
              <a:rPr sz="1800"/>
              <a:t>PSO</a:t>
            </a:r>
            <a:r>
              <a:rPr sz="1800"/>
              <a:t>、</a:t>
            </a:r>
            <a:r>
              <a:rPr sz="1800"/>
              <a:t>ADGBO</a:t>
            </a:r>
            <a:r>
              <a:rPr sz="1800"/>
              <a:t>等若保持同一似然与约束，改进的是求解过程。</a:t>
            </a:r>
          </a:p>
          <a:p xmlns:a="http://schemas.openxmlformats.org/drawingml/2006/main">
            <a:r>
              <a:rPr sz="1800"/>
              <a:t>WMLE [182-088]</a:t>
            </a:r>
            <a:r>
              <a:rPr sz="1800"/>
              <a:t>；</a:t>
            </a:r>
            <a:r>
              <a:rPr sz="1800"/>
              <a:t>DMMLE [182-111]</a:t>
            </a:r>
            <a:r>
              <a:rPr sz="1800"/>
              <a:t>；</a:t>
            </a:r>
            <a:r>
              <a:rPr sz="1800"/>
              <a:t>ADGBO [187-001]</a:t>
            </a:r>
            <a:r>
              <a:rPr sz="1800"/>
              <a:t>。</a:t>
            </a:r>
            <a:r>
              <a:rPr sz="1800"/>
              <a:t>Fisher</a:t>
            </a:r>
            <a:r>
              <a:rPr sz="1800"/>
              <a:t>（</a:t>
            </a:r>
            <a:r>
              <a:rPr sz="1800"/>
              <a:t>1922</a:t>
            </a:r>
            <a:r>
              <a:rPr sz="1800"/>
              <a:t>）标示通用似然原理来源。</a:t>
            </a:r>
          </a:p>
          <a:p xmlns:a="http://schemas.openxmlformats.org/drawingml/2006/main">
            <a:r>
              <a:rPr sz="1800"/>
              <a:t>WMLE</a:t>
            </a:r>
            <a:r>
              <a:rPr sz="1800"/>
              <a:t>承接</a:t>
            </a:r>
            <a:r>
              <a:rPr sz="1800"/>
              <a:t>Jacquelin</a:t>
            </a:r>
            <a:r>
              <a:rPr sz="1800"/>
              <a:t>（</a:t>
            </a:r>
            <a:r>
              <a:rPr sz="1800"/>
              <a:t>1993</a:t>
            </a:r>
            <a:r>
              <a:rPr sz="1800"/>
              <a:t>）的二参数构造。</a:t>
            </a:r>
            <a:r>
              <a:rPr sz="1800"/>
              <a:t>Fisher</a:t>
            </a:r>
            <a:r>
              <a:rPr sz="1800"/>
              <a:t>（</a:t>
            </a:r>
            <a:r>
              <a:rPr sz="1800"/>
              <a:t>1922</a:t>
            </a:r>
            <a:r>
              <a:rPr sz="1800"/>
              <a:t>）为通用似然原理来源，非三参数</a:t>
            </a:r>
            <a:r>
              <a:rPr sz="1800"/>
              <a:t>Weibull</a:t>
            </a:r>
            <a:r>
              <a:rPr sz="1800"/>
              <a:t>方法提出年份。蓝为已有依据，紫为统计构造改变，黄为数值求解。</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a:t>
            </a:r>
            <a:r>
              <a:rPr sz="1800"/>
              <a:t>1.3</a:t>
            </a:r>
            <a:r>
              <a:rPr sz="1800"/>
              <a:t>及附录</a:t>
            </a:r>
            <a:r>
              <a:rPr sz="1800"/>
              <a:t>B</a:t>
            </a:r>
            <a:r>
              <a:rPr sz="1800"/>
              <a:t>第</a:t>
            </a:r>
            <a:r>
              <a:rPr sz="1800"/>
              <a:t>2—4</a:t>
            </a:r>
            <a:r>
              <a:rPr sz="1800"/>
              <a:t>节。</a:t>
            </a:r>
            <a:r>
              <a:rPr sz="1800"/>
              <a:t>LS=least squares</a:t>
            </a:r>
            <a:r>
              <a:rPr sz="1800"/>
              <a:t>，</a:t>
            </a:r>
            <a:r>
              <a:rPr sz="1800"/>
              <a:t>LRE=linear regression estimation</a:t>
            </a:r>
            <a:r>
              <a:rPr sz="1800"/>
              <a:t>，图中</a:t>
            </a:r>
            <a:r>
              <a:rPr sz="1800"/>
              <a:t>LRE</a:t>
            </a:r>
            <a:r>
              <a:rPr sz="1800"/>
              <a:t>为路线</a:t>
            </a:r>
            <a:r>
              <a:rPr sz="1800"/>
              <a:t>/</a:t>
            </a:r>
            <a:r>
              <a:rPr sz="1800"/>
              <a:t>项目标签。</a:t>
            </a:r>
            <a:r>
              <a:rPr sz="1800"/>
              <a:t>Li</a:t>
            </a:r>
            <a:r>
              <a:rPr sz="1800"/>
              <a:t>原文用</a:t>
            </a:r>
            <a:r>
              <a:rPr sz="1800"/>
              <a:t>GLRA/GLLS</a:t>
            </a:r>
            <a:r>
              <a:rPr sz="1800"/>
              <a:t>；</a:t>
            </a:r>
            <a:r>
              <a:rPr sz="1800"/>
              <a:t>Park</a:t>
            </a:r>
            <a:r>
              <a:rPr sz="1800"/>
              <a:t>回归恢复分支称</a:t>
            </a:r>
            <a:r>
              <a:rPr sz="1800"/>
              <a:t>Proposed+Plot</a:t>
            </a:r>
            <a:r>
              <a:rPr sz="1800"/>
              <a:t>。项目</a:t>
            </a:r>
            <a:r>
              <a:rPr sz="1800"/>
              <a:t>LS</a:t>
            </a:r>
            <a:r>
              <a:rPr sz="1800"/>
              <a:t>使用期望分数，回归</a:t>
            </a:r>
            <a:r>
              <a:rPr sz="1800"/>
              <a:t>x</a:t>
            </a:r>
            <a:r>
              <a:rPr sz="1800"/>
              <a:t>对</a:t>
            </a:r>
            <a:r>
              <a:rPr sz="1800"/>
              <a:t>z</a:t>
            </a:r>
            <a:r>
              <a:rPr sz="1800"/>
              <a:t>；项目</a:t>
            </a:r>
            <a:r>
              <a:rPr sz="1800"/>
              <a:t>LRE</a:t>
            </a:r>
            <a:r>
              <a:rPr sz="1800"/>
              <a:t>用</a:t>
            </a:r>
            <a:r>
              <a:rPr sz="1800"/>
              <a:t>Bernard</a:t>
            </a:r>
            <a:r>
              <a:rPr sz="1800"/>
              <a:t>分数，回归</a:t>
            </a:r>
            <a:r>
              <a:rPr sz="1800"/>
              <a:t>z</a:t>
            </a:r>
            <a:r>
              <a:rPr sz="1800"/>
              <a:t>对</a:t>
            </a:r>
            <a:r>
              <a:rPr sz="1800"/>
              <a:t>x</a:t>
            </a:r>
            <a:r>
              <a:rPr sz="1800"/>
              <a:t>，位置最大化</a:t>
            </a:r>
            <a:r>
              <a:rPr sz="1800"/>
              <a:t>r²</a:t>
            </a:r>
            <a:r>
              <a:rPr sz="1800"/>
              <a:t>。相同分数、同一位置与带截距</a:t>
            </a:r>
            <a:r>
              <a:rPr sz="1800"/>
              <a:t>OLS</a:t>
            </a:r>
            <a:r>
              <a:rPr sz="1800"/>
              <a:t>下，</a:t>
            </a:r>
            <a:r>
              <a:rPr sz="1800"/>
              <a:t>F=(n-2)/[(n-1)(1-r²)]</a:t>
            </a:r>
            <a:r>
              <a:rPr sz="1800"/>
              <a:t>，位置目标单调等价。实际分数不同，故不能说位置估计一定相同。当前</a:t>
            </a:r>
            <a:r>
              <a:rPr sz="1800"/>
              <a:t>LRE</a:t>
            </a:r>
            <a:r>
              <a:rPr sz="1800"/>
              <a:t>并非</a:t>
            </a:r>
            <a:r>
              <a:rPr sz="1800"/>
              <a:t>Li</a:t>
            </a:r>
            <a:r>
              <a:rPr sz="1800"/>
              <a:t>或</a:t>
            </a:r>
            <a:r>
              <a:rPr sz="1800"/>
              <a:t>Park</a:t>
            </a:r>
            <a:r>
              <a:rPr sz="1800"/>
              <a:t>原版完整复现。</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来源：报告图</a:t>
            </a:r>
            <a:r>
              <a:rPr sz="1800"/>
              <a:t>1</a:t>
            </a:r>
            <a:r>
              <a:rPr sz="1800"/>
              <a:t>原有的</a:t>
            </a:r>
            <a:r>
              <a:rPr sz="1800"/>
              <a:t>C</a:t>
            </a:r>
            <a:r>
              <a:rPr sz="1800"/>
              <a:t>部分。节点、作者年份和连线关系沿用原图，按</a:t>
            </a:r>
            <a:r>
              <a:rPr sz="1800"/>
              <a:t>PPT</a:t>
            </a:r>
            <a:r>
              <a:rPr sz="1800"/>
              <a:t>版面重排。</a:t>
            </a:r>
          </a:p>
          <a:p xmlns:a="http://schemas.openxmlformats.org/drawingml/2006/main">
            <a:r>
              <a:rPr sz="1800"/>
              <a:t>这三支分别采用统计量匹配、概率间距和尺度伪估计差异作为估计依据。</a:t>
            </a:r>
          </a:p>
          <a:p xmlns:a="http://schemas.openxmlformats.org/drawingml/2006/main">
            <a:r>
              <a:rPr sz="1800"/>
              <a:t>PWM</a:t>
            </a:r>
            <a:r>
              <a:rPr sz="1800"/>
              <a:t>经线性组合形成</a:t>
            </a:r>
            <a:r>
              <a:rPr sz="1800"/>
              <a:t>L</a:t>
            </a:r>
            <a:r>
              <a:rPr sz="1800"/>
              <a:t>矩。</a:t>
            </a:r>
            <a:r>
              <a:rPr sz="1800"/>
              <a:t>MPS</a:t>
            </a:r>
            <a:r>
              <a:rPr sz="1800"/>
              <a:t>针对似然边界困难，转而使用概率间距。</a:t>
            </a:r>
          </a:p>
          <a:p xmlns:a="http://schemas.openxmlformats.org/drawingml/2006/main">
            <a:r>
              <a:rPr sz="1800"/>
              <a:t>MDM</a:t>
            </a:r>
            <a:r>
              <a:rPr sz="1800"/>
              <a:t>使尺度伪估计尽量一致；现有来源未确认它直接继承</a:t>
            </a:r>
            <a:r>
              <a:rPr sz="1800"/>
              <a:t>MPS</a:t>
            </a:r>
            <a:r>
              <a:rPr sz="1800"/>
              <a:t>或某个</a:t>
            </a:r>
            <a:r>
              <a:rPr sz="1800"/>
              <a:t>LS</a:t>
            </a:r>
            <a:r>
              <a:rPr sz="1800"/>
              <a:t>版本。</a:t>
            </a:r>
          </a:p>
          <a:p xmlns:a="http://schemas.openxmlformats.org/drawingml/2006/main">
            <a:r>
              <a:rPr sz="1800"/>
              <a:t>PWM</a:t>
            </a:r>
            <a:r>
              <a:rPr sz="1800"/>
              <a:t>与</a:t>
            </a:r>
            <a:r>
              <a:rPr sz="1800"/>
              <a:t>L</a:t>
            </a:r>
            <a:r>
              <a:rPr sz="1800"/>
              <a:t>矩来源见报告</a:t>
            </a:r>
            <a:r>
              <a:rPr sz="1800"/>
              <a:t>1.4</a:t>
            </a:r>
            <a:r>
              <a:rPr sz="1800"/>
              <a:t>；</a:t>
            </a:r>
            <a:r>
              <a:rPr sz="1800"/>
              <a:t>MPS [182-116]</a:t>
            </a:r>
            <a:r>
              <a:rPr sz="1800"/>
              <a:t>；</a:t>
            </a:r>
            <a:r>
              <a:rPr sz="1800"/>
              <a:t>MDM [182-030]</a:t>
            </a:r>
            <a:r>
              <a:rPr sz="1800"/>
              <a:t>。虚线表示替代方案，不表示直接继承。</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来源：报告图</a:t>
            </a:r>
            <a:r>
              <a:rPr sz="1800"/>
              <a:t>1</a:t>
            </a:r>
            <a:r>
              <a:rPr sz="1800"/>
              <a:t>原有的</a:t>
            </a:r>
            <a:r>
              <a:rPr sz="1800"/>
              <a:t>D</a:t>
            </a:r>
            <a:r>
              <a:rPr sz="1800"/>
              <a:t>部分。节点、作者年份和连线关系沿用原图，按</a:t>
            </a:r>
            <a:r>
              <a:rPr sz="1800"/>
              <a:t>PPT</a:t>
            </a:r>
            <a:r>
              <a:rPr sz="1800"/>
              <a:t>版面重排。</a:t>
            </a:r>
          </a:p>
          <a:p xmlns:a="http://schemas.openxmlformats.org/drawingml/2006/main">
            <a:r>
              <a:rPr sz="1800"/>
              <a:t>组合已有统计关系、变换观测统计量，或直接学习参数映射，都形成了新的构造。</a:t>
            </a:r>
          </a:p>
          <a:p xmlns:a="http://schemas.openxmlformats.org/drawingml/2006/main">
            <a:r>
              <a:rPr sz="1800"/>
              <a:t>SAM</a:t>
            </a:r>
            <a:r>
              <a:rPr sz="1800"/>
              <a:t>用最小值期望结合回归，</a:t>
            </a:r>
            <a:r>
              <a:rPr sz="1800"/>
              <a:t>PM</a:t>
            </a:r>
            <a:r>
              <a:rPr sz="1800"/>
              <a:t>用最小值中位数结合条件似然，未确认直接升级关系。</a:t>
            </a:r>
          </a:p>
          <a:p xmlns:a="http://schemas.openxmlformats.org/drawingml/2006/main">
            <a:r>
              <a:rPr sz="1800"/>
              <a:t>LSPF</a:t>
            </a:r>
            <a:r>
              <a:rPr sz="1800"/>
              <a:t>通过变换统计量构造似然；</a:t>
            </a:r>
            <a:r>
              <a:rPr sz="1800"/>
              <a:t>BPNN</a:t>
            </a:r>
            <a:r>
              <a:rPr sz="1800"/>
              <a:t>直接学习样本特征到参数的映射。</a:t>
            </a:r>
          </a:p>
          <a:p xmlns:a="http://schemas.openxmlformats.org/drawingml/2006/main">
            <a:r>
              <a:rPr sz="1800"/>
              <a:t>SAM [185-005]</a:t>
            </a:r>
            <a:r>
              <a:rPr sz="1800"/>
              <a:t>；</a:t>
            </a:r>
            <a:r>
              <a:rPr sz="1800"/>
              <a:t>PM [182-117]</a:t>
            </a:r>
            <a:r>
              <a:rPr sz="1800"/>
              <a:t>；</a:t>
            </a:r>
            <a:r>
              <a:rPr sz="1800"/>
              <a:t>LSPF [182-113]</a:t>
            </a:r>
            <a:r>
              <a:rPr sz="1800"/>
              <a:t>；</a:t>
            </a:r>
            <a:r>
              <a:rPr sz="1800"/>
              <a:t>BPNN [184-009]</a:t>
            </a:r>
            <a:r>
              <a:rPr sz="1800"/>
              <a:t>。</a:t>
            </a:r>
            <a:r>
              <a:rPr sz="1800"/>
              <a:t>BPNN</a:t>
            </a:r>
            <a:r>
              <a:rPr sz="1800"/>
              <a:t>是近期实例，不是该路线起点。</a:t>
            </a:r>
          </a:p>
          <a:p xmlns:a="http://schemas.openxmlformats.org/drawingml/2006/main">
            <a:r>
              <a:rPr sz="1800"/>
              <a:t>LSPF</a:t>
            </a:r>
            <a:r>
              <a:rPr sz="1800"/>
              <a:t>虚线表示针对同一困难的替代构造。直接三参数</a:t>
            </a:r>
            <a:r>
              <a:rPr sz="1800"/>
              <a:t>ANN</a:t>
            </a:r>
            <a:r>
              <a:rPr sz="1800"/>
              <a:t>早见</a:t>
            </a:r>
            <a:r>
              <a:rPr sz="1800"/>
              <a:t>Abbasi</a:t>
            </a:r>
            <a:r>
              <a:rPr sz="1800"/>
              <a:t>等（</a:t>
            </a:r>
            <a:r>
              <a:rPr sz="1800"/>
              <a:t>2008</a:t>
            </a:r>
            <a:r>
              <a:rPr sz="1800"/>
              <a:t>）</a:t>
            </a:r>
            <a:r>
              <a:rPr sz="1800"/>
              <a:t>[183-020]</a:t>
            </a:r>
            <a:r>
              <a:rPr sz="1800"/>
              <a:t>，不能以</a:t>
            </a:r>
            <a:r>
              <a:rPr sz="1800"/>
              <a:t>BPNN</a:t>
            </a:r>
            <a:r>
              <a:rPr sz="1800"/>
              <a:t>（</a:t>
            </a:r>
            <a:r>
              <a:rPr sz="1800"/>
              <a:t>2025</a:t>
            </a:r>
            <a:r>
              <a:rPr sz="1800"/>
              <a:t>）为神经估计起点。</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资料/近期文献范围核查.md：63条定向编码，51条2006年以来、35条2016年以来；标签重叠，样本选择有偏，不作领域占比。HGLM2024与AIMGC-PSO2026仅题录/摘要，待全文。</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原方法来源见报告§2.2；新增HGLM DOI10.1007/s12206-024-0911-5；AIMGC-PSO DOI10.1016/j.probengmech.2026.103978。仅题录/摘要，不作性能判断。</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WMLE在Nagatsuka2013中采用Ng权重代入版本；Safari2025属污染实验。后续采用不直接证明干净小样本优势。Park在ADGBO2026中实际使用；MDM与部分后续工作有作者重合。见报告§2.3和比较习惯核查。</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Akram–Hayat2014 DOI10.1080/15598608.2014.847771，§4.1 L365–415：η100、γ90，每格5000，保留ML收敛且L偏度≥−.1699；β&lt;1省略ML。Nagatsuka2013 DOI10.1016/j.csda.2012.09.005，§3 L173–238，1000次，具体比较对象BL及Ng式WMLE。原文的总体建议有参数和指标例外，详见报告§2.4，不能当作本研究选法规则。</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 DOI10.1007/s12206-023-1019-z，L381–498：γ1、η8个值.2至4、10000重复，MAD为三参数绝对误差直接平均；n15/20对MLE占优的参数配置比例87.5%/79.2%，非单次样本胜率。DMMLE DOI10.3390/e27050485，L218–230，原参数(μ,α,σ)=(1,1,1),(1,.5,2),(1,1.5,2)，σ=η^β，1000重复。报告§2.4与literature_performance_boundaries.json。</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benchmark_comparison_audit.json。13篇ID依次与names映射；2006+12篇、2016+7篇、含n≤30为11篇。综合比较182-096计参与方法，剔除它后MLE7/12、CC5/12。MM包含传统矩版本，LM/PWM分列，MMoE为修正矩。182-050同名构造有误不合并。3篇MLE+CC共现。数据频次不是性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报告§3.2。MLE是通行参照；WMLE有有限样本修正及跨作者采用；概率图有重复使用和不同构造；SAM小样本任务匹配，但三参数平均MAD有尺度限制。PM n5比较非直接统一RMSE。此处为有条件起始建议，不是固定四法或文献共识。LSPF2013自身作者小n总体建议WMLE，故不能仅凭存在性作为小n必选。</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报告§3.3各构造论文。MLE局部/剖面似然为实现说明，不另立Local-ML新方法。WMLE J权重与LSPF比较中的Ng式代入不能混同。LS为Soman–Misra的White扩展分支。所有变体应披露。</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报告§3.4，比较习惯核查metric_summary同13篇，相对Bias、联合指标单列。n5—20可追溯SAM/BPNN，n10—30迭代LS，较大n LSPF/综合比较。这里提供有文献依据的评价原则，不冻结参数网格或重复次数。</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3.4。BPNN184-009，LSPF182-113，SAM185-005。10点/4点寿命数据被多篇重复使用，非独立数据集数。参数bootstrap来自拟合模型；非参数bootstrap有重复值/MPS零间距问题，端点非正则模型的有效性不可默认。可选评价设计不写成所有论文通行惯例。</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报告§3.5：182-096筛ML收敛/L偏度样本；182-091限制形状与50次求解，报告未得估计次数；182-030 MLE失败标零仅绘图；182-101剔除形状&gt;5。MLE不受限似然因β&lt;1及γ逼近样本最小值的路径无界，与真实β是否&lt;1不是同一个判断。有效极端值、边界与数值失败分开；各自与共同有效子集皆条件结果。</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800"/>
              <a:t>研究报告v2.1总结。报告的边界是文献支持的benchmark选择和评价建议，未运行新性能实验。经典基线、近期相关构造与母方法承担不同作用，不按年份或频次推出性能排名。</a:t>
            </a:r>
            <a:endParaRPr sz="18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b567af4e834d19" /><Relationship Type="http://schemas.openxmlformats.org/officeDocument/2006/relationships/image" Target="/ppt/media/image.jpeg" Id="R241ffdea9de24bd0" /><Relationship Type="http://schemas.openxmlformats.org/officeDocument/2006/relationships/image" Target="/ppt/media/image.png" Id="Rac5f93d74a3e443d" /><Relationship Type="http://schemas.openxmlformats.org/officeDocument/2006/relationships/image" Target="/ppt/media/image2.png" Id="R90d4f6af586c4b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936f0c70654e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eed1fa8b1f4b7f" /><Relationship Type="http://schemas.openxmlformats.org/officeDocument/2006/relationships/image" Target="/ppt/media/image3.png" Id="R0b8cde7ab44e4d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c8c82f00104e03" /><Relationship Type="http://schemas.openxmlformats.org/officeDocument/2006/relationships/image" Target="/ppt/media/image4.png" Id="Rd21004d2cc874b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ec022752564a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0bc34a31fe441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8e013ec853c49a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79581ac35254f0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cfcd742e114db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6991c26063d4fb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90740f8275a4c0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694c1a5cab664c51" /><Relationship Type="http://schemas.openxmlformats.org/officeDocument/2006/relationships/image" Target="/ppt/media/image5.png" Id="Rd5256fd9c36847c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bbd05c3373b44d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3.xml" Id="Rcdba5e4875234740" /><Relationship Type="http://schemas.openxmlformats.org/officeDocument/2006/relationships/image" Target="/ppt/media/image5.png" Id="Re1ea68912d344adf"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fc58cf4320a34058" /></Relationships>
</file>

<file path=ppt/slideLayouts/slideLayout1.xml><?xml version="1.0" encoding="utf-8"?>
<p:sldLayout xmlns:p="http://schemas.openxmlformats.org/presentationml/2006/main" preserve="1" userDrawn="1">
  <p:cSld name="标题幻灯片">
    <p:spTree>
      <p:nvGrpSpPr>
        <p:cNvPr id="1" name=""/>
        <p:cNvGrpSpPr/>
        <p:nvPr/>
      </p:nvGrpSpPr>
      <p:grpSpPr>
        <a:xfrm xmlns:a="http://schemas.openxmlformats.org/drawingml/2006/main"/>
      </p:grpSpPr>
      <p:pic>
        <p:nvPicPr>
          <p:cNvPr id="4" name="图片 21"/>
          <p:cNvPicPr>
            <a:picLocks xmlns:a="http://schemas.openxmlformats.org/drawingml/2006/main" noChangeAspect="1"/>
          </p:cNvPicPr>
          <p:nvPr/>
        </p:nvPicPr>
        <p:blipFill>
          <a:blip xmlns:r="http://schemas.openxmlformats.org/officeDocument/2006/relationships" xmlns:a="http://schemas.openxmlformats.org/drawingml/2006/main" r:embed="R241ffdea9de24bd0">
            <a:alphaModFix amt="20000"/>
            <a:clrChange>
              <a:clrFrom>
                <a:srgbClr val="FFFFFF"/>
              </a:clrFrom>
              <a:clrTo>
                <a:srgbClr val="FFFFFF">
                  <a:alpha val="0"/>
                </a:srgbClr>
              </a:clrTo>
            </a:clrChange>
            <a:duotone>
              <a:schemeClr val="bg2">
                <a:shade val="45000"/>
                <a:satMod val="135000"/>
              </a:schemeClr>
              <a:prstClr val="white"/>
            </a:duotone>
          </a:blip>
          <a:srcRect xmlns:a="http://schemas.openxmlformats.org/drawingml/2006/main" l="-375" t="36417" r="375" b="17715"/>
          <a:stretch xmlns:a="http://schemas.openxmlformats.org/drawingml/2006/main">
            <a:fillRect l="0" t="0" r="0" b="0"/>
          </a:stretch>
        </p:blipFill>
        <p:spPr>
          <a:xfrm xmlns:a="http://schemas.openxmlformats.org/drawingml/2006/main">
            <a:off x="-188953" y="3125718"/>
            <a:ext cx="12697941" cy="4114800"/>
          </a:xfrm>
          <a:prstGeom xmlns:a="http://schemas.openxmlformats.org/drawingml/2006/main" prst="rect">
            <a:avLst/>
          </a:prstGeom>
        </p:spPr>
      </p:pic>
      <p:pic>
        <p:nvPicPr>
          <p:cNvPr id="5" name="图片 24"/>
          <p:cNvPicPr>
            <a:picLocks xmlns:a="http://schemas.openxmlformats.org/drawingml/2006/main" noChangeAspect="1"/>
          </p:cNvPicPr>
          <p:nvPr/>
        </p:nvPicPr>
        <p:blipFill>
          <a:blip xmlns:r="http://schemas.openxmlformats.org/officeDocument/2006/relationships" xmlns:a="http://schemas.openxmlformats.org/drawingml/2006/main" r:embed="Rac5f93d74a3e443d"/>
          <a:srcRect xmlns:a="http://schemas.openxmlformats.org/drawingml/2006/main" l="0" t="0" r="0" b="60826"/>
          <a:stretch xmlns:a="http://schemas.openxmlformats.org/drawingml/2006/main">
            <a:fillRect l="0" t="0" r="0" b="0"/>
          </a:stretch>
        </p:blipFill>
        <p:spPr>
          <a:xfrm xmlns:a="http://schemas.openxmlformats.org/drawingml/2006/main">
            <a:off x="133584" y="72497"/>
            <a:ext cx="3337845" cy="708895"/>
          </a:xfrm>
          <a:prstGeom xmlns:a="http://schemas.openxmlformats.org/drawingml/2006/main" prst="rect">
            <a:avLst/>
          </a:prstGeom>
        </p:spPr>
      </p:pic>
      <p:pic>
        <p:nvPicPr>
          <p:cNvPr id="6" name="图片 1"/>
          <p:cNvPicPr>
            <a:picLocks xmlns:a="http://schemas.openxmlformats.org/drawingml/2006/main" noChangeAspect="1"/>
          </p:cNvPicPr>
          <p:nvPr/>
        </p:nvPicPr>
        <p:blipFill>
          <a:blip xmlns:r="http://schemas.openxmlformats.org/officeDocument/2006/relationships" xmlns:a="http://schemas.openxmlformats.org/drawingml/2006/main" r:embed="R90d4f6af586c4bab"/>
          <a:stretch xmlns:a="http://schemas.openxmlformats.org/drawingml/2006/main">
            <a:fillRect l="0" t="0" r="0" b="0"/>
          </a:stretch>
        </p:blipFill>
        <p:spPr>
          <a:xfrm xmlns:a="http://schemas.openxmlformats.org/drawingml/2006/main">
            <a:off x="7089206" y="72497"/>
            <a:ext cx="5102794" cy="914479"/>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标题和内容">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userDrawn="1">
  <p:cSld name="节标题">
    <p:spTree>
      <p:nvGrpSpPr>
        <p:cNvPr id="1" name=""/>
        <p:cNvGrpSpPr/>
        <p:nvPr/>
      </p:nvGrpSpPr>
      <p:grpSpPr>
        <a:xfrm xmlns:a="http://schemas.openxmlformats.org/drawingml/2006/main"/>
      </p:grpSpPr>
      <p:sp>
        <p:nvSpPr>
          <p:cNvPr id="333" name="矩形 332">
            <a:extLst xmlns:a="http://schemas.openxmlformats.org/drawingml/2006/main">
              <a:ext uri="{FF2B5EF4-FFF2-40B4-BE49-F238E27FC236}">
                <a16:creationId xmlns:a16="http://schemas.microsoft.com/office/drawing/2014/main" id="{25D00A80-15F0-4C3D-BA1C-D2B8DF5713B7}"/>
              </a:ext>
            </a:extLst>
          </p:cNvPr>
          <p:cNvSpPr>
            <a:spLocks xmlns:a="http://schemas.openxmlformats.org/drawingml/2006/main" noGrp="1"/>
          </p:cNvSpPr>
          <p:nvPr/>
        </p:nvSpPr>
        <p:spPr>
          <a:xfrm xmlns:a="http://schemas.openxmlformats.org/drawingml/2006/main">
            <a:off x="334962" y="833952"/>
            <a:ext cx="11522073" cy="499299"/>
          </a:xfrm>
          <a:prstGeom xmlns:a="http://schemas.openxmlformats.org/drawingml/2006/main" prst="rect">
            <a:avLst/>
          </a:prstGeom>
          <a:gradFill xmlns:a="http://schemas.openxmlformats.org/drawingml/2006/main">
            <a:gsLst>
              <a:gs pos="17500">
                <a:srgbClr val="3E84EC"/>
              </a:gs>
              <a:gs pos="100000">
                <a:schemeClr val="accent1">
                  <a:lumMod val="75000"/>
                </a:schemeClr>
              </a:gs>
              <a:gs pos="0">
                <a:srgbClr val="0268FE">
                  <a:lumMod val="75000"/>
                  <a:lumOff val="25000"/>
                  <a:alpha val="69000"/>
                </a:srgbClr>
              </a:gs>
            </a:gsLst>
            <a:path path="circle">
              <a:fillToRect l="100000" t="0" r="0" b="100000"/>
            </a:path>
          </a:gradFill>
          <a:ln xmlns:a="http://schemas.openxmlformats.org/drawingml/2006/main" w="1270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xmlns:a="http://schemas.openxmlformats.org/drawingml/2006/main" noChangeAspect="1"/>
          </p:cNvPicPr>
          <p:nvPr/>
        </p:nvPicPr>
        <p:blipFill>
          <a:blip xmlns:r="http://schemas.openxmlformats.org/officeDocument/2006/relationships" xmlns:a="http://schemas.openxmlformats.org/drawingml/2006/main" r:embed="R0b8cde7ab44e4d62"/>
          <a:srcRect xmlns:a="http://schemas.openxmlformats.org/drawingml/2006/main" l="0" t="0" r="0" b="59104"/>
          <a:stretch xmlns:a="http://schemas.openxmlformats.org/drawingml/2006/main">
            <a:fillRect l="0" t="0" r="0" b="0"/>
          </a:stretch>
        </p:blipFill>
        <p:spPr>
          <a:xfrm xmlns:a="http://schemas.openxmlformats.org/drawingml/2006/main">
            <a:off x="9374637" y="198304"/>
            <a:ext cx="2675956" cy="593304"/>
          </a:xfrm>
          <a:prstGeom xmlns:a="http://schemas.openxmlformats.org/drawingml/2006/main" prst="rect">
            <a:avLst/>
          </a:prstGeom>
        </p:spPr>
      </p:pic>
      <p:sp>
        <p:nvSpPr>
          <p:cNvPr id="11" name="直接连接符 10">
            <a:extLst xmlns:a="http://schemas.openxmlformats.org/drawingml/2006/main">
              <a:ext uri="{FF2B5EF4-FFF2-40B4-BE49-F238E27FC236}">
                <a16:creationId xmlns:a16="http://schemas.microsoft.com/office/drawing/2014/main" id="{C33201AA-A72A-42CB-BA87-C4E3F68D7C54}"/>
              </a:ext>
            </a:extLst>
          </p:cNvPr>
          <p:cNvSpPr>
            <a:spLocks xmlns:a="http://schemas.openxmlformats.org/drawingml/2006/main" noGrp="1"/>
          </p:cNvSpPr>
          <p:nvPr/>
        </p:nvSpPr>
        <p:spPr>
          <a:xfrm xmlns:a="http://schemas.openxmlformats.org/drawingml/2006/main">
            <a:off x="334962" y="6564990"/>
            <a:ext cx="11522076" cy="0"/>
          </a:xfrm>
          <a:prstGeom xmlns:a="http://schemas.openxmlformats.org/drawingml/2006/main" prst="line">
            <a:avLst/>
          </a:prstGeom>
          <a:ln xmlns:a="http://schemas.openxmlformats.org/drawingml/2006/main" w="50800">
            <a:solidFill>
              <a:schemeClr val="accent1"/>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直接连接符 9">
            <a:extLst xmlns:a="http://schemas.openxmlformats.org/drawingml/2006/main">
              <a:ext uri="{FF2B5EF4-FFF2-40B4-BE49-F238E27FC236}">
                <a16:creationId xmlns:a16="http://schemas.microsoft.com/office/drawing/2014/main" id="{318508C9-E08C-4A63-8DC5-682D5D25DC9D}"/>
              </a:ext>
            </a:extLst>
          </p:cNvPr>
          <p:cNvSpPr>
            <a:spLocks xmlns:a="http://schemas.openxmlformats.org/drawingml/2006/main" noGrp="1"/>
          </p:cNvSpPr>
          <p:nvPr/>
        </p:nvSpPr>
        <p:spPr>
          <a:xfrm xmlns:a="http://schemas.openxmlformats.org/drawingml/2006/main">
            <a:off x="334963" y="1402294"/>
            <a:ext cx="11522075" cy="0"/>
          </a:xfrm>
          <a:prstGeom xmlns:a="http://schemas.openxmlformats.org/drawingml/2006/main" prst="line">
            <a:avLst/>
          </a:prstGeom>
          <a:noFill xmlns:a="http://schemas.openxmlformats.org/drawingml/2006/main"/>
          <a:ln xmlns:a="http://schemas.openxmlformats.org/drawingml/2006/main" w="25400">
            <a:gradFill rotWithShape="1">
              <a:gsLst>
                <a:gs pos="100000">
                  <a:schemeClr val="accent1">
                    <a:lumMod val="97000"/>
                  </a:schemeClr>
                </a:gs>
                <a:gs pos="0">
                  <a:schemeClr val="accent1">
                    <a:alpha val="0"/>
                  </a:schemeClr>
                </a:gs>
              </a:gsLst>
              <a:lin ang="10800000" scaled="1"/>
              <a:tileRect/>
            </a:gradFill>
            <a:tailEnd type="none" w="med" len="sm"/>
          </a:ln>
          <a:effectLst xmlns:a="http://schemas.openxmlformats.org/drawingml/2006/main">
            <a:outerShdw blurRad="63500" dist="50800" dir="4800000" sx="102000" sy="102000" algn="ctr" rotWithShape="0">
              <a:schemeClr val="accent1">
                <a:alpha val="40000"/>
              </a:scheme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preserve="1" userDrawn="1">
  <p:cSld name="两栏内容">
    <p:spTree>
      <p:nvGrpSpPr>
        <p:cNvPr id="1" name=""/>
        <p:cNvGrpSpPr/>
        <p:nvPr/>
      </p:nvGrpSpPr>
      <p:grpSpPr>
        <a:xfrm xmlns:a="http://schemas.openxmlformats.org/drawingml/2006/main"/>
      </p:grpSpPr>
      <p:sp>
        <p:nvSpPr>
          <p:cNvPr id="87" name="任意多边形: 形状 86">
            <a:extLst xmlns:a="http://schemas.openxmlformats.org/drawingml/2006/main">
              <a:ext uri="{FF2B5EF4-FFF2-40B4-BE49-F238E27FC236}">
                <a16:creationId xmlns:a16="http://schemas.microsoft.com/office/drawing/2014/main" id="{8FF3E6BE-823E-41AB-9EE5-04BCCFD4A87C}"/>
              </a:ext>
            </a:extLst>
          </p:cNvPr>
          <p:cNvSpPr>
            <a:spLocks xmlns:a="http://schemas.openxmlformats.org/drawingml/2006/main" noGrp="1"/>
          </p:cNvSpPr>
          <p:nvPr/>
        </p:nvSpPr>
        <p:spPr>
          <a:xfrm xmlns:a="http://schemas.openxmlformats.org/drawingml/2006/main" rot="10800000">
            <a:off x="2562" y="10535"/>
            <a:ext cx="4440577" cy="2998608"/>
          </a:xfrm>
          <a:custGeom xmlns:a="http://schemas.openxmlformats.org/drawingml/2006/main">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xmlns:a="http://schemas.openxmlformats.org/drawingml/2006/main">
            <a:gsLst>
              <a:gs pos="100000">
                <a:srgbClr val="0268FE">
                  <a:lumMod val="9000"/>
                  <a:lumOff val="91000"/>
                </a:srgbClr>
              </a:gs>
              <a:gs pos="0">
                <a:srgbClr val="0268FE">
                  <a:lumMod val="4000"/>
                  <a:lumOff val="96000"/>
                </a:srgbClr>
              </a:gs>
            </a:gsLst>
            <a:lin ang="5400000" scaled="1"/>
          </a:gradFill>
          <a:ln xmlns:a="http://schemas.openxmlformats.org/drawingml/2006/main" w="12700" cmpd="sng">
            <a:noFill/>
            <a:prstDash val="solid"/>
          </a:ln>
        </p:spPr>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xmlns:a="http://schemas.openxmlformats.org/drawingml/2006/main">
              <a:ext uri="{FF2B5EF4-FFF2-40B4-BE49-F238E27FC236}">
                <a16:creationId xmlns:a16="http://schemas.microsoft.com/office/drawing/2014/main" id="{1BD28AC6-1683-4006-BB10-0F7A4C13FDE0}"/>
              </a:ext>
            </a:extLst>
          </p:cNvPr>
          <p:cNvSpPr>
            <a:spLocks xmlns:a="http://schemas.openxmlformats.org/drawingml/2006/main" noGrp="1"/>
          </p:cNvSpPr>
          <p:nvPr/>
        </p:nvSpPr>
        <p:spPr>
          <a:xfrm xmlns:a="http://schemas.openxmlformats.org/drawingml/2006/main">
            <a:off x="-79985" y="1085380"/>
            <a:ext cx="3262303" cy="830997"/>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4800" b="1">
                <a:solidFill>
                  <a:srgbClr val="FFFFFF"/>
                </a:solidFill>
                <a:latin typeface="微软雅黑"/>
                <a:ea typeface="微软雅黑"/>
                <a:cs typeface="微软雅黑"/>
              </a:rPr>
              <a:t>CONTENT</a:t>
            </a:r>
          </a:p>
        </p:txBody>
      </p:sp>
      <p:pic>
        <p:nvPicPr>
          <p:cNvPr id="135" name="图片 124"/>
          <p:cNvPicPr>
            <a:picLocks xmlns:a="http://schemas.openxmlformats.org/drawingml/2006/main" noChangeAspect="1"/>
          </p:cNvPicPr>
          <p:nvPr/>
        </p:nvPicPr>
        <p:blipFill>
          <a:blip xmlns:r="http://schemas.openxmlformats.org/officeDocument/2006/relationships" xmlns:a="http://schemas.openxmlformats.org/drawingml/2006/main" r:embed="Rd21004d2cc874b78">
            <a:alphaModFix amt="70000"/>
          </a:blip>
          <a:srcRect xmlns:a="http://schemas.openxmlformats.org/drawingml/2006/main" l="0" t="0" r="0" b="58808"/>
          <a:stretch xmlns:a="http://schemas.openxmlformats.org/drawingml/2006/main">
            <a:fillRect l="0" t="0" r="0" b="0"/>
          </a:stretch>
        </p:blipFill>
        <p:spPr>
          <a:xfrm xmlns:a="http://schemas.openxmlformats.org/drawingml/2006/main">
            <a:off x="662962" y="3707963"/>
            <a:ext cx="3024288" cy="2020666"/>
          </a:xfrm>
          <a:prstGeom xmlns:a="http://schemas.openxmlformats.org/drawingml/2006/main" prst="rect">
            <a:avLst/>
          </a:prstGeom>
        </p:spPr>
      </p:pic>
      <p:sp>
        <p:nvSpPr>
          <p:cNvPr id="88" name="文本框 87">
            <a:extLst xmlns:a="http://schemas.openxmlformats.org/drawingml/2006/main">
              <a:ext uri="{FF2B5EF4-FFF2-40B4-BE49-F238E27FC236}">
                <a16:creationId xmlns:a16="http://schemas.microsoft.com/office/drawing/2014/main" id="{A61A7C37-D891-4BA3-A964-5035F355B85B}"/>
              </a:ext>
            </a:extLst>
          </p:cNvPr>
          <p:cNvSpPr>
            <a:spLocks xmlns:a="http://schemas.openxmlformats.org/drawingml/2006/main" noGrp="1"/>
          </p:cNvSpPr>
          <p:nvPr/>
        </p:nvSpPr>
        <p:spPr>
          <a:xfrm xmlns:a="http://schemas.openxmlformats.org/drawingml/2006/main">
            <a:off x="851667" y="1479325"/>
            <a:ext cx="2646878" cy="830997"/>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xmlns:a="http://schemas.openxmlformats.org/drawingml/2006/main">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xmlns:a="http://schemas.openxmlformats.org/drawingml/2006/main">
              <a:ext uri="{FF2B5EF4-FFF2-40B4-BE49-F238E27FC236}">
                <a16:creationId xmlns:a16="http://schemas.microsoft.com/office/drawing/2014/main" id="{25C8C45D-7CBB-4B9F-860A-0AD2A7965893}"/>
              </a:ext>
            </a:extLst>
          </p:cNvPr>
          <p:cNvSpPr>
            <a:spLocks xmlns:a="http://schemas.openxmlformats.org/drawingml/2006/main" noGrp="1"/>
          </p:cNvSpPr>
          <p:nvPr/>
        </p:nvSpPr>
        <p:spPr>
          <a:xfrm xmlns:a="http://schemas.openxmlformats.org/drawingml/2006/main">
            <a:off x="8895335" y="4602588"/>
            <a:ext cx="3296666" cy="2255412"/>
          </a:xfrm>
          <a:custGeom xmlns:a="http://schemas.openxmlformats.org/drawingml/2006/main">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xmlns:a="http://schemas.openxmlformats.org/drawingml/2006/main">
            <a:gsLst>
              <a:gs pos="100000">
                <a:srgbClr val="0268FE">
                  <a:lumMod val="9000"/>
                  <a:lumOff val="91000"/>
                </a:srgbClr>
              </a:gs>
              <a:gs pos="0">
                <a:srgbClr val="0268FE">
                  <a:lumMod val="4000"/>
                  <a:lumOff val="96000"/>
                </a:srgbClr>
              </a:gs>
            </a:gsLst>
            <a:lin ang="5400000" scaled="1"/>
          </a:gradFill>
          <a:ln xmlns:a="http://schemas.openxmlformats.org/drawingml/2006/main" w="12700" cmpd="sng">
            <a:noFill/>
            <a:prstDash val="solid"/>
          </a:ln>
        </p:spPr>
        <p:txBody>
          <a:bodyPr xmlns:a="http://schemas.openxmlformats.org/drawingml/2006/main" wrap="square" anchor="ctr">
            <a:noAutofit/>
          </a:bodyP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2494629-B2BD-4D20-9BE8-A348383E5695}"/>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ACFFA4A-116A-46C5-A2F8-3F07BD47CA2C}"/>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4E1F2C58-CD69-4C73-AF93-AEE85893F66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6664EF93-C77E-4753-89A2-B42BC54E813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66CFF673-FA18-4DF9-A003-A42740ABB113}"/>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E6BA5EFC-8B17-4E3A-963D-8B491CAC20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8" name="页脚占位符 7">
            <a:extLst xmlns:a="http://schemas.openxmlformats.org/drawingml/2006/main">
              <a:ext uri="{FF2B5EF4-FFF2-40B4-BE49-F238E27FC236}">
                <a16:creationId xmlns:a16="http://schemas.microsoft.com/office/drawing/2014/main" id="{A049F442-F8B7-4971-BD4A-13BCD800E1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192642B2-6F22-4B9B-82AD-D3B06406DB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BD6529E-89F7-4F18-91FE-AF7BE991C0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510D0125-25E2-4ABE-96A0-B7C76CE65F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4" name="页脚占位符 3">
            <a:extLst xmlns:a="http://schemas.openxmlformats.org/drawingml/2006/main">
              <a:ext uri="{FF2B5EF4-FFF2-40B4-BE49-F238E27FC236}">
                <a16:creationId xmlns:a16="http://schemas.microsoft.com/office/drawing/2014/main" id="{FEB9997D-42C9-4983-A767-A637AEACB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4525489B-D304-43A8-BF8C-F0785C3ABA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B0B0469B-7200-416A-8519-9A34B72696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3" name="页脚占位符 2">
            <a:extLst xmlns:a="http://schemas.openxmlformats.org/drawingml/2006/main">
              <a:ext uri="{FF2B5EF4-FFF2-40B4-BE49-F238E27FC236}">
                <a16:creationId xmlns:a16="http://schemas.microsoft.com/office/drawing/2014/main" id="{3A4601A5-F3B0-4399-9527-C8006666D4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35D499D1-62B7-4375-94B0-BE149AA674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0162A2E-9955-4F6B-B7C2-492157C6591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3F7410B8-7366-4009-A65C-B1C17B3E600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A72A7BB3-FEFF-4145-A73C-8783DB1D45B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49CC7F14-C2B0-43C1-B6CC-E1F0AE2440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6" name="页脚占位符 5">
            <a:extLst xmlns:a="http://schemas.openxmlformats.org/drawingml/2006/main">
              <a:ext uri="{FF2B5EF4-FFF2-40B4-BE49-F238E27FC236}">
                <a16:creationId xmlns:a16="http://schemas.microsoft.com/office/drawing/2014/main" id="{8A703B2A-433F-4968-8C3C-29BC33BCD1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C0570E6A-2266-4B2E-A208-4304DCF2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B4C00C0-1E1B-46DC-877B-6999AB72EED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0E0375EC-D403-474C-BDCD-B13299755556}"/>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A85140C5-2534-4D01-A054-8799B7EE14F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D3C7DBA3-D86D-49F2-9C7E-E2938054A2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6" name="页脚占位符 5">
            <a:extLst xmlns:a="http://schemas.openxmlformats.org/drawingml/2006/main">
              <a:ext uri="{FF2B5EF4-FFF2-40B4-BE49-F238E27FC236}">
                <a16:creationId xmlns:a16="http://schemas.microsoft.com/office/drawing/2014/main" id="{6067B2D7-B8CF-4FD9-B641-7A5799E77D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870216AD-9FFB-43B0-9ABC-443132024F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E20E21E-06F7-4579-9A72-57FA309B38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A367E993-74FC-4441-AB5C-FD3475EC772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F33AFDDC-B246-4BAC-B53B-FC8B767342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5" name="页脚占位符 4">
            <a:extLst xmlns:a="http://schemas.openxmlformats.org/drawingml/2006/main">
              <a:ext uri="{FF2B5EF4-FFF2-40B4-BE49-F238E27FC236}">
                <a16:creationId xmlns:a16="http://schemas.microsoft.com/office/drawing/2014/main" id="{6F447F40-7F16-4FFF-B022-C3AEDC4023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282E804-6DF3-4452-B271-5DEBCCCB06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C3744352-F64F-4B8F-9586-65854C208820}"/>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994EFCDB-0053-44F0-B075-A052FA3CBCE2}"/>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6846FA22-B463-4AD2-BF7D-5708AC9221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F4852F6-D0EE-43FF-9758-4449F4064C7C}" type="datetimeFigureOut">
              <a:t>2026/9/27</a:t>
            </a:fld>
            <a:endParaRPr/>
          </a:p>
        </p:txBody>
      </p:sp>
      <p:sp>
        <p:nvSpPr>
          <p:cNvPr id="5" name="页脚占位符 4">
            <a:extLst xmlns:a="http://schemas.openxmlformats.org/drawingml/2006/main">
              <a:ext uri="{FF2B5EF4-FFF2-40B4-BE49-F238E27FC236}">
                <a16:creationId xmlns:a16="http://schemas.microsoft.com/office/drawing/2014/main" id="{7C32AA74-DB7E-448B-B9B2-35075A5FDA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85F0FDDA-4DAE-4539-9492-C374F102CA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60DD7EF-E908-4723-98EB-3DEAFF871F36}" type="slidenum">
              <a:t>‹#›</a:t>
            </a:fld>
            <a:endParaRPr/>
          </a:p>
        </p:txBody>
      </p:sp>
    </p:spTree>
  </p:cSld>
</p:sldLayout>
</file>

<file path=ppt/slideLayouts/slideLayout12.xml><?xml version="1.0" encoding="utf-8"?>
<p:sldLayout xmlns:p="http://schemas.openxmlformats.org/presentationml/2006/main" type="blank" preserve="1">
  <p:cSld name="空白">
    <p:spTree>
      <p:nvGrpSpPr>
        <p:cNvPr id="1" name=""/>
        <p:cNvGrpSpPr/>
        <p:nvPr/>
      </p:nvGrpSpPr>
      <p:grpSpPr>
        <a:xfrm xmlns:a="http://schemas.openxmlformats.org/drawingml/2006/main"/>
      </p:grpSpPr>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d5256fd9c36847c6"/>
          <a:srcRect xmlns:a="http://schemas.openxmlformats.org/drawingml/2006/main" l="0" t="0" r="0" b="14645"/>
          <a:stretch xmlns:a="http://schemas.openxmlformats.org/drawingml/2006/main">
            <a:fillRect l="0" t="0" r="0" b="0"/>
          </a:stretch>
        </p:blipFill>
        <p:spPr>
          <a:xfrm xmlns:a="http://schemas.openxmlformats.org/drawingml/2006/main">
            <a:off x="0" y="584200"/>
            <a:ext cx="12192000" cy="804333"/>
          </a:xfrm>
          <a:prstGeom xmlns:a="http://schemas.openxmlformats.org/drawingml/2006/main" prst="rect">
            <a:avLst/>
          </a:prstGeom>
          <a:ln xmlns:a="http://schemas.openxmlformats.org/drawingml/2006/main">
            <a:noFill/>
          </a:ln>
        </p:spPr>
      </p:pic>
      <p:sp>
        <p:nvSpPr>
          <p:cNvPr id="10" name="直接连接符 9">
            <a:extLst xmlns:a="http://schemas.openxmlformats.org/drawingml/2006/main">
              <a:ext uri="{FF2B5EF4-FFF2-40B4-BE49-F238E27FC236}">
                <a16:creationId xmlns:a16="http://schemas.microsoft.com/office/drawing/2014/main" id="{09E19A7D-2866-457A-BEAF-73A8399A6E5B}"/>
              </a:ext>
            </a:extLst>
          </p:cNvPr>
          <p:cNvSpPr>
            <a:spLocks xmlns:a="http://schemas.openxmlformats.org/drawingml/2006/main" noGrp="1"/>
          </p:cNvSpPr>
          <p:nvPr/>
        </p:nvSpPr>
        <p:spPr>
          <a:xfrm xmlns:a="http://schemas.openxmlformats.org/drawingml/2006/main">
            <a:off x="0" y="1411819"/>
            <a:ext cx="12192000" cy="2116"/>
          </a:xfrm>
          <a:prstGeom xmlns:a="http://schemas.openxmlformats.org/drawingml/2006/main" prst="line">
            <a:avLst/>
          </a:prstGeom>
          <a:ln xmlns:a="http://schemas.openxmlformats.org/drawingml/2006/main" w="28575">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矩形 6">
            <a:extLst xmlns:a="http://schemas.openxmlformats.org/drawingml/2006/main">
              <a:ext uri="{FF2B5EF4-FFF2-40B4-BE49-F238E27FC236}">
                <a16:creationId xmlns:a16="http://schemas.microsoft.com/office/drawing/2014/main" id="{66C83403-7610-4894-903F-C2CE1502F044}"/>
              </a:ext>
            </a:extLst>
          </p:cNvPr>
          <p:cNvSpPr>
            <a:spLocks xmlns:a="http://schemas.openxmlformats.org/drawingml/2006/main" noGrp="1"/>
          </p:cNvSpPr>
          <p:nvPr/>
        </p:nvSpPr>
        <p:spPr>
          <a:xfrm xmlns:a="http://schemas.openxmlformats.org/drawingml/2006/main">
            <a:off x="821267" y="584200"/>
            <a:ext cx="8652933" cy="711200"/>
          </a:xfrm>
          <a:prstGeom xmlns:a="http://schemas.openxmlformats.org/drawingml/2006/main" prst="rect">
            <a:avLst/>
          </a:prstGeom>
          <a:solidFill xmlns:a="http://schemas.openxmlformats.org/drawingml/2006/main">
            <a:srgbClr val="005BA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b="1">
              <a:solidFill>
                <a:prstClr val="white"/>
              </a:solidFill>
            </a:endParaRPr>
          </a:p>
        </p:txBody>
      </p:sp>
      <p:sp>
        <p:nvSpPr>
          <p:cNvPr id="11" name="任意多边形 10">
            <a:extLst xmlns:a="http://schemas.openxmlformats.org/drawingml/2006/main">
              <a:ext uri="{FF2B5EF4-FFF2-40B4-BE49-F238E27FC236}">
                <a16:creationId xmlns:a16="http://schemas.microsoft.com/office/drawing/2014/main" id="{5B060BB9-701E-4619-A899-CCDFFD479B5F}"/>
              </a:ext>
            </a:extLst>
          </p:cNvPr>
          <p:cNvSpPr>
            <a:spLocks xmlns:a="http://schemas.openxmlformats.org/drawingml/2006/main" noGrp="1"/>
          </p:cNvSpPr>
          <p:nvPr/>
        </p:nvSpPr>
        <p:spPr>
          <a:xfrm xmlns:a="http://schemas.openxmlformats.org/drawingml/2006/main">
            <a:off x="2393370" y="1413933"/>
            <a:ext cx="9798631" cy="101600"/>
          </a:xfrm>
          <a:custGeom xmlns:a="http://schemas.openxmlformats.org/drawingml/2006/main">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rect l="l" t="t" r="r" b="b"/>
            <a:pathLst>
              <a:path w="11394" h="126">
                <a:moveTo>
                  <a:pt x="68" y="0"/>
                </a:moveTo>
                <a:lnTo>
                  <a:pt x="11394" y="6"/>
                </a:lnTo>
                <a:lnTo>
                  <a:pt x="11394" y="126"/>
                </a:lnTo>
                <a:lnTo>
                  <a:pt x="0" y="126"/>
                </a:lnTo>
                <a:lnTo>
                  <a:pt x="68" y="0"/>
                </a:lnTo>
                <a:close/>
              </a:path>
            </a:pathLst>
          </a:custGeom>
          <a:solidFill xmlns:a="http://schemas.openxmlformats.org/drawingml/2006/main">
            <a:srgbClr val="005BA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
        <p:nvSpPr>
          <p:cNvPr id="16" name="任意多边形 15">
            <a:extLst xmlns:a="http://schemas.openxmlformats.org/drawingml/2006/main">
              <a:ext uri="{FF2B5EF4-FFF2-40B4-BE49-F238E27FC236}">
                <a16:creationId xmlns:a16="http://schemas.microsoft.com/office/drawing/2014/main" id="{6DC3910A-EC10-4F93-8646-30BBA9F2C728}"/>
              </a:ext>
            </a:extLst>
          </p:cNvPr>
          <p:cNvSpPr>
            <a:spLocks xmlns:a="http://schemas.openxmlformats.org/drawingml/2006/main" noGrp="1"/>
          </p:cNvSpPr>
          <p:nvPr/>
        </p:nvSpPr>
        <p:spPr>
          <a:xfrm xmlns:a="http://schemas.openxmlformats.org/drawingml/2006/main">
            <a:off x="-2539" y="1414739"/>
            <a:ext cx="2395908" cy="100793"/>
          </a:xfrm>
          <a:custGeom xmlns:a="http://schemas.openxmlformats.org/drawingml/2006/main">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rect l="l" t="t" r="r" b="b"/>
            <a:pathLst>
              <a:path w="2693" h="119">
                <a:moveTo>
                  <a:pt x="0" y="0"/>
                </a:moveTo>
                <a:lnTo>
                  <a:pt x="2693" y="0"/>
                </a:lnTo>
                <a:lnTo>
                  <a:pt x="2629" y="119"/>
                </a:lnTo>
                <a:lnTo>
                  <a:pt x="0" y="119"/>
                </a:lnTo>
                <a:lnTo>
                  <a:pt x="0" y="0"/>
                </a:lnTo>
                <a:close/>
              </a:path>
            </a:pathLst>
          </a:custGeom>
          <a:solidFill xmlns:a="http://schemas.openxmlformats.org/drawingml/2006/main">
            <a:srgbClr val="F398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Tree>
  </p:cSld>
</p:sldLayout>
</file>

<file path=ppt/slideLayouts/slideLayout13.xml><?xml version="1.0" encoding="utf-8"?>
<p:sldLayout xmlns:p="http://schemas.openxmlformats.org/presentationml/2006/main" type="blank" preserve="1">
  <p:cSld name="1_空白">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type="blank" preserve="1">
  <p:cSld name="空白">
    <p:spTree>
      <p:nvGrpSpPr>
        <p:cNvPr id="1" name=""/>
        <p:cNvGrpSpPr/>
        <p:nvPr/>
      </p:nvGrpSpPr>
      <p:grpSpPr>
        <a:xfrm xmlns:a="http://schemas.openxmlformats.org/drawingml/2006/main"/>
      </p:grpSpPr>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e1ea68912d344adf"/>
          <a:srcRect xmlns:a="http://schemas.openxmlformats.org/drawingml/2006/main" l="0" t="0" r="0" b="14645"/>
          <a:stretch xmlns:a="http://schemas.openxmlformats.org/drawingml/2006/main">
            <a:fillRect l="0" t="0" r="0" b="0"/>
          </a:stretch>
        </p:blipFill>
        <p:spPr>
          <a:xfrm xmlns:a="http://schemas.openxmlformats.org/drawingml/2006/main">
            <a:off x="0" y="584200"/>
            <a:ext cx="12192000" cy="804333"/>
          </a:xfrm>
          <a:prstGeom xmlns:a="http://schemas.openxmlformats.org/drawingml/2006/main" prst="rect">
            <a:avLst/>
          </a:prstGeom>
          <a:ln xmlns:a="http://schemas.openxmlformats.org/drawingml/2006/main">
            <a:noFill/>
          </a:ln>
        </p:spPr>
      </p:pic>
      <p:sp>
        <p:nvSpPr>
          <p:cNvPr id="10" name="直接连接符 9">
            <a:extLst xmlns:a="http://schemas.openxmlformats.org/drawingml/2006/main">
              <a:ext uri="{FF2B5EF4-FFF2-40B4-BE49-F238E27FC236}">
                <a16:creationId xmlns:a16="http://schemas.microsoft.com/office/drawing/2014/main" id="{9A0B4D86-B6A6-4319-9D74-77BBE9E5D6EA}"/>
              </a:ext>
            </a:extLst>
          </p:cNvPr>
          <p:cNvSpPr>
            <a:spLocks xmlns:a="http://schemas.openxmlformats.org/drawingml/2006/main" noGrp="1"/>
          </p:cNvSpPr>
          <p:nvPr/>
        </p:nvSpPr>
        <p:spPr>
          <a:xfrm xmlns:a="http://schemas.openxmlformats.org/drawingml/2006/main">
            <a:off x="0" y="1411819"/>
            <a:ext cx="12192000" cy="2116"/>
          </a:xfrm>
          <a:prstGeom xmlns:a="http://schemas.openxmlformats.org/drawingml/2006/main" prst="line">
            <a:avLst/>
          </a:prstGeom>
          <a:ln xmlns:a="http://schemas.openxmlformats.org/drawingml/2006/main" w="28575">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矩形 6">
            <a:extLst xmlns:a="http://schemas.openxmlformats.org/drawingml/2006/main">
              <a:ext uri="{FF2B5EF4-FFF2-40B4-BE49-F238E27FC236}">
                <a16:creationId xmlns:a16="http://schemas.microsoft.com/office/drawing/2014/main" id="{073E1BE0-EAE1-483E-87A3-69C453C2936E}"/>
              </a:ext>
            </a:extLst>
          </p:cNvPr>
          <p:cNvSpPr>
            <a:spLocks xmlns:a="http://schemas.openxmlformats.org/drawingml/2006/main" noGrp="1"/>
          </p:cNvSpPr>
          <p:nvPr/>
        </p:nvSpPr>
        <p:spPr>
          <a:xfrm xmlns:a="http://schemas.openxmlformats.org/drawingml/2006/main">
            <a:off x="821267" y="584200"/>
            <a:ext cx="8652933" cy="711200"/>
          </a:xfrm>
          <a:prstGeom xmlns:a="http://schemas.openxmlformats.org/drawingml/2006/main" prst="rect">
            <a:avLst/>
          </a:prstGeom>
          <a:solidFill xmlns:a="http://schemas.openxmlformats.org/drawingml/2006/main">
            <a:srgbClr val="005BA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b="1">
              <a:solidFill>
                <a:prstClr val="white"/>
              </a:solidFill>
            </a:endParaRPr>
          </a:p>
        </p:txBody>
      </p:sp>
      <p:sp>
        <p:nvSpPr>
          <p:cNvPr id="11" name="任意多边形 10">
            <a:extLst xmlns:a="http://schemas.openxmlformats.org/drawingml/2006/main">
              <a:ext uri="{FF2B5EF4-FFF2-40B4-BE49-F238E27FC236}">
                <a16:creationId xmlns:a16="http://schemas.microsoft.com/office/drawing/2014/main" id="{6809F24B-B5D1-48C5-A62B-0A9E1AD4D251}"/>
              </a:ext>
            </a:extLst>
          </p:cNvPr>
          <p:cNvSpPr>
            <a:spLocks xmlns:a="http://schemas.openxmlformats.org/drawingml/2006/main" noGrp="1"/>
          </p:cNvSpPr>
          <p:nvPr/>
        </p:nvSpPr>
        <p:spPr>
          <a:xfrm xmlns:a="http://schemas.openxmlformats.org/drawingml/2006/main">
            <a:off x="2393370" y="1413933"/>
            <a:ext cx="9798631" cy="101600"/>
          </a:xfrm>
          <a:custGeom xmlns:a="http://schemas.openxmlformats.org/drawingml/2006/main">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rect l="l" t="t" r="r" b="b"/>
            <a:pathLst>
              <a:path w="11394" h="126">
                <a:moveTo>
                  <a:pt x="68" y="0"/>
                </a:moveTo>
                <a:lnTo>
                  <a:pt x="11394" y="6"/>
                </a:lnTo>
                <a:lnTo>
                  <a:pt x="11394" y="126"/>
                </a:lnTo>
                <a:lnTo>
                  <a:pt x="0" y="126"/>
                </a:lnTo>
                <a:lnTo>
                  <a:pt x="68" y="0"/>
                </a:lnTo>
                <a:close/>
              </a:path>
            </a:pathLst>
          </a:custGeom>
          <a:solidFill xmlns:a="http://schemas.openxmlformats.org/drawingml/2006/main">
            <a:srgbClr val="005BA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
        <p:nvSpPr>
          <p:cNvPr id="16" name="任意多边形 15">
            <a:extLst xmlns:a="http://schemas.openxmlformats.org/drawingml/2006/main">
              <a:ext uri="{FF2B5EF4-FFF2-40B4-BE49-F238E27FC236}">
                <a16:creationId xmlns:a16="http://schemas.microsoft.com/office/drawing/2014/main" id="{AA37E693-00A9-4A40-A608-1C6383C928CB}"/>
              </a:ext>
            </a:extLst>
          </p:cNvPr>
          <p:cNvSpPr>
            <a:spLocks xmlns:a="http://schemas.openxmlformats.org/drawingml/2006/main" noGrp="1"/>
          </p:cNvSpPr>
          <p:nvPr/>
        </p:nvSpPr>
        <p:spPr>
          <a:xfrm xmlns:a="http://schemas.openxmlformats.org/drawingml/2006/main">
            <a:off x="-2539" y="1414739"/>
            <a:ext cx="2395908" cy="100793"/>
          </a:xfrm>
          <a:custGeom xmlns:a="http://schemas.openxmlformats.org/drawingml/2006/main">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rect l="l" t="t" r="r" b="b"/>
            <a:pathLst>
              <a:path w="2693" h="119">
                <a:moveTo>
                  <a:pt x="0" y="0"/>
                </a:moveTo>
                <a:lnTo>
                  <a:pt x="2693" y="0"/>
                </a:lnTo>
                <a:lnTo>
                  <a:pt x="2629" y="119"/>
                </a:lnTo>
                <a:lnTo>
                  <a:pt x="0" y="119"/>
                </a:lnTo>
                <a:lnTo>
                  <a:pt x="0" y="0"/>
                </a:lnTo>
                <a:close/>
              </a:path>
            </a:pathLst>
          </a:custGeom>
          <a:solidFill xmlns:a="http://schemas.openxmlformats.org/drawingml/2006/main">
            <a:srgbClr val="F398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p>
        </p:txBody>
      </p:sp>
    </p:spTree>
  </p:cSld>
</p:sldLayout>
</file>

<file path=ppt/slideLayouts/slideLayout15.xml><?xml version="1.0" encoding="utf-8"?>
<p:sldLayout xmlns:p="http://schemas.openxmlformats.org/presentationml/2006/main" type="blank" preserve="1">
  <p:cSld name="1_空白">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672a31f2a84bc4" /><Relationship Type="http://schemas.openxmlformats.org/officeDocument/2006/relationships/slideLayout" Target="/ppt/slideLayouts/slideLayout1.xml" Id="Rf2c438ec2e9a43f8" /><Relationship Type="http://schemas.openxmlformats.org/officeDocument/2006/relationships/slideLayout" Target="/ppt/slideLayouts/slideLayout2.xml" Id="R7332a6bac94d4d15" /><Relationship Type="http://schemas.openxmlformats.org/officeDocument/2006/relationships/slideLayout" Target="/ppt/slideLayouts/slideLayout3.xml" Id="Rdb6637fab09d4146" /><Relationship Type="http://schemas.openxmlformats.org/officeDocument/2006/relationships/slideLayout" Target="/ppt/slideLayouts/slideLayout4.xml" Id="R6a50defc6c694d28" /><Relationship Type="http://schemas.openxmlformats.org/officeDocument/2006/relationships/slideLayout" Target="/ppt/slideLayouts/slideLayout5.xml" Id="Rd8690353b603440d" /><Relationship Type="http://schemas.openxmlformats.org/officeDocument/2006/relationships/slideLayout" Target="/ppt/slideLayouts/slideLayout6.xml" Id="R708401901c71423e" /><Relationship Type="http://schemas.openxmlformats.org/officeDocument/2006/relationships/slideLayout" Target="/ppt/slideLayouts/slideLayout7.xml" Id="R92ab31d651a64b3a" /><Relationship Type="http://schemas.openxmlformats.org/officeDocument/2006/relationships/slideLayout" Target="/ppt/slideLayouts/slideLayout8.xml" Id="R13ce8a3ed80e4003" /><Relationship Type="http://schemas.openxmlformats.org/officeDocument/2006/relationships/slideLayout" Target="/ppt/slideLayouts/slideLayout9.xml" Id="R0d3c90f0be374a2a" /><Relationship Type="http://schemas.openxmlformats.org/officeDocument/2006/relationships/slideLayout" Target="/ppt/slideLayouts/slideLayout10.xml" Id="R889f8b1fb7dc4d6d" /><Relationship Type="http://schemas.openxmlformats.org/officeDocument/2006/relationships/slideLayout" Target="/ppt/slideLayouts/slideLayout11.xml" Id="Rd922aef639dc43d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b9b7f77fb23410a" /><Relationship Type="http://schemas.openxmlformats.org/officeDocument/2006/relationships/slideLayout" Target="/ppt/slideLayouts/slideLayout12.xml" Id="R68b8cd89bee64a9c" /><Relationship Type="http://schemas.openxmlformats.org/officeDocument/2006/relationships/slideLayout" Target="/ppt/slideLayouts/slideLayout13.xml" Id="R7503002a17b74b72"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49ca6210f8824337" /><Relationship Type="http://schemas.openxmlformats.org/officeDocument/2006/relationships/slideLayout" Target="/ppt/slideLayouts/slideLayout14.xml" Id="Ra163d602a7344541" /><Relationship Type="http://schemas.openxmlformats.org/officeDocument/2006/relationships/slideLayout" Target="/ppt/slideLayouts/slideLayout15.xml" Id="R6e13da6803f44f2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43266A96-2003-4025-B2F8-B8F2F9ECB83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04983D7F-B2AC-4A42-9D2C-62EB1B677EC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39914962-296F-427C-B8E8-7EDCE69C9B25}"/>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9F4852F6-D0EE-43FF-9758-4449F4064C7C}" type="datetimeFigureOut">
              <a:t>2026/9/27</a:t>
            </a:fld>
            <a:endParaRPr/>
          </a:p>
        </p:txBody>
      </p:sp>
      <p:sp>
        <p:nvSpPr>
          <p:cNvPr id="5" name="页脚占位符 4">
            <a:extLst xmlns:a="http://schemas.openxmlformats.org/drawingml/2006/main">
              <a:ext uri="{FF2B5EF4-FFF2-40B4-BE49-F238E27FC236}">
                <a16:creationId xmlns:a16="http://schemas.microsoft.com/office/drawing/2014/main" id="{6E13DB23-E2DB-49F2-9F10-5147AE6EF39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7432BD1-FB6C-40B0-9AA8-7ED1D01112C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c438ec2e9a43f8"/>
    <p:sldLayoutId xmlns:r="http://schemas.openxmlformats.org/officeDocument/2006/relationships" id="2147483650" r:id="R7332a6bac94d4d15"/>
    <p:sldLayoutId xmlns:r="http://schemas.openxmlformats.org/officeDocument/2006/relationships" id="2147483651" r:id="Rdb6637fab09d4146"/>
    <p:sldLayoutId xmlns:r="http://schemas.openxmlformats.org/officeDocument/2006/relationships" id="2147483652" r:id="R6a50defc6c694d28"/>
    <p:sldLayoutId xmlns:r="http://schemas.openxmlformats.org/officeDocument/2006/relationships" id="2147483653" r:id="Rd8690353b603440d"/>
    <p:sldLayoutId xmlns:r="http://schemas.openxmlformats.org/officeDocument/2006/relationships" id="2147483654" r:id="R708401901c71423e"/>
    <p:sldLayoutId xmlns:r="http://schemas.openxmlformats.org/officeDocument/2006/relationships" id="2147483655" r:id="R92ab31d651a64b3a"/>
    <p:sldLayoutId xmlns:r="http://schemas.openxmlformats.org/officeDocument/2006/relationships" id="2147483656" r:id="R13ce8a3ed80e4003"/>
    <p:sldLayoutId xmlns:r="http://schemas.openxmlformats.org/officeDocument/2006/relationships" id="2147483657" r:id="R0d3c90f0be374a2a"/>
    <p:sldLayoutId xmlns:r="http://schemas.openxmlformats.org/officeDocument/2006/relationships" id="2147483658" r:id="R889f8b1fb7dc4d6d"/>
    <p:sldLayoutId xmlns:r="http://schemas.openxmlformats.org/officeDocument/2006/relationships" id="2147483659" r:id="Rd922aef639dc43d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4098" name="标题占位符 1">
            <a:extLst xmlns:a="http://schemas.openxmlformats.org/drawingml/2006/main">
              <a:ext uri="{FF2B5EF4-FFF2-40B4-BE49-F238E27FC236}">
                <a16:creationId xmlns:a16="http://schemas.microsoft.com/office/drawing/2014/main" id="{FFA7703D-0678-4454-B923-F3F7A0E09E47}"/>
              </a:ext>
            </a:extLst>
          </p:cNvPr>
          <p:cNvSpPr>
            <a:spLocks xmlns:a="http://schemas.openxmlformats.org/drawingml/2006/main" noGrp="1"/>
          </p:cNvSpPr>
          <p:nvPr>
            <p:ph type="title" idx="0"/>
          </p:nvPr>
        </p:nvSpPr>
        <p:spPr>
          <a:xfrm xmlns:a="http://schemas.openxmlformats.org/drawingml/2006/main">
            <a:off x="838200" y="366186"/>
            <a:ext cx="10515600" cy="1325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5019" tIns="32509" rIns="65019" bIns="32509" anchor="ctr"/>
          <a:lstStyle xmlns:a="http://schemas.openxmlformats.org/drawingml/2006/main"/>
          <a:p xmlns:a="http://schemas.openxmlformats.org/drawingml/2006/main">
            <a:pPr lvl="0">
              <a:buNone/>
            </a:pPr>
            <a:r>
              <a:t>单击此处编辑母版标题样式</a:t>
            </a:r>
          </a:p>
        </p:txBody>
      </p:sp>
      <p:sp>
        <p:nvSpPr>
          <p:cNvPr id="4099" name="文本占位符 2">
            <a:extLst xmlns:a="http://schemas.openxmlformats.org/drawingml/2006/main">
              <a:ext uri="{FF2B5EF4-FFF2-40B4-BE49-F238E27FC236}">
                <a16:creationId xmlns:a16="http://schemas.microsoft.com/office/drawing/2014/main" id="{DF91456B-26C3-48E2-A393-7419A47BC1AB}"/>
              </a:ext>
            </a:extLst>
          </p:cNvPr>
          <p:cNvSpPr>
            <a:spLocks xmlns:a="http://schemas.openxmlformats.org/drawingml/2006/main" noGrp="1"/>
          </p:cNvSpPr>
          <p:nvPr>
            <p:ph type="body" idx="1"/>
          </p:nvPr>
        </p:nvSpPr>
        <p:spPr>
          <a:xfrm xmlns:a="http://schemas.openxmlformats.org/drawingml/2006/main">
            <a:off x="838200" y="1826685"/>
            <a:ext cx="10515600" cy="4351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5019" tIns="32509" rIns="65019" bIns="32509"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12558CF-41BB-4DD8-8273-786F324207D5}"/>
              </a:ext>
            </a:extLst>
          </p:cNvPr>
          <p:cNvSpPr>
            <a:spLocks xmlns:a="http://schemas.openxmlformats.org/drawingml/2006/main" noGrp="1"/>
          </p:cNvSpPr>
          <p:nvPr>
            <p:ph type="dt" idx="2"/>
          </p:nvPr>
        </p:nvSpPr>
        <p:spPr>
          <a:xfrm xmlns:a="http://schemas.openxmlformats.org/drawingml/2006/main">
            <a:off x="838200" y="6356353"/>
            <a:ext cx="2743200" cy="364067"/>
          </a:xfrm>
          <a:prstGeom xmlns:a="http://schemas.openxmlformats.org/drawingml/2006/main" prst="rect">
            <a:avLst/>
          </a:prstGeom>
        </p:spPr>
        <p:txBody>
          <a:bodyPr xmlns:a="http://schemas.openxmlformats.org/drawingml/2006/main" vert="horz" lIns="65019" tIns="32509" rIns="65019" bIns="32509" anchor="ctr"/>
          <a:lstStyle xmlns:a="http://schemas.openxmlformats.org/drawingml/2006/main">
            <a:lvl1pPr algn="l" defTabSz="1218565">
              <a:buNone/>
              <a:defRPr sz="1200">
                <a:solidFill>
                  <a:prstClr val="black">
                    <a:tint val="75000"/>
                  </a:prstClr>
                </a:solidFill>
                <a:latin typeface="+mn-lt"/>
                <a:ea typeface="+mn-lt"/>
                <a:cs typeface="+mn-lt"/>
              </a:defRPr>
            </a:lvl1pPr>
          </a:lstStyle>
          <a:p xmlns:a="http://schemas.openxmlformats.org/drawingml/2006/main">
            <a:pPr>
              <a:buNone/>
            </a:pPr>
            <a:fld id="{292F71EF-02F8-4FDD-93F8-D030AB7FC83F}" type="datetimeFigureOut">
              <a:t>2026/9/27</a:t>
            </a:fld>
            <a:endParaRPr/>
          </a:p>
        </p:txBody>
      </p:sp>
      <p:sp>
        <p:nvSpPr>
          <p:cNvPr id="5" name="页脚占位符 4">
            <a:extLst xmlns:a="http://schemas.openxmlformats.org/drawingml/2006/main">
              <a:ext uri="{FF2B5EF4-FFF2-40B4-BE49-F238E27FC236}">
                <a16:creationId xmlns:a16="http://schemas.microsoft.com/office/drawing/2014/main" id="{9375D491-3100-4AF4-B449-158D8E6C5293}"/>
              </a:ext>
            </a:extLst>
          </p:cNvPr>
          <p:cNvSpPr>
            <a:spLocks xmlns:a="http://schemas.openxmlformats.org/drawingml/2006/main" noGrp="1"/>
          </p:cNvSpPr>
          <p:nvPr>
            <p:ph type="ftr" idx="3"/>
          </p:nvPr>
        </p:nvSpPr>
        <p:spPr>
          <a:xfrm xmlns:a="http://schemas.openxmlformats.org/drawingml/2006/main">
            <a:off x="4038600" y="6356353"/>
            <a:ext cx="4114800" cy="364067"/>
          </a:xfrm>
          <a:prstGeom xmlns:a="http://schemas.openxmlformats.org/drawingml/2006/main" prst="rect">
            <a:avLst/>
          </a:prstGeom>
        </p:spPr>
        <p:txBody>
          <a:bodyPr xmlns:a="http://schemas.openxmlformats.org/drawingml/2006/main" vert="horz" lIns="65019" tIns="32509" rIns="65019" bIns="32509" anchor="ctr"/>
          <a:lstStyle xmlns:a="http://schemas.openxmlformats.org/drawingml/2006/main">
            <a:lvl1pPr algn="ctr" defTabSz="1218565">
              <a:buNone/>
              <a:defRPr sz="1200">
                <a:solidFill>
                  <a:prstClr val="black">
                    <a:tint val="75000"/>
                  </a:prstClr>
                </a:solidFill>
                <a:latin typeface="+mn-lt"/>
                <a:ea typeface="+mn-lt"/>
                <a:cs typeface="+mn-lt"/>
              </a:defRPr>
            </a:lvl1pPr>
          </a:lstStyle>
          <a:p xmlns:a="http://schemas.openxmlformats.org/drawingml/2006/main">
            <a:pPr>
              <a:buNone/>
            </a:pPr>
            <a:endParaRPr/>
          </a:p>
        </p:txBody>
      </p:sp>
      <p:sp>
        <p:nvSpPr>
          <p:cNvPr id="6" name="灯片编号占位符 5">
            <a:extLst xmlns:a="http://schemas.openxmlformats.org/drawingml/2006/main">
              <a:ext uri="{FF2B5EF4-FFF2-40B4-BE49-F238E27FC236}">
                <a16:creationId xmlns:a16="http://schemas.microsoft.com/office/drawing/2014/main" id="{E3A0ED3A-25B1-4D00-AC74-A03166EB8C26}"/>
              </a:ext>
            </a:extLst>
          </p:cNvPr>
          <p:cNvSpPr>
            <a:spLocks xmlns:a="http://schemas.openxmlformats.org/drawingml/2006/main" noGrp="1"/>
          </p:cNvSpPr>
          <p:nvPr>
            <p:ph type="sldNum" idx="4"/>
          </p:nvPr>
        </p:nvSpPr>
        <p:spPr>
          <a:xfrm xmlns:a="http://schemas.openxmlformats.org/drawingml/2006/main">
            <a:off x="8610600" y="6356353"/>
            <a:ext cx="2743200" cy="364067"/>
          </a:xfrm>
          <a:prstGeom xmlns:a="http://schemas.openxmlformats.org/drawingml/2006/main" prst="rect">
            <a:avLst/>
          </a:prstGeom>
        </p:spPr>
        <p:txBody>
          <a:bodyPr xmlns:a="http://schemas.openxmlformats.org/drawingml/2006/main" vert="horz" wrap="square" lIns="65019" tIns="32509" rIns="65019" bIns="32509" anchor="ctr"/>
          <a:lstStyle xmlns:a="http://schemas.openxmlformats.org/drawingml/2006/main">
            <a:lvl1pPr algn="r" defTabSz="1216660">
              <a:buNone/>
              <a:defRPr sz="1200">
                <a:solidFill>
                  <a:srgbClr val="898989"/>
                </a:solidFill>
              </a:defRPr>
            </a:lvl1pPr>
          </a:lstStyle>
          <a:p xmlns:a="http://schemas.openxmlformats.org/drawingml/2006/main">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68b8cd89bee64a9c"/>
    <p:sldLayoutId xmlns:r="http://schemas.openxmlformats.org/officeDocument/2006/relationships" id="2147483662" r:id="R7503002a17b74b72"/>
  </p:sldLayoutIdLst>
  <p:txStyles>
    <p:titleStyle>
      <a:lvl1pPr xmlns:a="http://schemas.openxmlformats.org/drawingml/2006/main" algn="l" defTabSz="865505">
        <a:lnSpc>
          <a:spcPct val="90000"/>
        </a:lnSpc>
        <a:spcBef>
          <a:spcPct val="0"/>
        </a:spcBef>
        <a:spcAft>
          <a:spcPct val="0"/>
        </a:spcAft>
        <a:buNone/>
        <a:defRPr sz="4135" kern="1200">
          <a:solidFill>
            <a:schemeClr val="tx1"/>
          </a:solidFill>
          <a:latin typeface="Calibri"/>
          <a:ea typeface="Calibri"/>
          <a:cs typeface="Calibri"/>
        </a:defRPr>
      </a:lvl1pPr>
      <a:lvl2pPr xmlns:a="http://schemas.openxmlformats.org/drawingml/2006/main"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xmlns:a="http://schemas.openxmlformats.org/drawingml/2006/main"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xmlns:a="http://schemas.openxmlformats.org/drawingml/2006/main"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xmlns:a="http://schemas.openxmlformats.org/drawingml/2006/main"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xmlns:a="http://schemas.openxmlformats.org/drawingml/2006/main"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xmlns:a="http://schemas.openxmlformats.org/drawingml/2006/main"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xmlns:a="http://schemas.openxmlformats.org/drawingml/2006/main"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xmlns:a="http://schemas.openxmlformats.org/drawingml/2006/main"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xmlns:a="http://schemas.openxmlformats.org/drawingml/2006/main"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xmlns:a="http://schemas.openxmlformats.org/drawingml/2006/main"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xmlns:a="http://schemas.openxmlformats.org/drawingml/2006/main"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xmlns:a="http://schemas.openxmlformats.org/drawingml/2006/main"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xmlns:a="http://schemas.openxmlformats.org/drawingml/2006/main"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xmlns:a="http://schemas.openxmlformats.org/drawingml/2006/main"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xmlns:a="http://schemas.openxmlformats.org/drawingml/2006/main"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xmlns:a="http://schemas.openxmlformats.org/drawingml/2006/main"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xmlns:a="http://schemas.openxmlformats.org/drawingml/2006/main"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xmlns:a="http://schemas.openxmlformats.org/drawingml/2006/main" marL="0" algn="l" defTabSz="866140">
        <a:buNone/>
        <a:defRPr sz="1735" kern="1200">
          <a:solidFill>
            <a:schemeClr val="tx1"/>
          </a:solidFill>
          <a:latin typeface="+mn-lt"/>
          <a:ea typeface="+mn-lt"/>
          <a:cs typeface="+mn-lt"/>
        </a:defRPr>
      </a:lvl1pPr>
      <a:lvl2pPr xmlns:a="http://schemas.openxmlformats.org/drawingml/2006/main" marL="433705" algn="l" defTabSz="866140">
        <a:buNone/>
        <a:defRPr sz="1735" kern="1200">
          <a:solidFill>
            <a:schemeClr val="tx1"/>
          </a:solidFill>
          <a:latin typeface="+mn-lt"/>
          <a:ea typeface="+mn-lt"/>
          <a:cs typeface="+mn-lt"/>
        </a:defRPr>
      </a:lvl2pPr>
      <a:lvl3pPr xmlns:a="http://schemas.openxmlformats.org/drawingml/2006/main" marL="866775" algn="l" defTabSz="866140">
        <a:buNone/>
        <a:defRPr sz="1735" kern="1200">
          <a:solidFill>
            <a:schemeClr val="tx1"/>
          </a:solidFill>
          <a:latin typeface="+mn-lt"/>
          <a:ea typeface="+mn-lt"/>
          <a:cs typeface="+mn-lt"/>
        </a:defRPr>
      </a:lvl3pPr>
      <a:lvl4pPr xmlns:a="http://schemas.openxmlformats.org/drawingml/2006/main" marL="1300480" algn="l" defTabSz="866140">
        <a:buNone/>
        <a:defRPr sz="1735" kern="1200">
          <a:solidFill>
            <a:schemeClr val="tx1"/>
          </a:solidFill>
          <a:latin typeface="+mn-lt"/>
          <a:ea typeface="+mn-lt"/>
          <a:cs typeface="+mn-lt"/>
        </a:defRPr>
      </a:lvl4pPr>
      <a:lvl5pPr xmlns:a="http://schemas.openxmlformats.org/drawingml/2006/main" marL="1734185" algn="l" defTabSz="866140">
        <a:buNone/>
        <a:defRPr sz="1735" kern="1200">
          <a:solidFill>
            <a:schemeClr val="tx1"/>
          </a:solidFill>
          <a:latin typeface="+mn-lt"/>
          <a:ea typeface="+mn-lt"/>
          <a:cs typeface="+mn-lt"/>
        </a:defRPr>
      </a:lvl5pPr>
      <a:lvl6pPr xmlns:a="http://schemas.openxmlformats.org/drawingml/2006/main" marL="2167255" algn="l" defTabSz="866140">
        <a:buNone/>
        <a:defRPr sz="1735" kern="1200">
          <a:solidFill>
            <a:schemeClr val="tx1"/>
          </a:solidFill>
          <a:latin typeface="+mn-lt"/>
          <a:ea typeface="+mn-lt"/>
          <a:cs typeface="+mn-lt"/>
        </a:defRPr>
      </a:lvl6pPr>
      <a:lvl7pPr xmlns:a="http://schemas.openxmlformats.org/drawingml/2006/main" marL="2600960" algn="l" defTabSz="866140">
        <a:buNone/>
        <a:defRPr sz="1735" kern="1200">
          <a:solidFill>
            <a:schemeClr val="tx1"/>
          </a:solidFill>
          <a:latin typeface="+mn-lt"/>
          <a:ea typeface="+mn-lt"/>
          <a:cs typeface="+mn-lt"/>
        </a:defRPr>
      </a:lvl7pPr>
      <a:lvl8pPr xmlns:a="http://schemas.openxmlformats.org/drawingml/2006/main" marL="3034665" algn="l" defTabSz="866140">
        <a:buNone/>
        <a:defRPr sz="1735" kern="1200">
          <a:solidFill>
            <a:schemeClr val="tx1"/>
          </a:solidFill>
          <a:latin typeface="+mn-lt"/>
          <a:ea typeface="+mn-lt"/>
          <a:cs typeface="+mn-lt"/>
        </a:defRPr>
      </a:lvl8pPr>
      <a:lvl9pPr xmlns:a="http://schemas.openxmlformats.org/drawingml/2006/main"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4098" name="标题占位符 1">
            <a:extLst xmlns:a="http://schemas.openxmlformats.org/drawingml/2006/main">
              <a:ext uri="{FF2B5EF4-FFF2-40B4-BE49-F238E27FC236}">
                <a16:creationId xmlns:a16="http://schemas.microsoft.com/office/drawing/2014/main" id="{2DD986D5-7C62-452D-8061-B302A09E428C}"/>
              </a:ext>
            </a:extLst>
          </p:cNvPr>
          <p:cNvSpPr>
            <a:spLocks xmlns:a="http://schemas.openxmlformats.org/drawingml/2006/main" noGrp="1"/>
          </p:cNvSpPr>
          <p:nvPr>
            <p:ph type="title" idx="0"/>
          </p:nvPr>
        </p:nvSpPr>
        <p:spPr>
          <a:xfrm xmlns:a="http://schemas.openxmlformats.org/drawingml/2006/main">
            <a:off x="838200" y="366186"/>
            <a:ext cx="10515600" cy="1325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5019" tIns="32509" rIns="65019" bIns="32509" anchor="ctr"/>
          <a:lstStyle xmlns:a="http://schemas.openxmlformats.org/drawingml/2006/main"/>
          <a:p xmlns:a="http://schemas.openxmlformats.org/drawingml/2006/main">
            <a:pPr lvl="0">
              <a:buNone/>
            </a:pPr>
            <a:r>
              <a:t>单击此处编辑母版标题样式</a:t>
            </a:r>
          </a:p>
        </p:txBody>
      </p:sp>
      <p:sp>
        <p:nvSpPr>
          <p:cNvPr id="4099" name="文本占位符 2">
            <a:extLst xmlns:a="http://schemas.openxmlformats.org/drawingml/2006/main">
              <a:ext uri="{FF2B5EF4-FFF2-40B4-BE49-F238E27FC236}">
                <a16:creationId xmlns:a16="http://schemas.microsoft.com/office/drawing/2014/main" id="{86233082-5315-4B8B-AE57-8EC41B5E3B25}"/>
              </a:ext>
            </a:extLst>
          </p:cNvPr>
          <p:cNvSpPr>
            <a:spLocks xmlns:a="http://schemas.openxmlformats.org/drawingml/2006/main" noGrp="1"/>
          </p:cNvSpPr>
          <p:nvPr>
            <p:ph type="body" idx="1"/>
          </p:nvPr>
        </p:nvSpPr>
        <p:spPr>
          <a:xfrm xmlns:a="http://schemas.openxmlformats.org/drawingml/2006/main">
            <a:off x="838200" y="1826685"/>
            <a:ext cx="10515600" cy="4351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65019" tIns="32509" rIns="65019" bIns="32509"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00159EDC-FC9C-46E9-9B21-874A8A61675B}"/>
              </a:ext>
            </a:extLst>
          </p:cNvPr>
          <p:cNvSpPr>
            <a:spLocks xmlns:a="http://schemas.openxmlformats.org/drawingml/2006/main" noGrp="1"/>
          </p:cNvSpPr>
          <p:nvPr>
            <p:ph type="dt" idx="2"/>
          </p:nvPr>
        </p:nvSpPr>
        <p:spPr>
          <a:xfrm xmlns:a="http://schemas.openxmlformats.org/drawingml/2006/main">
            <a:off x="838200" y="6356353"/>
            <a:ext cx="2743200" cy="364067"/>
          </a:xfrm>
          <a:prstGeom xmlns:a="http://schemas.openxmlformats.org/drawingml/2006/main" prst="rect">
            <a:avLst/>
          </a:prstGeom>
        </p:spPr>
        <p:txBody>
          <a:bodyPr xmlns:a="http://schemas.openxmlformats.org/drawingml/2006/main" vert="horz" lIns="65019" tIns="32509" rIns="65019" bIns="32509" anchor="ctr"/>
          <a:lstStyle xmlns:a="http://schemas.openxmlformats.org/drawingml/2006/main">
            <a:lvl1pPr algn="l" defTabSz="1218323">
              <a:buNone/>
              <a:defRPr sz="1200">
                <a:solidFill>
                  <a:prstClr val="black">
                    <a:tint val="75000"/>
                  </a:prstClr>
                </a:solidFill>
                <a:latin typeface="+mn-lt"/>
                <a:ea typeface="+mn-lt"/>
                <a:cs typeface="+mn-lt"/>
              </a:defRPr>
            </a:lvl1pPr>
          </a:lstStyle>
          <a:p xmlns:a="http://schemas.openxmlformats.org/drawingml/2006/main">
            <a:pPr>
              <a:buNone/>
            </a:pPr>
            <a:fld id="{292F71EF-02F8-4FDD-93F8-D030AB7FC83F}" type="datetimeFigureOut">
              <a:t>2026/9/27</a:t>
            </a:fld>
            <a:endParaRPr/>
          </a:p>
        </p:txBody>
      </p:sp>
      <p:sp>
        <p:nvSpPr>
          <p:cNvPr id="5" name="页脚占位符 4">
            <a:extLst xmlns:a="http://schemas.openxmlformats.org/drawingml/2006/main">
              <a:ext uri="{FF2B5EF4-FFF2-40B4-BE49-F238E27FC236}">
                <a16:creationId xmlns:a16="http://schemas.microsoft.com/office/drawing/2014/main" id="{F7D6B1E0-9C14-4FFB-8B26-287FA97D068D}"/>
              </a:ext>
            </a:extLst>
          </p:cNvPr>
          <p:cNvSpPr>
            <a:spLocks xmlns:a="http://schemas.openxmlformats.org/drawingml/2006/main" noGrp="1"/>
          </p:cNvSpPr>
          <p:nvPr>
            <p:ph type="ftr" idx="3"/>
          </p:nvPr>
        </p:nvSpPr>
        <p:spPr>
          <a:xfrm xmlns:a="http://schemas.openxmlformats.org/drawingml/2006/main">
            <a:off x="4038600" y="6356353"/>
            <a:ext cx="4114800" cy="364067"/>
          </a:xfrm>
          <a:prstGeom xmlns:a="http://schemas.openxmlformats.org/drawingml/2006/main" prst="rect">
            <a:avLst/>
          </a:prstGeom>
        </p:spPr>
        <p:txBody>
          <a:bodyPr xmlns:a="http://schemas.openxmlformats.org/drawingml/2006/main" vert="horz" lIns="65019" tIns="32509" rIns="65019" bIns="32509" anchor="ctr"/>
          <a:lstStyle xmlns:a="http://schemas.openxmlformats.org/drawingml/2006/main">
            <a:lvl1pPr algn="ctr" defTabSz="1218323">
              <a:buNone/>
              <a:defRPr sz="1200">
                <a:solidFill>
                  <a:prstClr val="black">
                    <a:tint val="75000"/>
                  </a:prstClr>
                </a:solidFill>
                <a:latin typeface="+mn-lt"/>
                <a:ea typeface="+mn-lt"/>
                <a:cs typeface="+mn-lt"/>
              </a:defRPr>
            </a:lvl1pPr>
          </a:lstStyle>
          <a:p xmlns:a="http://schemas.openxmlformats.org/drawingml/2006/main">
            <a:pPr>
              <a:buNone/>
            </a:pPr>
            <a:endParaRPr/>
          </a:p>
        </p:txBody>
      </p:sp>
      <p:sp>
        <p:nvSpPr>
          <p:cNvPr id="6" name="灯片编号占位符 5">
            <a:extLst xmlns:a="http://schemas.openxmlformats.org/drawingml/2006/main">
              <a:ext uri="{FF2B5EF4-FFF2-40B4-BE49-F238E27FC236}">
                <a16:creationId xmlns:a16="http://schemas.microsoft.com/office/drawing/2014/main" id="{96171AD2-D63B-4944-8A4A-B20C7084E0B5}"/>
              </a:ext>
            </a:extLst>
          </p:cNvPr>
          <p:cNvSpPr>
            <a:spLocks xmlns:a="http://schemas.openxmlformats.org/drawingml/2006/main" noGrp="1"/>
          </p:cNvSpPr>
          <p:nvPr>
            <p:ph type="sldNum" idx="4"/>
          </p:nvPr>
        </p:nvSpPr>
        <p:spPr>
          <a:xfrm xmlns:a="http://schemas.openxmlformats.org/drawingml/2006/main">
            <a:off x="8610600" y="6356353"/>
            <a:ext cx="2743200" cy="364067"/>
          </a:xfrm>
          <a:prstGeom xmlns:a="http://schemas.openxmlformats.org/drawingml/2006/main" prst="rect">
            <a:avLst/>
          </a:prstGeom>
        </p:spPr>
        <p:txBody>
          <a:bodyPr xmlns:a="http://schemas.openxmlformats.org/drawingml/2006/main" vert="horz" wrap="square" lIns="65019" tIns="32509" rIns="65019" bIns="32509" anchor="ctr"/>
          <a:lstStyle xmlns:a="http://schemas.openxmlformats.org/drawingml/2006/main">
            <a:lvl1pPr algn="r" defTabSz="1216630">
              <a:buNone/>
              <a:defRPr sz="1200">
                <a:solidFill>
                  <a:srgbClr val="898989"/>
                </a:solidFill>
              </a:defRPr>
            </a:lvl1pPr>
          </a:lstStyle>
          <a:p xmlns:a="http://schemas.openxmlformats.org/drawingml/2006/main">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a163d602a7344541"/>
    <p:sldLayoutId xmlns:r="http://schemas.openxmlformats.org/officeDocument/2006/relationships" id="2147483665" r:id="R6e13da6803f44f29"/>
  </p:sldLayoutIdLst>
  <p:txStyles>
    <p:titleStyle>
      <a:lvl1pPr xmlns:a="http://schemas.openxmlformats.org/drawingml/2006/main" algn="l" defTabSz="865272">
        <a:lnSpc>
          <a:spcPct val="90000"/>
        </a:lnSpc>
        <a:spcBef>
          <a:spcPct val="0"/>
        </a:spcBef>
        <a:spcAft>
          <a:spcPct val="0"/>
        </a:spcAft>
        <a:buNone/>
        <a:defRPr sz="4133" kern="1200">
          <a:solidFill>
            <a:schemeClr val="tx1"/>
          </a:solidFill>
          <a:latin typeface="Calibri"/>
          <a:ea typeface="Calibri"/>
          <a:cs typeface="Calibri"/>
        </a:defRPr>
      </a:lvl1pPr>
      <a:lvl2pPr xmlns:a="http://schemas.openxmlformats.org/drawingml/2006/main"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xmlns:a="http://schemas.openxmlformats.org/drawingml/2006/main"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xmlns:a="http://schemas.openxmlformats.org/drawingml/2006/main"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xmlns:a="http://schemas.openxmlformats.org/drawingml/2006/main"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xmlns:a="http://schemas.openxmlformats.org/drawingml/2006/main"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xmlns:a="http://schemas.openxmlformats.org/drawingml/2006/main"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xmlns:a="http://schemas.openxmlformats.org/drawingml/2006/main"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xmlns:a="http://schemas.openxmlformats.org/drawingml/2006/main"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xmlns:a="http://schemas.openxmlformats.org/drawingml/2006/main"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xmlns:a="http://schemas.openxmlformats.org/drawingml/2006/main"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xmlns:a="http://schemas.openxmlformats.org/drawingml/2006/main"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xmlns:a="http://schemas.openxmlformats.org/drawingml/2006/main"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xmlns:a="http://schemas.openxmlformats.org/drawingml/2006/main"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xmlns:a="http://schemas.openxmlformats.org/drawingml/2006/main"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xmlns:a="http://schemas.openxmlformats.org/drawingml/2006/main"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xmlns:a="http://schemas.openxmlformats.org/drawingml/2006/main"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xmlns:a="http://schemas.openxmlformats.org/drawingml/2006/main"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xmlns:a="http://schemas.openxmlformats.org/drawingml/2006/main" marL="0" algn="l" defTabSz="866118">
        <a:buNone/>
        <a:defRPr sz="1733" kern="1200">
          <a:solidFill>
            <a:schemeClr val="tx1"/>
          </a:solidFill>
          <a:latin typeface="+mn-lt"/>
          <a:ea typeface="+mn-lt"/>
          <a:cs typeface="+mn-lt"/>
        </a:defRPr>
      </a:lvl1pPr>
      <a:lvl2pPr xmlns:a="http://schemas.openxmlformats.org/drawingml/2006/main" marL="433482" algn="l" defTabSz="866118">
        <a:buNone/>
        <a:defRPr sz="1733" kern="1200">
          <a:solidFill>
            <a:schemeClr val="tx1"/>
          </a:solidFill>
          <a:latin typeface="+mn-lt"/>
          <a:ea typeface="+mn-lt"/>
          <a:cs typeface="+mn-lt"/>
        </a:defRPr>
      </a:lvl2pPr>
      <a:lvl3pPr xmlns:a="http://schemas.openxmlformats.org/drawingml/2006/main" marL="866965" algn="l" defTabSz="866118">
        <a:buNone/>
        <a:defRPr sz="1733" kern="1200">
          <a:solidFill>
            <a:schemeClr val="tx1"/>
          </a:solidFill>
          <a:latin typeface="+mn-lt"/>
          <a:ea typeface="+mn-lt"/>
          <a:cs typeface="+mn-lt"/>
        </a:defRPr>
      </a:lvl3pPr>
      <a:lvl4pPr xmlns:a="http://schemas.openxmlformats.org/drawingml/2006/main" marL="1300447" algn="l" defTabSz="866118">
        <a:buNone/>
        <a:defRPr sz="1733" kern="1200">
          <a:solidFill>
            <a:schemeClr val="tx1"/>
          </a:solidFill>
          <a:latin typeface="+mn-lt"/>
          <a:ea typeface="+mn-lt"/>
          <a:cs typeface="+mn-lt"/>
        </a:defRPr>
      </a:lvl4pPr>
      <a:lvl5pPr xmlns:a="http://schemas.openxmlformats.org/drawingml/2006/main" marL="1733930" algn="l" defTabSz="866118">
        <a:buNone/>
        <a:defRPr sz="1733" kern="1200">
          <a:solidFill>
            <a:schemeClr val="tx1"/>
          </a:solidFill>
          <a:latin typeface="+mn-lt"/>
          <a:ea typeface="+mn-lt"/>
          <a:cs typeface="+mn-lt"/>
        </a:defRPr>
      </a:lvl5pPr>
      <a:lvl6pPr xmlns:a="http://schemas.openxmlformats.org/drawingml/2006/main" marL="2167412" algn="l" defTabSz="866118">
        <a:buNone/>
        <a:defRPr sz="1733" kern="1200">
          <a:solidFill>
            <a:schemeClr val="tx1"/>
          </a:solidFill>
          <a:latin typeface="+mn-lt"/>
          <a:ea typeface="+mn-lt"/>
          <a:cs typeface="+mn-lt"/>
        </a:defRPr>
      </a:lvl6pPr>
      <a:lvl7pPr xmlns:a="http://schemas.openxmlformats.org/drawingml/2006/main" marL="2600895" algn="l" defTabSz="866118">
        <a:buNone/>
        <a:defRPr sz="1733" kern="1200">
          <a:solidFill>
            <a:schemeClr val="tx1"/>
          </a:solidFill>
          <a:latin typeface="+mn-lt"/>
          <a:ea typeface="+mn-lt"/>
          <a:cs typeface="+mn-lt"/>
        </a:defRPr>
      </a:lvl7pPr>
      <a:lvl8pPr xmlns:a="http://schemas.openxmlformats.org/drawingml/2006/main" marL="3034377" algn="l" defTabSz="866118">
        <a:buNone/>
        <a:defRPr sz="1733" kern="1200">
          <a:solidFill>
            <a:schemeClr val="tx1"/>
          </a:solidFill>
          <a:latin typeface="+mn-lt"/>
          <a:ea typeface="+mn-lt"/>
          <a:cs typeface="+mn-lt"/>
        </a:defRPr>
      </a:lvl8pPr>
      <a:lvl9pPr xmlns:a="http://schemas.openxmlformats.org/drawingml/2006/main" marL="3467860" algn="l" defTabSz="866118">
        <a:buNone/>
        <a:defRPr sz="1733"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38cd7e20b248a9" /><Relationship Type="http://schemas.openxmlformats.org/officeDocument/2006/relationships/notesSlide" Target="/ppt/notesSlides/notesSlide1.xml" Id="R0d1829291385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1536e05c1b64be7" /><Relationship Type="http://schemas.openxmlformats.org/officeDocument/2006/relationships/notesSlide" Target="/ppt/notesSlides/notesSlide2.xml" Id="Rdc038b359acc41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b88d8f230c44adc" /><Relationship Type="http://schemas.openxmlformats.org/officeDocument/2006/relationships/notesSlide" Target="/ppt/notesSlides/notesSlide3.xml" Id="R1127bffefd1d4d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6f355c3af27b414a" /><Relationship Type="http://schemas.openxmlformats.org/officeDocument/2006/relationships/notesSlide" Target="/ppt/notesSlides/notesSlide4.xml" Id="Ra898b5412a4d49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9f6fa89ef864cbc" /><Relationship Type="http://schemas.openxmlformats.org/officeDocument/2006/relationships/notesSlide" Target="/ppt/notesSlides/notesSlide5.xml" Id="R498a4e4aadcb44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6e55538f99f41ea" /><Relationship Type="http://schemas.openxmlformats.org/officeDocument/2006/relationships/notesSlide" Target="/ppt/notesSlides/notesSlide6.xml" Id="Rb3a05f12989f41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1303cde5fb204bd5" /><Relationship Type="http://schemas.openxmlformats.org/officeDocument/2006/relationships/notesSlide" Target="/ppt/notesSlides/notesSlide7.xml" Id="R17f8801a73f64b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4540359c7db491c" /><Relationship Type="http://schemas.openxmlformats.org/officeDocument/2006/relationships/notesSlide" Target="/ppt/notesSlides/notesSlide8.xml" Id="R41df204232dc4c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9c23392f9494fe9" /><Relationship Type="http://schemas.openxmlformats.org/officeDocument/2006/relationships/notesSlide" Target="/ppt/notesSlides/notesSlide9.xml" Id="Rabc050d12caa49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db3b0b11b7041be" /><Relationship Type="http://schemas.openxmlformats.org/officeDocument/2006/relationships/notesSlide" Target="/ppt/notesSlides/notesSlide10.xml" Id="R42fe2fb222384d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c4ef2febf2e4440e" /><Relationship Type="http://schemas.openxmlformats.org/officeDocument/2006/relationships/notesSlide" Target="/ppt/notesSlides/notesSlide11.xml" Id="Rb14156fdf62f42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7f56bac9a9e4b94" /><Relationship Type="http://schemas.openxmlformats.org/officeDocument/2006/relationships/notesSlide" Target="/ppt/notesSlides/notesSlide12.xml" Id="Rdee0edb03cd34f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d8e6ed6bfe6a4e2f" /><Relationship Type="http://schemas.openxmlformats.org/officeDocument/2006/relationships/notesSlide" Target="/ppt/notesSlides/notesSlide13.xml" Id="Rccc1896b811341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a48e14da50c415b" /><Relationship Type="http://schemas.openxmlformats.org/officeDocument/2006/relationships/notesSlide" Target="/ppt/notesSlides/notesSlide14.xml" Id="R62b3dbf2f94a43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f7e7ba945ffd4c89" /><Relationship Type="http://schemas.openxmlformats.org/officeDocument/2006/relationships/notesSlide" Target="/ppt/notesSlides/notesSlide15.xml" Id="R8ea8fddd424749f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d623e4ef89d44b3a" /><Relationship Type="http://schemas.openxmlformats.org/officeDocument/2006/relationships/notesSlide" Target="/ppt/notesSlides/notesSlide16.xml" Id="Ra0fb494920eb43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9ad7667aca2748e3" /><Relationship Type="http://schemas.openxmlformats.org/officeDocument/2006/relationships/notesSlide" Target="/ppt/notesSlides/notesSlide17.xml" Id="R57d04b98aa4542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e48c0084a5674a04" /><Relationship Type="http://schemas.openxmlformats.org/officeDocument/2006/relationships/notesSlide" Target="/ppt/notesSlides/notesSlide18.xml" Id="R292f331b84fd4b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d33a419116824826" /><Relationship Type="http://schemas.openxmlformats.org/officeDocument/2006/relationships/notesSlide" Target="/ppt/notesSlides/notesSlide19.xml" Id="R26443c47a0304fd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3" name="矩形 62">
            <a:extLst xmlns:a="http://schemas.openxmlformats.org/drawingml/2006/main">
              <a:ext uri="{FF2B5EF4-FFF2-40B4-BE49-F238E27FC236}">
                <a16:creationId xmlns:a16="http://schemas.microsoft.com/office/drawing/2014/main" id="{2AFE1FA7-4B66-4A9F-984E-BB326964C74E}"/>
              </a:ext>
            </a:extLst>
          </p:cNvPr>
          <p:cNvSpPr>
            <a:spLocks xmlns:a="http://schemas.openxmlformats.org/drawingml/2006/main" noGrp="1"/>
          </p:cNvSpPr>
          <p:nvPr/>
        </p:nvSpPr>
        <p:spPr>
          <a:xfrm xmlns:a="http://schemas.openxmlformats.org/drawingml/2006/main">
            <a:off x="0" y="1513114"/>
            <a:ext cx="12192000" cy="2376715"/>
          </a:xfrm>
          <a:prstGeom xmlns:a="http://schemas.openxmlformats.org/drawingml/2006/main" prst="rect">
            <a:avLst/>
          </a:prstGeom>
          <a:gradFill xmlns:a="http://schemas.openxmlformats.org/drawingml/2006/main" rotWithShape="1">
            <a:gsLst>
              <a:gs pos="91000">
                <a:schemeClr val="accent1">
                  <a:lumMod val="75000"/>
                </a:schemeClr>
              </a:gs>
              <a:gs pos="25000">
                <a:srgbClr val="376DC2"/>
              </a:gs>
              <a:gs pos="0">
                <a:srgbClr val="0268FE">
                  <a:lumMod val="75000"/>
                  <a:lumOff val="25000"/>
                </a:srgbClr>
              </a:gs>
            </a:gsLst>
            <a:path path="circle">
              <a:fillToRect l="100000" t="0" r="0" b="100000"/>
            </a:path>
            <a:tileRect t="-100000" r="-100000"/>
          </a:gradFill>
          <a:ln xmlns:a="http://schemas.openxmlformats.org/drawingml/2006/main" w="12700" cmpd="sng">
            <a:noFill/>
            <a:prstDash val="solid"/>
          </a:ln>
          <a:effectLst xmlns:a="http://schemas.openxmlformats.org/drawingml/2006/main">
            <a:outerShdw blurRad="50800" dist="38100" dir="8100000" algn="tr" rotWithShape="0">
              <a:prstClr val="black">
                <a:alpha val="40000"/>
              </a:prstClr>
            </a:outerShdw>
          </a:effectLst>
        </p:spPr>
        <p:txBody>
          <a:bodyPr xmlns:a="http://schemas.openxmlformats.org/drawingml/2006/main" anchor="ctr"/>
          <a:lstStyle xmlns:a="http://schemas.openxmlformats.org/drawingml/2006/main"/>
          <a:p xmlns:a="http://schemas.openxmlformats.org/drawingml/2006/main">
            <a:pPr algn="ctr">
              <a:buNone/>
            </a:pPr>
            <a:endParaRPr kern="0">
              <a:solidFill>
                <a:srgbClr val="FFFFFF"/>
              </a:solidFill>
              <a:latin typeface="等线"/>
              <a:ea typeface="等线"/>
              <a:cs typeface="等线"/>
            </a:endParaRPr>
          </a:p>
        </p:txBody>
      </p:sp>
      <p:sp>
        <p:nvSpPr>
          <p:cNvPr id="15" name="标题 8">
            <a:extLst xmlns:a="http://schemas.openxmlformats.org/drawingml/2006/main">
              <a:ext uri="{FF2B5EF4-FFF2-40B4-BE49-F238E27FC236}">
                <a16:creationId xmlns:a16="http://schemas.microsoft.com/office/drawing/2014/main" id="{453F7129-0504-4CA9-9BFA-E5B0C91D7760}"/>
              </a:ext>
            </a:extLst>
          </p:cNvPr>
          <p:cNvSpPr>
            <a:spLocks xmlns:a="http://schemas.openxmlformats.org/drawingml/2006/main" noGrp="1"/>
          </p:cNvSpPr>
          <p:nvPr/>
        </p:nvSpPr>
        <p:spPr>
          <a:xfrm xmlns:a="http://schemas.openxmlformats.org/drawingml/2006/main">
            <a:off x="4514780" y="4695050"/>
            <a:ext cx="3283986" cy="624044"/>
          </a:xfrm>
          <a:prstGeom xmlns:a="http://schemas.openxmlformats.org/drawingml/2006/main" prst="rect">
            <a:avLst/>
          </a:prstGeom>
        </p:spPr>
        <p:txBody>
          <a:bodyPr xmlns:a="http://schemas.openxmlformats.org/drawingml/2006/main" anchor="ctr">
            <a:noAutofit/>
          </a:bodyPr>
          <a:lstStyle xmlns:a="http://schemas.openxmlformats.org/drawingml/2006/main">
            <a:lvl1pPr algn="ctr" defTabSz="914400">
              <a:lnSpc>
                <a:spcPct val="90000"/>
              </a:lnSpc>
              <a:spcBef>
                <a:spcPct val="0"/>
              </a:spcBef>
              <a:buNone/>
              <a:defRPr sz="5400" b="1" kern="1200">
                <a:solidFill>
                  <a:schemeClr val="accent1"/>
                </a:solidFill>
                <a:latin typeface="+mj-lt"/>
                <a:ea typeface="+mj-lt"/>
                <a:cs typeface="+mj-lt"/>
              </a:defRPr>
            </a:lvl1pPr>
          </a:lstStyle>
          <a:p xmlns:a="http://schemas.openxmlformats.org/drawingml/2006/main">
            <a:pPr lvl="0">
              <a:lnSpc>
                <a:spcPct val="110000"/>
              </a:lnSpc>
              <a:spcBef>
                <a:spcPts val="0"/>
              </a:spcBef>
              <a:buNone/>
            </a:pPr>
            <a:r>
              <a:rPr sz="2400" i="0" u="none" cap="none">
                <a:ln>
                  <a:noFill/>
                </a:ln>
                <a:solidFill>
                  <a:schemeClr val="tx1"/>
                </a:solidFill>
                <a:latin typeface="汉仪文润宋韵 U"/>
                <a:ea typeface="汉仪文润宋韵 U"/>
                <a:cs typeface="汉仪文润宋韵 U"/>
              </a:rPr>
              <a:t>汇报人：魏鹏宇</a:t>
            </a:r>
            <a:endParaRPr sz="2400" i="0" u="none" cap="none">
              <a:ln>
                <a:noFill/>
              </a:ln>
              <a:solidFill>
                <a:schemeClr val="tx1"/>
              </a:solidFill>
              <a:latin typeface="汉仪文润宋韵 U"/>
              <a:ea typeface="汉仪文润宋韵 U"/>
              <a:cs typeface="汉仪文润宋韵 U"/>
            </a:endParaRPr>
          </a:p>
        </p:txBody>
      </p:sp>
      <p:sp>
        <p:nvSpPr>
          <p:cNvPr id="17" name="标题 8">
            <a:extLst xmlns:a="http://schemas.openxmlformats.org/drawingml/2006/main">
              <a:ext uri="{FF2B5EF4-FFF2-40B4-BE49-F238E27FC236}">
                <a16:creationId xmlns:a16="http://schemas.microsoft.com/office/drawing/2014/main" id="{75A733F7-8760-4CC4-8DFD-EF4760B6CE4C}"/>
              </a:ext>
            </a:extLst>
          </p:cNvPr>
          <p:cNvSpPr>
            <a:spLocks xmlns:a="http://schemas.openxmlformats.org/drawingml/2006/main" noGrp="1"/>
          </p:cNvSpPr>
          <p:nvPr/>
        </p:nvSpPr>
        <p:spPr>
          <a:xfrm xmlns:a="http://schemas.openxmlformats.org/drawingml/2006/main">
            <a:off x="4514780" y="5531496"/>
            <a:ext cx="3283986" cy="624044"/>
          </a:xfrm>
          <a:prstGeom xmlns:a="http://schemas.openxmlformats.org/drawingml/2006/main" prst="rect">
            <a:avLst/>
          </a:prstGeom>
        </p:spPr>
        <p:txBody>
          <a:bodyPr xmlns:a="http://schemas.openxmlformats.org/drawingml/2006/main" anchor="ctr">
            <a:noAutofit/>
          </a:bodyPr>
          <a:lstStyle xmlns:a="http://schemas.openxmlformats.org/drawingml/2006/main">
            <a:lvl1pPr algn="ctr" defTabSz="914400">
              <a:lnSpc>
                <a:spcPct val="90000"/>
              </a:lnSpc>
              <a:spcBef>
                <a:spcPct val="0"/>
              </a:spcBef>
              <a:buNone/>
              <a:defRPr sz="5400" b="1" kern="1200">
                <a:solidFill>
                  <a:schemeClr val="accent1"/>
                </a:solidFill>
                <a:latin typeface="+mj-lt"/>
                <a:ea typeface="+mj-lt"/>
                <a:cs typeface="+mj-lt"/>
              </a:defRPr>
            </a:lvl1pPr>
          </a:lstStyle>
          <a:p xmlns:a="http://schemas.openxmlformats.org/drawingml/2006/main">
            <a:pPr>
              <a:lnSpc>
                <a:spcPct val="110000"/>
              </a:lnSpc>
              <a:spcBef>
                <a:spcPts val="0"/>
              </a:spcBef>
              <a:buNone/>
            </a:pPr>
            <a:r>
              <a:rPr sz="2000" spc="300">
                <a:solidFill>
                  <a:schemeClr val="tx1"/>
                </a:solidFill>
                <a:latin typeface="汉仪文润宋韵 U"/>
                <a:ea typeface="汉仪文润宋韵 U"/>
                <a:cs typeface="汉仪文润宋韵 U"/>
              </a:rPr>
              <a:t>2026.09</a:t>
            </a:r>
            <a:r>
              <a:rPr sz="2000" spc="300">
                <a:solidFill>
                  <a:schemeClr val="tx1"/>
                </a:solidFill>
                <a:latin typeface="汉仪文润宋韵 U"/>
                <a:ea typeface="汉仪文润宋韵 U"/>
                <a:cs typeface="汉仪文润宋韵 U"/>
              </a:rPr>
              <a:t>.28</a:t>
            </a:r>
            <a:endParaRPr sz="2000" spc="300">
              <a:solidFill>
                <a:schemeClr val="tx1"/>
              </a:solidFill>
              <a:latin typeface="汉仪文润宋韵 U"/>
              <a:ea typeface="汉仪文润宋韵 U"/>
              <a:cs typeface="汉仪文润宋韵 U"/>
            </a:endParaRPr>
          </a:p>
        </p:txBody>
      </p:sp>
      <p:sp>
        <p:nvSpPr>
          <p:cNvPr id="64" name="直接连接符 63">
            <a:extLst xmlns:a="http://schemas.openxmlformats.org/drawingml/2006/main">
              <a:ext uri="{FF2B5EF4-FFF2-40B4-BE49-F238E27FC236}">
                <a16:creationId xmlns:a16="http://schemas.microsoft.com/office/drawing/2014/main" id="{AB104E52-D31B-4F84-930E-BB68DA292DA8}"/>
              </a:ext>
            </a:extLst>
          </p:cNvPr>
          <p:cNvSpPr>
            <a:spLocks xmlns:a="http://schemas.openxmlformats.org/drawingml/2006/main" noGrp="1"/>
          </p:cNvSpPr>
          <p:nvPr/>
        </p:nvSpPr>
        <p:spPr>
          <a:xfrm xmlns:a="http://schemas.openxmlformats.org/drawingml/2006/main">
            <a:off x="0" y="4007644"/>
            <a:ext cx="12192000" cy="0"/>
          </a:xfrm>
          <a:prstGeom xmlns:a="http://schemas.openxmlformats.org/drawingml/2006/main" prst="line">
            <a:avLst/>
          </a:prstGeom>
          <a:noFill xmlns:a="http://schemas.openxmlformats.org/drawingml/2006/main"/>
          <a:ln xmlns:a="http://schemas.openxmlformats.org/drawingml/2006/main" w="25400">
            <a:gradFill rotWithShape="1">
              <a:gsLst>
                <a:gs pos="100000">
                  <a:schemeClr val="accent1">
                    <a:lumMod val="97000"/>
                  </a:schemeClr>
                </a:gs>
                <a:gs pos="0">
                  <a:schemeClr val="accent1">
                    <a:alpha val="0"/>
                  </a:schemeClr>
                </a:gs>
              </a:gsLst>
              <a:lin ang="10800000" scaled="1"/>
              <a:tileRect/>
            </a:gradFill>
            <a:tailEnd type="none" w="med" len="sm"/>
          </a:ln>
          <a:effectLst xmlns:a="http://schemas.openxmlformats.org/drawingml/2006/main">
            <a:outerShdw blurRad="63500" dist="50800" dir="4800000" sx="102000" sy="102000" algn="ctr" rotWithShape="0">
              <a:schemeClr val="accent1">
                <a:alpha val="40000"/>
              </a:scheme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endParaRPr/>
          </a:p>
        </p:txBody>
      </p:sp>
      <p:sp>
        <p:nvSpPr>
          <p:cNvPr id="2" name="标题 8">
            <a:extLst xmlns:a="http://schemas.openxmlformats.org/drawingml/2006/main">
              <a:ext uri="{FF2B5EF4-FFF2-40B4-BE49-F238E27FC236}">
                <a16:creationId xmlns:a16="http://schemas.microsoft.com/office/drawing/2014/main" id="{C744971D-495E-438A-B8C9-359A6F079A77}"/>
              </a:ext>
            </a:extLst>
          </p:cNvPr>
          <p:cNvSpPr>
            <a:spLocks xmlns:a="http://schemas.openxmlformats.org/drawingml/2006/main" noGrp="1"/>
          </p:cNvSpPr>
          <p:nvPr/>
        </p:nvSpPr>
        <p:spPr>
          <a:xfrm xmlns:a="http://schemas.openxmlformats.org/drawingml/2006/main">
            <a:off x="161706" y="1887437"/>
            <a:ext cx="11932078" cy="1613551"/>
          </a:xfrm>
          <a:prstGeom xmlns:a="http://schemas.openxmlformats.org/drawingml/2006/main" prst="rect">
            <a:avLst/>
          </a:prstGeom>
        </p:spPr>
        <p:txBody>
          <a:bodyPr xmlns:a="http://schemas.openxmlformats.org/drawingml/2006/main" wrap="square" anchor="ctr">
            <a:noAutofit/>
          </a:bodyPr>
          <a:lstStyle xmlns:a="http://schemas.openxmlformats.org/drawingml/2006/main">
            <a:lvl1pPr algn="ctr" defTabSz="914400">
              <a:lnSpc>
                <a:spcPct val="90000"/>
              </a:lnSpc>
              <a:spcBef>
                <a:spcPct val="0"/>
              </a:spcBef>
              <a:buNone/>
              <a:defRPr sz="5400" b="1" kern="1200">
                <a:solidFill>
                  <a:schemeClr val="accent1"/>
                </a:solidFill>
                <a:latin typeface="+mj-lt"/>
                <a:ea typeface="+mj-lt"/>
                <a:cs typeface="+mj-lt"/>
              </a:defRPr>
            </a:lvl1pPr>
          </a:lstStyle>
          <a:p xmlns:a="http://schemas.openxmlformats.org/drawingml/2006/main">
            <a:pPr lvl="0" algn="ctr">
              <a:lnSpc>
                <a:spcPct val="125000"/>
              </a:lnSpc>
              <a:spcBef>
                <a:spcPts val="0"/>
              </a:spcBef>
              <a:buNone/>
              <a:defRPr sz="3750" b="1">
                <a:solidFill>
                  <a:srgbClr val="FFFFFF"/>
                </a:solidFill>
                <a:latin typeface="汉仪文润宋韵 U"/>
                <a:ea typeface="汉仪文润宋韵 U"/>
                <a:cs typeface="汉仪文润宋韵 U"/>
              </a:defRPr>
            </a:pPr>
            <a:r>
              <a:rPr sz="3600" i="0" u="none" cap="none" spc="0">
                <a:ln>
                  <a:noFill/>
                </a:ln>
                <a:solidFill>
                  <a:srgbClr val="FFFFFF"/>
                </a:solidFill>
                <a:latin typeface="汉仪文润宋韵 U"/>
                <a:ea typeface="汉仪文润宋韵 U"/>
                <a:cs typeface="汉仪文润宋韵 U"/>
              </a:rPr>
              <a:t>三参数 </a:t>
            </a:r>
            <a:r>
              <a:rPr sz="3600" i="0" u="none" cap="none" spc="0">
                <a:ln>
                  <a:noFill/>
                </a:ln>
                <a:solidFill>
                  <a:srgbClr val="FFFFFF"/>
                </a:solidFill>
                <a:latin typeface="汉仪文润宋韵 U"/>
                <a:ea typeface="汉仪文润宋韵 U"/>
                <a:cs typeface="汉仪文润宋韵 U"/>
              </a:rPr>
              <a:t>Weibull</a:t>
            </a:r>
            <a:r>
              <a:rPr sz="3600" i="0" u="none" cap="none" spc="0">
                <a:ln>
                  <a:noFill/>
                </a:ln>
                <a:solidFill>
                  <a:srgbClr val="FFFFFF"/>
                </a:solidFill>
                <a:latin typeface="汉仪文润宋韵 U"/>
                <a:ea typeface="汉仪文润宋韵 U"/>
                <a:cs typeface="汉仪文润宋韵 U"/>
              </a:rPr>
              <a:t>参数估计方法</a:t>
            </a:r>
            <a:endParaRPr sz="3600" i="0" u="none" cap="none" spc="0">
              <a:ln>
                <a:noFill/>
              </a:ln>
              <a:solidFill>
                <a:srgbClr val="FFFFFF"/>
              </a:solidFill>
              <a:latin typeface="汉仪文润宋韵 U"/>
              <a:ea typeface="汉仪文润宋韵 U"/>
              <a:cs typeface="汉仪文润宋韵 U"/>
            </a:endParaRPr>
          </a:p>
          <a:p xmlns:a="http://schemas.openxmlformats.org/drawingml/2006/main">
            <a:pPr lvl="0" algn="ctr">
              <a:lnSpc>
                <a:spcPct val="125000"/>
              </a:lnSpc>
              <a:spcBef>
                <a:spcPts val="0"/>
              </a:spcBef>
              <a:buNone/>
              <a:defRPr sz="3750" b="1">
                <a:solidFill>
                  <a:srgbClr val="FFFFFF"/>
                </a:solidFill>
                <a:latin typeface="汉仪文润宋韵 U"/>
                <a:ea typeface="汉仪文润宋韵 U"/>
                <a:cs typeface="汉仪文润宋韵 U"/>
              </a:defRPr>
            </a:pPr>
            <a:r>
              <a:rPr sz="3600">
                <a:solidFill>
                  <a:srgbClr val="FFFFFF"/>
                </a:solidFill>
                <a:latin typeface="汉仪文润宋韵 U"/>
                <a:ea typeface="汉仪文润宋韵 U"/>
                <a:cs typeface="汉仪文润宋韵 U"/>
              </a:rPr>
              <a:t>的</a:t>
            </a:r>
            <a:r>
              <a:rPr sz="3600">
                <a:solidFill>
                  <a:schemeClr val="accent6">
                    <a:lumMod val="20000"/>
                    <a:lumOff val="80000"/>
                  </a:schemeClr>
                </a:solidFill>
                <a:latin typeface="汉仪文润宋韵 U"/>
                <a:ea typeface="汉仪文润宋韵 U"/>
                <a:cs typeface="汉仪文润宋韵 U"/>
              </a:rPr>
              <a:t>比较对象选择</a:t>
            </a:r>
            <a:endParaRPr sz="3600" i="0" u="none" cap="none" spc="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参数估计方法调研</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00</a:t>
            </a:r>
          </a:p>
        </p:txBody>
      </p:sp>
      <p:sp>
        <p:nvSpPr>
          <p:cNvPr id="25" name="文本框 24">
            <a:extLst xmlns:a="http://schemas.openxmlformats.org/drawingml/2006/main">
              <a:ext uri="{FF2B5EF4-FFF2-40B4-BE49-F238E27FC236}">
                <a16:creationId xmlns:a16="http://schemas.microsoft.com/office/drawing/2014/main" id="{7A6D4C79-2127-CEDB-F0C3-D36F22026B6E}"/>
              </a:ext>
            </a:extLst>
          </p:cNvPr>
          <p:cNvSpPr>
            <a:spLocks xmlns:a="http://schemas.openxmlformats.org/drawingml/2006/main" noGrp="1"/>
          </p:cNvSpPr>
          <p:nvPr/>
        </p:nvSpPr>
        <p:spPr>
          <a:xfrm xmlns:a="http://schemas.openxmlformats.org/drawingml/2006/main">
            <a:off x="622300" y="4013200"/>
            <a:ext cx="10922000" cy="24511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2500"/>
              </a:lnSpc>
              <a:spcAft>
                <a:spcPts val="1300"/>
              </a:spcAft>
              <a:buNone/>
            </a:pPr>
            <a:r>
              <a:rPr sz="2000" b="1">
                <a:solidFill>
                  <a:srgbClr val="2F6096"/>
                </a:solidFill>
                <a:latin typeface="Microsoft YaHei"/>
                <a:ea typeface="Microsoft YaHei"/>
                <a:cs typeface="Microsoft YaHei"/>
              </a:rPr>
              <a:t>调研要回答的问题</a:t>
            </a:r>
          </a:p>
          <a:p xmlns:a="http://schemas.openxmlformats.org/drawingml/2006/main">
            <a:pPr>
              <a:lnSpc>
                <a:spcPts val="2500"/>
              </a:lnSpc>
              <a:spcAft>
                <a:spcPts val="600"/>
              </a:spcAft>
              <a:buNone/>
            </a:pPr>
            <a:r>
              <a:rPr sz="1900">
                <a:solidFill>
                  <a:srgbClr val="000000"/>
                </a:solidFill>
                <a:latin typeface="Microsoft YaHei"/>
                <a:ea typeface="Microsoft YaHei"/>
                <a:cs typeface="Microsoft YaHei"/>
              </a:rPr>
              <a:t>1. </a:t>
            </a:r>
            <a:r>
              <a:rPr sz="1900">
                <a:solidFill>
                  <a:srgbClr val="000000"/>
                </a:solidFill>
                <a:latin typeface="Microsoft YaHei"/>
                <a:ea typeface="Microsoft YaHei"/>
                <a:cs typeface="Microsoft YaHei"/>
              </a:rPr>
              <a:t>经典方法有哪些，主要区别是什么？</a:t>
            </a:r>
          </a:p>
          <a:p xmlns:a="http://schemas.openxmlformats.org/drawingml/2006/main">
            <a:pPr>
              <a:lnSpc>
                <a:spcPts val="2500"/>
              </a:lnSpc>
              <a:spcAft>
                <a:spcPts val="600"/>
              </a:spcAft>
              <a:buNone/>
            </a:pPr>
            <a:r>
              <a:rPr sz="1900">
                <a:solidFill>
                  <a:srgbClr val="000000"/>
                </a:solidFill>
                <a:latin typeface="Microsoft YaHei"/>
                <a:ea typeface="Microsoft YaHei"/>
                <a:cs typeface="Microsoft YaHei"/>
              </a:rPr>
              <a:t>2. </a:t>
            </a:r>
            <a:r>
              <a:rPr sz="1900">
                <a:solidFill>
                  <a:srgbClr val="000000"/>
                </a:solidFill>
                <a:latin typeface="Microsoft YaHei"/>
                <a:ea typeface="Microsoft YaHei"/>
                <a:cs typeface="Microsoft YaHei"/>
              </a:rPr>
              <a:t>谁提出、谁改进？改进针对什么问题？</a:t>
            </a:r>
          </a:p>
          <a:p xmlns:a="http://schemas.openxmlformats.org/drawingml/2006/main">
            <a:pPr>
              <a:lnSpc>
                <a:spcPts val="2500"/>
              </a:lnSpc>
              <a:spcAft>
                <a:spcPts val="600"/>
              </a:spcAft>
              <a:buNone/>
            </a:pPr>
            <a:r>
              <a:rPr sz="1900">
                <a:solidFill>
                  <a:srgbClr val="000000"/>
                </a:solidFill>
                <a:latin typeface="Microsoft YaHei"/>
                <a:ea typeface="Microsoft YaHei"/>
                <a:cs typeface="Microsoft YaHei"/>
              </a:rPr>
              <a:t>3. </a:t>
            </a:r>
            <a:r>
              <a:rPr sz="1900">
                <a:solidFill>
                  <a:srgbClr val="000000"/>
                </a:solidFill>
                <a:latin typeface="Microsoft YaHei"/>
                <a:ea typeface="Microsoft YaHei"/>
                <a:cs typeface="Microsoft YaHei"/>
              </a:rPr>
              <a:t>近</a:t>
            </a:r>
            <a:r>
              <a:rPr sz="1900">
                <a:solidFill>
                  <a:srgbClr val="000000"/>
                </a:solidFill>
                <a:latin typeface="Microsoft YaHei"/>
                <a:ea typeface="Microsoft YaHei"/>
                <a:cs typeface="Microsoft YaHei"/>
              </a:rPr>
              <a:t>10—20</a:t>
            </a:r>
            <a:r>
              <a:rPr sz="1900">
                <a:solidFill>
                  <a:srgbClr val="000000"/>
                </a:solidFill>
                <a:latin typeface="Microsoft YaHei"/>
                <a:ea typeface="Microsoft YaHei"/>
                <a:cs typeface="Microsoft YaHei"/>
              </a:rPr>
              <a:t>年有哪些值得纳入比较的新方法？</a:t>
            </a:r>
          </a:p>
          <a:p xmlns:a="http://schemas.openxmlformats.org/drawingml/2006/main">
            <a:pPr>
              <a:lnSpc>
                <a:spcPts val="2500"/>
              </a:lnSpc>
              <a:spcAft>
                <a:spcPts val="600"/>
              </a:spcAft>
              <a:buNone/>
            </a:pPr>
            <a:r>
              <a:rPr sz="1900">
                <a:solidFill>
                  <a:srgbClr val="000000"/>
                </a:solidFill>
                <a:latin typeface="Microsoft YaHei"/>
                <a:ea typeface="Microsoft YaHei"/>
                <a:cs typeface="Microsoft YaHei"/>
              </a:rPr>
              <a:t>4. </a:t>
            </a:r>
            <a:r>
              <a:rPr sz="1900">
                <a:solidFill>
                  <a:srgbClr val="000000"/>
                </a:solidFill>
                <a:latin typeface="Microsoft YaHei"/>
                <a:ea typeface="Microsoft YaHei"/>
                <a:cs typeface="Microsoft YaHei"/>
              </a:rPr>
              <a:t>已有研究与谁比较，用什么数据和指标评价？</a:t>
            </a:r>
          </a:p>
          <a:p xmlns:a="http://schemas.openxmlformats.org/drawingml/2006/main">
            <a:pPr>
              <a:lnSpc>
                <a:spcPts val="2500"/>
              </a:lnSpc>
              <a:spcAft>
                <a:spcPts val="600"/>
              </a:spcAft>
              <a:buNone/>
            </a:pPr>
            <a:r>
              <a:rPr sz="1900">
                <a:solidFill>
                  <a:srgbClr val="000000"/>
                </a:solidFill>
                <a:latin typeface="Microsoft YaHei"/>
                <a:ea typeface="Microsoft YaHei"/>
                <a:cs typeface="Microsoft YaHei"/>
              </a:rPr>
              <a:t>5. </a:t>
            </a:r>
            <a:r>
              <a:rPr sz="1900">
                <a:solidFill>
                  <a:srgbClr val="000000"/>
                </a:solidFill>
                <a:latin typeface="Microsoft YaHei"/>
                <a:ea typeface="Microsoft YaHei"/>
                <a:cs typeface="Microsoft YaHei"/>
              </a:rPr>
              <a:t>应选哪些对照、采用哪个版本，如何在论文中引用？</a:t>
            </a:r>
            <a:endParaRPr sz="1900">
              <a:solidFill>
                <a:srgbClr val="000000"/>
              </a:solidFill>
              <a:latin typeface="Microsoft YaHei"/>
              <a:ea typeface="Microsoft YaHei"/>
              <a:cs typeface="Microsoft YaHei"/>
            </a:endParaRPr>
          </a:p>
        </p:txBody>
      </p:sp>
      <p:sp>
        <p:nvSpPr>
          <p:cNvPr id="26" name="箭头: 上 41">
            <a:extLst xmlns:a="http://schemas.openxmlformats.org/drawingml/2006/main">
              <a:ext uri="{FF2B5EF4-FFF2-40B4-BE49-F238E27FC236}">
                <a16:creationId xmlns:a16="http://schemas.microsoft.com/office/drawing/2014/main" id="{CF1CF523-BC6A-C3B3-5CA1-09425B8690A1}"/>
              </a:ext>
            </a:extLst>
          </p:cNvPr>
          <p:cNvSpPr>
            <a:spLocks xmlns:a="http://schemas.openxmlformats.org/drawingml/2006/main" noGrp="1"/>
          </p:cNvSpPr>
          <p:nvPr/>
        </p:nvSpPr>
        <p:spPr>
          <a:xfrm xmlns:a="http://schemas.openxmlformats.org/drawingml/2006/main" rot="10800000">
            <a:off x="316329" y="3110081"/>
            <a:ext cx="1559360" cy="748606"/>
          </a:xfrm>
          <a:custGeom xmlns:a="http://schemas.openxmlformats.org/drawingml/2006/main">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xmlns:a="http://schemas.openxmlformats.org/drawingml/2006/main" rotWithShape="1">
            <a:gsLst>
              <a:gs pos="100000">
                <a:srgbClr val="0268FE"/>
              </a:gs>
              <a:gs pos="0">
                <a:srgbClr val="0268FE">
                  <a:lumMod val="75000"/>
                  <a:lumOff val="25000"/>
                  <a:alpha val="0"/>
                </a:srgbClr>
              </a:gs>
            </a:gsLst>
            <a:lin ang="16200000" scaled="1"/>
            <a:tileRect/>
          </a:gradFill>
          <a:ln xmlns:a="http://schemas.openxmlformats.org/drawingml/2006/main" w="1270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27" name="矩形: 圆角 26">
            <a:extLst xmlns:a="http://schemas.openxmlformats.org/drawingml/2006/main">
              <a:ext uri="{FF2B5EF4-FFF2-40B4-BE49-F238E27FC236}">
                <a16:creationId xmlns:a16="http://schemas.microsoft.com/office/drawing/2014/main" id="{D453C340-D019-8EBA-9EBC-807B365F9505}"/>
              </a:ext>
            </a:extLst>
          </p:cNvPr>
          <p:cNvSpPr>
            <a:spLocks xmlns:a="http://schemas.openxmlformats.org/drawingml/2006/main" noGrp="1"/>
          </p:cNvSpPr>
          <p:nvPr/>
        </p:nvSpPr>
        <p:spPr>
          <a:xfrm xmlns:a="http://schemas.openxmlformats.org/drawingml/2006/main">
            <a:off x="339090" y="1789430"/>
            <a:ext cx="11513820" cy="1320800"/>
          </a:xfrm>
          <a:prstGeom xmlns:a="http://schemas.openxmlformats.org/drawingml/2006/main" prst="roundRect">
            <a:avLst>
              <a:gd name="adj" fmla="val 2873"/>
            </a:avLst>
          </a:prstGeom>
          <a:noFill xmlns:a="http://schemas.openxmlformats.org/drawingml/2006/main"/>
          <a:ln xmlns:a="http://schemas.openxmlformats.org/drawingml/2006/main" w="12700" cmpd="sng">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ln>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28" name="矩形 27">
            <a:extLst xmlns:a="http://schemas.openxmlformats.org/drawingml/2006/main">
              <a:ext uri="{FF2B5EF4-FFF2-40B4-BE49-F238E27FC236}">
                <a16:creationId xmlns:a16="http://schemas.microsoft.com/office/drawing/2014/main" id="{60EC403A-613F-66FE-1396-EA1AA85F1EBA}"/>
              </a:ext>
            </a:extLst>
          </p:cNvPr>
          <p:cNvSpPr>
            <a:spLocks xmlns:a="http://schemas.openxmlformats.org/drawingml/2006/main" noGrp="1"/>
          </p:cNvSpPr>
          <p:nvPr/>
        </p:nvSpPr>
        <p:spPr>
          <a:xfrm xmlns:a="http://schemas.openxmlformats.org/drawingml/2006/main">
            <a:off x="523239" y="1541780"/>
            <a:ext cx="1701800" cy="444500"/>
          </a:xfrm>
          <a:prstGeom xmlns:a="http://schemas.openxmlformats.org/drawingml/2006/main" prst="rect">
            <a:avLst/>
          </a:prstGeom>
          <a:solidFill xmlns:a="http://schemas.openxmlformats.org/drawingml/2006/main">
            <a:sysClr val="window" lastClr="FFFFFF"/>
          </a:solidFill>
          <a:ln xmlns:a="http://schemas.openxmlformats.org/drawingml/2006/main" w="1270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30" name="文本框 29">
            <a:extLst xmlns:a="http://schemas.openxmlformats.org/drawingml/2006/main">
              <a:ext uri="{FF2B5EF4-FFF2-40B4-BE49-F238E27FC236}">
                <a16:creationId xmlns:a16="http://schemas.microsoft.com/office/drawing/2014/main" id="{11210E5E-2553-3656-E261-862D791F7F31}"/>
              </a:ext>
            </a:extLst>
          </p:cNvPr>
          <p:cNvSpPr>
            <a:spLocks xmlns:a="http://schemas.openxmlformats.org/drawingml/2006/main" noGrp="1"/>
          </p:cNvSpPr>
          <p:nvPr/>
        </p:nvSpPr>
        <p:spPr>
          <a:xfrm xmlns:a="http://schemas.openxmlformats.org/drawingml/2006/main">
            <a:off x="478790" y="1545590"/>
            <a:ext cx="1968500" cy="369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defTabSz="457200">
              <a:spcBef>
                <a:spcPts val="0"/>
              </a:spcBef>
              <a:spcAft>
                <a:spcPts val="0"/>
              </a:spcAft>
              <a:buNone/>
            </a:pPr>
            <a:r>
              <a:rPr sz="1800" b="0">
                <a:solidFill>
                  <a:srgbClr val="ED7D31">
                    <a:lumMod val="75000"/>
                  </a:srgbClr>
                </a:solidFill>
                <a:latin typeface="汉仪粗宋简"/>
                <a:ea typeface="汉仪粗宋简"/>
                <a:cs typeface="汉仪粗宋简"/>
              </a:rPr>
              <a:t>动机</a:t>
            </a:r>
            <a:endParaRPr b="0">
              <a:solidFill>
                <a:srgbClr val="ED7D31">
                  <a:lumMod val="75000"/>
                </a:srgbClr>
              </a:solidFill>
              <a:latin typeface="汉仪粗宋简"/>
              <a:ea typeface="汉仪粗宋简"/>
              <a:cs typeface="汉仪粗宋简"/>
            </a:endParaRPr>
          </a:p>
        </p:txBody>
      </p:sp>
      <p:sp>
        <p:nvSpPr>
          <p:cNvPr id="31" name="文本框 30">
            <a:extLst xmlns:a="http://schemas.openxmlformats.org/drawingml/2006/main">
              <a:ext uri="{FF2B5EF4-FFF2-40B4-BE49-F238E27FC236}">
                <a16:creationId xmlns:a16="http://schemas.microsoft.com/office/drawing/2014/main" id="{D5D6AABF-6E09-9FC5-4E13-DDAEC4A6DEAA}"/>
              </a:ext>
            </a:extLst>
          </p:cNvPr>
          <p:cNvSpPr>
            <a:spLocks xmlns:a="http://schemas.openxmlformats.org/drawingml/2006/main" noGrp="1"/>
          </p:cNvSpPr>
          <p:nvPr/>
        </p:nvSpPr>
        <p:spPr>
          <a:xfrm xmlns:a="http://schemas.openxmlformats.org/drawingml/2006/main">
            <a:off x="622300" y="2146300"/>
            <a:ext cx="10922000" cy="276999"/>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完整样本、小样本、三参数估计：只与老方法比较是否充分？</a:t>
            </a:r>
            <a:endParaRPr>
              <a:solidFill>
                <a:srgbClr val="000000"/>
              </a:solidFill>
              <a:latin typeface="等线"/>
              <a:ea typeface="等线"/>
              <a:cs typeface="等线"/>
            </a:endParaRPr>
          </a:p>
        </p:txBody>
      </p:sp>
      <p:sp>
        <p:nvSpPr>
          <p:cNvPr id="32" name="文本框 31">
            <a:extLst xmlns:a="http://schemas.openxmlformats.org/drawingml/2006/main">
              <a:ext uri="{FF2B5EF4-FFF2-40B4-BE49-F238E27FC236}">
                <a16:creationId xmlns:a16="http://schemas.microsoft.com/office/drawing/2014/main" id="{A9951AA7-569E-0C9E-F246-0DADC39A6FC1}"/>
              </a:ext>
            </a:extLst>
          </p:cNvPr>
          <p:cNvSpPr>
            <a:spLocks xmlns:a="http://schemas.openxmlformats.org/drawingml/2006/main" noGrp="1"/>
          </p:cNvSpPr>
          <p:nvPr/>
        </p:nvSpPr>
        <p:spPr>
          <a:xfrm xmlns:a="http://schemas.openxmlformats.org/drawingml/2006/main">
            <a:off x="622300" y="2654300"/>
            <a:ext cx="10922000" cy="276999"/>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新方法应与谁比，近年有什么进展，如何形成有依据的比较？</a:t>
            </a:r>
            <a:endParaRPr>
              <a:solidFill>
                <a:srgbClr val="2F5597"/>
              </a:solidFill>
              <a:latin typeface="等线"/>
              <a:ea typeface="等线"/>
              <a:cs typeface="等线"/>
            </a:endParaRPr>
          </a:p>
        </p:txBody>
      </p:sp>
    </p:spTree>
    <p:extLst>
      <p:ext uri="{BB962C8B-B14F-4D97-AF65-F5344CB8AC3E}">
        <p14:creationId xmlns:p14="http://schemas.microsoft.com/office/powerpoint/2010/main" val="56545661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方法体系：先分清估计依据</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已有方法及其发展关系</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01</a:t>
            </a:r>
            <a:endParaRPr sz="1800">
              <a:latin typeface="Microsoft YaHei"/>
              <a:ea typeface="Microsoft YaHei"/>
              <a:cs typeface="Microsoft YaHei"/>
            </a:endParaRPr>
          </a:p>
        </p:txBody>
      </p:sp>
      <p:sp>
        <p:nvSpPr>
          <p:cNvPr id="11" name="文本框 10">
            <a:extLst xmlns:a="http://schemas.openxmlformats.org/drawingml/2006/main">
              <a:ext uri="{FF2B5EF4-FFF2-40B4-BE49-F238E27FC236}">
                <a16:creationId xmlns:a16="http://schemas.microsoft.com/office/drawing/2014/main" id="{311F793F-B739-70D4-DC6E-BBDA191CB736}"/>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按图</a:t>
            </a:r>
            <a:r>
              <a:rPr>
                <a:solidFill>
                  <a:srgbClr val="2F6096"/>
                </a:solidFill>
                <a:latin typeface="Microsoft YaHei"/>
                <a:ea typeface="Microsoft YaHei"/>
                <a:cs typeface="Microsoft YaHei"/>
              </a:rPr>
              <a:t>1</a:t>
            </a:r>
            <a:r>
              <a:rPr>
                <a:solidFill>
                  <a:srgbClr val="2F6096"/>
                </a:solidFill>
                <a:latin typeface="Microsoft YaHei"/>
                <a:ea typeface="Microsoft YaHei"/>
                <a:cs typeface="Microsoft YaHei"/>
              </a:rPr>
              <a:t>的四组介绍方法与沿革，具体方法再按构造区分。</a:t>
            </a:r>
          </a:p>
        </p:txBody>
      </p:sp>
      <p:sp>
        <p:nvSpPr>
          <p:cNvPr id="12" name="文本框 11">
            <a:extLst xmlns:a="http://schemas.openxmlformats.org/drawingml/2006/main">
              <a:ext uri="{FF2B5EF4-FFF2-40B4-BE49-F238E27FC236}">
                <a16:creationId xmlns:a16="http://schemas.microsoft.com/office/drawing/2014/main" id="{2AD966A0-E2CD-641E-06AA-8AE5AFF0806E}"/>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A—D</a:t>
            </a:r>
            <a:r>
              <a:rPr sz="1700" b="1">
                <a:solidFill>
                  <a:srgbClr val="2F6096"/>
                </a:solidFill>
                <a:latin typeface="Microsoft YaHei"/>
                <a:ea typeface="Microsoft YaHei"/>
                <a:cs typeface="Microsoft YaHei"/>
              </a:rPr>
              <a:t>与图</a:t>
            </a:r>
            <a:r>
              <a:rPr sz="1700" b="1">
                <a:solidFill>
                  <a:srgbClr val="2F6096"/>
                </a:solidFill>
                <a:latin typeface="Microsoft YaHei"/>
                <a:ea typeface="Microsoft YaHei"/>
                <a:cs typeface="Microsoft YaHei"/>
              </a:rPr>
              <a:t>1</a:t>
            </a:r>
            <a:r>
              <a:rPr sz="1700" b="1">
                <a:solidFill>
                  <a:srgbClr val="2F6096"/>
                </a:solidFill>
                <a:latin typeface="Microsoft YaHei"/>
                <a:ea typeface="Microsoft YaHei"/>
                <a:cs typeface="Microsoft YaHei"/>
              </a:rPr>
              <a:t>对应，是沿革介绍分组；各组可以共享似然或回归步骤。</a:t>
            </a:r>
          </a:p>
        </p:txBody>
      </p:sp>
      <p:graphicFrame>
        <p:nvGraphicFramePr>
          <p:cNvPr id="20" name="表格 13"/>
          <p:cNvGraphicFramePr/>
          <p:nvPr/>
        </p:nvGraphicFramePr>
        <p:xfrm>
          <a:off xmlns:a="http://schemas.openxmlformats.org/drawingml/2006/main" x="622300" y="2413000"/>
          <a:ext xmlns:a="http://schemas.openxmlformats.org/drawingml/2006/main" cx="10922000" cy="3302000"/>
        </p:xfrm>
        <a:graphic xmlns:a="http://schemas.openxmlformats.org/drawingml/2006/main">
          <a:graphicData uri="http://schemas.openxmlformats.org/drawingml/2006/table">
            <a:tbl>
              <a:tblPr firstRow="1" bandRow="1">
                <a:tableStyleId>{5C22544A-7EE6-4342-B048-85BDC9FD1C3A}</a:tableStyleId>
              </a:tblPr>
              <a:tblGrid>
                <a:gridCol w="2730500"/>
                <a:gridCol w="3937000"/>
                <a:gridCol w="4254500"/>
              </a:tblGrid>
              <a:tr h="660400">
                <a:tc>
                  <a:txBody>
                    <a:bodyPr/>
                    <a:lstStyle/>
                    <a:p>
                      <a:r>
                        <a:rPr sz="1600" b="1">
                          <a:solidFill>
                            <a:srgbClr val="FFFFFF"/>
                          </a:solidFill>
                          <a:latin typeface="Microsoft YaHei"/>
                          <a:ea typeface="Microsoft YaHei"/>
                          <a:cs typeface="Microsoft YaHei"/>
                        </a:rPr>
                        <a:t>图</a:t>
                      </a:r>
                      <a:r>
                        <a:rPr sz="1600" b="1">
                          <a:solidFill>
                            <a:srgbClr val="FFFFFF"/>
                          </a:solidFill>
                          <a:latin typeface="Microsoft YaHei"/>
                          <a:ea typeface="Microsoft YaHei"/>
                          <a:cs typeface="Microsoft YaHei"/>
                        </a:rPr>
                        <a:t>1</a:t>
                      </a:r>
                      <a:r>
                        <a:rPr sz="1600" b="1">
                          <a:solidFill>
                            <a:srgbClr val="FFFFFF"/>
                          </a:solidFill>
                          <a:latin typeface="Microsoft YaHei"/>
                          <a:ea typeface="Microsoft YaHei"/>
                          <a:cs typeface="Microsoft YaHei"/>
                        </a:rPr>
                        <a:t>分组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代表方法与分支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主要思路与改进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660400">
                <a:tc>
                  <a:txBody>
                    <a:bodyPr/>
                    <a:lstStyle/>
                    <a:p>
                      <a:r>
                        <a:rPr sz="1600" b="0">
                          <a:solidFill>
                            <a:srgbClr val="000000"/>
                          </a:solidFill>
                          <a:latin typeface="Microsoft YaHei"/>
                          <a:ea typeface="Microsoft YaHei"/>
                          <a:cs typeface="Microsoft YaHei"/>
                        </a:rPr>
                        <a:t>A </a:t>
                      </a:r>
                      <a:r>
                        <a:rPr sz="1600" b="0">
                          <a:solidFill>
                            <a:srgbClr val="000000"/>
                          </a:solidFill>
                          <a:latin typeface="Microsoft YaHei"/>
                          <a:ea typeface="Microsoft YaHei"/>
                          <a:cs typeface="Microsoft YaHei"/>
                        </a:rPr>
                        <a:t>似然路线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MLE</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WMLE</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MMLE</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DMMLE</a:t>
                      </a:r>
                      <a:endParaRPr sz="1600" b="0">
                        <a:solidFill>
                          <a:srgbClr val="000000"/>
                        </a:solidFill>
                        <a:latin typeface="Microsoft YaHei"/>
                        <a:ea typeface="Microsoft YaHei"/>
                        <a:cs typeface="Microsoft YaHei"/>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修正方程、改变似然或改善求解</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r>
                        <a:rPr sz="1600" b="0">
                          <a:solidFill>
                            <a:srgbClr val="000000"/>
                          </a:solidFill>
                          <a:latin typeface="Microsoft YaHei"/>
                          <a:ea typeface="Microsoft YaHei"/>
                          <a:cs typeface="Microsoft YaHei"/>
                        </a:rPr>
                        <a:t>B </a:t>
                      </a:r>
                      <a:r>
                        <a:rPr sz="1600" b="0">
                          <a:solidFill>
                            <a:srgbClr val="000000"/>
                          </a:solidFill>
                          <a:latin typeface="Microsoft YaHei"/>
                          <a:ea typeface="Microsoft YaHei"/>
                          <a:cs typeface="Microsoft YaHei"/>
                        </a:rPr>
                        <a:t>概率图路线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LRE</a:t>
                      </a:r>
                      <a:r>
                        <a:rPr sz="1600" b="0">
                          <a:solidFill>
                            <a:srgbClr val="000000"/>
                          </a:solidFill>
                          <a:latin typeface="Microsoft YaHei"/>
                          <a:ea typeface="Microsoft YaHei"/>
                          <a:cs typeface="Microsoft YaHei"/>
                        </a:rPr>
                        <a:t>相关构造（</a:t>
                      </a:r>
                      <a:r>
                        <a:rPr sz="1600" b="0">
                          <a:solidFill>
                            <a:srgbClr val="000000"/>
                          </a:solidFill>
                          <a:latin typeface="Microsoft YaHei"/>
                          <a:ea typeface="Microsoft YaHei"/>
                          <a:cs typeface="Microsoft YaHei"/>
                        </a:rPr>
                        <a:t>GLRA</a:t>
                      </a:r>
                      <a:r>
                        <a:rPr sz="1600" b="0">
                          <a:solidFill>
                            <a:srgbClr val="000000"/>
                          </a:solidFill>
                          <a:latin typeface="Microsoft YaHei"/>
                          <a:ea typeface="Microsoft YaHei"/>
                          <a:cs typeface="Microsoft YaHei"/>
                        </a:rPr>
                        <a:t>、相关系数法）</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绘图分数、回归方向和位置构造不同</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r>
                        <a:rPr sz="1600" b="0">
                          <a:solidFill>
                            <a:srgbClr val="000000"/>
                          </a:solidFill>
                          <a:latin typeface="Microsoft YaHei"/>
                          <a:ea typeface="Microsoft YaHei"/>
                          <a:cs typeface="Microsoft YaHei"/>
                        </a:rPr>
                        <a:t>C </a:t>
                      </a:r>
                      <a:r>
                        <a:rPr sz="1600" b="0">
                          <a:solidFill>
                            <a:srgbClr val="000000"/>
                          </a:solidFill>
                          <a:latin typeface="Microsoft YaHei"/>
                          <a:ea typeface="Microsoft YaHei"/>
                          <a:cs typeface="Microsoft YaHei"/>
                        </a:rPr>
                        <a:t>统计量、间距与构造差异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MM</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PWM</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L</a:t>
                      </a:r>
                      <a:r>
                        <a:rPr sz="1600" b="0">
                          <a:solidFill>
                            <a:srgbClr val="000000"/>
                          </a:solidFill>
                          <a:latin typeface="Microsoft YaHei"/>
                          <a:ea typeface="Microsoft YaHei"/>
                          <a:cs typeface="Microsoft YaHei"/>
                        </a:rPr>
                        <a:t>矩、</a:t>
                      </a:r>
                      <a:r>
                        <a:rPr sz="1600" b="0">
                          <a:solidFill>
                            <a:srgbClr val="000000"/>
                          </a:solidFill>
                          <a:latin typeface="Microsoft YaHei"/>
                          <a:ea typeface="Microsoft YaHei"/>
                          <a:cs typeface="Microsoft YaHei"/>
                        </a:rPr>
                        <a:t>MPS</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MDM</a:t>
                      </a:r>
                      <a:endParaRPr sz="1600" b="0">
                        <a:solidFill>
                          <a:srgbClr val="000000"/>
                        </a:solidFill>
                        <a:latin typeface="Microsoft YaHei"/>
                        <a:ea typeface="Microsoft YaHei"/>
                        <a:cs typeface="Microsoft YaHei"/>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匹配统计量、概率间距或尺度差异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r>
                        <a:rPr sz="1600" b="0">
                          <a:solidFill>
                            <a:srgbClr val="000000"/>
                          </a:solidFill>
                          <a:latin typeface="Microsoft YaHei"/>
                          <a:ea typeface="Microsoft YaHei"/>
                          <a:cs typeface="Microsoft YaHei"/>
                        </a:rPr>
                        <a:t>D </a:t>
                      </a:r>
                      <a:r>
                        <a:rPr sz="1600" b="0">
                          <a:solidFill>
                            <a:srgbClr val="000000"/>
                          </a:solidFill>
                          <a:latin typeface="Microsoft YaHei"/>
                          <a:ea typeface="Microsoft YaHei"/>
                          <a:cs typeface="Microsoft YaHei"/>
                        </a:rPr>
                        <a:t>组合与学习</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LSPF</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SAM</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PM</a:t>
                      </a:r>
                      <a:r>
                        <a:rPr sz="1600" b="0">
                          <a:solidFill>
                            <a:srgbClr val="000000"/>
                          </a:solidFill>
                          <a:latin typeface="Microsoft YaHei"/>
                          <a:ea typeface="Microsoft YaHei"/>
                          <a:cs typeface="Microsoft YaHei"/>
                        </a:rPr>
                        <a:t>、神经估计</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变换统计量、组合步骤或学习映射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Tree>
    <p:extLst>
      <p:ext uri="{BB962C8B-B14F-4D97-AF65-F5344CB8AC3E}">
        <p14:creationId xmlns:p14="http://schemas.microsoft.com/office/powerpoint/2010/main" val="2615594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A  </a:t>
            </a:r>
            <a:r>
              <a:rPr sz="2400" b="1" spc="-150">
                <a:solidFill>
                  <a:srgbClr val="FFFFFF"/>
                </a:solidFill>
                <a:latin typeface="汉仪文润宋韵 U"/>
                <a:ea typeface="汉仪文润宋韵 U"/>
                <a:cs typeface="汉仪文润宋韵 U"/>
              </a:rPr>
              <a:t>似然路线：改统计构造，还是改求解过程？</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已有方法及其发展关系</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01</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5182E52D-4601-B1F3-0C0E-B00CE691318A}"/>
              </a:ext>
            </a:extLst>
          </p:cNvPr>
          <p:cNvSpPr>
            <a:spLocks xmlns:a="http://schemas.openxmlformats.org/drawingml/2006/main" noGrp="1"/>
          </p:cNvSpPr>
          <p:nvPr/>
        </p:nvSpPr>
        <p:spPr>
          <a:xfrm xmlns:a="http://schemas.openxmlformats.org/drawingml/2006/main">
            <a:off x="622300" y="1638300"/>
            <a:ext cx="10922000" cy="4064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t">
            <a:noAutofit/>
          </a:bodyPr>
          <a:lstStyle xmlns:a="http://schemas.openxmlformats.org/drawingml/2006/main"/>
          <a:p xmlns:a="http://schemas.openxmlformats.org/drawingml/2006/main">
            <a:pPr>
              <a:lnSpc>
                <a:spcPts val="2006"/>
              </a:lnSpc>
              <a:buNone/>
            </a:pPr>
            <a:r>
              <a:rPr sz="1700">
                <a:solidFill>
                  <a:srgbClr val="2F6096"/>
                </a:solidFill>
                <a:latin typeface="Microsoft YaHei"/>
                <a:ea typeface="Microsoft YaHei"/>
                <a:cs typeface="Microsoft YaHei"/>
              </a:rPr>
              <a:t>共同起点是样本似然，后续工作分别处理偏差、边界和数值求解。</a:t>
            </a:r>
          </a:p>
        </p:txBody>
      </p:sp>
      <p:sp>
        <p:nvSpPr>
          <p:cNvPr id="19" name="fig1-mle">
            <a:extLst xmlns:a="http://schemas.openxmlformats.org/drawingml/2006/main">
              <a:ext uri="{FF2B5EF4-FFF2-40B4-BE49-F238E27FC236}">
                <a16:creationId xmlns:a16="http://schemas.microsoft.com/office/drawing/2014/main" id="{3F549896-0F81-B81E-3E4D-D1F4CA76133E}"/>
              </a:ext>
            </a:extLst>
          </p:cNvPr>
          <p:cNvSpPr>
            <a:spLocks xmlns:a="http://schemas.openxmlformats.org/drawingml/2006/main" noGrp="1"/>
          </p:cNvSpPr>
          <p:nvPr/>
        </p:nvSpPr>
        <p:spPr>
          <a:xfrm xmlns:a="http://schemas.openxmlformats.org/drawingml/2006/main">
            <a:off x="622300" y="3225800"/>
            <a:ext cx="1841500" cy="838200"/>
          </a:xfrm>
          <a:prstGeom xmlns:a="http://schemas.openxmlformats.org/drawingml/2006/main" prst="roundRect">
            <a:avLst>
              <a:gd name="adj" fmla="val 7000"/>
            </a:avLst>
          </a:prstGeom>
          <a:solidFill xmlns:a="http://schemas.openxmlformats.org/drawingml/2006/main">
            <a:srgbClr val="EAF0F6"/>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MLE </a:t>
            </a:r>
            <a:r>
              <a:rPr sz="1400">
                <a:solidFill>
                  <a:srgbClr val="203040"/>
                </a:solidFill>
                <a:latin typeface="Microsoft YaHei"/>
                <a:ea typeface="Microsoft YaHei"/>
                <a:cs typeface="Microsoft YaHei"/>
              </a:rPr>
              <a:t>极大似然估计</a:t>
            </a:r>
          </a:p>
          <a:p xmlns:a="http://schemas.openxmlformats.org/drawingml/2006/main">
            <a:pPr algn="ctr">
              <a:lnSpc>
                <a:spcPts val="1652"/>
              </a:lnSpc>
              <a:buNone/>
            </a:pPr>
            <a:r>
              <a:rPr sz="1400">
                <a:solidFill>
                  <a:srgbClr val="203040"/>
                </a:solidFill>
                <a:latin typeface="Microsoft YaHei"/>
                <a:ea typeface="Microsoft YaHei"/>
                <a:cs typeface="Microsoft YaHei"/>
              </a:rPr>
              <a:t>Fisher · 1922</a:t>
            </a:r>
            <a:endParaRPr sz="1400">
              <a:solidFill>
                <a:srgbClr val="203040"/>
              </a:solidFill>
              <a:latin typeface="Microsoft YaHei"/>
              <a:ea typeface="Microsoft YaHei"/>
              <a:cs typeface="Microsoft YaHei"/>
            </a:endParaRPr>
          </a:p>
        </p:txBody>
      </p:sp>
      <p:sp>
        <p:nvSpPr>
          <p:cNvPr id="20" name="fig1-wmle">
            <a:extLst xmlns:a="http://schemas.openxmlformats.org/drawingml/2006/main">
              <a:ext uri="{FF2B5EF4-FFF2-40B4-BE49-F238E27FC236}">
                <a16:creationId xmlns:a16="http://schemas.microsoft.com/office/drawing/2014/main" id="{5416E38E-8E81-E443-7AE9-B716E959045E}"/>
              </a:ext>
            </a:extLst>
          </p:cNvPr>
          <p:cNvSpPr>
            <a:spLocks xmlns:a="http://schemas.openxmlformats.org/drawingml/2006/main" noGrp="1"/>
          </p:cNvSpPr>
          <p:nvPr/>
        </p:nvSpPr>
        <p:spPr>
          <a:xfrm xmlns:a="http://schemas.openxmlformats.org/drawingml/2006/main">
            <a:off x="5003800" y="2209800"/>
            <a:ext cx="2679700" cy="7366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WMLE </a:t>
            </a:r>
            <a:r>
              <a:rPr sz="1400">
                <a:solidFill>
                  <a:srgbClr val="203040"/>
                </a:solidFill>
                <a:latin typeface="Microsoft YaHei"/>
                <a:ea typeface="Microsoft YaHei"/>
                <a:cs typeface="Microsoft YaHei"/>
              </a:rPr>
              <a:t>加权极大似然估计</a:t>
            </a:r>
          </a:p>
          <a:p xmlns:a="http://schemas.openxmlformats.org/drawingml/2006/main">
            <a:pPr algn="ctr">
              <a:lnSpc>
                <a:spcPts val="1652"/>
              </a:lnSpc>
              <a:buNone/>
            </a:pPr>
            <a:r>
              <a:rPr sz="1400">
                <a:solidFill>
                  <a:srgbClr val="203040"/>
                </a:solidFill>
                <a:latin typeface="Microsoft YaHei"/>
                <a:ea typeface="Microsoft YaHei"/>
                <a:cs typeface="Microsoft YaHei"/>
              </a:rPr>
              <a:t>Cousineau · 2009</a:t>
            </a:r>
            <a:endParaRPr sz="1400">
              <a:solidFill>
                <a:srgbClr val="203040"/>
              </a:solidFill>
              <a:latin typeface="Microsoft YaHei"/>
              <a:ea typeface="Microsoft YaHei"/>
              <a:cs typeface="Microsoft YaHei"/>
            </a:endParaRPr>
          </a:p>
        </p:txBody>
      </p:sp>
      <p:sp>
        <p:nvSpPr>
          <p:cNvPr id="21" name="fig1-mmle">
            <a:extLst xmlns:a="http://schemas.openxmlformats.org/drawingml/2006/main">
              <a:ext uri="{FF2B5EF4-FFF2-40B4-BE49-F238E27FC236}">
                <a16:creationId xmlns:a16="http://schemas.microsoft.com/office/drawing/2014/main" id="{B3FB964F-6897-E78A-451B-97829A5DD69B}"/>
              </a:ext>
            </a:extLst>
          </p:cNvPr>
          <p:cNvSpPr>
            <a:spLocks xmlns:a="http://schemas.openxmlformats.org/drawingml/2006/main" noGrp="1"/>
          </p:cNvSpPr>
          <p:nvPr/>
        </p:nvSpPr>
        <p:spPr>
          <a:xfrm xmlns:a="http://schemas.openxmlformats.org/drawingml/2006/main">
            <a:off x="5003800" y="3225800"/>
            <a:ext cx="2679700" cy="7366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MMLE </a:t>
            </a:r>
            <a:r>
              <a:rPr sz="1400">
                <a:solidFill>
                  <a:srgbClr val="203040"/>
                </a:solidFill>
                <a:latin typeface="Microsoft YaHei"/>
                <a:ea typeface="Microsoft YaHei"/>
                <a:cs typeface="Microsoft YaHei"/>
              </a:rPr>
              <a:t>修改极大似然估计</a:t>
            </a:r>
          </a:p>
          <a:p xmlns:a="http://schemas.openxmlformats.org/drawingml/2006/main">
            <a:pPr algn="ctr">
              <a:lnSpc>
                <a:spcPts val="1652"/>
              </a:lnSpc>
              <a:buNone/>
            </a:pPr>
            <a:r>
              <a:rPr sz="1400">
                <a:solidFill>
                  <a:srgbClr val="203040"/>
                </a:solidFill>
                <a:latin typeface="Microsoft YaHei"/>
                <a:ea typeface="Microsoft YaHei"/>
                <a:cs typeface="Microsoft YaHei"/>
              </a:rPr>
              <a:t>Kundu &amp; Raqab · 2009</a:t>
            </a:r>
            <a:endParaRPr sz="1400">
              <a:solidFill>
                <a:srgbClr val="203040"/>
              </a:solidFill>
              <a:latin typeface="Microsoft YaHei"/>
              <a:ea typeface="Microsoft YaHei"/>
              <a:cs typeface="Microsoft YaHei"/>
            </a:endParaRPr>
          </a:p>
        </p:txBody>
      </p:sp>
      <p:sp>
        <p:nvSpPr>
          <p:cNvPr id="22" name="fig1-solver">
            <a:extLst xmlns:a="http://schemas.openxmlformats.org/drawingml/2006/main">
              <a:ext uri="{FF2B5EF4-FFF2-40B4-BE49-F238E27FC236}">
                <a16:creationId xmlns:a16="http://schemas.microsoft.com/office/drawing/2014/main" id="{116337BF-9C34-45F6-B739-96E1382ED323}"/>
              </a:ext>
            </a:extLst>
          </p:cNvPr>
          <p:cNvSpPr>
            <a:spLocks xmlns:a="http://schemas.openxmlformats.org/drawingml/2006/main" noGrp="1"/>
          </p:cNvSpPr>
          <p:nvPr/>
        </p:nvSpPr>
        <p:spPr>
          <a:xfrm xmlns:a="http://schemas.openxmlformats.org/drawingml/2006/main">
            <a:off x="5003800" y="4241800"/>
            <a:ext cx="2679700" cy="736600"/>
          </a:xfrm>
          <a:prstGeom xmlns:a="http://schemas.openxmlformats.org/drawingml/2006/main" prst="roundRect">
            <a:avLst>
              <a:gd name="adj" fmla="val 7000"/>
            </a:avLst>
          </a:prstGeom>
          <a:solidFill xmlns:a="http://schemas.openxmlformats.org/drawingml/2006/main">
            <a:srgbClr val="F4EEDC"/>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ADGBO</a:t>
            </a:r>
            <a:r>
              <a:rPr sz="1400">
                <a:solidFill>
                  <a:srgbClr val="203040"/>
                </a:solidFill>
                <a:latin typeface="Microsoft YaHei"/>
                <a:ea typeface="Microsoft YaHei"/>
                <a:cs typeface="Microsoft YaHei"/>
              </a:rPr>
              <a:t>求解</a:t>
            </a:r>
            <a:r>
              <a:rPr sz="1400">
                <a:solidFill>
                  <a:srgbClr val="203040"/>
                </a:solidFill>
                <a:latin typeface="Microsoft YaHei"/>
                <a:ea typeface="Microsoft YaHei"/>
                <a:cs typeface="Microsoft YaHei"/>
              </a:rPr>
              <a:t>MLE</a:t>
            </a:r>
          </a:p>
          <a:p xmlns:a="http://schemas.openxmlformats.org/drawingml/2006/main">
            <a:pPr algn="ctr">
              <a:lnSpc>
                <a:spcPts val="1652"/>
              </a:lnSpc>
              <a:buNone/>
            </a:pPr>
            <a:r>
              <a:rPr sz="1400">
                <a:solidFill>
                  <a:srgbClr val="203040"/>
                </a:solidFill>
                <a:latin typeface="Microsoft YaHei"/>
                <a:ea typeface="Microsoft YaHei"/>
                <a:cs typeface="Microsoft YaHei"/>
              </a:rPr>
              <a:t>Wang</a:t>
            </a:r>
            <a:r>
              <a:rPr sz="1400">
                <a:solidFill>
                  <a:srgbClr val="203040"/>
                </a:solidFill>
                <a:latin typeface="Microsoft YaHei"/>
                <a:ea typeface="Microsoft YaHei"/>
                <a:cs typeface="Microsoft YaHei"/>
              </a:rPr>
              <a:t>等 </a:t>
            </a:r>
            <a:r>
              <a:rPr sz="1400">
                <a:solidFill>
                  <a:srgbClr val="203040"/>
                </a:solidFill>
                <a:latin typeface="Microsoft YaHei"/>
                <a:ea typeface="Microsoft YaHei"/>
                <a:cs typeface="Microsoft YaHei"/>
              </a:rPr>
              <a:t>· 2026</a:t>
            </a:r>
            <a:endParaRPr sz="1400">
              <a:solidFill>
                <a:srgbClr val="203040"/>
              </a:solidFill>
              <a:latin typeface="Microsoft YaHei"/>
              <a:ea typeface="Microsoft YaHei"/>
              <a:cs typeface="Microsoft YaHei"/>
            </a:endParaRPr>
          </a:p>
        </p:txBody>
      </p:sp>
      <p:sp>
        <p:nvSpPr>
          <p:cNvPr id="23" name="fig1-firth">
            <a:extLst xmlns:a="http://schemas.openxmlformats.org/drawingml/2006/main">
              <a:ext uri="{FF2B5EF4-FFF2-40B4-BE49-F238E27FC236}">
                <a16:creationId xmlns:a16="http://schemas.microsoft.com/office/drawing/2014/main" id="{516109D5-65F7-7C6F-6EB1-588D61EAE408}"/>
              </a:ext>
            </a:extLst>
          </p:cNvPr>
          <p:cNvSpPr>
            <a:spLocks xmlns:a="http://schemas.openxmlformats.org/drawingml/2006/main" noGrp="1"/>
          </p:cNvSpPr>
          <p:nvPr/>
        </p:nvSpPr>
        <p:spPr>
          <a:xfrm xmlns:a="http://schemas.openxmlformats.org/drawingml/2006/main">
            <a:off x="9321800" y="2209800"/>
            <a:ext cx="2222500" cy="736600"/>
          </a:xfrm>
          <a:prstGeom xmlns:a="http://schemas.openxmlformats.org/drawingml/2006/main" prst="roundRect">
            <a:avLst>
              <a:gd name="adj" fmla="val 7000"/>
            </a:avLst>
          </a:prstGeom>
          <a:solidFill xmlns:a="http://schemas.openxmlformats.org/drawingml/2006/main">
            <a:srgbClr val="EAF0F6"/>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得分偏差修正</a:t>
            </a:r>
          </a:p>
          <a:p xmlns:a="http://schemas.openxmlformats.org/drawingml/2006/main">
            <a:pPr algn="ctr">
              <a:lnSpc>
                <a:spcPts val="1652"/>
              </a:lnSpc>
              <a:buNone/>
            </a:pPr>
            <a:r>
              <a:rPr sz="1400">
                <a:solidFill>
                  <a:srgbClr val="203040"/>
                </a:solidFill>
                <a:latin typeface="Microsoft YaHei"/>
                <a:ea typeface="Microsoft YaHei"/>
                <a:cs typeface="Microsoft YaHei"/>
              </a:rPr>
              <a:t>Firth · 1993</a:t>
            </a:r>
            <a:endParaRPr sz="1400">
              <a:solidFill>
                <a:srgbClr val="203040"/>
              </a:solidFill>
              <a:latin typeface="Microsoft YaHei"/>
              <a:ea typeface="Microsoft YaHei"/>
              <a:cs typeface="Microsoft YaHei"/>
            </a:endParaRPr>
          </a:p>
        </p:txBody>
      </p:sp>
      <p:sp>
        <p:nvSpPr>
          <p:cNvPr id="24" name="fig1-dmmle">
            <a:extLst xmlns:a="http://schemas.openxmlformats.org/drawingml/2006/main">
              <a:ext uri="{FF2B5EF4-FFF2-40B4-BE49-F238E27FC236}">
                <a16:creationId xmlns:a16="http://schemas.microsoft.com/office/drawing/2014/main" id="{2AC304CE-AA20-F1BD-CCDB-C472C745E2BA}"/>
              </a:ext>
            </a:extLst>
          </p:cNvPr>
          <p:cNvSpPr>
            <a:spLocks xmlns:a="http://schemas.openxmlformats.org/drawingml/2006/main" noGrp="1"/>
          </p:cNvSpPr>
          <p:nvPr/>
        </p:nvSpPr>
        <p:spPr>
          <a:xfrm xmlns:a="http://schemas.openxmlformats.org/drawingml/2006/main">
            <a:off x="9321800" y="3225800"/>
            <a:ext cx="2222500" cy="8890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203040"/>
                </a:solidFill>
                <a:latin typeface="Microsoft YaHei"/>
                <a:ea typeface="Microsoft YaHei"/>
                <a:cs typeface="Microsoft YaHei"/>
              </a:rPr>
              <a:t>DMMLE </a:t>
            </a:r>
            <a:r>
              <a:rPr sz="1400">
                <a:solidFill>
                  <a:srgbClr val="203040"/>
                </a:solidFill>
                <a:latin typeface="Microsoft YaHei"/>
                <a:ea typeface="Microsoft YaHei"/>
                <a:cs typeface="Microsoft YaHei"/>
              </a:rPr>
              <a:t>双重修改极大似然估计</a:t>
            </a:r>
          </a:p>
          <a:p xmlns:a="http://schemas.openxmlformats.org/drawingml/2006/main">
            <a:pPr algn="ctr">
              <a:lnSpc>
                <a:spcPts val="1652"/>
              </a:lnSpc>
              <a:buNone/>
            </a:pPr>
            <a:r>
              <a:rPr sz="1400">
                <a:solidFill>
                  <a:srgbClr val="203040"/>
                </a:solidFill>
                <a:latin typeface="Microsoft YaHei"/>
                <a:ea typeface="Microsoft YaHei"/>
                <a:cs typeface="Microsoft YaHei"/>
              </a:rPr>
              <a:t>da Silva</a:t>
            </a:r>
            <a:r>
              <a:rPr sz="1400">
                <a:solidFill>
                  <a:srgbClr val="203040"/>
                </a:solidFill>
                <a:latin typeface="Microsoft YaHei"/>
                <a:ea typeface="Microsoft YaHei"/>
                <a:cs typeface="Microsoft YaHei"/>
              </a:rPr>
              <a:t>等 </a:t>
            </a:r>
            <a:r>
              <a:rPr sz="1400">
                <a:solidFill>
                  <a:srgbClr val="203040"/>
                </a:solidFill>
                <a:latin typeface="Microsoft YaHei"/>
                <a:ea typeface="Microsoft YaHei"/>
                <a:cs typeface="Microsoft YaHei"/>
              </a:rPr>
              <a:t>· 2025</a:t>
            </a:r>
            <a:endParaRPr sz="1400">
              <a:solidFill>
                <a:srgbClr val="203040"/>
              </a:solidFill>
              <a:latin typeface="Microsoft YaHei"/>
              <a:ea typeface="Microsoft YaHei"/>
              <a:cs typeface="Microsoft YaHei"/>
            </a:endParaRPr>
          </a:p>
        </p:txBody>
      </p:sp>
      <p:sp>
        <p:nvSpPr>
          <p:cNvPr id="25" name="fig1-text_edge1">
            <a:extLst xmlns:a="http://schemas.openxmlformats.org/drawingml/2006/main">
              <a:ext uri="{FF2B5EF4-FFF2-40B4-BE49-F238E27FC236}">
                <a16:creationId xmlns:a16="http://schemas.microsoft.com/office/drawing/2014/main" id="{59737199-1D4A-7ABA-8568-245599796836}"/>
              </a:ext>
            </a:extLst>
          </p:cNvPr>
          <p:cNvSpPr>
            <a:spLocks xmlns:a="http://schemas.openxmlformats.org/drawingml/2006/main" noGrp="1"/>
          </p:cNvSpPr>
          <p:nvPr/>
        </p:nvSpPr>
        <p:spPr>
          <a:xfrm xmlns:a="http://schemas.openxmlformats.org/drawingml/2006/main">
            <a:off x="2806700" y="2120900"/>
            <a:ext cx="2108200" cy="4445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416"/>
              </a:lnSpc>
              <a:buNone/>
            </a:pPr>
            <a:r>
              <a:rPr sz="1200">
                <a:solidFill>
                  <a:srgbClr val="304559"/>
                </a:solidFill>
                <a:latin typeface="Microsoft YaHei"/>
                <a:ea typeface="Microsoft YaHei"/>
                <a:cs typeface="Microsoft YaHei"/>
              </a:rPr>
              <a:t>减小小样本偏差</a:t>
            </a:r>
          </a:p>
          <a:p xmlns:a="http://schemas.openxmlformats.org/drawingml/2006/main">
            <a:pPr algn="ctr">
              <a:lnSpc>
                <a:spcPts val="1416"/>
              </a:lnSpc>
              <a:buNone/>
            </a:pPr>
            <a:r>
              <a:rPr sz="1200">
                <a:solidFill>
                  <a:srgbClr val="304559"/>
                </a:solidFill>
                <a:latin typeface="Microsoft YaHei"/>
                <a:ea typeface="Microsoft YaHei"/>
                <a:cs typeface="Microsoft YaHei"/>
              </a:rPr>
              <a:t>修正估计方程</a:t>
            </a:r>
          </a:p>
        </p:txBody>
      </p:sp>
      <p:sp>
        <p:nvSpPr>
          <p:cNvPr id="26" name="fig1-text_edge2">
            <a:extLst xmlns:a="http://schemas.openxmlformats.org/drawingml/2006/main">
              <a:ext uri="{FF2B5EF4-FFF2-40B4-BE49-F238E27FC236}">
                <a16:creationId xmlns:a16="http://schemas.microsoft.com/office/drawing/2014/main" id="{2293B625-BEC5-3B2A-A86E-9386781AFB81}"/>
              </a:ext>
            </a:extLst>
          </p:cNvPr>
          <p:cNvSpPr>
            <a:spLocks xmlns:a="http://schemas.openxmlformats.org/drawingml/2006/main" noGrp="1"/>
          </p:cNvSpPr>
          <p:nvPr/>
        </p:nvSpPr>
        <p:spPr>
          <a:xfrm xmlns:a="http://schemas.openxmlformats.org/drawingml/2006/main">
            <a:off x="2806700" y="3162300"/>
            <a:ext cx="2108200" cy="4445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416"/>
              </a:lnSpc>
              <a:buNone/>
            </a:pPr>
            <a:r>
              <a:rPr sz="1200">
                <a:solidFill>
                  <a:srgbClr val="304559"/>
                </a:solidFill>
                <a:latin typeface="Microsoft YaHei"/>
                <a:ea typeface="Microsoft YaHei"/>
                <a:cs typeface="Microsoft YaHei"/>
              </a:rPr>
              <a:t>处理边界奇异</a:t>
            </a:r>
          </a:p>
          <a:p xmlns:a="http://schemas.openxmlformats.org/drawingml/2006/main">
            <a:pPr algn="ctr">
              <a:lnSpc>
                <a:spcPts val="1416"/>
              </a:lnSpc>
              <a:buNone/>
            </a:pPr>
            <a:r>
              <a:rPr sz="1200">
                <a:solidFill>
                  <a:srgbClr val="304559"/>
                </a:solidFill>
                <a:latin typeface="Microsoft YaHei"/>
                <a:ea typeface="Microsoft YaHei"/>
                <a:cs typeface="Microsoft YaHei"/>
              </a:rPr>
              <a:t>改变似然构造</a:t>
            </a:r>
          </a:p>
        </p:txBody>
      </p:sp>
      <p:sp>
        <p:nvSpPr>
          <p:cNvPr id="27" name="fig1-text_edge5">
            <a:extLst xmlns:a="http://schemas.openxmlformats.org/drawingml/2006/main">
              <a:ext uri="{FF2B5EF4-FFF2-40B4-BE49-F238E27FC236}">
                <a16:creationId xmlns:a16="http://schemas.microsoft.com/office/drawing/2014/main" id="{8060B0A7-DA03-DA54-5E73-A07FAB8713B8}"/>
              </a:ext>
            </a:extLst>
          </p:cNvPr>
          <p:cNvSpPr>
            <a:spLocks xmlns:a="http://schemas.openxmlformats.org/drawingml/2006/main" noGrp="1"/>
          </p:cNvSpPr>
          <p:nvPr/>
        </p:nvSpPr>
        <p:spPr>
          <a:xfrm xmlns:a="http://schemas.openxmlformats.org/drawingml/2006/main">
            <a:off x="2806700" y="4152900"/>
            <a:ext cx="2108200" cy="4445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416"/>
              </a:lnSpc>
              <a:buNone/>
            </a:pPr>
            <a:r>
              <a:rPr sz="1200">
                <a:solidFill>
                  <a:srgbClr val="304559"/>
                </a:solidFill>
                <a:latin typeface="Microsoft YaHei"/>
                <a:ea typeface="Microsoft YaHei"/>
                <a:cs typeface="Microsoft YaHei"/>
              </a:rPr>
              <a:t>缓解初值敏感与局部停滞</a:t>
            </a:r>
          </a:p>
          <a:p xmlns:a="http://schemas.openxmlformats.org/drawingml/2006/main">
            <a:pPr algn="ctr">
              <a:lnSpc>
                <a:spcPts val="1416"/>
              </a:lnSpc>
              <a:buNone/>
            </a:pPr>
            <a:r>
              <a:rPr sz="1200">
                <a:solidFill>
                  <a:srgbClr val="304559"/>
                </a:solidFill>
                <a:latin typeface="Microsoft YaHei"/>
                <a:ea typeface="Microsoft YaHei"/>
                <a:cs typeface="Microsoft YaHei"/>
              </a:rPr>
              <a:t>改进搜索策略</a:t>
            </a:r>
          </a:p>
        </p:txBody>
      </p:sp>
      <p:sp>
        <p:nvSpPr>
          <p:cNvPr id="28" name="fig1-text_edge3">
            <a:extLst xmlns:a="http://schemas.openxmlformats.org/drawingml/2006/main">
              <a:ext uri="{FF2B5EF4-FFF2-40B4-BE49-F238E27FC236}">
                <a16:creationId xmlns:a16="http://schemas.microsoft.com/office/drawing/2014/main" id="{1D92B7E6-D647-3717-6D68-A4243B1E4895}"/>
              </a:ext>
            </a:extLst>
          </p:cNvPr>
          <p:cNvSpPr>
            <a:spLocks xmlns:a="http://schemas.openxmlformats.org/drawingml/2006/main" noGrp="1"/>
          </p:cNvSpPr>
          <p:nvPr/>
        </p:nvSpPr>
        <p:spPr>
          <a:xfrm xmlns:a="http://schemas.openxmlformats.org/drawingml/2006/main">
            <a:off x="7747000" y="3124200"/>
            <a:ext cx="1524000" cy="4445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416"/>
              </a:lnSpc>
              <a:buNone/>
            </a:pPr>
            <a:r>
              <a:rPr sz="1200">
                <a:solidFill>
                  <a:srgbClr val="304559"/>
                </a:solidFill>
                <a:latin typeface="Microsoft YaHei"/>
                <a:ea typeface="Microsoft YaHei"/>
                <a:cs typeface="Microsoft YaHei"/>
              </a:rPr>
              <a:t>剩余偏差</a:t>
            </a:r>
          </a:p>
          <a:p xmlns:a="http://schemas.openxmlformats.org/drawingml/2006/main">
            <a:pPr algn="ctr">
              <a:lnSpc>
                <a:spcPts val="1416"/>
              </a:lnSpc>
              <a:buNone/>
            </a:pPr>
            <a:r>
              <a:rPr sz="1200">
                <a:solidFill>
                  <a:srgbClr val="304559"/>
                </a:solidFill>
                <a:latin typeface="Microsoft YaHei"/>
                <a:ea typeface="Microsoft YaHei"/>
                <a:cs typeface="Microsoft YaHei"/>
              </a:rPr>
              <a:t>引入</a:t>
            </a:r>
            <a:r>
              <a:rPr sz="1200">
                <a:solidFill>
                  <a:srgbClr val="304559"/>
                </a:solidFill>
                <a:latin typeface="Microsoft YaHei"/>
                <a:ea typeface="Microsoft YaHei"/>
                <a:cs typeface="Microsoft YaHei"/>
              </a:rPr>
              <a:t>Firth</a:t>
            </a:r>
            <a:r>
              <a:rPr sz="1200">
                <a:solidFill>
                  <a:srgbClr val="304559"/>
                </a:solidFill>
                <a:latin typeface="Microsoft YaHei"/>
                <a:ea typeface="Microsoft YaHei"/>
                <a:cs typeface="Microsoft YaHei"/>
              </a:rPr>
              <a:t>修正</a:t>
            </a:r>
          </a:p>
        </p:txBody>
      </p:sp>
      <p:sp>
        <p:nvSpPr>
          <p:cNvPr id="29" name="fig1-text_edge4">
            <a:extLst xmlns:a="http://schemas.openxmlformats.org/drawingml/2006/main">
              <a:ext uri="{FF2B5EF4-FFF2-40B4-BE49-F238E27FC236}">
                <a16:creationId xmlns:a16="http://schemas.microsoft.com/office/drawing/2014/main" id="{A7DDFAD8-0F92-FD68-9A8F-9D08F41C5B79}"/>
              </a:ext>
            </a:extLst>
          </p:cNvPr>
          <p:cNvSpPr>
            <a:spLocks xmlns:a="http://schemas.openxmlformats.org/drawingml/2006/main" noGrp="1"/>
          </p:cNvSpPr>
          <p:nvPr/>
        </p:nvSpPr>
        <p:spPr>
          <a:xfrm xmlns:a="http://schemas.openxmlformats.org/drawingml/2006/main">
            <a:off x="10579100" y="2959100"/>
            <a:ext cx="927100" cy="2413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298"/>
              </a:lnSpc>
              <a:buNone/>
            </a:pPr>
            <a:r>
              <a:rPr sz="1100">
                <a:solidFill>
                  <a:srgbClr val="304559"/>
                </a:solidFill>
                <a:latin typeface="Microsoft YaHei"/>
                <a:ea typeface="Microsoft YaHei"/>
                <a:cs typeface="Microsoft YaHei"/>
              </a:rPr>
              <a:t>修正思想</a:t>
            </a:r>
          </a:p>
        </p:txBody>
      </p:sp>
      <p:sp>
        <p:nvSpPr>
          <p:cNvPr id="30" name="panel-description">
            <a:extLst xmlns:a="http://schemas.openxmlformats.org/drawingml/2006/main">
              <a:ext uri="{FF2B5EF4-FFF2-40B4-BE49-F238E27FC236}">
                <a16:creationId xmlns:a16="http://schemas.microsoft.com/office/drawing/2014/main" id="{C52DB519-AB17-D781-A557-DC4D1405FE31}"/>
              </a:ext>
            </a:extLst>
          </p:cNvPr>
          <p:cNvSpPr>
            <a:spLocks xmlns:a="http://schemas.openxmlformats.org/drawingml/2006/main" noGrp="1"/>
          </p:cNvSpPr>
          <p:nvPr/>
        </p:nvSpPr>
        <p:spPr>
          <a:xfrm xmlns:a="http://schemas.openxmlformats.org/drawingml/2006/main">
            <a:off x="622300" y="5384800"/>
            <a:ext cx="10922000" cy="6096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2006"/>
              </a:lnSpc>
              <a:buNone/>
            </a:pPr>
            <a:r>
              <a:rPr sz="1700">
                <a:solidFill>
                  <a:srgbClr val="2F6096"/>
                </a:solidFill>
                <a:latin typeface="Microsoft YaHei"/>
                <a:ea typeface="Microsoft YaHei"/>
                <a:cs typeface="Microsoft YaHei"/>
              </a:rPr>
              <a:t>WMLE</a:t>
            </a:r>
            <a:r>
              <a:rPr sz="1700">
                <a:solidFill>
                  <a:srgbClr val="2F6096"/>
                </a:solidFill>
                <a:latin typeface="Microsoft YaHei"/>
                <a:ea typeface="Microsoft YaHei"/>
                <a:cs typeface="Microsoft YaHei"/>
              </a:rPr>
              <a:t>修正有限样本估计方程，</a:t>
            </a:r>
            <a:r>
              <a:rPr sz="1700">
                <a:solidFill>
                  <a:srgbClr val="2F6096"/>
                </a:solidFill>
                <a:latin typeface="Microsoft YaHei"/>
                <a:ea typeface="Microsoft YaHei"/>
                <a:cs typeface="Microsoft YaHei"/>
              </a:rPr>
              <a:t>MMLE</a:t>
            </a:r>
            <a:r>
              <a:rPr sz="1700">
                <a:solidFill>
                  <a:srgbClr val="2F6096"/>
                </a:solidFill>
                <a:latin typeface="Microsoft YaHei"/>
                <a:ea typeface="Microsoft YaHei"/>
                <a:cs typeface="Microsoft YaHei"/>
              </a:rPr>
              <a:t>改变似然构造，</a:t>
            </a:r>
            <a:r>
              <a:rPr sz="1700">
                <a:solidFill>
                  <a:srgbClr val="2F6096"/>
                </a:solidFill>
                <a:latin typeface="Microsoft YaHei"/>
                <a:ea typeface="Microsoft YaHei"/>
                <a:cs typeface="Microsoft YaHei"/>
              </a:rPr>
              <a:t>DMMLE</a:t>
            </a:r>
            <a:r>
              <a:rPr sz="1700">
                <a:solidFill>
                  <a:srgbClr val="2F6096"/>
                </a:solidFill>
                <a:latin typeface="Microsoft YaHei"/>
                <a:ea typeface="Microsoft YaHei"/>
                <a:cs typeface="Microsoft YaHei"/>
              </a:rPr>
              <a:t>进一步修正得分偏差。</a:t>
            </a:r>
          </a:p>
          <a:p xmlns:a="http://schemas.openxmlformats.org/drawingml/2006/main">
            <a:pPr>
              <a:lnSpc>
                <a:spcPts val="2006"/>
              </a:lnSpc>
              <a:buNone/>
            </a:pPr>
            <a:r>
              <a:rPr sz="1700">
                <a:solidFill>
                  <a:srgbClr val="2F6096"/>
                </a:solidFill>
                <a:latin typeface="Microsoft YaHei"/>
                <a:ea typeface="Microsoft YaHei"/>
                <a:cs typeface="Microsoft YaHei"/>
              </a:rPr>
              <a:t>PSO</a:t>
            </a:r>
            <a:r>
              <a:rPr sz="1700">
                <a:solidFill>
                  <a:srgbClr val="2F6096"/>
                </a:solidFill>
                <a:latin typeface="Microsoft YaHei"/>
                <a:ea typeface="Microsoft YaHei"/>
                <a:cs typeface="Microsoft YaHei"/>
              </a:rPr>
              <a:t>、</a:t>
            </a:r>
            <a:r>
              <a:rPr sz="1700">
                <a:solidFill>
                  <a:srgbClr val="2F6096"/>
                </a:solidFill>
                <a:latin typeface="Microsoft YaHei"/>
                <a:ea typeface="Microsoft YaHei"/>
                <a:cs typeface="Microsoft YaHei"/>
              </a:rPr>
              <a:t>ADGBO</a:t>
            </a:r>
            <a:r>
              <a:rPr sz="1700">
                <a:solidFill>
                  <a:srgbClr val="2F6096"/>
                </a:solidFill>
                <a:latin typeface="Microsoft YaHei"/>
                <a:ea typeface="Microsoft YaHei"/>
                <a:cs typeface="Microsoft YaHei"/>
              </a:rPr>
              <a:t>等若保持同一似然与约束，改进的是求解过程。</a:t>
            </a:r>
          </a:p>
        </p:txBody>
      </p:sp>
      <p:sp>
        <p:nvSpPr>
          <p:cNvPr id="31" name="panel-citations">
            <a:extLst xmlns:a="http://schemas.openxmlformats.org/drawingml/2006/main">
              <a:ext uri="{FF2B5EF4-FFF2-40B4-BE49-F238E27FC236}">
                <a16:creationId xmlns:a16="http://schemas.microsoft.com/office/drawing/2014/main" id="{43D54EE6-3576-5B72-1D9F-150FD070BF80}"/>
              </a:ext>
            </a:extLst>
          </p:cNvPr>
          <p:cNvSpPr>
            <a:spLocks xmlns:a="http://schemas.openxmlformats.org/drawingml/2006/main" noGrp="1"/>
          </p:cNvSpPr>
          <p:nvPr/>
        </p:nvSpPr>
        <p:spPr>
          <a:xfrm xmlns:a="http://schemas.openxmlformats.org/drawingml/2006/main">
            <a:off x="622300" y="6350000"/>
            <a:ext cx="10922000" cy="1778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1180"/>
              </a:lnSpc>
              <a:buNone/>
            </a:pPr>
            <a:r>
              <a:rPr sz="1000">
                <a:solidFill>
                  <a:srgbClr val="787878"/>
                </a:solidFill>
                <a:latin typeface="Microsoft YaHei"/>
                <a:ea typeface="Microsoft YaHei"/>
                <a:cs typeface="Microsoft YaHei"/>
              </a:rPr>
              <a:t>WMLE [182-088]</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DMMLE [182-111]</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ADGBO [187-001]</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Fisher</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1922</a:t>
            </a:r>
            <a:r>
              <a:rPr sz="1000">
                <a:solidFill>
                  <a:srgbClr val="787878"/>
                </a:solidFill>
                <a:latin typeface="Microsoft YaHei"/>
                <a:ea typeface="Microsoft YaHei"/>
                <a:cs typeface="Microsoft YaHei"/>
              </a:rPr>
              <a:t>）标示通用似然原理来源。</a:t>
            </a:r>
          </a:p>
        </p:txBody>
      </p:sp>
      <p:sp>
        <p:nvSpPr>
          <p:cNvPr id="32" name="fig1-edge1-1">
            <a:extLst xmlns:a="http://schemas.openxmlformats.org/drawingml/2006/main">
              <a:ext uri="{FF2B5EF4-FFF2-40B4-BE49-F238E27FC236}">
                <a16:creationId xmlns:a16="http://schemas.microsoft.com/office/drawing/2014/main" id="{6E92AD90-669A-49E5-901C-E4F838C25B57}"/>
              </a:ext>
            </a:extLst>
          </p:cNvPr>
          <p:cNvSpPr>
            <a:spLocks xmlns:a="http://schemas.openxmlformats.org/drawingml/2006/main" noGrp="1"/>
          </p:cNvSpPr>
          <p:nvPr/>
        </p:nvSpPr>
        <p:spPr>
          <a:xfrm xmlns:a="http://schemas.openxmlformats.org/drawingml/2006/main">
            <a:off x="2463800" y="3378200"/>
            <a:ext cx="2667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fig1-edge1-2">
            <a:extLst xmlns:a="http://schemas.openxmlformats.org/drawingml/2006/main">
              <a:ext uri="{FF2B5EF4-FFF2-40B4-BE49-F238E27FC236}">
                <a16:creationId xmlns:a16="http://schemas.microsoft.com/office/drawing/2014/main" id="{A3E25788-F79D-4275-9D97-514AE73D9FAB}"/>
              </a:ext>
            </a:extLst>
          </p:cNvPr>
          <p:cNvSpPr>
            <a:spLocks xmlns:a="http://schemas.openxmlformats.org/drawingml/2006/main" noGrp="1"/>
          </p:cNvSpPr>
          <p:nvPr/>
        </p:nvSpPr>
        <p:spPr>
          <a:xfrm xmlns:a="http://schemas.openxmlformats.org/drawingml/2006/main" flipV="1">
            <a:off x="2730500" y="2578100"/>
            <a:ext cx="0" cy="80010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fig1-edge1-3">
            <a:extLst xmlns:a="http://schemas.openxmlformats.org/drawingml/2006/main">
              <a:ext uri="{FF2B5EF4-FFF2-40B4-BE49-F238E27FC236}">
                <a16:creationId xmlns:a16="http://schemas.microsoft.com/office/drawing/2014/main" id="{D56C5989-3BA1-4DA8-B603-2C65CBEFFF6C}"/>
              </a:ext>
            </a:extLst>
          </p:cNvPr>
          <p:cNvSpPr>
            <a:spLocks xmlns:a="http://schemas.openxmlformats.org/drawingml/2006/main" noGrp="1"/>
          </p:cNvSpPr>
          <p:nvPr/>
        </p:nvSpPr>
        <p:spPr>
          <a:xfrm xmlns:a="http://schemas.openxmlformats.org/drawingml/2006/main">
            <a:off x="2730500" y="2578100"/>
            <a:ext cx="22733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fig1-edge2-1">
            <a:extLst xmlns:a="http://schemas.openxmlformats.org/drawingml/2006/main">
              <a:ext uri="{FF2B5EF4-FFF2-40B4-BE49-F238E27FC236}">
                <a16:creationId xmlns:a16="http://schemas.microsoft.com/office/drawing/2014/main" id="{3B2C1C55-881A-4C6F-9AD2-DCF1EAF5B5EB}"/>
              </a:ext>
            </a:extLst>
          </p:cNvPr>
          <p:cNvSpPr>
            <a:spLocks xmlns:a="http://schemas.openxmlformats.org/drawingml/2006/main" noGrp="1"/>
          </p:cNvSpPr>
          <p:nvPr/>
        </p:nvSpPr>
        <p:spPr>
          <a:xfrm xmlns:a="http://schemas.openxmlformats.org/drawingml/2006/main">
            <a:off x="2463800" y="3644900"/>
            <a:ext cx="25400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fig1-edge5-1">
            <a:extLst xmlns:a="http://schemas.openxmlformats.org/drawingml/2006/main">
              <a:ext uri="{FF2B5EF4-FFF2-40B4-BE49-F238E27FC236}">
                <a16:creationId xmlns:a16="http://schemas.microsoft.com/office/drawing/2014/main" id="{2DA16478-21D8-4B29-9282-8BFE3E738370}"/>
              </a:ext>
            </a:extLst>
          </p:cNvPr>
          <p:cNvSpPr>
            <a:spLocks xmlns:a="http://schemas.openxmlformats.org/drawingml/2006/main" noGrp="1"/>
          </p:cNvSpPr>
          <p:nvPr/>
        </p:nvSpPr>
        <p:spPr>
          <a:xfrm xmlns:a="http://schemas.openxmlformats.org/drawingml/2006/main">
            <a:off x="2463800" y="3911600"/>
            <a:ext cx="2667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fig1-edge5-2">
            <a:extLst xmlns:a="http://schemas.openxmlformats.org/drawingml/2006/main">
              <a:ext uri="{FF2B5EF4-FFF2-40B4-BE49-F238E27FC236}">
                <a16:creationId xmlns:a16="http://schemas.microsoft.com/office/drawing/2014/main" id="{9F66D62E-AAD0-4433-8535-89EAA8D7FF91}"/>
              </a:ext>
            </a:extLst>
          </p:cNvPr>
          <p:cNvSpPr>
            <a:spLocks xmlns:a="http://schemas.openxmlformats.org/drawingml/2006/main" noGrp="1"/>
          </p:cNvSpPr>
          <p:nvPr/>
        </p:nvSpPr>
        <p:spPr>
          <a:xfrm xmlns:a="http://schemas.openxmlformats.org/drawingml/2006/main">
            <a:off x="2730500" y="3911600"/>
            <a:ext cx="0" cy="69850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fig1-edge5-3">
            <a:extLst xmlns:a="http://schemas.openxmlformats.org/drawingml/2006/main">
              <a:ext uri="{FF2B5EF4-FFF2-40B4-BE49-F238E27FC236}">
                <a16:creationId xmlns:a16="http://schemas.microsoft.com/office/drawing/2014/main" id="{569DA4BF-F3FF-48C1-A1E8-B5A7D2248511}"/>
              </a:ext>
            </a:extLst>
          </p:cNvPr>
          <p:cNvSpPr>
            <a:spLocks xmlns:a="http://schemas.openxmlformats.org/drawingml/2006/main" noGrp="1"/>
          </p:cNvSpPr>
          <p:nvPr/>
        </p:nvSpPr>
        <p:spPr>
          <a:xfrm xmlns:a="http://schemas.openxmlformats.org/drawingml/2006/main">
            <a:off x="2730500" y="4610100"/>
            <a:ext cx="22733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9" name="fig1-edge3-1">
            <a:extLst xmlns:a="http://schemas.openxmlformats.org/drawingml/2006/main">
              <a:ext uri="{FF2B5EF4-FFF2-40B4-BE49-F238E27FC236}">
                <a16:creationId xmlns:a16="http://schemas.microsoft.com/office/drawing/2014/main" id="{98BF49C1-30B1-4EA9-91B8-25052B2F7188}"/>
              </a:ext>
            </a:extLst>
          </p:cNvPr>
          <p:cNvSpPr>
            <a:spLocks xmlns:a="http://schemas.openxmlformats.org/drawingml/2006/main" noGrp="1"/>
          </p:cNvSpPr>
          <p:nvPr/>
        </p:nvSpPr>
        <p:spPr>
          <a:xfrm xmlns:a="http://schemas.openxmlformats.org/drawingml/2006/main">
            <a:off x="7683500" y="3594100"/>
            <a:ext cx="16383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fig1-edge4-1">
            <a:extLst xmlns:a="http://schemas.openxmlformats.org/drawingml/2006/main">
              <a:ext uri="{FF2B5EF4-FFF2-40B4-BE49-F238E27FC236}">
                <a16:creationId xmlns:a16="http://schemas.microsoft.com/office/drawing/2014/main" id="{1E2AD48F-43FA-489E-B128-DC45DDC8E022}"/>
              </a:ext>
            </a:extLst>
          </p:cNvPr>
          <p:cNvSpPr>
            <a:spLocks xmlns:a="http://schemas.openxmlformats.org/drawingml/2006/main" noGrp="1"/>
          </p:cNvSpPr>
          <p:nvPr/>
        </p:nvSpPr>
        <p:spPr>
          <a:xfrm xmlns:a="http://schemas.openxmlformats.org/drawingml/2006/main">
            <a:off x="10433050" y="2946400"/>
            <a:ext cx="0" cy="27940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21785018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B  </a:t>
            </a:r>
            <a:r>
              <a:rPr sz="2400" b="1" spc="-150">
                <a:solidFill>
                  <a:srgbClr val="FFFFFF"/>
                </a:solidFill>
                <a:latin typeface="汉仪文润宋韵 U"/>
                <a:ea typeface="汉仪文润宋韵 U"/>
                <a:cs typeface="汉仪文润宋韵 U"/>
              </a:rPr>
              <a:t>概率图路线：如何处理未知位置？</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已有方法及其发展关系</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01</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2911FE70-E849-ED7F-BFB0-3FB730551685}"/>
              </a:ext>
            </a:extLst>
          </p:cNvPr>
          <p:cNvSpPr>
            <a:spLocks xmlns:a="http://schemas.openxmlformats.org/drawingml/2006/main" noGrp="1"/>
          </p:cNvSpPr>
          <p:nvPr/>
        </p:nvSpPr>
        <p:spPr>
          <a:xfrm xmlns:a="http://schemas.openxmlformats.org/drawingml/2006/main">
            <a:off x="622300" y="1638300"/>
            <a:ext cx="10922000" cy="4064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t">
            <a:noAutofit/>
          </a:bodyPr>
          <a:lstStyle xmlns:a="http://schemas.openxmlformats.org/drawingml/2006/main"/>
          <a:p xmlns:a="http://schemas.openxmlformats.org/drawingml/2006/main">
            <a:pPr>
              <a:lnSpc>
                <a:spcPts val="2006"/>
              </a:lnSpc>
              <a:buNone/>
              <a:defRPr sz="1725">
                <a:solidFill>
                  <a:srgbClr val="2F6096"/>
                </a:solidFill>
                <a:latin typeface="Microsoft YaHei"/>
                <a:ea typeface="Microsoft YaHei"/>
                <a:cs typeface="Microsoft YaHei"/>
              </a:defRPr>
            </a:pPr>
            <a:r>
              <a:rPr sz="1725">
                <a:solidFill>
                  <a:srgbClr val="2F6096"/>
                </a:solidFill>
                <a:latin typeface="Microsoft YaHei"/>
                <a:ea typeface="Microsoft YaHei"/>
                <a:cs typeface="Microsoft YaHei"/>
              </a:rPr>
              <a:t>LS与LRE同属概率图路线，具体构造由分数、方向与位置规则决定。</a:t>
            </a:r>
          </a:p>
        </p:txBody>
      </p:sp>
      <p:sp>
        <p:nvSpPr>
          <p:cNvPr id="17" name="fig1-white">
            <a:extLst xmlns:a="http://schemas.openxmlformats.org/drawingml/2006/main">
              <a:ext uri="{FF2B5EF4-FFF2-40B4-BE49-F238E27FC236}">
                <a16:creationId xmlns:a16="http://schemas.microsoft.com/office/drawing/2014/main" id="{6BAFF377-25AB-9762-2D70-2278810E5997}"/>
              </a:ext>
            </a:extLst>
          </p:cNvPr>
          <p:cNvSpPr>
            <a:spLocks xmlns:a="http://schemas.openxmlformats.org/drawingml/2006/main" noGrp="1"/>
          </p:cNvSpPr>
          <p:nvPr/>
        </p:nvSpPr>
        <p:spPr>
          <a:xfrm xmlns:a="http://schemas.openxmlformats.org/drawingml/2006/main">
            <a:off x="622300" y="2190115"/>
            <a:ext cx="3302000" cy="560832"/>
          </a:xfrm>
          <a:prstGeom xmlns:a="http://schemas.openxmlformats.org/drawingml/2006/main" prst="roundRect">
            <a:avLst>
              <a:gd name="adj" fmla="val 7000"/>
            </a:avLst>
          </a:prstGeom>
          <a:solidFill xmlns:a="http://schemas.openxmlformats.org/drawingml/2006/main">
            <a:srgbClr val="EAF0F6"/>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203040"/>
                </a:solidFill>
                <a:latin typeface="Microsoft YaHei"/>
                <a:ea typeface="Microsoft YaHei"/>
                <a:cs typeface="Microsoft YaHei"/>
              </a:rPr>
              <a:t>LS </a:t>
            </a:r>
            <a:r>
              <a:rPr sz="1400">
                <a:solidFill>
                  <a:srgbClr val="203040"/>
                </a:solidFill>
                <a:latin typeface="Microsoft YaHei"/>
                <a:ea typeface="Microsoft YaHei"/>
                <a:cs typeface="Microsoft YaHei"/>
              </a:rPr>
              <a:t>二参数概率图回归</a:t>
            </a:r>
          </a:p>
          <a:p xmlns:a="http://schemas.openxmlformats.org/drawingml/2006/main">
            <a:pPr algn="ctr">
              <a:lnSpc>
                <a:spcPts val="1650"/>
              </a:lnSpc>
              <a:buNone/>
            </a:pPr>
            <a:r>
              <a:rPr sz="1400">
                <a:solidFill>
                  <a:srgbClr val="203040"/>
                </a:solidFill>
                <a:latin typeface="Microsoft YaHei"/>
                <a:ea typeface="Microsoft YaHei"/>
                <a:cs typeface="Microsoft YaHei"/>
              </a:rPr>
              <a:t>White · 1969</a:t>
            </a:r>
            <a:endParaRPr sz="1400">
              <a:solidFill>
                <a:srgbClr val="203040"/>
              </a:solidFill>
              <a:latin typeface="Microsoft YaHei"/>
              <a:ea typeface="Microsoft YaHei"/>
              <a:cs typeface="Microsoft YaHei"/>
            </a:endParaRPr>
          </a:p>
        </p:txBody>
      </p:sp>
      <p:sp>
        <p:nvSpPr>
          <p:cNvPr id="18" name="fig1-soman">
            <a:extLst xmlns:a="http://schemas.openxmlformats.org/drawingml/2006/main">
              <a:ext uri="{FF2B5EF4-FFF2-40B4-BE49-F238E27FC236}">
                <a16:creationId xmlns:a16="http://schemas.microsoft.com/office/drawing/2014/main" id="{F83C78B6-253F-8ED2-FCDB-4716D21876E0}"/>
              </a:ext>
            </a:extLst>
          </p:cNvPr>
          <p:cNvSpPr>
            <a:spLocks xmlns:a="http://schemas.openxmlformats.org/drawingml/2006/main" noGrp="1"/>
          </p:cNvSpPr>
          <p:nvPr/>
        </p:nvSpPr>
        <p:spPr>
          <a:xfrm xmlns:a="http://schemas.openxmlformats.org/drawingml/2006/main">
            <a:off x="7670800" y="2190115"/>
            <a:ext cx="3873500" cy="560832"/>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203040"/>
                </a:solidFill>
                <a:latin typeface="Microsoft YaHei"/>
                <a:ea typeface="Microsoft YaHei"/>
                <a:cs typeface="Microsoft YaHei"/>
              </a:rPr>
              <a:t>LS </a:t>
            </a:r>
            <a:r>
              <a:rPr sz="1400">
                <a:solidFill>
                  <a:srgbClr val="203040"/>
                </a:solidFill>
                <a:latin typeface="Microsoft YaHei"/>
                <a:ea typeface="Microsoft YaHei"/>
                <a:cs typeface="Microsoft YaHei"/>
              </a:rPr>
              <a:t>三参数最小二乘</a:t>
            </a:r>
          </a:p>
          <a:p xmlns:a="http://schemas.openxmlformats.org/drawingml/2006/main">
            <a:pPr algn="ctr">
              <a:lnSpc>
                <a:spcPts val="1650"/>
              </a:lnSpc>
              <a:buNone/>
            </a:pPr>
            <a:r>
              <a:rPr sz="1400">
                <a:solidFill>
                  <a:srgbClr val="203040"/>
                </a:solidFill>
                <a:latin typeface="Microsoft YaHei"/>
                <a:ea typeface="Microsoft YaHei"/>
                <a:cs typeface="Microsoft YaHei"/>
              </a:rPr>
              <a:t>Soman &amp; Misra · 1992</a:t>
            </a:r>
            <a:endParaRPr sz="1400">
              <a:solidFill>
                <a:srgbClr val="203040"/>
              </a:solidFill>
              <a:latin typeface="Microsoft YaHei"/>
              <a:ea typeface="Microsoft YaHei"/>
              <a:cs typeface="Microsoft YaHei"/>
            </a:endParaRPr>
          </a:p>
        </p:txBody>
      </p:sp>
      <p:sp>
        <p:nvSpPr>
          <p:cNvPr id="19" name="fig1-plot">
            <a:extLst xmlns:a="http://schemas.openxmlformats.org/drawingml/2006/main">
              <a:ext uri="{FF2B5EF4-FFF2-40B4-BE49-F238E27FC236}">
                <a16:creationId xmlns:a16="http://schemas.microsoft.com/office/drawing/2014/main" id="{65675938-9A67-E934-E6DF-F65962F514D0}"/>
              </a:ext>
            </a:extLst>
          </p:cNvPr>
          <p:cNvSpPr>
            <a:spLocks xmlns:a="http://schemas.openxmlformats.org/drawingml/2006/main" noGrp="1"/>
          </p:cNvSpPr>
          <p:nvPr/>
        </p:nvSpPr>
        <p:spPr>
          <a:xfrm xmlns:a="http://schemas.openxmlformats.org/drawingml/2006/main">
            <a:off x="622300" y="3189097"/>
            <a:ext cx="3302000" cy="578358"/>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203040"/>
                </a:solidFill>
                <a:latin typeface="Microsoft YaHei"/>
                <a:ea typeface="Microsoft YaHei"/>
                <a:cs typeface="Microsoft YaHei"/>
              </a:rPr>
              <a:t>LRE</a:t>
            </a:r>
            <a:r>
              <a:rPr sz="1400">
                <a:solidFill>
                  <a:srgbClr val="203040"/>
                </a:solidFill>
                <a:latin typeface="Microsoft YaHei"/>
                <a:ea typeface="Microsoft YaHei"/>
                <a:cs typeface="Microsoft YaHei"/>
              </a:rPr>
              <a:t>相关构造</a:t>
            </a:r>
          </a:p>
          <a:p xmlns:a="http://schemas.openxmlformats.org/drawingml/2006/main">
            <a:pPr algn="ctr">
              <a:lnSpc>
                <a:spcPts val="1650"/>
              </a:lnSpc>
              <a:buNone/>
            </a:pPr>
            <a:r>
              <a:rPr sz="1400">
                <a:solidFill>
                  <a:srgbClr val="203040"/>
                </a:solidFill>
                <a:latin typeface="Microsoft YaHei"/>
                <a:ea typeface="Microsoft YaHei"/>
                <a:cs typeface="Microsoft YaHei"/>
              </a:rPr>
              <a:t>Weibull</a:t>
            </a:r>
            <a:r>
              <a:rPr sz="1400">
                <a:solidFill>
                  <a:srgbClr val="203040"/>
                </a:solidFill>
                <a:latin typeface="Microsoft YaHei"/>
                <a:ea typeface="Microsoft YaHei"/>
                <a:cs typeface="Microsoft YaHei"/>
              </a:rPr>
              <a:t>图线性化</a:t>
            </a:r>
          </a:p>
        </p:txBody>
      </p:sp>
      <p:sp>
        <p:nvSpPr>
          <p:cNvPr id="20" name="fig1-li">
            <a:extLst xmlns:a="http://schemas.openxmlformats.org/drawingml/2006/main">
              <a:ext uri="{FF2B5EF4-FFF2-40B4-BE49-F238E27FC236}">
                <a16:creationId xmlns:a16="http://schemas.microsoft.com/office/drawing/2014/main" id="{3813DF7B-6E53-2F54-2674-A9944E5E53E2}"/>
              </a:ext>
            </a:extLst>
          </p:cNvPr>
          <p:cNvSpPr>
            <a:spLocks xmlns:a="http://schemas.openxmlformats.org/drawingml/2006/main" noGrp="1"/>
          </p:cNvSpPr>
          <p:nvPr/>
        </p:nvSpPr>
        <p:spPr>
          <a:xfrm xmlns:a="http://schemas.openxmlformats.org/drawingml/2006/main">
            <a:off x="7670800" y="3005074"/>
            <a:ext cx="3873500" cy="560832"/>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203040"/>
                </a:solidFill>
                <a:latin typeface="Microsoft YaHei"/>
                <a:ea typeface="Microsoft YaHei"/>
                <a:cs typeface="Microsoft YaHei"/>
              </a:rPr>
              <a:t>GLRA </a:t>
            </a:r>
            <a:r>
              <a:rPr sz="1400">
                <a:solidFill>
                  <a:srgbClr val="203040"/>
                </a:solidFill>
                <a:latin typeface="Microsoft YaHei"/>
                <a:ea typeface="Microsoft YaHei"/>
                <a:cs typeface="Microsoft YaHei"/>
              </a:rPr>
              <a:t>广义线性回归</a:t>
            </a:r>
          </a:p>
          <a:p xmlns:a="http://schemas.openxmlformats.org/drawingml/2006/main">
            <a:pPr algn="ctr">
              <a:lnSpc>
                <a:spcPts val="1650"/>
              </a:lnSpc>
              <a:buNone/>
            </a:pPr>
            <a:r>
              <a:rPr sz="1400">
                <a:solidFill>
                  <a:srgbClr val="203040"/>
                </a:solidFill>
                <a:latin typeface="Microsoft YaHei"/>
                <a:ea typeface="Microsoft YaHei"/>
                <a:cs typeface="Microsoft YaHei"/>
              </a:rPr>
              <a:t>Li · 1994</a:t>
            </a:r>
            <a:endParaRPr sz="1400">
              <a:solidFill>
                <a:srgbClr val="203040"/>
              </a:solidFill>
              <a:latin typeface="Microsoft YaHei"/>
              <a:ea typeface="Microsoft YaHei"/>
              <a:cs typeface="Microsoft YaHei"/>
            </a:endParaRPr>
          </a:p>
        </p:txBody>
      </p:sp>
      <p:sp>
        <p:nvSpPr>
          <p:cNvPr id="21" name="fig1-park">
            <a:extLst xmlns:a="http://schemas.openxmlformats.org/drawingml/2006/main">
              <a:ext uri="{FF2B5EF4-FFF2-40B4-BE49-F238E27FC236}">
                <a16:creationId xmlns:a16="http://schemas.microsoft.com/office/drawing/2014/main" id="{2CDB9860-B1C3-AFF8-60E0-F026CE1F5EFF}"/>
              </a:ext>
            </a:extLst>
          </p:cNvPr>
          <p:cNvSpPr>
            <a:spLocks xmlns:a="http://schemas.openxmlformats.org/drawingml/2006/main" noGrp="1"/>
          </p:cNvSpPr>
          <p:nvPr/>
        </p:nvSpPr>
        <p:spPr>
          <a:xfrm xmlns:a="http://schemas.openxmlformats.org/drawingml/2006/main">
            <a:off x="7670800" y="3986530"/>
            <a:ext cx="3873500" cy="578358"/>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203040"/>
                </a:solidFill>
                <a:latin typeface="Microsoft YaHei"/>
                <a:ea typeface="Microsoft YaHei"/>
                <a:cs typeface="Microsoft YaHei"/>
              </a:rPr>
              <a:t>相关系数法（</a:t>
            </a:r>
            <a:r>
              <a:rPr sz="1400">
                <a:solidFill>
                  <a:srgbClr val="203040"/>
                </a:solidFill>
                <a:latin typeface="Microsoft YaHei"/>
                <a:ea typeface="Microsoft YaHei"/>
                <a:cs typeface="Microsoft YaHei"/>
              </a:rPr>
              <a:t>Plot</a:t>
            </a:r>
            <a:r>
              <a:rPr sz="1400">
                <a:solidFill>
                  <a:srgbClr val="203040"/>
                </a:solidFill>
                <a:latin typeface="Microsoft YaHei"/>
                <a:ea typeface="Microsoft YaHei"/>
                <a:cs typeface="Microsoft YaHei"/>
              </a:rPr>
              <a:t>分支）</a:t>
            </a:r>
          </a:p>
          <a:p xmlns:a="http://schemas.openxmlformats.org/drawingml/2006/main">
            <a:pPr algn="ctr">
              <a:lnSpc>
                <a:spcPts val="1650"/>
              </a:lnSpc>
              <a:buNone/>
            </a:pPr>
            <a:r>
              <a:rPr sz="1400">
                <a:solidFill>
                  <a:srgbClr val="203040"/>
                </a:solidFill>
                <a:latin typeface="Microsoft YaHei"/>
                <a:ea typeface="Microsoft YaHei"/>
                <a:cs typeface="Microsoft YaHei"/>
              </a:rPr>
              <a:t>Park · 2017</a:t>
            </a:r>
            <a:endParaRPr sz="1400">
              <a:solidFill>
                <a:srgbClr val="203040"/>
              </a:solidFill>
              <a:latin typeface="Microsoft YaHei"/>
              <a:ea typeface="Microsoft YaHei"/>
              <a:cs typeface="Microsoft YaHei"/>
            </a:endParaRPr>
          </a:p>
        </p:txBody>
      </p:sp>
      <p:sp>
        <p:nvSpPr>
          <p:cNvPr id="22" name="fig1-text_edge6">
            <a:extLst xmlns:a="http://schemas.openxmlformats.org/drawingml/2006/main">
              <a:ext uri="{FF2B5EF4-FFF2-40B4-BE49-F238E27FC236}">
                <a16:creationId xmlns:a16="http://schemas.microsoft.com/office/drawing/2014/main" id="{0C5A288D-71E8-CD1A-1D63-B92A6275E59E}"/>
              </a:ext>
            </a:extLst>
          </p:cNvPr>
          <p:cNvSpPr>
            <a:spLocks xmlns:a="http://schemas.openxmlformats.org/drawingml/2006/main" noGrp="1"/>
          </p:cNvSpPr>
          <p:nvPr/>
        </p:nvSpPr>
        <p:spPr>
          <a:xfrm xmlns:a="http://schemas.openxmlformats.org/drawingml/2006/main">
            <a:off x="4686300" y="2076196"/>
            <a:ext cx="2222500" cy="385572"/>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304559"/>
                </a:solidFill>
                <a:latin typeface="Microsoft YaHei"/>
                <a:ea typeface="Microsoft YaHei"/>
                <a:cs typeface="Microsoft YaHei"/>
              </a:rPr>
              <a:t>位置未知</a:t>
            </a:r>
          </a:p>
          <a:p xmlns:a="http://schemas.openxmlformats.org/drawingml/2006/main">
            <a:pPr algn="ctr">
              <a:lnSpc>
                <a:spcPts val="1650"/>
              </a:lnSpc>
              <a:buNone/>
            </a:pPr>
            <a:r>
              <a:rPr sz="1400">
                <a:solidFill>
                  <a:srgbClr val="304559"/>
                </a:solidFill>
                <a:latin typeface="Microsoft YaHei"/>
                <a:ea typeface="Microsoft YaHei"/>
                <a:cs typeface="Microsoft YaHei"/>
              </a:rPr>
              <a:t>扩展到三参数</a:t>
            </a:r>
          </a:p>
        </p:txBody>
      </p:sp>
      <p:sp>
        <p:nvSpPr>
          <p:cNvPr id="23" name="fig1-text_edge7">
            <a:extLst xmlns:a="http://schemas.openxmlformats.org/drawingml/2006/main">
              <a:ext uri="{FF2B5EF4-FFF2-40B4-BE49-F238E27FC236}">
                <a16:creationId xmlns:a16="http://schemas.microsoft.com/office/drawing/2014/main" id="{117F3D43-7A7D-3E23-B704-0B144E79EF5A}"/>
              </a:ext>
            </a:extLst>
          </p:cNvPr>
          <p:cNvSpPr>
            <a:spLocks xmlns:a="http://schemas.openxmlformats.org/drawingml/2006/main" noGrp="1"/>
          </p:cNvSpPr>
          <p:nvPr/>
        </p:nvSpPr>
        <p:spPr>
          <a:xfrm xmlns:a="http://schemas.openxmlformats.org/drawingml/2006/main">
            <a:off x="4406900" y="3013837"/>
            <a:ext cx="3111500" cy="227838"/>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304559"/>
                </a:solidFill>
                <a:latin typeface="Microsoft YaHei"/>
                <a:ea typeface="Microsoft YaHei"/>
                <a:cs typeface="Microsoft YaHei"/>
              </a:rPr>
              <a:t>构造位置近似</a:t>
            </a:r>
          </a:p>
        </p:txBody>
      </p:sp>
      <p:sp>
        <p:nvSpPr>
          <p:cNvPr id="24" name="fig1-text_edge8">
            <a:extLst xmlns:a="http://schemas.openxmlformats.org/drawingml/2006/main">
              <a:ext uri="{FF2B5EF4-FFF2-40B4-BE49-F238E27FC236}">
                <a16:creationId xmlns:a16="http://schemas.microsoft.com/office/drawing/2014/main" id="{8CA15B03-9C15-A8DF-20A2-CB58859DED9C}"/>
              </a:ext>
            </a:extLst>
          </p:cNvPr>
          <p:cNvSpPr>
            <a:spLocks xmlns:a="http://schemas.openxmlformats.org/drawingml/2006/main" noGrp="1"/>
          </p:cNvSpPr>
          <p:nvPr/>
        </p:nvSpPr>
        <p:spPr>
          <a:xfrm xmlns:a="http://schemas.openxmlformats.org/drawingml/2006/main">
            <a:off x="5676900" y="3942715"/>
            <a:ext cx="1905000" cy="26289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ctr">
            <a:noAutofit/>
          </a:bodyPr>
          <a:lstStyle xmlns:a="http://schemas.openxmlformats.org/drawingml/2006/main"/>
          <a:p xmlns:a="http://schemas.openxmlformats.org/drawingml/2006/main">
            <a:pPr algn="ctr">
              <a:lnSpc>
                <a:spcPts val="1650"/>
              </a:lnSpc>
              <a:buNone/>
            </a:pPr>
            <a:r>
              <a:rPr sz="1400">
                <a:solidFill>
                  <a:srgbClr val="304559"/>
                </a:solidFill>
                <a:latin typeface="Microsoft YaHei"/>
                <a:ea typeface="Microsoft YaHei"/>
                <a:cs typeface="Microsoft YaHei"/>
              </a:rPr>
              <a:t>以相关性选位置</a:t>
            </a:r>
          </a:p>
        </p:txBody>
      </p:sp>
      <p:sp>
        <p:nvSpPr>
          <p:cNvPr id="27" name="fig1-edge6-1">
            <a:extLst xmlns:a="http://schemas.openxmlformats.org/drawingml/2006/main">
              <a:ext uri="{FF2B5EF4-FFF2-40B4-BE49-F238E27FC236}">
                <a16:creationId xmlns:a16="http://schemas.microsoft.com/office/drawing/2014/main" id="{EBE9FE6F-4DE9-40B7-854F-912F934B3E16}"/>
              </a:ext>
            </a:extLst>
          </p:cNvPr>
          <p:cNvSpPr>
            <a:spLocks xmlns:a="http://schemas.openxmlformats.org/drawingml/2006/main" noGrp="1"/>
          </p:cNvSpPr>
          <p:nvPr/>
        </p:nvSpPr>
        <p:spPr>
          <a:xfrm xmlns:a="http://schemas.openxmlformats.org/drawingml/2006/main">
            <a:off x="3924300" y="2470531"/>
            <a:ext cx="37465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fig1-edge7-1">
            <a:extLst xmlns:a="http://schemas.openxmlformats.org/drawingml/2006/main">
              <a:ext uri="{FF2B5EF4-FFF2-40B4-BE49-F238E27FC236}">
                <a16:creationId xmlns:a16="http://schemas.microsoft.com/office/drawing/2014/main" id="{842611E2-61E5-459B-990F-30A6B0A1898B}"/>
              </a:ext>
            </a:extLst>
          </p:cNvPr>
          <p:cNvSpPr>
            <a:spLocks xmlns:a="http://schemas.openxmlformats.org/drawingml/2006/main" noGrp="1"/>
          </p:cNvSpPr>
          <p:nvPr/>
        </p:nvSpPr>
        <p:spPr>
          <a:xfrm xmlns:a="http://schemas.openxmlformats.org/drawingml/2006/main">
            <a:off x="3924300" y="3329305"/>
            <a:ext cx="19050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fig1-edge7-2">
            <a:extLst xmlns:a="http://schemas.openxmlformats.org/drawingml/2006/main">
              <a:ext uri="{FF2B5EF4-FFF2-40B4-BE49-F238E27FC236}">
                <a16:creationId xmlns:a16="http://schemas.microsoft.com/office/drawing/2014/main" id="{A7E8B7FB-8D99-41FD-B35B-234C749EC237}"/>
              </a:ext>
            </a:extLst>
          </p:cNvPr>
          <p:cNvSpPr>
            <a:spLocks xmlns:a="http://schemas.openxmlformats.org/drawingml/2006/main" noGrp="1"/>
          </p:cNvSpPr>
          <p:nvPr/>
        </p:nvSpPr>
        <p:spPr>
          <a:xfrm xmlns:a="http://schemas.openxmlformats.org/drawingml/2006/main" flipV="1">
            <a:off x="5829300" y="3285491"/>
            <a:ext cx="0" cy="43815"/>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fig1-edge7-3">
            <a:extLst xmlns:a="http://schemas.openxmlformats.org/drawingml/2006/main">
              <a:ext uri="{FF2B5EF4-FFF2-40B4-BE49-F238E27FC236}">
                <a16:creationId xmlns:a16="http://schemas.microsoft.com/office/drawing/2014/main" id="{4471CC2B-D35A-4E35-830F-BE1A7E629A92}"/>
              </a:ext>
            </a:extLst>
          </p:cNvPr>
          <p:cNvSpPr>
            <a:spLocks xmlns:a="http://schemas.openxmlformats.org/drawingml/2006/main" noGrp="1"/>
          </p:cNvSpPr>
          <p:nvPr/>
        </p:nvSpPr>
        <p:spPr>
          <a:xfrm xmlns:a="http://schemas.openxmlformats.org/drawingml/2006/main">
            <a:off x="5829300" y="3285490"/>
            <a:ext cx="18415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1" name="fig1-edge8-1">
            <a:extLst xmlns:a="http://schemas.openxmlformats.org/drawingml/2006/main">
              <a:ext uri="{FF2B5EF4-FFF2-40B4-BE49-F238E27FC236}">
                <a16:creationId xmlns:a16="http://schemas.microsoft.com/office/drawing/2014/main" id="{8DA49B01-0828-4EDF-97E9-FB40424C57B2}"/>
              </a:ext>
            </a:extLst>
          </p:cNvPr>
          <p:cNvSpPr>
            <a:spLocks xmlns:a="http://schemas.openxmlformats.org/drawingml/2006/main" noGrp="1"/>
          </p:cNvSpPr>
          <p:nvPr/>
        </p:nvSpPr>
        <p:spPr>
          <a:xfrm xmlns:a="http://schemas.openxmlformats.org/drawingml/2006/main">
            <a:off x="3924300" y="3627247"/>
            <a:ext cx="15875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fig1-edge8-2">
            <a:extLst xmlns:a="http://schemas.openxmlformats.org/drawingml/2006/main">
              <a:ext uri="{FF2B5EF4-FFF2-40B4-BE49-F238E27FC236}">
                <a16:creationId xmlns:a16="http://schemas.microsoft.com/office/drawing/2014/main" id="{85200C02-FFD9-44E5-8F1D-5B069FCC20C5}"/>
              </a:ext>
            </a:extLst>
          </p:cNvPr>
          <p:cNvSpPr>
            <a:spLocks xmlns:a="http://schemas.openxmlformats.org/drawingml/2006/main" noGrp="1"/>
          </p:cNvSpPr>
          <p:nvPr/>
        </p:nvSpPr>
        <p:spPr>
          <a:xfrm xmlns:a="http://schemas.openxmlformats.org/drawingml/2006/main">
            <a:off x="5511800" y="3627247"/>
            <a:ext cx="0" cy="648462"/>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fig1-edge8-3">
            <a:extLst xmlns:a="http://schemas.openxmlformats.org/drawingml/2006/main">
              <a:ext uri="{FF2B5EF4-FFF2-40B4-BE49-F238E27FC236}">
                <a16:creationId xmlns:a16="http://schemas.microsoft.com/office/drawing/2014/main" id="{45942E4E-3B68-46B4-BDB4-3EB12D846741}"/>
              </a:ext>
            </a:extLst>
          </p:cNvPr>
          <p:cNvSpPr>
            <a:spLocks xmlns:a="http://schemas.openxmlformats.org/drawingml/2006/main" noGrp="1"/>
          </p:cNvSpPr>
          <p:nvPr/>
        </p:nvSpPr>
        <p:spPr>
          <a:xfrm xmlns:a="http://schemas.openxmlformats.org/drawingml/2006/main">
            <a:off x="5511800" y="4275709"/>
            <a:ext cx="21590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p:nvGraphicFramePr>
          <p:cNvPr id="58" name="表格 33"/>
          <p:cNvGraphicFramePr/>
          <p:nvPr/>
        </p:nvGraphicFramePr>
        <p:xfrm>
          <a:off xmlns:a="http://schemas.openxmlformats.org/drawingml/2006/main" x="622300" y="4686300"/>
          <a:ext xmlns:a="http://schemas.openxmlformats.org/drawingml/2006/main" cx="10922000" cy="1193799"/>
        </p:xfrm>
        <a:graphic xmlns:a="http://schemas.openxmlformats.org/drawingml/2006/main">
          <a:graphicData uri="http://schemas.openxmlformats.org/drawingml/2006/table">
            <a:tbl>
              <a:tblPr firstRow="1" bandRow="1">
                <a:tableStyleId>{5C22544A-7EE6-4342-B048-85BDC9FD1C3A}</a:tableStyleId>
              </a:tblPr>
              <a:tblGrid>
                <a:gridCol w="2413000"/>
                <a:gridCol w="4191000"/>
                <a:gridCol w="4318000"/>
              </a:tblGrid>
              <a:tr h="397933">
                <a:tc>
                  <a:txBody>
                    <a:bodyPr/>
                    <a:lstStyle/>
                    <a:p>
                      <a:r>
                        <a:rPr sz="1400" b="1">
                          <a:solidFill>
                            <a:srgbClr val="FFFFFF"/>
                          </a:solidFill>
                          <a:latin typeface="Microsoft YaHei"/>
                          <a:ea typeface="Microsoft YaHei"/>
                          <a:cs typeface="Microsoft YaHei"/>
                        </a:rPr>
                        <a:t>文献版本示例</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LS</a:t>
                      </a:r>
                      <a:r>
                        <a:rPr sz="1400" b="1">
                          <a:solidFill>
                            <a:srgbClr val="FFFFFF"/>
                          </a:solidFill>
                          <a:latin typeface="Microsoft YaHei"/>
                          <a:ea typeface="Microsoft YaHei"/>
                          <a:cs typeface="Microsoft YaHei"/>
                        </a:rPr>
                        <a:t>：</a:t>
                      </a:r>
                      <a:r>
                        <a:rPr sz="1400" b="1">
                          <a:solidFill>
                            <a:srgbClr val="FFFFFF"/>
                          </a:solidFill>
                          <a:latin typeface="Microsoft YaHei"/>
                          <a:ea typeface="Microsoft YaHei"/>
                          <a:cs typeface="Microsoft YaHei"/>
                        </a:rPr>
                        <a:t>White—Soman</a:t>
                      </a:r>
                      <a:r>
                        <a:rPr sz="1400" b="1">
                          <a:solidFill>
                            <a:srgbClr val="FFFFFF"/>
                          </a:solidFill>
                          <a:latin typeface="Microsoft YaHei"/>
                          <a:ea typeface="Microsoft YaHei"/>
                          <a:cs typeface="Microsoft YaHei"/>
                        </a:rPr>
                        <a:t>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Park 2017：Proposed+Plot</a:t>
                      </a:r>
                      <a:endParaRPr sz="1400" b="1">
                        <a:solidFill>
                          <a:srgbClr val="FFFFFF"/>
                        </a:solidFill>
                        <a:latin typeface="Microsoft YaHei"/>
                        <a:ea typeface="Microsoft YaHei"/>
                        <a:cs typeface="Microsoft YaHei"/>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397933">
                <a:tc>
                  <a:txBody>
                    <a:bodyPr/>
                    <a:lstStyle/>
                    <a:p>
                      <a:r>
                        <a:rPr sz="1400" b="0">
                          <a:solidFill>
                            <a:srgbClr val="000000"/>
                          </a:solidFill>
                          <a:latin typeface="Microsoft YaHei"/>
                          <a:ea typeface="Microsoft YaHei"/>
                          <a:cs typeface="Microsoft YaHei"/>
                        </a:rPr>
                        <a:t>绘图分数</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对数</a:t>
                      </a:r>
                      <a:r>
                        <a:rPr sz="1400" b="0">
                          <a:solidFill>
                            <a:srgbClr val="000000"/>
                          </a:solidFill>
                          <a:latin typeface="Microsoft YaHei"/>
                          <a:ea typeface="Microsoft YaHei"/>
                          <a:cs typeface="Microsoft YaHei"/>
                        </a:rPr>
                        <a:t>Weibull</a:t>
                      </a:r>
                      <a:r>
                        <a:rPr sz="1400" b="0">
                          <a:solidFill>
                            <a:srgbClr val="000000"/>
                          </a:solidFill>
                          <a:latin typeface="Microsoft YaHei"/>
                          <a:ea typeface="Microsoft YaHei"/>
                          <a:cs typeface="Microsoft YaHei"/>
                        </a:rPr>
                        <a:t>次序统计量期望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按n分段的绘图概率，经双对数变换</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397933">
                <a:tc>
                  <a:txBody>
                    <a:bodyPr/>
                    <a:lstStyle/>
                    <a:p>
                      <a:r>
                        <a:rPr sz="1400" b="0">
                          <a:solidFill>
                            <a:srgbClr val="000000"/>
                          </a:solidFill>
                          <a:latin typeface="Microsoft YaHei"/>
                          <a:ea typeface="Microsoft YaHei"/>
                          <a:cs typeface="Microsoft YaHei"/>
                        </a:rPr>
                        <a:t>回归与形状恢复</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x = a + bz</a:t>
                      </a:r>
                      <a:r>
                        <a:rPr sz="1400" b="0">
                          <a:solidFill>
                            <a:srgbClr val="000000"/>
                          </a:solidFill>
                          <a:latin typeface="Microsoft YaHei"/>
                          <a:ea typeface="Microsoft YaHei"/>
                          <a:cs typeface="Microsoft YaHei"/>
                        </a:rPr>
                        <a:t>，</a:t>
                      </a:r>
                      <a:r>
                        <a:rPr sz="1400" b="0">
                          <a:solidFill>
                            <a:srgbClr val="000000"/>
                          </a:solidFill>
                          <a:latin typeface="Microsoft YaHei"/>
                          <a:ea typeface="Microsoft YaHei"/>
                          <a:cs typeface="Microsoft YaHei"/>
                        </a:rPr>
                        <a:t>β̂ = 1/b</a:t>
                      </a:r>
                      <a:endParaRPr sz="1400" b="0">
                        <a:solidFill>
                          <a:srgbClr val="000000"/>
                        </a:solidFill>
                        <a:latin typeface="Microsoft YaHei"/>
                        <a:ea typeface="Microsoft YaHei"/>
                        <a:cs typeface="Microsoft YaHei"/>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z = a + bx</a:t>
                      </a:r>
                      <a:r>
                        <a:rPr sz="1400" b="0">
                          <a:solidFill>
                            <a:srgbClr val="000000"/>
                          </a:solidFill>
                          <a:latin typeface="Microsoft YaHei"/>
                          <a:ea typeface="Microsoft YaHei"/>
                          <a:cs typeface="Microsoft YaHei"/>
                        </a:rPr>
                        <a:t>，</a:t>
                      </a:r>
                      <a:r>
                        <a:rPr sz="1400" b="0">
                          <a:solidFill>
                            <a:srgbClr val="000000"/>
                          </a:solidFill>
                          <a:latin typeface="Microsoft YaHei"/>
                          <a:ea typeface="Microsoft YaHei"/>
                          <a:cs typeface="Microsoft YaHei"/>
                        </a:rPr>
                        <a:t>β̂ = b</a:t>
                      </a:r>
                      <a:endParaRPr sz="1400" b="0">
                        <a:solidFill>
                          <a:srgbClr val="000000"/>
                        </a:solidFill>
                        <a:latin typeface="Microsoft YaHei"/>
                        <a:ea typeface="Microsoft YaHei"/>
                        <a:cs typeface="Microsoft YaHei"/>
                      </a:endParaRP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
        <p:nvSpPr>
          <p:cNvPr id="35" name="文本框 34">
            <a:extLst xmlns:a="http://schemas.openxmlformats.org/drawingml/2006/main">
              <a:ext uri="{FF2B5EF4-FFF2-40B4-BE49-F238E27FC236}">
                <a16:creationId xmlns:a16="http://schemas.microsoft.com/office/drawing/2014/main" id="{F4F7D4B8-3B61-04B5-DD2E-2EC108C8B53D}"/>
              </a:ext>
            </a:extLst>
          </p:cNvPr>
          <p:cNvSpPr>
            <a:spLocks xmlns:a="http://schemas.openxmlformats.org/drawingml/2006/main" noGrp="1"/>
          </p:cNvSpPr>
          <p:nvPr/>
        </p:nvSpPr>
        <p:spPr>
          <a:xfrm xmlns:a="http://schemas.openxmlformats.org/drawingml/2006/main">
            <a:off x="622300" y="5969000"/>
            <a:ext cx="10922000" cy="254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r>
              <a:rPr sz="1300">
                <a:solidFill>
                  <a:srgbClr val="2F6096"/>
                </a:solidFill>
                <a:latin typeface="Microsoft YaHei"/>
                <a:ea typeface="Microsoft YaHei"/>
                <a:cs typeface="Microsoft YaHei"/>
              </a:rPr>
              <a:t>x</a:t>
            </a:r>
            <a:r>
              <a:rPr sz="1300">
                <a:solidFill>
                  <a:srgbClr val="2F6096"/>
                </a:solidFill>
                <a:latin typeface="Microsoft YaHei"/>
                <a:ea typeface="Microsoft YaHei"/>
                <a:cs typeface="Microsoft YaHei"/>
              </a:rPr>
              <a:t>为对数寿命，</a:t>
            </a:r>
            <a:r>
              <a:rPr sz="1300">
                <a:solidFill>
                  <a:srgbClr val="2F6096"/>
                </a:solidFill>
                <a:latin typeface="Microsoft YaHei"/>
                <a:ea typeface="Microsoft YaHei"/>
                <a:cs typeface="Microsoft YaHei"/>
              </a:rPr>
              <a:t>z</a:t>
            </a:r>
            <a:r>
              <a:rPr sz="1300">
                <a:solidFill>
                  <a:srgbClr val="2F6096"/>
                </a:solidFill>
                <a:latin typeface="Microsoft YaHei"/>
                <a:ea typeface="Microsoft YaHei"/>
                <a:cs typeface="Microsoft YaHei"/>
              </a:rPr>
              <a:t>为绘图分数。同一分数与带截距</a:t>
            </a:r>
            <a:r>
              <a:rPr sz="1300">
                <a:solidFill>
                  <a:srgbClr val="2F6096"/>
                </a:solidFill>
                <a:latin typeface="Microsoft YaHei"/>
                <a:ea typeface="Microsoft YaHei"/>
                <a:cs typeface="Microsoft YaHei"/>
              </a:rPr>
              <a:t>OLS</a:t>
            </a:r>
            <a:r>
              <a:rPr sz="1300">
                <a:solidFill>
                  <a:srgbClr val="2F6096"/>
                </a:solidFill>
                <a:latin typeface="Microsoft YaHei"/>
                <a:ea typeface="Microsoft YaHei"/>
                <a:cs typeface="Microsoft YaHei"/>
              </a:rPr>
              <a:t>下，</a:t>
            </a:r>
            <a:r>
              <a:rPr sz="1300">
                <a:solidFill>
                  <a:srgbClr val="2F6096"/>
                </a:solidFill>
                <a:latin typeface="Microsoft YaHei"/>
                <a:ea typeface="Microsoft YaHei"/>
                <a:cs typeface="Microsoft YaHei"/>
              </a:rPr>
              <a:t>F</a:t>
            </a:r>
            <a:r>
              <a:rPr sz="1300">
                <a:solidFill>
                  <a:srgbClr val="2F6096"/>
                </a:solidFill>
                <a:latin typeface="Microsoft YaHei"/>
                <a:ea typeface="Microsoft YaHei"/>
                <a:cs typeface="Microsoft YaHei"/>
              </a:rPr>
              <a:t>比与相关系数平方单调等价。</a:t>
            </a:r>
          </a:p>
        </p:txBody>
      </p:sp>
      <p:sp>
        <p:nvSpPr>
          <p:cNvPr id="36" name="文本框 35">
            <a:extLst xmlns:a="http://schemas.openxmlformats.org/drawingml/2006/main">
              <a:ext uri="{FF2B5EF4-FFF2-40B4-BE49-F238E27FC236}">
                <a16:creationId xmlns:a16="http://schemas.microsoft.com/office/drawing/2014/main" id="{9F3EF18D-7F11-027F-6E7A-60212C24DFF2}"/>
              </a:ext>
            </a:extLst>
          </p:cNvPr>
          <p:cNvSpPr>
            <a:spLocks xmlns:a="http://schemas.openxmlformats.org/drawingml/2006/main" noGrp="1"/>
          </p:cNvSpPr>
          <p:nvPr/>
        </p:nvSpPr>
        <p:spPr>
          <a:xfrm xmlns:a="http://schemas.openxmlformats.org/drawingml/2006/main">
            <a:off x="622300" y="6286500"/>
            <a:ext cx="10922000" cy="2286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defRPr sz="1200">
                <a:solidFill>
                  <a:srgbClr val="2F6096"/>
                </a:solidFill>
                <a:latin typeface="Microsoft YaHei"/>
                <a:ea typeface="Microsoft YaHei"/>
                <a:cs typeface="Microsoft YaHei"/>
              </a:defRPr>
            </a:pPr>
            <a:r>
              <a:rPr sz="1200">
                <a:solidFill>
                  <a:srgbClr val="2F6096"/>
                </a:solidFill>
                <a:latin typeface="Microsoft YaHei"/>
                <a:ea typeface="Microsoft YaHei"/>
                <a:cs typeface="Microsoft YaHei"/>
              </a:rPr>
              <a:t>Park保留原绘图位置和位置域；Bernard分数是另一个变体。来源见报告§1.3。</a:t>
            </a:r>
          </a:p>
        </p:txBody>
      </p:sp>
    </p:spTree>
    <p:extLst>
      <p:ext uri="{BB962C8B-B14F-4D97-AF65-F5344CB8AC3E}">
        <p14:creationId xmlns:p14="http://schemas.microsoft.com/office/powerpoint/2010/main" val="135581498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C  </a:t>
            </a:r>
            <a:r>
              <a:rPr sz="2400" b="1" spc="-150">
                <a:solidFill>
                  <a:srgbClr val="FFFFFF"/>
                </a:solidFill>
                <a:latin typeface="汉仪文润宋韵 U"/>
                <a:ea typeface="汉仪文润宋韵 U"/>
                <a:cs typeface="汉仪文润宋韵 U"/>
              </a:rPr>
              <a:t>改用统计量、间距或构造差异</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已有方法及其发展关系</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01</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15A7D3A0-D900-C788-4169-A5B9277F249C}"/>
              </a:ext>
            </a:extLst>
          </p:cNvPr>
          <p:cNvSpPr>
            <a:spLocks xmlns:a="http://schemas.openxmlformats.org/drawingml/2006/main" noGrp="1"/>
          </p:cNvSpPr>
          <p:nvPr/>
        </p:nvSpPr>
        <p:spPr>
          <a:xfrm xmlns:a="http://schemas.openxmlformats.org/drawingml/2006/main">
            <a:off x="622300" y="1638300"/>
            <a:ext cx="10922000" cy="4064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t">
            <a:noAutofit/>
          </a:bodyPr>
          <a:lstStyle xmlns:a="http://schemas.openxmlformats.org/drawingml/2006/main"/>
          <a:p xmlns:a="http://schemas.openxmlformats.org/drawingml/2006/main">
            <a:pPr>
              <a:lnSpc>
                <a:spcPts val="2006"/>
              </a:lnSpc>
              <a:buNone/>
            </a:pPr>
            <a:r>
              <a:rPr sz="1700">
                <a:solidFill>
                  <a:srgbClr val="2F6096"/>
                </a:solidFill>
                <a:latin typeface="Microsoft YaHei"/>
                <a:ea typeface="Microsoft YaHei"/>
                <a:cs typeface="Microsoft YaHei"/>
              </a:rPr>
              <a:t>这三支分别采用统计量匹配、概率间距和尺度伪估计差异作为估计依据。</a:t>
            </a:r>
          </a:p>
        </p:txBody>
      </p:sp>
      <p:sp>
        <p:nvSpPr>
          <p:cNvPr id="10" name="fig1-pwm">
            <a:extLst xmlns:a="http://schemas.openxmlformats.org/drawingml/2006/main">
              <a:ext uri="{FF2B5EF4-FFF2-40B4-BE49-F238E27FC236}">
                <a16:creationId xmlns:a16="http://schemas.microsoft.com/office/drawing/2014/main" id="{8F6A1F28-3F96-720B-92D4-29EDB54A21C1}"/>
              </a:ext>
            </a:extLst>
          </p:cNvPr>
          <p:cNvSpPr>
            <a:spLocks xmlns:a="http://schemas.openxmlformats.org/drawingml/2006/main" noGrp="1"/>
          </p:cNvSpPr>
          <p:nvPr/>
        </p:nvSpPr>
        <p:spPr>
          <a:xfrm xmlns:a="http://schemas.openxmlformats.org/drawingml/2006/main">
            <a:off x="622300" y="2209800"/>
            <a:ext cx="3556000" cy="812800"/>
          </a:xfrm>
          <a:prstGeom xmlns:a="http://schemas.openxmlformats.org/drawingml/2006/main" prst="roundRect">
            <a:avLst>
              <a:gd name="adj" fmla="val 7000"/>
            </a:avLst>
          </a:prstGeom>
          <a:solidFill xmlns:a="http://schemas.openxmlformats.org/drawingml/2006/main">
            <a:srgbClr val="EAF0F6"/>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PWM </a:t>
            </a:r>
            <a:r>
              <a:rPr sz="1700">
                <a:solidFill>
                  <a:srgbClr val="203040"/>
                </a:solidFill>
                <a:latin typeface="Microsoft YaHei"/>
                <a:ea typeface="Microsoft YaHei"/>
                <a:cs typeface="Microsoft YaHei"/>
              </a:rPr>
              <a:t>概率加权矩</a:t>
            </a:r>
          </a:p>
          <a:p xmlns:a="http://schemas.openxmlformats.org/drawingml/2006/main">
            <a:pPr algn="ctr">
              <a:lnSpc>
                <a:spcPts val="2006"/>
              </a:lnSpc>
              <a:buNone/>
            </a:pPr>
            <a:r>
              <a:rPr sz="1700">
                <a:solidFill>
                  <a:srgbClr val="203040"/>
                </a:solidFill>
                <a:latin typeface="Microsoft YaHei"/>
                <a:ea typeface="Microsoft YaHei"/>
                <a:cs typeface="Microsoft YaHei"/>
              </a:rPr>
              <a:t>Greenwood</a:t>
            </a:r>
            <a:r>
              <a:rPr sz="1700">
                <a:solidFill>
                  <a:srgbClr val="203040"/>
                </a:solidFill>
                <a:latin typeface="Microsoft YaHei"/>
                <a:ea typeface="Microsoft YaHei"/>
                <a:cs typeface="Microsoft YaHei"/>
              </a:rPr>
              <a:t>等 </a:t>
            </a:r>
            <a:r>
              <a:rPr sz="1700">
                <a:solidFill>
                  <a:srgbClr val="203040"/>
                </a:solidFill>
                <a:latin typeface="Microsoft YaHei"/>
                <a:ea typeface="Microsoft YaHei"/>
                <a:cs typeface="Microsoft YaHei"/>
              </a:rPr>
              <a:t>· 1979</a:t>
            </a:r>
            <a:endParaRPr sz="1700">
              <a:solidFill>
                <a:srgbClr val="203040"/>
              </a:solidFill>
              <a:latin typeface="Microsoft YaHei"/>
              <a:ea typeface="Microsoft YaHei"/>
              <a:cs typeface="Microsoft YaHei"/>
            </a:endParaRPr>
          </a:p>
        </p:txBody>
      </p:sp>
      <p:sp>
        <p:nvSpPr>
          <p:cNvPr id="14" name="fig1-lm">
            <a:extLst xmlns:a="http://schemas.openxmlformats.org/drawingml/2006/main">
              <a:ext uri="{FF2B5EF4-FFF2-40B4-BE49-F238E27FC236}">
                <a16:creationId xmlns:a16="http://schemas.microsoft.com/office/drawing/2014/main" id="{79657A67-AAA1-E8B8-BBAB-E8676A07F1B4}"/>
              </a:ext>
            </a:extLst>
          </p:cNvPr>
          <p:cNvSpPr>
            <a:spLocks xmlns:a="http://schemas.openxmlformats.org/drawingml/2006/main" noGrp="1"/>
          </p:cNvSpPr>
          <p:nvPr/>
        </p:nvSpPr>
        <p:spPr>
          <a:xfrm xmlns:a="http://schemas.openxmlformats.org/drawingml/2006/main">
            <a:off x="7670800" y="2209800"/>
            <a:ext cx="3873500" cy="8128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LM L</a:t>
            </a:r>
            <a:r>
              <a:rPr sz="1700">
                <a:solidFill>
                  <a:srgbClr val="203040"/>
                </a:solidFill>
                <a:latin typeface="Microsoft YaHei"/>
                <a:ea typeface="Microsoft YaHei"/>
                <a:cs typeface="Microsoft YaHei"/>
              </a:rPr>
              <a:t>矩估计</a:t>
            </a:r>
          </a:p>
          <a:p xmlns:a="http://schemas.openxmlformats.org/drawingml/2006/main">
            <a:pPr algn="ctr">
              <a:lnSpc>
                <a:spcPts val="2006"/>
              </a:lnSpc>
              <a:buNone/>
            </a:pPr>
            <a:r>
              <a:rPr sz="1700">
                <a:solidFill>
                  <a:srgbClr val="203040"/>
                </a:solidFill>
                <a:latin typeface="Microsoft YaHei"/>
                <a:ea typeface="Microsoft YaHei"/>
                <a:cs typeface="Microsoft YaHei"/>
              </a:rPr>
              <a:t>Hosking · 1990</a:t>
            </a:r>
            <a:endParaRPr sz="1700">
              <a:solidFill>
                <a:srgbClr val="203040"/>
              </a:solidFill>
              <a:latin typeface="Microsoft YaHei"/>
              <a:ea typeface="Microsoft YaHei"/>
              <a:cs typeface="Microsoft YaHei"/>
            </a:endParaRPr>
          </a:p>
        </p:txBody>
      </p:sp>
      <p:sp>
        <p:nvSpPr>
          <p:cNvPr id="15" name="fig1-boundary">
            <a:extLst xmlns:a="http://schemas.openxmlformats.org/drawingml/2006/main">
              <a:ext uri="{FF2B5EF4-FFF2-40B4-BE49-F238E27FC236}">
                <a16:creationId xmlns:a16="http://schemas.microsoft.com/office/drawing/2014/main" id="{7068ACF1-1F3E-F83A-8143-3AE0A34E1B55}"/>
              </a:ext>
            </a:extLst>
          </p:cNvPr>
          <p:cNvSpPr>
            <a:spLocks xmlns:a="http://schemas.openxmlformats.org/drawingml/2006/main" noGrp="1"/>
          </p:cNvSpPr>
          <p:nvPr/>
        </p:nvSpPr>
        <p:spPr>
          <a:xfrm xmlns:a="http://schemas.openxmlformats.org/drawingml/2006/main">
            <a:off x="622300" y="3378200"/>
            <a:ext cx="3556000" cy="8128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原始似然的边界困难</a:t>
            </a:r>
          </a:p>
        </p:txBody>
      </p:sp>
      <p:sp>
        <p:nvSpPr>
          <p:cNvPr id="16" name="fig1-mps">
            <a:extLst xmlns:a="http://schemas.openxmlformats.org/drawingml/2006/main">
              <a:ext uri="{FF2B5EF4-FFF2-40B4-BE49-F238E27FC236}">
                <a16:creationId xmlns:a16="http://schemas.microsoft.com/office/drawing/2014/main" id="{F9B87335-C6B8-E869-E904-C4FCC2939D7E}"/>
              </a:ext>
            </a:extLst>
          </p:cNvPr>
          <p:cNvSpPr>
            <a:spLocks xmlns:a="http://schemas.openxmlformats.org/drawingml/2006/main" noGrp="1"/>
          </p:cNvSpPr>
          <p:nvPr/>
        </p:nvSpPr>
        <p:spPr>
          <a:xfrm xmlns:a="http://schemas.openxmlformats.org/drawingml/2006/main">
            <a:off x="7670800" y="3378200"/>
            <a:ext cx="3873500" cy="8128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MPS </a:t>
            </a:r>
            <a:r>
              <a:rPr sz="1700">
                <a:solidFill>
                  <a:srgbClr val="203040"/>
                </a:solidFill>
                <a:latin typeface="Microsoft YaHei"/>
                <a:ea typeface="Microsoft YaHei"/>
                <a:cs typeface="Microsoft YaHei"/>
              </a:rPr>
              <a:t>最大乘积间距估计</a:t>
            </a:r>
          </a:p>
          <a:p xmlns:a="http://schemas.openxmlformats.org/drawingml/2006/main">
            <a:pPr algn="ctr">
              <a:lnSpc>
                <a:spcPts val="2006"/>
              </a:lnSpc>
              <a:buNone/>
            </a:pPr>
            <a:r>
              <a:rPr sz="1700">
                <a:solidFill>
                  <a:srgbClr val="203040"/>
                </a:solidFill>
                <a:latin typeface="Microsoft YaHei"/>
                <a:ea typeface="Microsoft YaHei"/>
                <a:cs typeface="Microsoft YaHei"/>
              </a:rPr>
              <a:t>Cheng &amp; Amin · 1983</a:t>
            </a:r>
            <a:endParaRPr sz="1700">
              <a:solidFill>
                <a:srgbClr val="203040"/>
              </a:solidFill>
              <a:latin typeface="Microsoft YaHei"/>
              <a:ea typeface="Microsoft YaHei"/>
              <a:cs typeface="Microsoft YaHei"/>
            </a:endParaRPr>
          </a:p>
        </p:txBody>
      </p:sp>
      <p:sp>
        <p:nvSpPr>
          <p:cNvPr id="17" name="fig1-cdf">
            <a:extLst xmlns:a="http://schemas.openxmlformats.org/drawingml/2006/main">
              <a:ext uri="{FF2B5EF4-FFF2-40B4-BE49-F238E27FC236}">
                <a16:creationId xmlns:a16="http://schemas.microsoft.com/office/drawing/2014/main" id="{76486402-F8C3-1669-77B5-09F0CAB966C1}"/>
              </a:ext>
            </a:extLst>
          </p:cNvPr>
          <p:cNvSpPr>
            <a:spLocks xmlns:a="http://schemas.openxmlformats.org/drawingml/2006/main" noGrp="1"/>
          </p:cNvSpPr>
          <p:nvPr/>
        </p:nvSpPr>
        <p:spPr>
          <a:xfrm xmlns:a="http://schemas.openxmlformats.org/drawingml/2006/main">
            <a:off x="622300" y="4546600"/>
            <a:ext cx="3556000" cy="8128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样本＋分布概率关系</a:t>
            </a:r>
          </a:p>
        </p:txBody>
      </p:sp>
      <p:sp>
        <p:nvSpPr>
          <p:cNvPr id="18" name="fig1-mdm">
            <a:extLst xmlns:a="http://schemas.openxmlformats.org/drawingml/2006/main">
              <a:ext uri="{FF2B5EF4-FFF2-40B4-BE49-F238E27FC236}">
                <a16:creationId xmlns:a16="http://schemas.microsoft.com/office/drawing/2014/main" id="{A8026710-239E-5E15-6502-5B237C7F989E}"/>
              </a:ext>
            </a:extLst>
          </p:cNvPr>
          <p:cNvSpPr>
            <a:spLocks xmlns:a="http://schemas.openxmlformats.org/drawingml/2006/main" noGrp="1"/>
          </p:cNvSpPr>
          <p:nvPr/>
        </p:nvSpPr>
        <p:spPr>
          <a:xfrm xmlns:a="http://schemas.openxmlformats.org/drawingml/2006/main">
            <a:off x="7670800" y="4546600"/>
            <a:ext cx="3873500" cy="8128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2006"/>
              </a:lnSpc>
              <a:buNone/>
            </a:pPr>
            <a:r>
              <a:rPr sz="1700">
                <a:solidFill>
                  <a:srgbClr val="203040"/>
                </a:solidFill>
                <a:latin typeface="Microsoft YaHei"/>
                <a:ea typeface="Microsoft YaHei"/>
                <a:cs typeface="Microsoft YaHei"/>
              </a:rPr>
              <a:t>MDM </a:t>
            </a:r>
            <a:r>
              <a:rPr sz="1700">
                <a:solidFill>
                  <a:srgbClr val="203040"/>
                </a:solidFill>
                <a:latin typeface="Microsoft YaHei"/>
                <a:ea typeface="Microsoft YaHei"/>
                <a:cs typeface="Microsoft YaHei"/>
              </a:rPr>
              <a:t>最小差异法</a:t>
            </a:r>
          </a:p>
          <a:p xmlns:a="http://schemas.openxmlformats.org/drawingml/2006/main">
            <a:pPr algn="ctr">
              <a:lnSpc>
                <a:spcPts val="2006"/>
              </a:lnSpc>
              <a:buNone/>
            </a:pPr>
            <a:r>
              <a:rPr sz="1700">
                <a:solidFill>
                  <a:srgbClr val="203040"/>
                </a:solidFill>
                <a:latin typeface="Microsoft YaHei"/>
                <a:ea typeface="Microsoft YaHei"/>
                <a:cs typeface="Microsoft YaHei"/>
              </a:rPr>
              <a:t>Xie</a:t>
            </a:r>
            <a:r>
              <a:rPr sz="1700">
                <a:solidFill>
                  <a:srgbClr val="203040"/>
                </a:solidFill>
                <a:latin typeface="Microsoft YaHei"/>
                <a:ea typeface="Microsoft YaHei"/>
                <a:cs typeface="Microsoft YaHei"/>
              </a:rPr>
              <a:t>等 </a:t>
            </a:r>
            <a:r>
              <a:rPr sz="1700">
                <a:solidFill>
                  <a:srgbClr val="203040"/>
                </a:solidFill>
                <a:latin typeface="Microsoft YaHei"/>
                <a:ea typeface="Microsoft YaHei"/>
                <a:cs typeface="Microsoft YaHei"/>
              </a:rPr>
              <a:t>· 2022/2023</a:t>
            </a:r>
            <a:endParaRPr sz="1700">
              <a:solidFill>
                <a:srgbClr val="203040"/>
              </a:solidFill>
              <a:latin typeface="Microsoft YaHei"/>
              <a:ea typeface="Microsoft YaHei"/>
              <a:cs typeface="Microsoft YaHei"/>
            </a:endParaRPr>
          </a:p>
        </p:txBody>
      </p:sp>
      <p:sp>
        <p:nvSpPr>
          <p:cNvPr id="19" name="fig1-text_edge9">
            <a:extLst xmlns:a="http://schemas.openxmlformats.org/drawingml/2006/main">
              <a:ext uri="{FF2B5EF4-FFF2-40B4-BE49-F238E27FC236}">
                <a16:creationId xmlns:a16="http://schemas.microsoft.com/office/drawing/2014/main" id="{2FE5EADD-ADFB-A8B8-0F8A-2B8E9D08ED75}"/>
              </a:ext>
            </a:extLst>
          </p:cNvPr>
          <p:cNvSpPr>
            <a:spLocks xmlns:a="http://schemas.openxmlformats.org/drawingml/2006/main" noGrp="1"/>
          </p:cNvSpPr>
          <p:nvPr/>
        </p:nvSpPr>
        <p:spPr>
          <a:xfrm xmlns:a="http://schemas.openxmlformats.org/drawingml/2006/main">
            <a:off x="4597400" y="2057400"/>
            <a:ext cx="2730500" cy="5461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770"/>
              </a:lnSpc>
              <a:buNone/>
            </a:pPr>
            <a:r>
              <a:rPr sz="1500">
                <a:solidFill>
                  <a:srgbClr val="304559"/>
                </a:solidFill>
                <a:latin typeface="Microsoft YaHei"/>
                <a:ea typeface="Microsoft YaHei"/>
                <a:cs typeface="Microsoft YaHei"/>
              </a:rPr>
              <a:t>线性组合</a:t>
            </a:r>
          </a:p>
          <a:p xmlns:a="http://schemas.openxmlformats.org/drawingml/2006/main">
            <a:pPr algn="ctr">
              <a:lnSpc>
                <a:spcPts val="1770"/>
              </a:lnSpc>
              <a:buNone/>
            </a:pPr>
            <a:r>
              <a:rPr sz="1500">
                <a:solidFill>
                  <a:srgbClr val="304559"/>
                </a:solidFill>
                <a:latin typeface="Microsoft YaHei"/>
                <a:ea typeface="Microsoft YaHei"/>
                <a:cs typeface="Microsoft YaHei"/>
              </a:rPr>
              <a:t>L</a:t>
            </a:r>
            <a:r>
              <a:rPr sz="1500">
                <a:solidFill>
                  <a:srgbClr val="304559"/>
                </a:solidFill>
                <a:latin typeface="Microsoft YaHei"/>
                <a:ea typeface="Microsoft YaHei"/>
                <a:cs typeface="Microsoft YaHei"/>
              </a:rPr>
              <a:t>矩匹配</a:t>
            </a:r>
          </a:p>
        </p:txBody>
      </p:sp>
      <p:sp>
        <p:nvSpPr>
          <p:cNvPr id="20" name="fig1-text_edge10">
            <a:extLst xmlns:a="http://schemas.openxmlformats.org/drawingml/2006/main">
              <a:ext uri="{FF2B5EF4-FFF2-40B4-BE49-F238E27FC236}">
                <a16:creationId xmlns:a16="http://schemas.microsoft.com/office/drawing/2014/main" id="{21C0CC91-0314-A0B8-A849-4FA030309BE7}"/>
              </a:ext>
            </a:extLst>
          </p:cNvPr>
          <p:cNvSpPr>
            <a:spLocks xmlns:a="http://schemas.openxmlformats.org/drawingml/2006/main" noGrp="1"/>
          </p:cNvSpPr>
          <p:nvPr/>
        </p:nvSpPr>
        <p:spPr>
          <a:xfrm xmlns:a="http://schemas.openxmlformats.org/drawingml/2006/main">
            <a:off x="4597400" y="3327400"/>
            <a:ext cx="2730500" cy="4445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770"/>
              </a:lnSpc>
              <a:buNone/>
            </a:pPr>
            <a:r>
              <a:rPr sz="1500">
                <a:solidFill>
                  <a:srgbClr val="304559"/>
                </a:solidFill>
                <a:latin typeface="Microsoft YaHei"/>
                <a:ea typeface="Microsoft YaHei"/>
                <a:cs typeface="Microsoft YaHei"/>
              </a:rPr>
              <a:t>改用间距乘积</a:t>
            </a:r>
          </a:p>
        </p:txBody>
      </p:sp>
      <p:sp>
        <p:nvSpPr>
          <p:cNvPr id="21" name="fig1-text_edge11">
            <a:extLst xmlns:a="http://schemas.openxmlformats.org/drawingml/2006/main">
              <a:ext uri="{FF2B5EF4-FFF2-40B4-BE49-F238E27FC236}">
                <a16:creationId xmlns:a16="http://schemas.microsoft.com/office/drawing/2014/main" id="{7C4BB7F2-9BC5-7689-AFB0-B4C55F3E957D}"/>
              </a:ext>
            </a:extLst>
          </p:cNvPr>
          <p:cNvSpPr>
            <a:spLocks xmlns:a="http://schemas.openxmlformats.org/drawingml/2006/main" noGrp="1"/>
          </p:cNvSpPr>
          <p:nvPr/>
        </p:nvSpPr>
        <p:spPr>
          <a:xfrm xmlns:a="http://schemas.openxmlformats.org/drawingml/2006/main">
            <a:off x="4597400" y="4394200"/>
            <a:ext cx="2730500" cy="5461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770"/>
              </a:lnSpc>
              <a:buNone/>
            </a:pPr>
            <a:r>
              <a:rPr sz="1500">
                <a:solidFill>
                  <a:srgbClr val="304559"/>
                </a:solidFill>
                <a:latin typeface="Microsoft YaHei"/>
                <a:ea typeface="Microsoft YaHei"/>
                <a:cs typeface="Microsoft YaHei"/>
              </a:rPr>
              <a:t>小样本估计</a:t>
            </a:r>
          </a:p>
          <a:p xmlns:a="http://schemas.openxmlformats.org/drawingml/2006/main">
            <a:pPr algn="ctr">
              <a:lnSpc>
                <a:spcPts val="1770"/>
              </a:lnSpc>
              <a:buNone/>
            </a:pPr>
            <a:r>
              <a:rPr sz="1500">
                <a:solidFill>
                  <a:srgbClr val="304559"/>
                </a:solidFill>
                <a:latin typeface="Microsoft YaHei"/>
                <a:ea typeface="Microsoft YaHei"/>
                <a:cs typeface="Microsoft YaHei"/>
              </a:rPr>
              <a:t>构造一致性准则</a:t>
            </a:r>
          </a:p>
        </p:txBody>
      </p:sp>
      <p:sp>
        <p:nvSpPr>
          <p:cNvPr id="22" name="panel-description">
            <a:extLst xmlns:a="http://schemas.openxmlformats.org/drawingml/2006/main">
              <a:ext uri="{FF2B5EF4-FFF2-40B4-BE49-F238E27FC236}">
                <a16:creationId xmlns:a16="http://schemas.microsoft.com/office/drawing/2014/main" id="{5F699454-EC62-E30A-ADE7-F8AE441FA17A}"/>
              </a:ext>
            </a:extLst>
          </p:cNvPr>
          <p:cNvSpPr>
            <a:spLocks xmlns:a="http://schemas.openxmlformats.org/drawingml/2006/main" noGrp="1"/>
          </p:cNvSpPr>
          <p:nvPr/>
        </p:nvSpPr>
        <p:spPr>
          <a:xfrm xmlns:a="http://schemas.openxmlformats.org/drawingml/2006/main">
            <a:off x="622300" y="5524500"/>
            <a:ext cx="10922000" cy="6096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1888"/>
              </a:lnSpc>
              <a:buNone/>
            </a:pPr>
            <a:r>
              <a:rPr sz="1600">
                <a:solidFill>
                  <a:srgbClr val="2F6096"/>
                </a:solidFill>
                <a:latin typeface="Microsoft YaHei"/>
                <a:ea typeface="Microsoft YaHei"/>
                <a:cs typeface="Microsoft YaHei"/>
              </a:rPr>
              <a:t>PWM</a:t>
            </a:r>
            <a:r>
              <a:rPr sz="1600">
                <a:solidFill>
                  <a:srgbClr val="2F6096"/>
                </a:solidFill>
                <a:latin typeface="Microsoft YaHei"/>
                <a:ea typeface="Microsoft YaHei"/>
                <a:cs typeface="Microsoft YaHei"/>
              </a:rPr>
              <a:t>经线性组合形成</a:t>
            </a:r>
            <a:r>
              <a:rPr sz="1600">
                <a:solidFill>
                  <a:srgbClr val="2F6096"/>
                </a:solidFill>
                <a:latin typeface="Microsoft YaHei"/>
                <a:ea typeface="Microsoft YaHei"/>
                <a:cs typeface="Microsoft YaHei"/>
              </a:rPr>
              <a:t>L</a:t>
            </a:r>
            <a:r>
              <a:rPr sz="1600">
                <a:solidFill>
                  <a:srgbClr val="2F6096"/>
                </a:solidFill>
                <a:latin typeface="Microsoft YaHei"/>
                <a:ea typeface="Microsoft YaHei"/>
                <a:cs typeface="Microsoft YaHei"/>
              </a:rPr>
              <a:t>矩。</a:t>
            </a:r>
            <a:r>
              <a:rPr sz="1600">
                <a:solidFill>
                  <a:srgbClr val="2F6096"/>
                </a:solidFill>
                <a:latin typeface="Microsoft YaHei"/>
                <a:ea typeface="Microsoft YaHei"/>
                <a:cs typeface="Microsoft YaHei"/>
              </a:rPr>
              <a:t>MPS</a:t>
            </a:r>
            <a:r>
              <a:rPr sz="1600">
                <a:solidFill>
                  <a:srgbClr val="2F6096"/>
                </a:solidFill>
                <a:latin typeface="Microsoft YaHei"/>
                <a:ea typeface="Microsoft YaHei"/>
                <a:cs typeface="Microsoft YaHei"/>
              </a:rPr>
              <a:t>针对似然边界困难，转而使用概率间距。</a:t>
            </a:r>
          </a:p>
          <a:p xmlns:a="http://schemas.openxmlformats.org/drawingml/2006/main">
            <a:pPr>
              <a:lnSpc>
                <a:spcPts val="1888"/>
              </a:lnSpc>
              <a:buNone/>
            </a:pPr>
            <a:r>
              <a:rPr sz="1600">
                <a:solidFill>
                  <a:srgbClr val="2F6096"/>
                </a:solidFill>
                <a:latin typeface="Microsoft YaHei"/>
                <a:ea typeface="Microsoft YaHei"/>
                <a:cs typeface="Microsoft YaHei"/>
              </a:rPr>
              <a:t>MDM</a:t>
            </a:r>
            <a:r>
              <a:rPr sz="1600">
                <a:solidFill>
                  <a:srgbClr val="2F6096"/>
                </a:solidFill>
                <a:latin typeface="Microsoft YaHei"/>
                <a:ea typeface="Microsoft YaHei"/>
                <a:cs typeface="Microsoft YaHei"/>
              </a:rPr>
              <a:t>使尺度伪估计尽量一致；现有来源未确认它直接继承</a:t>
            </a:r>
            <a:r>
              <a:rPr sz="1600">
                <a:solidFill>
                  <a:srgbClr val="2F6096"/>
                </a:solidFill>
                <a:latin typeface="Microsoft YaHei"/>
                <a:ea typeface="Microsoft YaHei"/>
                <a:cs typeface="Microsoft YaHei"/>
              </a:rPr>
              <a:t>MPS</a:t>
            </a:r>
            <a:r>
              <a:rPr sz="1600">
                <a:solidFill>
                  <a:srgbClr val="2F6096"/>
                </a:solidFill>
                <a:latin typeface="Microsoft YaHei"/>
                <a:ea typeface="Microsoft YaHei"/>
                <a:cs typeface="Microsoft YaHei"/>
              </a:rPr>
              <a:t>或某个</a:t>
            </a:r>
            <a:r>
              <a:rPr sz="1600">
                <a:solidFill>
                  <a:srgbClr val="2F6096"/>
                </a:solidFill>
                <a:latin typeface="Microsoft YaHei"/>
                <a:ea typeface="Microsoft YaHei"/>
                <a:cs typeface="Microsoft YaHei"/>
              </a:rPr>
              <a:t>LS</a:t>
            </a:r>
            <a:r>
              <a:rPr sz="1600">
                <a:solidFill>
                  <a:srgbClr val="2F6096"/>
                </a:solidFill>
                <a:latin typeface="Microsoft YaHei"/>
                <a:ea typeface="Microsoft YaHei"/>
                <a:cs typeface="Microsoft YaHei"/>
              </a:rPr>
              <a:t>版本。</a:t>
            </a:r>
          </a:p>
        </p:txBody>
      </p:sp>
      <p:sp>
        <p:nvSpPr>
          <p:cNvPr id="23" name="panel-citations">
            <a:extLst xmlns:a="http://schemas.openxmlformats.org/drawingml/2006/main">
              <a:ext uri="{FF2B5EF4-FFF2-40B4-BE49-F238E27FC236}">
                <a16:creationId xmlns:a16="http://schemas.microsoft.com/office/drawing/2014/main" id="{3F542315-CAB6-4DC0-0C5C-79FDA95058C1}"/>
              </a:ext>
            </a:extLst>
          </p:cNvPr>
          <p:cNvSpPr>
            <a:spLocks xmlns:a="http://schemas.openxmlformats.org/drawingml/2006/main" noGrp="1"/>
          </p:cNvSpPr>
          <p:nvPr/>
        </p:nvSpPr>
        <p:spPr>
          <a:xfrm xmlns:a="http://schemas.openxmlformats.org/drawingml/2006/main">
            <a:off x="622300" y="6350000"/>
            <a:ext cx="10922000" cy="1778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1180"/>
              </a:lnSpc>
              <a:buNone/>
            </a:pPr>
            <a:r>
              <a:rPr sz="1000">
                <a:solidFill>
                  <a:srgbClr val="787878"/>
                </a:solidFill>
                <a:latin typeface="Microsoft YaHei"/>
                <a:ea typeface="Microsoft YaHei"/>
                <a:cs typeface="Microsoft YaHei"/>
              </a:rPr>
              <a:t>PWM</a:t>
            </a:r>
            <a:r>
              <a:rPr sz="1000">
                <a:solidFill>
                  <a:srgbClr val="787878"/>
                </a:solidFill>
                <a:latin typeface="Microsoft YaHei"/>
                <a:ea typeface="Microsoft YaHei"/>
                <a:cs typeface="Microsoft YaHei"/>
              </a:rPr>
              <a:t>与</a:t>
            </a:r>
            <a:r>
              <a:rPr sz="1000">
                <a:solidFill>
                  <a:srgbClr val="787878"/>
                </a:solidFill>
                <a:latin typeface="Microsoft YaHei"/>
                <a:ea typeface="Microsoft YaHei"/>
                <a:cs typeface="Microsoft YaHei"/>
              </a:rPr>
              <a:t>L</a:t>
            </a:r>
            <a:r>
              <a:rPr sz="1000">
                <a:solidFill>
                  <a:srgbClr val="787878"/>
                </a:solidFill>
                <a:latin typeface="Microsoft YaHei"/>
                <a:ea typeface="Microsoft YaHei"/>
                <a:cs typeface="Microsoft YaHei"/>
              </a:rPr>
              <a:t>矩来源见报告</a:t>
            </a:r>
            <a:r>
              <a:rPr sz="1000">
                <a:solidFill>
                  <a:srgbClr val="787878"/>
                </a:solidFill>
                <a:latin typeface="Microsoft YaHei"/>
                <a:ea typeface="Microsoft YaHei"/>
                <a:cs typeface="Microsoft YaHei"/>
              </a:rPr>
              <a:t>1.4</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MPS [182-116]</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MDM [182-030]</a:t>
            </a:r>
            <a:r>
              <a:rPr sz="1000">
                <a:solidFill>
                  <a:srgbClr val="787878"/>
                </a:solidFill>
                <a:latin typeface="Microsoft YaHei"/>
                <a:ea typeface="Microsoft YaHei"/>
                <a:cs typeface="Microsoft YaHei"/>
              </a:rPr>
              <a:t>。虚线表示替代方案，不表示直接继承。</a:t>
            </a:r>
          </a:p>
        </p:txBody>
      </p:sp>
      <p:sp>
        <p:nvSpPr>
          <p:cNvPr id="24" name="fig1-edge9-1">
            <a:extLst xmlns:a="http://schemas.openxmlformats.org/drawingml/2006/main">
              <a:ext uri="{FF2B5EF4-FFF2-40B4-BE49-F238E27FC236}">
                <a16:creationId xmlns:a16="http://schemas.microsoft.com/office/drawing/2014/main" id="{3A1D4A6E-DEC2-43B0-A844-2B6135F6D750}"/>
              </a:ext>
            </a:extLst>
          </p:cNvPr>
          <p:cNvSpPr>
            <a:spLocks xmlns:a="http://schemas.openxmlformats.org/drawingml/2006/main" noGrp="1"/>
          </p:cNvSpPr>
          <p:nvPr/>
        </p:nvSpPr>
        <p:spPr>
          <a:xfrm xmlns:a="http://schemas.openxmlformats.org/drawingml/2006/main">
            <a:off x="4178300" y="2616200"/>
            <a:ext cx="34925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fig1-edge10-1">
            <a:extLst xmlns:a="http://schemas.openxmlformats.org/drawingml/2006/main">
              <a:ext uri="{FF2B5EF4-FFF2-40B4-BE49-F238E27FC236}">
                <a16:creationId xmlns:a16="http://schemas.microsoft.com/office/drawing/2014/main" id="{C890E6A3-D462-4ABC-BB2F-49D5091459B3}"/>
              </a:ext>
            </a:extLst>
          </p:cNvPr>
          <p:cNvSpPr>
            <a:spLocks xmlns:a="http://schemas.openxmlformats.org/drawingml/2006/main" noGrp="1"/>
          </p:cNvSpPr>
          <p:nvPr/>
        </p:nvSpPr>
        <p:spPr>
          <a:xfrm xmlns:a="http://schemas.openxmlformats.org/drawingml/2006/main">
            <a:off x="4178300" y="3784600"/>
            <a:ext cx="3492500" cy="0"/>
          </a:xfrm>
          <a:prstGeom xmlns:a="http://schemas.openxmlformats.org/drawingml/2006/main" prst="line">
            <a:avLst/>
          </a:prstGeom>
          <a:ln xmlns:a="http://schemas.openxmlformats.org/drawingml/2006/main" w="16510">
            <a:solidFill>
              <a:srgbClr val="52677A"/>
            </a:solidFill>
            <a:prstDash val="dash"/>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6" name="fig1-edge11-1">
            <a:extLst xmlns:a="http://schemas.openxmlformats.org/drawingml/2006/main">
              <a:ext uri="{FF2B5EF4-FFF2-40B4-BE49-F238E27FC236}">
                <a16:creationId xmlns:a16="http://schemas.microsoft.com/office/drawing/2014/main" id="{A6F7E876-371F-4252-969E-F1A3011346F4}"/>
              </a:ext>
            </a:extLst>
          </p:cNvPr>
          <p:cNvSpPr>
            <a:spLocks xmlns:a="http://schemas.openxmlformats.org/drawingml/2006/main" noGrp="1"/>
          </p:cNvSpPr>
          <p:nvPr/>
        </p:nvSpPr>
        <p:spPr>
          <a:xfrm xmlns:a="http://schemas.openxmlformats.org/drawingml/2006/main">
            <a:off x="4178300" y="4953000"/>
            <a:ext cx="34925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5733197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D  </a:t>
            </a:r>
            <a:r>
              <a:rPr sz="2400" b="1" spc="-150">
                <a:solidFill>
                  <a:srgbClr val="FFFFFF"/>
                </a:solidFill>
                <a:latin typeface="汉仪文润宋韵 U"/>
                <a:ea typeface="汉仪文润宋韵 U"/>
                <a:cs typeface="汉仪文润宋韵 U"/>
              </a:rPr>
              <a:t>组合与学习：相同困难，也可以采用不同构造</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已有方法及其发展关系</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01</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E0A9E155-D276-0264-E48F-FD2B097FE8C3}"/>
              </a:ext>
            </a:extLst>
          </p:cNvPr>
          <p:cNvSpPr>
            <a:spLocks xmlns:a="http://schemas.openxmlformats.org/drawingml/2006/main" noGrp="1"/>
          </p:cNvSpPr>
          <p:nvPr/>
        </p:nvSpPr>
        <p:spPr>
          <a:xfrm xmlns:a="http://schemas.openxmlformats.org/drawingml/2006/main">
            <a:off x="622300" y="1638300"/>
            <a:ext cx="10922000" cy="4064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t">
            <a:noAutofit/>
          </a:bodyPr>
          <a:lstStyle xmlns:a="http://schemas.openxmlformats.org/drawingml/2006/main"/>
          <a:p xmlns:a="http://schemas.openxmlformats.org/drawingml/2006/main">
            <a:pPr>
              <a:lnSpc>
                <a:spcPts val="2006"/>
              </a:lnSpc>
              <a:buNone/>
            </a:pPr>
            <a:r>
              <a:rPr sz="1700">
                <a:solidFill>
                  <a:srgbClr val="2F6096"/>
                </a:solidFill>
                <a:latin typeface="Microsoft YaHei"/>
                <a:ea typeface="Microsoft YaHei"/>
                <a:cs typeface="Microsoft YaHei"/>
              </a:rPr>
              <a:t>组合已有统计关系、变换观测统计量，或直接学习参数映射，都形成了新的构造。</a:t>
            </a:r>
          </a:p>
        </p:txBody>
      </p:sp>
      <p:sp>
        <p:nvSpPr>
          <p:cNvPr id="18" name="fig1-min">
            <a:extLst xmlns:a="http://schemas.openxmlformats.org/drawingml/2006/main">
              <a:ext uri="{FF2B5EF4-FFF2-40B4-BE49-F238E27FC236}">
                <a16:creationId xmlns:a16="http://schemas.microsoft.com/office/drawing/2014/main" id="{F4A32D05-D5F8-C7FA-7B79-CBBC460EAB28}"/>
              </a:ext>
            </a:extLst>
          </p:cNvPr>
          <p:cNvSpPr>
            <a:spLocks xmlns:a="http://schemas.openxmlformats.org/drawingml/2006/main" noGrp="1"/>
          </p:cNvSpPr>
          <p:nvPr/>
        </p:nvSpPr>
        <p:spPr>
          <a:xfrm xmlns:a="http://schemas.openxmlformats.org/drawingml/2006/main">
            <a:off x="622300" y="2590800"/>
            <a:ext cx="3302000" cy="8509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最小次序统计量与位置的关系</a:t>
            </a:r>
          </a:p>
        </p:txBody>
      </p:sp>
      <p:sp>
        <p:nvSpPr>
          <p:cNvPr id="19" name="fig1-sam23">
            <a:extLst xmlns:a="http://schemas.openxmlformats.org/drawingml/2006/main">
              <a:ext uri="{FF2B5EF4-FFF2-40B4-BE49-F238E27FC236}">
                <a16:creationId xmlns:a16="http://schemas.microsoft.com/office/drawing/2014/main" id="{BE82563B-4C8F-E061-6E42-A8ABD30827F2}"/>
              </a:ext>
            </a:extLst>
          </p:cNvPr>
          <p:cNvSpPr>
            <a:spLocks xmlns:a="http://schemas.openxmlformats.org/drawingml/2006/main" noGrp="1"/>
          </p:cNvSpPr>
          <p:nvPr/>
        </p:nvSpPr>
        <p:spPr>
          <a:xfrm xmlns:a="http://schemas.openxmlformats.org/drawingml/2006/main">
            <a:off x="7861300" y="2159000"/>
            <a:ext cx="3683000" cy="7112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SAM </a:t>
            </a:r>
            <a:r>
              <a:rPr sz="1600">
                <a:solidFill>
                  <a:srgbClr val="203040"/>
                </a:solidFill>
                <a:latin typeface="Microsoft YaHei"/>
                <a:ea typeface="Microsoft YaHei"/>
                <a:cs typeface="Microsoft YaHei"/>
              </a:rPr>
              <a:t>逐次逼近法</a:t>
            </a:r>
          </a:p>
          <a:p xmlns:a="http://schemas.openxmlformats.org/drawingml/2006/main">
            <a:pPr algn="ctr">
              <a:lnSpc>
                <a:spcPts val="1888"/>
              </a:lnSpc>
              <a:buNone/>
            </a:pPr>
            <a:r>
              <a:rPr sz="1600">
                <a:solidFill>
                  <a:srgbClr val="203040"/>
                </a:solidFill>
                <a:latin typeface="Microsoft YaHei"/>
                <a:ea typeface="Microsoft YaHei"/>
                <a:cs typeface="Microsoft YaHei"/>
              </a:rPr>
              <a:t>Guo</a:t>
            </a:r>
            <a:r>
              <a:rPr sz="1600">
                <a:solidFill>
                  <a:srgbClr val="203040"/>
                </a:solidFill>
                <a:latin typeface="Microsoft YaHei"/>
                <a:ea typeface="Microsoft YaHei"/>
                <a:cs typeface="Microsoft YaHei"/>
              </a:rPr>
              <a:t>等 </a:t>
            </a:r>
            <a:r>
              <a:rPr sz="1600">
                <a:solidFill>
                  <a:srgbClr val="203040"/>
                </a:solidFill>
                <a:latin typeface="Microsoft YaHei"/>
                <a:ea typeface="Microsoft YaHei"/>
                <a:cs typeface="Microsoft YaHei"/>
              </a:rPr>
              <a:t>· 2023</a:t>
            </a:r>
            <a:endParaRPr sz="1600">
              <a:solidFill>
                <a:srgbClr val="203040"/>
              </a:solidFill>
              <a:latin typeface="Microsoft YaHei"/>
              <a:ea typeface="Microsoft YaHei"/>
              <a:cs typeface="Microsoft YaHei"/>
            </a:endParaRPr>
          </a:p>
        </p:txBody>
      </p:sp>
      <p:sp>
        <p:nvSpPr>
          <p:cNvPr id="20" name="fig1-sam24">
            <a:extLst xmlns:a="http://schemas.openxmlformats.org/drawingml/2006/main">
              <a:ext uri="{FF2B5EF4-FFF2-40B4-BE49-F238E27FC236}">
                <a16:creationId xmlns:a16="http://schemas.microsoft.com/office/drawing/2014/main" id="{6BDEA08A-AC64-B334-F1A0-C09DDFD52B98}"/>
              </a:ext>
            </a:extLst>
          </p:cNvPr>
          <p:cNvSpPr>
            <a:spLocks xmlns:a="http://schemas.openxmlformats.org/drawingml/2006/main" noGrp="1"/>
          </p:cNvSpPr>
          <p:nvPr/>
        </p:nvSpPr>
        <p:spPr>
          <a:xfrm xmlns:a="http://schemas.openxmlformats.org/drawingml/2006/main">
            <a:off x="7861300" y="3098800"/>
            <a:ext cx="3683000" cy="7112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PM </a:t>
            </a:r>
            <a:r>
              <a:rPr sz="1600">
                <a:solidFill>
                  <a:srgbClr val="203040"/>
                </a:solidFill>
                <a:latin typeface="Microsoft YaHei"/>
                <a:ea typeface="Microsoft YaHei"/>
                <a:cs typeface="Microsoft YaHei"/>
              </a:rPr>
              <a:t>逐次逼近构造</a:t>
            </a:r>
          </a:p>
          <a:p xmlns:a="http://schemas.openxmlformats.org/drawingml/2006/main">
            <a:pPr algn="ctr">
              <a:lnSpc>
                <a:spcPts val="1888"/>
              </a:lnSpc>
              <a:buNone/>
            </a:pPr>
            <a:r>
              <a:rPr sz="1600">
                <a:solidFill>
                  <a:srgbClr val="203040"/>
                </a:solidFill>
                <a:latin typeface="Microsoft YaHei"/>
                <a:ea typeface="Microsoft YaHei"/>
                <a:cs typeface="Microsoft YaHei"/>
              </a:rPr>
              <a:t>Guo</a:t>
            </a:r>
            <a:r>
              <a:rPr sz="1600">
                <a:solidFill>
                  <a:srgbClr val="203040"/>
                </a:solidFill>
                <a:latin typeface="Microsoft YaHei"/>
                <a:ea typeface="Microsoft YaHei"/>
                <a:cs typeface="Microsoft YaHei"/>
              </a:rPr>
              <a:t>等 </a:t>
            </a:r>
            <a:r>
              <a:rPr sz="1600">
                <a:solidFill>
                  <a:srgbClr val="203040"/>
                </a:solidFill>
                <a:latin typeface="Microsoft YaHei"/>
                <a:ea typeface="Microsoft YaHei"/>
                <a:cs typeface="Microsoft YaHei"/>
              </a:rPr>
              <a:t>· 2024</a:t>
            </a:r>
            <a:endParaRPr sz="1600">
              <a:solidFill>
                <a:srgbClr val="203040"/>
              </a:solidFill>
              <a:latin typeface="Microsoft YaHei"/>
              <a:ea typeface="Microsoft YaHei"/>
              <a:cs typeface="Microsoft YaHei"/>
            </a:endParaRPr>
          </a:p>
        </p:txBody>
      </p:sp>
      <p:sp>
        <p:nvSpPr>
          <p:cNvPr id="21" name="fig1-nonregular">
            <a:extLst xmlns:a="http://schemas.openxmlformats.org/drawingml/2006/main">
              <a:ext uri="{FF2B5EF4-FFF2-40B4-BE49-F238E27FC236}">
                <a16:creationId xmlns:a16="http://schemas.microsoft.com/office/drawing/2014/main" id="{560B9E70-1AC3-C43F-A90D-F5B4328F693A}"/>
              </a:ext>
            </a:extLst>
          </p:cNvPr>
          <p:cNvSpPr>
            <a:spLocks xmlns:a="http://schemas.openxmlformats.org/drawingml/2006/main" noGrp="1"/>
          </p:cNvSpPr>
          <p:nvPr/>
        </p:nvSpPr>
        <p:spPr>
          <a:xfrm xmlns:a="http://schemas.openxmlformats.org/drawingml/2006/main">
            <a:off x="622300" y="4102100"/>
            <a:ext cx="3302000" cy="660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未知位置导致非正规似然</a:t>
            </a:r>
          </a:p>
        </p:txBody>
      </p:sp>
      <p:sp>
        <p:nvSpPr>
          <p:cNvPr id="22" name="fig1-naga">
            <a:extLst xmlns:a="http://schemas.openxmlformats.org/drawingml/2006/main">
              <a:ext uri="{FF2B5EF4-FFF2-40B4-BE49-F238E27FC236}">
                <a16:creationId xmlns:a16="http://schemas.microsoft.com/office/drawing/2014/main" id="{7E8E9B17-1FC5-F3DB-FBAE-F24B11FEC65F}"/>
              </a:ext>
            </a:extLst>
          </p:cNvPr>
          <p:cNvSpPr>
            <a:spLocks xmlns:a="http://schemas.openxmlformats.org/drawingml/2006/main" noGrp="1"/>
          </p:cNvSpPr>
          <p:nvPr/>
        </p:nvSpPr>
        <p:spPr>
          <a:xfrm xmlns:a="http://schemas.openxmlformats.org/drawingml/2006/main">
            <a:off x="7861300" y="4102100"/>
            <a:ext cx="3683000" cy="660400"/>
          </a:xfrm>
          <a:prstGeom xmlns:a="http://schemas.openxmlformats.org/drawingml/2006/main" prst="roundRect">
            <a:avLst>
              <a:gd name="adj" fmla="val 7000"/>
            </a:avLst>
          </a:prstGeom>
          <a:solidFill xmlns:a="http://schemas.openxmlformats.org/drawingml/2006/main">
            <a:srgbClr val="EDE9F4"/>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LSPF </a:t>
            </a:r>
            <a:r>
              <a:rPr sz="1600">
                <a:solidFill>
                  <a:srgbClr val="203040"/>
                </a:solidFill>
                <a:latin typeface="Microsoft YaHei"/>
                <a:ea typeface="Microsoft YaHei"/>
                <a:cs typeface="Microsoft YaHei"/>
              </a:rPr>
              <a:t>变换统计量似然估计</a:t>
            </a:r>
          </a:p>
          <a:p xmlns:a="http://schemas.openxmlformats.org/drawingml/2006/main">
            <a:pPr algn="ctr">
              <a:lnSpc>
                <a:spcPts val="1888"/>
              </a:lnSpc>
              <a:buNone/>
            </a:pPr>
            <a:r>
              <a:rPr sz="1600">
                <a:solidFill>
                  <a:srgbClr val="203040"/>
                </a:solidFill>
                <a:latin typeface="Microsoft YaHei"/>
                <a:ea typeface="Microsoft YaHei"/>
                <a:cs typeface="Microsoft YaHei"/>
              </a:rPr>
              <a:t>Nagatsuka</a:t>
            </a:r>
            <a:r>
              <a:rPr sz="1600">
                <a:solidFill>
                  <a:srgbClr val="203040"/>
                </a:solidFill>
                <a:latin typeface="Microsoft YaHei"/>
                <a:ea typeface="Microsoft YaHei"/>
                <a:cs typeface="Microsoft YaHei"/>
              </a:rPr>
              <a:t>等 </a:t>
            </a:r>
            <a:r>
              <a:rPr sz="1600">
                <a:solidFill>
                  <a:srgbClr val="203040"/>
                </a:solidFill>
                <a:latin typeface="Microsoft YaHei"/>
                <a:ea typeface="Microsoft YaHei"/>
                <a:cs typeface="Microsoft YaHei"/>
              </a:rPr>
              <a:t>· 2013</a:t>
            </a:r>
            <a:endParaRPr sz="1600">
              <a:solidFill>
                <a:srgbClr val="203040"/>
              </a:solidFill>
              <a:latin typeface="Microsoft YaHei"/>
              <a:ea typeface="Microsoft YaHei"/>
              <a:cs typeface="Microsoft YaHei"/>
            </a:endParaRPr>
          </a:p>
        </p:txBody>
      </p:sp>
      <p:sp>
        <p:nvSpPr>
          <p:cNvPr id="23" name="fig1-training">
            <a:extLst xmlns:a="http://schemas.openxmlformats.org/drawingml/2006/main">
              <a:ext uri="{FF2B5EF4-FFF2-40B4-BE49-F238E27FC236}">
                <a16:creationId xmlns:a16="http://schemas.microsoft.com/office/drawing/2014/main" id="{EBA49D2F-16EA-1703-B109-F4D4D139E299}"/>
              </a:ext>
            </a:extLst>
          </p:cNvPr>
          <p:cNvSpPr>
            <a:spLocks xmlns:a="http://schemas.openxmlformats.org/drawingml/2006/main" noGrp="1"/>
          </p:cNvSpPr>
          <p:nvPr/>
        </p:nvSpPr>
        <p:spPr>
          <a:xfrm xmlns:a="http://schemas.openxmlformats.org/drawingml/2006/main">
            <a:off x="622300" y="5029200"/>
            <a:ext cx="3302000" cy="660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63758A"/>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模拟样本特征＋参数标签</a:t>
            </a:r>
          </a:p>
        </p:txBody>
      </p:sp>
      <p:sp>
        <p:nvSpPr>
          <p:cNvPr id="24" name="fig1-bpnn">
            <a:extLst xmlns:a="http://schemas.openxmlformats.org/drawingml/2006/main">
              <a:ext uri="{FF2B5EF4-FFF2-40B4-BE49-F238E27FC236}">
                <a16:creationId xmlns:a16="http://schemas.microsoft.com/office/drawing/2014/main" id="{0B37021B-D1A8-75B7-B97F-ACE95A3AA458}"/>
              </a:ext>
            </a:extLst>
          </p:cNvPr>
          <p:cNvSpPr>
            <a:spLocks xmlns:a="http://schemas.openxmlformats.org/drawingml/2006/main" noGrp="1"/>
          </p:cNvSpPr>
          <p:nvPr/>
        </p:nvSpPr>
        <p:spPr>
          <a:xfrm xmlns:a="http://schemas.openxmlformats.org/drawingml/2006/main">
            <a:off x="7861300" y="5029200"/>
            <a:ext cx="3683000" cy="660400"/>
          </a:xfrm>
          <a:prstGeom xmlns:a="http://schemas.openxmlformats.org/drawingml/2006/main" prst="roundRect">
            <a:avLst>
              <a:gd name="adj" fmla="val 7000"/>
            </a:avLst>
          </a:prstGeom>
          <a:solidFill xmlns:a="http://schemas.openxmlformats.org/drawingml/2006/main">
            <a:srgbClr val="E5F1E3"/>
          </a:solidFill>
          <a:ln xmlns:a="http://schemas.openxmlformats.org/drawingml/2006/main" w="12700">
            <a:solidFill>
              <a:srgbClr val="63758A"/>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38100" tIns="25400" rIns="38100" bIns="25400" anchor="ctr">
            <a:noAutofit/>
          </a:bodyPr>
          <a:lstStyle xmlns:a="http://schemas.openxmlformats.org/drawingml/2006/main"/>
          <a:p xmlns:a="http://schemas.openxmlformats.org/drawingml/2006/main">
            <a:pPr algn="ctr">
              <a:lnSpc>
                <a:spcPts val="1888"/>
              </a:lnSpc>
              <a:buNone/>
            </a:pPr>
            <a:r>
              <a:rPr sz="1600">
                <a:solidFill>
                  <a:srgbClr val="203040"/>
                </a:solidFill>
                <a:latin typeface="Microsoft YaHei"/>
                <a:ea typeface="Microsoft YaHei"/>
                <a:cs typeface="Microsoft YaHei"/>
              </a:rPr>
              <a:t>BPNN </a:t>
            </a:r>
            <a:r>
              <a:rPr sz="1600">
                <a:solidFill>
                  <a:srgbClr val="203040"/>
                </a:solidFill>
                <a:latin typeface="Microsoft YaHei"/>
                <a:ea typeface="Microsoft YaHei"/>
                <a:cs typeface="Microsoft YaHei"/>
              </a:rPr>
              <a:t>神经网络参数估计</a:t>
            </a:r>
          </a:p>
          <a:p xmlns:a="http://schemas.openxmlformats.org/drawingml/2006/main">
            <a:pPr algn="ctr">
              <a:lnSpc>
                <a:spcPts val="1888"/>
              </a:lnSpc>
              <a:buNone/>
            </a:pPr>
            <a:r>
              <a:rPr sz="1600">
                <a:solidFill>
                  <a:srgbClr val="203040"/>
                </a:solidFill>
                <a:latin typeface="Microsoft YaHei"/>
                <a:ea typeface="Microsoft YaHei"/>
                <a:cs typeface="Microsoft YaHei"/>
              </a:rPr>
              <a:t>Yang</a:t>
            </a:r>
            <a:r>
              <a:rPr sz="1600">
                <a:solidFill>
                  <a:srgbClr val="203040"/>
                </a:solidFill>
                <a:latin typeface="Microsoft YaHei"/>
                <a:ea typeface="Microsoft YaHei"/>
                <a:cs typeface="Microsoft YaHei"/>
              </a:rPr>
              <a:t>等 </a:t>
            </a:r>
            <a:r>
              <a:rPr sz="1600">
                <a:solidFill>
                  <a:srgbClr val="203040"/>
                </a:solidFill>
                <a:latin typeface="Microsoft YaHei"/>
                <a:ea typeface="Microsoft YaHei"/>
                <a:cs typeface="Microsoft YaHei"/>
              </a:rPr>
              <a:t>· 2025</a:t>
            </a:r>
            <a:endParaRPr sz="1600">
              <a:solidFill>
                <a:srgbClr val="203040"/>
              </a:solidFill>
              <a:latin typeface="Microsoft YaHei"/>
              <a:ea typeface="Microsoft YaHei"/>
              <a:cs typeface="Microsoft YaHei"/>
            </a:endParaRPr>
          </a:p>
        </p:txBody>
      </p:sp>
      <p:sp>
        <p:nvSpPr>
          <p:cNvPr id="25" name="fig1-text_edge12">
            <a:extLst xmlns:a="http://schemas.openxmlformats.org/drawingml/2006/main">
              <a:ext uri="{FF2B5EF4-FFF2-40B4-BE49-F238E27FC236}">
                <a16:creationId xmlns:a16="http://schemas.microsoft.com/office/drawing/2014/main" id="{A39D4504-6D3C-4F45-604D-8FA9DCA9E3AE}"/>
              </a:ext>
            </a:extLst>
          </p:cNvPr>
          <p:cNvSpPr>
            <a:spLocks xmlns:a="http://schemas.openxmlformats.org/drawingml/2006/main" noGrp="1"/>
          </p:cNvSpPr>
          <p:nvPr/>
        </p:nvSpPr>
        <p:spPr>
          <a:xfrm xmlns:a="http://schemas.openxmlformats.org/drawingml/2006/main">
            <a:off x="4508500" y="1968500"/>
            <a:ext cx="3136900" cy="5207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304559"/>
                </a:solidFill>
                <a:latin typeface="Microsoft YaHei"/>
                <a:ea typeface="Microsoft YaHei"/>
                <a:cs typeface="Microsoft YaHei"/>
              </a:rPr>
              <a:t>极小样本位置估计</a:t>
            </a:r>
          </a:p>
          <a:p xmlns:a="http://schemas.openxmlformats.org/drawingml/2006/main">
            <a:pPr algn="ctr">
              <a:lnSpc>
                <a:spcPts val="1652"/>
              </a:lnSpc>
              <a:buNone/>
            </a:pPr>
            <a:r>
              <a:rPr sz="1400">
                <a:solidFill>
                  <a:srgbClr val="304559"/>
                </a:solidFill>
                <a:latin typeface="Microsoft YaHei"/>
                <a:ea typeface="Microsoft YaHei"/>
                <a:cs typeface="Microsoft YaHei"/>
              </a:rPr>
              <a:t>期望修正与回归更新</a:t>
            </a:r>
          </a:p>
        </p:txBody>
      </p:sp>
      <p:sp>
        <p:nvSpPr>
          <p:cNvPr id="26" name="fig1-text_edge13">
            <a:extLst xmlns:a="http://schemas.openxmlformats.org/drawingml/2006/main">
              <a:ext uri="{FF2B5EF4-FFF2-40B4-BE49-F238E27FC236}">
                <a16:creationId xmlns:a16="http://schemas.microsoft.com/office/drawing/2014/main" id="{9D252892-336F-E75F-64E6-39939F60DFA7}"/>
              </a:ext>
            </a:extLst>
          </p:cNvPr>
          <p:cNvSpPr>
            <a:spLocks xmlns:a="http://schemas.openxmlformats.org/drawingml/2006/main" noGrp="1"/>
          </p:cNvSpPr>
          <p:nvPr/>
        </p:nvSpPr>
        <p:spPr>
          <a:xfrm xmlns:a="http://schemas.openxmlformats.org/drawingml/2006/main">
            <a:off x="4508500" y="2908300"/>
            <a:ext cx="3136900" cy="5207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304559"/>
                </a:solidFill>
                <a:latin typeface="Microsoft YaHei"/>
                <a:ea typeface="Microsoft YaHei"/>
                <a:cs typeface="Microsoft YaHei"/>
              </a:rPr>
              <a:t>位置与区间推断</a:t>
            </a:r>
          </a:p>
          <a:p xmlns:a="http://schemas.openxmlformats.org/drawingml/2006/main">
            <a:pPr algn="ctr">
              <a:lnSpc>
                <a:spcPts val="1652"/>
              </a:lnSpc>
              <a:buNone/>
            </a:pPr>
            <a:r>
              <a:rPr sz="1400">
                <a:solidFill>
                  <a:srgbClr val="304559"/>
                </a:solidFill>
                <a:latin typeface="Microsoft YaHei"/>
                <a:ea typeface="Microsoft YaHei"/>
                <a:cs typeface="Microsoft YaHei"/>
              </a:rPr>
              <a:t>分位数修正与似然更新</a:t>
            </a:r>
          </a:p>
        </p:txBody>
      </p:sp>
      <p:sp>
        <p:nvSpPr>
          <p:cNvPr id="27" name="fig1-text_edge14">
            <a:extLst xmlns:a="http://schemas.openxmlformats.org/drawingml/2006/main">
              <a:ext uri="{FF2B5EF4-FFF2-40B4-BE49-F238E27FC236}">
                <a16:creationId xmlns:a16="http://schemas.microsoft.com/office/drawing/2014/main" id="{0413E637-A378-6B9B-23CC-3A26256D0E1E}"/>
              </a:ext>
            </a:extLst>
          </p:cNvPr>
          <p:cNvSpPr>
            <a:spLocks xmlns:a="http://schemas.openxmlformats.org/drawingml/2006/main" noGrp="1"/>
          </p:cNvSpPr>
          <p:nvPr/>
        </p:nvSpPr>
        <p:spPr>
          <a:xfrm xmlns:a="http://schemas.openxmlformats.org/drawingml/2006/main">
            <a:off x="4508500" y="3886200"/>
            <a:ext cx="3136900" cy="5207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304559"/>
                </a:solidFill>
                <a:latin typeface="Microsoft YaHei"/>
                <a:ea typeface="Microsoft YaHei"/>
                <a:cs typeface="Microsoft YaHei"/>
              </a:rPr>
              <a:t>处理存在性与唯一性</a:t>
            </a:r>
          </a:p>
          <a:p xmlns:a="http://schemas.openxmlformats.org/drawingml/2006/main">
            <a:pPr algn="ctr">
              <a:lnSpc>
                <a:spcPts val="1652"/>
              </a:lnSpc>
              <a:buNone/>
            </a:pPr>
            <a:r>
              <a:rPr sz="1400">
                <a:solidFill>
                  <a:srgbClr val="304559"/>
                </a:solidFill>
                <a:latin typeface="Microsoft YaHei"/>
                <a:ea typeface="Microsoft YaHei"/>
                <a:cs typeface="Microsoft YaHei"/>
              </a:rPr>
              <a:t>变换后估计形状</a:t>
            </a:r>
          </a:p>
        </p:txBody>
      </p:sp>
      <p:sp>
        <p:nvSpPr>
          <p:cNvPr id="28" name="fig1-text_edge15">
            <a:extLst xmlns:a="http://schemas.openxmlformats.org/drawingml/2006/main">
              <a:ext uri="{FF2B5EF4-FFF2-40B4-BE49-F238E27FC236}">
                <a16:creationId xmlns:a16="http://schemas.microsoft.com/office/drawing/2014/main" id="{BCDBD5C7-EF55-AAAB-F0B7-7791DE34D102}"/>
              </a:ext>
            </a:extLst>
          </p:cNvPr>
          <p:cNvSpPr>
            <a:spLocks xmlns:a="http://schemas.openxmlformats.org/drawingml/2006/main" noGrp="1"/>
          </p:cNvSpPr>
          <p:nvPr/>
        </p:nvSpPr>
        <p:spPr>
          <a:xfrm xmlns:a="http://schemas.openxmlformats.org/drawingml/2006/main">
            <a:off x="4508500" y="4813300"/>
            <a:ext cx="3136900" cy="520700"/>
          </a:xfrm>
          <a:prstGeom xmlns:a="http://schemas.openxmlformats.org/drawingml/2006/main" prst="rect">
            <a:avLst/>
          </a:prstGeom>
          <a:noFill xmlns:a="http://schemas.openxmlformats.org/drawingml/2006/main"/>
        </p:spPr>
        <p:txBody>
          <a:bodyPr xmlns:a="http://schemas.openxmlformats.org/drawingml/2006/main" vert="horz" wrap="square" lIns="38100" tIns="25400" rIns="38100" bIns="25400" anchor="ctr">
            <a:noAutofit/>
          </a:bodyPr>
          <a:lstStyle xmlns:a="http://schemas.openxmlformats.org/drawingml/2006/main"/>
          <a:p xmlns:a="http://schemas.openxmlformats.org/drawingml/2006/main">
            <a:pPr algn="ctr">
              <a:lnSpc>
                <a:spcPts val="1652"/>
              </a:lnSpc>
              <a:buNone/>
            </a:pPr>
            <a:r>
              <a:rPr sz="1400">
                <a:solidFill>
                  <a:srgbClr val="304559"/>
                </a:solidFill>
                <a:latin typeface="Microsoft YaHei"/>
                <a:ea typeface="Microsoft YaHei"/>
                <a:cs typeface="Microsoft YaHei"/>
              </a:rPr>
              <a:t>小样本估计</a:t>
            </a:r>
          </a:p>
          <a:p xmlns:a="http://schemas.openxmlformats.org/drawingml/2006/main">
            <a:pPr algn="ctr">
              <a:lnSpc>
                <a:spcPts val="1652"/>
              </a:lnSpc>
              <a:buNone/>
            </a:pPr>
            <a:r>
              <a:rPr sz="1400">
                <a:solidFill>
                  <a:srgbClr val="304559"/>
                </a:solidFill>
                <a:latin typeface="Microsoft YaHei"/>
                <a:ea typeface="Microsoft YaHei"/>
                <a:cs typeface="Microsoft YaHei"/>
              </a:rPr>
              <a:t>学习特征到参数映射</a:t>
            </a:r>
          </a:p>
        </p:txBody>
      </p:sp>
      <p:sp>
        <p:nvSpPr>
          <p:cNvPr id="29" name="panel-description">
            <a:extLst xmlns:a="http://schemas.openxmlformats.org/drawingml/2006/main">
              <a:ext uri="{FF2B5EF4-FFF2-40B4-BE49-F238E27FC236}">
                <a16:creationId xmlns:a16="http://schemas.microsoft.com/office/drawing/2014/main" id="{638B9803-B925-A14B-CFEE-AC8D91CE32BB}"/>
              </a:ext>
            </a:extLst>
          </p:cNvPr>
          <p:cNvSpPr>
            <a:spLocks xmlns:a="http://schemas.openxmlformats.org/drawingml/2006/main" noGrp="1"/>
          </p:cNvSpPr>
          <p:nvPr/>
        </p:nvSpPr>
        <p:spPr>
          <a:xfrm xmlns:a="http://schemas.openxmlformats.org/drawingml/2006/main">
            <a:off x="622300" y="5880100"/>
            <a:ext cx="10922000" cy="6096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1652"/>
              </a:lnSpc>
              <a:buNone/>
            </a:pPr>
            <a:r>
              <a:rPr sz="1400">
                <a:solidFill>
                  <a:srgbClr val="2F6096"/>
                </a:solidFill>
                <a:latin typeface="Microsoft YaHei"/>
                <a:ea typeface="Microsoft YaHei"/>
                <a:cs typeface="Microsoft YaHei"/>
              </a:rPr>
              <a:t>SAM</a:t>
            </a:r>
            <a:r>
              <a:rPr sz="1400">
                <a:solidFill>
                  <a:srgbClr val="2F6096"/>
                </a:solidFill>
                <a:latin typeface="Microsoft YaHei"/>
                <a:ea typeface="Microsoft YaHei"/>
                <a:cs typeface="Microsoft YaHei"/>
              </a:rPr>
              <a:t>用最小值期望结合回归，</a:t>
            </a:r>
            <a:r>
              <a:rPr sz="1400">
                <a:solidFill>
                  <a:srgbClr val="2F6096"/>
                </a:solidFill>
                <a:latin typeface="Microsoft YaHei"/>
                <a:ea typeface="Microsoft YaHei"/>
                <a:cs typeface="Microsoft YaHei"/>
              </a:rPr>
              <a:t>PM</a:t>
            </a:r>
            <a:r>
              <a:rPr sz="1400">
                <a:solidFill>
                  <a:srgbClr val="2F6096"/>
                </a:solidFill>
                <a:latin typeface="Microsoft YaHei"/>
                <a:ea typeface="Microsoft YaHei"/>
                <a:cs typeface="Microsoft YaHei"/>
              </a:rPr>
              <a:t>用最小值中位数结合条件似然，未确认直接升级关系。</a:t>
            </a:r>
          </a:p>
          <a:p xmlns:a="http://schemas.openxmlformats.org/drawingml/2006/main">
            <a:pPr>
              <a:lnSpc>
                <a:spcPts val="1652"/>
              </a:lnSpc>
              <a:buNone/>
            </a:pPr>
            <a:r>
              <a:rPr sz="1400">
                <a:solidFill>
                  <a:srgbClr val="2F6096"/>
                </a:solidFill>
                <a:latin typeface="Microsoft YaHei"/>
                <a:ea typeface="Microsoft YaHei"/>
                <a:cs typeface="Microsoft YaHei"/>
              </a:rPr>
              <a:t>LSPF</a:t>
            </a:r>
            <a:r>
              <a:rPr sz="1400">
                <a:solidFill>
                  <a:srgbClr val="2F6096"/>
                </a:solidFill>
                <a:latin typeface="Microsoft YaHei"/>
                <a:ea typeface="Microsoft YaHei"/>
                <a:cs typeface="Microsoft YaHei"/>
              </a:rPr>
              <a:t>通过变换统计量构造似然；</a:t>
            </a:r>
            <a:r>
              <a:rPr sz="1400">
                <a:solidFill>
                  <a:srgbClr val="2F6096"/>
                </a:solidFill>
                <a:latin typeface="Microsoft YaHei"/>
                <a:ea typeface="Microsoft YaHei"/>
                <a:cs typeface="Microsoft YaHei"/>
              </a:rPr>
              <a:t>BPNN</a:t>
            </a:r>
            <a:r>
              <a:rPr sz="1400">
                <a:solidFill>
                  <a:srgbClr val="2F6096"/>
                </a:solidFill>
                <a:latin typeface="Microsoft YaHei"/>
                <a:ea typeface="Microsoft YaHei"/>
                <a:cs typeface="Microsoft YaHei"/>
              </a:rPr>
              <a:t>直接学习样本特征到参数的映射。</a:t>
            </a:r>
          </a:p>
        </p:txBody>
      </p:sp>
      <p:sp>
        <p:nvSpPr>
          <p:cNvPr id="30" name="panel-citations">
            <a:extLst xmlns:a="http://schemas.openxmlformats.org/drawingml/2006/main">
              <a:ext uri="{FF2B5EF4-FFF2-40B4-BE49-F238E27FC236}">
                <a16:creationId xmlns:a16="http://schemas.microsoft.com/office/drawing/2014/main" id="{FFF163E1-9DEA-A44C-8F7B-54741DC29B7F}"/>
              </a:ext>
            </a:extLst>
          </p:cNvPr>
          <p:cNvSpPr>
            <a:spLocks xmlns:a="http://schemas.openxmlformats.org/drawingml/2006/main" noGrp="1"/>
          </p:cNvSpPr>
          <p:nvPr/>
        </p:nvSpPr>
        <p:spPr>
          <a:xfrm xmlns:a="http://schemas.openxmlformats.org/drawingml/2006/main">
            <a:off x="622300" y="6350000"/>
            <a:ext cx="10922000" cy="177800"/>
          </a:xfrm>
          <a:prstGeom xmlns:a="http://schemas.openxmlformats.org/drawingml/2006/main" prst="rect">
            <a:avLst/>
          </a:prstGeom>
          <a:noFill xmlns:a="http://schemas.openxmlformats.org/drawingml/2006/main"/>
        </p:spPr>
        <p:txBody>
          <a:bodyPr xmlns:a="http://schemas.openxmlformats.org/drawingml/2006/main" vert="horz" wrap="square" lIns="38100" tIns="0" rIns="38100" bIns="0" anchor="t">
            <a:noAutofit/>
          </a:bodyPr>
          <a:lstStyle xmlns:a="http://schemas.openxmlformats.org/drawingml/2006/main"/>
          <a:p xmlns:a="http://schemas.openxmlformats.org/drawingml/2006/main">
            <a:pPr>
              <a:lnSpc>
                <a:spcPts val="1180"/>
              </a:lnSpc>
              <a:buNone/>
            </a:pPr>
            <a:r>
              <a:rPr sz="1000">
                <a:solidFill>
                  <a:srgbClr val="787878"/>
                </a:solidFill>
                <a:latin typeface="Microsoft YaHei"/>
                <a:ea typeface="Microsoft YaHei"/>
                <a:cs typeface="Microsoft YaHei"/>
              </a:rPr>
              <a:t>SAM [185-005]</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PM [182-117]</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LSPF [182-113]</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BPNN [184-009]</a:t>
            </a:r>
            <a:r>
              <a:rPr sz="1000">
                <a:solidFill>
                  <a:srgbClr val="787878"/>
                </a:solidFill>
                <a:latin typeface="Microsoft YaHei"/>
                <a:ea typeface="Microsoft YaHei"/>
                <a:cs typeface="Microsoft YaHei"/>
              </a:rPr>
              <a:t>。</a:t>
            </a:r>
            <a:r>
              <a:rPr sz="1000">
                <a:solidFill>
                  <a:srgbClr val="787878"/>
                </a:solidFill>
                <a:latin typeface="Microsoft YaHei"/>
                <a:ea typeface="Microsoft YaHei"/>
                <a:cs typeface="Microsoft YaHei"/>
              </a:rPr>
              <a:t>BPNN</a:t>
            </a:r>
            <a:r>
              <a:rPr sz="1000">
                <a:solidFill>
                  <a:srgbClr val="787878"/>
                </a:solidFill>
                <a:latin typeface="Microsoft YaHei"/>
                <a:ea typeface="Microsoft YaHei"/>
                <a:cs typeface="Microsoft YaHei"/>
              </a:rPr>
              <a:t>是近期实例，不是该路线起点。</a:t>
            </a:r>
          </a:p>
        </p:txBody>
      </p:sp>
      <p:sp>
        <p:nvSpPr>
          <p:cNvPr id="31" name="fig1-edge12-1">
            <a:extLst xmlns:a="http://schemas.openxmlformats.org/drawingml/2006/main">
              <a:ext uri="{FF2B5EF4-FFF2-40B4-BE49-F238E27FC236}">
                <a16:creationId xmlns:a16="http://schemas.microsoft.com/office/drawing/2014/main" id="{452576A1-345E-4E2D-8C01-0CE15F07CCAE}"/>
              </a:ext>
            </a:extLst>
          </p:cNvPr>
          <p:cNvSpPr>
            <a:spLocks xmlns:a="http://schemas.openxmlformats.org/drawingml/2006/main" noGrp="1"/>
          </p:cNvSpPr>
          <p:nvPr/>
        </p:nvSpPr>
        <p:spPr>
          <a:xfrm xmlns:a="http://schemas.openxmlformats.org/drawingml/2006/main">
            <a:off x="3924300" y="2806700"/>
            <a:ext cx="3302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fig1-edge12-2">
            <a:extLst xmlns:a="http://schemas.openxmlformats.org/drawingml/2006/main">
              <a:ext uri="{FF2B5EF4-FFF2-40B4-BE49-F238E27FC236}">
                <a16:creationId xmlns:a16="http://schemas.microsoft.com/office/drawing/2014/main" id="{5407042D-DCF5-41D8-85E2-32F15755A26D}"/>
              </a:ext>
            </a:extLst>
          </p:cNvPr>
          <p:cNvSpPr>
            <a:spLocks xmlns:a="http://schemas.openxmlformats.org/drawingml/2006/main" noGrp="1"/>
          </p:cNvSpPr>
          <p:nvPr/>
        </p:nvSpPr>
        <p:spPr>
          <a:xfrm xmlns:a="http://schemas.openxmlformats.org/drawingml/2006/main" flipV="1">
            <a:off x="4254500" y="2514600"/>
            <a:ext cx="0" cy="29210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fig1-edge12-3">
            <a:extLst xmlns:a="http://schemas.openxmlformats.org/drawingml/2006/main">
              <a:ext uri="{FF2B5EF4-FFF2-40B4-BE49-F238E27FC236}">
                <a16:creationId xmlns:a16="http://schemas.microsoft.com/office/drawing/2014/main" id="{202363D9-6939-4A49-81ED-D671F964A62E}"/>
              </a:ext>
            </a:extLst>
          </p:cNvPr>
          <p:cNvSpPr>
            <a:spLocks xmlns:a="http://schemas.openxmlformats.org/drawingml/2006/main" noGrp="1"/>
          </p:cNvSpPr>
          <p:nvPr/>
        </p:nvSpPr>
        <p:spPr>
          <a:xfrm xmlns:a="http://schemas.openxmlformats.org/drawingml/2006/main">
            <a:off x="4254500" y="2514600"/>
            <a:ext cx="36068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fig1-edge13-1">
            <a:extLst xmlns:a="http://schemas.openxmlformats.org/drawingml/2006/main">
              <a:ext uri="{FF2B5EF4-FFF2-40B4-BE49-F238E27FC236}">
                <a16:creationId xmlns:a16="http://schemas.microsoft.com/office/drawing/2014/main" id="{9FEB2136-BE5B-4931-BE33-74D86A178EE8}"/>
              </a:ext>
            </a:extLst>
          </p:cNvPr>
          <p:cNvSpPr>
            <a:spLocks xmlns:a="http://schemas.openxmlformats.org/drawingml/2006/main" noGrp="1"/>
          </p:cNvSpPr>
          <p:nvPr/>
        </p:nvSpPr>
        <p:spPr>
          <a:xfrm xmlns:a="http://schemas.openxmlformats.org/drawingml/2006/main">
            <a:off x="3924300" y="3225800"/>
            <a:ext cx="330200" cy="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fig1-edge13-2">
            <a:extLst xmlns:a="http://schemas.openxmlformats.org/drawingml/2006/main">
              <a:ext uri="{FF2B5EF4-FFF2-40B4-BE49-F238E27FC236}">
                <a16:creationId xmlns:a16="http://schemas.microsoft.com/office/drawing/2014/main" id="{A6FB6B0D-245C-42CB-92BA-F03998FF8565}"/>
              </a:ext>
            </a:extLst>
          </p:cNvPr>
          <p:cNvSpPr>
            <a:spLocks xmlns:a="http://schemas.openxmlformats.org/drawingml/2006/main" noGrp="1"/>
          </p:cNvSpPr>
          <p:nvPr/>
        </p:nvSpPr>
        <p:spPr>
          <a:xfrm xmlns:a="http://schemas.openxmlformats.org/drawingml/2006/main">
            <a:off x="4254500" y="3225800"/>
            <a:ext cx="0" cy="228600"/>
          </a:xfrm>
          <a:prstGeom xmlns:a="http://schemas.openxmlformats.org/drawingml/2006/main" prst="line">
            <a:avLst/>
          </a:prstGeom>
          <a:ln xmlns:a="http://schemas.openxmlformats.org/drawingml/2006/main" w="16510">
            <a:solidFill>
              <a:srgbClr val="52677A"/>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fig1-edge13-3">
            <a:extLst xmlns:a="http://schemas.openxmlformats.org/drawingml/2006/main">
              <a:ext uri="{FF2B5EF4-FFF2-40B4-BE49-F238E27FC236}">
                <a16:creationId xmlns:a16="http://schemas.microsoft.com/office/drawing/2014/main" id="{3617336A-479E-4FFF-9C7D-F0059EB16568}"/>
              </a:ext>
            </a:extLst>
          </p:cNvPr>
          <p:cNvSpPr>
            <a:spLocks xmlns:a="http://schemas.openxmlformats.org/drawingml/2006/main" noGrp="1"/>
          </p:cNvSpPr>
          <p:nvPr/>
        </p:nvSpPr>
        <p:spPr>
          <a:xfrm xmlns:a="http://schemas.openxmlformats.org/drawingml/2006/main">
            <a:off x="4254500" y="3454400"/>
            <a:ext cx="36068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fig1-edge14-1">
            <a:extLst xmlns:a="http://schemas.openxmlformats.org/drawingml/2006/main">
              <a:ext uri="{FF2B5EF4-FFF2-40B4-BE49-F238E27FC236}">
                <a16:creationId xmlns:a16="http://schemas.microsoft.com/office/drawing/2014/main" id="{3FD4FDEA-8789-4E2E-8F00-569D1C5AAE1E}"/>
              </a:ext>
            </a:extLst>
          </p:cNvPr>
          <p:cNvSpPr>
            <a:spLocks xmlns:a="http://schemas.openxmlformats.org/drawingml/2006/main" noGrp="1"/>
          </p:cNvSpPr>
          <p:nvPr/>
        </p:nvSpPr>
        <p:spPr>
          <a:xfrm xmlns:a="http://schemas.openxmlformats.org/drawingml/2006/main">
            <a:off x="3924300" y="4432300"/>
            <a:ext cx="3937000" cy="0"/>
          </a:xfrm>
          <a:prstGeom xmlns:a="http://schemas.openxmlformats.org/drawingml/2006/main" prst="line">
            <a:avLst/>
          </a:prstGeom>
          <a:ln xmlns:a="http://schemas.openxmlformats.org/drawingml/2006/main" w="16510">
            <a:solidFill>
              <a:srgbClr val="52677A"/>
            </a:solidFill>
            <a:prstDash val="dash"/>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fig1-edge15-1">
            <a:extLst xmlns:a="http://schemas.openxmlformats.org/drawingml/2006/main">
              <a:ext uri="{FF2B5EF4-FFF2-40B4-BE49-F238E27FC236}">
                <a16:creationId xmlns:a16="http://schemas.microsoft.com/office/drawing/2014/main" id="{C97E0014-B02C-43E1-A9F4-FD229655B7D5}"/>
              </a:ext>
            </a:extLst>
          </p:cNvPr>
          <p:cNvSpPr>
            <a:spLocks xmlns:a="http://schemas.openxmlformats.org/drawingml/2006/main" noGrp="1"/>
          </p:cNvSpPr>
          <p:nvPr/>
        </p:nvSpPr>
        <p:spPr>
          <a:xfrm xmlns:a="http://schemas.openxmlformats.org/drawingml/2006/main">
            <a:off x="3924300" y="5359400"/>
            <a:ext cx="3937000" cy="0"/>
          </a:xfrm>
          <a:prstGeom xmlns:a="http://schemas.openxmlformats.org/drawingml/2006/main" prst="line">
            <a:avLst/>
          </a:prstGeom>
          <a:ln xmlns:a="http://schemas.openxmlformats.org/drawingml/2006/main" w="16510">
            <a:solidFill>
              <a:srgbClr val="52677A"/>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2517209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近期工作：改进层次与研究条件不同</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近期进展及其检验证据</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02</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70FE6FF3-C7E8-DD81-6816-CD36888990A5}"/>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近</a:t>
            </a:r>
            <a:r>
              <a:rPr>
                <a:solidFill>
                  <a:srgbClr val="2F6096"/>
                </a:solidFill>
                <a:latin typeface="Microsoft YaHei"/>
                <a:ea typeface="Microsoft YaHei"/>
                <a:cs typeface="Microsoft YaHei"/>
              </a:rPr>
              <a:t>10—20</a:t>
            </a:r>
            <a:r>
              <a:rPr>
                <a:solidFill>
                  <a:srgbClr val="2F6096"/>
                </a:solidFill>
                <a:latin typeface="Microsoft YaHei"/>
                <a:ea typeface="Microsoft YaHei"/>
                <a:cs typeface="Microsoft YaHei"/>
              </a:rPr>
              <a:t>年的新工作，并不都在同一任务下竞争。</a:t>
            </a:r>
          </a:p>
        </p:txBody>
      </p:sp>
      <p:sp>
        <p:nvSpPr>
          <p:cNvPr id="7" name="文本框 6">
            <a:extLst xmlns:a="http://schemas.openxmlformats.org/drawingml/2006/main">
              <a:ext uri="{FF2B5EF4-FFF2-40B4-BE49-F238E27FC236}">
                <a16:creationId xmlns:a16="http://schemas.microsoft.com/office/drawing/2014/main" id="{1504D4E2-A117-82A7-4055-45AEF192AE6E}"/>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defRPr sz="1725">
                <a:solidFill>
                  <a:srgbClr val="2F6096"/>
                </a:solidFill>
                <a:latin typeface="Microsoft YaHei"/>
                <a:ea typeface="Microsoft YaHei"/>
                <a:cs typeface="Microsoft YaHei"/>
              </a:defRPr>
            </a:pPr>
            <a:r>
              <a:rPr sz="1725" b="1">
                <a:solidFill>
                  <a:srgbClr val="2F6096"/>
                </a:solidFill>
                <a:latin typeface="Microsoft YaHei"/>
                <a:ea typeface="Microsoft YaHei"/>
                <a:cs typeface="Microsoft YaHei"/>
              </a:rPr>
              <a:t>63条定向核查材料显示多种路线并存，尚不能据此判断全领域重心转移。</a:t>
            </a:r>
          </a:p>
        </p:txBody>
      </p:sp>
      <p:sp>
        <p:nvSpPr>
          <p:cNvPr id="9" name="文本框 8">
            <a:extLst xmlns:a="http://schemas.openxmlformats.org/drawingml/2006/main">
              <a:ext uri="{FF2B5EF4-FFF2-40B4-BE49-F238E27FC236}">
                <a16:creationId xmlns:a16="http://schemas.microsoft.com/office/drawing/2014/main" id="{54E31587-3EF2-3708-8EA4-E4AE09E814B6}"/>
              </a:ext>
            </a:extLst>
          </p:cNvPr>
          <p:cNvSpPr>
            <a:spLocks xmlns:a="http://schemas.openxmlformats.org/drawingml/2006/main" noGrp="1"/>
          </p:cNvSpPr>
          <p:nvPr/>
        </p:nvSpPr>
        <p:spPr>
          <a:xfrm xmlns:a="http://schemas.openxmlformats.org/drawingml/2006/main">
            <a:off x="622300" y="2476500"/>
            <a:ext cx="2082800" cy="444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860"/>
              </a:lnSpc>
              <a:buNone/>
            </a:pPr>
            <a:r>
              <a:rPr sz="2200" b="1">
                <a:solidFill>
                  <a:srgbClr val="C55A11"/>
                </a:solidFill>
                <a:latin typeface="Microsoft YaHei"/>
                <a:ea typeface="Microsoft YaHei"/>
                <a:cs typeface="Microsoft YaHei"/>
              </a:rPr>
              <a:t>改估计构造</a:t>
            </a:r>
          </a:p>
        </p:txBody>
      </p:sp>
      <p:sp>
        <p:nvSpPr>
          <p:cNvPr id="10" name="文本框 9">
            <a:extLst xmlns:a="http://schemas.openxmlformats.org/drawingml/2006/main">
              <a:ext uri="{FF2B5EF4-FFF2-40B4-BE49-F238E27FC236}">
                <a16:creationId xmlns:a16="http://schemas.microsoft.com/office/drawing/2014/main" id="{30762B04-7DF6-2EE4-F31F-3DFCBE1C83B5}"/>
              </a:ext>
            </a:extLst>
          </p:cNvPr>
          <p:cNvSpPr>
            <a:spLocks xmlns:a="http://schemas.openxmlformats.org/drawingml/2006/main" noGrp="1"/>
          </p:cNvSpPr>
          <p:nvPr/>
        </p:nvSpPr>
        <p:spPr>
          <a:xfrm xmlns:a="http://schemas.openxmlformats.org/drawingml/2006/main">
            <a:off x="2933700" y="2476500"/>
            <a:ext cx="8559800" cy="3937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有限样本、位置和偏差：</a:t>
            </a:r>
            <a:r>
              <a:rPr sz="1700" b="1">
                <a:solidFill>
                  <a:srgbClr val="2F6096"/>
                </a:solidFill>
                <a:latin typeface="Microsoft YaHei"/>
                <a:ea typeface="Microsoft YaHei"/>
                <a:cs typeface="Microsoft YaHei"/>
              </a:rPr>
              <a:t>WMLE</a:t>
            </a:r>
            <a:r>
              <a:rPr sz="1700" b="1">
                <a:solidFill>
                  <a:srgbClr val="2F6096"/>
                </a:solidFill>
                <a:latin typeface="Microsoft YaHei"/>
                <a:ea typeface="Microsoft YaHei"/>
                <a:cs typeface="Microsoft YaHei"/>
              </a:rPr>
              <a:t>、</a:t>
            </a:r>
            <a:r>
              <a:rPr sz="1700" b="1">
                <a:solidFill>
                  <a:srgbClr val="2F6096"/>
                </a:solidFill>
                <a:latin typeface="Microsoft YaHei"/>
                <a:ea typeface="Microsoft YaHei"/>
                <a:cs typeface="Microsoft YaHei"/>
              </a:rPr>
              <a:t>Park</a:t>
            </a:r>
            <a:r>
              <a:rPr sz="1700" b="1">
                <a:solidFill>
                  <a:srgbClr val="2F6096"/>
                </a:solidFill>
                <a:latin typeface="Microsoft YaHei"/>
                <a:ea typeface="Microsoft YaHei"/>
                <a:cs typeface="Microsoft YaHei"/>
              </a:rPr>
              <a:t>、</a:t>
            </a:r>
            <a:r>
              <a:rPr sz="1700" b="1">
                <a:solidFill>
                  <a:srgbClr val="2F6096"/>
                </a:solidFill>
                <a:latin typeface="Microsoft YaHei"/>
                <a:ea typeface="Microsoft YaHei"/>
                <a:cs typeface="Microsoft YaHei"/>
              </a:rPr>
              <a:t>SAM/PM</a:t>
            </a:r>
            <a:r>
              <a:rPr sz="1700" b="1">
                <a:solidFill>
                  <a:srgbClr val="2F6096"/>
                </a:solidFill>
                <a:latin typeface="Microsoft YaHei"/>
                <a:ea typeface="Microsoft YaHei"/>
                <a:cs typeface="Microsoft YaHei"/>
              </a:rPr>
              <a:t>、</a:t>
            </a:r>
            <a:r>
              <a:rPr sz="1700" b="1">
                <a:solidFill>
                  <a:srgbClr val="2F6096"/>
                </a:solidFill>
                <a:latin typeface="Microsoft YaHei"/>
                <a:ea typeface="Microsoft YaHei"/>
                <a:cs typeface="Microsoft YaHei"/>
              </a:rPr>
              <a:t>DMMLE</a:t>
            </a:r>
            <a:r>
              <a:rPr sz="1700" b="1">
                <a:solidFill>
                  <a:srgbClr val="2F6096"/>
                </a:solidFill>
                <a:latin typeface="Microsoft YaHei"/>
                <a:ea typeface="Microsoft YaHei"/>
                <a:cs typeface="Microsoft YaHei"/>
              </a:rPr>
              <a:t>。</a:t>
            </a:r>
          </a:p>
        </p:txBody>
      </p:sp>
      <p:sp>
        <p:nvSpPr>
          <p:cNvPr id="14" name="文本框 13">
            <a:extLst xmlns:a="http://schemas.openxmlformats.org/drawingml/2006/main">
              <a:ext uri="{FF2B5EF4-FFF2-40B4-BE49-F238E27FC236}">
                <a16:creationId xmlns:a16="http://schemas.microsoft.com/office/drawing/2014/main" id="{A996BDCF-4100-5E60-3EB4-9312AA225023}"/>
              </a:ext>
            </a:extLst>
          </p:cNvPr>
          <p:cNvSpPr>
            <a:spLocks xmlns:a="http://schemas.openxmlformats.org/drawingml/2006/main" noGrp="1"/>
          </p:cNvSpPr>
          <p:nvPr/>
        </p:nvSpPr>
        <p:spPr>
          <a:xfrm xmlns:a="http://schemas.openxmlformats.org/drawingml/2006/main">
            <a:off x="2933700" y="2933700"/>
            <a:ext cx="8559800" cy="381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a:solidFill>
                  <a:srgbClr val="000000"/>
                </a:solidFill>
                <a:latin typeface="Microsoft YaHei"/>
                <a:ea typeface="Microsoft YaHei"/>
                <a:cs typeface="Microsoft YaHei"/>
              </a:rPr>
              <a:t>直接学习映射也属相关构造，要核训练范围与损失。</a:t>
            </a:r>
          </a:p>
        </p:txBody>
      </p:sp>
      <p:sp>
        <p:nvSpPr>
          <p:cNvPr id="15" name="文本框 14">
            <a:extLst xmlns:a="http://schemas.openxmlformats.org/drawingml/2006/main">
              <a:ext uri="{FF2B5EF4-FFF2-40B4-BE49-F238E27FC236}">
                <a16:creationId xmlns:a16="http://schemas.microsoft.com/office/drawing/2014/main" id="{032AAE2C-08DC-94CE-0A17-746F62F0AB28}"/>
              </a:ext>
            </a:extLst>
          </p:cNvPr>
          <p:cNvSpPr>
            <a:spLocks xmlns:a="http://schemas.openxmlformats.org/drawingml/2006/main" noGrp="1"/>
          </p:cNvSpPr>
          <p:nvPr/>
        </p:nvSpPr>
        <p:spPr>
          <a:xfrm xmlns:a="http://schemas.openxmlformats.org/drawingml/2006/main">
            <a:off x="622300" y="3594100"/>
            <a:ext cx="2082800" cy="444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860"/>
              </a:lnSpc>
              <a:buNone/>
            </a:pPr>
            <a:r>
              <a:rPr sz="2200" b="1">
                <a:solidFill>
                  <a:srgbClr val="C55A11"/>
                </a:solidFill>
                <a:latin typeface="Microsoft YaHei"/>
                <a:ea typeface="Microsoft YaHei"/>
                <a:cs typeface="Microsoft YaHei"/>
              </a:rPr>
              <a:t>改观测条件</a:t>
            </a:r>
          </a:p>
        </p:txBody>
      </p:sp>
      <p:sp>
        <p:nvSpPr>
          <p:cNvPr id="16" name="文本框 15">
            <a:extLst xmlns:a="http://schemas.openxmlformats.org/drawingml/2006/main">
              <a:ext uri="{FF2B5EF4-FFF2-40B4-BE49-F238E27FC236}">
                <a16:creationId xmlns:a16="http://schemas.microsoft.com/office/drawing/2014/main" id="{05668768-2A2A-4E3B-2B78-A189DDC6BFB7}"/>
              </a:ext>
            </a:extLst>
          </p:cNvPr>
          <p:cNvSpPr>
            <a:spLocks xmlns:a="http://schemas.openxmlformats.org/drawingml/2006/main" noGrp="1"/>
          </p:cNvSpPr>
          <p:nvPr/>
        </p:nvSpPr>
        <p:spPr>
          <a:xfrm xmlns:a="http://schemas.openxmlformats.org/drawingml/2006/main">
            <a:off x="2933700" y="3594100"/>
            <a:ext cx="8559800" cy="3937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污染、删失等：</a:t>
            </a:r>
            <a:r>
              <a:rPr sz="1700" b="1">
                <a:solidFill>
                  <a:srgbClr val="2F6096"/>
                </a:solidFill>
                <a:latin typeface="Microsoft YaHei"/>
                <a:ea typeface="Microsoft YaHei"/>
                <a:cs typeface="Microsoft YaHei"/>
              </a:rPr>
              <a:t>PITE [182-003]</a:t>
            </a:r>
            <a:r>
              <a:rPr sz="1700" b="1">
                <a:solidFill>
                  <a:srgbClr val="2F6096"/>
                </a:solidFill>
                <a:latin typeface="Microsoft YaHei"/>
                <a:ea typeface="Microsoft YaHei"/>
                <a:cs typeface="Microsoft YaHei"/>
              </a:rPr>
              <a:t>、删失研究 </a:t>
            </a:r>
            <a:r>
              <a:rPr sz="1700" b="1">
                <a:solidFill>
                  <a:srgbClr val="2F6096"/>
                </a:solidFill>
                <a:latin typeface="Microsoft YaHei"/>
                <a:ea typeface="Microsoft YaHei"/>
                <a:cs typeface="Microsoft YaHei"/>
              </a:rPr>
              <a:t>[182-114]</a:t>
            </a:r>
            <a:r>
              <a:rPr sz="1700" b="1">
                <a:solidFill>
                  <a:srgbClr val="2F6096"/>
                </a:solidFill>
                <a:latin typeface="Microsoft YaHei"/>
                <a:ea typeface="Microsoft YaHei"/>
                <a:cs typeface="Microsoft YaHei"/>
              </a:rPr>
              <a:t>。</a:t>
            </a:r>
          </a:p>
        </p:txBody>
      </p:sp>
      <p:sp>
        <p:nvSpPr>
          <p:cNvPr id="17" name="文本框 16">
            <a:extLst xmlns:a="http://schemas.openxmlformats.org/drawingml/2006/main">
              <a:ext uri="{FF2B5EF4-FFF2-40B4-BE49-F238E27FC236}">
                <a16:creationId xmlns:a16="http://schemas.microsoft.com/office/drawing/2014/main" id="{D829A61D-CFD6-9AA8-0B9F-514C376D83C6}"/>
              </a:ext>
            </a:extLst>
          </p:cNvPr>
          <p:cNvSpPr>
            <a:spLocks xmlns:a="http://schemas.openxmlformats.org/drawingml/2006/main" noGrp="1"/>
          </p:cNvSpPr>
          <p:nvPr/>
        </p:nvSpPr>
        <p:spPr>
          <a:xfrm xmlns:a="http://schemas.openxmlformats.org/drawingml/2006/main">
            <a:off x="2933700" y="4051300"/>
            <a:ext cx="8559800" cy="381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a:solidFill>
                  <a:srgbClr val="000000"/>
                </a:solidFill>
                <a:latin typeface="Microsoft YaHei"/>
                <a:ea typeface="Microsoft YaHei"/>
                <a:cs typeface="Microsoft YaHei"/>
              </a:rPr>
              <a:t>与完整样本任务不同，特殊情境中的排名不能直接移用。</a:t>
            </a:r>
          </a:p>
        </p:txBody>
      </p:sp>
      <p:sp>
        <p:nvSpPr>
          <p:cNvPr id="18" name="文本框 17">
            <a:extLst xmlns:a="http://schemas.openxmlformats.org/drawingml/2006/main">
              <a:ext uri="{FF2B5EF4-FFF2-40B4-BE49-F238E27FC236}">
                <a16:creationId xmlns:a16="http://schemas.microsoft.com/office/drawing/2014/main" id="{8D95A7F3-14D6-A065-D07F-43881FCB45B0}"/>
              </a:ext>
            </a:extLst>
          </p:cNvPr>
          <p:cNvSpPr>
            <a:spLocks xmlns:a="http://schemas.openxmlformats.org/drawingml/2006/main" noGrp="1"/>
          </p:cNvSpPr>
          <p:nvPr/>
        </p:nvSpPr>
        <p:spPr>
          <a:xfrm xmlns:a="http://schemas.openxmlformats.org/drawingml/2006/main">
            <a:off x="622300" y="4711700"/>
            <a:ext cx="2082800" cy="444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860"/>
              </a:lnSpc>
              <a:buNone/>
            </a:pPr>
            <a:r>
              <a:rPr sz="2200" b="1">
                <a:solidFill>
                  <a:srgbClr val="C55A11"/>
                </a:solidFill>
                <a:latin typeface="Microsoft YaHei"/>
                <a:ea typeface="Microsoft YaHei"/>
                <a:cs typeface="Microsoft YaHei"/>
              </a:rPr>
              <a:t>改求解过程</a:t>
            </a:r>
          </a:p>
        </p:txBody>
      </p:sp>
      <p:sp>
        <p:nvSpPr>
          <p:cNvPr id="19" name="文本框 18">
            <a:extLst xmlns:a="http://schemas.openxmlformats.org/drawingml/2006/main">
              <a:ext uri="{FF2B5EF4-FFF2-40B4-BE49-F238E27FC236}">
                <a16:creationId xmlns:a16="http://schemas.microsoft.com/office/drawing/2014/main" id="{5A457CEA-8DC3-A10C-8854-46FCE3CC0C15}"/>
              </a:ext>
            </a:extLst>
          </p:cNvPr>
          <p:cNvSpPr>
            <a:spLocks xmlns:a="http://schemas.openxmlformats.org/drawingml/2006/main" noGrp="1"/>
          </p:cNvSpPr>
          <p:nvPr/>
        </p:nvSpPr>
        <p:spPr>
          <a:xfrm xmlns:a="http://schemas.openxmlformats.org/drawingml/2006/main">
            <a:off x="2933700" y="4711700"/>
            <a:ext cx="8559800" cy="3937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保留统计目标，改善搜索：</a:t>
            </a:r>
            <a:r>
              <a:rPr sz="1700" b="1">
                <a:solidFill>
                  <a:srgbClr val="2F6096"/>
                </a:solidFill>
                <a:latin typeface="Microsoft YaHei"/>
                <a:ea typeface="Microsoft YaHei"/>
                <a:cs typeface="Microsoft YaHei"/>
              </a:rPr>
              <a:t>ADGBO [187-001]</a:t>
            </a:r>
            <a:r>
              <a:rPr sz="1700" b="1">
                <a:solidFill>
                  <a:srgbClr val="2F6096"/>
                </a:solidFill>
                <a:latin typeface="Microsoft YaHei"/>
                <a:ea typeface="Microsoft YaHei"/>
                <a:cs typeface="Microsoft YaHei"/>
              </a:rPr>
              <a:t>、</a:t>
            </a:r>
            <a:r>
              <a:rPr sz="1700" b="1">
                <a:solidFill>
                  <a:srgbClr val="2F6096"/>
                </a:solidFill>
                <a:latin typeface="Microsoft YaHei"/>
                <a:ea typeface="Microsoft YaHei"/>
                <a:cs typeface="Microsoft YaHei"/>
              </a:rPr>
              <a:t>PSO</a:t>
            </a:r>
            <a:r>
              <a:rPr sz="1700" b="1">
                <a:solidFill>
                  <a:srgbClr val="2F6096"/>
                </a:solidFill>
                <a:latin typeface="Microsoft YaHei"/>
                <a:ea typeface="Microsoft YaHei"/>
                <a:cs typeface="Microsoft YaHei"/>
              </a:rPr>
              <a:t>等。</a:t>
            </a:r>
          </a:p>
        </p:txBody>
      </p:sp>
      <p:sp>
        <p:nvSpPr>
          <p:cNvPr id="20" name="文本框 19">
            <a:extLst xmlns:a="http://schemas.openxmlformats.org/drawingml/2006/main">
              <a:ext uri="{FF2B5EF4-FFF2-40B4-BE49-F238E27FC236}">
                <a16:creationId xmlns:a16="http://schemas.microsoft.com/office/drawing/2014/main" id="{A264FA82-2916-7541-E4BD-51CCAEE83CA4}"/>
              </a:ext>
            </a:extLst>
          </p:cNvPr>
          <p:cNvSpPr>
            <a:spLocks xmlns:a="http://schemas.openxmlformats.org/drawingml/2006/main" noGrp="1"/>
          </p:cNvSpPr>
          <p:nvPr/>
        </p:nvSpPr>
        <p:spPr>
          <a:xfrm xmlns:a="http://schemas.openxmlformats.org/drawingml/2006/main">
            <a:off x="2933700" y="5168900"/>
            <a:ext cx="8559800" cy="381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a:solidFill>
                  <a:srgbClr val="000000"/>
                </a:solidFill>
                <a:latin typeface="Microsoft YaHei"/>
                <a:ea typeface="Microsoft YaHei"/>
                <a:cs typeface="Microsoft YaHei"/>
              </a:rPr>
              <a:t>先核目标与约束，再判断是否属于</a:t>
            </a:r>
            <a:r>
              <a:rPr sz="1700">
                <a:solidFill>
                  <a:srgbClr val="000000"/>
                </a:solidFill>
                <a:latin typeface="Microsoft YaHei"/>
                <a:ea typeface="Microsoft YaHei"/>
                <a:cs typeface="Microsoft YaHei"/>
              </a:rPr>
              <a:t>MLE</a:t>
            </a:r>
            <a:r>
              <a:rPr sz="1700">
                <a:solidFill>
                  <a:srgbClr val="000000"/>
                </a:solidFill>
                <a:latin typeface="Microsoft YaHei"/>
                <a:ea typeface="Microsoft YaHei"/>
                <a:cs typeface="Microsoft YaHei"/>
              </a:rPr>
              <a:t>。</a:t>
            </a:r>
          </a:p>
        </p:txBody>
      </p:sp>
    </p:spTree>
    <p:extLst>
      <p:ext uri="{BB962C8B-B14F-4D97-AF65-F5344CB8AC3E}">
        <p14:creationId xmlns:p14="http://schemas.microsoft.com/office/powerpoint/2010/main" val="16151457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a:t>
            </a:r>
            <a:r>
              <a:rPr sz="2400" b="1" spc="-150">
                <a:solidFill>
                  <a:srgbClr val="FFFFFF"/>
                </a:solidFill>
                <a:latin typeface="汉仪文润宋韵 U"/>
                <a:ea typeface="汉仪文润宋韵 U"/>
                <a:cs typeface="汉仪文润宋韵 U"/>
              </a:rPr>
              <a:t>20</a:t>
            </a:r>
            <a:r>
              <a:rPr sz="2400" b="1" spc="-150">
                <a:solidFill>
                  <a:srgbClr val="FFFFFF"/>
                </a:solidFill>
                <a:latin typeface="汉仪文润宋韵 U"/>
                <a:ea typeface="汉仪文润宋韵 U"/>
                <a:cs typeface="汉仪文润宋韵 U"/>
              </a:rPr>
              <a:t>年已有针对完整三参数估计的改进方法</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近期进展及其检验证据</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02</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9BFDC1C8-AD64-77FF-B03A-016B42044838}"/>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候选范围应覆盖经典改进和近期构造，再看是否符合论文主张。</a:t>
            </a:r>
          </a:p>
        </p:txBody>
      </p:sp>
      <p:sp>
        <p:nvSpPr>
          <p:cNvPr id="7" name="文本框 6">
            <a:extLst xmlns:a="http://schemas.openxmlformats.org/drawingml/2006/main">
              <a:ext uri="{FF2B5EF4-FFF2-40B4-BE49-F238E27FC236}">
                <a16:creationId xmlns:a16="http://schemas.microsoft.com/office/drawing/2014/main" id="{474448B6-AF41-2F1C-5EC2-84985A61FEEA}"/>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defRPr sz="1650">
                <a:solidFill>
                  <a:srgbClr val="2F6096"/>
                </a:solidFill>
                <a:latin typeface="Microsoft YaHei"/>
                <a:ea typeface="Microsoft YaHei"/>
                <a:cs typeface="Microsoft YaHei"/>
              </a:defRPr>
            </a:pPr>
            <a:r>
              <a:rPr sz="1650" b="1">
                <a:solidFill>
                  <a:srgbClr val="2F6096"/>
                </a:solidFill>
                <a:latin typeface="Microsoft YaHei"/>
                <a:ea typeface="Microsoft YaHei"/>
                <a:cs typeface="Microsoft YaHei"/>
              </a:rPr>
              <a:t>MDM已见第一章。HGLM 2024、AIMGC-PSO 2026仅核摘要，尚待全文。</a:t>
            </a:r>
          </a:p>
        </p:txBody>
      </p:sp>
      <p:graphicFrame>
        <p:nvGraphicFramePr>
          <p:cNvPr id="15" name="表格 7"/>
          <p:cNvGraphicFramePr/>
          <p:nvPr/>
        </p:nvGraphicFramePr>
        <p:xfrm>
          <a:off xmlns:a="http://schemas.openxmlformats.org/drawingml/2006/main" x="622300" y="2413000"/>
          <a:ext xmlns:a="http://schemas.openxmlformats.org/drawingml/2006/main" cx="10922000" cy="3301998"/>
        </p:xfrm>
        <a:graphic xmlns:a="http://schemas.openxmlformats.org/drawingml/2006/main">
          <a:graphicData uri="http://schemas.openxmlformats.org/drawingml/2006/table">
            <a:tbl>
              <a:tblPr firstRow="1" bandRow="1">
                <a:tableStyleId>{5C22544A-7EE6-4342-B048-85BDC9FD1C3A}</a:tableStyleId>
              </a:tblPr>
              <a:tblGrid>
                <a:gridCol w="3086100"/>
                <a:gridCol w="4000500"/>
                <a:gridCol w="3835400"/>
              </a:tblGrid>
              <a:tr h="471714">
                <a:tc>
                  <a:txBody>
                    <a:bodyPr/>
                    <a:lstStyle/>
                    <a:p>
                      <a:pPr>
                        <a:spcBef>
                          <a:spcPts val="0"/>
                        </a:spcBef>
                        <a:spcAft>
                          <a:spcPts val="0"/>
                        </a:spcAft>
                        <a:buNone/>
                      </a:pPr>
                      <a:r>
                        <a:rPr sz="1600" b="1">
                          <a:solidFill>
                            <a:srgbClr val="FFFFFF"/>
                          </a:solidFill>
                          <a:latin typeface="Microsoft YaHei"/>
                          <a:ea typeface="Microsoft YaHei"/>
                          <a:cs typeface="Microsoft YaHei"/>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WMLE 2009 [182-088]</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LSPF 2013 [182-113]</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Park 2017 [182-115]</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区分</a:t>
                      </a:r>
                      <a:r>
                        <a:rPr sz="1600" b="0">
                          <a:solidFill>
                            <a:srgbClr val="000000"/>
                          </a:solidFill>
                          <a:latin typeface="Microsoft YaHei"/>
                          <a:ea typeface="Microsoft YaHei"/>
                          <a:cs typeface="Microsoft YaHei"/>
                        </a:rPr>
                        <a:t>Plot</a:t>
                      </a:r>
                      <a:r>
                        <a:rPr sz="1600" b="0">
                          <a:solidFill>
                            <a:srgbClr val="000000"/>
                          </a:solidFill>
                          <a:latin typeface="Microsoft YaHei"/>
                          <a:ea typeface="Microsoft YaHei"/>
                          <a:cs typeface="Microsoft YaHei"/>
                        </a:rPr>
                        <a:t>与</a:t>
                      </a:r>
                      <a:r>
                        <a:rPr sz="1600" b="0">
                          <a:solidFill>
                            <a:srgbClr val="000000"/>
                          </a:solidFill>
                          <a:latin typeface="Microsoft YaHei"/>
                          <a:ea typeface="Microsoft YaHei"/>
                          <a:cs typeface="Microsoft YaHei"/>
                        </a:rPr>
                        <a:t>MLE2</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SAM / PM [185-005/182-117]</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含</a:t>
                      </a:r>
                      <a:r>
                        <a:rPr sz="1600" b="0">
                          <a:solidFill>
                            <a:srgbClr val="000000"/>
                          </a:solidFill>
                          <a:latin typeface="Microsoft YaHei"/>
                          <a:ea typeface="Microsoft YaHei"/>
                          <a:cs typeface="Microsoft YaHei"/>
                        </a:rPr>
                        <a:t>n=5</a:t>
                      </a:r>
                      <a:r>
                        <a:rPr sz="1600" b="0">
                          <a:solidFill>
                            <a:srgbClr val="000000"/>
                          </a:solidFill>
                          <a:latin typeface="Microsoft YaHei"/>
                          <a:ea typeface="Microsoft YaHei"/>
                          <a:cs typeface="Microsoft YaHei"/>
                        </a:rPr>
                        <a:t>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BPNN 2025 [184-009]</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覆盖</a:t>
                      </a:r>
                      <a:r>
                        <a:rPr sz="1600" b="0">
                          <a:solidFill>
                            <a:srgbClr val="000000"/>
                          </a:solidFill>
                          <a:latin typeface="Microsoft YaHei"/>
                          <a:ea typeface="Microsoft YaHei"/>
                          <a:cs typeface="Microsoft YaHei"/>
                        </a:rPr>
                        <a:t>n=5—20</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471714">
                <a:tc>
                  <a:txBody>
                    <a:bodyPr/>
                    <a:lstStyle/>
                    <a:p>
                      <a:pPr>
                        <a:spcBef>
                          <a:spcPts val="0"/>
                        </a:spcBef>
                        <a:spcAft>
                          <a:spcPts val="0"/>
                        </a:spcAft>
                        <a:buNone/>
                      </a:pPr>
                      <a:r>
                        <a:rPr sz="1600" b="0">
                          <a:solidFill>
                            <a:srgbClr val="000000"/>
                          </a:solidFill>
                          <a:latin typeface="Microsoft YaHei"/>
                          <a:ea typeface="Microsoft YaHei"/>
                          <a:cs typeface="Microsoft YaHei"/>
                        </a:rPr>
                        <a:t>DMMLE 2025 [182-111]</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原模拟从</a:t>
                      </a:r>
                      <a:r>
                        <a:rPr sz="1600" b="0">
                          <a:solidFill>
                            <a:srgbClr val="000000"/>
                          </a:solidFill>
                          <a:latin typeface="Microsoft YaHei"/>
                          <a:ea typeface="Microsoft YaHei"/>
                          <a:cs typeface="Microsoft YaHei"/>
                        </a:rPr>
                        <a:t>n=50</a:t>
                      </a:r>
                      <a:r>
                        <a:rPr sz="1600" b="0">
                          <a:solidFill>
                            <a:srgbClr val="000000"/>
                          </a:solidFill>
                          <a:latin typeface="Microsoft YaHei"/>
                          <a:ea typeface="Microsoft YaHei"/>
                          <a:cs typeface="Microsoft YaHei"/>
                        </a:rPr>
                        <a:t>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Tree>
    <p:extLst>
      <p:ext uri="{BB962C8B-B14F-4D97-AF65-F5344CB8AC3E}">
        <p14:creationId xmlns:p14="http://schemas.microsoft.com/office/powerpoint/2010/main" val="323439747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后续检验：采用事实与性能结论分开判断</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近期进展及其检验证据</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02</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68FAD16C-FF77-D9F1-6C05-5700D9662423}"/>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提出论文、后续采用和独立团队比较，提供的证据不同。</a:t>
            </a:r>
          </a:p>
        </p:txBody>
      </p:sp>
      <p:sp>
        <p:nvSpPr>
          <p:cNvPr id="7" name="文本框 6">
            <a:extLst xmlns:a="http://schemas.openxmlformats.org/drawingml/2006/main">
              <a:ext uri="{FF2B5EF4-FFF2-40B4-BE49-F238E27FC236}">
                <a16:creationId xmlns:a16="http://schemas.microsoft.com/office/drawing/2014/main" id="{DCC67B17-9C19-19A4-658E-5F8CC76B584D}"/>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有相关近期候选；尚不能认定一个公认、全面最优的“最新方法”。</a:t>
            </a:r>
          </a:p>
        </p:txBody>
      </p:sp>
      <p:sp>
        <p:nvSpPr>
          <p:cNvPr id="9" name="文本框 8">
            <a:extLst xmlns:a="http://schemas.openxmlformats.org/drawingml/2006/main">
              <a:ext uri="{FF2B5EF4-FFF2-40B4-BE49-F238E27FC236}">
                <a16:creationId xmlns:a16="http://schemas.microsoft.com/office/drawing/2014/main" id="{38626201-2AF1-74F3-FA32-57850C3117DF}"/>
              </a:ext>
            </a:extLst>
          </p:cNvPr>
          <p:cNvSpPr>
            <a:spLocks xmlns:a="http://schemas.openxmlformats.org/drawingml/2006/main" noGrp="1"/>
          </p:cNvSpPr>
          <p:nvPr/>
        </p:nvSpPr>
        <p:spPr>
          <a:xfrm xmlns:a="http://schemas.openxmlformats.org/drawingml/2006/main">
            <a:off x="622300" y="2489200"/>
            <a:ext cx="4953000" cy="406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860"/>
              </a:lnSpc>
              <a:buNone/>
            </a:pPr>
            <a:r>
              <a:rPr sz="2200" b="1">
                <a:solidFill>
                  <a:srgbClr val="C55A11"/>
                </a:solidFill>
                <a:latin typeface="Microsoft YaHei"/>
                <a:ea typeface="Microsoft YaHei"/>
                <a:cs typeface="Microsoft YaHei"/>
              </a:rPr>
              <a:t>已有跨作者采用</a:t>
            </a:r>
          </a:p>
        </p:txBody>
      </p:sp>
      <p:sp>
        <p:nvSpPr>
          <p:cNvPr id="10" name="文本框 9">
            <a:extLst xmlns:a="http://schemas.openxmlformats.org/drawingml/2006/main">
              <a:ext uri="{FF2B5EF4-FFF2-40B4-BE49-F238E27FC236}">
                <a16:creationId xmlns:a16="http://schemas.microsoft.com/office/drawing/2014/main" id="{7A796EF6-FE22-6F7B-DAAC-804831AFD736}"/>
              </a:ext>
            </a:extLst>
          </p:cNvPr>
          <p:cNvSpPr>
            <a:spLocks xmlns:a="http://schemas.openxmlformats.org/drawingml/2006/main" noGrp="1"/>
          </p:cNvSpPr>
          <p:nvPr/>
        </p:nvSpPr>
        <p:spPr>
          <a:xfrm xmlns:a="http://schemas.openxmlformats.org/drawingml/2006/main">
            <a:off x="6426200" y="2489200"/>
            <a:ext cx="5080000" cy="406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860"/>
              </a:lnSpc>
              <a:buNone/>
            </a:pPr>
            <a:r>
              <a:rPr sz="2200" b="1">
                <a:solidFill>
                  <a:srgbClr val="C55A11"/>
                </a:solidFill>
                <a:latin typeface="Microsoft YaHei"/>
                <a:ea typeface="Microsoft YaHei"/>
                <a:cs typeface="Microsoft YaHei"/>
              </a:rPr>
              <a:t>独立确认仍有限</a:t>
            </a:r>
          </a:p>
        </p:txBody>
      </p:sp>
      <p:sp>
        <p:nvSpPr>
          <p:cNvPr id="14" name="文本框 13">
            <a:extLst xmlns:a="http://schemas.openxmlformats.org/drawingml/2006/main">
              <a:ext uri="{FF2B5EF4-FFF2-40B4-BE49-F238E27FC236}">
                <a16:creationId xmlns:a16="http://schemas.microsoft.com/office/drawing/2014/main" id="{57CC98BA-FD9A-B8C5-CED5-42280AFA66E1}"/>
              </a:ext>
            </a:extLst>
          </p:cNvPr>
          <p:cNvSpPr>
            <a:spLocks xmlns:a="http://schemas.openxmlformats.org/drawingml/2006/main" noGrp="1"/>
          </p:cNvSpPr>
          <p:nvPr/>
        </p:nvSpPr>
        <p:spPr>
          <a:xfrm xmlns:a="http://schemas.openxmlformats.org/drawingml/2006/main">
            <a:off x="622300" y="3098800"/>
            <a:ext cx="4953000" cy="12827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470"/>
              </a:lnSpc>
              <a:buNone/>
            </a:pPr>
            <a:r>
              <a:rPr sz="1900">
                <a:solidFill>
                  <a:srgbClr val="000000"/>
                </a:solidFill>
                <a:latin typeface="Microsoft YaHei"/>
                <a:ea typeface="Microsoft YaHei"/>
                <a:cs typeface="Microsoft YaHei"/>
              </a:rPr>
              <a:t>WMLE</a:t>
            </a:r>
          </a:p>
          <a:p xmlns:a="http://schemas.openxmlformats.org/drawingml/2006/main">
            <a:pPr>
              <a:lnSpc>
                <a:spcPts val="2470"/>
              </a:lnSpc>
              <a:buNone/>
            </a:pPr>
            <a:r>
              <a:rPr sz="1900">
                <a:solidFill>
                  <a:srgbClr val="000000"/>
                </a:solidFill>
                <a:latin typeface="Microsoft YaHei"/>
                <a:ea typeface="Microsoft YaHei"/>
                <a:cs typeface="Microsoft YaHei"/>
              </a:rPr>
              <a:t>Nagatsuka</a:t>
            </a:r>
            <a:r>
              <a:rPr sz="1900">
                <a:solidFill>
                  <a:srgbClr val="000000"/>
                </a:solidFill>
                <a:latin typeface="Microsoft YaHei"/>
                <a:ea typeface="Microsoft YaHei"/>
                <a:cs typeface="Microsoft YaHei"/>
              </a:rPr>
              <a:t>（</a:t>
            </a:r>
            <a:r>
              <a:rPr sz="1900">
                <a:solidFill>
                  <a:srgbClr val="000000"/>
                </a:solidFill>
                <a:latin typeface="Microsoft YaHei"/>
                <a:ea typeface="Microsoft YaHei"/>
                <a:cs typeface="Microsoft YaHei"/>
              </a:rPr>
              <a:t>2013</a:t>
            </a:r>
            <a:r>
              <a:rPr sz="1900">
                <a:solidFill>
                  <a:srgbClr val="000000"/>
                </a:solidFill>
                <a:latin typeface="Microsoft YaHei"/>
                <a:ea typeface="Microsoft YaHei"/>
                <a:cs typeface="Microsoft YaHei"/>
              </a:rPr>
              <a:t>）、</a:t>
            </a:r>
            <a:r>
              <a:rPr sz="1900">
                <a:solidFill>
                  <a:srgbClr val="000000"/>
                </a:solidFill>
                <a:latin typeface="Microsoft YaHei"/>
                <a:ea typeface="Microsoft YaHei"/>
                <a:cs typeface="Microsoft YaHei"/>
              </a:rPr>
              <a:t>Safari</a:t>
            </a:r>
            <a:r>
              <a:rPr sz="1900">
                <a:solidFill>
                  <a:srgbClr val="000000"/>
                </a:solidFill>
                <a:latin typeface="Microsoft YaHei"/>
                <a:ea typeface="Microsoft YaHei"/>
                <a:cs typeface="Microsoft YaHei"/>
              </a:rPr>
              <a:t>（</a:t>
            </a:r>
            <a:r>
              <a:rPr sz="1900">
                <a:solidFill>
                  <a:srgbClr val="000000"/>
                </a:solidFill>
                <a:latin typeface="Microsoft YaHei"/>
                <a:ea typeface="Microsoft YaHei"/>
                <a:cs typeface="Microsoft YaHei"/>
              </a:rPr>
              <a:t>2025</a:t>
            </a:r>
            <a:r>
              <a:rPr sz="1900">
                <a:solidFill>
                  <a:srgbClr val="000000"/>
                </a:solidFill>
                <a:latin typeface="Microsoft YaHei"/>
                <a:ea typeface="Microsoft YaHei"/>
                <a:cs typeface="Microsoft YaHei"/>
              </a:rPr>
              <a:t>）</a:t>
            </a:r>
          </a:p>
          <a:p xmlns:a="http://schemas.openxmlformats.org/drawingml/2006/main">
            <a:pPr>
              <a:lnSpc>
                <a:spcPts val="2470"/>
              </a:lnSpc>
              <a:buNone/>
            </a:pPr>
            <a:r>
              <a:rPr sz="1900">
                <a:solidFill>
                  <a:srgbClr val="000000"/>
                </a:solidFill>
                <a:latin typeface="Microsoft YaHei"/>
                <a:ea typeface="Microsoft YaHei"/>
                <a:cs typeface="Microsoft YaHei"/>
              </a:rPr>
              <a:t>均纳入实际比较。</a:t>
            </a:r>
          </a:p>
        </p:txBody>
      </p:sp>
      <p:sp>
        <p:nvSpPr>
          <p:cNvPr id="15" name="文本框 14">
            <a:extLst xmlns:a="http://schemas.openxmlformats.org/drawingml/2006/main">
              <a:ext uri="{FF2B5EF4-FFF2-40B4-BE49-F238E27FC236}">
                <a16:creationId xmlns:a16="http://schemas.microsoft.com/office/drawing/2014/main" id="{9FA1CEC5-8D34-6329-6FCB-5D6FE9EB7B66}"/>
              </a:ext>
            </a:extLst>
          </p:cNvPr>
          <p:cNvSpPr>
            <a:spLocks xmlns:a="http://schemas.openxmlformats.org/drawingml/2006/main" noGrp="1"/>
          </p:cNvSpPr>
          <p:nvPr/>
        </p:nvSpPr>
        <p:spPr>
          <a:xfrm xmlns:a="http://schemas.openxmlformats.org/drawingml/2006/main">
            <a:off x="622300" y="4597400"/>
            <a:ext cx="4953000" cy="9652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470"/>
              </a:lnSpc>
              <a:buNone/>
            </a:pPr>
            <a:r>
              <a:rPr sz="1900">
                <a:solidFill>
                  <a:srgbClr val="000000"/>
                </a:solidFill>
                <a:latin typeface="Microsoft YaHei"/>
                <a:ea typeface="Microsoft YaHei"/>
                <a:cs typeface="Microsoft YaHei"/>
              </a:rPr>
              <a:t>Park</a:t>
            </a:r>
            <a:r>
              <a:rPr sz="1900">
                <a:solidFill>
                  <a:srgbClr val="000000"/>
                </a:solidFill>
                <a:latin typeface="Microsoft YaHei"/>
                <a:ea typeface="Microsoft YaHei"/>
                <a:cs typeface="Microsoft YaHei"/>
              </a:rPr>
              <a:t>相关回归</a:t>
            </a:r>
          </a:p>
          <a:p xmlns:a="http://schemas.openxmlformats.org/drawingml/2006/main">
            <a:pPr>
              <a:lnSpc>
                <a:spcPts val="2470"/>
              </a:lnSpc>
              <a:buNone/>
            </a:pPr>
            <a:r>
              <a:rPr sz="1900">
                <a:solidFill>
                  <a:srgbClr val="000000"/>
                </a:solidFill>
                <a:latin typeface="Microsoft YaHei"/>
                <a:ea typeface="Microsoft YaHei"/>
                <a:cs typeface="Microsoft YaHei"/>
              </a:rPr>
              <a:t>Wang</a:t>
            </a:r>
            <a:r>
              <a:rPr sz="1900">
                <a:solidFill>
                  <a:srgbClr val="000000"/>
                </a:solidFill>
                <a:latin typeface="Microsoft YaHei"/>
                <a:ea typeface="Microsoft YaHei"/>
                <a:cs typeface="Microsoft YaHei"/>
              </a:rPr>
              <a:t>等 </a:t>
            </a:r>
            <a:r>
              <a:rPr sz="1900">
                <a:solidFill>
                  <a:srgbClr val="000000"/>
                </a:solidFill>
                <a:latin typeface="Microsoft YaHei"/>
                <a:ea typeface="Microsoft YaHei"/>
                <a:cs typeface="Microsoft YaHei"/>
              </a:rPr>
              <a:t>[187-001]</a:t>
            </a:r>
            <a:r>
              <a:rPr sz="1900">
                <a:solidFill>
                  <a:srgbClr val="000000"/>
                </a:solidFill>
                <a:latin typeface="Microsoft YaHei"/>
                <a:ea typeface="Microsoft YaHei"/>
                <a:cs typeface="Microsoft YaHei"/>
              </a:rPr>
              <a:t>介绍并比较。</a:t>
            </a:r>
          </a:p>
        </p:txBody>
      </p:sp>
      <p:sp>
        <p:nvSpPr>
          <p:cNvPr id="16" name="文本框 15">
            <a:extLst xmlns:a="http://schemas.openxmlformats.org/drawingml/2006/main">
              <a:ext uri="{FF2B5EF4-FFF2-40B4-BE49-F238E27FC236}">
                <a16:creationId xmlns:a16="http://schemas.microsoft.com/office/drawing/2014/main" id="{8771CB35-9D6D-AC5D-F00F-FF8C0E65C414}"/>
              </a:ext>
            </a:extLst>
          </p:cNvPr>
          <p:cNvSpPr>
            <a:spLocks xmlns:a="http://schemas.openxmlformats.org/drawingml/2006/main" noGrp="1"/>
          </p:cNvSpPr>
          <p:nvPr/>
        </p:nvSpPr>
        <p:spPr>
          <a:xfrm xmlns:a="http://schemas.openxmlformats.org/drawingml/2006/main">
            <a:off x="6426200" y="3098800"/>
            <a:ext cx="5080000" cy="9779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470"/>
              </a:lnSpc>
              <a:buNone/>
            </a:pPr>
            <a:r>
              <a:rPr sz="1900">
                <a:solidFill>
                  <a:srgbClr val="000000"/>
                </a:solidFill>
                <a:latin typeface="Microsoft YaHei"/>
                <a:ea typeface="Microsoft YaHei"/>
                <a:cs typeface="Microsoft YaHei"/>
              </a:rPr>
              <a:t>MDM</a:t>
            </a:r>
          </a:p>
          <a:p xmlns:a="http://schemas.openxmlformats.org/drawingml/2006/main">
            <a:pPr>
              <a:lnSpc>
                <a:spcPts val="2470"/>
              </a:lnSpc>
              <a:buNone/>
            </a:pPr>
            <a:r>
              <a:rPr sz="1900">
                <a:solidFill>
                  <a:srgbClr val="000000"/>
                </a:solidFill>
                <a:latin typeface="Microsoft YaHei"/>
                <a:ea typeface="Microsoft YaHei"/>
                <a:cs typeface="Microsoft YaHei"/>
              </a:rPr>
              <a:t>部分后续比较与提出团队作者重合。</a:t>
            </a:r>
          </a:p>
        </p:txBody>
      </p:sp>
      <p:sp>
        <p:nvSpPr>
          <p:cNvPr id="17" name="文本框 16">
            <a:extLst xmlns:a="http://schemas.openxmlformats.org/drawingml/2006/main">
              <a:ext uri="{FF2B5EF4-FFF2-40B4-BE49-F238E27FC236}">
                <a16:creationId xmlns:a16="http://schemas.microsoft.com/office/drawing/2014/main" id="{50275E3D-0943-869E-6274-43225AD68010}"/>
              </a:ext>
            </a:extLst>
          </p:cNvPr>
          <p:cNvSpPr>
            <a:spLocks xmlns:a="http://schemas.openxmlformats.org/drawingml/2006/main" noGrp="1"/>
          </p:cNvSpPr>
          <p:nvPr/>
        </p:nvSpPr>
        <p:spPr>
          <a:xfrm xmlns:a="http://schemas.openxmlformats.org/drawingml/2006/main">
            <a:off x="6426200" y="4419600"/>
            <a:ext cx="5080000" cy="13081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470"/>
              </a:lnSpc>
              <a:buNone/>
            </a:pPr>
            <a:r>
              <a:rPr sz="1900">
                <a:solidFill>
                  <a:srgbClr val="000000"/>
                </a:solidFill>
                <a:latin typeface="Microsoft YaHei"/>
                <a:ea typeface="Microsoft YaHei"/>
                <a:cs typeface="Microsoft YaHei"/>
              </a:rPr>
              <a:t>SAM</a:t>
            </a:r>
            <a:r>
              <a:rPr sz="1900">
                <a:solidFill>
                  <a:srgbClr val="000000"/>
                </a:solidFill>
                <a:latin typeface="Microsoft YaHei"/>
                <a:ea typeface="Microsoft YaHei"/>
                <a:cs typeface="Microsoft YaHei"/>
              </a:rPr>
              <a:t>、</a:t>
            </a:r>
            <a:r>
              <a:rPr sz="1900">
                <a:solidFill>
                  <a:srgbClr val="000000"/>
                </a:solidFill>
                <a:latin typeface="Microsoft YaHei"/>
                <a:ea typeface="Microsoft YaHei"/>
                <a:cs typeface="Microsoft YaHei"/>
              </a:rPr>
              <a:t>BPNN</a:t>
            </a:r>
            <a:r>
              <a:rPr sz="1900">
                <a:solidFill>
                  <a:srgbClr val="000000"/>
                </a:solidFill>
                <a:latin typeface="Microsoft YaHei"/>
                <a:ea typeface="Microsoft YaHei"/>
                <a:cs typeface="Microsoft YaHei"/>
              </a:rPr>
              <a:t>、</a:t>
            </a:r>
            <a:r>
              <a:rPr sz="1900">
                <a:solidFill>
                  <a:srgbClr val="000000"/>
                </a:solidFill>
                <a:latin typeface="Microsoft YaHei"/>
                <a:ea typeface="Microsoft YaHei"/>
                <a:cs typeface="Microsoft YaHei"/>
              </a:rPr>
              <a:t>DMMLE</a:t>
            </a:r>
          </a:p>
          <a:p xmlns:a="http://schemas.openxmlformats.org/drawingml/2006/main">
            <a:pPr>
              <a:lnSpc>
                <a:spcPts val="2470"/>
              </a:lnSpc>
              <a:buNone/>
            </a:pPr>
            <a:r>
              <a:rPr sz="1900">
                <a:solidFill>
                  <a:srgbClr val="000000"/>
                </a:solidFill>
                <a:latin typeface="Microsoft YaHei"/>
                <a:ea typeface="Microsoft YaHei"/>
                <a:cs typeface="Microsoft YaHei"/>
              </a:rPr>
              <a:t>已核提出论文中的比较；本次尚未</a:t>
            </a:r>
          </a:p>
          <a:p xmlns:a="http://schemas.openxmlformats.org/drawingml/2006/main">
            <a:pPr>
              <a:lnSpc>
                <a:spcPts val="2470"/>
              </a:lnSpc>
              <a:buNone/>
            </a:pPr>
            <a:r>
              <a:rPr sz="1900">
                <a:solidFill>
                  <a:srgbClr val="000000"/>
                </a:solidFill>
                <a:latin typeface="Microsoft YaHei"/>
                <a:ea typeface="Microsoft YaHei"/>
                <a:cs typeface="Microsoft YaHei"/>
              </a:rPr>
              <a:t>确认充分的独立后续检验。</a:t>
            </a:r>
          </a:p>
        </p:txBody>
      </p:sp>
    </p:spTree>
    <p:extLst>
      <p:ext uri="{BB962C8B-B14F-4D97-AF65-F5344CB8AC3E}">
        <p14:creationId xmlns:p14="http://schemas.microsoft.com/office/powerpoint/2010/main" val="41521261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文献中的优势随参数、样本量与指标改变</a:t>
            </a:r>
            <a:endParaRPr sz="26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近期进展及其检验证据</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02</a:t>
            </a:r>
          </a:p>
        </p:txBody>
      </p:sp>
      <p:sp>
        <p:nvSpPr>
          <p:cNvPr id="6" name="">
            <a:extLst xmlns:a="http://schemas.openxmlformats.org/drawingml/2006/main">
              <a:ext uri="{FF2B5EF4-FFF2-40B4-BE49-F238E27FC236}">
                <a16:creationId xmlns:a16="http://schemas.microsoft.com/office/drawing/2014/main" id="{3A0268F9-FA16-437B-9634-3BB6BC5EE8FA}"/>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同一论文也会得到不同排序，方法较新或有理论性质都不足以决定胜负</a:t>
            </a:r>
          </a:p>
        </p:txBody>
      </p:sp>
      <p:graphicFrame>
        <p:nvGraphicFramePr>
          <p:cNvPr id="14" name=""/>
          <p:cNvGraphicFramePr/>
          <p:nvPr/>
        </p:nvGraphicFramePr>
        <p:xfrm>
          <a:off xmlns:a="http://schemas.openxmlformats.org/drawingml/2006/main" x="609600" y="2466975"/>
          <a:ext xmlns:a="http://schemas.openxmlformats.org/drawingml/2006/main" cx="10972800" cy="2943225"/>
        </p:xfrm>
        <a:graphic xmlns:a="http://schemas.openxmlformats.org/drawingml/2006/main">
          <a:graphicData uri="http://schemas.openxmlformats.org/drawingml/2006/table">
            <a:tbl>
              <a:tblPr/>
              <a:tblGrid>
                <a:gridCol w="3143250"/>
                <a:gridCol w="3781425"/>
                <a:gridCol w="4048125"/>
              </a:tblGrid>
              <a:tr h="523875">
                <a:tc>
                  <a:txBody>
                    <a:bodyPr>
                      <a:noAutofit/>
                    </a:bodyPr>
                    <a:lstStyle/>
                    <a:p>
                      <a:r>
                        <a:rPr sz="1725" b="1">
                          <a:solidFill>
                            <a:srgbClr val="FFFFFF"/>
                          </a:solidFill>
                          <a:latin typeface="Microsoft YaHei"/>
                          <a:ea typeface="Microsoft YaHei"/>
                          <a:cs typeface="Microsoft YaHei"/>
                        </a:rPr>
                        <a:t>原论文与设计</a:t>
                      </a:r>
                    </a:p>
                  </a:txBody>
                  <a:tcPr marL="91440" marR="91440" marT="45720" marB="45720">
                    <a:solidFill>
                      <a:srgbClr val="2F6096"/>
                    </a:solidFill>
                  </a:tcPr>
                </a:tc>
                <a:tc>
                  <a:txBody>
                    <a:bodyPr>
                      <a:noAutofit/>
                    </a:bodyPr>
                    <a:lstStyle/>
                    <a:p>
                      <a:r>
                        <a:rPr sz="1725" b="1">
                          <a:solidFill>
                            <a:srgbClr val="FFFFFF"/>
                          </a:solidFill>
                          <a:latin typeface="Microsoft YaHei"/>
                          <a:ea typeface="Microsoft YaHei"/>
                          <a:cs typeface="Microsoft YaHei"/>
                        </a:rPr>
                        <a:t>原文发现</a:t>
                      </a:r>
                    </a:p>
                  </a:txBody>
                  <a:tcPr marL="91440" marR="91440" marT="45720" marB="45720">
                    <a:solidFill>
                      <a:srgbClr val="2F6096"/>
                    </a:solidFill>
                  </a:tcPr>
                </a:tc>
                <a:tc>
                  <a:txBody>
                    <a:bodyPr>
                      <a:noAutofit/>
                    </a:bodyPr>
                    <a:lstStyle/>
                    <a:p>
                      <a:r>
                        <a:rPr sz="1725" b="1">
                          <a:solidFill>
                            <a:srgbClr val="FFFFFF"/>
                          </a:solidFill>
                          <a:latin typeface="Microsoft YaHei"/>
                          <a:ea typeface="Microsoft YaHei"/>
                          <a:cs typeface="Microsoft YaHei"/>
                        </a:rPr>
                        <a:t>选型含义</a:t>
                      </a:r>
                    </a:p>
                  </a:txBody>
                  <a:tcPr marL="91440" marR="91440" marT="45720" marB="45720">
                    <a:solidFill>
                      <a:srgbClr val="2F6096"/>
                    </a:solidFill>
                  </a:tcPr>
                </a:tc>
              </a:tr>
              <a:tr h="1209675">
                <a:tc>
                  <a:txBody>
                    <a:bodyPr>
                      <a:noAutofit/>
                    </a:bodyPr>
                    <a:lstStyle/>
                    <a:p>
                      <a:r>
                        <a:rPr sz="1725" b="0">
                          <a:solidFill>
                            <a:srgbClr val="182538"/>
                          </a:solidFill>
                          <a:latin typeface="Microsoft YaHei"/>
                          <a:ea typeface="Microsoft YaHei"/>
                          <a:cs typeface="Microsoft YaHei"/>
                        </a:rPr>
                        <a:t>Akram–Hayat 2014</a:t>
                      </a:r>
                    </a:p>
                    <a:p>
                      <a:r>
                        <a:rPr sz="1725" b="0">
                          <a:solidFill>
                            <a:srgbClr val="182538"/>
                          </a:solidFill>
                          <a:latin typeface="Microsoft YaHei"/>
                          <a:ea typeface="Microsoft YaHei"/>
                          <a:cs typeface="Microsoft YaHei"/>
                        </a:rPr>
                        <a:t>β=0.5—9，n=10—100</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β=3、4时MLE偏差较小</a:t>
                      </a:r>
                    </a:p>
                    <a:p>
                      <a:r>
                        <a:rPr sz="1725" b="0">
                          <a:solidFill>
                            <a:srgbClr val="182538"/>
                          </a:solidFill>
                          <a:latin typeface="Microsoft YaHei"/>
                          <a:ea typeface="Microsoft YaHei"/>
                          <a:cs typeface="Microsoft YaHei"/>
                        </a:rPr>
                        <a:t>MoE的RMSE更小</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Bias和RMSE可以支持不同选择</a:t>
                      </a:r>
                    </a:p>
                    <a:p>
                      <a:r>
                        <a:rPr sz="1725" b="0">
                          <a:solidFill>
                            <a:srgbClr val="182538"/>
                          </a:solidFill>
                          <a:latin typeface="Microsoft YaHei"/>
                          <a:ea typeface="Microsoft YaHei"/>
                          <a:cs typeface="Microsoft YaHei"/>
                        </a:rPr>
                        <a:t>且该文筛选了收敛样本</a:t>
                      </a:r>
                    </a:p>
                  </a:txBody>
                  <a:tcPr marL="91440" marR="91440" marT="45720" marB="45720">
                    <a:solidFill>
                      <a:srgbClr val="FFFFFF"/>
                    </a:solidFill>
                  </a:tcPr>
                </a:tc>
              </a:tr>
              <a:tr h="1209675">
                <a:tc>
                  <a:txBody>
                    <a:bodyPr>
                      <a:noAutofit/>
                    </a:bodyPr>
                    <a:lstStyle/>
                    <a:p>
                      <a:r>
                        <a:rPr sz="1725" b="0">
                          <a:solidFill>
                            <a:srgbClr val="182538"/>
                          </a:solidFill>
                          <a:latin typeface="Microsoft YaHei"/>
                          <a:ea typeface="Microsoft YaHei"/>
                          <a:cs typeface="Microsoft YaHei"/>
                        </a:rPr>
                        <a:t>Nagatsuka 2013</a:t>
                      </a:r>
                    </a:p>
                    <a:p>
                      <a:r>
                        <a:rPr sz="1725" b="0">
                          <a:solidFill>
                            <a:srgbClr val="182538"/>
                          </a:solidFill>
                          <a:latin typeface="Microsoft YaHei"/>
                          <a:ea typeface="Microsoft YaHei"/>
                          <a:cs typeface="Microsoft YaHei"/>
                        </a:rPr>
                        <a:t>β=0.5—5，n=10—500</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作者整体建议</a:t>
                      </a:r>
                    </a:p>
                    <a:p>
                      <a:r>
                        <a:rPr sz="1725" b="0">
                          <a:solidFill>
                            <a:srgbClr val="182538"/>
                          </a:solidFill>
                          <a:latin typeface="Microsoft YaHei"/>
                          <a:ea typeface="Microsoft YaHei"/>
                          <a:cs typeface="Microsoft YaHei"/>
                        </a:rPr>
                        <a:t>n≤20考虑WMLE，n≥100考虑LSPF</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LSPF仍有构造与可解性价值</a:t>
                      </a:r>
                    </a:p>
                    <a:p>
                      <a:r>
                        <a:rPr sz="1725" b="0">
                          <a:solidFill>
                            <a:srgbClr val="182538"/>
                          </a:solidFill>
                          <a:latin typeface="Microsoft YaHei"/>
                          <a:ea typeface="Microsoft YaHei"/>
                          <a:cs typeface="Microsoft YaHei"/>
                        </a:rPr>
                        <a:t>不能直接认定为小样本最强</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D6C9DD2-99EA-483E-AD31-931C8D5C97F5}"/>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这些是各篇内部的条件结果，不能拼接为跨论文统一排名。</a:t>
            </a:r>
          </a:p>
        </p:txBody>
      </p:sp>
    </p:spTree>
    <p:extLst>
      <p:ext uri="{BB962C8B-B14F-4D97-AF65-F5344CB8AC3E}">
        <p14:creationId xmlns:p14="http://schemas.microsoft.com/office/powerpoint/2010/main" val="56545661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近期小样本与偏差修正证据各有边界</a:t>
            </a:r>
            <a:endParaRPr sz="26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近期进展及其检验证据</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02</a:t>
            </a:r>
          </a:p>
        </p:txBody>
      </p:sp>
      <p:sp>
        <p:nvSpPr>
          <p:cNvPr id="6" name="">
            <a:extLst xmlns:a="http://schemas.openxmlformats.org/drawingml/2006/main">
              <a:ext uri="{FF2B5EF4-FFF2-40B4-BE49-F238E27FC236}">
                <a16:creationId xmlns:a16="http://schemas.microsoft.com/office/drawing/2014/main" id="{FCD9627F-49A8-4687-BEB2-F766C1DFA4A5}"/>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既要看到改进，也要保留作者实际检验的范围</a:t>
            </a:r>
          </a:p>
        </p:txBody>
      </p:sp>
      <p:graphicFrame>
        <p:nvGraphicFramePr>
          <p:cNvPr id="14" name=""/>
          <p:cNvGraphicFramePr/>
          <p:nvPr/>
        </p:nvGraphicFramePr>
        <p:xfrm>
          <a:off xmlns:a="http://schemas.openxmlformats.org/drawingml/2006/main" x="609600" y="2466975"/>
          <a:ext xmlns:a="http://schemas.openxmlformats.org/drawingml/2006/main" cx="10972800" cy="2943225"/>
        </p:xfrm>
        <a:graphic xmlns:a="http://schemas.openxmlformats.org/drawingml/2006/main">
          <a:graphicData uri="http://schemas.openxmlformats.org/drawingml/2006/table">
            <a:tbl>
              <a:tblPr/>
              <a:tblGrid>
                <a:gridCol w="3143250"/>
                <a:gridCol w="4000500"/>
                <a:gridCol w="3829050"/>
              </a:tblGrid>
              <a:tr h="523875">
                <a:tc>
                  <a:txBody>
                    <a:bodyPr>
                      <a:noAutofit/>
                    </a:bodyPr>
                    <a:lstStyle/>
                    <a:p>
                      <a:r>
                        <a:rPr sz="1725" b="1">
                          <a:solidFill>
                            <a:srgbClr val="FFFFFF"/>
                          </a:solidFill>
                          <a:latin typeface="Microsoft YaHei"/>
                          <a:ea typeface="Microsoft YaHei"/>
                          <a:cs typeface="Microsoft YaHei"/>
                        </a:rPr>
                        <a:t>工作</a:t>
                      </a:r>
                    </a:p>
                  </a:txBody>
                  <a:tcPr marL="91440" marR="91440" marT="45720" marB="45720">
                    <a:solidFill>
                      <a:srgbClr val="2F6096"/>
                    </a:solidFill>
                  </a:tcPr>
                </a:tc>
                <a:tc>
                  <a:txBody>
                    <a:bodyPr>
                      <a:noAutofit/>
                    </a:bodyPr>
                    <a:lstStyle/>
                    <a:p>
                      <a:r>
                        <a:rPr sz="1725" b="1">
                          <a:solidFill>
                            <a:srgbClr val="FFFFFF"/>
                          </a:solidFill>
                          <a:latin typeface="Microsoft YaHei"/>
                          <a:ea typeface="Microsoft YaHei"/>
                          <a:cs typeface="Microsoft YaHei"/>
                        </a:rPr>
                        <a:t>已报告的条件结果</a:t>
                      </a:r>
                    </a:p>
                  </a:txBody>
                  <a:tcPr marL="91440" marR="91440" marT="45720" marB="45720">
                    <a:solidFill>
                      <a:srgbClr val="2F6096"/>
                    </a:solidFill>
                  </a:tcPr>
                </a:tc>
                <a:tc>
                  <a:txBody>
                    <a:bodyPr>
                      <a:noAutofit/>
                    </a:bodyPr>
                    <a:lstStyle/>
                    <a:p>
                      <a:r>
                        <a:rPr sz="1725" b="1">
                          <a:solidFill>
                            <a:srgbClr val="FFFFFF"/>
                          </a:solidFill>
                          <a:latin typeface="Microsoft YaHei"/>
                          <a:ea typeface="Microsoft YaHei"/>
                          <a:cs typeface="Microsoft YaHei"/>
                        </a:rPr>
                        <a:t>仍不能推断</a:t>
                      </a:r>
                    </a:p>
                  </a:txBody>
                  <a:tcPr marL="91440" marR="91440" marT="45720" marB="45720">
                    <a:solidFill>
                      <a:srgbClr val="2F6096"/>
                    </a:solidFill>
                  </a:tcPr>
                </a:tc>
              </a:tr>
              <a:tr h="1209675">
                <a:tc>
                  <a:txBody>
                    <a:bodyPr>
                      <a:noAutofit/>
                    </a:bodyPr>
                    <a:lstStyle/>
                    <a:p>
                      <a:r>
                        <a:rPr sz="1725" b="0">
                          <a:solidFill>
                            <a:srgbClr val="182538"/>
                          </a:solidFill>
                          <a:latin typeface="Microsoft YaHei"/>
                          <a:ea typeface="Microsoft YaHei"/>
                          <a:cs typeface="Microsoft YaHei"/>
                        </a:rPr>
                        <a:t>SAM 2023</a:t>
                      </a:r>
                    </a:p>
                    <a:p>
                      <a:r>
                        <a:rPr sz="1725" b="0">
                          <a:solidFill>
                            <a:srgbClr val="182538"/>
                          </a:solidFill>
                          <a:latin typeface="Microsoft YaHei"/>
                          <a:ea typeface="Microsoft YaHei"/>
                          <a:cs typeface="Microsoft YaHei"/>
                        </a:rPr>
                        <a:t>β=1.5、2、2.5</a:t>
                      </a:r>
                    </a:p>
                    <a:p>
                      <a:r>
                        <a:rPr sz="1725" b="0">
                          <a:solidFill>
                            <a:srgbClr val="182538"/>
                          </a:solidFill>
                          <a:latin typeface="Microsoft YaHei"/>
                          <a:ea typeface="Microsoft YaHei"/>
                          <a:cs typeface="Microsoft YaHei"/>
                        </a:rPr>
                        <a:t>n=5、10、15、20</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n≤10的平均MAD优势明显</a:t>
                      </a:r>
                    </a:p>
                    <a:p>
                      <a:r>
                        <a:rPr sz="1725" b="0">
                          <a:solidFill>
                            <a:srgbClr val="182538"/>
                          </a:solidFill>
                          <a:latin typeface="Microsoft YaHei"/>
                          <a:ea typeface="Microsoft YaHei"/>
                          <a:cs typeface="Microsoft YaHei"/>
                        </a:rPr>
                        <a:t>随n增大，与MLE差距缩小</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未覆盖β&lt;1</a:t>
                      </a:r>
                    </a:p>
                    <a:p>
                      <a:r>
                        <a:rPr sz="1725" b="0">
                          <a:solidFill>
                            <a:srgbClr val="182538"/>
                          </a:solidFill>
                          <a:latin typeface="Microsoft YaHei"/>
                          <a:ea typeface="Microsoft YaHei"/>
                          <a:cs typeface="Microsoft YaHei"/>
                        </a:rPr>
                        <a:t>跨参数MAD受单位和尺度影响</a:t>
                      </a:r>
                    </a:p>
                  </a:txBody>
                  <a:tcPr marL="91440" marR="91440" marT="45720" marB="45720">
                    <a:solidFill>
                      <a:srgbClr val="FFFFFF"/>
                    </a:solidFill>
                  </a:tcPr>
                </a:tc>
              </a:tr>
              <a:tr h="1209675">
                <a:tc>
                  <a:txBody>
                    <a:bodyPr>
                      <a:noAutofit/>
                    </a:bodyPr>
                    <a:lstStyle/>
                    <a:p>
                      <a:r>
                        <a:rPr sz="1725" b="0">
                          <a:solidFill>
                            <a:srgbClr val="182538"/>
                          </a:solidFill>
                          <a:latin typeface="Microsoft YaHei"/>
                          <a:ea typeface="Microsoft YaHei"/>
                          <a:cs typeface="Microsoft YaHei"/>
                        </a:rPr>
                        <a:t>DMMLE 2025</a:t>
                      </a:r>
                    </a:p>
                    <a:p>
                      <a:r>
                        <a:rPr sz="1725" b="0">
                          <a:solidFill>
                            <a:srgbClr val="182538"/>
                          </a:solidFill>
                          <a:latin typeface="Microsoft YaHei"/>
                          <a:ea typeface="Microsoft YaHei"/>
                          <a:cs typeface="Microsoft YaHei"/>
                        </a:rPr>
                        <a:t>3组参数，n=50—1000</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偏差有所改善</a:t>
                      </a:r>
                    </a:p>
                    <a:p>
                      <a:r>
                        <a:rPr sz="1725" b="0">
                          <a:solidFill>
                            <a:srgbClr val="182538"/>
                          </a:solidFill>
                          <a:latin typeface="Microsoft YaHei"/>
                          <a:ea typeface="Microsoft YaHei"/>
                          <a:cs typeface="Microsoft YaHei"/>
                        </a:rPr>
                        <a:t>RMSE总体相近</a:t>
                      </a:r>
                    </a:p>
                  </a:txBody>
                  <a:tcPr marL="91440" marR="91440" marT="45720" marB="45720">
                    <a:solidFill>
                      <a:srgbClr val="FFFFFF"/>
                    </a:solidFill>
                  </a:tcPr>
                </a:tc>
                <a:tc>
                  <a:txBody>
                    <a:bodyPr>
                      <a:noAutofit/>
                    </a:bodyPr>
                    <a:lstStyle/>
                    <a:p>
                      <a:r>
                        <a:rPr sz="1725" b="0">
                          <a:solidFill>
                            <a:srgbClr val="182538"/>
                          </a:solidFill>
                          <a:latin typeface="Microsoft YaHei"/>
                          <a:ea typeface="Microsoft YaHei"/>
                          <a:cs typeface="Microsoft YaHei"/>
                        </a:rPr>
                        <a:t>尚无n=5—20的直接证据</a:t>
                      </a:r>
                    </a:p>
                    <a:p>
                      <a:r>
                        <a:rPr sz="1725" b="0">
                          <a:solidFill>
                            <a:srgbClr val="182538"/>
                          </a:solidFill>
                          <a:latin typeface="Microsoft YaHei"/>
                          <a:ea typeface="Microsoft YaHei"/>
                          <a:cs typeface="Microsoft YaHei"/>
                        </a:rPr>
                        <a:t>偏差降低不等于总体误差降低</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786E4CB-970C-48B9-86BC-77C6F7C0FA67}"/>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近期对手依据任务匹配与已核结果选择，结论限定到对应指标和条件。</a:t>
            </a:r>
          </a:p>
        </p:txBody>
      </p:sp>
    </p:spTree>
    <p:extLst>
      <p:ext uri="{BB962C8B-B14F-4D97-AF65-F5344CB8AC3E}">
        <p14:creationId xmlns:p14="http://schemas.microsoft.com/office/powerpoint/2010/main" val="56545661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已核13篇文献的实际比较对象</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
            <a:extLst xmlns:a="http://schemas.openxmlformats.org/drawingml/2006/main">
              <a:ext uri="{FF2B5EF4-FFF2-40B4-BE49-F238E27FC236}">
                <a16:creationId xmlns:a16="http://schemas.microsoft.com/office/drawing/2014/main" id="{3CCEC12C-47C4-436D-BB9D-F7B194C79040}"/>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完整三参数重复模拟，同篇同类计一次，提出方法不计为自身对手</a:t>
            </a:r>
          </a:p>
        </p:txBody>
      </p:sp>
      <p:graphicFrame>
        <p:nvGraphicFramePr>
          <p:cNvPr id="14" name=""/>
          <p:cNvGraphicFramePr/>
          <p:nvPr/>
        </p:nvGraphicFramePr>
        <p:xfrm>
          <a:off xmlns:a="http://schemas.openxmlformats.org/drawingml/2006/main" x="609600" y="2219325"/>
          <a:ext xmlns:a="http://schemas.openxmlformats.org/drawingml/2006/main" cx="10972800" cy="3619500"/>
        </p:xfrm>
        <a:graphic xmlns:a="http://schemas.openxmlformats.org/drawingml/2006/main">
          <a:graphicData uri="http://schemas.openxmlformats.org/drawingml/2006/table">
            <a:tbl>
              <a:tblPr/>
              <a:tblGrid>
                <a:gridCol w="2457450"/>
                <a:gridCol w="655027"/>
                <a:gridCol w="655027"/>
                <a:gridCol w="655027"/>
                <a:gridCol w="655027"/>
                <a:gridCol w="655027"/>
                <a:gridCol w="655027"/>
                <a:gridCol w="655027"/>
                <a:gridCol w="655027"/>
                <a:gridCol w="655027"/>
                <a:gridCol w="655027"/>
                <a:gridCol w="655027"/>
                <a:gridCol w="655027"/>
                <a:gridCol w="655027"/>
              </a:tblGrid>
              <a:tr h="241300">
                <a:tc>
                  <a:txBody>
                    <a:bodyPr>
                      <a:noAutofit/>
                    </a:bodyPr>
                    <a:lstStyle/>
                    <a:p>
                      <a:r>
                        <a:rPr sz="1275" b="1">
                          <a:solidFill>
                            <a:srgbClr val="FFFFFF"/>
                          </a:solidFill>
                          <a:latin typeface="Microsoft YaHei"/>
                          <a:ea typeface="Microsoft YaHei"/>
                          <a:cs typeface="Microsoft YaHei"/>
                        </a:rPr>
                        <a:t>论文／提出方法</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MLE</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CC</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MM</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WMLE</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MPS</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PWM</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MMLE</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LS</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MDM</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BL</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CMLE</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LM</a:t>
                      </a:r>
                    </a:p>
                  </a:txBody>
                  <a:tcPr marL="28575" marR="28575" marT="9525" marB="9525">
                    <a:solidFill>
                      <a:srgbClr val="2F6096"/>
                    </a:solidFill>
                  </a:tcPr>
                </a:tc>
                <a:tc>
                  <a:txBody>
                    <a:bodyPr>
                      <a:noAutofit/>
                    </a:bodyPr>
                    <a:lstStyle/>
                    <a:p>
                      <a:r>
                        <a:rPr sz="1275" b="1">
                          <a:solidFill>
                            <a:srgbClr val="FFFFFF"/>
                          </a:solidFill>
                          <a:latin typeface="Microsoft YaHei"/>
                          <a:ea typeface="Microsoft YaHei"/>
                          <a:cs typeface="Microsoft YaHei"/>
                        </a:rPr>
                        <a:t>MMoE</a:t>
                      </a:r>
                    </a:p>
                  </a:txBody>
                  <a:tcPr marL="28575" marR="28575" marT="9525" marB="9525">
                    <a:solidFill>
                      <a:srgbClr val="2F6096"/>
                    </a:solidFill>
                  </a:tcPr>
                </a:tc>
              </a:tr>
              <a:tr h="241300">
                <a:tc>
                  <a:txBody>
                    <a:bodyPr>
                      <a:noAutofit/>
                    </a:bodyPr>
                    <a:lstStyle/>
                    <a:p>
                      <a:r>
                        <a:rPr sz="1275" b="0">
                          <a:solidFill>
                            <a:srgbClr val="182538"/>
                          </a:solidFill>
                          <a:latin typeface="Microsoft YaHei"/>
                          <a:ea typeface="Microsoft YaHei"/>
                          <a:cs typeface="Microsoft YaHei"/>
                        </a:rPr>
                        <a:t>修正估计 1982</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ANN 2008</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WMLE 2009</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比较研究 2009</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LSPF 2013</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综合比较 2014</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MDM 2023</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迭代LS 2023</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SAM 2023</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PM 2024</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DMMLE 2025</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BPNN 2025</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ADGBO 2026</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pPr algn="ctr"/>
                      <a:r>
                        <a:rPr sz="1200" b="0">
                          <a:solidFill>
                            <a:srgbClr val="2F6096"/>
                          </a:solidFill>
                          <a:latin typeface="Microsoft YaHei"/>
                          <a:ea typeface="Microsoft YaHei"/>
                          <a:cs typeface="Microsoft YaHei"/>
                        </a:rPr>
                        <a:t>●</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c>
                  <a:txBody>
                    <a:bodyPr>
                      <a:noAutofit/>
                    </a:bodyPr>
                    <a:lstStyle/>
                    <a:p>
                      <a:r>
                        <a:rPr sz="1200" b="0">
                          <a:solidFill>
                            <a:srgbClr val="2F6096"/>
                          </a:solidFill>
                          <a:latin typeface="Microsoft YaHei"/>
                          <a:ea typeface="Microsoft YaHei"/>
                          <a:cs typeface="Microsoft YaHei"/>
                        </a:rPr>
                        <a:t/>
                      </a:r>
                    </a:p>
                  </a:txBody>
                  <a:tcPr marL="28575" marR="28575" marT="9525" marB="9525">
                    <a:solidFill>
                      <a:srgbClr val="FFFFFF"/>
                    </a:solidFill>
                  </a:tcPr>
                </a:tc>
              </a:tr>
              <a:tr h="241300">
                <a:tc>
                  <a:txBody>
                    <a:bodyPr>
                      <a:noAutofit/>
                    </a:bodyPr>
                    <a:lstStyle/>
                    <a:p>
                      <a:r>
                        <a:rPr sz="1275" b="0">
                          <a:solidFill>
                            <a:srgbClr val="182538"/>
                          </a:solidFill>
                          <a:latin typeface="Microsoft YaHei"/>
                          <a:ea typeface="Microsoft YaHei"/>
                          <a:cs typeface="Microsoft YaHei"/>
                        </a:rPr>
                        <a:t>采用篇数</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8</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5</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3</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2</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2</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2</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2</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c>
                  <a:txBody>
                    <a:bodyPr>
                      <a:noAutofit/>
                    </a:bodyPr>
                    <a:lstStyle/>
                    <a:p>
                      <a:r>
                        <a:rPr sz="1275" b="0">
                          <a:solidFill>
                            <a:srgbClr val="182538"/>
                          </a:solidFill>
                          <a:latin typeface="Microsoft YaHei"/>
                          <a:ea typeface="Microsoft YaHei"/>
                          <a:cs typeface="Microsoft YaHei"/>
                        </a:rPr>
                        <a:t>1</a:t>
                      </a:r>
                    </a:p>
                  </a:txBody>
                  <a:tcPr marL="28575" marR="28575" marT="9525" marB="9525">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DC278A5-49B1-4880-9D55-469A33A174AB}"/>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MLE 8篇、CC 5篇。近期7篇中6篇作者网络重合，频次只说明这组文献的实践。</a:t>
            </a:r>
          </a:p>
        </p:txBody>
      </p:sp>
    </p:spTree>
    <p:extLst>
      <p:ext uri="{BB962C8B-B14F-4D97-AF65-F5344CB8AC3E}">
        <p14:creationId xmlns:p14="http://schemas.microsoft.com/office/powerpoint/2010/main" val="361859788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对照建议：每个入选方法承担明确作用</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28A02C7C-E938-1921-73A8-7336F9F94CAB}"/>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defRPr sz="1725">
                <a:solidFill>
                  <a:srgbClr val="2F6096"/>
                </a:solidFill>
                <a:latin typeface="Microsoft YaHei"/>
                <a:ea typeface="Microsoft YaHei"/>
                <a:cs typeface="Microsoft YaHei"/>
              </a:defRPr>
            </a:pPr>
            <a:r>
              <a:rPr sz="1725">
                <a:solidFill>
                  <a:srgbClr val="2F6096"/>
                </a:solidFill>
                <a:latin typeface="Microsoft YaHei"/>
                <a:ea typeface="Microsoft YaHei"/>
                <a:cs typeface="Microsoft YaHei"/>
              </a:rPr>
              <a:t>完整样本、小样本的起始选择建议，由文献比较习惯和条件结果共同支持。</a:t>
            </a:r>
          </a:p>
        </p:txBody>
      </p:sp>
      <p:sp>
        <p:nvSpPr>
          <p:cNvPr id="7" name="文本框 6">
            <a:extLst xmlns:a="http://schemas.openxmlformats.org/drawingml/2006/main">
              <a:ext uri="{FF2B5EF4-FFF2-40B4-BE49-F238E27FC236}">
                <a16:creationId xmlns:a16="http://schemas.microsoft.com/office/drawing/2014/main" id="{47D43439-6665-4F74-B574-047913EADC80}"/>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defRPr sz="1650">
                <a:solidFill>
                  <a:srgbClr val="2F6096"/>
                </a:solidFill>
                <a:latin typeface="Microsoft YaHei"/>
                <a:ea typeface="Microsoft YaHei"/>
                <a:cs typeface="Microsoft YaHei"/>
              </a:defRPr>
            </a:pPr>
            <a:r>
              <a:rPr sz="1650" b="1">
                <a:solidFill>
                  <a:srgbClr val="2F6096"/>
                </a:solidFill>
                <a:latin typeface="Microsoft YaHei"/>
                <a:ea typeface="Microsoft YaHei"/>
                <a:cs typeface="Microsoft YaHei"/>
              </a:rPr>
              <a:t>低形状／可解性关注MPS、LSPF；矩类或偏差修正分别补LM／PWM或DMMLE。</a:t>
            </a:r>
          </a:p>
        </p:txBody>
      </p:sp>
      <p:graphicFrame>
        <p:nvGraphicFramePr>
          <p:cNvPr id="15" name="表格 7"/>
          <p:cNvGraphicFramePr/>
          <p:nvPr/>
        </p:nvGraphicFramePr>
        <p:xfrm>
          <a:off xmlns:a="http://schemas.openxmlformats.org/drawingml/2006/main" x="622300" y="2413000"/>
          <a:ext xmlns:a="http://schemas.openxmlformats.org/drawingml/2006/main" cx="10922000" cy="3301998"/>
        </p:xfrm>
        <a:graphic xmlns:a="http://schemas.openxmlformats.org/drawingml/2006/main">
          <a:graphicData uri="http://schemas.openxmlformats.org/drawingml/2006/table">
            <a:tbl>
              <a:tblPr firstRow="1" bandRow="1">
                <a:tableStyleId>{5C22544A-7EE6-4342-B048-85BDC9FD1C3A}</a:tableStyleId>
              </a:tblPr>
              <a:tblGrid>
                <a:gridCol w="3086100"/>
                <a:gridCol w="4000500"/>
                <a:gridCol w="3835400"/>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WMLE</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优先审查SAM；相关时加入PM</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SAM有n=5—20证据；PM的n=5及指标须细辨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与主张直接相关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母方法或同目标竞争者</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继承已有方法时必保留母方法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Tree>
    <p:extLst>
      <p:ext uri="{BB962C8B-B14F-4D97-AF65-F5344CB8AC3E}">
        <p14:creationId xmlns:p14="http://schemas.microsoft.com/office/powerpoint/2010/main" val="428662544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采用版本：方法名必须对应到实际构造</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7650F10A-9FF6-5DB6-2F06-4D17930303E5}"/>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构造论文负责定义方法，后续比较论文支持选型理由。</a:t>
            </a:r>
          </a:p>
        </p:txBody>
      </p:sp>
      <p:sp>
        <p:nvSpPr>
          <p:cNvPr id="7" name="文本框 6">
            <a:extLst xmlns:a="http://schemas.openxmlformats.org/drawingml/2006/main">
              <a:ext uri="{FF2B5EF4-FFF2-40B4-BE49-F238E27FC236}">
                <a16:creationId xmlns:a16="http://schemas.microsoft.com/office/drawing/2014/main" id="{3F8CE453-AE40-7F8B-394A-9D15723EF39F}"/>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回归版本选型示例：若采用</a:t>
            </a:r>
            <a:r>
              <a:rPr sz="1700" b="1">
                <a:solidFill>
                  <a:srgbClr val="2F6096"/>
                </a:solidFill>
                <a:latin typeface="Microsoft YaHei"/>
                <a:ea typeface="Microsoft YaHei"/>
                <a:cs typeface="Microsoft YaHei"/>
              </a:rPr>
              <a:t>Park</a:t>
            </a:r>
            <a:r>
              <a:rPr sz="1700" b="1">
                <a:solidFill>
                  <a:srgbClr val="2F6096"/>
                </a:solidFill>
                <a:latin typeface="Microsoft YaHei"/>
                <a:ea typeface="Microsoft YaHei"/>
                <a:cs typeface="Microsoft YaHei"/>
              </a:rPr>
              <a:t>原版，就不能沿用</a:t>
            </a:r>
            <a:r>
              <a:rPr sz="1700" b="1">
                <a:solidFill>
                  <a:srgbClr val="2F6096"/>
                </a:solidFill>
                <a:latin typeface="Microsoft YaHei"/>
                <a:ea typeface="Microsoft YaHei"/>
                <a:cs typeface="Microsoft YaHei"/>
              </a:rPr>
              <a:t>Bernard</a:t>
            </a:r>
            <a:r>
              <a:rPr sz="1700" b="1">
                <a:solidFill>
                  <a:srgbClr val="2F6096"/>
                </a:solidFill>
                <a:latin typeface="Microsoft YaHei"/>
                <a:ea typeface="Microsoft YaHei"/>
                <a:cs typeface="Microsoft YaHei"/>
              </a:rPr>
              <a:t>分数结果称作复现。</a:t>
            </a:r>
          </a:p>
        </p:txBody>
      </p:sp>
      <p:graphicFrame>
        <p:nvGraphicFramePr>
          <p:cNvPr id="15" name="表格 7"/>
          <p:cNvGraphicFramePr/>
          <p:nvPr/>
        </p:nvGraphicFramePr>
        <p:xfrm>
          <a:off xmlns:a="http://schemas.openxmlformats.org/drawingml/2006/main" x="622300" y="2413000"/>
          <a:ext xmlns:a="http://schemas.openxmlformats.org/drawingml/2006/main" cx="10922000" cy="3301998"/>
        </p:xfrm>
        <a:graphic xmlns:a="http://schemas.openxmlformats.org/drawingml/2006/main">
          <a:graphicData uri="http://schemas.openxmlformats.org/drawingml/2006/table">
            <a:tbl>
              <a:tblPr firstRow="1" bandRow="1">
                <a:tableStyleId>{5C22544A-7EE6-4342-B048-85BDC9FD1C3A}</a:tableStyleId>
              </a:tblPr>
              <a:tblGrid>
                <a:gridCol w="3086100"/>
                <a:gridCol w="4000500"/>
                <a:gridCol w="3835400"/>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Park 2017 Proposed+Plot [182-115]</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原绘图概率、Plot分支和位置域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LS</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Soman–Misra White</a:t>
                      </a:r>
                      <a:r>
                        <a:rPr sz="1600" b="0">
                          <a:solidFill>
                            <a:srgbClr val="000000"/>
                          </a:solidFill>
                          <a:latin typeface="Microsoft YaHei"/>
                          <a:ea typeface="Microsoft YaHei"/>
                          <a:cs typeface="Microsoft YaHei"/>
                        </a:rPr>
                        <a:t>扩展 </a:t>
                      </a:r>
                      <a:r>
                        <a:rPr sz="1600" b="0">
                          <a:solidFill>
                            <a:srgbClr val="000000"/>
                          </a:solidFill>
                          <a:latin typeface="Microsoft YaHei"/>
                          <a:ea typeface="Microsoft YaHei"/>
                          <a:cs typeface="Microsoft YaHei"/>
                        </a:rPr>
                        <a:t>[182-104]</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期望次序分数、</a:t>
                      </a:r>
                      <a:r>
                        <a:rPr sz="1600" b="0">
                          <a:solidFill>
                            <a:srgbClr val="000000"/>
                          </a:solidFill>
                          <a:latin typeface="Microsoft YaHei"/>
                          <a:ea typeface="Microsoft YaHei"/>
                          <a:cs typeface="Microsoft YaHei"/>
                        </a:rPr>
                        <a:t>x</a:t>
                      </a:r>
                      <a:r>
                        <a:rPr sz="1600" b="0">
                          <a:solidFill>
                            <a:srgbClr val="000000"/>
                          </a:solidFill>
                          <a:latin typeface="Microsoft YaHei"/>
                          <a:ea typeface="Microsoft YaHei"/>
                          <a:cs typeface="Microsoft YaHei"/>
                        </a:rPr>
                        <a:t>对</a:t>
                      </a:r>
                      <a:r>
                        <a:rPr sz="1600" b="0">
                          <a:solidFill>
                            <a:srgbClr val="000000"/>
                          </a:solidFill>
                          <a:latin typeface="Microsoft YaHei"/>
                          <a:ea typeface="Microsoft YaHei"/>
                          <a:cs typeface="Microsoft YaHei"/>
                        </a:rPr>
                        <a:t>z</a:t>
                      </a:r>
                      <a:r>
                        <a:rPr sz="1600" b="0">
                          <a:solidFill>
                            <a:srgbClr val="000000"/>
                          </a:solidFill>
                          <a:latin typeface="Microsoft YaHei"/>
                          <a:ea typeface="Microsoft YaHei"/>
                          <a:cs typeface="Microsoft YaHei"/>
                        </a:rPr>
                        <a:t>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WMLE</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2009 [182-088]</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J权重版本；区分Ng代入与迭代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SAM / PM</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2023</a:t>
                      </a:r>
                      <a:r>
                        <a:rPr sz="1600" b="0">
                          <a:solidFill>
                            <a:srgbClr val="000000"/>
                          </a:solidFill>
                          <a:latin typeface="Microsoft YaHei"/>
                          <a:ea typeface="Microsoft YaHei"/>
                          <a:cs typeface="Microsoft YaHei"/>
                        </a:rPr>
                        <a:t>或</a:t>
                      </a:r>
                      <a:r>
                        <a:rPr sz="1600" b="0">
                          <a:solidFill>
                            <a:srgbClr val="000000"/>
                          </a:solidFill>
                          <a:latin typeface="Microsoft YaHei"/>
                          <a:ea typeface="Microsoft YaHei"/>
                          <a:cs typeface="Microsoft YaHei"/>
                        </a:rPr>
                        <a:t>2024</a:t>
                      </a:r>
                      <a:r>
                        <a:rPr sz="1600" b="0">
                          <a:solidFill>
                            <a:srgbClr val="000000"/>
                          </a:solidFill>
                          <a:latin typeface="Microsoft YaHei"/>
                          <a:ea typeface="Microsoft YaHei"/>
                          <a:cs typeface="Microsoft YaHei"/>
                        </a:rPr>
                        <a:t>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最小值期望</a:t>
                      </a:r>
                      <a:r>
                        <a:rPr sz="1600" b="0">
                          <a:solidFill>
                            <a:srgbClr val="000000"/>
                          </a:solidFill>
                          <a:latin typeface="Microsoft YaHei"/>
                          <a:ea typeface="Microsoft YaHei"/>
                          <a:cs typeface="Microsoft YaHei"/>
                        </a:rPr>
                        <a:t>/</a:t>
                      </a:r>
                      <a:r>
                        <a:rPr sz="1600" b="0">
                          <a:solidFill>
                            <a:srgbClr val="000000"/>
                          </a:solidFill>
                          <a:latin typeface="Microsoft YaHei"/>
                          <a:ea typeface="Microsoft YaHei"/>
                          <a:cs typeface="Microsoft YaHei"/>
                        </a:rPr>
                        <a:t>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550333">
                <a:tc>
                  <a:txBody>
                    <a:bodyPr/>
                    <a:lstStyle/>
                    <a:p>
                      <a:pPr>
                        <a:spcBef>
                          <a:spcPts val="0"/>
                        </a:spcBef>
                        <a:spcAft>
                          <a:spcPts val="0"/>
                        </a:spcAft>
                        <a:buNone/>
                      </a:pPr>
                      <a:r>
                        <a:rPr sz="1600" b="0">
                          <a:solidFill>
                            <a:srgbClr val="000000"/>
                          </a:solidFill>
                          <a:latin typeface="Microsoft YaHei"/>
                          <a:ea typeface="Microsoft YaHei"/>
                          <a:cs typeface="Microsoft YaHei"/>
                        </a:rPr>
                        <a:t>MLE / MPS</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MLE注明局部／受限解，MPS保留端点</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Tree>
    <p:extLst>
      <p:ext uri="{BB962C8B-B14F-4D97-AF65-F5344CB8AC3E}">
        <p14:creationId xmlns:p14="http://schemas.microsoft.com/office/powerpoint/2010/main" val="301070322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Monte Carlo与真实数据的证据分工</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
            <a:extLst xmlns:a="http://schemas.openxmlformats.org/drawingml/2006/main">
              <a:ext uri="{FF2B5EF4-FFF2-40B4-BE49-F238E27FC236}">
                <a16:creationId xmlns:a16="http://schemas.microsoft.com/office/drawing/2014/main" id="{A090E32E-9B0C-4179-A224-370F55936A95}"/>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参数真值是否已知，决定能用什么证据评价方法</a:t>
            </a:r>
          </a:p>
        </p:txBody>
      </p:sp>
      <p:sp>
        <p:nvSpPr>
          <p:cNvPr id="7" name="">
            <a:extLst xmlns:a="http://schemas.openxmlformats.org/drawingml/2006/main">
              <a:ext uri="{FF2B5EF4-FFF2-40B4-BE49-F238E27FC236}">
                <a16:creationId xmlns:a16="http://schemas.microsoft.com/office/drawing/2014/main" id="{E9DBA7B0-C9BC-4AB2-B04C-9608725802D2}"/>
              </a:ext>
            </a:extLst>
          </p:cNvPr>
          <p:cNvSpPr>
            <a:spLocks xmlns:a="http://schemas.openxmlformats.org/drawingml/2006/main" noGrp="1"/>
          </p:cNvSpPr>
          <p:nvPr/>
        </p:nvSpPr>
        <p:spPr>
          <a:xfrm xmlns:a="http://schemas.openxmlformats.org/drawingml/2006/main">
            <a:off x="609600" y="2533650"/>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Monte Carlo：估计准确性</a:t>
            </a:r>
          </a:p>
        </p:txBody>
      </p:sp>
      <p:sp>
        <p:nvSpPr>
          <p:cNvPr id="8" name="">
            <a:extLst xmlns:a="http://schemas.openxmlformats.org/drawingml/2006/main">
              <a:ext uri="{FF2B5EF4-FFF2-40B4-BE49-F238E27FC236}">
                <a16:creationId xmlns:a16="http://schemas.microsoft.com/office/drawing/2014/main" id="{E1F834F8-59E3-4081-88FD-46381C0AB981}"/>
              </a:ext>
            </a:extLst>
          </p:cNvPr>
          <p:cNvSpPr>
            <a:spLocks xmlns:a="http://schemas.openxmlformats.org/drawingml/2006/main" noGrp="1"/>
          </p:cNvSpPr>
          <p:nvPr/>
        </p:nvSpPr>
        <p:spPr>
          <a:xfrm xmlns:a="http://schemas.openxmlformats.org/drawingml/2006/main">
            <a:off x="609600" y="3143250"/>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共同生成样本，逐参数报告Bias、RMSE、SD。</a:t>
            </a:r>
          </a:p>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13篇主子集分别核到4、7、5篇。</a:t>
            </a:r>
          </a:p>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同时报告有效率与失败分母。</a:t>
            </a:r>
          </a:p>
        </p:txBody>
      </p:sp>
      <p:sp>
        <p:nvSpPr>
          <p:cNvPr id="9" name="">
            <a:extLst xmlns:a="http://schemas.openxmlformats.org/drawingml/2006/main">
              <a:ext uri="{FF2B5EF4-FFF2-40B4-BE49-F238E27FC236}">
                <a16:creationId xmlns:a16="http://schemas.microsoft.com/office/drawing/2014/main" id="{296EB23B-2A2D-457A-986A-6B328C3DFD1B}"/>
              </a:ext>
            </a:extLst>
          </p:cNvPr>
          <p:cNvSpPr>
            <a:spLocks xmlns:a="http://schemas.openxmlformats.org/drawingml/2006/main" noGrp="1"/>
          </p:cNvSpPr>
          <p:nvPr/>
        </p:nvSpPr>
        <p:spPr>
          <a:xfrm xmlns:a="http://schemas.openxmlformats.org/drawingml/2006/main">
            <a:off x="6438900" y="253365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真实数据：应用与拟合</a:t>
            </a:r>
          </a:p>
        </p:txBody>
      </p:sp>
      <p:sp>
        <p:nvSpPr>
          <p:cNvPr id="10" name="">
            <a:extLst xmlns:a="http://schemas.openxmlformats.org/drawingml/2006/main">
              <a:ext uri="{FF2B5EF4-FFF2-40B4-BE49-F238E27FC236}">
                <a16:creationId xmlns:a16="http://schemas.microsoft.com/office/drawing/2014/main" id="{50092D04-8F64-4A66-A290-E8C470E6BFDD}"/>
              </a:ext>
            </a:extLst>
          </p:cNvPr>
          <p:cNvSpPr>
            <a:spLocks xmlns:a="http://schemas.openxmlformats.org/drawingml/2006/main" noGrp="1"/>
          </p:cNvSpPr>
          <p:nvPr/>
        </p:nvSpPr>
        <p:spPr>
          <a:xfrm xmlns:a="http://schemas.openxmlformats.org/drawingml/2006/main">
            <a:off x="6438900" y="3143250"/>
            <a:ext cx="5048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报告参数、寿命量、CDF及K-S／AD。</a:t>
            </a:r>
          </a:p>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未知真值，不能据拟合优胜推断参数更准。</a:t>
            </a:r>
          </a:p>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预测或区间主张需要相应验证。</a:t>
            </a:r>
          </a:p>
        </p:txBody>
      </p:sp>
      <p:sp>
        <p:nvSpPr>
          <p:cNvPr id="11" name="">
            <a:extLst xmlns:a="http://schemas.openxmlformats.org/drawingml/2006/main">
              <a:ext uri="{FF2B5EF4-FFF2-40B4-BE49-F238E27FC236}">
                <a16:creationId xmlns:a16="http://schemas.microsoft.com/office/drawing/2014/main" id="{982147AE-9D42-48BA-8552-536C2B90ADEB}"/>
              </a:ext>
            </a:extLst>
          </p:cNvPr>
          <p:cNvSpPr>
            <a:spLocks xmlns:a="http://schemas.openxmlformats.org/drawingml/2006/main" noGrp="1"/>
          </p:cNvSpPr>
          <p:nvPr/>
        </p:nvSpPr>
        <p:spPr>
          <a:xfrm xmlns:a="http://schemas.openxmlformats.org/drawingml/2006/main">
            <a:off x="609600" y="5095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小样本n=5—30为重点，较大n看趋势；参数条件与重复精度依研究范围说明。</a:t>
            </a:r>
          </a:p>
        </p:txBody>
      </p:sp>
      <p:sp>
        <p:nvSpPr>
          <p:cNvPr id="12" name="">
            <a:extLst xmlns:a="http://schemas.openxmlformats.org/drawingml/2006/main">
              <a:ext uri="{FF2B5EF4-FFF2-40B4-BE49-F238E27FC236}">
                <a16:creationId xmlns:a16="http://schemas.microsoft.com/office/drawing/2014/main" id="{858944A9-0384-4C01-A76C-533143A3DF31}"/>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三参数结果保留分别评价，联合指标说明归一化；真实数据不替代模拟精度证据。</a:t>
            </a:r>
          </a:p>
        </p:txBody>
      </p:sp>
    </p:spTree>
    <p:extLst>
      <p:ext uri="{BB962C8B-B14F-4D97-AF65-F5344CB8AC3E}">
        <p14:creationId xmlns:p14="http://schemas.microsoft.com/office/powerpoint/2010/main" val="423115331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真实数据在已有论文中承担什么作用</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
            <a:extLst xmlns:a="http://schemas.openxmlformats.org/drawingml/2006/main">
              <a:ext uri="{FF2B5EF4-FFF2-40B4-BE49-F238E27FC236}">
                <a16:creationId xmlns:a16="http://schemas.microsoft.com/office/drawing/2014/main" id="{D5C3B1B6-F590-4964-A34B-4606422E8E5C}"/>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同一寿命数据可检验拟合与可计算性，反复使用不增加独立证据</a:t>
            </a:r>
          </a:p>
        </p:txBody>
      </p:sp>
      <p:graphicFrame>
        <p:nvGraphicFramePr>
          <p:cNvPr id="14" name=""/>
          <p:cNvGraphicFramePr/>
          <p:nvPr/>
        </p:nvGraphicFramePr>
        <p:xfrm>
          <a:off xmlns:a="http://schemas.openxmlformats.org/drawingml/2006/main" x="609600" y="2438400"/>
          <a:ext xmlns:a="http://schemas.openxmlformats.org/drawingml/2006/main" cx="10972800" cy="3181350"/>
        </p:xfrm>
        <a:graphic xmlns:a="http://schemas.openxmlformats.org/drawingml/2006/main">
          <a:graphicData uri="http://schemas.openxmlformats.org/drawingml/2006/table">
            <a:tbl>
              <a:tblPr/>
              <a:tblGrid>
                <a:gridCol w="3095625"/>
                <a:gridCol w="4191000"/>
                <a:gridCol w="3686175"/>
              </a:tblGrid>
              <a:tr h="523875">
                <a:tc>
                  <a:txBody>
                    <a:bodyPr>
                      <a:noAutofit/>
                    </a:bodyPr>
                    <a:lstStyle/>
                    <a:p>
                      <a:r>
                        <a:rPr sz="1650" b="1">
                          <a:solidFill>
                            <a:srgbClr val="FFFFFF"/>
                          </a:solidFill>
                          <a:latin typeface="Microsoft YaHei"/>
                          <a:ea typeface="Microsoft YaHei"/>
                          <a:cs typeface="Microsoft YaHei"/>
                        </a:rPr>
                        <a:t>来源与数据</a:t>
                      </a:r>
                    </a:p>
                  </a:txBody>
                  <a:tcPr marL="91440" marR="91440" marT="45720" marB="45720">
                    <a:solidFill>
                      <a:srgbClr val="2F6096"/>
                    </a:solidFill>
                  </a:tcPr>
                </a:tc>
                <a:tc>
                  <a:txBody>
                    <a:bodyPr>
                      <a:noAutofit/>
                    </a:bodyPr>
                    <a:lstStyle/>
                    <a:p>
                      <a:r>
                        <a:rPr sz="1650" b="1">
                          <a:solidFill>
                            <a:srgbClr val="FFFFFF"/>
                          </a:solidFill>
                          <a:latin typeface="Microsoft YaHei"/>
                          <a:ea typeface="Microsoft YaHei"/>
                          <a:cs typeface="Microsoft YaHei"/>
                        </a:rPr>
                        <a:t>实际评价</a:t>
                      </a:r>
                    </a:p>
                  </a:txBody>
                  <a:tcPr marL="91440" marR="91440" marT="45720" marB="45720">
                    <a:solidFill>
                      <a:srgbClr val="2F6096"/>
                    </a:solidFill>
                  </a:tcPr>
                </a:tc>
                <a:tc>
                  <a:txBody>
                    <a:bodyPr>
                      <a:noAutofit/>
                    </a:bodyPr>
                    <a:lstStyle/>
                    <a:p>
                      <a:r>
                        <a:rPr sz="1650" b="1">
                          <a:solidFill>
                            <a:srgbClr val="FFFFFF"/>
                          </a:solidFill>
                          <a:latin typeface="Microsoft YaHei"/>
                          <a:ea typeface="Microsoft YaHei"/>
                          <a:cs typeface="Microsoft YaHei"/>
                        </a:rPr>
                        <a:t>支持的结论</a:t>
                      </a:r>
                    </a:p>
                  </a:txBody>
                  <a:tcPr marL="91440" marR="91440" marT="45720" marB="45720">
                    <a:solidFill>
                      <a:srgbClr val="2F6096"/>
                    </a:solidFill>
                  </a:tcPr>
                </a:tc>
              </a:tr>
              <a:tr h="664369">
                <a:tc>
                  <a:txBody>
                    <a:bodyPr>
                      <a:noAutofit/>
                    </a:bodyPr>
                    <a:lstStyle/>
                    <a:p>
                      <a:r>
                        <a:rPr sz="1650" b="0">
                          <a:solidFill>
                            <a:srgbClr val="182538"/>
                          </a:solidFill>
                          <a:latin typeface="Microsoft YaHei"/>
                          <a:ea typeface="Microsoft YaHei"/>
                          <a:cs typeface="Microsoft YaHei"/>
                        </a:rPr>
                        <a:t>BPNN：15点疲劳寿命</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对CCM、MDM比较K-S、CDF</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方法应用与这组数据的拟合</a:t>
                      </a:r>
                    </a:p>
                  </a:txBody>
                  <a:tcPr marL="91440" marR="91440" marT="45720" marB="45720">
                    <a:solidFill>
                      <a:srgbClr val="FFFFFF"/>
                    </a:solidFill>
                  </a:tcPr>
                </a:tc>
              </a:tr>
              <a:tr h="664369">
                <a:tc>
                  <a:txBody>
                    <a:bodyPr>
                      <a:noAutofit/>
                    </a:bodyPr>
                    <a:lstStyle/>
                    <a:p>
                      <a:r>
                        <a:rPr sz="1650" b="0">
                          <a:solidFill>
                            <a:srgbClr val="182538"/>
                          </a:solidFill>
                          <a:latin typeface="Microsoft YaHei"/>
                          <a:ea typeface="Microsoft YaHei"/>
                          <a:cs typeface="Microsoft YaHei"/>
                        </a:rPr>
                        <a:t>LSPF：10点、4点寿命</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参数及变换似然，记录MM／BL不收敛</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估计行为与困难样本可计算性</a:t>
                      </a:r>
                    </a:p>
                  </a:txBody>
                  <a:tcPr marL="91440" marR="91440" marT="45720" marB="45720">
                    <a:solidFill>
                      <a:srgbClr val="FFFFFF"/>
                    </a:solidFill>
                  </a:tcPr>
                </a:tc>
              </a:tr>
              <a:tr h="664369">
                <a:tc>
                  <a:txBody>
                    <a:bodyPr>
                      <a:noAutofit/>
                    </a:bodyPr>
                    <a:lstStyle/>
                    <a:p>
                      <a:r>
                        <a:rPr sz="1650" b="0">
                          <a:solidFill>
                            <a:srgbClr val="182538"/>
                          </a:solidFill>
                          <a:latin typeface="Microsoft YaHei"/>
                          <a:ea typeface="Microsoft YaHei"/>
                          <a:cs typeface="Microsoft YaHei"/>
                        </a:rPr>
                        <a:t>SAM：10点、4点寿命</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K-S、CDF、MTTF和可靠度寿命</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应用差异；部分参照为历史结果</a:t>
                      </a:r>
                    </a:p>
                  </a:txBody>
                  <a:tcPr marL="91440" marR="91440" marT="45720" marB="45720">
                    <a:solidFill>
                      <a:srgbClr val="FFFFFF"/>
                    </a:solidFill>
                  </a:tcPr>
                </a:tc>
              </a:tr>
              <a:tr h="664369">
                <a:tc>
                  <a:txBody>
                    <a:bodyPr>
                      <a:noAutofit/>
                    </a:bodyPr>
                    <a:lstStyle/>
                    <a:p>
                      <a:r>
                        <a:rPr sz="1650" b="0">
                          <a:solidFill>
                            <a:srgbClr val="182538"/>
                          </a:solidFill>
                          <a:latin typeface="Microsoft YaHei"/>
                          <a:ea typeface="Microsoft YaHei"/>
                          <a:cs typeface="Microsoft YaHei"/>
                        </a:rPr>
                        <a:t>再抽样或留出（可选）</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稳定性、模型条件误差或预测得分</a:t>
                      </a:r>
                    </a:p>
                  </a:txBody>
                  <a:tcPr marL="91440" marR="91440" marT="45720" marB="45720">
                    <a:solidFill>
                      <a:srgbClr val="FFFFFF"/>
                    </a:solidFill>
                  </a:tcPr>
                </a:tc>
                <a:tc>
                  <a:txBody>
                    <a:bodyPr>
                      <a:noAutofit/>
                    </a:bodyPr>
                    <a:lstStyle/>
                    <a:p>
                      <a:r>
                        <a:rPr sz="1650" b="0">
                          <a:solidFill>
                            <a:srgbClr val="182538"/>
                          </a:solidFill>
                          <a:latin typeface="Microsoft YaHei"/>
                          <a:ea typeface="Microsoft YaHei"/>
                          <a:cs typeface="Microsoft YaHei"/>
                        </a:rPr>
                        <a:t>参照与假设决定能证明什么</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76A5E8A-E1B8-400D-B38F-18E25737939B}"/>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Bootstrap不产生原总体真值；未知端点与重复值处理需要另行论证。</a:t>
            </a:r>
          </a:p>
        </p:txBody>
      </p:sp>
    </p:spTree>
    <p:extLst>
      <p:ext uri="{BB962C8B-B14F-4D97-AF65-F5344CB8AC3E}">
        <p14:creationId xmlns:p14="http://schemas.microsoft.com/office/powerpoint/2010/main" val="1233847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失败处理：精度必须连同有效率一起报告</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对照选择、版本与验证</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03</a:t>
            </a:r>
            <a:endParaRPr sz="1800">
              <a:latin typeface="Microsoft YaHei"/>
              <a:ea typeface="Microsoft YaHei"/>
              <a:cs typeface="Microsoft YaHei"/>
            </a:endParaRPr>
          </a:p>
        </p:txBody>
      </p:sp>
      <p:sp>
        <p:nvSpPr>
          <p:cNvPr id="6" name="文本框 5">
            <a:extLst xmlns:a="http://schemas.openxmlformats.org/drawingml/2006/main">
              <a:ext uri="{FF2B5EF4-FFF2-40B4-BE49-F238E27FC236}">
                <a16:creationId xmlns:a16="http://schemas.microsoft.com/office/drawing/2014/main" id="{3C43A4D2-266F-4B41-031B-07FBAA0792B4}"/>
              </a:ext>
            </a:extLst>
          </p:cNvPr>
          <p:cNvSpPr>
            <a:spLocks xmlns:a="http://schemas.openxmlformats.org/drawingml/2006/main" noGrp="1"/>
          </p:cNvSpPr>
          <p:nvPr/>
        </p:nvSpPr>
        <p:spPr>
          <a:xfrm xmlns:a="http://schemas.openxmlformats.org/drawingml/2006/main">
            <a:off x="622300" y="1676400"/>
            <a:ext cx="10922000" cy="558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340"/>
              </a:lnSpc>
              <a:buNone/>
            </a:pPr>
            <a:r>
              <a:rPr>
                <a:solidFill>
                  <a:srgbClr val="2F6096"/>
                </a:solidFill>
                <a:latin typeface="Microsoft YaHei"/>
                <a:ea typeface="Microsoft YaHei"/>
                <a:cs typeface="Microsoft YaHei"/>
              </a:rPr>
              <a:t>目标无界、方程分支、数值未收敛、越界输出，应分开记录。</a:t>
            </a:r>
          </a:p>
        </p:txBody>
      </p:sp>
      <p:sp>
        <p:nvSpPr>
          <p:cNvPr id="7" name="文本框 6">
            <a:extLst xmlns:a="http://schemas.openxmlformats.org/drawingml/2006/main">
              <a:ext uri="{FF2B5EF4-FFF2-40B4-BE49-F238E27FC236}">
                <a16:creationId xmlns:a16="http://schemas.microsoft.com/office/drawing/2014/main" id="{27C56FF3-588F-AD51-73D3-B8671BC60424}"/>
              </a:ext>
            </a:extLst>
          </p:cNvPr>
          <p:cNvSpPr>
            <a:spLocks xmlns:a="http://schemas.openxmlformats.org/drawingml/2006/main" noGrp="1"/>
          </p:cNvSpPr>
          <p:nvPr/>
        </p:nvSpPr>
        <p:spPr>
          <a:xfrm xmlns:a="http://schemas.openxmlformats.org/drawingml/2006/main">
            <a:off x="622300" y="5981700"/>
            <a:ext cx="10922000" cy="5080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lnSpc>
                <a:spcPts val="2210"/>
              </a:lnSpc>
              <a:buNone/>
            </a:pPr>
            <a:r>
              <a:rPr sz="1700" b="1">
                <a:solidFill>
                  <a:srgbClr val="2F6096"/>
                </a:solidFill>
                <a:latin typeface="Microsoft YaHei"/>
                <a:ea typeface="Microsoft YaHei"/>
                <a:cs typeface="Microsoft YaHei"/>
              </a:rPr>
              <a:t>各自有效子集与共同有效子集的误差均属条件结果，不能用单一</a:t>
            </a:r>
            <a:r>
              <a:rPr sz="1700" b="1">
                <a:solidFill>
                  <a:srgbClr val="2F6096"/>
                </a:solidFill>
                <a:latin typeface="Microsoft YaHei"/>
                <a:ea typeface="Microsoft YaHei"/>
                <a:cs typeface="Microsoft YaHei"/>
              </a:rPr>
              <a:t>RMSE</a:t>
            </a:r>
            <a:r>
              <a:rPr sz="1700" b="1">
                <a:solidFill>
                  <a:srgbClr val="2F6096"/>
                </a:solidFill>
                <a:latin typeface="Microsoft YaHei"/>
                <a:ea typeface="Microsoft YaHei"/>
                <a:cs typeface="Microsoft YaHei"/>
              </a:rPr>
              <a:t>掩盖失败。</a:t>
            </a:r>
          </a:p>
        </p:txBody>
      </p:sp>
      <p:graphicFrame>
        <p:nvGraphicFramePr>
          <p:cNvPr id="15" name="表格 7"/>
          <p:cNvGraphicFramePr/>
          <p:nvPr/>
        </p:nvGraphicFramePr>
        <p:xfrm>
          <a:off xmlns:a="http://schemas.openxmlformats.org/drawingml/2006/main" x="622300" y="2413000"/>
          <a:ext xmlns:a="http://schemas.openxmlformats.org/drawingml/2006/main" cx="10922000" cy="3302000"/>
        </p:xfrm>
        <a:graphic xmlns:a="http://schemas.openxmlformats.org/drawingml/2006/main">
          <a:graphicData uri="http://schemas.openxmlformats.org/drawingml/2006/table">
            <a:tbl>
              <a:tblPr firstRow="1" bandRow="1">
                <a:tableStyleId>{5C22544A-7EE6-4342-B048-85BDC9FD1C3A}</a:tableStyleId>
              </a:tblPr>
              <a:tblGrid>
                <a:gridCol w="3086100"/>
                <a:gridCol w="4000500"/>
                <a:gridCol w="3835400"/>
              </a:tblGrid>
              <a:tr h="660400">
                <a:tc>
                  <a:txBody>
                    <a:bodyPr/>
                    <a:lstStyle/>
                    <a:p>
                      <a:pPr>
                        <a:spcBef>
                          <a:spcPts val="0"/>
                        </a:spcBef>
                        <a:spcAft>
                          <a:spcPts val="0"/>
                        </a:spcAft>
                        <a:buNone/>
                      </a:pPr>
                      <a:r>
                        <a:rPr sz="1600" b="1">
                          <a:solidFill>
                            <a:srgbClr val="FFFFFF"/>
                          </a:solidFill>
                          <a:latin typeface="Microsoft YaHei"/>
                          <a:ea typeface="Microsoft YaHei"/>
                          <a:cs typeface="Microsoft YaHei"/>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r>
              <a:tr h="660400">
                <a:tc>
                  <a:txBody>
                    <a:bodyPr/>
                    <a:lstStyle/>
                    <a:p>
                      <a:pPr>
                        <a:spcBef>
                          <a:spcPts val="0"/>
                        </a:spcBef>
                        <a:spcAft>
                          <a:spcPts val="0"/>
                        </a:spcAft>
                        <a:buNone/>
                      </a:pPr>
                      <a:r>
                        <a:rPr sz="1600" b="0">
                          <a:solidFill>
                            <a:srgbClr val="000000"/>
                          </a:solidFill>
                          <a:latin typeface="Microsoft YaHei"/>
                          <a:ea typeface="Microsoft YaHei"/>
                          <a:cs typeface="Microsoft YaHei"/>
                        </a:rPr>
                        <a:t>仅比较收敛样本 </a:t>
                      </a:r>
                      <a:r>
                        <a:rPr sz="1600" b="0">
                          <a:solidFill>
                            <a:srgbClr val="000000"/>
                          </a:solidFill>
                          <a:latin typeface="Microsoft YaHei"/>
                          <a:ea typeface="Microsoft YaHei"/>
                          <a:cs typeface="Microsoft YaHei"/>
                        </a:rPr>
                        <a:t>[182-096]</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pPr>
                        <a:spcBef>
                          <a:spcPts val="0"/>
                        </a:spcBef>
                        <a:spcAft>
                          <a:spcPts val="0"/>
                        </a:spcAft>
                        <a:buNone/>
                      </a:pPr>
                      <a:r>
                        <a:rPr sz="1600" b="0">
                          <a:solidFill>
                            <a:srgbClr val="000000"/>
                          </a:solidFill>
                          <a:latin typeface="Microsoft YaHei"/>
                          <a:ea typeface="Microsoft YaHei"/>
                          <a:cs typeface="Microsoft YaHei"/>
                        </a:rPr>
                        <a:t>限制参数并报未得到估计数 </a:t>
                      </a:r>
                      <a:r>
                        <a:rPr sz="1600" b="0">
                          <a:solidFill>
                            <a:srgbClr val="000000"/>
                          </a:solidFill>
                          <a:latin typeface="Microsoft YaHei"/>
                          <a:ea typeface="Microsoft YaHei"/>
                          <a:cs typeface="Microsoft YaHei"/>
                        </a:rPr>
                        <a:t>[182-091]</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失败用零作图标记 </a:t>
                      </a:r>
                      <a:r>
                        <a:rPr sz="1600" b="0">
                          <a:solidFill>
                            <a:srgbClr val="000000"/>
                          </a:solidFill>
                          <a:latin typeface="Microsoft YaHei"/>
                          <a:ea typeface="Microsoft YaHei"/>
                          <a:cs typeface="Microsoft YaHei"/>
                        </a:rPr>
                        <a:t>[182-030]</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不得把标记值代入</a:t>
                      </a:r>
                      <a:r>
                        <a:rPr sz="1600" b="0">
                          <a:solidFill>
                            <a:srgbClr val="000000"/>
                          </a:solidFill>
                          <a:latin typeface="Microsoft YaHei"/>
                          <a:ea typeface="Microsoft YaHei"/>
                          <a:cs typeface="Microsoft YaHei"/>
                        </a:rPr>
                        <a:t>RMSE</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剔除极端输出 </a:t>
                      </a:r>
                      <a:r>
                        <a:rPr sz="1600" b="0">
                          <a:solidFill>
                            <a:srgbClr val="000000"/>
                          </a:solidFill>
                          <a:latin typeface="Microsoft YaHei"/>
                          <a:ea typeface="Microsoft YaHei"/>
                          <a:cs typeface="Microsoft YaHei"/>
                        </a:rPr>
                        <a:t>[182-101]</a:t>
                      </a:r>
                      <a:endParaRPr sz="1600" b="0">
                        <a:solidFill>
                          <a:srgbClr val="000000"/>
                        </a:solidFill>
                        <a:latin typeface="Microsoft YaHei"/>
                        <a:ea typeface="Microsoft YaHei"/>
                        <a:cs typeface="Microsoft YaHei"/>
                      </a:endParaRP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r>
            </a:tbl>
          </a:graphicData>
        </a:graphic>
      </p:graphicFrame>
    </p:spTree>
    <p:extLst>
      <p:ext uri="{BB962C8B-B14F-4D97-AF65-F5344CB8AC3E}">
        <p14:creationId xmlns:p14="http://schemas.microsoft.com/office/powerpoint/2010/main" val="23197641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915DA01A-2910-3342-B5D4-99A92B16D64B}"/>
              </a:ext>
            </a:extLst>
          </p:cNvPr>
          <p:cNvSpPr>
            <a:spLocks xmlns:a="http://schemas.openxmlformats.org/drawingml/2006/main" noGrp="1"/>
          </p:cNvSpPr>
          <p:nvPr/>
        </p:nvSpPr>
        <p:spPr>
          <a:xfrm xmlns:a="http://schemas.openxmlformats.org/drawingml/2006/main">
            <a:off x="86140" y="846307"/>
            <a:ext cx="11911467" cy="46166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xmlns:a="http://schemas.openxmlformats.org/drawingml/2006/main">
              <a:ext uri="{FF2B5EF4-FFF2-40B4-BE49-F238E27FC236}">
                <a16:creationId xmlns:a16="http://schemas.microsoft.com/office/drawing/2014/main" id="{6F4E24BC-645C-45E5-4B2A-ABE7C7E2BE1A}"/>
              </a:ext>
            </a:extLst>
          </p:cNvPr>
          <p:cNvSpPr>
            <a:spLocks xmlns:a="http://schemas.openxmlformats.org/drawingml/2006/main" noGrp="1"/>
          </p:cNvSpPr>
          <p:nvPr/>
        </p:nvSpPr>
        <p:spPr>
          <a:xfrm xmlns:a="http://schemas.openxmlformats.org/drawingml/2006/main">
            <a:off x="1065043" y="352424"/>
            <a:ext cx="8778240"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调研结论</a:t>
            </a:r>
            <a:endParaRPr sz="1800">
              <a:latin typeface="Microsoft YaHei"/>
              <a:ea typeface="Microsoft YaHei"/>
              <a:cs typeface="Microsoft YaHei"/>
            </a:endParaRPr>
          </a:p>
        </p:txBody>
      </p:sp>
      <p:sp>
        <p:nvSpPr>
          <p:cNvPr id="3" name="直接连接符 2">
            <a:extLst xmlns:a="http://schemas.openxmlformats.org/drawingml/2006/main">
              <a:ext uri="{FF2B5EF4-FFF2-40B4-BE49-F238E27FC236}">
                <a16:creationId xmlns:a16="http://schemas.microsoft.com/office/drawing/2014/main" id="{A30319A6-1BEB-71B0-ACC1-3DBD8C30C9BE}"/>
              </a:ext>
            </a:extLst>
          </p:cNvPr>
          <p:cNvSpPr>
            <a:spLocks xmlns:a="http://schemas.openxmlformats.org/drawingml/2006/main" noGrp="1"/>
          </p:cNvSpPr>
          <p:nvPr/>
        </p:nvSpPr>
        <p:spPr>
          <a:xfrm xmlns:a="http://schemas.openxmlformats.org/drawingml/2006/main" flipV="1">
            <a:off x="925195" y="400251"/>
            <a:ext cx="0" cy="267690"/>
          </a:xfrm>
          <a:prstGeom xmlns:a="http://schemas.openxmlformats.org/drawingml/2006/main" prst="line">
            <a:avLst/>
          </a:prstGeom>
          <a:ln xmlns:a="http://schemas.openxmlformats.org/drawingml/2006/main">
            <a:solidFill>
              <a:schemeClr val="bg1">
                <a:lumMod val="5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4" name="文本框 1">
            <a:extLst xmlns:a="http://schemas.openxmlformats.org/drawingml/2006/main">
              <a:ext uri="{FF2B5EF4-FFF2-40B4-BE49-F238E27FC236}">
                <a16:creationId xmlns:a16="http://schemas.microsoft.com/office/drawing/2014/main" id="{0CC4B99C-8837-D9FF-2AD7-93B40BA4FC63}"/>
              </a:ext>
            </a:extLst>
          </p:cNvPr>
          <p:cNvSpPr>
            <a:spLocks xmlns:a="http://schemas.openxmlformats.org/drawingml/2006/main" noGrp="1"/>
          </p:cNvSpPr>
          <p:nvPr/>
        </p:nvSpPr>
        <p:spPr>
          <a:xfrm xmlns:a="http://schemas.openxmlformats.org/drawingml/2006/main">
            <a:off x="415122" y="352424"/>
            <a:ext cx="1299843" cy="409575"/>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rPr sz="1800">
                <a:latin typeface="Microsoft YaHei"/>
                <a:ea typeface="Microsoft YaHei"/>
                <a:cs typeface="Microsoft YaHei"/>
              </a:rPr>
              <a:t>04</a:t>
            </a:r>
            <a:endParaRPr sz="1800">
              <a:latin typeface="Microsoft YaHei"/>
              <a:ea typeface="Microsoft YaHei"/>
              <a:cs typeface="Microsoft YaHei"/>
            </a:endParaRPr>
          </a:p>
        </p:txBody>
      </p:sp>
      <p:sp>
        <p:nvSpPr>
          <p:cNvPr id="6" name="">
            <a:extLst xmlns:a="http://schemas.openxmlformats.org/drawingml/2006/main">
              <a:ext uri="{FF2B5EF4-FFF2-40B4-BE49-F238E27FC236}">
                <a16:creationId xmlns:a16="http://schemas.microsoft.com/office/drawing/2014/main" id="{783A341E-777C-4EE4-8413-C435F09DAEDB}"/>
              </a:ext>
            </a:extLst>
          </p:cNvPr>
          <p:cNvSpPr>
            <a:spLocks xmlns:a="http://schemas.openxmlformats.org/drawingml/2006/main" noGrp="1"/>
          </p:cNvSpPr>
          <p:nvPr/>
        </p:nvSpPr>
        <p:spPr>
          <a:xfrm xmlns:a="http://schemas.openxmlformats.org/drawingml/2006/main">
            <a:off x="609600" y="16859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比较方案应来自文献证据，并且能够检验新方法声称的改进</a:t>
            </a:r>
          </a:p>
        </p:txBody>
      </p:sp>
      <p:sp>
        <p:nvSpPr>
          <p:cNvPr id="7" name="">
            <a:extLst xmlns:a="http://schemas.openxmlformats.org/drawingml/2006/main">
              <a:ext uri="{FF2B5EF4-FFF2-40B4-BE49-F238E27FC236}">
                <a16:creationId xmlns:a16="http://schemas.microsoft.com/office/drawing/2014/main" id="{17B66BC1-DABF-4556-A388-C70BCD8A59F6}"/>
              </a:ext>
            </a:extLst>
          </p:cNvPr>
          <p:cNvSpPr>
            <a:spLocks xmlns:a="http://schemas.openxmlformats.org/drawingml/2006/main" noGrp="1"/>
          </p:cNvSpPr>
          <p:nvPr/>
        </p:nvSpPr>
        <p:spPr>
          <a:xfrm xmlns:a="http://schemas.openxmlformats.org/drawingml/2006/main">
            <a:off x="609600" y="2533650"/>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已有方法怎样发展</a:t>
            </a:r>
          </a:p>
        </p:txBody>
      </p:sp>
      <p:sp>
        <p:nvSpPr>
          <p:cNvPr id="8" name="">
            <a:extLst xmlns:a="http://schemas.openxmlformats.org/drawingml/2006/main">
              <a:ext uri="{FF2B5EF4-FFF2-40B4-BE49-F238E27FC236}">
                <a16:creationId xmlns:a16="http://schemas.microsoft.com/office/drawing/2014/main" id="{AE224E3A-5C89-49BF-ACD4-9D153CA38C68}"/>
              </a:ext>
            </a:extLst>
          </p:cNvPr>
          <p:cNvSpPr>
            <a:spLocks xmlns:a="http://schemas.openxmlformats.org/drawingml/2006/main" noGrp="1"/>
          </p:cNvSpPr>
          <p:nvPr/>
        </p:nvSpPr>
        <p:spPr>
          <a:xfrm xmlns:a="http://schemas.openxmlformats.org/drawingml/2006/main">
            <a:off x="3390900" y="2533650"/>
            <a:ext cx="8153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围绕位置、偏差和估计依据形成多条路线，后来的构造各有改进目标。</a:t>
            </a:r>
          </a:p>
        </p:txBody>
      </p:sp>
      <p:sp>
        <p:nvSpPr>
          <p:cNvPr id="9" name="">
            <a:extLst xmlns:a="http://schemas.openxmlformats.org/drawingml/2006/main">
              <a:ext uri="{FF2B5EF4-FFF2-40B4-BE49-F238E27FC236}">
                <a16:creationId xmlns:a16="http://schemas.microsoft.com/office/drawing/2014/main" id="{12FE087F-377F-402F-8719-AE1960A43072}"/>
              </a:ext>
            </a:extLst>
          </p:cNvPr>
          <p:cNvSpPr>
            <a:spLocks xmlns:a="http://schemas.openxmlformats.org/drawingml/2006/main" noGrp="1"/>
          </p:cNvSpPr>
          <p:nvPr/>
        </p:nvSpPr>
        <p:spPr>
          <a:xfrm xmlns:a="http://schemas.openxmlformats.org/drawingml/2006/main">
            <a:off x="609600" y="3352800"/>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近年有什么，如何取舍</a:t>
            </a:r>
          </a:p>
        </p:txBody>
      </p:sp>
      <p:sp>
        <p:nvSpPr>
          <p:cNvPr id="10" name="">
            <a:extLst xmlns:a="http://schemas.openxmlformats.org/drawingml/2006/main">
              <a:ext uri="{FF2B5EF4-FFF2-40B4-BE49-F238E27FC236}">
                <a16:creationId xmlns:a16="http://schemas.microsoft.com/office/drawing/2014/main" id="{BD5179CF-B99A-4B6C-B0AC-7E791497B1E2}"/>
              </a:ext>
            </a:extLst>
          </p:cNvPr>
          <p:cNvSpPr>
            <a:spLocks xmlns:a="http://schemas.openxmlformats.org/drawingml/2006/main" noGrp="1"/>
          </p:cNvSpPr>
          <p:nvPr/>
        </p:nvSpPr>
        <p:spPr>
          <a:xfrm xmlns:a="http://schemas.openxmlformats.org/drawingml/2006/main">
            <a:off x="3390900" y="3352800"/>
            <a:ext cx="8153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WMLE、Park、SAM／PM等均有相关进展，性能证据必须附条件。</a:t>
            </a:r>
          </a:p>
        </p:txBody>
      </p:sp>
      <p:sp>
        <p:nvSpPr>
          <p:cNvPr id="11" name="">
            <a:extLst xmlns:a="http://schemas.openxmlformats.org/drawingml/2006/main">
              <a:ext uri="{FF2B5EF4-FFF2-40B4-BE49-F238E27FC236}">
                <a16:creationId xmlns:a16="http://schemas.microsoft.com/office/drawing/2014/main" id="{1E7174ED-825D-430A-B037-B18FBD95CB1B}"/>
              </a:ext>
            </a:extLst>
          </p:cNvPr>
          <p:cNvSpPr>
            <a:spLocks xmlns:a="http://schemas.openxmlformats.org/drawingml/2006/main" noGrp="1"/>
          </p:cNvSpPr>
          <p:nvPr/>
        </p:nvSpPr>
        <p:spPr>
          <a:xfrm xmlns:a="http://schemas.openxmlformats.org/drawingml/2006/main">
            <a:off x="609600" y="4171950"/>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应该和谁比较</a:t>
            </a:r>
          </a:p>
        </p:txBody>
      </p:sp>
      <p:sp>
        <p:nvSpPr>
          <p:cNvPr id="12" name="">
            <a:extLst xmlns:a="http://schemas.openxmlformats.org/drawingml/2006/main">
              <a:ext uri="{FF2B5EF4-FFF2-40B4-BE49-F238E27FC236}">
                <a16:creationId xmlns:a16="http://schemas.microsoft.com/office/drawing/2014/main" id="{DAC26C93-8752-48B5-99A4-0D2BB0564180}"/>
              </a:ext>
            </a:extLst>
          </p:cNvPr>
          <p:cNvSpPr>
            <a:spLocks xmlns:a="http://schemas.openxmlformats.org/drawingml/2006/main" noGrp="1"/>
          </p:cNvSpPr>
          <p:nvPr/>
        </p:nvSpPr>
        <p:spPr>
          <a:xfrm xmlns:a="http://schemas.openxmlformats.org/drawingml/2006/main">
            <a:off x="3390900" y="4171950"/>
            <a:ext cx="8153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优先MLE、WMLE、明确的概率图版本及任务相关近期对手，按主张补充。</a:t>
            </a:r>
          </a:p>
        </p:txBody>
      </p:sp>
      <p:sp>
        <p:nvSpPr>
          <p:cNvPr id="13" name="">
            <a:extLst xmlns:a="http://schemas.openxmlformats.org/drawingml/2006/main">
              <a:ext uri="{FF2B5EF4-FFF2-40B4-BE49-F238E27FC236}">
                <a16:creationId xmlns:a16="http://schemas.microsoft.com/office/drawing/2014/main" id="{70AAB493-4B3C-42C4-AA10-FA37D274D6A1}"/>
              </a:ext>
            </a:extLst>
          </p:cNvPr>
          <p:cNvSpPr>
            <a:spLocks xmlns:a="http://schemas.openxmlformats.org/drawingml/2006/main" noGrp="1"/>
          </p:cNvSpPr>
          <p:nvPr/>
        </p:nvSpPr>
        <p:spPr>
          <a:xfrm xmlns:a="http://schemas.openxmlformats.org/drawingml/2006/main">
            <a:off x="609600" y="4991100"/>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应该怎样比较</a:t>
            </a:r>
          </a:p>
        </p:txBody>
      </p:sp>
      <p:sp>
        <p:nvSpPr>
          <p:cNvPr id="14" name="">
            <a:extLst xmlns:a="http://schemas.openxmlformats.org/drawingml/2006/main">
              <a:ext uri="{FF2B5EF4-FFF2-40B4-BE49-F238E27FC236}">
                <a16:creationId xmlns:a16="http://schemas.microsoft.com/office/drawing/2014/main" id="{724C246F-EAF0-4607-AB63-4C09959DFD26}"/>
              </a:ext>
            </a:extLst>
          </p:cNvPr>
          <p:cNvSpPr>
            <a:spLocks xmlns:a="http://schemas.openxmlformats.org/drawingml/2006/main" noGrp="1"/>
          </p:cNvSpPr>
          <p:nvPr/>
        </p:nvSpPr>
        <p:spPr>
          <a:xfrm xmlns:a="http://schemas.openxmlformats.org/drawingml/2006/main">
            <a:off x="3390900" y="4991100"/>
            <a:ext cx="8153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MC报告逐参数误差及有效率，真实数据说明应用；版本与失败规则透明。</a:t>
            </a:r>
          </a:p>
        </p:txBody>
      </p:sp>
      <p:sp>
        <p:nvSpPr>
          <p:cNvPr id="15" name="">
            <a:extLst xmlns:a="http://schemas.openxmlformats.org/drawingml/2006/main">
              <a:ext uri="{FF2B5EF4-FFF2-40B4-BE49-F238E27FC236}">
                <a16:creationId xmlns:a16="http://schemas.microsoft.com/office/drawing/2014/main" id="{B3FDEF13-CB48-4B74-BBCA-9D8877CF126F}"/>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这是有条件的选型与评价建议；近期候选全文、部分性能条件和失败分母仍需补核。</a:t>
            </a:r>
          </a:p>
        </p:txBody>
      </p:sp>
    </p:spTree>
    <p:extLst>
      <p:ext uri="{BB962C8B-B14F-4D97-AF65-F5344CB8AC3E}">
        <p14:creationId xmlns:p14="http://schemas.microsoft.com/office/powerpoint/2010/main" val="1720144897"/>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2026-09-28T03:43:36.8300000Z</dcterms:created>
  <dcterms:modified xsi:type="dcterms:W3CDTF">2026-09-28T03:43:36.8300000Z</dcterms:modified>
</coreProperties>
</file>