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63" r:id="rId3"/>
  </p:sldMasterIdLst>
  <p:notesMasterIdLst>
    <p:notesMasterId r:id="rId20"/>
  </p:notesMasterIdLst>
  <p:sldIdLst>
    <p:sldId id="256"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E3753D0-92AB-4620-8DB3-57A31C4D162D}" styleName="表样式 1 25">
    <a:wholeTbl>
      <a:tcTxStyle>
        <a:fontRef idx="none">
          <a:schemeClr val="tx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w="9525" cmpd="sng">
              <a:solidFill>
                <a:schemeClr val="accent1">
                  <a:lumMod val="40000"/>
                  <a:lumOff val="60000"/>
                </a:schemeClr>
              </a:solidFill>
              <a:prstDash val="solid"/>
            </a:ln>
          </a:insideV>
        </a:tcBdr>
        <a:fill>
          <a:solidFill>
            <a:schemeClr val="bg1">
              <a:alpha val="0"/>
            </a:schemeClr>
          </a:solidFill>
        </a:fill>
      </a:tcStyle>
    </a:wholeTbl>
    <a:band2H>
      <a:tcTxStyle/>
      <a:tcStyle>
        <a:tcBdr/>
        <a:fill>
          <a:solidFill>
            <a:schemeClr val="accent1">
              <a:alpha val="25000"/>
              <a:lumMod val="40000"/>
              <a:lumOff val="60000"/>
            </a:schemeClr>
          </a:solidFill>
        </a:fill>
      </a:tcStyle>
    </a:band2H>
    <a:band1V>
      <a:tcTxStyle/>
      <a:tcStyle>
        <a:tcBdr/>
        <a:fill>
          <a:solidFill>
            <a:schemeClr val="accent1">
              <a:alpha val="25000"/>
              <a:lumMod val="40000"/>
              <a:lumOff val="60000"/>
            </a:schemeClr>
          </a:solidFill>
        </a:fill>
      </a:tcStyle>
    </a:band1V>
    <a:band2V>
      <a:tcTxStyle/>
      <a:tcStyle>
        <a:tcBdr/>
        <a:fill>
          <a:solidFill>
            <a:schemeClr val="bg1">
              <a:alpha val="0"/>
            </a:schemeClr>
          </a:solidFill>
        </a:fill>
      </a:tcStyle>
    </a:band2V>
    <a:lastCol>
      <a:tcTxStyle b="on">
        <a:fontRef idx="none">
          <a:schemeClr val="tx1"/>
        </a:fontRef>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alpha val="40000"/>
              <a:lumMod val="40000"/>
              <a:lumOff val="60000"/>
            </a:schemeClr>
          </a:solidFill>
        </a:fill>
      </a:tcStyle>
    </a:lastCol>
    <a:firstCol>
      <a:tcTxStyle b="on">
        <a:fontRef idx="none">
          <a:schemeClr val="tx1"/>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alpha val="40000"/>
              <a:lumMod val="40000"/>
              <a:lumOff val="60000"/>
            </a:schemeClr>
          </a:solidFill>
        </a:fill>
      </a:tcStyle>
    </a:firstCol>
    <a:lastRow>
      <a:tcTxStyle b="on">
        <a:fontRef idx="none">
          <a:schemeClr val="accent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lastRow>
    <a:seCell>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seCell>
    <a:swCell>
      <a:tcTxStyle b="on">
        <a:fontRef idx="none">
          <a:schemeClr val="accent1"/>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swCell>
    <a:firstRow>
      <a:tcTxStyle b="on">
        <a:fontRef idx="none">
          <a:schemeClr val="bg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w="9525" cmpd="sng">
              <a:solidFill>
                <a:schemeClr val="accent1">
                  <a:lumMod val="40000"/>
                  <a:lumOff val="60000"/>
                </a:schemeClr>
              </a:solidFill>
              <a:prstDash val="solid"/>
            </a:ln>
          </a:insideV>
        </a:tcBdr>
        <a:fill>
          <a:solidFill>
            <a:schemeClr val="accent1"/>
          </a:solidFill>
        </a:fill>
      </a:tcStyle>
    </a:firstRow>
    <a:neCell>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lumMod val="40000"/>
                  <a:lumOff val="60000"/>
                </a:schemeClr>
              </a:solidFill>
              <a:prstDash val="solid"/>
            </a:ln>
          </a:bottom>
          <a:insideH>
            <a:ln>
              <a:noFill/>
            </a:ln>
          </a:insideH>
          <a:insideV>
            <a:ln>
              <a:noFill/>
            </a:ln>
          </a:insideV>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588" autoAdjust="0"/>
  </p:normalViewPr>
  <p:slideViewPr>
    <p:cSldViewPr snapToGrid="0">
      <p:cViewPr varScale="1">
        <p:scale>
          <a:sx n="106" d="100"/>
          <a:sy n="106" d="100"/>
        </p:scale>
        <p:origin x="72" y="12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wrap="square"/>
          <a:lstStyle/>
          <a:p>
            <a:r>
              <a:rPr sz="1800"/>
              <a:t>老师晚上好，本次汇报一下最近围绕威布尔分布参数估计和小样本估计做的一些工作，主要是神经网络在 MDM 方法和直接参数估计中的应用。下面分三个部分来讲。</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报告</a:t>
            </a:r>
            <a:r>
              <a:rPr lang="en-US" altLang="zh-CN" sz="1800"/>
              <a:t>1.1</a:t>
            </a:r>
            <a:r>
              <a:rPr lang="zh-CN" altLang="en-US" sz="1800"/>
              <a:t>。定向工作分类，非互斥穷尽理论。</a:t>
            </a:r>
            <a:r>
              <a:rPr lang="en-US" altLang="zh-CN" sz="1800"/>
              <a:t>MLE</a:t>
            </a:r>
            <a:r>
              <a:rPr lang="zh-CN" altLang="en-US" sz="1800"/>
              <a:t>与</a:t>
            </a:r>
            <a:r>
              <a:rPr lang="en-US" altLang="zh-CN" sz="1800"/>
              <a:t>WMLE</a:t>
            </a:r>
            <a:r>
              <a:rPr lang="zh-CN" altLang="en-US" sz="1800"/>
              <a:t>同属似然，</a:t>
            </a:r>
            <a:r>
              <a:rPr lang="en-US" altLang="zh-CN" sz="1800"/>
              <a:t>LS</a:t>
            </a:r>
            <a:r>
              <a:rPr lang="zh-CN" altLang="en-US" sz="1800"/>
              <a:t>与</a:t>
            </a:r>
            <a:r>
              <a:rPr lang="en-US" altLang="zh-CN" sz="1800"/>
              <a:t>LRE</a:t>
            </a:r>
            <a:r>
              <a:rPr lang="zh-CN" altLang="en-US" sz="1800"/>
              <a:t>同属概率图。</a:t>
            </a:r>
            <a:r>
              <a:rPr lang="en-US" altLang="zh-CN" sz="1800"/>
              <a:t>MDM</a:t>
            </a:r>
            <a:r>
              <a:rPr lang="zh-CN" altLang="en-US" sz="1800"/>
              <a:t>是已核近期构造。</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报告</a:t>
            </a:r>
            <a:r>
              <a:rPr lang="en-US" altLang="zh-CN" sz="1800"/>
              <a:t>1.2—1.3</a:t>
            </a:r>
            <a:r>
              <a:rPr lang="zh-CN" altLang="en-US" sz="1800"/>
              <a:t>，附录</a:t>
            </a:r>
            <a:r>
              <a:rPr lang="en-US" altLang="zh-CN" sz="1800"/>
              <a:t>A</a:t>
            </a:r>
            <a:r>
              <a:rPr lang="zh-CN" altLang="en-US" sz="1800"/>
              <a:t>。</a:t>
            </a:r>
            <a:r>
              <a:rPr lang="en-US" altLang="zh-CN" sz="1800"/>
              <a:t>Cousineau[182-088]</a:t>
            </a:r>
            <a:r>
              <a:rPr lang="zh-CN" altLang="en-US" sz="1800"/>
              <a:t>承接</a:t>
            </a:r>
            <a:r>
              <a:rPr lang="en-US" altLang="zh-CN" sz="1800"/>
              <a:t>Jacquelin</a:t>
            </a:r>
            <a:r>
              <a:rPr lang="zh-CN" altLang="en-US" sz="1800"/>
              <a:t>；</a:t>
            </a:r>
            <a:r>
              <a:rPr lang="en-US" altLang="zh-CN" sz="1800"/>
              <a:t>White</a:t>
            </a:r>
            <a:r>
              <a:rPr lang="zh-CN" altLang="en-US" sz="1800"/>
              <a:t>至</a:t>
            </a:r>
            <a:r>
              <a:rPr lang="en-US" altLang="zh-CN" sz="1800"/>
              <a:t>Soman–Misra[182-104]</a:t>
            </a:r>
            <a:r>
              <a:rPr lang="zh-CN" altLang="en-US" sz="1800"/>
              <a:t>是明确扩展。</a:t>
            </a:r>
            <a:r>
              <a:rPr lang="en-US" altLang="zh-CN" sz="1800"/>
              <a:t>Park[182-115]</a:t>
            </a:r>
            <a:r>
              <a:rPr lang="zh-CN" altLang="en-US" sz="1800"/>
              <a:t>另立相关系数定位，后续恢复有</a:t>
            </a:r>
            <a:r>
              <a:rPr lang="en-US" altLang="zh-CN" sz="1800"/>
              <a:t>Plot</a:t>
            </a:r>
            <a:r>
              <a:rPr lang="zh-CN" altLang="en-US" sz="1800"/>
              <a:t>与</a:t>
            </a:r>
            <a:r>
              <a:rPr lang="en-US" altLang="zh-CN" sz="1800"/>
              <a:t>MLE2</a:t>
            </a:r>
            <a:r>
              <a:rPr lang="zh-CN" altLang="en-US" sz="1800"/>
              <a:t>两支。</a:t>
            </a:r>
            <a:r>
              <a:rPr lang="en-US" altLang="zh-CN" sz="1800"/>
              <a:t>White</a:t>
            </a:r>
            <a:r>
              <a:rPr lang="zh-CN" altLang="en-US" sz="1800"/>
              <a:t>与</a:t>
            </a:r>
            <a:r>
              <a:rPr lang="en-US" altLang="zh-CN" sz="1800"/>
              <a:t>Jacquelin</a:t>
            </a:r>
            <a:r>
              <a:rPr lang="zh-CN" altLang="en-US" sz="1800"/>
              <a:t>来源由已核原文追溯，不声称全部早期原文完整审读。</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报告</a:t>
            </a:r>
            <a:r>
              <a:rPr lang="en-US" altLang="zh-CN" sz="1800"/>
              <a:t>1.3</a:t>
            </a:r>
            <a:r>
              <a:rPr lang="zh-CN" altLang="en-US" sz="1800"/>
              <a:t>及附录</a:t>
            </a:r>
            <a:r>
              <a:rPr lang="en-US" altLang="zh-CN" sz="1800"/>
              <a:t>B2—4</a:t>
            </a:r>
            <a:r>
              <a:rPr lang="zh-CN" altLang="en-US" sz="1800"/>
              <a:t>。图为理想分位数原理示意，非性能结果。项目</a:t>
            </a:r>
            <a:r>
              <a:rPr lang="en-US" altLang="zh-CN" sz="1800"/>
              <a:t>LS</a:t>
            </a:r>
            <a:r>
              <a:rPr lang="zh-CN" altLang="en-US" sz="1800"/>
              <a:t>：</a:t>
            </a:r>
            <a:r>
              <a:rPr lang="en-US" altLang="zh-CN" sz="1800"/>
              <a:t>Soman–Misra[182-104]</a:t>
            </a:r>
            <a:r>
              <a:rPr lang="zh-CN" altLang="en-US" sz="1800"/>
              <a:t>的</a:t>
            </a:r>
            <a:r>
              <a:rPr lang="en-US" altLang="zh-CN" sz="1800"/>
              <a:t>White</a:t>
            </a:r>
            <a:r>
              <a:rPr lang="zh-CN" altLang="en-US" sz="1800"/>
              <a:t>扩展分支，次序统计量期望分数，</a:t>
            </a:r>
            <a:r>
              <a:rPr lang="en-US" altLang="zh-CN" sz="1800"/>
              <a:t>x</a:t>
            </a:r>
            <a:r>
              <a:rPr lang="zh-CN" altLang="en-US" sz="1800"/>
              <a:t>对</a:t>
            </a:r>
            <a:r>
              <a:rPr lang="en-US" altLang="zh-CN" sz="1800"/>
              <a:t>z</a:t>
            </a:r>
            <a:r>
              <a:rPr lang="zh-CN" altLang="en-US" sz="1800"/>
              <a:t>。项目</a:t>
            </a:r>
            <a:r>
              <a:rPr lang="en-US" altLang="zh-CN" sz="1800"/>
              <a:t>LRE</a:t>
            </a:r>
            <a:r>
              <a:rPr lang="zh-CN" altLang="en-US" sz="1800"/>
              <a:t>：</a:t>
            </a:r>
            <a:r>
              <a:rPr lang="en-US" altLang="zh-CN" sz="1800"/>
              <a:t>Bernard</a:t>
            </a:r>
            <a:r>
              <a:rPr lang="zh-CN" altLang="en-US" sz="1800"/>
              <a:t>绘图概率、相关系数定位、</a:t>
            </a:r>
            <a:r>
              <a:rPr lang="en-US" altLang="zh-CN" sz="1800"/>
              <a:t>z</a:t>
            </a:r>
            <a:r>
              <a:rPr lang="zh-CN" altLang="en-US" sz="1800"/>
              <a:t>对</a:t>
            </a:r>
            <a:r>
              <a:rPr lang="en-US" altLang="zh-CN" sz="1800"/>
              <a:t>x</a:t>
            </a:r>
            <a:r>
              <a:rPr lang="zh-CN" altLang="en-US" sz="1800"/>
              <a:t>，与</a:t>
            </a:r>
            <a:r>
              <a:rPr lang="en-US" altLang="zh-CN" sz="1800"/>
              <a:t>Park[182-115]</a:t>
            </a:r>
            <a:r>
              <a:rPr lang="zh-CN" altLang="en-US" sz="1800"/>
              <a:t>绘图位置不同。</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报告</a:t>
            </a:r>
            <a:r>
              <a:rPr lang="en-US" altLang="zh-CN" sz="1800"/>
              <a:t>1.5</a:t>
            </a:r>
            <a:r>
              <a:rPr lang="zh-CN" altLang="en-US" sz="1800"/>
              <a:t>。</a:t>
            </a:r>
            <a:r>
              <a:rPr lang="en-US" altLang="zh-CN" sz="1800"/>
              <a:t>MDM</a:t>
            </a:r>
            <a:r>
              <a:rPr lang="zh-CN" altLang="en-US" sz="1800"/>
              <a:t>在线</a:t>
            </a:r>
            <a:r>
              <a:rPr lang="en-US" altLang="zh-CN" sz="1800"/>
              <a:t>2022/</a:t>
            </a:r>
            <a:r>
              <a:rPr lang="zh-CN" altLang="en-US" sz="1800"/>
              <a:t>卷期</a:t>
            </a:r>
            <a:r>
              <a:rPr lang="en-US" altLang="zh-CN" sz="1800"/>
              <a:t>2023</a:t>
            </a:r>
            <a:r>
              <a:rPr lang="zh-CN" altLang="en-US" sz="1800"/>
              <a:t>，带偏移修正须另标；两版</a:t>
            </a:r>
            <a:r>
              <a:rPr lang="en-US" altLang="zh-CN" sz="1800"/>
              <a:t>Guo</a:t>
            </a:r>
            <a:r>
              <a:rPr lang="zh-CN" altLang="en-US" sz="1800"/>
              <a:t>未确认直接升级关系。</a:t>
            </a:r>
            <a:r>
              <a:rPr lang="en-US" altLang="zh-CN" sz="1800"/>
              <a:t>BPNN</a:t>
            </a:r>
            <a:r>
              <a:rPr lang="zh-CN" altLang="en-US" sz="1800"/>
              <a:t>输入</a:t>
            </a:r>
            <a:r>
              <a:rPr lang="en-US" altLang="zh-CN" sz="1800"/>
              <a:t>/</a:t>
            </a:r>
            <a:r>
              <a:rPr lang="zh-CN" altLang="en-US" sz="1800"/>
              <a:t>训练仍有未决处。学习公式是通用框架，不是该文完整复现。</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报告</a:t>
            </a:r>
            <a:r>
              <a:rPr lang="en-US" altLang="zh-CN" sz="1800"/>
              <a:t>2.1</a:t>
            </a:r>
            <a:r>
              <a:rPr lang="zh-CN" altLang="en-US" sz="1800"/>
              <a:t>。</a:t>
            </a:r>
            <a:r>
              <a:rPr lang="en-US" altLang="zh-CN" sz="1800"/>
              <a:t>182-114</a:t>
            </a:r>
            <a:r>
              <a:rPr lang="zh-CN" altLang="en-US" sz="1800"/>
              <a:t>是二参数删失，明确单列。</a:t>
            </a:r>
            <a:r>
              <a:rPr lang="en-US" altLang="zh-CN" sz="1800"/>
              <a:t>187-001</a:t>
            </a:r>
            <a:r>
              <a:rPr lang="zh-CN" altLang="en-US" sz="1800"/>
              <a:t>卷期</a:t>
            </a:r>
            <a:r>
              <a:rPr lang="en-US" altLang="zh-CN" sz="1800"/>
              <a:t>2026</a:t>
            </a:r>
            <a:r>
              <a:rPr lang="zh-CN" altLang="en-US" sz="1800"/>
              <a:t>，目标为</a:t>
            </a:r>
            <a:r>
              <a:rPr lang="en-US" altLang="zh-CN" sz="1800"/>
              <a:t>MLE</a:t>
            </a:r>
            <a:r>
              <a:rPr lang="zh-CN" altLang="en-US" sz="1800"/>
              <a:t>数值求解。不能由此推断近期完整三参数没有新方法。</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报告</a:t>
            </a:r>
            <a:r>
              <a:rPr lang="en-US" altLang="zh-CN" sz="1800"/>
              <a:t>2.2</a:t>
            </a:r>
            <a:r>
              <a:rPr lang="zh-CN" altLang="en-US" sz="1800"/>
              <a:t>。</a:t>
            </a:r>
            <a:r>
              <a:rPr lang="en-US" altLang="zh-CN" sz="1800"/>
              <a:t>LSPF</a:t>
            </a:r>
            <a:r>
              <a:rPr lang="zh-CN" altLang="en-US" sz="1800"/>
              <a:t>来源</a:t>
            </a:r>
            <a:r>
              <a:rPr lang="en-US" altLang="zh-CN" sz="1800"/>
              <a:t>Nagatsuka</a:t>
            </a:r>
            <a:r>
              <a:rPr lang="zh-CN" altLang="en-US" sz="1800"/>
              <a:t>等</a:t>
            </a:r>
            <a:r>
              <a:rPr lang="en-US" altLang="zh-CN" sz="1800"/>
              <a:t>2013</a:t>
            </a:r>
            <a:r>
              <a:rPr lang="zh-CN" altLang="en-US" sz="1800"/>
              <a:t>。</a:t>
            </a:r>
            <a:r>
              <a:rPr lang="en-US" altLang="zh-CN" sz="1800"/>
              <a:t>SAM n=5/10/15/20</a:t>
            </a:r>
            <a:r>
              <a:rPr lang="zh-CN" altLang="en-US" sz="1800"/>
              <a:t>；</a:t>
            </a:r>
            <a:r>
              <a:rPr lang="en-US" altLang="zh-CN" sz="1800"/>
              <a:t>PM §5.1 n=5</a:t>
            </a:r>
            <a:r>
              <a:rPr lang="zh-CN" altLang="en-US" sz="1800"/>
              <a:t>。</a:t>
            </a:r>
            <a:r>
              <a:rPr lang="en-US" altLang="zh-CN" sz="1800"/>
              <a:t>DMMLE</a:t>
            </a:r>
            <a:r>
              <a:rPr lang="zh-CN" altLang="en-US" sz="1800"/>
              <a:t>的小样本比较属于新检验，不预先认定最强。</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报告</a:t>
            </a:r>
            <a:r>
              <a:rPr lang="en-US" altLang="zh-CN" sz="1800"/>
              <a:t>2.3</a:t>
            </a:r>
            <a:r>
              <a:rPr lang="zh-CN" altLang="en-US" sz="1800"/>
              <a:t>，附录</a:t>
            </a:r>
            <a:r>
              <a:rPr lang="en-US" altLang="zh-CN" sz="1800"/>
              <a:t>A</a:t>
            </a:r>
            <a:r>
              <a:rPr lang="zh-CN" altLang="en-US" sz="1800"/>
              <a:t>。</a:t>
            </a:r>
            <a:r>
              <a:rPr lang="en-US" altLang="zh-CN" sz="1800"/>
              <a:t>Safari</a:t>
            </a:r>
            <a:r>
              <a:rPr lang="zh-CN" altLang="en-US" sz="1800"/>
              <a:t>为污染实验，支持采用事实，不把排名搬到完整干净小样本。未确认后续充分检验不等于不存在。</a:t>
            </a:r>
            <a:r>
              <a:rPr lang="en-US" altLang="zh-CN" sz="1800"/>
              <a:t>MPS</a:t>
            </a:r>
            <a:r>
              <a:rPr lang="zh-CN" altLang="en-US" sz="1800"/>
              <a:t>经典路线亦有</a:t>
            </a:r>
            <a:r>
              <a:rPr lang="en-US" altLang="zh-CN" sz="1800"/>
              <a:t>2014</a:t>
            </a:r>
            <a:r>
              <a:rPr lang="zh-CN" altLang="en-US" sz="1800"/>
              <a:t>及</a:t>
            </a:r>
            <a:r>
              <a:rPr lang="en-US" altLang="zh-CN" sz="1800"/>
              <a:t>2025</a:t>
            </a:r>
            <a:r>
              <a:rPr lang="zh-CN" altLang="en-US" sz="1800"/>
              <a:t>后续比较，见报告</a:t>
            </a:r>
            <a:r>
              <a:rPr lang="en-US" altLang="zh-CN" sz="1800"/>
              <a:t>1.4</a:t>
            </a:r>
            <a:r>
              <a:rPr lang="zh-CN" altLang="en-US" sz="1800"/>
              <a:t>。</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报告</a:t>
            </a:r>
            <a:r>
              <a:rPr lang="en-US" altLang="zh-CN" sz="1800"/>
              <a:t>3.1</a:t>
            </a:r>
            <a:r>
              <a:rPr lang="zh-CN" altLang="en-US" sz="1800"/>
              <a:t>，附录</a:t>
            </a:r>
            <a:r>
              <a:rPr lang="en-US" altLang="zh-CN" sz="1800"/>
              <a:t>A</a:t>
            </a:r>
            <a:r>
              <a:rPr lang="zh-CN" altLang="en-US" sz="1800"/>
              <a:t>逐篇证据。表中作用是本调研归纳，不都是作者明说的选择理由。只评价形状的工作不能证明三参数同时改善。当前</a:t>
            </a:r>
            <a:r>
              <a:rPr lang="en-US" altLang="zh-CN" sz="1800"/>
              <a:t>44</a:t>
            </a:r>
            <a:r>
              <a:rPr lang="zh-CN" altLang="en-US" sz="1800"/>
              <a:t>条记录中</a:t>
            </a:r>
            <a:r>
              <a:rPr lang="en-US" altLang="zh-CN" sz="1800"/>
              <a:t>38</a:t>
            </a:r>
            <a:r>
              <a:rPr lang="zh-CN" altLang="en-US" sz="1800"/>
              <a:t>条计经验用途，非完整领域名单。</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报告</a:t>
            </a:r>
            <a:r>
              <a:rPr lang="en-US" altLang="zh-CN" sz="1800"/>
              <a:t>3.2</a:t>
            </a:r>
            <a:r>
              <a:rPr lang="zh-CN" altLang="en-US" sz="1800"/>
              <a:t>。回归可考虑</a:t>
            </a:r>
            <a:r>
              <a:rPr lang="en-US" altLang="zh-CN" sz="1800"/>
              <a:t>Park Proposed+Plot</a:t>
            </a:r>
            <a:r>
              <a:rPr lang="zh-CN" altLang="en-US" sz="1800"/>
              <a:t>，尚需与论文最终实现一致。不是固定必选清单，不把这组方法称公认排名。</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报告</a:t>
            </a:r>
            <a:r>
              <a:rPr lang="en-US" altLang="zh-CN" sz="1800"/>
              <a:t>3.3</a:t>
            </a:r>
            <a:r>
              <a:rPr lang="zh-CN" altLang="en-US" sz="1800"/>
              <a:t>和附录</a:t>
            </a:r>
            <a:r>
              <a:rPr lang="en-US" altLang="zh-CN" sz="1800"/>
              <a:t>B</a:t>
            </a:r>
            <a:r>
              <a:rPr lang="zh-CN" altLang="en-US" sz="1800"/>
              <a:t>。</a:t>
            </a:r>
            <a:r>
              <a:rPr lang="en-US" altLang="zh-CN" sz="1800"/>
              <a:t>Park</a:t>
            </a:r>
            <a:r>
              <a:rPr lang="zh-CN" altLang="en-US" sz="1800"/>
              <a:t>绘图位置：</a:t>
            </a:r>
            <a:r>
              <a:rPr lang="en-US" altLang="zh-CN" sz="1800"/>
              <a:t>n≤10</a:t>
            </a:r>
            <a:r>
              <a:rPr lang="zh-CN" altLang="en-US" sz="1800"/>
              <a:t>时</a:t>
            </a:r>
            <a:r>
              <a:rPr lang="en-US" altLang="zh-CN" sz="1800"/>
              <a:t>(i−3/8)/(n+1/4)</a:t>
            </a:r>
            <a:r>
              <a:rPr lang="zh-CN" altLang="en-US" sz="1800"/>
              <a:t>，其余</a:t>
            </a:r>
            <a:r>
              <a:rPr lang="en-US" altLang="zh-CN" sz="1800"/>
              <a:t>(i−1/2)/n</a:t>
            </a:r>
            <a:r>
              <a:rPr lang="zh-CN" altLang="en-US" sz="1800"/>
              <a:t>。项目</a:t>
            </a:r>
            <a:r>
              <a:rPr lang="en-US" altLang="zh-CN" sz="1800"/>
              <a:t>LRE</a:t>
            </a:r>
            <a:r>
              <a:rPr lang="zh-CN" altLang="en-US" sz="1800"/>
              <a:t>为</a:t>
            </a:r>
            <a:r>
              <a:rPr lang="en-US" altLang="zh-CN" sz="1800"/>
              <a:t>(i−0.3)/(n+0.4)</a:t>
            </a:r>
            <a:r>
              <a:rPr lang="zh-CN" altLang="en-US" sz="1800"/>
              <a:t>。若保留项目变体，须如实命名并披露改动。</a:t>
            </a:r>
            <a:r>
              <a:rPr lang="en-US" altLang="zh-CN" sz="1800"/>
              <a:t>WMLE</a:t>
            </a:r>
            <a:r>
              <a:rPr lang="zh-CN" altLang="en-US" sz="1800"/>
              <a:t>不能用同作者比较论文替代构造来源。</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报告</a:t>
            </a:r>
            <a:r>
              <a:rPr lang="en-US" altLang="zh-CN" sz="1800"/>
              <a:t>3.4</a:t>
            </a:r>
            <a:r>
              <a:rPr lang="zh-CN" altLang="en-US" sz="1800"/>
              <a:t>，</a:t>
            </a:r>
            <a:r>
              <a:rPr lang="en-US" altLang="zh-CN" sz="1800"/>
              <a:t>evidence/complete_sample_metric_audit.json</a:t>
            </a:r>
            <a:r>
              <a:rPr lang="zh-CN" altLang="en-US" sz="1800"/>
              <a:t>。</a:t>
            </a:r>
            <a:r>
              <a:rPr lang="en-US" altLang="zh-CN" sz="1800"/>
              <a:t>44</a:t>
            </a:r>
            <a:r>
              <a:rPr lang="zh-CN" altLang="en-US" sz="1800"/>
              <a:t>条中扣</a:t>
            </a:r>
            <a:r>
              <a:rPr lang="en-US" altLang="zh-CN" sz="1800"/>
              <a:t>3</a:t>
            </a:r>
            <a:r>
              <a:rPr lang="zh-CN" altLang="en-US" sz="1800"/>
              <a:t>理论、</a:t>
            </a:r>
            <a:r>
              <a:rPr lang="en-US" altLang="zh-CN" sz="1800"/>
              <a:t>2</a:t>
            </a:r>
            <a:r>
              <a:rPr lang="zh-CN" altLang="en-US" sz="1800"/>
              <a:t>待核和</a:t>
            </a:r>
            <a:r>
              <a:rPr lang="en-US" altLang="zh-CN" sz="1800"/>
              <a:t>1GEV</a:t>
            </a:r>
            <a:r>
              <a:rPr lang="zh-CN" altLang="en-US" sz="1800"/>
              <a:t>扩展，</a:t>
            </a:r>
            <a:r>
              <a:rPr lang="en-US" altLang="zh-CN" sz="1800"/>
              <a:t>38</a:t>
            </a:r>
            <a:r>
              <a:rPr lang="zh-CN" altLang="en-US" sz="1800"/>
              <a:t>条经验用途。</a:t>
            </a:r>
            <a:r>
              <a:rPr lang="en-US" altLang="zh-CN" sz="1800"/>
              <a:t>21</a:t>
            </a:r>
            <a:r>
              <a:rPr lang="zh-CN" altLang="en-US" sz="1800"/>
              <a:t>重复生成来源中</a:t>
            </a:r>
            <a:r>
              <a:rPr lang="en-US" altLang="zh-CN" sz="1800"/>
              <a:t>Bias11</a:t>
            </a:r>
            <a:r>
              <a:rPr lang="zh-CN" altLang="en-US" sz="1800"/>
              <a:t>，</a:t>
            </a:r>
            <a:r>
              <a:rPr lang="en-US" altLang="zh-CN" sz="1800"/>
              <a:t>RMSE10</a:t>
            </a:r>
            <a:r>
              <a:rPr lang="zh-CN" altLang="en-US" sz="1800"/>
              <a:t>（其中</a:t>
            </a:r>
            <a:r>
              <a:rPr lang="en-US" altLang="zh-CN" sz="1800"/>
              <a:t>2</a:t>
            </a:r>
            <a:r>
              <a:rPr lang="zh-CN" altLang="en-US" sz="1800"/>
              <a:t>只形状），</a:t>
            </a:r>
            <a:r>
              <a:rPr lang="en-US" altLang="zh-CN" sz="1800"/>
              <a:t>SD9</a:t>
            </a:r>
            <a:r>
              <a:rPr lang="zh-CN" altLang="en-US" sz="1800"/>
              <a:t>，</a:t>
            </a:r>
            <a:r>
              <a:rPr lang="en-US" altLang="zh-CN" sz="1800"/>
              <a:t>MSE2</a:t>
            </a:r>
            <a:r>
              <a:rPr lang="zh-CN" altLang="en-US" sz="1800"/>
              <a:t>，</a:t>
            </a:r>
            <a:r>
              <a:rPr lang="en-US" altLang="zh-CN" sz="1800"/>
              <a:t>MAD1</a:t>
            </a:r>
            <a:r>
              <a:rPr lang="zh-CN" altLang="en-US" sz="1800"/>
              <a:t>，寿命</a:t>
            </a:r>
            <a:r>
              <a:rPr lang="en-US" altLang="zh-CN" sz="1800"/>
              <a:t>/MTTF</a:t>
            </a:r>
            <a:r>
              <a:rPr lang="zh-CN" altLang="en-US" sz="1800"/>
              <a:t>误差</a:t>
            </a:r>
            <a:r>
              <a:rPr lang="en-US" altLang="zh-CN" sz="1800"/>
              <a:t>3</a:t>
            </a:r>
            <a:r>
              <a:rPr lang="zh-CN" altLang="en-US" sz="1800"/>
              <a:t>，参数覆盖率</a:t>
            </a:r>
            <a:r>
              <a:rPr lang="en-US" altLang="zh-CN" sz="1800"/>
              <a:t>1</a:t>
            </a:r>
            <a:r>
              <a:rPr lang="zh-CN" altLang="en-US" sz="1800"/>
              <a:t>。多标签可重叠，不是全领域采用率。</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报告</a:t>
            </a:r>
            <a:r>
              <a:rPr lang="en-US" altLang="zh-CN" sz="1800"/>
              <a:t>3.4</a:t>
            </a:r>
            <a:r>
              <a:rPr lang="zh-CN" altLang="en-US" sz="1800"/>
              <a:t>。第一例</a:t>
            </a:r>
            <a:r>
              <a:rPr lang="en-US" altLang="zh-CN" sz="1800"/>
              <a:t>3</a:t>
            </a:r>
            <a:r>
              <a:rPr lang="zh-CN" altLang="en-US" sz="1800"/>
              <a:t>次抽样均值不是充分独立重复；</a:t>
            </a:r>
            <a:r>
              <a:rPr lang="en-US" altLang="zh-CN" sz="1800"/>
              <a:t>182-084</a:t>
            </a:r>
            <a:r>
              <a:rPr lang="zh-CN" altLang="en-US" sz="1800"/>
              <a:t>作者“估计真值”术语不等于真实参数。参数</a:t>
            </a:r>
            <a:r>
              <a:rPr lang="en-US" altLang="zh-CN" sz="1800"/>
              <a:t>Bootstrap</a:t>
            </a:r>
            <a:r>
              <a:rPr lang="zh-CN" altLang="en-US" sz="1800"/>
              <a:t>在此为评价逻辑说明，不冒称本库已形成通行做法。</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报告</a:t>
            </a:r>
            <a:r>
              <a:rPr lang="en-US" altLang="zh-CN" sz="1800"/>
              <a:t>3.5</a:t>
            </a:r>
            <a:r>
              <a:rPr lang="zh-CN" altLang="en-US" sz="1800"/>
              <a:t>。无约束</a:t>
            </a:r>
            <a:r>
              <a:rPr lang="en-US" altLang="zh-CN" sz="1800"/>
              <a:t>3P Weibull</a:t>
            </a:r>
            <a:r>
              <a:rPr lang="zh-CN" altLang="en-US" sz="1800"/>
              <a:t>允许</a:t>
            </a:r>
            <a:r>
              <a:rPr lang="en-US" altLang="zh-CN" sz="1800"/>
              <a:t>0&lt;β&lt;1</a:t>
            </a:r>
            <a:r>
              <a:rPr lang="zh-CN" altLang="en-US" sz="1800"/>
              <a:t>时，</a:t>
            </a:r>
            <a:r>
              <a:rPr lang="en-US" altLang="zh-CN" sz="1800"/>
              <a:t>γ</a:t>
            </a:r>
            <a:r>
              <a:rPr lang="zh-CN" altLang="en-US" sz="1800"/>
              <a:t>趋近样本最小值的路径使似然无界，与真实</a:t>
            </a:r>
            <a:r>
              <a:rPr lang="en-US" altLang="zh-CN" sz="1800"/>
              <a:t>β</a:t>
            </a:r>
            <a:r>
              <a:rPr lang="zh-CN" altLang="en-US" sz="1800"/>
              <a:t>不等价；更换</a:t>
            </a:r>
            <a:r>
              <a:rPr lang="en-US" altLang="zh-CN" sz="1800"/>
              <a:t>PSO</a:t>
            </a:r>
            <a:r>
              <a:rPr lang="zh-CN" altLang="en-US" sz="1800"/>
              <a:t>不能创造有限全局最大值。若回退，另定义完整流程。失败率完整披露是建议，不是文献已统一执行的惯例。</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报告总结及研究进度与待办。仅重组既有证据，未新做性能实验。</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4" name="图片 21"/>
          <p:cNvPicPr>
            <a:picLocks noChangeAspect="1"/>
          </p:cNvPicPr>
          <p:nvPr/>
        </p:nvPicPr>
        <p:blipFill>
          <a:blip r:embed="rId2">
            <a:alphaModFix amt="20000"/>
            <a:clrChange>
              <a:clrFrom>
                <a:srgbClr val="FFFFFF"/>
              </a:clrFrom>
              <a:clrTo>
                <a:srgbClr val="FFFFFF">
                  <a:alpha val="0"/>
                </a:srgbClr>
              </a:clrTo>
            </a:clrChange>
            <a:duotone>
              <a:schemeClr val="bg2">
                <a:shade val="45000"/>
                <a:satMod val="135000"/>
              </a:schemeClr>
              <a:prstClr val="white"/>
            </a:duotone>
          </a:blip>
          <a:srcRect l="-375" t="36417" r="375" b="17715"/>
          <a:stretch>
            <a:fillRect/>
          </a:stretch>
        </p:blipFill>
        <p:spPr>
          <a:xfrm>
            <a:off x="-188953" y="3125718"/>
            <a:ext cx="12697941" cy="4114800"/>
          </a:xfrm>
          <a:prstGeom prst="rect">
            <a:avLst/>
          </a:prstGeom>
        </p:spPr>
      </p:pic>
      <p:pic>
        <p:nvPicPr>
          <p:cNvPr id="5" name="图片 24"/>
          <p:cNvPicPr>
            <a:picLocks noChangeAspect="1"/>
          </p:cNvPicPr>
          <p:nvPr/>
        </p:nvPicPr>
        <p:blipFill>
          <a:blip r:embed="rId3"/>
          <a:srcRect b="60826"/>
          <a:stretch>
            <a:fillRect/>
          </a:stretch>
        </p:blipFill>
        <p:spPr>
          <a:xfrm>
            <a:off x="133584" y="72497"/>
            <a:ext cx="3337845" cy="708895"/>
          </a:xfrm>
          <a:prstGeom prst="rect">
            <a:avLst/>
          </a:prstGeom>
        </p:spPr>
      </p:pic>
      <p:pic>
        <p:nvPicPr>
          <p:cNvPr id="6" name="图片 1"/>
          <p:cNvPicPr>
            <a:picLocks noChangeAspect="1"/>
          </p:cNvPicPr>
          <p:nvPr/>
        </p:nvPicPr>
        <p:blipFill>
          <a:blip r:embed="rId4"/>
          <a:stretch>
            <a:fillRect/>
          </a:stretch>
        </p:blipFill>
        <p:spPr>
          <a:xfrm>
            <a:off x="7089206" y="72497"/>
            <a:ext cx="5102794" cy="914479"/>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333" name="矩形 332">
            <a:extLst>
              <a:ext uri="{FF2B5EF4-FFF2-40B4-BE49-F238E27FC236}">
                <a16:creationId xmlns:a16="http://schemas.microsoft.com/office/drawing/2014/main" id="{25D00A80-15F0-4C3D-BA1C-D2B8DF5713B7}"/>
              </a:ext>
            </a:extLst>
          </p:cNvPr>
          <p:cNvSpPr>
            <a:spLocks noGrp="1"/>
          </p:cNvSpPr>
          <p:nvPr/>
        </p:nvSpPr>
        <p:spPr>
          <a:xfrm>
            <a:off x="334962" y="833952"/>
            <a:ext cx="11522073" cy="499299"/>
          </a:xfrm>
          <a:prstGeom prst="rect">
            <a:avLst/>
          </a:prstGeom>
          <a:gradFill>
            <a:gsLst>
              <a:gs pos="17500">
                <a:srgbClr val="3E84EC"/>
              </a:gs>
              <a:gs pos="100000">
                <a:schemeClr val="accent1">
                  <a:lumMod val="75000"/>
                </a:schemeClr>
              </a:gs>
              <a:gs pos="0">
                <a:srgbClr val="0268FE">
                  <a:lumMod val="75000"/>
                  <a:lumOff val="25000"/>
                  <a:alpha val="69000"/>
                </a:srgbClr>
              </a:gs>
            </a:gsLst>
            <a:path path="circle">
              <a:fillToRect l="100000" b="100000"/>
            </a:path>
          </a:gradFill>
          <a:ln w="12700" cmpd="sng">
            <a:noFill/>
            <a:prstDash val="solid"/>
          </a:ln>
        </p:spPr>
        <p:txBody>
          <a:bodyPr anchor="ctr"/>
          <a:lstStyle/>
          <a:p>
            <a:pPr marL="0" marR="0" lvl="0" indent="0" algn="ctr" defTabSz="914400">
              <a:lnSpc>
                <a:spcPct val="100000"/>
              </a:lnSpc>
              <a:spcBef>
                <a:spcPts val="0"/>
              </a:spcBef>
              <a:spcAft>
                <a:spcPts val="0"/>
              </a:spcAft>
              <a:buClrTx/>
              <a:buSzTx/>
              <a:buFontTx/>
              <a:buNone/>
            </a:pPr>
            <a:endParaRPr sz="1800" b="0" i="0" u="none" kern="0" cap="none" spc="0" baseline="0">
              <a:ln>
                <a:noFill/>
              </a:ln>
              <a:solidFill>
                <a:srgbClr val="FFFFFF"/>
              </a:solidFill>
              <a:latin typeface="等线"/>
              <a:ea typeface="等线"/>
              <a:cs typeface="等线"/>
            </a:endParaRPr>
          </a:p>
        </p:txBody>
      </p:sp>
      <p:pic>
        <p:nvPicPr>
          <p:cNvPr id="336" name="图片 16"/>
          <p:cNvPicPr>
            <a:picLocks noChangeAspect="1"/>
          </p:cNvPicPr>
          <p:nvPr/>
        </p:nvPicPr>
        <p:blipFill>
          <a:blip r:embed="rId2"/>
          <a:srcRect b="59104"/>
          <a:stretch>
            <a:fillRect/>
          </a:stretch>
        </p:blipFill>
        <p:spPr>
          <a:xfrm>
            <a:off x="9374637" y="198304"/>
            <a:ext cx="2675956" cy="593304"/>
          </a:xfrm>
          <a:prstGeom prst="rect">
            <a:avLst/>
          </a:prstGeom>
        </p:spPr>
      </p:pic>
      <p:sp>
        <p:nvSpPr>
          <p:cNvPr id="11" name="直接连接符 10">
            <a:extLst>
              <a:ext uri="{FF2B5EF4-FFF2-40B4-BE49-F238E27FC236}">
                <a16:creationId xmlns:a16="http://schemas.microsoft.com/office/drawing/2014/main" id="{C33201AA-A72A-42CB-BA87-C4E3F68D7C54}"/>
              </a:ext>
            </a:extLst>
          </p:cNvPr>
          <p:cNvSpPr>
            <a:spLocks noGrp="1"/>
          </p:cNvSpPr>
          <p:nvPr/>
        </p:nvSpPr>
        <p:spPr>
          <a:xfrm>
            <a:off x="334962" y="6564990"/>
            <a:ext cx="11522076" cy="0"/>
          </a:xfrm>
          <a:prstGeom prst="line">
            <a:avLst/>
          </a:prstGeom>
          <a:ln w="50800">
            <a:solidFill>
              <a:schemeClr val="accent1"/>
            </a:solidFill>
            <a:prstDash val="solid"/>
          </a:ln>
        </p:spPr>
        <p:style>
          <a:lnRef idx="1">
            <a:schemeClr val="accent1"/>
          </a:lnRef>
          <a:fillRef idx="0">
            <a:schemeClr val="accent1"/>
          </a:fillRef>
          <a:effectRef idx="0">
            <a:schemeClr val="accent1"/>
          </a:effectRef>
          <a:fontRef idx="minor">
            <a:schemeClr val="tx1"/>
          </a:fontRef>
        </p:style>
      </p:sp>
      <p:sp>
        <p:nvSpPr>
          <p:cNvPr id="10" name="直接连接符 9">
            <a:extLst>
              <a:ext uri="{FF2B5EF4-FFF2-40B4-BE49-F238E27FC236}">
                <a16:creationId xmlns:a16="http://schemas.microsoft.com/office/drawing/2014/main" id="{318508C9-E08C-4A63-8DC5-682D5D25DC9D}"/>
              </a:ext>
            </a:extLst>
          </p:cNvPr>
          <p:cNvSpPr>
            <a:spLocks noGrp="1"/>
          </p:cNvSpPr>
          <p:nvPr/>
        </p:nvSpPr>
        <p:spPr>
          <a:xfrm>
            <a:off x="334963" y="1402294"/>
            <a:ext cx="11522075" cy="0"/>
          </a:xfrm>
          <a:prstGeom prst="line">
            <a:avLst/>
          </a:prstGeom>
          <a:noFill/>
          <a:ln w="25400">
            <a:gradFill rotWithShape="1">
              <a:gsLst>
                <a:gs pos="100000">
                  <a:schemeClr val="accent1">
                    <a:lumMod val="97000"/>
                  </a:schemeClr>
                </a:gs>
                <a:gs pos="0">
                  <a:schemeClr val="accent1">
                    <a:alpha val="0"/>
                  </a:schemeClr>
                </a:gs>
              </a:gsLst>
              <a:lin ang="10800000" scaled="1"/>
              <a:tileRect/>
            </a:gradFill>
            <a:tailEnd type="none" w="med" len="sm"/>
          </a:ln>
          <a:effectLst>
            <a:outerShdw blurRad="63500" dist="50800" dir="48000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87" name="任意多边形: 形状 86">
            <a:extLst>
              <a:ext uri="{FF2B5EF4-FFF2-40B4-BE49-F238E27FC236}">
                <a16:creationId xmlns:a16="http://schemas.microsoft.com/office/drawing/2014/main" id="{8FF3E6BE-823E-41AB-9EE5-04BCCFD4A87C}"/>
              </a:ext>
            </a:extLst>
          </p:cNvPr>
          <p:cNvSpPr>
            <a:spLocks noGrp="1"/>
          </p:cNvSpPr>
          <p:nvPr/>
        </p:nvSpPr>
        <p:spPr>
          <a:xfrm rot="10800000">
            <a:off x="2562" y="10535"/>
            <a:ext cx="4440577" cy="2998608"/>
          </a:xfrm>
          <a:custGeom>
            <a:avLst/>
            <a:gdLst>
              <a:gd name="connsiteX0" fmla="*/ 2893248 w 4163705"/>
              <a:gd name="connsiteY0" fmla="*/ 0 h 2398711"/>
              <a:gd name="connsiteX1" fmla="*/ 4039971 w 4163705"/>
              <a:gd name="connsiteY1" fmla="*/ 231513 h 2398711"/>
              <a:gd name="connsiteX2" fmla="*/ 4163705 w 4163705"/>
              <a:gd name="connsiteY2" fmla="*/ 291119 h 2398711"/>
              <a:gd name="connsiteX3" fmla="*/ 4163705 w 4163705"/>
              <a:gd name="connsiteY3" fmla="*/ 2398711 h 2398711"/>
              <a:gd name="connsiteX4" fmla="*/ 0 w 4163705"/>
              <a:gd name="connsiteY4" fmla="*/ 2398711 h 2398711"/>
              <a:gd name="connsiteX5" fmla="*/ 7085 w 4163705"/>
              <a:gd name="connsiteY5" fmla="*/ 2352291 h 2398711"/>
              <a:gd name="connsiteX6" fmla="*/ 2893248 w 4163705"/>
              <a:gd name="connsiteY6" fmla="*/ 0 h 2398711"/>
            </a:gdLst>
            <a:ahLst/>
            <a:cxnLst/>
            <a:rect l="l" t="t" r="r" b="b"/>
            <a:pathLst>
              <a:path w="4163705" h="2398711">
                <a:moveTo>
                  <a:pt x="2893248" y="0"/>
                </a:moveTo>
                <a:cubicBezTo>
                  <a:pt x="3300008" y="0"/>
                  <a:pt x="3687514" y="82436"/>
                  <a:pt x="4039971" y="231513"/>
                </a:cubicBezTo>
                <a:lnTo>
                  <a:pt x="4163705" y="291119"/>
                </a:lnTo>
                <a:lnTo>
                  <a:pt x="4163705" y="2398711"/>
                </a:lnTo>
                <a:lnTo>
                  <a:pt x="0" y="2398711"/>
                </a:lnTo>
                <a:lnTo>
                  <a:pt x="7085" y="2352291"/>
                </a:lnTo>
                <a:cubicBezTo>
                  <a:pt x="281790" y="1009841"/>
                  <a:pt x="1469588" y="0"/>
                  <a:pt x="2893248" y="0"/>
                </a:cubicBezTo>
                <a:close/>
              </a:path>
            </a:pathLst>
          </a:custGeom>
          <a:gradFill>
            <a:gsLst>
              <a:gs pos="100000">
                <a:srgbClr val="0268FE">
                  <a:lumMod val="9000"/>
                  <a:lumOff val="91000"/>
                </a:srgbClr>
              </a:gs>
              <a:gs pos="0">
                <a:srgbClr val="0268FE">
                  <a:lumMod val="4000"/>
                  <a:lumOff val="96000"/>
                </a:srgbClr>
              </a:gs>
            </a:gsLst>
            <a:lin ang="5400000" scaled="1"/>
          </a:gradFill>
          <a:ln w="12700" cmpd="sng">
            <a:noFill/>
            <a:prstDash val="solid"/>
          </a:ln>
        </p:spPr>
        <p:txBody>
          <a:bodyPr wrap="square" anchor="ctr">
            <a:noAutofit/>
          </a:bodyPr>
          <a:lstStyle/>
          <a:p>
            <a:pPr marL="0" marR="0" lvl="0" indent="0" algn="ctr" defTabSz="914400">
              <a:lnSpc>
                <a:spcPct val="100000"/>
              </a:lnSpc>
              <a:spcBef>
                <a:spcPts val="0"/>
              </a:spcBef>
              <a:spcAft>
                <a:spcPts val="0"/>
              </a:spcAft>
              <a:buClrTx/>
              <a:buSzTx/>
              <a:buFontTx/>
              <a:buNone/>
            </a:pPr>
            <a:endParaRPr sz="1800" b="0" i="0" u="none" kern="0" cap="none" spc="0" baseline="0">
              <a:ln>
                <a:noFill/>
              </a:ln>
              <a:solidFill>
                <a:srgbClr val="FFFFFF"/>
              </a:solidFill>
              <a:latin typeface="等线"/>
              <a:ea typeface="等线"/>
              <a:cs typeface="等线"/>
            </a:endParaRPr>
          </a:p>
        </p:txBody>
      </p:sp>
      <p:sp>
        <p:nvSpPr>
          <p:cNvPr id="89" name="文本框 88">
            <a:extLst>
              <a:ext uri="{FF2B5EF4-FFF2-40B4-BE49-F238E27FC236}">
                <a16:creationId xmlns:a16="http://schemas.microsoft.com/office/drawing/2014/main" id="{1BD28AC6-1683-4006-BB10-0F7A4C13FDE0}"/>
              </a:ext>
            </a:extLst>
          </p:cNvPr>
          <p:cNvSpPr>
            <a:spLocks noGrp="1"/>
          </p:cNvSpPr>
          <p:nvPr/>
        </p:nvSpPr>
        <p:spPr>
          <a:xfrm>
            <a:off x="-79985" y="1085380"/>
            <a:ext cx="3262303" cy="830997"/>
          </a:xfrm>
          <a:prstGeom prst="rect">
            <a:avLst/>
          </a:prstGeom>
          <a:noFill/>
        </p:spPr>
        <p:txBody>
          <a:bodyPr wrap="none">
            <a:spAutoFit/>
          </a:bodyPr>
          <a:lstStyle/>
          <a:p>
            <a:r>
              <a:rPr sz="4800" b="1">
                <a:solidFill>
                  <a:srgbClr val="FFFFFF"/>
                </a:solidFill>
                <a:latin typeface="微软雅黑"/>
                <a:ea typeface="微软雅黑"/>
                <a:cs typeface="微软雅黑"/>
              </a:rPr>
              <a:t>CONTENT</a:t>
            </a:r>
          </a:p>
        </p:txBody>
      </p:sp>
      <p:pic>
        <p:nvPicPr>
          <p:cNvPr id="135" name="图片 124"/>
          <p:cNvPicPr>
            <a:picLocks noChangeAspect="1"/>
          </p:cNvPicPr>
          <p:nvPr/>
        </p:nvPicPr>
        <p:blipFill>
          <a:blip r:embed="rId2">
            <a:alphaModFix amt="70000"/>
          </a:blip>
          <a:srcRect b="58808"/>
          <a:stretch>
            <a:fillRect/>
          </a:stretch>
        </p:blipFill>
        <p:spPr>
          <a:xfrm>
            <a:off x="662962" y="3707963"/>
            <a:ext cx="3024288" cy="2020666"/>
          </a:xfrm>
          <a:prstGeom prst="rect">
            <a:avLst/>
          </a:prstGeom>
        </p:spPr>
      </p:pic>
      <p:sp>
        <p:nvSpPr>
          <p:cNvPr id="88" name="文本框 87">
            <a:extLst>
              <a:ext uri="{FF2B5EF4-FFF2-40B4-BE49-F238E27FC236}">
                <a16:creationId xmlns:a16="http://schemas.microsoft.com/office/drawing/2014/main" id="{A61A7C37-D891-4BA3-A964-5035F355B85B}"/>
              </a:ext>
            </a:extLst>
          </p:cNvPr>
          <p:cNvSpPr>
            <a:spLocks noGrp="1"/>
          </p:cNvSpPr>
          <p:nvPr/>
        </p:nvSpPr>
        <p:spPr>
          <a:xfrm>
            <a:off x="851667" y="1479325"/>
            <a:ext cx="2646878" cy="830997"/>
          </a:xfrm>
          <a:prstGeom prst="rect">
            <a:avLst/>
          </a:prstGeom>
          <a:noFill/>
        </p:spPr>
        <p:txBody>
          <a:bodyPr wrap="none">
            <a:spAutoFit/>
          </a:bodyPr>
          <a:lstStyle>
            <a:lvl1pPr>
              <a:buNone/>
              <a:defRPr sz="7200">
                <a:gradFill flip="none" rotWithShape="1">
                  <a:gsLst>
                    <a:gs pos="0">
                      <a:schemeClr val="accent1">
                        <a:lumMod val="80000"/>
                        <a:lumOff val="20000"/>
                      </a:schemeClr>
                    </a:gs>
                    <a:gs pos="100000">
                      <a:schemeClr val="accent1"/>
                    </a:gs>
                  </a:gsLst>
                  <a:lin ang="5400000" scaled="1"/>
                  <a:tileRect/>
                </a:gradFill>
                <a:latin typeface="思源宋体 CN Heavy"/>
                <a:ea typeface="思源宋体 CN Heavy"/>
                <a:cs typeface="思源宋体 CN Heavy"/>
              </a:defRPr>
            </a:lvl1pPr>
          </a:lstStyle>
          <a:p>
            <a:pPr marL="0" marR="0" lvl="0" indent="0" defTabSz="914400">
              <a:lnSpc>
                <a:spcPct val="100000"/>
              </a:lnSpc>
              <a:spcBef>
                <a:spcPts val="0"/>
              </a:spcBef>
              <a:spcAft>
                <a:spcPts val="0"/>
              </a:spcAft>
              <a:buClrTx/>
              <a:buSzTx/>
              <a:buFontTx/>
              <a:buNone/>
            </a:pPr>
            <a:r>
              <a:rPr sz="4800" b="0" i="0" u="none" cap="none" spc="0">
                <a:ln>
                  <a:noFill/>
                </a:ln>
                <a:gradFill rotWithShape="1">
                  <a:gsLst>
                    <a:gs pos="0">
                      <a:srgbClr val="0268FE">
                        <a:lumMod val="80000"/>
                        <a:lumOff val="20000"/>
                      </a:srgbClr>
                    </a:gs>
                    <a:gs pos="100000">
                      <a:srgbClr val="0268FE"/>
                    </a:gs>
                  </a:gsLst>
                  <a:lin ang="5400000" scaled="1"/>
                  <a:tileRect/>
                </a:gradFill>
                <a:latin typeface="汉仪粗宋简"/>
                <a:ea typeface="汉仪粗宋简"/>
                <a:cs typeface="汉仪粗宋简"/>
              </a:rPr>
              <a:t>汇报提纲</a:t>
            </a:r>
          </a:p>
        </p:txBody>
      </p:sp>
      <p:sp>
        <p:nvSpPr>
          <p:cNvPr id="131" name="任意多边形: 形状 130">
            <a:extLst>
              <a:ext uri="{FF2B5EF4-FFF2-40B4-BE49-F238E27FC236}">
                <a16:creationId xmlns:a16="http://schemas.microsoft.com/office/drawing/2014/main" id="{25C8C45D-7CBB-4B9F-860A-0AD2A7965893}"/>
              </a:ext>
            </a:extLst>
          </p:cNvPr>
          <p:cNvSpPr>
            <a:spLocks noGrp="1"/>
          </p:cNvSpPr>
          <p:nvPr/>
        </p:nvSpPr>
        <p:spPr>
          <a:xfrm>
            <a:off x="8895335" y="4602588"/>
            <a:ext cx="3296666" cy="2255412"/>
          </a:xfrm>
          <a:custGeom>
            <a:avLst/>
            <a:gdLst>
              <a:gd name="connsiteX0" fmla="*/ 2893248 w 4163705"/>
              <a:gd name="connsiteY0" fmla="*/ 0 h 2398711"/>
              <a:gd name="connsiteX1" fmla="*/ 4039971 w 4163705"/>
              <a:gd name="connsiteY1" fmla="*/ 231513 h 2398711"/>
              <a:gd name="connsiteX2" fmla="*/ 4163705 w 4163705"/>
              <a:gd name="connsiteY2" fmla="*/ 291119 h 2398711"/>
              <a:gd name="connsiteX3" fmla="*/ 4163705 w 4163705"/>
              <a:gd name="connsiteY3" fmla="*/ 2398711 h 2398711"/>
              <a:gd name="connsiteX4" fmla="*/ 0 w 4163705"/>
              <a:gd name="connsiteY4" fmla="*/ 2398711 h 2398711"/>
              <a:gd name="connsiteX5" fmla="*/ 7085 w 4163705"/>
              <a:gd name="connsiteY5" fmla="*/ 2352291 h 2398711"/>
              <a:gd name="connsiteX6" fmla="*/ 2893248 w 4163705"/>
              <a:gd name="connsiteY6" fmla="*/ 0 h 2398711"/>
            </a:gdLst>
            <a:ahLst/>
            <a:cxnLst/>
            <a:rect l="l" t="t" r="r" b="b"/>
            <a:pathLst>
              <a:path w="4163705" h="2398711">
                <a:moveTo>
                  <a:pt x="2893248" y="0"/>
                </a:moveTo>
                <a:cubicBezTo>
                  <a:pt x="3300008" y="0"/>
                  <a:pt x="3687514" y="82436"/>
                  <a:pt x="4039971" y="231513"/>
                </a:cubicBezTo>
                <a:lnTo>
                  <a:pt x="4163705" y="291119"/>
                </a:lnTo>
                <a:lnTo>
                  <a:pt x="4163705" y="2398711"/>
                </a:lnTo>
                <a:lnTo>
                  <a:pt x="0" y="2398711"/>
                </a:lnTo>
                <a:lnTo>
                  <a:pt x="7085" y="2352291"/>
                </a:lnTo>
                <a:cubicBezTo>
                  <a:pt x="281790" y="1009841"/>
                  <a:pt x="1469588" y="0"/>
                  <a:pt x="2893248" y="0"/>
                </a:cubicBezTo>
                <a:close/>
              </a:path>
            </a:pathLst>
          </a:custGeom>
          <a:gradFill>
            <a:gsLst>
              <a:gs pos="100000">
                <a:srgbClr val="0268FE">
                  <a:lumMod val="9000"/>
                  <a:lumOff val="91000"/>
                </a:srgbClr>
              </a:gs>
              <a:gs pos="0">
                <a:srgbClr val="0268FE">
                  <a:lumMod val="4000"/>
                  <a:lumOff val="96000"/>
                </a:srgbClr>
              </a:gs>
            </a:gsLst>
            <a:lin ang="5400000" scaled="1"/>
          </a:gradFill>
          <a:ln w="12700" cmpd="sng">
            <a:noFill/>
            <a:prstDash val="solid"/>
          </a:ln>
        </p:spPr>
        <p:txBody>
          <a:bodyPr wrap="square" anchor="ctr">
            <a:noAutofit/>
          </a:bodyPr>
          <a:lstStyle/>
          <a:p>
            <a:pPr marL="0" marR="0" lvl="0" indent="0" algn="ctr" defTabSz="914400">
              <a:lnSpc>
                <a:spcPct val="100000"/>
              </a:lnSpc>
              <a:spcBef>
                <a:spcPts val="0"/>
              </a:spcBef>
              <a:spcAft>
                <a:spcPts val="0"/>
              </a:spcAft>
              <a:buClrTx/>
              <a:buSzTx/>
              <a:buFontTx/>
              <a:buNone/>
            </a:pPr>
            <a:endParaRPr sz="1800" b="0" i="0" u="none" kern="0" cap="none" spc="0" baseline="0">
              <a:ln>
                <a:noFill/>
              </a:ln>
              <a:solidFill>
                <a:srgbClr val="FFFFFF"/>
              </a:solidFill>
              <a:latin typeface="等线"/>
              <a:ea typeface="等线"/>
              <a:cs typeface="等线"/>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494629-B2BD-4D20-9BE8-A348383E5695}"/>
              </a:ext>
            </a:extLst>
          </p:cNvPr>
          <p:cNvSpPr>
            <a:spLocks noGrp="1"/>
          </p:cNvSpPr>
          <p:nvPr>
            <p:ph type="title"/>
          </p:nvPr>
        </p:nvSpPr>
        <p:spPr>
          <a:xfrm>
            <a:off x="839788" y="365125"/>
            <a:ext cx="10515600" cy="1325563"/>
          </a:xfrm>
        </p:spPr>
        <p:txBody>
          <a:bodyPr/>
          <a:lstStyle/>
          <a:p>
            <a:r>
              <a:t>单击此处编辑母版标题样式</a:t>
            </a:r>
          </a:p>
        </p:txBody>
      </p:sp>
      <p:sp>
        <p:nvSpPr>
          <p:cNvPr id="3" name="文本占位符 2">
            <a:extLst>
              <a:ext uri="{FF2B5EF4-FFF2-40B4-BE49-F238E27FC236}">
                <a16:creationId xmlns:a16="http://schemas.microsoft.com/office/drawing/2014/main" id="{DACFFA4A-116A-46C5-A2F8-3F07BD47CA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单击此处编辑母版文本样式</a:t>
            </a:r>
          </a:p>
        </p:txBody>
      </p:sp>
      <p:sp>
        <p:nvSpPr>
          <p:cNvPr id="4" name="内容占位符 3">
            <a:extLst>
              <a:ext uri="{FF2B5EF4-FFF2-40B4-BE49-F238E27FC236}">
                <a16:creationId xmlns:a16="http://schemas.microsoft.com/office/drawing/2014/main" id="{4E1F2C58-CD69-4C73-AF93-AEE85893F66B}"/>
              </a:ext>
            </a:extLst>
          </p:cNvPr>
          <p:cNvSpPr>
            <a:spLocks noGrp="1"/>
          </p:cNvSpPr>
          <p:nvPr>
            <p:ph idx="2"/>
          </p:nvPr>
        </p:nvSpPr>
        <p:spPr>
          <a:xfrm>
            <a:off x="839788" y="2505075"/>
            <a:ext cx="5157787" cy="3684588"/>
          </a:xfrm>
        </p:spPr>
        <p:txBody>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5" name="文本占位符 4">
            <a:extLst>
              <a:ext uri="{FF2B5EF4-FFF2-40B4-BE49-F238E27FC236}">
                <a16:creationId xmlns:a16="http://schemas.microsoft.com/office/drawing/2014/main" id="{6664EF93-C77E-4753-89A2-B42BC54E813B}"/>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单击此处编辑母版文本样式</a:t>
            </a:r>
          </a:p>
        </p:txBody>
      </p:sp>
      <p:sp>
        <p:nvSpPr>
          <p:cNvPr id="6" name="内容占位符 5">
            <a:extLst>
              <a:ext uri="{FF2B5EF4-FFF2-40B4-BE49-F238E27FC236}">
                <a16:creationId xmlns:a16="http://schemas.microsoft.com/office/drawing/2014/main" id="{66CFF673-FA18-4DF9-A003-A42740ABB113}"/>
              </a:ext>
            </a:extLst>
          </p:cNvPr>
          <p:cNvSpPr>
            <a:spLocks noGrp="1"/>
          </p:cNvSpPr>
          <p:nvPr>
            <p:ph idx="4"/>
          </p:nvPr>
        </p:nvSpPr>
        <p:spPr>
          <a:xfrm>
            <a:off x="6172200" y="2505075"/>
            <a:ext cx="5183188" cy="3684588"/>
          </a:xfrm>
        </p:spPr>
        <p:txBody>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7" name="日期占位符 6">
            <a:extLst>
              <a:ext uri="{FF2B5EF4-FFF2-40B4-BE49-F238E27FC236}">
                <a16:creationId xmlns:a16="http://schemas.microsoft.com/office/drawing/2014/main" id="{E6BA5EFC-8B17-4E3A-963D-8B491CAC20CD}"/>
              </a:ext>
            </a:extLst>
          </p:cNvPr>
          <p:cNvSpPr>
            <a:spLocks noGrp="1"/>
          </p:cNvSpPr>
          <p:nvPr>
            <p:ph type="dt" idx="10"/>
          </p:nvPr>
        </p:nvSpPr>
        <p:spPr/>
        <p:txBody>
          <a:bodyPr/>
          <a:lstStyle/>
          <a:p>
            <a:fld id="{9F4852F6-D0EE-43FF-9758-4449F4064C7C}" type="datetimeFigureOut">
              <a:t>2026/9/27</a:t>
            </a:fld>
            <a:endParaRPr/>
          </a:p>
        </p:txBody>
      </p:sp>
      <p:sp>
        <p:nvSpPr>
          <p:cNvPr id="8" name="页脚占位符 7">
            <a:extLst>
              <a:ext uri="{FF2B5EF4-FFF2-40B4-BE49-F238E27FC236}">
                <a16:creationId xmlns:a16="http://schemas.microsoft.com/office/drawing/2014/main" id="{A049F442-F8B7-4971-BD4A-13BCD800E1F8}"/>
              </a:ext>
            </a:extLst>
          </p:cNvPr>
          <p:cNvSpPr>
            <a:spLocks noGrp="1"/>
          </p:cNvSpPr>
          <p:nvPr>
            <p:ph type="ftr" idx="11"/>
          </p:nvPr>
        </p:nvSpPr>
        <p:spPr/>
        <p:txBody>
          <a:bodyPr/>
          <a:lstStyle/>
          <a:p>
            <a:endParaRPr/>
          </a:p>
        </p:txBody>
      </p:sp>
      <p:sp>
        <p:nvSpPr>
          <p:cNvPr id="9" name="灯片编号占位符 8">
            <a:extLst>
              <a:ext uri="{FF2B5EF4-FFF2-40B4-BE49-F238E27FC236}">
                <a16:creationId xmlns:a16="http://schemas.microsoft.com/office/drawing/2014/main" id="{192642B2-6F22-4B9B-82AD-D3B06406DB50}"/>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D6529E-89F7-4F18-91FE-AF7BE991C016}"/>
              </a:ext>
            </a:extLst>
          </p:cNvPr>
          <p:cNvSpPr>
            <a:spLocks noGrp="1"/>
          </p:cNvSpPr>
          <p:nvPr>
            <p:ph type="title"/>
          </p:nvPr>
        </p:nvSpPr>
        <p:spPr/>
        <p:txBody>
          <a:bodyPr/>
          <a:lstStyle/>
          <a:p>
            <a:r>
              <a:t>单击此处编辑母版标题样式</a:t>
            </a:r>
          </a:p>
        </p:txBody>
      </p:sp>
      <p:sp>
        <p:nvSpPr>
          <p:cNvPr id="3" name="日期占位符 2">
            <a:extLst>
              <a:ext uri="{FF2B5EF4-FFF2-40B4-BE49-F238E27FC236}">
                <a16:creationId xmlns:a16="http://schemas.microsoft.com/office/drawing/2014/main" id="{510D0125-25E2-4ABE-96A0-B7C76CE65F16}"/>
              </a:ext>
            </a:extLst>
          </p:cNvPr>
          <p:cNvSpPr>
            <a:spLocks noGrp="1"/>
          </p:cNvSpPr>
          <p:nvPr>
            <p:ph type="dt" idx="10"/>
          </p:nvPr>
        </p:nvSpPr>
        <p:spPr/>
        <p:txBody>
          <a:bodyPr/>
          <a:lstStyle/>
          <a:p>
            <a:fld id="{9F4852F6-D0EE-43FF-9758-4449F4064C7C}" type="datetimeFigureOut">
              <a:t>2026/9/27</a:t>
            </a:fld>
            <a:endParaRPr/>
          </a:p>
        </p:txBody>
      </p:sp>
      <p:sp>
        <p:nvSpPr>
          <p:cNvPr id="4" name="页脚占位符 3">
            <a:extLst>
              <a:ext uri="{FF2B5EF4-FFF2-40B4-BE49-F238E27FC236}">
                <a16:creationId xmlns:a16="http://schemas.microsoft.com/office/drawing/2014/main" id="{FEB9997D-42C9-4983-A767-A637AEACB156}"/>
              </a:ext>
            </a:extLst>
          </p:cNvPr>
          <p:cNvSpPr>
            <a:spLocks noGrp="1"/>
          </p:cNvSpPr>
          <p:nvPr>
            <p:ph type="ftr" idx="11"/>
          </p:nvPr>
        </p:nvSpPr>
        <p:spPr/>
        <p:txBody>
          <a:bodyPr/>
          <a:lstStyle/>
          <a:p>
            <a:endParaRPr/>
          </a:p>
        </p:txBody>
      </p:sp>
      <p:sp>
        <p:nvSpPr>
          <p:cNvPr id="5" name="灯片编号占位符 4">
            <a:extLst>
              <a:ext uri="{FF2B5EF4-FFF2-40B4-BE49-F238E27FC236}">
                <a16:creationId xmlns:a16="http://schemas.microsoft.com/office/drawing/2014/main" id="{4525489B-D304-43A8-BF8C-F0785C3ABA52}"/>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B0B0469B-7200-416A-8519-9A34B72696B9}"/>
              </a:ext>
            </a:extLst>
          </p:cNvPr>
          <p:cNvSpPr>
            <a:spLocks noGrp="1"/>
          </p:cNvSpPr>
          <p:nvPr>
            <p:ph type="dt" idx="10"/>
          </p:nvPr>
        </p:nvSpPr>
        <p:spPr/>
        <p:txBody>
          <a:bodyPr/>
          <a:lstStyle/>
          <a:p>
            <a:fld id="{9F4852F6-D0EE-43FF-9758-4449F4064C7C}" type="datetimeFigureOut">
              <a:t>2026/9/27</a:t>
            </a:fld>
            <a:endParaRPr/>
          </a:p>
        </p:txBody>
      </p:sp>
      <p:sp>
        <p:nvSpPr>
          <p:cNvPr id="3" name="页脚占位符 2">
            <a:extLst>
              <a:ext uri="{FF2B5EF4-FFF2-40B4-BE49-F238E27FC236}">
                <a16:creationId xmlns:a16="http://schemas.microsoft.com/office/drawing/2014/main" id="{3A4601A5-F3B0-4399-9527-C8006666D477}"/>
              </a:ext>
            </a:extLst>
          </p:cNvPr>
          <p:cNvSpPr>
            <a:spLocks noGrp="1"/>
          </p:cNvSpPr>
          <p:nvPr>
            <p:ph type="ftr" idx="11"/>
          </p:nvPr>
        </p:nvSpPr>
        <p:spPr/>
        <p:txBody>
          <a:bodyPr/>
          <a:lstStyle/>
          <a:p>
            <a:endParaRPr/>
          </a:p>
        </p:txBody>
      </p:sp>
      <p:sp>
        <p:nvSpPr>
          <p:cNvPr id="4" name="灯片编号占位符 3">
            <a:extLst>
              <a:ext uri="{FF2B5EF4-FFF2-40B4-BE49-F238E27FC236}">
                <a16:creationId xmlns:a16="http://schemas.microsoft.com/office/drawing/2014/main" id="{35D499D1-62B7-4375-94B0-BE149AA67435}"/>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162A2E-9955-4F6B-B7C2-492157C6591A}"/>
              </a:ext>
            </a:extLst>
          </p:cNvPr>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3" name="内容占位符 2">
            <a:extLst>
              <a:ext uri="{FF2B5EF4-FFF2-40B4-BE49-F238E27FC236}">
                <a16:creationId xmlns:a16="http://schemas.microsoft.com/office/drawing/2014/main" id="{3F7410B8-7366-4009-A65C-B1C17B3E600E}"/>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文本占位符 3">
            <a:extLst>
              <a:ext uri="{FF2B5EF4-FFF2-40B4-BE49-F238E27FC236}">
                <a16:creationId xmlns:a16="http://schemas.microsoft.com/office/drawing/2014/main" id="{A72A7BB3-FEFF-4145-A73C-8783DB1D45B3}"/>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单击此处编辑母版文本样式</a:t>
            </a:r>
          </a:p>
        </p:txBody>
      </p:sp>
      <p:sp>
        <p:nvSpPr>
          <p:cNvPr id="5" name="日期占位符 4">
            <a:extLst>
              <a:ext uri="{FF2B5EF4-FFF2-40B4-BE49-F238E27FC236}">
                <a16:creationId xmlns:a16="http://schemas.microsoft.com/office/drawing/2014/main" id="{49CC7F14-C2B0-43C1-B6CC-E1F0AE2440EA}"/>
              </a:ext>
            </a:extLst>
          </p:cNvPr>
          <p:cNvSpPr>
            <a:spLocks noGrp="1"/>
          </p:cNvSpPr>
          <p:nvPr>
            <p:ph type="dt" idx="10"/>
          </p:nvPr>
        </p:nvSpPr>
        <p:spPr/>
        <p:txBody>
          <a:bodyPr/>
          <a:lstStyle/>
          <a:p>
            <a:fld id="{9F4852F6-D0EE-43FF-9758-4449F4064C7C}" type="datetimeFigureOut">
              <a:t>2026/9/27</a:t>
            </a:fld>
            <a:endParaRPr/>
          </a:p>
        </p:txBody>
      </p:sp>
      <p:sp>
        <p:nvSpPr>
          <p:cNvPr id="6" name="页脚占位符 5">
            <a:extLst>
              <a:ext uri="{FF2B5EF4-FFF2-40B4-BE49-F238E27FC236}">
                <a16:creationId xmlns:a16="http://schemas.microsoft.com/office/drawing/2014/main" id="{8A703B2A-433F-4968-8C3C-29BC33BCD17B}"/>
              </a:ext>
            </a:extLst>
          </p:cNvPr>
          <p:cNvSpPr>
            <a:spLocks noGrp="1"/>
          </p:cNvSpPr>
          <p:nvPr>
            <p:ph type="ftr" idx="11"/>
          </p:nvPr>
        </p:nvSpPr>
        <p:spPr/>
        <p:txBody>
          <a:bodyPr/>
          <a:lstStyle/>
          <a:p>
            <a:endParaRPr/>
          </a:p>
        </p:txBody>
      </p:sp>
      <p:sp>
        <p:nvSpPr>
          <p:cNvPr id="7" name="灯片编号占位符 6">
            <a:extLst>
              <a:ext uri="{FF2B5EF4-FFF2-40B4-BE49-F238E27FC236}">
                <a16:creationId xmlns:a16="http://schemas.microsoft.com/office/drawing/2014/main" id="{C0570E6A-2266-4B2E-A208-4304DCF2EA4E}"/>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4C00C0-1E1B-46DC-877B-6999AB72EED7}"/>
              </a:ext>
            </a:extLst>
          </p:cNvPr>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3" name="图片占位符 2">
            <a:extLst>
              <a:ext uri="{FF2B5EF4-FFF2-40B4-BE49-F238E27FC236}">
                <a16:creationId xmlns:a16="http://schemas.microsoft.com/office/drawing/2014/main" id="{0E0375EC-D403-474C-BDCD-B132997555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文本占位符 3">
            <a:extLst>
              <a:ext uri="{FF2B5EF4-FFF2-40B4-BE49-F238E27FC236}">
                <a16:creationId xmlns:a16="http://schemas.microsoft.com/office/drawing/2014/main" id="{A85140C5-2534-4D01-A054-8799B7EE14F4}"/>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单击此处编辑母版文本样式</a:t>
            </a:r>
          </a:p>
        </p:txBody>
      </p:sp>
      <p:sp>
        <p:nvSpPr>
          <p:cNvPr id="5" name="日期占位符 4">
            <a:extLst>
              <a:ext uri="{FF2B5EF4-FFF2-40B4-BE49-F238E27FC236}">
                <a16:creationId xmlns:a16="http://schemas.microsoft.com/office/drawing/2014/main" id="{D3C7DBA3-D86D-49F2-9C7E-E2938054A22D}"/>
              </a:ext>
            </a:extLst>
          </p:cNvPr>
          <p:cNvSpPr>
            <a:spLocks noGrp="1"/>
          </p:cNvSpPr>
          <p:nvPr>
            <p:ph type="dt" idx="10"/>
          </p:nvPr>
        </p:nvSpPr>
        <p:spPr/>
        <p:txBody>
          <a:bodyPr/>
          <a:lstStyle/>
          <a:p>
            <a:fld id="{9F4852F6-D0EE-43FF-9758-4449F4064C7C}" type="datetimeFigureOut">
              <a:t>2026/9/27</a:t>
            </a:fld>
            <a:endParaRPr/>
          </a:p>
        </p:txBody>
      </p:sp>
      <p:sp>
        <p:nvSpPr>
          <p:cNvPr id="6" name="页脚占位符 5">
            <a:extLst>
              <a:ext uri="{FF2B5EF4-FFF2-40B4-BE49-F238E27FC236}">
                <a16:creationId xmlns:a16="http://schemas.microsoft.com/office/drawing/2014/main" id="{6067B2D7-B8CF-4FD9-B641-7A5799E77D62}"/>
              </a:ext>
            </a:extLst>
          </p:cNvPr>
          <p:cNvSpPr>
            <a:spLocks noGrp="1"/>
          </p:cNvSpPr>
          <p:nvPr>
            <p:ph type="ftr" idx="11"/>
          </p:nvPr>
        </p:nvSpPr>
        <p:spPr/>
        <p:txBody>
          <a:bodyPr/>
          <a:lstStyle/>
          <a:p>
            <a:endParaRPr/>
          </a:p>
        </p:txBody>
      </p:sp>
      <p:sp>
        <p:nvSpPr>
          <p:cNvPr id="7" name="灯片编号占位符 6">
            <a:extLst>
              <a:ext uri="{FF2B5EF4-FFF2-40B4-BE49-F238E27FC236}">
                <a16:creationId xmlns:a16="http://schemas.microsoft.com/office/drawing/2014/main" id="{870216AD-9FFB-43B0-9ABC-443132024F4E}"/>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20E21E-06F7-4579-9A72-57FA309B3859}"/>
              </a:ext>
            </a:extLst>
          </p:cNvPr>
          <p:cNvSpPr>
            <a:spLocks noGrp="1"/>
          </p:cNvSpPr>
          <p:nvPr>
            <p:ph type="title"/>
          </p:nvPr>
        </p:nvSpPr>
        <p:spPr/>
        <p:txBody>
          <a:bodyPr/>
          <a:lstStyle/>
          <a:p>
            <a:r>
              <a:t>单击此处编辑母版标题样式</a:t>
            </a:r>
          </a:p>
        </p:txBody>
      </p:sp>
      <p:sp>
        <p:nvSpPr>
          <p:cNvPr id="3" name="竖排文字占位符 2">
            <a:extLst>
              <a:ext uri="{FF2B5EF4-FFF2-40B4-BE49-F238E27FC236}">
                <a16:creationId xmlns:a16="http://schemas.microsoft.com/office/drawing/2014/main" id="{A367E993-74FC-4441-AB5C-FD3475EC7723}"/>
              </a:ext>
            </a:extLst>
          </p:cNvPr>
          <p:cNvSpPr>
            <a:spLocks noGrp="1"/>
          </p:cNvSpPr>
          <p:nvPr>
            <p:ph type="body" idx="1"/>
          </p:nvPr>
        </p:nvSpPr>
        <p:spPr/>
        <p:txBody>
          <a:bodyPr vert="eaVert"/>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a:extLst>
              <a:ext uri="{FF2B5EF4-FFF2-40B4-BE49-F238E27FC236}">
                <a16:creationId xmlns:a16="http://schemas.microsoft.com/office/drawing/2014/main" id="{F33AFDDC-B246-4BAC-B53B-FC8B767342D1}"/>
              </a:ext>
            </a:extLst>
          </p:cNvPr>
          <p:cNvSpPr>
            <a:spLocks noGrp="1"/>
          </p:cNvSpPr>
          <p:nvPr>
            <p:ph type="dt" idx="10"/>
          </p:nvPr>
        </p:nvSpPr>
        <p:spPr/>
        <p:txBody>
          <a:bodyPr/>
          <a:lstStyle/>
          <a:p>
            <a:fld id="{9F4852F6-D0EE-43FF-9758-4449F4064C7C}" type="datetimeFigureOut">
              <a:t>2026/9/27</a:t>
            </a:fld>
            <a:endParaRPr/>
          </a:p>
        </p:txBody>
      </p:sp>
      <p:sp>
        <p:nvSpPr>
          <p:cNvPr id="5" name="页脚占位符 4">
            <a:extLst>
              <a:ext uri="{FF2B5EF4-FFF2-40B4-BE49-F238E27FC236}">
                <a16:creationId xmlns:a16="http://schemas.microsoft.com/office/drawing/2014/main" id="{6F447F40-7F16-4FFF-B022-C3AEDC402306}"/>
              </a:ext>
            </a:extLst>
          </p:cNvPr>
          <p:cNvSpPr>
            <a:spLocks noGrp="1"/>
          </p:cNvSpPr>
          <p:nvPr>
            <p:ph type="ftr" idx="11"/>
          </p:nvPr>
        </p:nvSpPr>
        <p:spPr/>
        <p:txBody>
          <a:bodyPr/>
          <a:lstStyle/>
          <a:p>
            <a:endParaRPr/>
          </a:p>
        </p:txBody>
      </p:sp>
      <p:sp>
        <p:nvSpPr>
          <p:cNvPr id="6" name="灯片编号占位符 5">
            <a:extLst>
              <a:ext uri="{FF2B5EF4-FFF2-40B4-BE49-F238E27FC236}">
                <a16:creationId xmlns:a16="http://schemas.microsoft.com/office/drawing/2014/main" id="{B282E804-6DF3-4452-B271-5DEBCCCB06F4}"/>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C3744352-F64F-4B8F-9586-65854C208820}"/>
              </a:ext>
            </a:extLst>
          </p:cNvPr>
          <p:cNvSpPr>
            <a:spLocks noGrp="1"/>
          </p:cNvSpPr>
          <p:nvPr>
            <p:ph type="title"/>
          </p:nvPr>
        </p:nvSpPr>
        <p:spPr>
          <a:xfrm>
            <a:off x="8724900" y="365125"/>
            <a:ext cx="2628900" cy="5811838"/>
          </a:xfrm>
        </p:spPr>
        <p:txBody>
          <a:bodyPr vert="eaVert"/>
          <a:lstStyle/>
          <a:p>
            <a:r>
              <a:t>单击此处编辑母版标题样式</a:t>
            </a:r>
          </a:p>
        </p:txBody>
      </p:sp>
      <p:sp>
        <p:nvSpPr>
          <p:cNvPr id="3" name="竖排文字占位符 2">
            <a:extLst>
              <a:ext uri="{FF2B5EF4-FFF2-40B4-BE49-F238E27FC236}">
                <a16:creationId xmlns:a16="http://schemas.microsoft.com/office/drawing/2014/main" id="{994EFCDB-0053-44F0-B075-A052FA3CBCE2}"/>
              </a:ext>
            </a:extLst>
          </p:cNvPr>
          <p:cNvSpPr>
            <a:spLocks noGrp="1"/>
          </p:cNvSpPr>
          <p:nvPr>
            <p:ph type="body" idx="1"/>
          </p:nvPr>
        </p:nvSpPr>
        <p:spPr>
          <a:xfrm>
            <a:off x="838200" y="365125"/>
            <a:ext cx="7734300" cy="5811838"/>
          </a:xfrm>
        </p:spPr>
        <p:txBody>
          <a:bodyPr vert="eaVert"/>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a:extLst>
              <a:ext uri="{FF2B5EF4-FFF2-40B4-BE49-F238E27FC236}">
                <a16:creationId xmlns:a16="http://schemas.microsoft.com/office/drawing/2014/main" id="{6846FA22-B463-4AD2-BF7D-5708AC9221BA}"/>
              </a:ext>
            </a:extLst>
          </p:cNvPr>
          <p:cNvSpPr>
            <a:spLocks noGrp="1"/>
          </p:cNvSpPr>
          <p:nvPr>
            <p:ph type="dt" idx="10"/>
          </p:nvPr>
        </p:nvSpPr>
        <p:spPr/>
        <p:txBody>
          <a:bodyPr/>
          <a:lstStyle/>
          <a:p>
            <a:fld id="{9F4852F6-D0EE-43FF-9758-4449F4064C7C}" type="datetimeFigureOut">
              <a:t>2026/9/27</a:t>
            </a:fld>
            <a:endParaRPr/>
          </a:p>
        </p:txBody>
      </p:sp>
      <p:sp>
        <p:nvSpPr>
          <p:cNvPr id="5" name="页脚占位符 4">
            <a:extLst>
              <a:ext uri="{FF2B5EF4-FFF2-40B4-BE49-F238E27FC236}">
                <a16:creationId xmlns:a16="http://schemas.microsoft.com/office/drawing/2014/main" id="{7C32AA74-DB7E-448B-B9B2-35075A5FDAFE}"/>
              </a:ext>
            </a:extLst>
          </p:cNvPr>
          <p:cNvSpPr>
            <a:spLocks noGrp="1"/>
          </p:cNvSpPr>
          <p:nvPr>
            <p:ph type="ftr" idx="11"/>
          </p:nvPr>
        </p:nvSpPr>
        <p:spPr/>
        <p:txBody>
          <a:bodyPr/>
          <a:lstStyle/>
          <a:p>
            <a:endParaRPr/>
          </a:p>
        </p:txBody>
      </p:sp>
      <p:sp>
        <p:nvSpPr>
          <p:cNvPr id="6" name="灯片编号占位符 5">
            <a:extLst>
              <a:ext uri="{FF2B5EF4-FFF2-40B4-BE49-F238E27FC236}">
                <a16:creationId xmlns:a16="http://schemas.microsoft.com/office/drawing/2014/main" id="{85F0FDDA-4DAE-4539-9492-C374F102CA1D}"/>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18" name="Picture 6"/>
          <p:cNvPicPr>
            <a:picLocks noChangeAspect="1"/>
          </p:cNvPicPr>
          <p:nvPr/>
        </p:nvPicPr>
        <p:blipFill>
          <a:blip r:embed="rId2"/>
          <a:srcRect b="14645"/>
          <a:stretch>
            <a:fillRect/>
          </a:stretch>
        </p:blipFill>
        <p:spPr>
          <a:xfrm>
            <a:off x="0" y="584200"/>
            <a:ext cx="12192000" cy="804333"/>
          </a:xfrm>
          <a:prstGeom prst="rect">
            <a:avLst/>
          </a:prstGeom>
          <a:ln>
            <a:noFill/>
          </a:ln>
        </p:spPr>
      </p:pic>
      <p:sp>
        <p:nvSpPr>
          <p:cNvPr id="10" name="直接连接符 9">
            <a:extLst>
              <a:ext uri="{FF2B5EF4-FFF2-40B4-BE49-F238E27FC236}">
                <a16:creationId xmlns:a16="http://schemas.microsoft.com/office/drawing/2014/main" id="{09E19A7D-2866-457A-BEAF-73A8399A6E5B}"/>
              </a:ext>
            </a:extLst>
          </p:cNvPr>
          <p:cNvSpPr>
            <a:spLocks noGrp="1"/>
          </p:cNvSpPr>
          <p:nvPr/>
        </p:nvSpPr>
        <p:spPr>
          <a:xfrm>
            <a:off x="0" y="1411819"/>
            <a:ext cx="12192000" cy="2116"/>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sp>
      <p:sp>
        <p:nvSpPr>
          <p:cNvPr id="7" name="矩形 6">
            <a:extLst>
              <a:ext uri="{FF2B5EF4-FFF2-40B4-BE49-F238E27FC236}">
                <a16:creationId xmlns:a16="http://schemas.microsoft.com/office/drawing/2014/main" id="{66C83403-7610-4894-903F-C2CE1502F044}"/>
              </a:ext>
            </a:extLst>
          </p:cNvPr>
          <p:cNvSpPr>
            <a:spLocks noGrp="1"/>
          </p:cNvSpPr>
          <p:nvPr/>
        </p:nvSpPr>
        <p:spPr>
          <a:xfrm>
            <a:off x="821267" y="584200"/>
            <a:ext cx="8652933" cy="711200"/>
          </a:xfrm>
          <a:prstGeom prst="rect">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3200" b="1">
              <a:solidFill>
                <a:prstClr val="white"/>
              </a:solidFill>
            </a:endParaRPr>
          </a:p>
        </p:txBody>
      </p:sp>
      <p:sp>
        <p:nvSpPr>
          <p:cNvPr id="11" name="任意多边形 10">
            <a:extLst>
              <a:ext uri="{FF2B5EF4-FFF2-40B4-BE49-F238E27FC236}">
                <a16:creationId xmlns:a16="http://schemas.microsoft.com/office/drawing/2014/main" id="{5B060BB9-701E-4619-A899-CCDFFD479B5F}"/>
              </a:ext>
            </a:extLst>
          </p:cNvPr>
          <p:cNvSpPr>
            <a:spLocks noGrp="1"/>
          </p:cNvSpPr>
          <p:nvPr/>
        </p:nvSpPr>
        <p:spPr>
          <a:xfrm>
            <a:off x="2393370" y="1413933"/>
            <a:ext cx="9798631" cy="101600"/>
          </a:xfrm>
          <a:custGeom>
            <a:avLst/>
            <a:gdLst>
              <a:gd name="connsiteX0" fmla="*/ 68 w 11394"/>
              <a:gd name="connsiteY0" fmla="*/ 0 h 126"/>
              <a:gd name="connsiteX1" fmla="*/ 11394 w 11394"/>
              <a:gd name="connsiteY1" fmla="*/ 6 h 126"/>
              <a:gd name="connsiteX2" fmla="*/ 11394 w 11394"/>
              <a:gd name="connsiteY2" fmla="*/ 126 h 126"/>
              <a:gd name="connsiteX3" fmla="*/ 0 w 11394"/>
              <a:gd name="connsiteY3" fmla="*/ 126 h 126"/>
              <a:gd name="connsiteX4" fmla="*/ 68 w 11394"/>
              <a:gd name="connsiteY4" fmla="*/ 0 h 126"/>
            </a:gdLst>
            <a:ahLst/>
            <a:cxnLst/>
            <a:rect l="l" t="t" r="r" b="b"/>
            <a:pathLst>
              <a:path w="11394" h="126">
                <a:moveTo>
                  <a:pt x="68" y="0"/>
                </a:moveTo>
                <a:lnTo>
                  <a:pt x="11394" y="6"/>
                </a:lnTo>
                <a:lnTo>
                  <a:pt x="11394" y="126"/>
                </a:lnTo>
                <a:lnTo>
                  <a:pt x="0" y="126"/>
                </a:lnTo>
                <a:lnTo>
                  <a:pt x="68" y="0"/>
                </a:lnTo>
                <a:close/>
              </a:path>
            </a:pathLst>
          </a:cu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400"/>
          </a:p>
        </p:txBody>
      </p:sp>
      <p:sp>
        <p:nvSpPr>
          <p:cNvPr id="16" name="任意多边形 15">
            <a:extLst>
              <a:ext uri="{FF2B5EF4-FFF2-40B4-BE49-F238E27FC236}">
                <a16:creationId xmlns:a16="http://schemas.microsoft.com/office/drawing/2014/main" id="{6DC3910A-EC10-4F93-8646-30BBA9F2C728}"/>
              </a:ext>
            </a:extLst>
          </p:cNvPr>
          <p:cNvSpPr>
            <a:spLocks noGrp="1"/>
          </p:cNvSpPr>
          <p:nvPr/>
        </p:nvSpPr>
        <p:spPr>
          <a:xfrm>
            <a:off x="-2539" y="1414739"/>
            <a:ext cx="2395908" cy="100793"/>
          </a:xfrm>
          <a:custGeom>
            <a:avLst/>
            <a:gdLst>
              <a:gd name="connsiteX0" fmla="*/ 0 w 2693"/>
              <a:gd name="connsiteY0" fmla="*/ 0 h 119"/>
              <a:gd name="connsiteX1" fmla="*/ 2693 w 2693"/>
              <a:gd name="connsiteY1" fmla="*/ 0 h 119"/>
              <a:gd name="connsiteX2" fmla="*/ 2629 w 2693"/>
              <a:gd name="connsiteY2" fmla="*/ 119 h 119"/>
              <a:gd name="connsiteX3" fmla="*/ 0 w 2693"/>
              <a:gd name="connsiteY3" fmla="*/ 119 h 119"/>
              <a:gd name="connsiteX4" fmla="*/ 0 w 2693"/>
              <a:gd name="connsiteY4" fmla="*/ 0 h 119"/>
            </a:gdLst>
            <a:ahLst/>
            <a:cxnLst/>
            <a:rect l="l" t="t" r="r" b="b"/>
            <a:pathLst>
              <a:path w="2693" h="119">
                <a:moveTo>
                  <a:pt x="0" y="0"/>
                </a:moveTo>
                <a:lnTo>
                  <a:pt x="2693" y="0"/>
                </a:lnTo>
                <a:lnTo>
                  <a:pt x="2629" y="119"/>
                </a:lnTo>
                <a:lnTo>
                  <a:pt x="0" y="119"/>
                </a:lnTo>
                <a:lnTo>
                  <a:pt x="0" y="0"/>
                </a:lnTo>
                <a:close/>
              </a:path>
            </a:pathLst>
          </a:custGeom>
          <a:solidFill>
            <a:srgbClr val="F398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40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18" name="Picture 6"/>
          <p:cNvPicPr>
            <a:picLocks noChangeAspect="1"/>
          </p:cNvPicPr>
          <p:nvPr/>
        </p:nvPicPr>
        <p:blipFill>
          <a:blip r:embed="rId2"/>
          <a:srcRect b="14645"/>
          <a:stretch>
            <a:fillRect/>
          </a:stretch>
        </p:blipFill>
        <p:spPr>
          <a:xfrm>
            <a:off x="0" y="584200"/>
            <a:ext cx="12192000" cy="804333"/>
          </a:xfrm>
          <a:prstGeom prst="rect">
            <a:avLst/>
          </a:prstGeom>
          <a:ln>
            <a:noFill/>
          </a:ln>
        </p:spPr>
      </p:pic>
      <p:sp>
        <p:nvSpPr>
          <p:cNvPr id="10" name="直接连接符 9">
            <a:extLst>
              <a:ext uri="{FF2B5EF4-FFF2-40B4-BE49-F238E27FC236}">
                <a16:creationId xmlns:a16="http://schemas.microsoft.com/office/drawing/2014/main" id="{9A0B4D86-B6A6-4319-9D74-77BBE9E5D6EA}"/>
              </a:ext>
            </a:extLst>
          </p:cNvPr>
          <p:cNvSpPr>
            <a:spLocks noGrp="1"/>
          </p:cNvSpPr>
          <p:nvPr/>
        </p:nvSpPr>
        <p:spPr>
          <a:xfrm>
            <a:off x="0" y="1411819"/>
            <a:ext cx="12192000" cy="2116"/>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sp>
      <p:sp>
        <p:nvSpPr>
          <p:cNvPr id="7" name="矩形 6">
            <a:extLst>
              <a:ext uri="{FF2B5EF4-FFF2-40B4-BE49-F238E27FC236}">
                <a16:creationId xmlns:a16="http://schemas.microsoft.com/office/drawing/2014/main" id="{073E1BE0-EAE1-483E-87A3-69C453C2936E}"/>
              </a:ext>
            </a:extLst>
          </p:cNvPr>
          <p:cNvSpPr>
            <a:spLocks noGrp="1"/>
          </p:cNvSpPr>
          <p:nvPr/>
        </p:nvSpPr>
        <p:spPr>
          <a:xfrm>
            <a:off x="821267" y="584200"/>
            <a:ext cx="8652933" cy="711200"/>
          </a:xfrm>
          <a:prstGeom prst="rect">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3200" b="1">
              <a:solidFill>
                <a:prstClr val="white"/>
              </a:solidFill>
            </a:endParaRPr>
          </a:p>
        </p:txBody>
      </p:sp>
      <p:sp>
        <p:nvSpPr>
          <p:cNvPr id="11" name="任意多边形 10">
            <a:extLst>
              <a:ext uri="{FF2B5EF4-FFF2-40B4-BE49-F238E27FC236}">
                <a16:creationId xmlns:a16="http://schemas.microsoft.com/office/drawing/2014/main" id="{6809F24B-B5D1-48C5-A62B-0A9E1AD4D251}"/>
              </a:ext>
            </a:extLst>
          </p:cNvPr>
          <p:cNvSpPr>
            <a:spLocks noGrp="1"/>
          </p:cNvSpPr>
          <p:nvPr/>
        </p:nvSpPr>
        <p:spPr>
          <a:xfrm>
            <a:off x="2393370" y="1413933"/>
            <a:ext cx="9798631" cy="101600"/>
          </a:xfrm>
          <a:custGeom>
            <a:avLst/>
            <a:gdLst>
              <a:gd name="connsiteX0" fmla="*/ 68 w 11394"/>
              <a:gd name="connsiteY0" fmla="*/ 0 h 126"/>
              <a:gd name="connsiteX1" fmla="*/ 11394 w 11394"/>
              <a:gd name="connsiteY1" fmla="*/ 6 h 126"/>
              <a:gd name="connsiteX2" fmla="*/ 11394 w 11394"/>
              <a:gd name="connsiteY2" fmla="*/ 126 h 126"/>
              <a:gd name="connsiteX3" fmla="*/ 0 w 11394"/>
              <a:gd name="connsiteY3" fmla="*/ 126 h 126"/>
              <a:gd name="connsiteX4" fmla="*/ 68 w 11394"/>
              <a:gd name="connsiteY4" fmla="*/ 0 h 126"/>
            </a:gdLst>
            <a:ahLst/>
            <a:cxnLst/>
            <a:rect l="l" t="t" r="r" b="b"/>
            <a:pathLst>
              <a:path w="11394" h="126">
                <a:moveTo>
                  <a:pt x="68" y="0"/>
                </a:moveTo>
                <a:lnTo>
                  <a:pt x="11394" y="6"/>
                </a:lnTo>
                <a:lnTo>
                  <a:pt x="11394" y="126"/>
                </a:lnTo>
                <a:lnTo>
                  <a:pt x="0" y="126"/>
                </a:lnTo>
                <a:lnTo>
                  <a:pt x="68" y="0"/>
                </a:lnTo>
                <a:close/>
              </a:path>
            </a:pathLst>
          </a:cu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400"/>
          </a:p>
        </p:txBody>
      </p:sp>
      <p:sp>
        <p:nvSpPr>
          <p:cNvPr id="16" name="任意多边形 15">
            <a:extLst>
              <a:ext uri="{FF2B5EF4-FFF2-40B4-BE49-F238E27FC236}">
                <a16:creationId xmlns:a16="http://schemas.microsoft.com/office/drawing/2014/main" id="{AA37E693-00A9-4A40-A608-1C6383C928CB}"/>
              </a:ext>
            </a:extLst>
          </p:cNvPr>
          <p:cNvSpPr>
            <a:spLocks noGrp="1"/>
          </p:cNvSpPr>
          <p:nvPr/>
        </p:nvSpPr>
        <p:spPr>
          <a:xfrm>
            <a:off x="-2539" y="1414739"/>
            <a:ext cx="2395908" cy="100793"/>
          </a:xfrm>
          <a:custGeom>
            <a:avLst/>
            <a:gdLst>
              <a:gd name="connsiteX0" fmla="*/ 0 w 2693"/>
              <a:gd name="connsiteY0" fmla="*/ 0 h 119"/>
              <a:gd name="connsiteX1" fmla="*/ 2693 w 2693"/>
              <a:gd name="connsiteY1" fmla="*/ 0 h 119"/>
              <a:gd name="connsiteX2" fmla="*/ 2629 w 2693"/>
              <a:gd name="connsiteY2" fmla="*/ 119 h 119"/>
              <a:gd name="connsiteX3" fmla="*/ 0 w 2693"/>
              <a:gd name="connsiteY3" fmla="*/ 119 h 119"/>
              <a:gd name="connsiteX4" fmla="*/ 0 w 2693"/>
              <a:gd name="connsiteY4" fmla="*/ 0 h 119"/>
            </a:gdLst>
            <a:ahLst/>
            <a:cxnLst/>
            <a:rect l="l" t="t" r="r" b="b"/>
            <a:pathLst>
              <a:path w="2693" h="119">
                <a:moveTo>
                  <a:pt x="0" y="0"/>
                </a:moveTo>
                <a:lnTo>
                  <a:pt x="2693" y="0"/>
                </a:lnTo>
                <a:lnTo>
                  <a:pt x="2629" y="119"/>
                </a:lnTo>
                <a:lnTo>
                  <a:pt x="0" y="119"/>
                </a:lnTo>
                <a:lnTo>
                  <a:pt x="0" y="0"/>
                </a:lnTo>
                <a:close/>
              </a:path>
            </a:pathLst>
          </a:custGeom>
          <a:solidFill>
            <a:srgbClr val="F398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40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43266A96-2003-4025-B2F8-B8F2F9ECB834}"/>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单击此处编辑母版标题样式</a:t>
            </a:r>
          </a:p>
        </p:txBody>
      </p:sp>
      <p:sp>
        <p:nvSpPr>
          <p:cNvPr id="3" name="文本占位符 2">
            <a:extLst>
              <a:ext uri="{FF2B5EF4-FFF2-40B4-BE49-F238E27FC236}">
                <a16:creationId xmlns:a16="http://schemas.microsoft.com/office/drawing/2014/main" id="{04983D7F-B2AC-4A42-9D2C-62EB1B677ECF}"/>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a:extLst>
              <a:ext uri="{FF2B5EF4-FFF2-40B4-BE49-F238E27FC236}">
                <a16:creationId xmlns:a16="http://schemas.microsoft.com/office/drawing/2014/main" id="{39914962-296F-427C-B8E8-7EDCE69C9B25}"/>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9F4852F6-D0EE-43FF-9758-4449F4064C7C}" type="datetimeFigureOut">
              <a:t>2026/9/27</a:t>
            </a:fld>
            <a:endParaRPr/>
          </a:p>
        </p:txBody>
      </p:sp>
      <p:sp>
        <p:nvSpPr>
          <p:cNvPr id="5" name="页脚占位符 4">
            <a:extLst>
              <a:ext uri="{FF2B5EF4-FFF2-40B4-BE49-F238E27FC236}">
                <a16:creationId xmlns:a16="http://schemas.microsoft.com/office/drawing/2014/main" id="{6E13DB23-E2DB-49F2-9F10-5147AE6EF39D}"/>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灯片编号占位符 5">
            <a:extLst>
              <a:ext uri="{FF2B5EF4-FFF2-40B4-BE49-F238E27FC236}">
                <a16:creationId xmlns:a16="http://schemas.microsoft.com/office/drawing/2014/main" id="{57432BD1-FB6C-40B0-9AA8-7ED1D01112C0}"/>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F60DD7EF-E908-4723-98EB-3DEAFF871F36}"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标题占位符 1">
            <a:extLst>
              <a:ext uri="{FF2B5EF4-FFF2-40B4-BE49-F238E27FC236}">
                <a16:creationId xmlns:a16="http://schemas.microsoft.com/office/drawing/2014/main" id="{FFA7703D-0678-4454-B923-F3F7A0E09E47}"/>
              </a:ext>
            </a:extLst>
          </p:cNvPr>
          <p:cNvSpPr>
            <a:spLocks noGrp="1"/>
          </p:cNvSpPr>
          <p:nvPr>
            <p:ph type="title"/>
          </p:nvPr>
        </p:nvSpPr>
        <p:spPr>
          <a:xfrm>
            <a:off x="838200" y="366186"/>
            <a:ext cx="10515600" cy="1325033"/>
          </a:xfrm>
          <a:prstGeom prst="rect">
            <a:avLst/>
          </a:prstGeom>
          <a:noFill/>
          <a:ln>
            <a:noFill/>
          </a:ln>
        </p:spPr>
        <p:txBody>
          <a:bodyPr vert="horz" wrap="square" lIns="65019" tIns="32509" rIns="65019" bIns="32509" anchor="ctr"/>
          <a:lstStyle/>
          <a:p>
            <a:pPr lvl="0">
              <a:buNone/>
            </a:pPr>
            <a:r>
              <a:t>单击此处编辑母版标题样式</a:t>
            </a:r>
          </a:p>
        </p:txBody>
      </p:sp>
      <p:sp>
        <p:nvSpPr>
          <p:cNvPr id="4099" name="文本占位符 2">
            <a:extLst>
              <a:ext uri="{FF2B5EF4-FFF2-40B4-BE49-F238E27FC236}">
                <a16:creationId xmlns:a16="http://schemas.microsoft.com/office/drawing/2014/main" id="{DF91456B-26C3-48E2-A393-7419A47BC1AB}"/>
              </a:ext>
            </a:extLst>
          </p:cNvPr>
          <p:cNvSpPr>
            <a:spLocks noGrp="1"/>
          </p:cNvSpPr>
          <p:nvPr>
            <p:ph type="body" idx="1"/>
          </p:nvPr>
        </p:nvSpPr>
        <p:spPr>
          <a:xfrm>
            <a:off x="838200" y="1826685"/>
            <a:ext cx="10515600" cy="4351867"/>
          </a:xfrm>
          <a:prstGeom prst="rect">
            <a:avLst/>
          </a:prstGeom>
          <a:noFill/>
          <a:ln>
            <a:noFill/>
          </a:ln>
        </p:spPr>
        <p:txBody>
          <a:bodyPr vert="horz" wrap="square" lIns="65019" tIns="32509" rIns="65019" bIns="32509" anchor="t"/>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日期占位符 3">
            <a:extLst>
              <a:ext uri="{FF2B5EF4-FFF2-40B4-BE49-F238E27FC236}">
                <a16:creationId xmlns:a16="http://schemas.microsoft.com/office/drawing/2014/main" id="{712558CF-41BB-4DD8-8273-786F324207D5}"/>
              </a:ext>
            </a:extLst>
          </p:cNvPr>
          <p:cNvSpPr>
            <a:spLocks noGrp="1"/>
          </p:cNvSpPr>
          <p:nvPr>
            <p:ph type="dt" idx="2"/>
          </p:nvPr>
        </p:nvSpPr>
        <p:spPr>
          <a:xfrm>
            <a:off x="838200" y="6356353"/>
            <a:ext cx="2743200" cy="364067"/>
          </a:xfrm>
          <a:prstGeom prst="rect">
            <a:avLst/>
          </a:prstGeom>
        </p:spPr>
        <p:txBody>
          <a:bodyPr vert="horz" lIns="65019" tIns="32509" rIns="65019" bIns="32509" anchor="ctr"/>
          <a:lstStyle>
            <a:lvl1pPr algn="l" defTabSz="1218565">
              <a:buNone/>
              <a:defRPr sz="1200">
                <a:solidFill>
                  <a:prstClr val="black">
                    <a:tint val="75000"/>
                  </a:prstClr>
                </a:solidFill>
                <a:latin typeface="+mn-lt"/>
                <a:ea typeface="+mn-lt"/>
                <a:cs typeface="+mn-lt"/>
              </a:defRPr>
            </a:lvl1pPr>
          </a:lstStyle>
          <a:p>
            <a:pPr>
              <a:buNone/>
            </a:pPr>
            <a:fld id="{292F71EF-02F8-4FDD-93F8-D030AB7FC83F}" type="datetimeFigureOut">
              <a:t>2026/9/27</a:t>
            </a:fld>
            <a:endParaRPr/>
          </a:p>
        </p:txBody>
      </p:sp>
      <p:sp>
        <p:nvSpPr>
          <p:cNvPr id="5" name="页脚占位符 4">
            <a:extLst>
              <a:ext uri="{FF2B5EF4-FFF2-40B4-BE49-F238E27FC236}">
                <a16:creationId xmlns:a16="http://schemas.microsoft.com/office/drawing/2014/main" id="{9375D491-3100-4AF4-B449-158D8E6C5293}"/>
              </a:ext>
            </a:extLst>
          </p:cNvPr>
          <p:cNvSpPr>
            <a:spLocks noGrp="1"/>
          </p:cNvSpPr>
          <p:nvPr>
            <p:ph type="ftr" idx="3"/>
          </p:nvPr>
        </p:nvSpPr>
        <p:spPr>
          <a:xfrm>
            <a:off x="4038600" y="6356353"/>
            <a:ext cx="4114800" cy="364067"/>
          </a:xfrm>
          <a:prstGeom prst="rect">
            <a:avLst/>
          </a:prstGeom>
        </p:spPr>
        <p:txBody>
          <a:bodyPr vert="horz" lIns="65019" tIns="32509" rIns="65019" bIns="32509" anchor="ctr"/>
          <a:lstStyle>
            <a:lvl1pPr algn="ctr" defTabSz="1218565">
              <a:buNone/>
              <a:defRPr sz="1200">
                <a:solidFill>
                  <a:prstClr val="black">
                    <a:tint val="75000"/>
                  </a:prstClr>
                </a:solidFill>
                <a:latin typeface="+mn-lt"/>
                <a:ea typeface="+mn-lt"/>
                <a:cs typeface="+mn-lt"/>
              </a:defRPr>
            </a:lvl1pPr>
          </a:lstStyle>
          <a:p>
            <a:pPr>
              <a:buNone/>
            </a:pPr>
            <a:endParaRPr/>
          </a:p>
        </p:txBody>
      </p:sp>
      <p:sp>
        <p:nvSpPr>
          <p:cNvPr id="6" name="灯片编号占位符 5">
            <a:extLst>
              <a:ext uri="{FF2B5EF4-FFF2-40B4-BE49-F238E27FC236}">
                <a16:creationId xmlns:a16="http://schemas.microsoft.com/office/drawing/2014/main" id="{E3A0ED3A-25B1-4D00-AC74-A03166EB8C26}"/>
              </a:ext>
            </a:extLst>
          </p:cNvPr>
          <p:cNvSpPr>
            <a:spLocks noGrp="1"/>
          </p:cNvSpPr>
          <p:nvPr>
            <p:ph type="sldNum" idx="4"/>
          </p:nvPr>
        </p:nvSpPr>
        <p:spPr>
          <a:xfrm>
            <a:off x="8610600" y="6356353"/>
            <a:ext cx="2743200" cy="364067"/>
          </a:xfrm>
          <a:prstGeom prst="rect">
            <a:avLst/>
          </a:prstGeom>
        </p:spPr>
        <p:txBody>
          <a:bodyPr vert="horz" wrap="square" lIns="65019" tIns="32509" rIns="65019" bIns="32509" anchor="ctr"/>
          <a:lstStyle>
            <a:lvl1pPr algn="r" defTabSz="1216660">
              <a:buNone/>
              <a:defRPr sz="1200">
                <a:solidFill>
                  <a:srgbClr val="898989"/>
                </a:solidFill>
              </a:defRPr>
            </a:lvl1pPr>
          </a:lstStyle>
          <a:p>
            <a:pPr>
              <a:buNone/>
            </a:pPr>
            <a:fld id="{D728AC88-674E-4151-AFDC-B7C47BAC839D}"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l" defTabSz="865505">
        <a:lnSpc>
          <a:spcPct val="90000"/>
        </a:lnSpc>
        <a:spcBef>
          <a:spcPct val="0"/>
        </a:spcBef>
        <a:spcAft>
          <a:spcPct val="0"/>
        </a:spcAft>
        <a:buNone/>
        <a:defRPr sz="4135" kern="1200">
          <a:solidFill>
            <a:schemeClr val="tx1"/>
          </a:solidFill>
          <a:latin typeface="Calibri"/>
          <a:ea typeface="Calibri"/>
          <a:cs typeface="Calibri"/>
        </a:defRPr>
      </a:lvl1pPr>
      <a:lvl2pPr algn="l" defTabSz="865505">
        <a:lnSpc>
          <a:spcPct val="90000"/>
        </a:lnSpc>
        <a:spcBef>
          <a:spcPct val="0"/>
        </a:spcBef>
        <a:spcAft>
          <a:spcPct val="0"/>
        </a:spcAft>
        <a:buNone/>
        <a:defRPr sz="4135">
          <a:solidFill>
            <a:schemeClr val="tx1"/>
          </a:solidFill>
          <a:latin typeface="Calibri Light"/>
          <a:ea typeface="Calibri Light"/>
          <a:cs typeface="Calibri Light"/>
        </a:defRPr>
      </a:lvl2pPr>
      <a:lvl3pPr algn="l" defTabSz="865505">
        <a:lnSpc>
          <a:spcPct val="90000"/>
        </a:lnSpc>
        <a:spcBef>
          <a:spcPct val="0"/>
        </a:spcBef>
        <a:spcAft>
          <a:spcPct val="0"/>
        </a:spcAft>
        <a:buNone/>
        <a:defRPr sz="4135">
          <a:solidFill>
            <a:schemeClr val="tx1"/>
          </a:solidFill>
          <a:latin typeface="Calibri Light"/>
          <a:ea typeface="Calibri Light"/>
          <a:cs typeface="Calibri Light"/>
        </a:defRPr>
      </a:lvl3pPr>
      <a:lvl4pPr algn="l" defTabSz="865505">
        <a:lnSpc>
          <a:spcPct val="90000"/>
        </a:lnSpc>
        <a:spcBef>
          <a:spcPct val="0"/>
        </a:spcBef>
        <a:spcAft>
          <a:spcPct val="0"/>
        </a:spcAft>
        <a:buNone/>
        <a:defRPr sz="4135">
          <a:solidFill>
            <a:schemeClr val="tx1"/>
          </a:solidFill>
          <a:latin typeface="Calibri Light"/>
          <a:ea typeface="Calibri Light"/>
          <a:cs typeface="Calibri Light"/>
        </a:defRPr>
      </a:lvl4pPr>
      <a:lvl5pPr algn="l" defTabSz="865505">
        <a:lnSpc>
          <a:spcPct val="90000"/>
        </a:lnSpc>
        <a:spcBef>
          <a:spcPct val="0"/>
        </a:spcBef>
        <a:spcAft>
          <a:spcPct val="0"/>
        </a:spcAft>
        <a:buNone/>
        <a:defRPr sz="4135">
          <a:solidFill>
            <a:schemeClr val="tx1"/>
          </a:solidFill>
          <a:latin typeface="Calibri Light"/>
          <a:ea typeface="Calibri Light"/>
          <a:cs typeface="Calibri Light"/>
        </a:defRPr>
      </a:lvl5pPr>
      <a:lvl6pPr marL="609600" algn="l" defTabSz="865505">
        <a:lnSpc>
          <a:spcPct val="90000"/>
        </a:lnSpc>
        <a:spcBef>
          <a:spcPct val="0"/>
        </a:spcBef>
        <a:spcAft>
          <a:spcPct val="0"/>
        </a:spcAft>
        <a:buNone/>
        <a:defRPr sz="4135">
          <a:solidFill>
            <a:schemeClr val="tx1"/>
          </a:solidFill>
          <a:latin typeface="Calibri Light"/>
          <a:ea typeface="Calibri Light"/>
          <a:cs typeface="Calibri Light"/>
        </a:defRPr>
      </a:lvl6pPr>
      <a:lvl7pPr marL="1219200" algn="l" defTabSz="865505">
        <a:lnSpc>
          <a:spcPct val="90000"/>
        </a:lnSpc>
        <a:spcBef>
          <a:spcPct val="0"/>
        </a:spcBef>
        <a:spcAft>
          <a:spcPct val="0"/>
        </a:spcAft>
        <a:buNone/>
        <a:defRPr sz="4135">
          <a:solidFill>
            <a:schemeClr val="tx1"/>
          </a:solidFill>
          <a:latin typeface="Calibri Light"/>
          <a:ea typeface="Calibri Light"/>
          <a:cs typeface="Calibri Light"/>
        </a:defRPr>
      </a:lvl7pPr>
      <a:lvl8pPr marL="1828800" algn="l" defTabSz="865505">
        <a:lnSpc>
          <a:spcPct val="90000"/>
        </a:lnSpc>
        <a:spcBef>
          <a:spcPct val="0"/>
        </a:spcBef>
        <a:spcAft>
          <a:spcPct val="0"/>
        </a:spcAft>
        <a:buNone/>
        <a:defRPr sz="4135">
          <a:solidFill>
            <a:schemeClr val="tx1"/>
          </a:solidFill>
          <a:latin typeface="Calibri Light"/>
          <a:ea typeface="Calibri Light"/>
          <a:cs typeface="Calibri Light"/>
        </a:defRPr>
      </a:lvl8pPr>
      <a:lvl9pPr marL="2438400" algn="l" defTabSz="865505">
        <a:lnSpc>
          <a:spcPct val="90000"/>
        </a:lnSpc>
        <a:spcBef>
          <a:spcPct val="0"/>
        </a:spcBef>
        <a:spcAft>
          <a:spcPct val="0"/>
        </a:spcAft>
        <a:buNone/>
        <a:defRPr sz="4135">
          <a:solidFill>
            <a:schemeClr val="tx1"/>
          </a:solidFill>
          <a:latin typeface="Calibri Light"/>
          <a:ea typeface="Calibri Light"/>
          <a:cs typeface="Calibri Light"/>
        </a:defRPr>
      </a:lvl9pPr>
    </p:titleStyle>
    <p:bodyStyle>
      <a:lvl1pPr marL="215900" indent="-215900" algn="l" defTabSz="865505">
        <a:lnSpc>
          <a:spcPct val="90000"/>
        </a:lnSpc>
        <a:spcBef>
          <a:spcPts val="955"/>
        </a:spcBef>
        <a:spcAft>
          <a:spcPct val="0"/>
        </a:spcAft>
        <a:buFont typeface="Arial"/>
        <a:buChar char="•"/>
        <a:defRPr sz="2665" kern="1200">
          <a:solidFill>
            <a:schemeClr val="tx1"/>
          </a:solidFill>
          <a:latin typeface="+mn-lt"/>
          <a:ea typeface="+mn-lt"/>
          <a:cs typeface="+mn-lt"/>
        </a:defRPr>
      </a:lvl1pPr>
      <a:lvl2pPr marL="650240" indent="-215900" algn="l" defTabSz="865505">
        <a:lnSpc>
          <a:spcPct val="90000"/>
        </a:lnSpc>
        <a:spcBef>
          <a:spcPts val="465"/>
        </a:spcBef>
        <a:spcAft>
          <a:spcPct val="0"/>
        </a:spcAft>
        <a:buFont typeface="Arial"/>
        <a:buChar char="•"/>
        <a:defRPr sz="2265" kern="1200">
          <a:solidFill>
            <a:schemeClr val="tx1"/>
          </a:solidFill>
          <a:latin typeface="+mn-lt"/>
          <a:ea typeface="+mn-lt"/>
          <a:cs typeface="+mn-lt"/>
        </a:defRPr>
      </a:lvl2pPr>
      <a:lvl3pPr marL="1082040" indent="-215900" algn="l" defTabSz="865505">
        <a:lnSpc>
          <a:spcPct val="90000"/>
        </a:lnSpc>
        <a:spcBef>
          <a:spcPts val="465"/>
        </a:spcBef>
        <a:spcAft>
          <a:spcPct val="0"/>
        </a:spcAft>
        <a:buFont typeface="Arial"/>
        <a:buChar char="•"/>
        <a:defRPr sz="1865" kern="1200">
          <a:solidFill>
            <a:schemeClr val="tx1"/>
          </a:solidFill>
          <a:latin typeface="+mn-lt"/>
          <a:ea typeface="+mn-lt"/>
          <a:cs typeface="+mn-lt"/>
        </a:defRPr>
      </a:lvl3pPr>
      <a:lvl4pPr marL="1515745" indent="-215900" algn="l" defTabSz="865505">
        <a:lnSpc>
          <a:spcPct val="90000"/>
        </a:lnSpc>
        <a:spcBef>
          <a:spcPts val="465"/>
        </a:spcBef>
        <a:spcAft>
          <a:spcPct val="0"/>
        </a:spcAft>
        <a:buFont typeface="Arial"/>
        <a:buChar char="•"/>
        <a:defRPr sz="1735" kern="1200">
          <a:solidFill>
            <a:schemeClr val="tx1"/>
          </a:solidFill>
          <a:latin typeface="+mn-lt"/>
          <a:ea typeface="+mn-lt"/>
          <a:cs typeface="+mn-lt"/>
        </a:defRPr>
      </a:lvl4pPr>
      <a:lvl5pPr marL="1950085" indent="-215900" algn="l" defTabSz="865505">
        <a:lnSpc>
          <a:spcPct val="90000"/>
        </a:lnSpc>
        <a:spcBef>
          <a:spcPts val="465"/>
        </a:spcBef>
        <a:spcAft>
          <a:spcPct val="0"/>
        </a:spcAft>
        <a:buFont typeface="Arial"/>
        <a:buChar char="•"/>
        <a:defRPr sz="1735" kern="1200">
          <a:solidFill>
            <a:schemeClr val="tx1"/>
          </a:solidFill>
          <a:latin typeface="+mn-lt"/>
          <a:ea typeface="+mn-lt"/>
          <a:cs typeface="+mn-lt"/>
        </a:defRPr>
      </a:lvl5pPr>
      <a:lvl6pPr marL="2384425" indent="-216535" algn="l" defTabSz="866140">
        <a:lnSpc>
          <a:spcPct val="90000"/>
        </a:lnSpc>
        <a:spcBef>
          <a:spcPts val="475"/>
        </a:spcBef>
        <a:buFont typeface="Arial"/>
        <a:buChar char="•"/>
        <a:defRPr sz="1735" kern="1200">
          <a:solidFill>
            <a:schemeClr val="tx1"/>
          </a:solidFill>
          <a:latin typeface="+mn-lt"/>
          <a:ea typeface="+mn-lt"/>
          <a:cs typeface="+mn-lt"/>
        </a:defRPr>
      </a:lvl6pPr>
      <a:lvl7pPr marL="2817495" indent="-216535" algn="l" defTabSz="866140">
        <a:lnSpc>
          <a:spcPct val="90000"/>
        </a:lnSpc>
        <a:spcBef>
          <a:spcPts val="475"/>
        </a:spcBef>
        <a:buFont typeface="Arial"/>
        <a:buChar char="•"/>
        <a:defRPr sz="1735" kern="1200">
          <a:solidFill>
            <a:schemeClr val="tx1"/>
          </a:solidFill>
          <a:latin typeface="+mn-lt"/>
          <a:ea typeface="+mn-lt"/>
          <a:cs typeface="+mn-lt"/>
        </a:defRPr>
      </a:lvl7pPr>
      <a:lvl8pPr marL="3251200" indent="-216535" algn="l" defTabSz="866140">
        <a:lnSpc>
          <a:spcPct val="90000"/>
        </a:lnSpc>
        <a:spcBef>
          <a:spcPts val="475"/>
        </a:spcBef>
        <a:buFont typeface="Arial"/>
        <a:buChar char="•"/>
        <a:defRPr sz="1735" kern="1200">
          <a:solidFill>
            <a:schemeClr val="tx1"/>
          </a:solidFill>
          <a:latin typeface="+mn-lt"/>
          <a:ea typeface="+mn-lt"/>
          <a:cs typeface="+mn-lt"/>
        </a:defRPr>
      </a:lvl8pPr>
      <a:lvl9pPr marL="3684905" indent="-216535" algn="l" defTabSz="866140">
        <a:lnSpc>
          <a:spcPct val="90000"/>
        </a:lnSpc>
        <a:spcBef>
          <a:spcPts val="475"/>
        </a:spcBef>
        <a:buFont typeface="Arial"/>
        <a:buChar char="•"/>
        <a:defRPr sz="1735" kern="1200">
          <a:solidFill>
            <a:schemeClr val="tx1"/>
          </a:solidFill>
          <a:latin typeface="+mn-lt"/>
          <a:ea typeface="+mn-lt"/>
          <a:cs typeface="+mn-lt"/>
        </a:defRPr>
      </a:lvl9pPr>
    </p:bodyStyle>
    <p:otherStyle>
      <a:lvl1pPr marL="0" algn="l" defTabSz="866140">
        <a:buNone/>
        <a:defRPr sz="1735" kern="1200">
          <a:solidFill>
            <a:schemeClr val="tx1"/>
          </a:solidFill>
          <a:latin typeface="+mn-lt"/>
          <a:ea typeface="+mn-lt"/>
          <a:cs typeface="+mn-lt"/>
        </a:defRPr>
      </a:lvl1pPr>
      <a:lvl2pPr marL="433705" algn="l" defTabSz="866140">
        <a:buNone/>
        <a:defRPr sz="1735" kern="1200">
          <a:solidFill>
            <a:schemeClr val="tx1"/>
          </a:solidFill>
          <a:latin typeface="+mn-lt"/>
          <a:ea typeface="+mn-lt"/>
          <a:cs typeface="+mn-lt"/>
        </a:defRPr>
      </a:lvl2pPr>
      <a:lvl3pPr marL="866775" algn="l" defTabSz="866140">
        <a:buNone/>
        <a:defRPr sz="1735" kern="1200">
          <a:solidFill>
            <a:schemeClr val="tx1"/>
          </a:solidFill>
          <a:latin typeface="+mn-lt"/>
          <a:ea typeface="+mn-lt"/>
          <a:cs typeface="+mn-lt"/>
        </a:defRPr>
      </a:lvl3pPr>
      <a:lvl4pPr marL="1300480" algn="l" defTabSz="866140">
        <a:buNone/>
        <a:defRPr sz="1735" kern="1200">
          <a:solidFill>
            <a:schemeClr val="tx1"/>
          </a:solidFill>
          <a:latin typeface="+mn-lt"/>
          <a:ea typeface="+mn-lt"/>
          <a:cs typeface="+mn-lt"/>
        </a:defRPr>
      </a:lvl4pPr>
      <a:lvl5pPr marL="1734185" algn="l" defTabSz="866140">
        <a:buNone/>
        <a:defRPr sz="1735" kern="1200">
          <a:solidFill>
            <a:schemeClr val="tx1"/>
          </a:solidFill>
          <a:latin typeface="+mn-lt"/>
          <a:ea typeface="+mn-lt"/>
          <a:cs typeface="+mn-lt"/>
        </a:defRPr>
      </a:lvl5pPr>
      <a:lvl6pPr marL="2167255" algn="l" defTabSz="866140">
        <a:buNone/>
        <a:defRPr sz="1735" kern="1200">
          <a:solidFill>
            <a:schemeClr val="tx1"/>
          </a:solidFill>
          <a:latin typeface="+mn-lt"/>
          <a:ea typeface="+mn-lt"/>
          <a:cs typeface="+mn-lt"/>
        </a:defRPr>
      </a:lvl6pPr>
      <a:lvl7pPr marL="2600960" algn="l" defTabSz="866140">
        <a:buNone/>
        <a:defRPr sz="1735" kern="1200">
          <a:solidFill>
            <a:schemeClr val="tx1"/>
          </a:solidFill>
          <a:latin typeface="+mn-lt"/>
          <a:ea typeface="+mn-lt"/>
          <a:cs typeface="+mn-lt"/>
        </a:defRPr>
      </a:lvl7pPr>
      <a:lvl8pPr marL="3034665" algn="l" defTabSz="866140">
        <a:buNone/>
        <a:defRPr sz="1735" kern="1200">
          <a:solidFill>
            <a:schemeClr val="tx1"/>
          </a:solidFill>
          <a:latin typeface="+mn-lt"/>
          <a:ea typeface="+mn-lt"/>
          <a:cs typeface="+mn-lt"/>
        </a:defRPr>
      </a:lvl8pPr>
      <a:lvl9pPr marL="3467735" algn="l" defTabSz="866140">
        <a:buNone/>
        <a:defRPr sz="1735" kern="1200">
          <a:solidFill>
            <a:schemeClr val="tx1"/>
          </a:solidFill>
          <a:latin typeface="+mn-lt"/>
          <a:ea typeface="+mn-lt"/>
          <a:cs typeface="+mn-lt"/>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标题占位符 1">
            <a:extLst>
              <a:ext uri="{FF2B5EF4-FFF2-40B4-BE49-F238E27FC236}">
                <a16:creationId xmlns:a16="http://schemas.microsoft.com/office/drawing/2014/main" id="{2DD986D5-7C62-452D-8061-B302A09E428C}"/>
              </a:ext>
            </a:extLst>
          </p:cNvPr>
          <p:cNvSpPr>
            <a:spLocks noGrp="1"/>
          </p:cNvSpPr>
          <p:nvPr>
            <p:ph type="title"/>
          </p:nvPr>
        </p:nvSpPr>
        <p:spPr>
          <a:xfrm>
            <a:off x="838200" y="366186"/>
            <a:ext cx="10515600" cy="1325033"/>
          </a:xfrm>
          <a:prstGeom prst="rect">
            <a:avLst/>
          </a:prstGeom>
          <a:noFill/>
          <a:ln>
            <a:noFill/>
          </a:ln>
        </p:spPr>
        <p:txBody>
          <a:bodyPr vert="horz" wrap="square" lIns="65019" tIns="32509" rIns="65019" bIns="32509" anchor="ctr"/>
          <a:lstStyle/>
          <a:p>
            <a:pPr lvl="0">
              <a:buNone/>
            </a:pPr>
            <a:r>
              <a:t>单击此处编辑母版标题样式</a:t>
            </a:r>
          </a:p>
        </p:txBody>
      </p:sp>
      <p:sp>
        <p:nvSpPr>
          <p:cNvPr id="4099" name="文本占位符 2">
            <a:extLst>
              <a:ext uri="{FF2B5EF4-FFF2-40B4-BE49-F238E27FC236}">
                <a16:creationId xmlns:a16="http://schemas.microsoft.com/office/drawing/2014/main" id="{86233082-5315-4B8B-AE57-8EC41B5E3B25}"/>
              </a:ext>
            </a:extLst>
          </p:cNvPr>
          <p:cNvSpPr>
            <a:spLocks noGrp="1"/>
          </p:cNvSpPr>
          <p:nvPr>
            <p:ph type="body" idx="1"/>
          </p:nvPr>
        </p:nvSpPr>
        <p:spPr>
          <a:xfrm>
            <a:off x="838200" y="1826685"/>
            <a:ext cx="10515600" cy="4351867"/>
          </a:xfrm>
          <a:prstGeom prst="rect">
            <a:avLst/>
          </a:prstGeom>
          <a:noFill/>
          <a:ln>
            <a:noFill/>
          </a:ln>
        </p:spPr>
        <p:txBody>
          <a:bodyPr vert="horz" wrap="square" lIns="65019" tIns="32509" rIns="65019" bIns="32509" anchor="t"/>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日期占位符 3">
            <a:extLst>
              <a:ext uri="{FF2B5EF4-FFF2-40B4-BE49-F238E27FC236}">
                <a16:creationId xmlns:a16="http://schemas.microsoft.com/office/drawing/2014/main" id="{00159EDC-FC9C-46E9-9B21-874A8A61675B}"/>
              </a:ext>
            </a:extLst>
          </p:cNvPr>
          <p:cNvSpPr>
            <a:spLocks noGrp="1"/>
          </p:cNvSpPr>
          <p:nvPr>
            <p:ph type="dt" idx="2"/>
          </p:nvPr>
        </p:nvSpPr>
        <p:spPr>
          <a:xfrm>
            <a:off x="838200" y="6356353"/>
            <a:ext cx="2743200" cy="364067"/>
          </a:xfrm>
          <a:prstGeom prst="rect">
            <a:avLst/>
          </a:prstGeom>
        </p:spPr>
        <p:txBody>
          <a:bodyPr vert="horz" lIns="65019" tIns="32509" rIns="65019" bIns="32509" anchor="ctr"/>
          <a:lstStyle>
            <a:lvl1pPr algn="l" defTabSz="1218323">
              <a:buNone/>
              <a:defRPr sz="1200">
                <a:solidFill>
                  <a:prstClr val="black">
                    <a:tint val="75000"/>
                  </a:prstClr>
                </a:solidFill>
                <a:latin typeface="+mn-lt"/>
                <a:ea typeface="+mn-lt"/>
                <a:cs typeface="+mn-lt"/>
              </a:defRPr>
            </a:lvl1pPr>
          </a:lstStyle>
          <a:p>
            <a:pPr>
              <a:buNone/>
            </a:pPr>
            <a:fld id="{292F71EF-02F8-4FDD-93F8-D030AB7FC83F}" type="datetimeFigureOut">
              <a:t>2026/9/27</a:t>
            </a:fld>
            <a:endParaRPr/>
          </a:p>
        </p:txBody>
      </p:sp>
      <p:sp>
        <p:nvSpPr>
          <p:cNvPr id="5" name="页脚占位符 4">
            <a:extLst>
              <a:ext uri="{FF2B5EF4-FFF2-40B4-BE49-F238E27FC236}">
                <a16:creationId xmlns:a16="http://schemas.microsoft.com/office/drawing/2014/main" id="{F7D6B1E0-9C14-4FFB-8B26-287FA97D068D}"/>
              </a:ext>
            </a:extLst>
          </p:cNvPr>
          <p:cNvSpPr>
            <a:spLocks noGrp="1"/>
          </p:cNvSpPr>
          <p:nvPr>
            <p:ph type="ftr" idx="3"/>
          </p:nvPr>
        </p:nvSpPr>
        <p:spPr>
          <a:xfrm>
            <a:off x="4038600" y="6356353"/>
            <a:ext cx="4114800" cy="364067"/>
          </a:xfrm>
          <a:prstGeom prst="rect">
            <a:avLst/>
          </a:prstGeom>
        </p:spPr>
        <p:txBody>
          <a:bodyPr vert="horz" lIns="65019" tIns="32509" rIns="65019" bIns="32509" anchor="ctr"/>
          <a:lstStyle>
            <a:lvl1pPr algn="ctr" defTabSz="1218323">
              <a:buNone/>
              <a:defRPr sz="1200">
                <a:solidFill>
                  <a:prstClr val="black">
                    <a:tint val="75000"/>
                  </a:prstClr>
                </a:solidFill>
                <a:latin typeface="+mn-lt"/>
                <a:ea typeface="+mn-lt"/>
                <a:cs typeface="+mn-lt"/>
              </a:defRPr>
            </a:lvl1pPr>
          </a:lstStyle>
          <a:p>
            <a:pPr>
              <a:buNone/>
            </a:pPr>
            <a:endParaRPr/>
          </a:p>
        </p:txBody>
      </p:sp>
      <p:sp>
        <p:nvSpPr>
          <p:cNvPr id="6" name="灯片编号占位符 5">
            <a:extLst>
              <a:ext uri="{FF2B5EF4-FFF2-40B4-BE49-F238E27FC236}">
                <a16:creationId xmlns:a16="http://schemas.microsoft.com/office/drawing/2014/main" id="{96171AD2-D63B-4944-8A4A-B20C7084E0B5}"/>
              </a:ext>
            </a:extLst>
          </p:cNvPr>
          <p:cNvSpPr>
            <a:spLocks noGrp="1"/>
          </p:cNvSpPr>
          <p:nvPr>
            <p:ph type="sldNum" idx="4"/>
          </p:nvPr>
        </p:nvSpPr>
        <p:spPr>
          <a:xfrm>
            <a:off x="8610600" y="6356353"/>
            <a:ext cx="2743200" cy="364067"/>
          </a:xfrm>
          <a:prstGeom prst="rect">
            <a:avLst/>
          </a:prstGeom>
        </p:spPr>
        <p:txBody>
          <a:bodyPr vert="horz" wrap="square" lIns="65019" tIns="32509" rIns="65019" bIns="32509" anchor="ctr"/>
          <a:lstStyle>
            <a:lvl1pPr algn="r" defTabSz="1216630">
              <a:buNone/>
              <a:defRPr sz="1200">
                <a:solidFill>
                  <a:srgbClr val="898989"/>
                </a:solidFill>
              </a:defRPr>
            </a:lvl1pPr>
          </a:lstStyle>
          <a:p>
            <a:pPr>
              <a:buNone/>
            </a:pPr>
            <a:fld id="{D728AC88-674E-4151-AFDC-B7C47BAC839D}" type="slidenum">
              <a:t>‹#›</a:t>
            </a:fld>
            <a:endParaRPr/>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Lst>
  <p:txStyles>
    <p:titleStyle>
      <a:lvl1pPr algn="l" defTabSz="865272">
        <a:lnSpc>
          <a:spcPct val="90000"/>
        </a:lnSpc>
        <a:spcBef>
          <a:spcPct val="0"/>
        </a:spcBef>
        <a:spcAft>
          <a:spcPct val="0"/>
        </a:spcAft>
        <a:buNone/>
        <a:defRPr sz="4133" kern="1200">
          <a:solidFill>
            <a:schemeClr val="tx1"/>
          </a:solidFill>
          <a:latin typeface="Calibri"/>
          <a:ea typeface="Calibri"/>
          <a:cs typeface="Calibri"/>
        </a:defRPr>
      </a:lvl1pPr>
      <a:lvl2pPr algn="l" defTabSz="865272">
        <a:lnSpc>
          <a:spcPct val="90000"/>
        </a:lnSpc>
        <a:spcBef>
          <a:spcPct val="0"/>
        </a:spcBef>
        <a:spcAft>
          <a:spcPct val="0"/>
        </a:spcAft>
        <a:buNone/>
        <a:defRPr sz="4133">
          <a:solidFill>
            <a:schemeClr val="tx1"/>
          </a:solidFill>
          <a:latin typeface="Calibri Light"/>
          <a:ea typeface="Calibri Light"/>
          <a:cs typeface="Calibri Light"/>
        </a:defRPr>
      </a:lvl2pPr>
      <a:lvl3pPr algn="l" defTabSz="865272">
        <a:lnSpc>
          <a:spcPct val="90000"/>
        </a:lnSpc>
        <a:spcBef>
          <a:spcPct val="0"/>
        </a:spcBef>
        <a:spcAft>
          <a:spcPct val="0"/>
        </a:spcAft>
        <a:buNone/>
        <a:defRPr sz="4133">
          <a:solidFill>
            <a:schemeClr val="tx1"/>
          </a:solidFill>
          <a:latin typeface="Calibri Light"/>
          <a:ea typeface="Calibri Light"/>
          <a:cs typeface="Calibri Light"/>
        </a:defRPr>
      </a:lvl3pPr>
      <a:lvl4pPr algn="l" defTabSz="865272">
        <a:lnSpc>
          <a:spcPct val="90000"/>
        </a:lnSpc>
        <a:spcBef>
          <a:spcPct val="0"/>
        </a:spcBef>
        <a:spcAft>
          <a:spcPct val="0"/>
        </a:spcAft>
        <a:buNone/>
        <a:defRPr sz="4133">
          <a:solidFill>
            <a:schemeClr val="tx1"/>
          </a:solidFill>
          <a:latin typeface="Calibri Light"/>
          <a:ea typeface="Calibri Light"/>
          <a:cs typeface="Calibri Light"/>
        </a:defRPr>
      </a:lvl4pPr>
      <a:lvl5pPr algn="l" defTabSz="865272">
        <a:lnSpc>
          <a:spcPct val="90000"/>
        </a:lnSpc>
        <a:spcBef>
          <a:spcPct val="0"/>
        </a:spcBef>
        <a:spcAft>
          <a:spcPct val="0"/>
        </a:spcAft>
        <a:buNone/>
        <a:defRPr sz="4133">
          <a:solidFill>
            <a:schemeClr val="tx1"/>
          </a:solidFill>
          <a:latin typeface="Calibri Light"/>
          <a:ea typeface="Calibri Light"/>
          <a:cs typeface="Calibri Light"/>
        </a:defRPr>
      </a:lvl5pPr>
      <a:lvl6pPr marL="609585" algn="l" defTabSz="865272">
        <a:lnSpc>
          <a:spcPct val="90000"/>
        </a:lnSpc>
        <a:spcBef>
          <a:spcPct val="0"/>
        </a:spcBef>
        <a:spcAft>
          <a:spcPct val="0"/>
        </a:spcAft>
        <a:buNone/>
        <a:defRPr sz="4133">
          <a:solidFill>
            <a:schemeClr val="tx1"/>
          </a:solidFill>
          <a:latin typeface="Calibri Light"/>
          <a:ea typeface="Calibri Light"/>
          <a:cs typeface="Calibri Light"/>
        </a:defRPr>
      </a:lvl6pPr>
      <a:lvl7pPr marL="1219170" algn="l" defTabSz="865272">
        <a:lnSpc>
          <a:spcPct val="90000"/>
        </a:lnSpc>
        <a:spcBef>
          <a:spcPct val="0"/>
        </a:spcBef>
        <a:spcAft>
          <a:spcPct val="0"/>
        </a:spcAft>
        <a:buNone/>
        <a:defRPr sz="4133">
          <a:solidFill>
            <a:schemeClr val="tx1"/>
          </a:solidFill>
          <a:latin typeface="Calibri Light"/>
          <a:ea typeface="Calibri Light"/>
          <a:cs typeface="Calibri Light"/>
        </a:defRPr>
      </a:lvl7pPr>
      <a:lvl8pPr marL="1828754" algn="l" defTabSz="865272">
        <a:lnSpc>
          <a:spcPct val="90000"/>
        </a:lnSpc>
        <a:spcBef>
          <a:spcPct val="0"/>
        </a:spcBef>
        <a:spcAft>
          <a:spcPct val="0"/>
        </a:spcAft>
        <a:buNone/>
        <a:defRPr sz="4133">
          <a:solidFill>
            <a:schemeClr val="tx1"/>
          </a:solidFill>
          <a:latin typeface="Calibri Light"/>
          <a:ea typeface="Calibri Light"/>
          <a:cs typeface="Calibri Light"/>
        </a:defRPr>
      </a:lvl8pPr>
      <a:lvl9pPr marL="2438339" algn="l" defTabSz="865272">
        <a:lnSpc>
          <a:spcPct val="90000"/>
        </a:lnSpc>
        <a:spcBef>
          <a:spcPct val="0"/>
        </a:spcBef>
        <a:spcAft>
          <a:spcPct val="0"/>
        </a:spcAft>
        <a:buNone/>
        <a:defRPr sz="4133">
          <a:solidFill>
            <a:schemeClr val="tx1"/>
          </a:solidFill>
          <a:latin typeface="Calibri Light"/>
          <a:ea typeface="Calibri Light"/>
          <a:cs typeface="Calibri Light"/>
        </a:defRPr>
      </a:lvl9pPr>
    </p:titleStyle>
    <p:bodyStyle>
      <a:lvl1pPr marL="215895" indent="-215895" algn="l" defTabSz="865272">
        <a:lnSpc>
          <a:spcPct val="90000"/>
        </a:lnSpc>
        <a:spcBef>
          <a:spcPts val="953"/>
        </a:spcBef>
        <a:spcAft>
          <a:spcPct val="0"/>
        </a:spcAft>
        <a:buFont typeface="Arial"/>
        <a:buChar char="•"/>
        <a:defRPr sz="2667" kern="1200">
          <a:solidFill>
            <a:schemeClr val="tx1"/>
          </a:solidFill>
          <a:latin typeface="+mn-lt"/>
          <a:ea typeface="+mn-lt"/>
          <a:cs typeface="+mn-lt"/>
        </a:defRPr>
      </a:lvl1pPr>
      <a:lvl2pPr marL="650224" indent="-215895" algn="l" defTabSz="865272">
        <a:lnSpc>
          <a:spcPct val="90000"/>
        </a:lnSpc>
        <a:spcBef>
          <a:spcPts val="467"/>
        </a:spcBef>
        <a:spcAft>
          <a:spcPct val="0"/>
        </a:spcAft>
        <a:buFont typeface="Arial"/>
        <a:buChar char="•"/>
        <a:defRPr sz="2267" kern="1200">
          <a:solidFill>
            <a:schemeClr val="tx1"/>
          </a:solidFill>
          <a:latin typeface="+mn-lt"/>
          <a:ea typeface="+mn-lt"/>
          <a:cs typeface="+mn-lt"/>
        </a:defRPr>
      </a:lvl2pPr>
      <a:lvl3pPr marL="1082013" indent="-215895" algn="l" defTabSz="865272">
        <a:lnSpc>
          <a:spcPct val="90000"/>
        </a:lnSpc>
        <a:spcBef>
          <a:spcPts val="467"/>
        </a:spcBef>
        <a:spcAft>
          <a:spcPct val="0"/>
        </a:spcAft>
        <a:buFont typeface="Arial"/>
        <a:buChar char="•"/>
        <a:defRPr sz="1867" kern="1200">
          <a:solidFill>
            <a:schemeClr val="tx1"/>
          </a:solidFill>
          <a:latin typeface="+mn-lt"/>
          <a:ea typeface="+mn-lt"/>
          <a:cs typeface="+mn-lt"/>
        </a:defRPr>
      </a:lvl3pPr>
      <a:lvl4pPr marL="1515495" indent="-215895" algn="l" defTabSz="865272">
        <a:lnSpc>
          <a:spcPct val="90000"/>
        </a:lnSpc>
        <a:spcBef>
          <a:spcPts val="467"/>
        </a:spcBef>
        <a:spcAft>
          <a:spcPct val="0"/>
        </a:spcAft>
        <a:buFont typeface="Arial"/>
        <a:buChar char="•"/>
        <a:defRPr sz="1733" kern="1200">
          <a:solidFill>
            <a:schemeClr val="tx1"/>
          </a:solidFill>
          <a:latin typeface="+mn-lt"/>
          <a:ea typeface="+mn-lt"/>
          <a:cs typeface="+mn-lt"/>
        </a:defRPr>
      </a:lvl4pPr>
      <a:lvl5pPr marL="1949825" indent="-215895" algn="l" defTabSz="865272">
        <a:lnSpc>
          <a:spcPct val="90000"/>
        </a:lnSpc>
        <a:spcBef>
          <a:spcPts val="467"/>
        </a:spcBef>
        <a:spcAft>
          <a:spcPct val="0"/>
        </a:spcAft>
        <a:buFont typeface="Arial"/>
        <a:buChar char="•"/>
        <a:defRPr sz="1733" kern="1200">
          <a:solidFill>
            <a:schemeClr val="tx1"/>
          </a:solidFill>
          <a:latin typeface="+mn-lt"/>
          <a:ea typeface="+mn-lt"/>
          <a:cs typeface="+mn-lt"/>
        </a:defRPr>
      </a:lvl5pPr>
      <a:lvl6pPr marL="2384154" indent="-216741" algn="l" defTabSz="866118">
        <a:lnSpc>
          <a:spcPct val="90000"/>
        </a:lnSpc>
        <a:spcBef>
          <a:spcPts val="473"/>
        </a:spcBef>
        <a:buFont typeface="Arial"/>
        <a:buChar char="•"/>
        <a:defRPr sz="1733" kern="1200">
          <a:solidFill>
            <a:schemeClr val="tx1"/>
          </a:solidFill>
          <a:latin typeface="+mn-lt"/>
          <a:ea typeface="+mn-lt"/>
          <a:cs typeface="+mn-lt"/>
        </a:defRPr>
      </a:lvl6pPr>
      <a:lvl7pPr marL="2817636" indent="-216741" algn="l" defTabSz="866118">
        <a:lnSpc>
          <a:spcPct val="90000"/>
        </a:lnSpc>
        <a:spcBef>
          <a:spcPts val="473"/>
        </a:spcBef>
        <a:buFont typeface="Arial"/>
        <a:buChar char="•"/>
        <a:defRPr sz="1733" kern="1200">
          <a:solidFill>
            <a:schemeClr val="tx1"/>
          </a:solidFill>
          <a:latin typeface="+mn-lt"/>
          <a:ea typeface="+mn-lt"/>
          <a:cs typeface="+mn-lt"/>
        </a:defRPr>
      </a:lvl7pPr>
      <a:lvl8pPr marL="3251119" indent="-216741" algn="l" defTabSz="866118">
        <a:lnSpc>
          <a:spcPct val="90000"/>
        </a:lnSpc>
        <a:spcBef>
          <a:spcPts val="473"/>
        </a:spcBef>
        <a:buFont typeface="Arial"/>
        <a:buChar char="•"/>
        <a:defRPr sz="1733" kern="1200">
          <a:solidFill>
            <a:schemeClr val="tx1"/>
          </a:solidFill>
          <a:latin typeface="+mn-lt"/>
          <a:ea typeface="+mn-lt"/>
          <a:cs typeface="+mn-lt"/>
        </a:defRPr>
      </a:lvl8pPr>
      <a:lvl9pPr marL="3684601" indent="-216741" algn="l" defTabSz="866118">
        <a:lnSpc>
          <a:spcPct val="90000"/>
        </a:lnSpc>
        <a:spcBef>
          <a:spcPts val="473"/>
        </a:spcBef>
        <a:buFont typeface="Arial"/>
        <a:buChar char="•"/>
        <a:defRPr sz="1733" kern="1200">
          <a:solidFill>
            <a:schemeClr val="tx1"/>
          </a:solidFill>
          <a:latin typeface="+mn-lt"/>
          <a:ea typeface="+mn-lt"/>
          <a:cs typeface="+mn-lt"/>
        </a:defRPr>
      </a:lvl9pPr>
    </p:bodyStyle>
    <p:otherStyle>
      <a:lvl1pPr marL="0" algn="l" defTabSz="866118">
        <a:buNone/>
        <a:defRPr sz="1733" kern="1200">
          <a:solidFill>
            <a:schemeClr val="tx1"/>
          </a:solidFill>
          <a:latin typeface="+mn-lt"/>
          <a:ea typeface="+mn-lt"/>
          <a:cs typeface="+mn-lt"/>
        </a:defRPr>
      </a:lvl1pPr>
      <a:lvl2pPr marL="433482" algn="l" defTabSz="866118">
        <a:buNone/>
        <a:defRPr sz="1733" kern="1200">
          <a:solidFill>
            <a:schemeClr val="tx1"/>
          </a:solidFill>
          <a:latin typeface="+mn-lt"/>
          <a:ea typeface="+mn-lt"/>
          <a:cs typeface="+mn-lt"/>
        </a:defRPr>
      </a:lvl2pPr>
      <a:lvl3pPr marL="866965" algn="l" defTabSz="866118">
        <a:buNone/>
        <a:defRPr sz="1733" kern="1200">
          <a:solidFill>
            <a:schemeClr val="tx1"/>
          </a:solidFill>
          <a:latin typeface="+mn-lt"/>
          <a:ea typeface="+mn-lt"/>
          <a:cs typeface="+mn-lt"/>
        </a:defRPr>
      </a:lvl3pPr>
      <a:lvl4pPr marL="1300447" algn="l" defTabSz="866118">
        <a:buNone/>
        <a:defRPr sz="1733" kern="1200">
          <a:solidFill>
            <a:schemeClr val="tx1"/>
          </a:solidFill>
          <a:latin typeface="+mn-lt"/>
          <a:ea typeface="+mn-lt"/>
          <a:cs typeface="+mn-lt"/>
        </a:defRPr>
      </a:lvl4pPr>
      <a:lvl5pPr marL="1733930" algn="l" defTabSz="866118">
        <a:buNone/>
        <a:defRPr sz="1733" kern="1200">
          <a:solidFill>
            <a:schemeClr val="tx1"/>
          </a:solidFill>
          <a:latin typeface="+mn-lt"/>
          <a:ea typeface="+mn-lt"/>
          <a:cs typeface="+mn-lt"/>
        </a:defRPr>
      </a:lvl5pPr>
      <a:lvl6pPr marL="2167412" algn="l" defTabSz="866118">
        <a:buNone/>
        <a:defRPr sz="1733" kern="1200">
          <a:solidFill>
            <a:schemeClr val="tx1"/>
          </a:solidFill>
          <a:latin typeface="+mn-lt"/>
          <a:ea typeface="+mn-lt"/>
          <a:cs typeface="+mn-lt"/>
        </a:defRPr>
      </a:lvl6pPr>
      <a:lvl7pPr marL="2600895" algn="l" defTabSz="866118">
        <a:buNone/>
        <a:defRPr sz="1733" kern="1200">
          <a:solidFill>
            <a:schemeClr val="tx1"/>
          </a:solidFill>
          <a:latin typeface="+mn-lt"/>
          <a:ea typeface="+mn-lt"/>
          <a:cs typeface="+mn-lt"/>
        </a:defRPr>
      </a:lvl7pPr>
      <a:lvl8pPr marL="3034377" algn="l" defTabSz="866118">
        <a:buNone/>
        <a:defRPr sz="1733" kern="1200">
          <a:solidFill>
            <a:schemeClr val="tx1"/>
          </a:solidFill>
          <a:latin typeface="+mn-lt"/>
          <a:ea typeface="+mn-lt"/>
          <a:cs typeface="+mn-lt"/>
        </a:defRPr>
      </a:lvl8pPr>
      <a:lvl9pPr marL="3467860" algn="l" defTabSz="866118">
        <a:buNone/>
        <a:defRPr sz="1733"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矩形 62">
            <a:extLst>
              <a:ext uri="{FF2B5EF4-FFF2-40B4-BE49-F238E27FC236}">
                <a16:creationId xmlns:a16="http://schemas.microsoft.com/office/drawing/2014/main" id="{2AFE1FA7-4B66-4A9F-984E-BB326964C74E}"/>
              </a:ext>
            </a:extLst>
          </p:cNvPr>
          <p:cNvSpPr>
            <a:spLocks noGrp="1"/>
          </p:cNvSpPr>
          <p:nvPr/>
        </p:nvSpPr>
        <p:spPr>
          <a:xfrm>
            <a:off x="0" y="1513114"/>
            <a:ext cx="12192000" cy="2376715"/>
          </a:xfrm>
          <a:prstGeom prst="rect">
            <a:avLst/>
          </a:prstGeom>
          <a:gradFill rotWithShape="1">
            <a:gsLst>
              <a:gs pos="91000">
                <a:schemeClr val="accent1">
                  <a:lumMod val="75000"/>
                </a:schemeClr>
              </a:gs>
              <a:gs pos="25000">
                <a:srgbClr val="376DC2"/>
              </a:gs>
              <a:gs pos="0">
                <a:srgbClr val="0268FE">
                  <a:lumMod val="75000"/>
                  <a:lumOff val="25000"/>
                </a:srgbClr>
              </a:gs>
            </a:gsLst>
            <a:path path="circle">
              <a:fillToRect l="100000" b="100000"/>
            </a:path>
            <a:tileRect t="-100000" r="-100000"/>
          </a:gradFill>
          <a:ln w="12700" cmpd="sng">
            <a:noFill/>
            <a:prstDash val="solid"/>
          </a:ln>
          <a:effectLst>
            <a:outerShdw blurRad="50800" dist="38100" dir="8100000" algn="tr" rotWithShape="0">
              <a:prstClr val="black">
                <a:alpha val="40000"/>
              </a:prstClr>
            </a:outerShdw>
          </a:effectLst>
        </p:spPr>
        <p:txBody>
          <a:bodyPr anchor="ctr"/>
          <a:lstStyle/>
          <a:p>
            <a:pPr algn="ctr">
              <a:buNone/>
            </a:pPr>
            <a:endParaRPr kern="0">
              <a:solidFill>
                <a:srgbClr val="FFFFFF"/>
              </a:solidFill>
              <a:latin typeface="等线"/>
              <a:ea typeface="等线"/>
              <a:cs typeface="等线"/>
            </a:endParaRPr>
          </a:p>
        </p:txBody>
      </p:sp>
      <p:sp>
        <p:nvSpPr>
          <p:cNvPr id="15" name="标题 8">
            <a:extLst>
              <a:ext uri="{FF2B5EF4-FFF2-40B4-BE49-F238E27FC236}">
                <a16:creationId xmlns:a16="http://schemas.microsoft.com/office/drawing/2014/main" id="{453F7129-0504-4CA9-9BFA-E5B0C91D7760}"/>
              </a:ext>
            </a:extLst>
          </p:cNvPr>
          <p:cNvSpPr>
            <a:spLocks noGrp="1"/>
          </p:cNvSpPr>
          <p:nvPr/>
        </p:nvSpPr>
        <p:spPr>
          <a:xfrm>
            <a:off x="4514780" y="4695050"/>
            <a:ext cx="3283986" cy="624044"/>
          </a:xfrm>
          <a:prstGeom prst="rect">
            <a:avLst/>
          </a:prstGeom>
        </p:spPr>
        <p:txBody>
          <a:bodyPr anchor="ctr">
            <a:noAutofit/>
          </a:bodyPr>
          <a:lstStyle>
            <a:lvl1pPr algn="ctr" defTabSz="914400">
              <a:lnSpc>
                <a:spcPct val="90000"/>
              </a:lnSpc>
              <a:spcBef>
                <a:spcPct val="0"/>
              </a:spcBef>
              <a:buNone/>
              <a:defRPr sz="5400" b="1" kern="1200">
                <a:solidFill>
                  <a:schemeClr val="accent1"/>
                </a:solidFill>
                <a:latin typeface="+mj-lt"/>
                <a:ea typeface="+mj-lt"/>
                <a:cs typeface="+mj-lt"/>
              </a:defRPr>
            </a:lvl1pPr>
          </a:lstStyle>
          <a:p>
            <a:pPr lvl="0">
              <a:lnSpc>
                <a:spcPct val="110000"/>
              </a:lnSpc>
              <a:spcBef>
                <a:spcPts val="0"/>
              </a:spcBef>
              <a:buNone/>
            </a:pPr>
            <a:r>
              <a:rPr sz="2400" i="0" u="none" cap="none" dirty="0" err="1">
                <a:ln>
                  <a:noFill/>
                </a:ln>
                <a:solidFill>
                  <a:schemeClr val="tx1"/>
                </a:solidFill>
                <a:latin typeface="汉仪文润宋韵 U"/>
                <a:ea typeface="汉仪文润宋韵 U"/>
                <a:cs typeface="汉仪文润宋韵 U"/>
              </a:rPr>
              <a:t>汇报人：魏鹏宇</a:t>
            </a:r>
            <a:endParaRPr sz="2400" i="0" u="none" cap="none" dirty="0">
              <a:ln>
                <a:noFill/>
              </a:ln>
              <a:solidFill>
                <a:schemeClr val="tx1"/>
              </a:solidFill>
              <a:latin typeface="汉仪文润宋韵 U"/>
              <a:ea typeface="汉仪文润宋韵 U"/>
              <a:cs typeface="汉仪文润宋韵 U"/>
            </a:endParaRPr>
          </a:p>
        </p:txBody>
      </p:sp>
      <p:sp>
        <p:nvSpPr>
          <p:cNvPr id="17" name="标题 8">
            <a:extLst>
              <a:ext uri="{FF2B5EF4-FFF2-40B4-BE49-F238E27FC236}">
                <a16:creationId xmlns:a16="http://schemas.microsoft.com/office/drawing/2014/main" id="{75A733F7-8760-4CC4-8DFD-EF4760B6CE4C}"/>
              </a:ext>
            </a:extLst>
          </p:cNvPr>
          <p:cNvSpPr>
            <a:spLocks noGrp="1"/>
          </p:cNvSpPr>
          <p:nvPr/>
        </p:nvSpPr>
        <p:spPr>
          <a:xfrm>
            <a:off x="4514780" y="5531496"/>
            <a:ext cx="3283986" cy="624044"/>
          </a:xfrm>
          <a:prstGeom prst="rect">
            <a:avLst/>
          </a:prstGeom>
        </p:spPr>
        <p:txBody>
          <a:bodyPr anchor="ctr">
            <a:noAutofit/>
          </a:bodyPr>
          <a:lstStyle>
            <a:lvl1pPr algn="ctr" defTabSz="914400">
              <a:lnSpc>
                <a:spcPct val="90000"/>
              </a:lnSpc>
              <a:spcBef>
                <a:spcPct val="0"/>
              </a:spcBef>
              <a:buNone/>
              <a:defRPr sz="5400" b="1" kern="1200">
                <a:solidFill>
                  <a:schemeClr val="accent1"/>
                </a:solidFill>
                <a:latin typeface="+mj-lt"/>
                <a:ea typeface="+mj-lt"/>
                <a:cs typeface="+mj-lt"/>
              </a:defRPr>
            </a:lvl1pPr>
          </a:lstStyle>
          <a:p>
            <a:pPr>
              <a:lnSpc>
                <a:spcPct val="110000"/>
              </a:lnSpc>
              <a:spcBef>
                <a:spcPts val="0"/>
              </a:spcBef>
              <a:buNone/>
            </a:pPr>
            <a:r>
              <a:rPr sz="2000" spc="300" dirty="0">
                <a:solidFill>
                  <a:schemeClr val="tx1"/>
                </a:solidFill>
                <a:latin typeface="汉仪文润宋韵 U"/>
                <a:ea typeface="汉仪文润宋韵 U"/>
                <a:cs typeface="汉仪文润宋韵 U"/>
              </a:rPr>
              <a:t>2026.09</a:t>
            </a:r>
            <a:r>
              <a:rPr lang="en-US" sz="2000" spc="300" dirty="0">
                <a:solidFill>
                  <a:schemeClr val="tx1"/>
                </a:solidFill>
                <a:latin typeface="汉仪文润宋韵 U"/>
                <a:ea typeface="汉仪文润宋韵 U"/>
                <a:cs typeface="汉仪文润宋韵 U"/>
              </a:rPr>
              <a:t>.28</a:t>
            </a:r>
            <a:endParaRPr sz="2000" spc="300" dirty="0">
              <a:solidFill>
                <a:schemeClr val="tx1"/>
              </a:solidFill>
              <a:latin typeface="汉仪文润宋韵 U"/>
              <a:ea typeface="汉仪文润宋韵 U"/>
              <a:cs typeface="汉仪文润宋韵 U"/>
            </a:endParaRPr>
          </a:p>
        </p:txBody>
      </p:sp>
      <p:sp>
        <p:nvSpPr>
          <p:cNvPr id="64" name="直接连接符 63">
            <a:extLst>
              <a:ext uri="{FF2B5EF4-FFF2-40B4-BE49-F238E27FC236}">
                <a16:creationId xmlns:a16="http://schemas.microsoft.com/office/drawing/2014/main" id="{AB104E52-D31B-4F84-930E-BB68DA292DA8}"/>
              </a:ext>
            </a:extLst>
          </p:cNvPr>
          <p:cNvSpPr>
            <a:spLocks noGrp="1"/>
          </p:cNvSpPr>
          <p:nvPr/>
        </p:nvSpPr>
        <p:spPr>
          <a:xfrm>
            <a:off x="0" y="4007608"/>
            <a:ext cx="12975771" cy="0"/>
          </a:xfrm>
          <a:prstGeom prst="line">
            <a:avLst/>
          </a:prstGeom>
          <a:noFill/>
          <a:ln w="25400">
            <a:gradFill rotWithShape="1">
              <a:gsLst>
                <a:gs pos="100000">
                  <a:schemeClr val="accent1">
                    <a:lumMod val="97000"/>
                  </a:schemeClr>
                </a:gs>
                <a:gs pos="0">
                  <a:schemeClr val="accent1">
                    <a:alpha val="0"/>
                  </a:schemeClr>
                </a:gs>
              </a:gsLst>
              <a:lin ang="10800000" scaled="1"/>
              <a:tileRect/>
            </a:gradFill>
            <a:tailEnd type="none" w="med" len="sm"/>
          </a:ln>
          <a:effectLst>
            <a:outerShdw blurRad="63500" dist="50800" dir="48000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2" name="标题 8">
            <a:extLst>
              <a:ext uri="{FF2B5EF4-FFF2-40B4-BE49-F238E27FC236}">
                <a16:creationId xmlns:a16="http://schemas.microsoft.com/office/drawing/2014/main" id="{C744971D-495E-438A-B8C9-359A6F079A77}"/>
              </a:ext>
            </a:extLst>
          </p:cNvPr>
          <p:cNvSpPr>
            <a:spLocks noGrp="1"/>
          </p:cNvSpPr>
          <p:nvPr/>
        </p:nvSpPr>
        <p:spPr>
          <a:xfrm>
            <a:off x="161706" y="1887437"/>
            <a:ext cx="11932078" cy="1613551"/>
          </a:xfrm>
          <a:prstGeom prst="rect">
            <a:avLst/>
          </a:prstGeom>
        </p:spPr>
        <p:txBody>
          <a:bodyPr wrap="square" anchor="ctr">
            <a:noAutofit/>
          </a:bodyPr>
          <a:lstStyle>
            <a:lvl1pPr algn="ctr" defTabSz="914400">
              <a:lnSpc>
                <a:spcPct val="90000"/>
              </a:lnSpc>
              <a:spcBef>
                <a:spcPct val="0"/>
              </a:spcBef>
              <a:buNone/>
              <a:defRPr sz="5400" b="1" kern="1200">
                <a:solidFill>
                  <a:schemeClr val="accent1"/>
                </a:solidFill>
                <a:latin typeface="+mj-lt"/>
                <a:ea typeface="+mj-lt"/>
                <a:cs typeface="+mj-lt"/>
              </a:defRPr>
            </a:lvl1pPr>
          </a:lstStyle>
          <a:p>
            <a:pPr lvl="0" algn="ctr">
              <a:lnSpc>
                <a:spcPct val="125000"/>
              </a:lnSpc>
              <a:spcBef>
                <a:spcPts val="0"/>
              </a:spcBef>
              <a:buNone/>
              <a:defRPr sz="3750" b="1">
                <a:solidFill>
                  <a:srgbClr val="FFFFFF"/>
                </a:solidFill>
                <a:latin typeface="汉仪文润宋韵 U"/>
                <a:ea typeface="汉仪文润宋韵 U"/>
                <a:cs typeface="汉仪文润宋韵 U"/>
              </a:defRPr>
            </a:pPr>
            <a:r>
              <a:rPr lang="zh-CN" altLang="en-US" sz="3600" i="0" u="none" cap="none" spc="0" dirty="0">
                <a:ln>
                  <a:noFill/>
                </a:ln>
                <a:solidFill>
                  <a:srgbClr val="FFFFFF"/>
                </a:solidFill>
                <a:latin typeface="汉仪文润宋韵 U"/>
                <a:ea typeface="汉仪文润宋韵 U"/>
                <a:cs typeface="汉仪文润宋韵 U"/>
              </a:rPr>
              <a:t>三参数 </a:t>
            </a:r>
            <a:r>
              <a:rPr lang="en-US" altLang="zh-CN" sz="3600" i="0" u="none" cap="none" spc="0" dirty="0">
                <a:ln>
                  <a:noFill/>
                </a:ln>
                <a:solidFill>
                  <a:srgbClr val="FFFFFF"/>
                </a:solidFill>
                <a:latin typeface="汉仪文润宋韵 U"/>
                <a:ea typeface="汉仪文润宋韵 U"/>
                <a:cs typeface="汉仪文润宋韵 U"/>
              </a:rPr>
              <a:t>Weibull</a:t>
            </a:r>
            <a:r>
              <a:rPr lang="zh-CN" altLang="en-US" sz="3600" i="0" u="none" cap="none" spc="0" dirty="0">
                <a:ln>
                  <a:noFill/>
                </a:ln>
                <a:solidFill>
                  <a:srgbClr val="FFFFFF"/>
                </a:solidFill>
                <a:latin typeface="汉仪文润宋韵 U"/>
                <a:ea typeface="汉仪文润宋韵 U"/>
                <a:cs typeface="汉仪文润宋韵 U"/>
              </a:rPr>
              <a:t>参数估计方法</a:t>
            </a:r>
            <a:endParaRPr lang="en-US" altLang="zh-CN" sz="3600" i="0" u="none" cap="none" spc="0" dirty="0">
              <a:ln>
                <a:noFill/>
              </a:ln>
              <a:solidFill>
                <a:srgbClr val="FFFFFF"/>
              </a:solidFill>
              <a:latin typeface="汉仪文润宋韵 U"/>
              <a:ea typeface="汉仪文润宋韵 U"/>
              <a:cs typeface="汉仪文润宋韵 U"/>
            </a:endParaRPr>
          </a:p>
          <a:p>
            <a:pPr lvl="0" algn="ctr">
              <a:lnSpc>
                <a:spcPct val="125000"/>
              </a:lnSpc>
              <a:spcBef>
                <a:spcPts val="0"/>
              </a:spcBef>
              <a:buNone/>
              <a:defRPr sz="3750" b="1">
                <a:solidFill>
                  <a:srgbClr val="FFFFFF"/>
                </a:solidFill>
                <a:latin typeface="汉仪文润宋韵 U"/>
                <a:ea typeface="汉仪文润宋韵 U"/>
                <a:cs typeface="汉仪文润宋韵 U"/>
              </a:defRPr>
            </a:pPr>
            <a:r>
              <a:rPr lang="zh-CN" altLang="en-US" sz="3600" dirty="0">
                <a:solidFill>
                  <a:srgbClr val="FFFFFF"/>
                </a:solidFill>
                <a:latin typeface="汉仪文润宋韵 U"/>
                <a:ea typeface="汉仪文润宋韵 U"/>
                <a:cs typeface="汉仪文润宋韵 U"/>
              </a:rPr>
              <a:t>的</a:t>
            </a:r>
            <a:r>
              <a:rPr lang="zh-CN" altLang="en-US" sz="3600" dirty="0">
                <a:solidFill>
                  <a:schemeClr val="accent6">
                    <a:lumMod val="20000"/>
                    <a:lumOff val="80000"/>
                  </a:schemeClr>
                </a:solidFill>
                <a:latin typeface="汉仪文润宋韵 U"/>
                <a:ea typeface="汉仪文润宋韵 U"/>
                <a:cs typeface="汉仪文润宋韵 U"/>
              </a:rPr>
              <a:t>比较对象选择</a:t>
            </a:r>
            <a:endParaRPr sz="3600" i="0" u="none" cap="none" spc="0" dirty="0">
              <a:ln>
                <a:noFill/>
              </a:ln>
              <a:solidFill>
                <a:schemeClr val="accent6">
                  <a:lumMod val="20000"/>
                  <a:lumOff val="80000"/>
                </a:schemeClr>
              </a:solidFill>
              <a:latin typeface="汉仪文润宋韵 U"/>
              <a:ea typeface="汉仪文润宋韵 U"/>
              <a:cs typeface="汉仪文润宋韵 U"/>
            </a:endParaRPr>
          </a:p>
        </p:txBody>
      </p:sp>
    </p:spTree>
    <p:extLst>
      <p:ext uri="{BB962C8B-B14F-4D97-AF65-F5344CB8AC3E}">
        <p14:creationId xmlns:p14="http://schemas.microsoft.com/office/powerpoint/2010/main" val="8410421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600" b="1" spc="-150">
                <a:solidFill>
                  <a:srgbClr val="FFFFFF"/>
                </a:solidFill>
                <a:latin typeface="汉仪文润宋韵 U"/>
                <a:ea typeface="汉仪文润宋韵 U"/>
                <a:cs typeface="汉仪文润宋韵 U"/>
              </a:rPr>
              <a:t>研究动机与调研问题</a:t>
            </a:r>
            <a:endParaRPr sz="26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dirty="0">
                <a:latin typeface="Microsoft YaHei"/>
              </a:rPr>
              <a:t>参数估计方法调研</a:t>
            </a:r>
            <a:endParaRPr sz="1800" dirty="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sz="1800">
                <a:latin typeface="Microsoft YaHei"/>
              </a:rPr>
              <a:t>00</a:t>
            </a:r>
          </a:p>
        </p:txBody>
      </p:sp>
      <p:sp>
        <p:nvSpPr>
          <p:cNvPr id="25" name="文本框 24">
            <a:extLst>
              <a:ext uri="{FF2B5EF4-FFF2-40B4-BE49-F238E27FC236}">
                <a16:creationId xmlns:a16="http://schemas.microsoft.com/office/drawing/2014/main" id="{7A6D4C79-2127-CEDB-F0C3-D36F22026B6E}"/>
              </a:ext>
            </a:extLst>
          </p:cNvPr>
          <p:cNvSpPr txBox="1"/>
          <p:nvPr/>
        </p:nvSpPr>
        <p:spPr>
          <a:xfrm>
            <a:off x="622300" y="4013200"/>
            <a:ext cx="10922000" cy="2451100"/>
          </a:xfrm>
          <a:prstGeom prst="rect">
            <a:avLst/>
          </a:prstGeom>
          <a:noFill/>
        </p:spPr>
        <p:txBody>
          <a:bodyPr wrap="square" lIns="0" tIns="0" rIns="0" bIns="0">
            <a:noAutofit/>
          </a:bodyPr>
          <a:lstStyle/>
          <a:p>
            <a:pPr>
              <a:lnSpc>
                <a:spcPts val="2500"/>
              </a:lnSpc>
              <a:spcAft>
                <a:spcPts val="1300"/>
              </a:spcAft>
            </a:pPr>
            <a:r>
              <a:rPr lang="zh-CN" altLang="en-US" sz="2000" b="1">
                <a:solidFill>
                  <a:srgbClr val="2F6096"/>
                </a:solidFill>
                <a:latin typeface="Microsoft YaHei" panose="020B0503020204020204" pitchFamily="34" charset="-122"/>
                <a:ea typeface="微软雅黑" panose="020B0503020204020204" pitchFamily="34" charset="-122"/>
              </a:rPr>
              <a:t>调研要回答的问题</a:t>
            </a:r>
          </a:p>
          <a:p>
            <a:pPr>
              <a:lnSpc>
                <a:spcPts val="2500"/>
              </a:lnSpc>
              <a:spcAft>
                <a:spcPts val="600"/>
              </a:spcAft>
            </a:pPr>
            <a:r>
              <a:rPr lang="en-US" altLang="zh-CN" sz="1900">
                <a:solidFill>
                  <a:srgbClr val="000000"/>
                </a:solidFill>
                <a:latin typeface="Microsoft YaHei" panose="020B0503020204020204" pitchFamily="34" charset="-122"/>
                <a:ea typeface="微软雅黑" panose="020B0503020204020204" pitchFamily="34" charset="-122"/>
              </a:rPr>
              <a:t>1. </a:t>
            </a:r>
            <a:r>
              <a:rPr lang="zh-CN" altLang="en-US" sz="1900">
                <a:solidFill>
                  <a:srgbClr val="000000"/>
                </a:solidFill>
                <a:latin typeface="Microsoft YaHei" panose="020B0503020204020204" pitchFamily="34" charset="-122"/>
                <a:ea typeface="微软雅黑" panose="020B0503020204020204" pitchFamily="34" charset="-122"/>
              </a:rPr>
              <a:t>经典方法有哪些，主要区别是什么？</a:t>
            </a:r>
          </a:p>
          <a:p>
            <a:pPr>
              <a:lnSpc>
                <a:spcPts val="2500"/>
              </a:lnSpc>
              <a:spcAft>
                <a:spcPts val="600"/>
              </a:spcAft>
            </a:pPr>
            <a:r>
              <a:rPr lang="en-US" altLang="zh-CN" sz="1900">
                <a:solidFill>
                  <a:srgbClr val="000000"/>
                </a:solidFill>
                <a:latin typeface="Microsoft YaHei" panose="020B0503020204020204" pitchFamily="34" charset="-122"/>
                <a:ea typeface="微软雅黑" panose="020B0503020204020204" pitchFamily="34" charset="-122"/>
              </a:rPr>
              <a:t>2. </a:t>
            </a:r>
            <a:r>
              <a:rPr lang="zh-CN" altLang="en-US" sz="1900">
                <a:solidFill>
                  <a:srgbClr val="000000"/>
                </a:solidFill>
                <a:latin typeface="Microsoft YaHei" panose="020B0503020204020204" pitchFamily="34" charset="-122"/>
                <a:ea typeface="微软雅黑" panose="020B0503020204020204" pitchFamily="34" charset="-122"/>
              </a:rPr>
              <a:t>谁提出、谁改进？改进针对什么问题？</a:t>
            </a:r>
          </a:p>
          <a:p>
            <a:pPr>
              <a:lnSpc>
                <a:spcPts val="2500"/>
              </a:lnSpc>
              <a:spcAft>
                <a:spcPts val="600"/>
              </a:spcAft>
            </a:pPr>
            <a:r>
              <a:rPr lang="en-US" altLang="zh-CN" sz="1900">
                <a:solidFill>
                  <a:srgbClr val="000000"/>
                </a:solidFill>
                <a:latin typeface="Microsoft YaHei" panose="020B0503020204020204" pitchFamily="34" charset="-122"/>
                <a:ea typeface="微软雅黑" panose="020B0503020204020204" pitchFamily="34" charset="-122"/>
              </a:rPr>
              <a:t>3. </a:t>
            </a:r>
            <a:r>
              <a:rPr lang="zh-CN" altLang="en-US" sz="1900">
                <a:solidFill>
                  <a:srgbClr val="000000"/>
                </a:solidFill>
                <a:latin typeface="Microsoft YaHei" panose="020B0503020204020204" pitchFamily="34" charset="-122"/>
                <a:ea typeface="微软雅黑" panose="020B0503020204020204" pitchFamily="34" charset="-122"/>
              </a:rPr>
              <a:t>近</a:t>
            </a:r>
            <a:r>
              <a:rPr lang="en-US" altLang="zh-CN" sz="1900">
                <a:solidFill>
                  <a:srgbClr val="000000"/>
                </a:solidFill>
                <a:latin typeface="Microsoft YaHei" panose="020B0503020204020204" pitchFamily="34" charset="-122"/>
                <a:ea typeface="微软雅黑" panose="020B0503020204020204" pitchFamily="34" charset="-122"/>
              </a:rPr>
              <a:t>10—20</a:t>
            </a:r>
            <a:r>
              <a:rPr lang="zh-CN" altLang="en-US" sz="1900">
                <a:solidFill>
                  <a:srgbClr val="000000"/>
                </a:solidFill>
                <a:latin typeface="Microsoft YaHei" panose="020B0503020204020204" pitchFamily="34" charset="-122"/>
                <a:ea typeface="微软雅黑" panose="020B0503020204020204" pitchFamily="34" charset="-122"/>
              </a:rPr>
              <a:t>年有哪些值得纳入比较的新方法？</a:t>
            </a:r>
          </a:p>
          <a:p>
            <a:pPr>
              <a:lnSpc>
                <a:spcPts val="2500"/>
              </a:lnSpc>
              <a:spcAft>
                <a:spcPts val="600"/>
              </a:spcAft>
            </a:pPr>
            <a:r>
              <a:rPr lang="en-US" altLang="zh-CN" sz="1900">
                <a:solidFill>
                  <a:srgbClr val="000000"/>
                </a:solidFill>
                <a:latin typeface="Microsoft YaHei" panose="020B0503020204020204" pitchFamily="34" charset="-122"/>
                <a:ea typeface="微软雅黑" panose="020B0503020204020204" pitchFamily="34" charset="-122"/>
              </a:rPr>
              <a:t>4. </a:t>
            </a:r>
            <a:r>
              <a:rPr lang="zh-CN" altLang="en-US" sz="1900">
                <a:solidFill>
                  <a:srgbClr val="000000"/>
                </a:solidFill>
                <a:latin typeface="Microsoft YaHei" panose="020B0503020204020204" pitchFamily="34" charset="-122"/>
                <a:ea typeface="微软雅黑" panose="020B0503020204020204" pitchFamily="34" charset="-122"/>
              </a:rPr>
              <a:t>已有研究与谁比较，用什么数据和指标评价？</a:t>
            </a:r>
          </a:p>
          <a:p>
            <a:pPr>
              <a:lnSpc>
                <a:spcPts val="2500"/>
              </a:lnSpc>
              <a:spcAft>
                <a:spcPts val="600"/>
              </a:spcAft>
            </a:pPr>
            <a:r>
              <a:rPr lang="en-US" altLang="zh-CN" sz="1900">
                <a:solidFill>
                  <a:srgbClr val="000000"/>
                </a:solidFill>
                <a:latin typeface="Microsoft YaHei" panose="020B0503020204020204" pitchFamily="34" charset="-122"/>
                <a:ea typeface="微软雅黑" panose="020B0503020204020204" pitchFamily="34" charset="-122"/>
              </a:rPr>
              <a:t>5. </a:t>
            </a:r>
            <a:r>
              <a:rPr lang="zh-CN" altLang="en-US" sz="1900">
                <a:solidFill>
                  <a:srgbClr val="000000"/>
                </a:solidFill>
                <a:latin typeface="Microsoft YaHei" panose="020B0503020204020204" pitchFamily="34" charset="-122"/>
                <a:ea typeface="微软雅黑" panose="020B0503020204020204" pitchFamily="34" charset="-122"/>
              </a:rPr>
              <a:t>应选哪些对照、采用哪个版本，如何在论文中引用？</a:t>
            </a:r>
            <a:endParaRPr lang="zh-CN" altLang="zh-CN" sz="1900" dirty="0">
              <a:solidFill>
                <a:srgbClr val="000000"/>
              </a:solidFill>
              <a:latin typeface="Microsoft YaHei" panose="020B0503020204020204" pitchFamily="34" charset="-122"/>
              <a:ea typeface="微软雅黑" panose="020B0503020204020204" pitchFamily="34" charset="-122"/>
            </a:endParaRPr>
          </a:p>
        </p:txBody>
      </p:sp>
      <p:sp>
        <p:nvSpPr>
          <p:cNvPr id="26" name="箭头: 上 41">
            <a:extLst>
              <a:ext uri="{FF2B5EF4-FFF2-40B4-BE49-F238E27FC236}">
                <a16:creationId xmlns:a16="http://schemas.microsoft.com/office/drawing/2014/main" id="{CF1CF523-BC6A-C3B3-5CA1-09425B8690A1}"/>
              </a:ext>
            </a:extLst>
          </p:cNvPr>
          <p:cNvSpPr/>
          <p:nvPr/>
        </p:nvSpPr>
        <p:spPr>
          <a:xfrm rot="10800000">
            <a:off x="316329" y="3110081"/>
            <a:ext cx="1559360" cy="748606"/>
          </a:xfrm>
          <a:custGeom>
            <a:avLst/>
            <a:gdLst>
              <a:gd name="connsiteX0" fmla="*/ 0 w 1981200"/>
              <a:gd name="connsiteY0" fmla="*/ 1203955 h 4363121"/>
              <a:gd name="connsiteX1" fmla="*/ 990600 w 1981200"/>
              <a:gd name="connsiteY1" fmla="*/ 0 h 4363121"/>
              <a:gd name="connsiteX2" fmla="*/ 1981200 w 1981200"/>
              <a:gd name="connsiteY2" fmla="*/ 1203955 h 4363121"/>
              <a:gd name="connsiteX3" fmla="*/ 1485900 w 1981200"/>
              <a:gd name="connsiteY3" fmla="*/ 1203955 h 4363121"/>
              <a:gd name="connsiteX4" fmla="*/ 1485900 w 1981200"/>
              <a:gd name="connsiteY4" fmla="*/ 4363121 h 4363121"/>
              <a:gd name="connsiteX5" fmla="*/ 495300 w 1981200"/>
              <a:gd name="connsiteY5" fmla="*/ 4363121 h 4363121"/>
              <a:gd name="connsiteX6" fmla="*/ 495300 w 1981200"/>
              <a:gd name="connsiteY6" fmla="*/ 1203955 h 4363121"/>
              <a:gd name="connsiteX7" fmla="*/ 0 w 1981200"/>
              <a:gd name="connsiteY7" fmla="*/ 1203955 h 4363121"/>
              <a:gd name="connsiteX0-1" fmla="*/ 586740 w 2567940"/>
              <a:gd name="connsiteY0-2" fmla="*/ 1203955 h 4363121"/>
              <a:gd name="connsiteX1-3" fmla="*/ 1577340 w 2567940"/>
              <a:gd name="connsiteY1-4" fmla="*/ 0 h 4363121"/>
              <a:gd name="connsiteX2-5" fmla="*/ 2567940 w 2567940"/>
              <a:gd name="connsiteY2-6" fmla="*/ 1203955 h 4363121"/>
              <a:gd name="connsiteX3-7" fmla="*/ 2072640 w 2567940"/>
              <a:gd name="connsiteY3-8" fmla="*/ 1203955 h 4363121"/>
              <a:gd name="connsiteX4-9" fmla="*/ 2072640 w 2567940"/>
              <a:gd name="connsiteY4-10" fmla="*/ 4363121 h 4363121"/>
              <a:gd name="connsiteX5-11" fmla="*/ 0 w 2567940"/>
              <a:gd name="connsiteY5-12" fmla="*/ 4347881 h 4363121"/>
              <a:gd name="connsiteX6-13" fmla="*/ 1082040 w 2567940"/>
              <a:gd name="connsiteY6-14" fmla="*/ 1203955 h 4363121"/>
              <a:gd name="connsiteX7-15" fmla="*/ 586740 w 2567940"/>
              <a:gd name="connsiteY7-16" fmla="*/ 1203955 h 4363121"/>
              <a:gd name="connsiteX0-17" fmla="*/ 586740 w 2865120"/>
              <a:gd name="connsiteY0-18" fmla="*/ 1203955 h 4347881"/>
              <a:gd name="connsiteX1-19" fmla="*/ 1577340 w 2865120"/>
              <a:gd name="connsiteY1-20" fmla="*/ 0 h 4347881"/>
              <a:gd name="connsiteX2-21" fmla="*/ 2567940 w 2865120"/>
              <a:gd name="connsiteY2-22" fmla="*/ 1203955 h 4347881"/>
              <a:gd name="connsiteX3-23" fmla="*/ 2072640 w 2865120"/>
              <a:gd name="connsiteY3-24" fmla="*/ 1203955 h 4347881"/>
              <a:gd name="connsiteX4-25" fmla="*/ 2865120 w 2865120"/>
              <a:gd name="connsiteY4-26" fmla="*/ 4332641 h 4347881"/>
              <a:gd name="connsiteX5-27" fmla="*/ 0 w 2865120"/>
              <a:gd name="connsiteY5-28" fmla="*/ 4347881 h 4347881"/>
              <a:gd name="connsiteX6-29" fmla="*/ 1082040 w 2865120"/>
              <a:gd name="connsiteY6-30" fmla="*/ 1203955 h 4347881"/>
              <a:gd name="connsiteX7-31" fmla="*/ 586740 w 2865120"/>
              <a:gd name="connsiteY7-32" fmla="*/ 1203955 h 4347881"/>
              <a:gd name="connsiteX0-33" fmla="*/ 586740 w 3017520"/>
              <a:gd name="connsiteY0-34" fmla="*/ 1203955 h 4347881"/>
              <a:gd name="connsiteX1-35" fmla="*/ 1577340 w 3017520"/>
              <a:gd name="connsiteY1-36" fmla="*/ 0 h 4347881"/>
              <a:gd name="connsiteX2-37" fmla="*/ 2567940 w 3017520"/>
              <a:gd name="connsiteY2-38" fmla="*/ 1203955 h 4347881"/>
              <a:gd name="connsiteX3-39" fmla="*/ 2072640 w 3017520"/>
              <a:gd name="connsiteY3-40" fmla="*/ 1203955 h 4347881"/>
              <a:gd name="connsiteX4-41" fmla="*/ 3017520 w 3017520"/>
              <a:gd name="connsiteY4-42" fmla="*/ 4347881 h 4347881"/>
              <a:gd name="connsiteX5-43" fmla="*/ 0 w 3017520"/>
              <a:gd name="connsiteY5-44" fmla="*/ 4347881 h 4347881"/>
              <a:gd name="connsiteX6-45" fmla="*/ 1082040 w 3017520"/>
              <a:gd name="connsiteY6-46" fmla="*/ 1203955 h 4347881"/>
              <a:gd name="connsiteX7-47" fmla="*/ 586740 w 3017520"/>
              <a:gd name="connsiteY7-48" fmla="*/ 1203955 h 4347881"/>
              <a:gd name="connsiteX0-49" fmla="*/ 586740 w 3056849"/>
              <a:gd name="connsiteY0-50" fmla="*/ 1203955 h 4357713"/>
              <a:gd name="connsiteX1-51" fmla="*/ 1577340 w 3056849"/>
              <a:gd name="connsiteY1-52" fmla="*/ 0 h 4357713"/>
              <a:gd name="connsiteX2-53" fmla="*/ 2567940 w 3056849"/>
              <a:gd name="connsiteY2-54" fmla="*/ 1203955 h 4357713"/>
              <a:gd name="connsiteX3-55" fmla="*/ 2072640 w 3056849"/>
              <a:gd name="connsiteY3-56" fmla="*/ 1203955 h 4357713"/>
              <a:gd name="connsiteX4-57" fmla="*/ 3056849 w 3056849"/>
              <a:gd name="connsiteY4-58" fmla="*/ 4357713 h 4357713"/>
              <a:gd name="connsiteX5-59" fmla="*/ 0 w 3056849"/>
              <a:gd name="connsiteY5-60" fmla="*/ 4347881 h 4357713"/>
              <a:gd name="connsiteX6-61" fmla="*/ 1082040 w 3056849"/>
              <a:gd name="connsiteY6-62" fmla="*/ 1203955 h 4357713"/>
              <a:gd name="connsiteX7-63" fmla="*/ 586740 w 3056849"/>
              <a:gd name="connsiteY7-64" fmla="*/ 1203955 h 4357713"/>
              <a:gd name="connsiteX0-65" fmla="*/ 586740 w 3047017"/>
              <a:gd name="connsiteY0-66" fmla="*/ 1203955 h 4347881"/>
              <a:gd name="connsiteX1-67" fmla="*/ 1577340 w 3047017"/>
              <a:gd name="connsiteY1-68" fmla="*/ 0 h 4347881"/>
              <a:gd name="connsiteX2-69" fmla="*/ 2567940 w 3047017"/>
              <a:gd name="connsiteY2-70" fmla="*/ 1203955 h 4347881"/>
              <a:gd name="connsiteX3-71" fmla="*/ 2072640 w 3047017"/>
              <a:gd name="connsiteY3-72" fmla="*/ 1203955 h 4347881"/>
              <a:gd name="connsiteX4-73" fmla="*/ 3047017 w 3047017"/>
              <a:gd name="connsiteY4-74" fmla="*/ 4328216 h 4347881"/>
              <a:gd name="connsiteX5-75" fmla="*/ 0 w 3047017"/>
              <a:gd name="connsiteY5-76" fmla="*/ 4347881 h 4347881"/>
              <a:gd name="connsiteX6-77" fmla="*/ 1082040 w 3047017"/>
              <a:gd name="connsiteY6-78" fmla="*/ 1203955 h 4347881"/>
              <a:gd name="connsiteX7-79" fmla="*/ 586740 w 3047017"/>
              <a:gd name="connsiteY7-80" fmla="*/ 1203955 h 4347881"/>
              <a:gd name="connsiteX0-81" fmla="*/ 586740 w 3086346"/>
              <a:gd name="connsiteY0-82" fmla="*/ 1203955 h 4367545"/>
              <a:gd name="connsiteX1-83" fmla="*/ 1577340 w 3086346"/>
              <a:gd name="connsiteY1-84" fmla="*/ 0 h 4367545"/>
              <a:gd name="connsiteX2-85" fmla="*/ 2567940 w 3086346"/>
              <a:gd name="connsiteY2-86" fmla="*/ 1203955 h 4367545"/>
              <a:gd name="connsiteX3-87" fmla="*/ 2072640 w 3086346"/>
              <a:gd name="connsiteY3-88" fmla="*/ 1203955 h 4367545"/>
              <a:gd name="connsiteX4-89" fmla="*/ 3086346 w 3086346"/>
              <a:gd name="connsiteY4-90" fmla="*/ 4367545 h 4367545"/>
              <a:gd name="connsiteX5-91" fmla="*/ 0 w 3086346"/>
              <a:gd name="connsiteY5-92" fmla="*/ 4347881 h 4367545"/>
              <a:gd name="connsiteX6-93" fmla="*/ 1082040 w 3086346"/>
              <a:gd name="connsiteY6-94" fmla="*/ 1203955 h 4367545"/>
              <a:gd name="connsiteX7-95" fmla="*/ 586740 w 3086346"/>
              <a:gd name="connsiteY7-96" fmla="*/ 1203955 h 4367545"/>
              <a:gd name="connsiteX0-97" fmla="*/ 586740 w 3096179"/>
              <a:gd name="connsiteY0-98" fmla="*/ 1203955 h 4347881"/>
              <a:gd name="connsiteX1-99" fmla="*/ 1577340 w 3096179"/>
              <a:gd name="connsiteY1-100" fmla="*/ 0 h 4347881"/>
              <a:gd name="connsiteX2-101" fmla="*/ 2567940 w 3096179"/>
              <a:gd name="connsiteY2-102" fmla="*/ 1203955 h 4347881"/>
              <a:gd name="connsiteX3-103" fmla="*/ 2072640 w 3096179"/>
              <a:gd name="connsiteY3-104" fmla="*/ 1203955 h 4347881"/>
              <a:gd name="connsiteX4-105" fmla="*/ 3096179 w 3096179"/>
              <a:gd name="connsiteY4-106" fmla="*/ 4308552 h 4347881"/>
              <a:gd name="connsiteX5-107" fmla="*/ 0 w 3096179"/>
              <a:gd name="connsiteY5-108" fmla="*/ 4347881 h 4347881"/>
              <a:gd name="connsiteX6-109" fmla="*/ 1082040 w 3096179"/>
              <a:gd name="connsiteY6-110" fmla="*/ 1203955 h 4347881"/>
              <a:gd name="connsiteX7-111" fmla="*/ 586740 w 3096179"/>
              <a:gd name="connsiteY7-112" fmla="*/ 1203955 h 4347881"/>
              <a:gd name="connsiteX0-113" fmla="*/ 586740 w 3096179"/>
              <a:gd name="connsiteY0-114" fmla="*/ 1203955 h 4367545"/>
              <a:gd name="connsiteX1-115" fmla="*/ 1577340 w 3096179"/>
              <a:gd name="connsiteY1-116" fmla="*/ 0 h 4367545"/>
              <a:gd name="connsiteX2-117" fmla="*/ 2567940 w 3096179"/>
              <a:gd name="connsiteY2-118" fmla="*/ 1203955 h 4367545"/>
              <a:gd name="connsiteX3-119" fmla="*/ 2072640 w 3096179"/>
              <a:gd name="connsiteY3-120" fmla="*/ 1203955 h 4367545"/>
              <a:gd name="connsiteX4-121" fmla="*/ 3096179 w 3096179"/>
              <a:gd name="connsiteY4-122" fmla="*/ 4367545 h 4367545"/>
              <a:gd name="connsiteX5-123" fmla="*/ 0 w 3096179"/>
              <a:gd name="connsiteY5-124" fmla="*/ 4347881 h 4367545"/>
              <a:gd name="connsiteX6-125" fmla="*/ 1082040 w 3096179"/>
              <a:gd name="connsiteY6-126" fmla="*/ 1203955 h 4367545"/>
              <a:gd name="connsiteX7-127" fmla="*/ 586740 w 3096179"/>
              <a:gd name="connsiteY7-128" fmla="*/ 1203955 h 4367545"/>
              <a:gd name="connsiteX0-129" fmla="*/ 586740 w 3096179"/>
              <a:gd name="connsiteY0-130" fmla="*/ 1203955 h 4347881"/>
              <a:gd name="connsiteX1-131" fmla="*/ 1577340 w 3096179"/>
              <a:gd name="connsiteY1-132" fmla="*/ 0 h 4347881"/>
              <a:gd name="connsiteX2-133" fmla="*/ 2567940 w 3096179"/>
              <a:gd name="connsiteY2-134" fmla="*/ 1203955 h 4347881"/>
              <a:gd name="connsiteX3-135" fmla="*/ 2072640 w 3096179"/>
              <a:gd name="connsiteY3-136" fmla="*/ 1203955 h 4347881"/>
              <a:gd name="connsiteX4-137" fmla="*/ 3096179 w 3096179"/>
              <a:gd name="connsiteY4-138" fmla="*/ 4338049 h 4347881"/>
              <a:gd name="connsiteX5-139" fmla="*/ 0 w 3096179"/>
              <a:gd name="connsiteY5-140" fmla="*/ 4347881 h 4347881"/>
              <a:gd name="connsiteX6-141" fmla="*/ 1082040 w 3096179"/>
              <a:gd name="connsiteY6-142" fmla="*/ 1203955 h 4347881"/>
              <a:gd name="connsiteX7-143" fmla="*/ 586740 w 3096179"/>
              <a:gd name="connsiteY7-144" fmla="*/ 1203955 h 4347881"/>
              <a:gd name="connsiteX0-145" fmla="*/ 586740 w 3096179"/>
              <a:gd name="connsiteY0-146" fmla="*/ 1203955 h 4367545"/>
              <a:gd name="connsiteX1-147" fmla="*/ 1577340 w 3096179"/>
              <a:gd name="connsiteY1-148" fmla="*/ 0 h 4367545"/>
              <a:gd name="connsiteX2-149" fmla="*/ 2567940 w 3096179"/>
              <a:gd name="connsiteY2-150" fmla="*/ 1203955 h 4367545"/>
              <a:gd name="connsiteX3-151" fmla="*/ 2072640 w 3096179"/>
              <a:gd name="connsiteY3-152" fmla="*/ 1203955 h 4367545"/>
              <a:gd name="connsiteX4-153" fmla="*/ 3096179 w 3096179"/>
              <a:gd name="connsiteY4-154" fmla="*/ 4367545 h 4367545"/>
              <a:gd name="connsiteX5-155" fmla="*/ 0 w 3096179"/>
              <a:gd name="connsiteY5-156" fmla="*/ 4347881 h 4367545"/>
              <a:gd name="connsiteX6-157" fmla="*/ 1082040 w 3096179"/>
              <a:gd name="connsiteY6-158" fmla="*/ 1203955 h 4367545"/>
              <a:gd name="connsiteX7-159" fmla="*/ 586740 w 3096179"/>
              <a:gd name="connsiteY7-160" fmla="*/ 1203955 h 4367545"/>
              <a:gd name="connsiteX0-161" fmla="*/ 2720340 w 5229779"/>
              <a:gd name="connsiteY0-162" fmla="*/ 1203955 h 4367545"/>
              <a:gd name="connsiteX1-163" fmla="*/ 3710940 w 5229779"/>
              <a:gd name="connsiteY1-164" fmla="*/ 0 h 4367545"/>
              <a:gd name="connsiteX2-165" fmla="*/ 4701540 w 5229779"/>
              <a:gd name="connsiteY2-166" fmla="*/ 1203955 h 4367545"/>
              <a:gd name="connsiteX3-167" fmla="*/ 4206240 w 5229779"/>
              <a:gd name="connsiteY3-168" fmla="*/ 1203955 h 4367545"/>
              <a:gd name="connsiteX4-169" fmla="*/ 5229779 w 5229779"/>
              <a:gd name="connsiteY4-170" fmla="*/ 4367545 h 4367545"/>
              <a:gd name="connsiteX5-171" fmla="*/ 0 w 5229779"/>
              <a:gd name="connsiteY5-172" fmla="*/ 4073561 h 4367545"/>
              <a:gd name="connsiteX6-173" fmla="*/ 3215640 w 5229779"/>
              <a:gd name="connsiteY6-174" fmla="*/ 1203955 h 4367545"/>
              <a:gd name="connsiteX7-175" fmla="*/ 2720340 w 5229779"/>
              <a:gd name="connsiteY7-176" fmla="*/ 1203955 h 4367545"/>
              <a:gd name="connsiteX0-177" fmla="*/ 2720340 w 7561499"/>
              <a:gd name="connsiteY0-178" fmla="*/ 1203955 h 4073561"/>
              <a:gd name="connsiteX1-179" fmla="*/ 3710940 w 7561499"/>
              <a:gd name="connsiteY1-180" fmla="*/ 0 h 4073561"/>
              <a:gd name="connsiteX2-181" fmla="*/ 4701540 w 7561499"/>
              <a:gd name="connsiteY2-182" fmla="*/ 1203955 h 4073561"/>
              <a:gd name="connsiteX3-183" fmla="*/ 4206240 w 7561499"/>
              <a:gd name="connsiteY3-184" fmla="*/ 1203955 h 4073561"/>
              <a:gd name="connsiteX4-185" fmla="*/ 7561499 w 7561499"/>
              <a:gd name="connsiteY4-186" fmla="*/ 4032265 h 4073561"/>
              <a:gd name="connsiteX5-187" fmla="*/ 0 w 7561499"/>
              <a:gd name="connsiteY5-188" fmla="*/ 4073561 h 4073561"/>
              <a:gd name="connsiteX6-189" fmla="*/ 3215640 w 7561499"/>
              <a:gd name="connsiteY6-190" fmla="*/ 1203955 h 4073561"/>
              <a:gd name="connsiteX7-191" fmla="*/ 2720340 w 7561499"/>
              <a:gd name="connsiteY7-192" fmla="*/ 1203955 h 4073561"/>
              <a:gd name="connsiteX0-193" fmla="*/ 2887980 w 7729139"/>
              <a:gd name="connsiteY0-194" fmla="*/ 1203955 h 4032265"/>
              <a:gd name="connsiteX1-195" fmla="*/ 3878580 w 7729139"/>
              <a:gd name="connsiteY1-196" fmla="*/ 0 h 4032265"/>
              <a:gd name="connsiteX2-197" fmla="*/ 4869180 w 7729139"/>
              <a:gd name="connsiteY2-198" fmla="*/ 1203955 h 4032265"/>
              <a:gd name="connsiteX3-199" fmla="*/ 4373880 w 7729139"/>
              <a:gd name="connsiteY3-200" fmla="*/ 1203955 h 4032265"/>
              <a:gd name="connsiteX4-201" fmla="*/ 7729139 w 7729139"/>
              <a:gd name="connsiteY4-202" fmla="*/ 4032265 h 4032265"/>
              <a:gd name="connsiteX5-203" fmla="*/ 0 w 7729139"/>
              <a:gd name="connsiteY5-204" fmla="*/ 4027841 h 4032265"/>
              <a:gd name="connsiteX6-205" fmla="*/ 3383280 w 7729139"/>
              <a:gd name="connsiteY6-206" fmla="*/ 1203955 h 4032265"/>
              <a:gd name="connsiteX7-207" fmla="*/ 2887980 w 7729139"/>
              <a:gd name="connsiteY7-208" fmla="*/ 1203955 h 4032265"/>
              <a:gd name="connsiteX0-209" fmla="*/ 2887980 w 7729139"/>
              <a:gd name="connsiteY0-210" fmla="*/ 1203955 h 4032265"/>
              <a:gd name="connsiteX1-211" fmla="*/ 3878580 w 7729139"/>
              <a:gd name="connsiteY1-212" fmla="*/ 0 h 4032265"/>
              <a:gd name="connsiteX2-213" fmla="*/ 4869180 w 7729139"/>
              <a:gd name="connsiteY2-214" fmla="*/ 1203955 h 4032265"/>
              <a:gd name="connsiteX3-215" fmla="*/ 4373880 w 7729139"/>
              <a:gd name="connsiteY3-216" fmla="*/ 1203955 h 4032265"/>
              <a:gd name="connsiteX4-217" fmla="*/ 7729139 w 7729139"/>
              <a:gd name="connsiteY4-218" fmla="*/ 4032265 h 4032265"/>
              <a:gd name="connsiteX5-219" fmla="*/ 0 w 7729139"/>
              <a:gd name="connsiteY5-220" fmla="*/ 4027841 h 4032265"/>
              <a:gd name="connsiteX6-221" fmla="*/ 3383280 w 7729139"/>
              <a:gd name="connsiteY6-222" fmla="*/ 1203955 h 4032265"/>
              <a:gd name="connsiteX7-223" fmla="*/ 2887980 w 7729139"/>
              <a:gd name="connsiteY7-224" fmla="*/ 1203955 h 4032265"/>
              <a:gd name="connsiteX0-225" fmla="*/ 2887980 w 7729139"/>
              <a:gd name="connsiteY0-226" fmla="*/ 1203955 h 4032265"/>
              <a:gd name="connsiteX1-227" fmla="*/ 3878580 w 7729139"/>
              <a:gd name="connsiteY1-228" fmla="*/ 0 h 4032265"/>
              <a:gd name="connsiteX2-229" fmla="*/ 4869180 w 7729139"/>
              <a:gd name="connsiteY2-230" fmla="*/ 1203955 h 4032265"/>
              <a:gd name="connsiteX3-231" fmla="*/ 4373880 w 7729139"/>
              <a:gd name="connsiteY3-232" fmla="*/ 1203955 h 4032265"/>
              <a:gd name="connsiteX4-233" fmla="*/ 7729139 w 7729139"/>
              <a:gd name="connsiteY4-234" fmla="*/ 4032265 h 4032265"/>
              <a:gd name="connsiteX5-235" fmla="*/ 0 w 7729139"/>
              <a:gd name="connsiteY5-236" fmla="*/ 4027841 h 4032265"/>
              <a:gd name="connsiteX6-237" fmla="*/ 3383280 w 7729139"/>
              <a:gd name="connsiteY6-238" fmla="*/ 1203955 h 4032265"/>
              <a:gd name="connsiteX7-239" fmla="*/ 2887980 w 7729139"/>
              <a:gd name="connsiteY7-240" fmla="*/ 1203955 h 4032265"/>
              <a:gd name="connsiteX0-241" fmla="*/ 2887980 w 7729139"/>
              <a:gd name="connsiteY0-242" fmla="*/ 1203955 h 4032265"/>
              <a:gd name="connsiteX1-243" fmla="*/ 3878580 w 7729139"/>
              <a:gd name="connsiteY1-244" fmla="*/ 0 h 4032265"/>
              <a:gd name="connsiteX2-245" fmla="*/ 4869180 w 7729139"/>
              <a:gd name="connsiteY2-246" fmla="*/ 1203955 h 4032265"/>
              <a:gd name="connsiteX3-247" fmla="*/ 4373880 w 7729139"/>
              <a:gd name="connsiteY3-248" fmla="*/ 1203955 h 4032265"/>
              <a:gd name="connsiteX4-249" fmla="*/ 7729139 w 7729139"/>
              <a:gd name="connsiteY4-250" fmla="*/ 4032265 h 4032265"/>
              <a:gd name="connsiteX5-251" fmla="*/ 0 w 7729139"/>
              <a:gd name="connsiteY5-252" fmla="*/ 4027841 h 4032265"/>
              <a:gd name="connsiteX6-253" fmla="*/ 3383280 w 7729139"/>
              <a:gd name="connsiteY6-254" fmla="*/ 1203955 h 4032265"/>
              <a:gd name="connsiteX7-255" fmla="*/ 2887980 w 7729139"/>
              <a:gd name="connsiteY7-256" fmla="*/ 1203955 h 4032265"/>
              <a:gd name="connsiteX0-257" fmla="*/ 2887980 w 7729139"/>
              <a:gd name="connsiteY0-258" fmla="*/ 1203955 h 4032265"/>
              <a:gd name="connsiteX1-259" fmla="*/ 3878580 w 7729139"/>
              <a:gd name="connsiteY1-260" fmla="*/ 0 h 4032265"/>
              <a:gd name="connsiteX2-261" fmla="*/ 4869180 w 7729139"/>
              <a:gd name="connsiteY2-262" fmla="*/ 1203955 h 4032265"/>
              <a:gd name="connsiteX3-263" fmla="*/ 4373880 w 7729139"/>
              <a:gd name="connsiteY3-264" fmla="*/ 1203955 h 4032265"/>
              <a:gd name="connsiteX4-265" fmla="*/ 7729139 w 7729139"/>
              <a:gd name="connsiteY4-266" fmla="*/ 4032265 h 4032265"/>
              <a:gd name="connsiteX5-267" fmla="*/ 0 w 7729139"/>
              <a:gd name="connsiteY5-268" fmla="*/ 4027841 h 4032265"/>
              <a:gd name="connsiteX6-269" fmla="*/ 3383280 w 7729139"/>
              <a:gd name="connsiteY6-270" fmla="*/ 1203955 h 4032265"/>
              <a:gd name="connsiteX7-271" fmla="*/ 2887980 w 7729139"/>
              <a:gd name="connsiteY7-272" fmla="*/ 1203955 h 4032265"/>
              <a:gd name="connsiteX0-273" fmla="*/ 2887980 w 7729139"/>
              <a:gd name="connsiteY0-274" fmla="*/ 1203955 h 4032265"/>
              <a:gd name="connsiteX1-275" fmla="*/ 3878580 w 7729139"/>
              <a:gd name="connsiteY1-276" fmla="*/ 0 h 4032265"/>
              <a:gd name="connsiteX2-277" fmla="*/ 4869180 w 7729139"/>
              <a:gd name="connsiteY2-278" fmla="*/ 1203955 h 4032265"/>
              <a:gd name="connsiteX3-279" fmla="*/ 4373880 w 7729139"/>
              <a:gd name="connsiteY3-280" fmla="*/ 1203955 h 4032265"/>
              <a:gd name="connsiteX4-281" fmla="*/ 7729139 w 7729139"/>
              <a:gd name="connsiteY4-282" fmla="*/ 4032265 h 4032265"/>
              <a:gd name="connsiteX5-283" fmla="*/ 0 w 7729139"/>
              <a:gd name="connsiteY5-284" fmla="*/ 4027841 h 4032265"/>
              <a:gd name="connsiteX6-285" fmla="*/ 3383280 w 7729139"/>
              <a:gd name="connsiteY6-286" fmla="*/ 1203955 h 4032265"/>
              <a:gd name="connsiteX7-287" fmla="*/ 2887980 w 7729139"/>
              <a:gd name="connsiteY7-288" fmla="*/ 1203955 h 4032265"/>
              <a:gd name="connsiteX0-289" fmla="*/ 2887980 w 7729139"/>
              <a:gd name="connsiteY0-290" fmla="*/ 1203955 h 4032265"/>
              <a:gd name="connsiteX1-291" fmla="*/ 3878580 w 7729139"/>
              <a:gd name="connsiteY1-292" fmla="*/ 0 h 4032265"/>
              <a:gd name="connsiteX2-293" fmla="*/ 4869180 w 7729139"/>
              <a:gd name="connsiteY2-294" fmla="*/ 1203955 h 4032265"/>
              <a:gd name="connsiteX3-295" fmla="*/ 4373880 w 7729139"/>
              <a:gd name="connsiteY3-296" fmla="*/ 1203955 h 4032265"/>
              <a:gd name="connsiteX4-297" fmla="*/ 7729139 w 7729139"/>
              <a:gd name="connsiteY4-298" fmla="*/ 4032265 h 4032265"/>
              <a:gd name="connsiteX5-299" fmla="*/ 0 w 7729139"/>
              <a:gd name="connsiteY5-300" fmla="*/ 4027841 h 4032265"/>
              <a:gd name="connsiteX6-301" fmla="*/ 3383280 w 7729139"/>
              <a:gd name="connsiteY6-302" fmla="*/ 1203955 h 4032265"/>
              <a:gd name="connsiteX7-303" fmla="*/ 2887980 w 7729139"/>
              <a:gd name="connsiteY7-304" fmla="*/ 1203955 h 4032265"/>
              <a:gd name="connsiteX0-305" fmla="*/ 2887980 w 7729139"/>
              <a:gd name="connsiteY0-306" fmla="*/ 1203955 h 4032265"/>
              <a:gd name="connsiteX1-307" fmla="*/ 3878580 w 7729139"/>
              <a:gd name="connsiteY1-308" fmla="*/ 0 h 4032265"/>
              <a:gd name="connsiteX2-309" fmla="*/ 4869180 w 7729139"/>
              <a:gd name="connsiteY2-310" fmla="*/ 1203955 h 4032265"/>
              <a:gd name="connsiteX3-311" fmla="*/ 4373880 w 7729139"/>
              <a:gd name="connsiteY3-312" fmla="*/ 1203955 h 4032265"/>
              <a:gd name="connsiteX4-313" fmla="*/ 7729139 w 7729139"/>
              <a:gd name="connsiteY4-314" fmla="*/ 4032265 h 4032265"/>
              <a:gd name="connsiteX5-315" fmla="*/ 0 w 7729139"/>
              <a:gd name="connsiteY5-316" fmla="*/ 4027841 h 4032265"/>
              <a:gd name="connsiteX6-317" fmla="*/ 3383280 w 7729139"/>
              <a:gd name="connsiteY6-318" fmla="*/ 1203955 h 4032265"/>
              <a:gd name="connsiteX7-319" fmla="*/ 2887980 w 7729139"/>
              <a:gd name="connsiteY7-320" fmla="*/ 1203955 h 4032265"/>
              <a:gd name="connsiteX0-321" fmla="*/ 2887980 w 7729139"/>
              <a:gd name="connsiteY0-322" fmla="*/ 1203955 h 4032265"/>
              <a:gd name="connsiteX1-323" fmla="*/ 3878580 w 7729139"/>
              <a:gd name="connsiteY1-324" fmla="*/ 0 h 4032265"/>
              <a:gd name="connsiteX2-325" fmla="*/ 4869180 w 7729139"/>
              <a:gd name="connsiteY2-326" fmla="*/ 1203955 h 4032265"/>
              <a:gd name="connsiteX3-327" fmla="*/ 4373880 w 7729139"/>
              <a:gd name="connsiteY3-328" fmla="*/ 1203955 h 4032265"/>
              <a:gd name="connsiteX4-329" fmla="*/ 7729139 w 7729139"/>
              <a:gd name="connsiteY4-330" fmla="*/ 4032265 h 4032265"/>
              <a:gd name="connsiteX5-331" fmla="*/ 0 w 7729139"/>
              <a:gd name="connsiteY5-332" fmla="*/ 4027841 h 4032265"/>
              <a:gd name="connsiteX6-333" fmla="*/ 3383280 w 7729139"/>
              <a:gd name="connsiteY6-334" fmla="*/ 1203955 h 4032265"/>
              <a:gd name="connsiteX7-335" fmla="*/ 2887980 w 7729139"/>
              <a:gd name="connsiteY7-336" fmla="*/ 1203955 h 4032265"/>
              <a:gd name="connsiteX0-337" fmla="*/ 2887980 w 7729139"/>
              <a:gd name="connsiteY0-338" fmla="*/ 1203955 h 4032265"/>
              <a:gd name="connsiteX1-339" fmla="*/ 3878580 w 7729139"/>
              <a:gd name="connsiteY1-340" fmla="*/ 0 h 4032265"/>
              <a:gd name="connsiteX2-341" fmla="*/ 4869180 w 7729139"/>
              <a:gd name="connsiteY2-342" fmla="*/ 1203955 h 4032265"/>
              <a:gd name="connsiteX3-343" fmla="*/ 4373880 w 7729139"/>
              <a:gd name="connsiteY3-344" fmla="*/ 1203955 h 4032265"/>
              <a:gd name="connsiteX4-345" fmla="*/ 7729139 w 7729139"/>
              <a:gd name="connsiteY4-346" fmla="*/ 4032265 h 4032265"/>
              <a:gd name="connsiteX5-347" fmla="*/ 0 w 7729139"/>
              <a:gd name="connsiteY5-348" fmla="*/ 4027841 h 4032265"/>
              <a:gd name="connsiteX6-349" fmla="*/ 3383280 w 7729139"/>
              <a:gd name="connsiteY6-350" fmla="*/ 1203955 h 4032265"/>
              <a:gd name="connsiteX7-351" fmla="*/ 2887980 w 7729139"/>
              <a:gd name="connsiteY7-352" fmla="*/ 1203955 h 4032265"/>
              <a:gd name="connsiteX0-353" fmla="*/ 2887980 w 7729139"/>
              <a:gd name="connsiteY0-354" fmla="*/ 1203955 h 4032265"/>
              <a:gd name="connsiteX1-355" fmla="*/ 3878580 w 7729139"/>
              <a:gd name="connsiteY1-356" fmla="*/ 0 h 4032265"/>
              <a:gd name="connsiteX2-357" fmla="*/ 4869180 w 7729139"/>
              <a:gd name="connsiteY2-358" fmla="*/ 1203955 h 4032265"/>
              <a:gd name="connsiteX3-359" fmla="*/ 4373880 w 7729139"/>
              <a:gd name="connsiteY3-360" fmla="*/ 1203955 h 4032265"/>
              <a:gd name="connsiteX4-361" fmla="*/ 7729139 w 7729139"/>
              <a:gd name="connsiteY4-362" fmla="*/ 4032265 h 4032265"/>
              <a:gd name="connsiteX5-363" fmla="*/ 0 w 7729139"/>
              <a:gd name="connsiteY5-364" fmla="*/ 4027841 h 4032265"/>
              <a:gd name="connsiteX6-365" fmla="*/ 3383280 w 7729139"/>
              <a:gd name="connsiteY6-366" fmla="*/ 1203955 h 4032265"/>
              <a:gd name="connsiteX7-367" fmla="*/ 2887980 w 7729139"/>
              <a:gd name="connsiteY7-368" fmla="*/ 1203955 h 4032265"/>
              <a:gd name="connsiteX0-369" fmla="*/ 2887980 w 7729139"/>
              <a:gd name="connsiteY0-370" fmla="*/ 1203955 h 4032265"/>
              <a:gd name="connsiteX1-371" fmla="*/ 3878580 w 7729139"/>
              <a:gd name="connsiteY1-372" fmla="*/ 0 h 4032265"/>
              <a:gd name="connsiteX2-373" fmla="*/ 4869180 w 7729139"/>
              <a:gd name="connsiteY2-374" fmla="*/ 1203955 h 4032265"/>
              <a:gd name="connsiteX3-375" fmla="*/ 4373880 w 7729139"/>
              <a:gd name="connsiteY3-376" fmla="*/ 1203955 h 4032265"/>
              <a:gd name="connsiteX4-377" fmla="*/ 7729139 w 7729139"/>
              <a:gd name="connsiteY4-378" fmla="*/ 4032265 h 4032265"/>
              <a:gd name="connsiteX5-379" fmla="*/ 0 w 7729139"/>
              <a:gd name="connsiteY5-380" fmla="*/ 4027841 h 4032265"/>
              <a:gd name="connsiteX6-381" fmla="*/ 3383280 w 7729139"/>
              <a:gd name="connsiteY6-382" fmla="*/ 1203955 h 4032265"/>
              <a:gd name="connsiteX7-383" fmla="*/ 2887980 w 7729139"/>
              <a:gd name="connsiteY7-384" fmla="*/ 1203955 h 403226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7729139" h="4032265">
                <a:moveTo>
                  <a:pt x="2887980" y="1203955"/>
                </a:moveTo>
                <a:lnTo>
                  <a:pt x="3878580" y="0"/>
                </a:lnTo>
                <a:lnTo>
                  <a:pt x="4869180" y="1203955"/>
                </a:lnTo>
                <a:lnTo>
                  <a:pt x="4373880" y="1203955"/>
                </a:lnTo>
                <a:cubicBezTo>
                  <a:pt x="4425500" y="2512485"/>
                  <a:pt x="5772519" y="3394295"/>
                  <a:pt x="7729139" y="4032265"/>
                </a:cubicBezTo>
                <a:lnTo>
                  <a:pt x="0" y="4027841"/>
                </a:lnTo>
                <a:cubicBezTo>
                  <a:pt x="2118360" y="3376106"/>
                  <a:pt x="3368040" y="2511010"/>
                  <a:pt x="3383280" y="1203955"/>
                </a:cubicBezTo>
                <a:lnTo>
                  <a:pt x="2887980" y="1203955"/>
                </a:lnTo>
                <a:close/>
              </a:path>
            </a:pathLst>
          </a:custGeom>
          <a:gradFill flip="none" rotWithShape="1">
            <a:gsLst>
              <a:gs pos="100000">
                <a:srgbClr val="0268FE"/>
              </a:gs>
              <a:gs pos="0">
                <a:srgbClr val="0268FE">
                  <a:lumMod val="75000"/>
                  <a:lumOff val="25000"/>
                  <a:alpha val="0"/>
                </a:srgbClr>
              </a:gs>
            </a:gsLst>
            <a:lin ang="1620000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p:txBody>
      </p:sp>
      <p:sp>
        <p:nvSpPr>
          <p:cNvPr id="27" name="矩形: 圆角 26">
            <a:extLst>
              <a:ext uri="{FF2B5EF4-FFF2-40B4-BE49-F238E27FC236}">
                <a16:creationId xmlns:a16="http://schemas.microsoft.com/office/drawing/2014/main" id="{D453C340-D019-8EBA-9EBC-807B365F9505}"/>
              </a:ext>
            </a:extLst>
          </p:cNvPr>
          <p:cNvSpPr/>
          <p:nvPr/>
        </p:nvSpPr>
        <p:spPr>
          <a:xfrm>
            <a:off x="339090" y="1789430"/>
            <a:ext cx="11513820" cy="1320800"/>
          </a:xfrm>
          <a:prstGeom prst="roundRect">
            <a:avLst>
              <a:gd name="adj" fmla="val 2873"/>
            </a:avLst>
          </a:prstGeom>
          <a:noFill/>
          <a:ln w="12700" cap="flat" cmpd="sng" algn="ctr">
            <a:gradFill>
              <a:gsLst>
                <a:gs pos="0">
                  <a:schemeClr val="tx2">
                    <a:lumMod val="60000"/>
                    <a:lumOff val="40000"/>
                  </a:schemeClr>
                </a:gs>
                <a:gs pos="74000">
                  <a:schemeClr val="tx2">
                    <a:lumMod val="60000"/>
                    <a:lumOff val="40000"/>
                  </a:schemeClr>
                </a:gs>
                <a:gs pos="87000">
                  <a:schemeClr val="tx2">
                    <a:lumMod val="75000"/>
                  </a:schemeClr>
                </a:gs>
                <a:gs pos="100000">
                  <a:schemeClr val="tx2">
                    <a:lumMod val="50000"/>
                  </a:schemeClr>
                </a:gs>
              </a:gsLst>
              <a:lin ang="5400000" scaled="1"/>
            </a:gradFill>
            <a:prstDash val="lgDash"/>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28" name="矩形 27">
            <a:extLst>
              <a:ext uri="{FF2B5EF4-FFF2-40B4-BE49-F238E27FC236}">
                <a16:creationId xmlns:a16="http://schemas.microsoft.com/office/drawing/2014/main" id="{60EC403A-613F-66FE-1396-EA1AA85F1EBA}"/>
              </a:ext>
            </a:extLst>
          </p:cNvPr>
          <p:cNvSpPr/>
          <p:nvPr/>
        </p:nvSpPr>
        <p:spPr>
          <a:xfrm>
            <a:off x="523239" y="1541780"/>
            <a:ext cx="1701800" cy="444500"/>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29" name="文本框 28">
            <a:extLst>
              <a:ext uri="{FF2B5EF4-FFF2-40B4-BE49-F238E27FC236}">
                <a16:creationId xmlns:a16="http://schemas.microsoft.com/office/drawing/2014/main" id="{5A7787C2-FECC-0C1B-0510-D83968845892}"/>
              </a:ext>
            </a:extLst>
          </p:cNvPr>
          <p:cNvSpPr txBox="1"/>
          <p:nvPr/>
        </p:nvSpPr>
        <p:spPr>
          <a:xfrm>
            <a:off x="523240" y="1615439"/>
            <a:ext cx="2540000" cy="369332"/>
          </a:xfrm>
          <a:prstGeom prst="rect">
            <a:avLst/>
          </a:prstGeom>
          <a:noFill/>
        </p:spPr>
        <p:txBody>
          <a:bodyPr wrap="square" rtlCol="0">
            <a:spAutoFit/>
          </a:bodyPr>
          <a:lstStyle/>
          <a:p>
            <a:pPr defTabSz="457200" fontAlgn="auto">
              <a:spcBef>
                <a:spcPts val="0"/>
              </a:spcBef>
              <a:spcAft>
                <a:spcPts val="0"/>
              </a:spcAft>
            </a:pPr>
            <a:r>
              <a:rPr kumimoji="0" lang="en-US" altLang="zh-CN">
                <a:solidFill>
                  <a:srgbClr val="E7E6E6"/>
                </a:solidFill>
                <a:latin typeface="Times New Roman" panose="02020603050405020304" pitchFamily="18" charset="0"/>
                <a:ea typeface="等线" panose="02010600030101010101" pitchFamily="2" charset="-122"/>
                <a:cs typeface="Times New Roman" panose="02020603050405020304" pitchFamily="18" charset="0"/>
              </a:rPr>
              <a:t>BACKGROUND</a:t>
            </a:r>
            <a:endParaRPr kumimoji="0" lang="zh-CN" altLang="en-US" dirty="0">
              <a:solidFill>
                <a:srgbClr val="E7E6E6"/>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30" name="文本框 29">
            <a:extLst>
              <a:ext uri="{FF2B5EF4-FFF2-40B4-BE49-F238E27FC236}">
                <a16:creationId xmlns:a16="http://schemas.microsoft.com/office/drawing/2014/main" id="{11210E5E-2553-3656-E261-862D791F7F31}"/>
              </a:ext>
            </a:extLst>
          </p:cNvPr>
          <p:cNvSpPr txBox="1"/>
          <p:nvPr/>
        </p:nvSpPr>
        <p:spPr>
          <a:xfrm>
            <a:off x="478790" y="1545590"/>
            <a:ext cx="1968500" cy="369570"/>
          </a:xfrm>
          <a:prstGeom prst="rect">
            <a:avLst/>
          </a:prstGeom>
          <a:noFill/>
        </p:spPr>
        <p:txBody>
          <a:bodyPr wrap="square" rtlCol="0">
            <a:spAutoFit/>
          </a:bodyPr>
          <a:lstStyle/>
          <a:p>
            <a:pPr defTabSz="457200" fontAlgn="auto">
              <a:spcBef>
                <a:spcPts val="0"/>
              </a:spcBef>
              <a:spcAft>
                <a:spcPts val="0"/>
              </a:spcAft>
            </a:pPr>
            <a:r>
              <a:rPr kumimoji="0" lang="zh-CN" altLang="en-US" sz="1800" b="0" dirty="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rPr>
              <a:t>动机</a:t>
            </a:r>
            <a:endParaRPr kumimoji="0" lang="zh-CN" altLang="en-US" b="0" dirty="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31" name="文本框 30">
            <a:extLst>
              <a:ext uri="{FF2B5EF4-FFF2-40B4-BE49-F238E27FC236}">
                <a16:creationId xmlns:a16="http://schemas.microsoft.com/office/drawing/2014/main" id="{D5D6AABF-6E09-9FC5-4E13-DDAEC4A6DEAA}"/>
              </a:ext>
            </a:extLst>
          </p:cNvPr>
          <p:cNvSpPr txBox="1"/>
          <p:nvPr/>
        </p:nvSpPr>
        <p:spPr>
          <a:xfrm>
            <a:off x="622300" y="2146300"/>
            <a:ext cx="10922000" cy="276999"/>
          </a:xfrm>
          <a:prstGeom prst="rect">
            <a:avLst/>
          </a:prstGeom>
          <a:noFill/>
        </p:spPr>
        <p:txBody>
          <a:bodyPr vert="horz" wrap="square" lIns="0" tIns="0" rIns="0" bIns="0" rtlCol="0">
            <a:noAutofit/>
          </a:bodyPr>
          <a:lstStyle/>
          <a:p>
            <a:r>
              <a:rPr lang="zh-CN" altLang="en-US">
                <a:latin typeface="Microsoft YaHei"/>
              </a:rPr>
              <a:t>验证一种新的参数估计方法，需要明确：</a:t>
            </a:r>
            <a:endParaRPr lang="zh-CN" altLang="en-US" dirty="0">
              <a:solidFill>
                <a:srgbClr val="000000"/>
              </a:solidFill>
              <a:latin typeface="等线" panose="02010600030101010101" pitchFamily="2" charset="-122"/>
              <a:ea typeface="等线" panose="02010600030101010101" pitchFamily="2" charset="-122"/>
            </a:endParaRPr>
          </a:p>
        </p:txBody>
      </p:sp>
      <p:sp>
        <p:nvSpPr>
          <p:cNvPr id="32" name="文本框 31">
            <a:extLst>
              <a:ext uri="{FF2B5EF4-FFF2-40B4-BE49-F238E27FC236}">
                <a16:creationId xmlns:a16="http://schemas.microsoft.com/office/drawing/2014/main" id="{A9951AA7-569E-0C9E-F246-0DADC39A6FC1}"/>
              </a:ext>
            </a:extLst>
          </p:cNvPr>
          <p:cNvSpPr txBox="1"/>
          <p:nvPr/>
        </p:nvSpPr>
        <p:spPr>
          <a:xfrm>
            <a:off x="622300" y="2654300"/>
            <a:ext cx="10922000" cy="276999"/>
          </a:xfrm>
          <a:prstGeom prst="rect">
            <a:avLst/>
          </a:prstGeom>
          <a:noFill/>
        </p:spPr>
        <p:txBody>
          <a:bodyPr vert="horz" wrap="square" lIns="0" tIns="0" rIns="0" bIns="0" rtlCol="0">
            <a:noAutofit/>
          </a:bodyPr>
          <a:lstStyle/>
          <a:p>
            <a:r>
              <a:rPr lang="zh-CN" altLang="en-US">
                <a:solidFill>
                  <a:srgbClr val="154F8C"/>
                </a:solidFill>
                <a:latin typeface="Microsoft YaHei"/>
              </a:rPr>
              <a:t>与哪些方法比较？为什么选它们？具体采用哪个版本？</a:t>
            </a:r>
            <a:endParaRPr lang="zh-CN" altLang="en-US" dirty="0">
              <a:solidFill>
                <a:srgbClr val="2F5597"/>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5654566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400" b="1" spc="-150">
                <a:solidFill>
                  <a:srgbClr val="FFFFFF"/>
                </a:solidFill>
                <a:latin typeface="汉仪文润宋韵 U"/>
                <a:ea typeface="汉仪文润宋韵 U"/>
                <a:cs typeface="汉仪文润宋韵 U"/>
              </a:rPr>
              <a:t>方法体系：先分清估计依据</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已有方法及其发展关系</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01</a:t>
            </a:r>
            <a:endParaRPr sz="1800">
              <a:latin typeface="Microsoft YaHei"/>
            </a:endParaRPr>
          </a:p>
        </p:txBody>
      </p:sp>
      <p:sp>
        <p:nvSpPr>
          <p:cNvPr id="11" name="文本框 10">
            <a:extLst>
              <a:ext uri="{FF2B5EF4-FFF2-40B4-BE49-F238E27FC236}">
                <a16:creationId xmlns:a16="http://schemas.microsoft.com/office/drawing/2014/main" id="{311F793F-B739-70D4-DC6E-BBDA191CB736}"/>
              </a:ext>
            </a:extLst>
          </p:cNvPr>
          <p:cNvSpPr txBox="1"/>
          <p:nvPr/>
        </p:nvSpPr>
        <p:spPr>
          <a:xfrm>
            <a:off x="622300" y="1676400"/>
            <a:ext cx="10922000" cy="558800"/>
          </a:xfrm>
          <a:prstGeom prst="rect">
            <a:avLst/>
          </a:prstGeom>
          <a:noFill/>
        </p:spPr>
        <p:txBody>
          <a:bodyPr vert="horz" wrap="square" lIns="0" tIns="0" rIns="0" bIns="0" rtlCol="0">
            <a:noAutofit/>
          </a:bodyPr>
          <a:lstStyle/>
          <a:p>
            <a:pPr>
              <a:lnSpc>
                <a:spcPts val="2340"/>
              </a:lnSpc>
            </a:pPr>
            <a:r>
              <a:rPr lang="zh-CN" altLang="en-US">
                <a:solidFill>
                  <a:srgbClr val="2F6096"/>
                </a:solidFill>
                <a:latin typeface="Microsoft YaHei" panose="020B0503020204020204" pitchFamily="34" charset="-122"/>
                <a:ea typeface="微软雅黑" panose="020B0503020204020204" pitchFamily="34" charset="-122"/>
              </a:rPr>
              <a:t>分类用于辨认差异，不直接给出性能排名。</a:t>
            </a:r>
          </a:p>
        </p:txBody>
      </p:sp>
      <p:sp>
        <p:nvSpPr>
          <p:cNvPr id="12" name="文本框 11">
            <a:extLst>
              <a:ext uri="{FF2B5EF4-FFF2-40B4-BE49-F238E27FC236}">
                <a16:creationId xmlns:a16="http://schemas.microsoft.com/office/drawing/2014/main" id="{2AD966A0-E2CD-641E-06AA-8AE5AFF0806E}"/>
              </a:ext>
            </a:extLst>
          </p:cNvPr>
          <p:cNvSpPr txBox="1"/>
          <p:nvPr/>
        </p:nvSpPr>
        <p:spPr>
          <a:xfrm>
            <a:off x="622300" y="5981700"/>
            <a:ext cx="10922000" cy="508000"/>
          </a:xfrm>
          <a:prstGeom prst="rect">
            <a:avLst/>
          </a:prstGeom>
          <a:noFill/>
        </p:spPr>
        <p:txBody>
          <a:bodyPr vert="horz" wrap="square" lIns="0" tIns="0" rIns="0" bIns="0" rtlCol="0">
            <a:noAutofit/>
          </a:bodyPr>
          <a:lstStyle/>
          <a:p>
            <a:pPr>
              <a:lnSpc>
                <a:spcPts val="2210"/>
              </a:lnSpc>
            </a:pPr>
            <a:r>
              <a:rPr lang="zh-CN" altLang="en-US" sz="1700" b="1">
                <a:solidFill>
                  <a:srgbClr val="2F6096"/>
                </a:solidFill>
                <a:latin typeface="Microsoft YaHei" panose="020B0503020204020204" pitchFamily="34" charset="-122"/>
                <a:ea typeface="微软雅黑" panose="020B0503020204020204" pitchFamily="34" charset="-122"/>
              </a:rPr>
              <a:t>经典参照主要覆盖前四类；组合估计和学习映射还需说明完整构造。</a:t>
            </a:r>
          </a:p>
        </p:txBody>
      </p:sp>
      <p:graphicFrame>
        <p:nvGraphicFramePr>
          <p:cNvPr id="13" name="表格 12">
            <a:extLst>
              <a:ext uri="{FF2B5EF4-FFF2-40B4-BE49-F238E27FC236}">
                <a16:creationId xmlns:a16="http://schemas.microsoft.com/office/drawing/2014/main" id="{9D9C47B1-EB14-ECC6-32EB-AB9690179E06}"/>
              </a:ext>
            </a:extLst>
          </p:cNvPr>
          <p:cNvGraphicFramePr>
            <a:graphicFrameLocks noGrp="1"/>
          </p:cNvGraphicFramePr>
          <p:nvPr>
            <p:extLst>
              <p:ext uri="{D42A27DB-BD31-4B8C-83A1-F6EECF244321}">
                <p14:modId xmlns:p14="http://schemas.microsoft.com/office/powerpoint/2010/main" val="940295078"/>
              </p:ext>
            </p:extLst>
          </p:nvPr>
        </p:nvGraphicFramePr>
        <p:xfrm>
          <a:off x="622300" y="2413000"/>
          <a:ext cx="10922000" cy="3301998"/>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532456774"/>
                    </a:ext>
                  </a:extLst>
                </a:gridCol>
                <a:gridCol w="3149600">
                  <a:extLst>
                    <a:ext uri="{9D8B030D-6E8A-4147-A177-3AD203B41FA5}">
                      <a16:colId xmlns:a16="http://schemas.microsoft.com/office/drawing/2014/main" val="3179615699"/>
                    </a:ext>
                  </a:extLst>
                </a:gridCol>
                <a:gridCol w="5105400">
                  <a:extLst>
                    <a:ext uri="{9D8B030D-6E8A-4147-A177-3AD203B41FA5}">
                      <a16:colId xmlns:a16="http://schemas.microsoft.com/office/drawing/2014/main" val="1847047489"/>
                    </a:ext>
                  </a:extLst>
                </a:gridCol>
              </a:tblGrid>
              <a:tr h="550333">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估计依据</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代表方法</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依据什么确定参数</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extLst>
                  <a:ext uri="{0D108BD9-81ED-4DB2-BD59-A6C34878D82A}">
                    <a16:rowId xmlns:a16="http://schemas.microsoft.com/office/drawing/2014/main" val="3466218001"/>
                  </a:ext>
                </a:extLst>
              </a:tr>
              <a:tr h="550333">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似然及其修正</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MLE</a:t>
                      </a:r>
                      <a:r>
                        <a:rPr lang="zh-CN" altLang="en-US" sz="1600" b="0">
                          <a:solidFill>
                            <a:srgbClr val="000000"/>
                          </a:solidFill>
                          <a:latin typeface="Microsoft YaHei" panose="020B0503020204020204" pitchFamily="34" charset="-122"/>
                          <a:ea typeface="微软雅黑" panose="020B0503020204020204" pitchFamily="34" charset="-122"/>
                        </a:rPr>
                        <a:t>、</a:t>
                      </a:r>
                      <a:r>
                        <a:rPr lang="en-US" altLang="zh-CN" sz="1600" b="0">
                          <a:solidFill>
                            <a:srgbClr val="000000"/>
                          </a:solidFill>
                          <a:latin typeface="Microsoft YaHei" panose="020B0503020204020204" pitchFamily="34" charset="-122"/>
                          <a:ea typeface="微软雅黑" panose="020B0503020204020204" pitchFamily="34" charset="-122"/>
                        </a:rPr>
                        <a:t>WMLE</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样本密度或相关估计方程</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2830390024"/>
                  </a:ext>
                </a:extLst>
              </a:tr>
              <a:tr h="550333">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概率图与相关回归</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LS</a:t>
                      </a:r>
                      <a:r>
                        <a:rPr lang="zh-CN" altLang="en-US" sz="1600" b="0">
                          <a:solidFill>
                            <a:srgbClr val="000000"/>
                          </a:solidFill>
                          <a:latin typeface="Microsoft YaHei" panose="020B0503020204020204" pitchFamily="34" charset="-122"/>
                          <a:ea typeface="微软雅黑" panose="020B0503020204020204" pitchFamily="34" charset="-122"/>
                        </a:rPr>
                        <a:t>、</a:t>
                      </a:r>
                      <a:r>
                        <a:rPr lang="en-US" altLang="zh-CN" sz="1600" b="0">
                          <a:solidFill>
                            <a:srgbClr val="000000"/>
                          </a:solidFill>
                          <a:latin typeface="Microsoft YaHei" panose="020B0503020204020204" pitchFamily="34" charset="-122"/>
                          <a:ea typeface="微软雅黑" panose="020B0503020204020204" pitchFamily="34" charset="-122"/>
                        </a:rPr>
                        <a:t>LRE</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变换后点的线性关系</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865231518"/>
                  </a:ext>
                </a:extLst>
              </a:tr>
              <a:tr h="550333">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统计量匹配</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MM</a:t>
                      </a:r>
                      <a:r>
                        <a:rPr lang="zh-CN" altLang="en-US" sz="1600" b="0">
                          <a:solidFill>
                            <a:srgbClr val="000000"/>
                          </a:solidFill>
                          <a:latin typeface="Microsoft YaHei" panose="020B0503020204020204" pitchFamily="34" charset="-122"/>
                          <a:ea typeface="微软雅黑" panose="020B0503020204020204" pitchFamily="34" charset="-122"/>
                        </a:rPr>
                        <a:t>、</a:t>
                      </a:r>
                      <a:r>
                        <a:rPr lang="en-US" altLang="zh-CN" sz="1600" b="0">
                          <a:solidFill>
                            <a:srgbClr val="000000"/>
                          </a:solidFill>
                          <a:latin typeface="Microsoft YaHei" panose="020B0503020204020204" pitchFamily="34" charset="-122"/>
                          <a:ea typeface="微软雅黑" panose="020B0503020204020204" pitchFamily="34" charset="-122"/>
                        </a:rPr>
                        <a:t>PWM</a:t>
                      </a:r>
                      <a:r>
                        <a:rPr lang="zh-CN" altLang="en-US" sz="1600" b="0">
                          <a:solidFill>
                            <a:srgbClr val="000000"/>
                          </a:solidFill>
                          <a:latin typeface="Microsoft YaHei" panose="020B0503020204020204" pitchFamily="34" charset="-122"/>
                          <a:ea typeface="微软雅黑" panose="020B0503020204020204" pitchFamily="34" charset="-122"/>
                        </a:rPr>
                        <a:t>、</a:t>
                      </a:r>
                      <a:r>
                        <a:rPr lang="en-US" altLang="zh-CN" sz="1600" b="0">
                          <a:solidFill>
                            <a:srgbClr val="000000"/>
                          </a:solidFill>
                          <a:latin typeface="Microsoft YaHei" panose="020B0503020204020204" pitchFamily="34" charset="-122"/>
                          <a:ea typeface="微软雅黑" panose="020B0503020204020204" pitchFamily="34" charset="-122"/>
                        </a:rPr>
                        <a:t>L</a:t>
                      </a:r>
                      <a:r>
                        <a:rPr lang="zh-CN" altLang="en-US" sz="1600" b="0">
                          <a:solidFill>
                            <a:srgbClr val="000000"/>
                          </a:solidFill>
                          <a:latin typeface="Microsoft YaHei" panose="020B0503020204020204" pitchFamily="34" charset="-122"/>
                          <a:ea typeface="微软雅黑" panose="020B0503020204020204" pitchFamily="34" charset="-122"/>
                        </a:rPr>
                        <a:t>矩</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样本统计量与理论关系</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669113163"/>
                  </a:ext>
                </a:extLst>
              </a:tr>
              <a:tr h="550333">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概率间距</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MPS</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相邻观测的</a:t>
                      </a:r>
                      <a:r>
                        <a:rPr lang="en-US" altLang="zh-CN" sz="1600" b="0">
                          <a:solidFill>
                            <a:srgbClr val="000000"/>
                          </a:solidFill>
                          <a:latin typeface="Microsoft YaHei" panose="020B0503020204020204" pitchFamily="34" charset="-122"/>
                          <a:ea typeface="微软雅黑" panose="020B0503020204020204" pitchFamily="34" charset="-122"/>
                        </a:rPr>
                        <a:t>CDF</a:t>
                      </a:r>
                      <a:r>
                        <a:rPr lang="zh-CN" altLang="en-US" sz="1600" b="0">
                          <a:solidFill>
                            <a:srgbClr val="000000"/>
                          </a:solidFill>
                          <a:latin typeface="Microsoft YaHei" panose="020B0503020204020204" pitchFamily="34" charset="-122"/>
                          <a:ea typeface="微软雅黑" panose="020B0503020204020204" pitchFamily="34" charset="-122"/>
                        </a:rPr>
                        <a:t>概率间距</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438696600"/>
                  </a:ext>
                </a:extLst>
              </a:tr>
              <a:tr h="550333">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构造量差异</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MDM</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各观测反推尺度的一致性</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4070606349"/>
                  </a:ext>
                </a:extLst>
              </a:tr>
            </a:tbl>
          </a:graphicData>
        </a:graphic>
      </p:graphicFrame>
    </p:spTree>
    <p:extLst>
      <p:ext uri="{BB962C8B-B14F-4D97-AF65-F5344CB8AC3E}">
        <p14:creationId xmlns:p14="http://schemas.microsoft.com/office/powerpoint/2010/main" val="26155945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400" b="1" spc="-150">
                <a:solidFill>
                  <a:srgbClr val="FFFFFF"/>
                </a:solidFill>
                <a:latin typeface="汉仪文润宋韵 U"/>
                <a:ea typeface="汉仪文润宋韵 U"/>
                <a:cs typeface="汉仪文润宋韵 U"/>
              </a:rPr>
              <a:t>方法沿革：同一条路线形成不同分支</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已有方法及其发展关系</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01</a:t>
            </a:r>
            <a:endParaRPr sz="1800">
              <a:latin typeface="Microsoft YaHei"/>
            </a:endParaRPr>
          </a:p>
        </p:txBody>
      </p:sp>
      <p:sp>
        <p:nvSpPr>
          <p:cNvPr id="6" name="文本框 5">
            <a:extLst>
              <a:ext uri="{FF2B5EF4-FFF2-40B4-BE49-F238E27FC236}">
                <a16:creationId xmlns:a16="http://schemas.microsoft.com/office/drawing/2014/main" id="{0BEE63E6-672D-2DDD-A542-66204C9E25CA}"/>
              </a:ext>
            </a:extLst>
          </p:cNvPr>
          <p:cNvSpPr txBox="1"/>
          <p:nvPr/>
        </p:nvSpPr>
        <p:spPr>
          <a:xfrm>
            <a:off x="622300" y="1676400"/>
            <a:ext cx="10922000" cy="558800"/>
          </a:xfrm>
          <a:prstGeom prst="rect">
            <a:avLst/>
          </a:prstGeom>
          <a:noFill/>
        </p:spPr>
        <p:txBody>
          <a:bodyPr vert="horz" wrap="square" lIns="0" tIns="0" rIns="0" bIns="0" rtlCol="0">
            <a:noAutofit/>
          </a:bodyPr>
          <a:lstStyle/>
          <a:p>
            <a:pPr>
              <a:lnSpc>
                <a:spcPts val="2340"/>
              </a:lnSpc>
            </a:pPr>
            <a:r>
              <a:rPr lang="zh-CN" altLang="en-US">
                <a:solidFill>
                  <a:srgbClr val="2F6096"/>
                </a:solidFill>
                <a:latin typeface="Microsoft YaHei" panose="020B0503020204020204" pitchFamily="34" charset="-122"/>
                <a:ea typeface="微软雅黑" panose="020B0503020204020204" pitchFamily="34" charset="-122"/>
              </a:rPr>
              <a:t>后续构造针对具体困难，并非按年份逐代替代。</a:t>
            </a:r>
          </a:p>
        </p:txBody>
      </p:sp>
      <p:sp>
        <p:nvSpPr>
          <p:cNvPr id="7" name="文本框 6">
            <a:extLst>
              <a:ext uri="{FF2B5EF4-FFF2-40B4-BE49-F238E27FC236}">
                <a16:creationId xmlns:a16="http://schemas.microsoft.com/office/drawing/2014/main" id="{4D585CC9-CF3A-BFE0-373C-BD1AFC38547E}"/>
              </a:ext>
            </a:extLst>
          </p:cNvPr>
          <p:cNvSpPr txBox="1"/>
          <p:nvPr/>
        </p:nvSpPr>
        <p:spPr>
          <a:xfrm>
            <a:off x="622300" y="5981700"/>
            <a:ext cx="10922000" cy="508000"/>
          </a:xfrm>
          <a:prstGeom prst="rect">
            <a:avLst/>
          </a:prstGeom>
          <a:noFill/>
        </p:spPr>
        <p:txBody>
          <a:bodyPr vert="horz" wrap="square" lIns="0" tIns="0" rIns="0" bIns="0" rtlCol="0">
            <a:noAutofit/>
          </a:bodyPr>
          <a:lstStyle/>
          <a:p>
            <a:pPr>
              <a:lnSpc>
                <a:spcPts val="2210"/>
              </a:lnSpc>
            </a:pPr>
            <a:r>
              <a:rPr lang="zh-CN" altLang="en-US" sz="1700" b="1">
                <a:solidFill>
                  <a:srgbClr val="2F6096"/>
                </a:solidFill>
                <a:latin typeface="Microsoft YaHei" panose="020B0503020204020204" pitchFamily="34" charset="-122"/>
                <a:ea typeface="微软雅黑" panose="020B0503020204020204" pitchFamily="34" charset="-122"/>
              </a:rPr>
              <a:t>共同思想不等于直接继承；改变估计方程也不同于只更换求解器。</a:t>
            </a:r>
          </a:p>
        </p:txBody>
      </p:sp>
      <p:sp>
        <p:nvSpPr>
          <p:cNvPr id="8" name="文本框 7">
            <a:extLst>
              <a:ext uri="{FF2B5EF4-FFF2-40B4-BE49-F238E27FC236}">
                <a16:creationId xmlns:a16="http://schemas.microsoft.com/office/drawing/2014/main" id="{FC192E9D-2604-399A-2B55-4978565A5366}"/>
              </a:ext>
            </a:extLst>
          </p:cNvPr>
          <p:cNvSpPr txBox="1"/>
          <p:nvPr/>
        </p:nvSpPr>
        <p:spPr>
          <a:xfrm>
            <a:off x="622300" y="2590800"/>
            <a:ext cx="1397000" cy="381000"/>
          </a:xfrm>
          <a:prstGeom prst="rect">
            <a:avLst/>
          </a:prstGeom>
          <a:noFill/>
        </p:spPr>
        <p:txBody>
          <a:bodyPr vert="horz" wrap="square" lIns="0" tIns="0" rIns="0" bIns="0" rtlCol="0">
            <a:noAutofit/>
          </a:bodyPr>
          <a:lstStyle/>
          <a:p>
            <a:pPr>
              <a:lnSpc>
                <a:spcPts val="2470"/>
              </a:lnSpc>
            </a:pPr>
            <a:r>
              <a:rPr lang="zh-CN" altLang="en-US" sz="1900" b="1">
                <a:solidFill>
                  <a:srgbClr val="C55A11"/>
                </a:solidFill>
                <a:latin typeface="Microsoft YaHei" panose="020B0503020204020204" pitchFamily="34" charset="-122"/>
                <a:ea typeface="微软雅黑" panose="020B0503020204020204" pitchFamily="34" charset="-122"/>
              </a:rPr>
              <a:t>似然修正</a:t>
            </a:r>
          </a:p>
        </p:txBody>
      </p:sp>
      <p:sp>
        <p:nvSpPr>
          <p:cNvPr id="9" name="文本框 8">
            <a:extLst>
              <a:ext uri="{FF2B5EF4-FFF2-40B4-BE49-F238E27FC236}">
                <a16:creationId xmlns:a16="http://schemas.microsoft.com/office/drawing/2014/main" id="{D83415D0-3533-DB07-9F46-852A3894423B}"/>
              </a:ext>
            </a:extLst>
          </p:cNvPr>
          <p:cNvSpPr txBox="1"/>
          <p:nvPr/>
        </p:nvSpPr>
        <p:spPr>
          <a:xfrm>
            <a:off x="2222500" y="2451100"/>
            <a:ext cx="2921000" cy="812800"/>
          </a:xfrm>
          <a:prstGeom prst="rect">
            <a:avLst/>
          </a:prstGeom>
          <a:noFill/>
        </p:spPr>
        <p:txBody>
          <a:bodyPr vert="horz" wrap="square" lIns="0" tIns="0" rIns="0" bIns="0" rtlCol="0">
            <a:noAutofit/>
          </a:bodyPr>
          <a:lstStyle/>
          <a:p>
            <a:pPr>
              <a:lnSpc>
                <a:spcPts val="2470"/>
              </a:lnSpc>
            </a:pPr>
            <a:r>
              <a:rPr lang="en-US" altLang="zh-CN" sz="1900">
                <a:solidFill>
                  <a:srgbClr val="000000"/>
                </a:solidFill>
                <a:latin typeface="Microsoft YaHei" panose="020B0503020204020204" pitchFamily="34" charset="-122"/>
                <a:ea typeface="微软雅黑" panose="020B0503020204020204" pitchFamily="34" charset="-122"/>
              </a:rPr>
              <a:t>Jacquelin</a:t>
            </a:r>
            <a:r>
              <a:rPr lang="zh-CN" altLang="en-US" sz="1900">
                <a:solidFill>
                  <a:srgbClr val="000000"/>
                </a:solidFill>
                <a:latin typeface="Microsoft YaHei" panose="020B0503020204020204" pitchFamily="34" charset="-122"/>
                <a:ea typeface="微软雅黑" panose="020B0503020204020204" pitchFamily="34" charset="-122"/>
              </a:rPr>
              <a:t>（</a:t>
            </a:r>
            <a:r>
              <a:rPr lang="en-US" altLang="zh-CN" sz="1900">
                <a:solidFill>
                  <a:srgbClr val="000000"/>
                </a:solidFill>
                <a:latin typeface="Microsoft YaHei" panose="020B0503020204020204" pitchFamily="34" charset="-122"/>
                <a:ea typeface="微软雅黑" panose="020B0503020204020204" pitchFamily="34" charset="-122"/>
              </a:rPr>
              <a:t>1993</a:t>
            </a:r>
            <a:r>
              <a:rPr lang="zh-CN" altLang="en-US" sz="1900">
                <a:solidFill>
                  <a:srgbClr val="000000"/>
                </a:solidFill>
                <a:latin typeface="Microsoft YaHei" panose="020B0503020204020204" pitchFamily="34" charset="-122"/>
                <a:ea typeface="微软雅黑" panose="020B0503020204020204" pitchFamily="34" charset="-122"/>
              </a:rPr>
              <a:t>）</a:t>
            </a:r>
          </a:p>
          <a:p>
            <a:pPr>
              <a:lnSpc>
                <a:spcPts val="2470"/>
              </a:lnSpc>
            </a:pPr>
            <a:r>
              <a:rPr lang="zh-CN" altLang="en-US" sz="1900">
                <a:solidFill>
                  <a:srgbClr val="000000"/>
                </a:solidFill>
                <a:latin typeface="Microsoft YaHei" panose="020B0503020204020204" pitchFamily="34" charset="-122"/>
                <a:ea typeface="微软雅黑" panose="020B0503020204020204" pitchFamily="34" charset="-122"/>
              </a:rPr>
              <a:t>二参数构造</a:t>
            </a:r>
          </a:p>
        </p:txBody>
      </p:sp>
      <p:cxnSp>
        <p:nvCxnSpPr>
          <p:cNvPr id="10" name="直接连接符 9">
            <a:extLst>
              <a:ext uri="{FF2B5EF4-FFF2-40B4-BE49-F238E27FC236}">
                <a16:creationId xmlns:a16="http://schemas.microsoft.com/office/drawing/2014/main" id="{984F1601-073C-77BA-F01C-D70D7C6C5B5A}"/>
              </a:ext>
            </a:extLst>
          </p:cNvPr>
          <p:cNvCxnSpPr/>
          <p:nvPr/>
        </p:nvCxnSpPr>
        <p:spPr>
          <a:xfrm>
            <a:off x="5181600" y="2895600"/>
            <a:ext cx="1955800" cy="0"/>
          </a:xfrm>
          <a:prstGeom prst="line">
            <a:avLst/>
          </a:prstGeom>
          <a:ln w="17780">
            <a:solidFill>
              <a:srgbClr val="2F6096"/>
            </a:solidFill>
            <a:tailEnd type="arrow"/>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B6ECB9B2-D6A6-F36A-E588-C95E52C77CFB}"/>
              </a:ext>
            </a:extLst>
          </p:cNvPr>
          <p:cNvSpPr txBox="1"/>
          <p:nvPr/>
        </p:nvSpPr>
        <p:spPr>
          <a:xfrm>
            <a:off x="5130800" y="2476500"/>
            <a:ext cx="2387600" cy="317500"/>
          </a:xfrm>
          <a:prstGeom prst="rect">
            <a:avLst/>
          </a:prstGeom>
          <a:noFill/>
        </p:spPr>
        <p:txBody>
          <a:bodyPr vert="horz" wrap="square" lIns="0" tIns="0" rIns="0" bIns="0" rtlCol="0">
            <a:noAutofit/>
          </a:bodyPr>
          <a:lstStyle/>
          <a:p>
            <a:pPr>
              <a:lnSpc>
                <a:spcPts val="1950"/>
              </a:lnSpc>
            </a:pPr>
            <a:r>
              <a:rPr lang="zh-CN" altLang="en-US" sz="1500">
                <a:solidFill>
                  <a:srgbClr val="2F6096"/>
                </a:solidFill>
                <a:latin typeface="Microsoft YaHei" panose="020B0503020204020204" pitchFamily="34" charset="-122"/>
                <a:ea typeface="微软雅黑" panose="020B0503020204020204" pitchFamily="34" charset="-122"/>
              </a:rPr>
              <a:t>扩展＋有限样本修正</a:t>
            </a:r>
          </a:p>
        </p:txBody>
      </p:sp>
      <p:sp>
        <p:nvSpPr>
          <p:cNvPr id="15" name="文本框 14">
            <a:extLst>
              <a:ext uri="{FF2B5EF4-FFF2-40B4-BE49-F238E27FC236}">
                <a16:creationId xmlns:a16="http://schemas.microsoft.com/office/drawing/2014/main" id="{4B87EDD9-5919-C33D-3DEE-78440C0899CB}"/>
              </a:ext>
            </a:extLst>
          </p:cNvPr>
          <p:cNvSpPr txBox="1"/>
          <p:nvPr/>
        </p:nvSpPr>
        <p:spPr>
          <a:xfrm>
            <a:off x="7531100" y="2451100"/>
            <a:ext cx="3949700" cy="812800"/>
          </a:xfrm>
          <a:prstGeom prst="rect">
            <a:avLst/>
          </a:prstGeom>
          <a:noFill/>
        </p:spPr>
        <p:txBody>
          <a:bodyPr vert="horz" wrap="square" lIns="0" tIns="0" rIns="0" bIns="0" rtlCol="0">
            <a:noAutofit/>
          </a:bodyPr>
          <a:lstStyle/>
          <a:p>
            <a:pPr>
              <a:lnSpc>
                <a:spcPts val="2470"/>
              </a:lnSpc>
            </a:pPr>
            <a:r>
              <a:rPr lang="en-US" altLang="zh-CN" sz="1900" b="1">
                <a:solidFill>
                  <a:srgbClr val="2F6096"/>
                </a:solidFill>
                <a:latin typeface="Microsoft YaHei" panose="020B0503020204020204" pitchFamily="34" charset="-122"/>
                <a:ea typeface="微软雅黑" panose="020B0503020204020204" pitchFamily="34" charset="-122"/>
              </a:rPr>
              <a:t>Cousineau</a:t>
            </a:r>
            <a:r>
              <a:rPr lang="zh-CN" altLang="en-US" sz="1900" b="1">
                <a:solidFill>
                  <a:srgbClr val="2F6096"/>
                </a:solidFill>
                <a:latin typeface="Microsoft YaHei" panose="020B0503020204020204" pitchFamily="34" charset="-122"/>
                <a:ea typeface="微软雅黑" panose="020B0503020204020204" pitchFamily="34" charset="-122"/>
              </a:rPr>
              <a:t>（</a:t>
            </a:r>
            <a:r>
              <a:rPr lang="en-US" altLang="zh-CN" sz="1900" b="1">
                <a:solidFill>
                  <a:srgbClr val="2F6096"/>
                </a:solidFill>
                <a:latin typeface="Microsoft YaHei" panose="020B0503020204020204" pitchFamily="34" charset="-122"/>
                <a:ea typeface="微软雅黑" panose="020B0503020204020204" pitchFamily="34" charset="-122"/>
              </a:rPr>
              <a:t>2009</a:t>
            </a:r>
            <a:r>
              <a:rPr lang="zh-CN" altLang="en-US" sz="1900" b="1">
                <a:solidFill>
                  <a:srgbClr val="2F6096"/>
                </a:solidFill>
                <a:latin typeface="Microsoft YaHei" panose="020B0503020204020204" pitchFamily="34" charset="-122"/>
                <a:ea typeface="微软雅黑" panose="020B0503020204020204" pitchFamily="34" charset="-122"/>
              </a:rPr>
              <a:t>）</a:t>
            </a:r>
          </a:p>
          <a:p>
            <a:pPr>
              <a:lnSpc>
                <a:spcPts val="2470"/>
              </a:lnSpc>
            </a:pPr>
            <a:r>
              <a:rPr lang="en-US" altLang="zh-CN" sz="1900" b="1">
                <a:solidFill>
                  <a:srgbClr val="2F6096"/>
                </a:solidFill>
                <a:latin typeface="Microsoft YaHei" panose="020B0503020204020204" pitchFamily="34" charset="-122"/>
                <a:ea typeface="微软雅黑" panose="020B0503020204020204" pitchFamily="34" charset="-122"/>
              </a:rPr>
              <a:t>WMLE [182-088]</a:t>
            </a:r>
            <a:endParaRPr lang="zh-CN" altLang="en-US" sz="1900" b="1">
              <a:solidFill>
                <a:srgbClr val="2F6096"/>
              </a:solidFill>
              <a:latin typeface="Microsoft YaHei" panose="020B0503020204020204" pitchFamily="34" charset="-122"/>
              <a:ea typeface="微软雅黑" panose="020B0503020204020204" pitchFamily="34" charset="-122"/>
            </a:endParaRPr>
          </a:p>
        </p:txBody>
      </p:sp>
      <p:cxnSp>
        <p:nvCxnSpPr>
          <p:cNvPr id="16" name="直接连接符 15">
            <a:extLst>
              <a:ext uri="{FF2B5EF4-FFF2-40B4-BE49-F238E27FC236}">
                <a16:creationId xmlns:a16="http://schemas.microsoft.com/office/drawing/2014/main" id="{284EBEF0-66F5-C09C-35AD-33D0C2313C03}"/>
              </a:ext>
            </a:extLst>
          </p:cNvPr>
          <p:cNvCxnSpPr/>
          <p:nvPr/>
        </p:nvCxnSpPr>
        <p:spPr>
          <a:xfrm>
            <a:off x="622300" y="3556000"/>
            <a:ext cx="10922000" cy="0"/>
          </a:xfrm>
          <a:prstGeom prst="line">
            <a:avLst/>
          </a:prstGeom>
          <a:ln w="17780">
            <a:solidFill>
              <a:srgbClr val="2F6096"/>
            </a:solidFill>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290E5711-0D23-5B9A-5F80-9ED0E513EECE}"/>
              </a:ext>
            </a:extLst>
          </p:cNvPr>
          <p:cNvSpPr txBox="1"/>
          <p:nvPr/>
        </p:nvSpPr>
        <p:spPr>
          <a:xfrm>
            <a:off x="622300" y="4000500"/>
            <a:ext cx="1397000" cy="381000"/>
          </a:xfrm>
          <a:prstGeom prst="rect">
            <a:avLst/>
          </a:prstGeom>
          <a:noFill/>
        </p:spPr>
        <p:txBody>
          <a:bodyPr vert="horz" wrap="square" lIns="0" tIns="0" rIns="0" bIns="0" rtlCol="0">
            <a:noAutofit/>
          </a:bodyPr>
          <a:lstStyle/>
          <a:p>
            <a:pPr>
              <a:lnSpc>
                <a:spcPts val="2470"/>
              </a:lnSpc>
            </a:pPr>
            <a:r>
              <a:rPr lang="zh-CN" altLang="en-US" sz="1900" b="1">
                <a:solidFill>
                  <a:srgbClr val="C55A11"/>
                </a:solidFill>
                <a:latin typeface="Microsoft YaHei" panose="020B0503020204020204" pitchFamily="34" charset="-122"/>
                <a:ea typeface="微软雅黑" panose="020B0503020204020204" pitchFamily="34" charset="-122"/>
              </a:rPr>
              <a:t>概率图</a:t>
            </a:r>
          </a:p>
        </p:txBody>
      </p:sp>
      <p:sp>
        <p:nvSpPr>
          <p:cNvPr id="18" name="文本框 17">
            <a:extLst>
              <a:ext uri="{FF2B5EF4-FFF2-40B4-BE49-F238E27FC236}">
                <a16:creationId xmlns:a16="http://schemas.microsoft.com/office/drawing/2014/main" id="{9C4DE90F-8200-F260-96FA-4B638328185C}"/>
              </a:ext>
            </a:extLst>
          </p:cNvPr>
          <p:cNvSpPr txBox="1"/>
          <p:nvPr/>
        </p:nvSpPr>
        <p:spPr>
          <a:xfrm>
            <a:off x="2222500" y="3822700"/>
            <a:ext cx="2921000" cy="812800"/>
          </a:xfrm>
          <a:prstGeom prst="rect">
            <a:avLst/>
          </a:prstGeom>
          <a:noFill/>
        </p:spPr>
        <p:txBody>
          <a:bodyPr vert="horz" wrap="square" lIns="0" tIns="0" rIns="0" bIns="0" rtlCol="0">
            <a:noAutofit/>
          </a:bodyPr>
          <a:lstStyle/>
          <a:p>
            <a:pPr>
              <a:lnSpc>
                <a:spcPts val="2470"/>
              </a:lnSpc>
            </a:pPr>
            <a:r>
              <a:rPr lang="en-US" altLang="zh-CN" sz="1900">
                <a:solidFill>
                  <a:srgbClr val="000000"/>
                </a:solidFill>
                <a:latin typeface="Microsoft YaHei" panose="020B0503020204020204" pitchFamily="34" charset="-122"/>
                <a:ea typeface="微软雅黑" panose="020B0503020204020204" pitchFamily="34" charset="-122"/>
              </a:rPr>
              <a:t>White</a:t>
            </a:r>
            <a:r>
              <a:rPr lang="zh-CN" altLang="en-US" sz="1900">
                <a:solidFill>
                  <a:srgbClr val="000000"/>
                </a:solidFill>
                <a:latin typeface="Microsoft YaHei" panose="020B0503020204020204" pitchFamily="34" charset="-122"/>
                <a:ea typeface="微软雅黑" panose="020B0503020204020204" pitchFamily="34" charset="-122"/>
              </a:rPr>
              <a:t>（</a:t>
            </a:r>
            <a:r>
              <a:rPr lang="en-US" altLang="zh-CN" sz="1900">
                <a:solidFill>
                  <a:srgbClr val="000000"/>
                </a:solidFill>
                <a:latin typeface="Microsoft YaHei" panose="020B0503020204020204" pitchFamily="34" charset="-122"/>
                <a:ea typeface="微软雅黑" panose="020B0503020204020204" pitchFamily="34" charset="-122"/>
              </a:rPr>
              <a:t>1969</a:t>
            </a:r>
            <a:r>
              <a:rPr lang="zh-CN" altLang="en-US" sz="1900">
                <a:solidFill>
                  <a:srgbClr val="000000"/>
                </a:solidFill>
                <a:latin typeface="Microsoft YaHei" panose="020B0503020204020204" pitchFamily="34" charset="-122"/>
                <a:ea typeface="微软雅黑" panose="020B0503020204020204" pitchFamily="34" charset="-122"/>
              </a:rPr>
              <a:t>）</a:t>
            </a:r>
          </a:p>
          <a:p>
            <a:pPr>
              <a:lnSpc>
                <a:spcPts val="2470"/>
              </a:lnSpc>
            </a:pPr>
            <a:r>
              <a:rPr lang="zh-CN" altLang="en-US" sz="1900">
                <a:solidFill>
                  <a:srgbClr val="000000"/>
                </a:solidFill>
                <a:latin typeface="Microsoft YaHei" panose="020B0503020204020204" pitchFamily="34" charset="-122"/>
                <a:ea typeface="微软雅黑" panose="020B0503020204020204" pitchFamily="34" charset="-122"/>
              </a:rPr>
              <a:t>二参数</a:t>
            </a:r>
            <a:r>
              <a:rPr lang="en-US" altLang="zh-CN" sz="1900">
                <a:solidFill>
                  <a:srgbClr val="000000"/>
                </a:solidFill>
                <a:latin typeface="Microsoft YaHei" panose="020B0503020204020204" pitchFamily="34" charset="-122"/>
                <a:ea typeface="微软雅黑" panose="020B0503020204020204" pitchFamily="34" charset="-122"/>
              </a:rPr>
              <a:t>LS</a:t>
            </a:r>
            <a:r>
              <a:rPr lang="zh-CN" altLang="en-US" sz="1900">
                <a:solidFill>
                  <a:srgbClr val="000000"/>
                </a:solidFill>
                <a:latin typeface="Microsoft YaHei" panose="020B0503020204020204" pitchFamily="34" charset="-122"/>
                <a:ea typeface="微软雅黑" panose="020B0503020204020204" pitchFamily="34" charset="-122"/>
              </a:rPr>
              <a:t>背景</a:t>
            </a:r>
          </a:p>
        </p:txBody>
      </p:sp>
      <p:cxnSp>
        <p:nvCxnSpPr>
          <p:cNvPr id="19" name="直接连接符 18">
            <a:extLst>
              <a:ext uri="{FF2B5EF4-FFF2-40B4-BE49-F238E27FC236}">
                <a16:creationId xmlns:a16="http://schemas.microsoft.com/office/drawing/2014/main" id="{DFCCD9A0-7A6B-2C69-C016-1D10440C8E9F}"/>
              </a:ext>
            </a:extLst>
          </p:cNvPr>
          <p:cNvCxnSpPr/>
          <p:nvPr/>
        </p:nvCxnSpPr>
        <p:spPr>
          <a:xfrm>
            <a:off x="5181600" y="4254500"/>
            <a:ext cx="1955800" cy="0"/>
          </a:xfrm>
          <a:prstGeom prst="line">
            <a:avLst/>
          </a:prstGeom>
          <a:ln w="17780">
            <a:solidFill>
              <a:srgbClr val="2F6096"/>
            </a:solidFill>
            <a:tailEnd type="arrow"/>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832F852D-AF24-72CC-0315-B99D2190D513}"/>
              </a:ext>
            </a:extLst>
          </p:cNvPr>
          <p:cNvSpPr txBox="1"/>
          <p:nvPr/>
        </p:nvSpPr>
        <p:spPr>
          <a:xfrm>
            <a:off x="5384800" y="3822700"/>
            <a:ext cx="1841500" cy="304800"/>
          </a:xfrm>
          <a:prstGeom prst="rect">
            <a:avLst/>
          </a:prstGeom>
          <a:noFill/>
        </p:spPr>
        <p:txBody>
          <a:bodyPr vert="horz" wrap="square" lIns="0" tIns="0" rIns="0" bIns="0" rtlCol="0">
            <a:noAutofit/>
          </a:bodyPr>
          <a:lstStyle/>
          <a:p>
            <a:pPr>
              <a:lnSpc>
                <a:spcPts val="1950"/>
              </a:lnSpc>
            </a:pPr>
            <a:r>
              <a:rPr lang="zh-CN" altLang="en-US" sz="1500">
                <a:solidFill>
                  <a:srgbClr val="2F6096"/>
                </a:solidFill>
                <a:latin typeface="Microsoft YaHei" panose="020B0503020204020204" pitchFamily="34" charset="-122"/>
                <a:ea typeface="微软雅黑" panose="020B0503020204020204" pitchFamily="34" charset="-122"/>
              </a:rPr>
              <a:t>扩展到三参数</a:t>
            </a:r>
          </a:p>
        </p:txBody>
      </p:sp>
      <p:sp>
        <p:nvSpPr>
          <p:cNvPr id="21" name="文本框 20">
            <a:extLst>
              <a:ext uri="{FF2B5EF4-FFF2-40B4-BE49-F238E27FC236}">
                <a16:creationId xmlns:a16="http://schemas.microsoft.com/office/drawing/2014/main" id="{239A6951-B260-A5C1-187A-0D3EA0C41AE9}"/>
              </a:ext>
            </a:extLst>
          </p:cNvPr>
          <p:cNvSpPr txBox="1"/>
          <p:nvPr/>
        </p:nvSpPr>
        <p:spPr>
          <a:xfrm>
            <a:off x="7531100" y="3822700"/>
            <a:ext cx="4013200" cy="812800"/>
          </a:xfrm>
          <a:prstGeom prst="rect">
            <a:avLst/>
          </a:prstGeom>
          <a:noFill/>
        </p:spPr>
        <p:txBody>
          <a:bodyPr vert="horz" wrap="square" lIns="0" tIns="0" rIns="0" bIns="0" rtlCol="0">
            <a:noAutofit/>
          </a:bodyPr>
          <a:lstStyle/>
          <a:p>
            <a:pPr>
              <a:lnSpc>
                <a:spcPts val="2470"/>
              </a:lnSpc>
            </a:pPr>
            <a:r>
              <a:rPr lang="en-US" altLang="zh-CN" sz="1900" b="1">
                <a:solidFill>
                  <a:srgbClr val="2F6096"/>
                </a:solidFill>
                <a:latin typeface="Microsoft YaHei" panose="020B0503020204020204" pitchFamily="34" charset="-122"/>
                <a:ea typeface="微软雅黑" panose="020B0503020204020204" pitchFamily="34" charset="-122"/>
              </a:rPr>
              <a:t>Soman–Misra</a:t>
            </a:r>
            <a:r>
              <a:rPr lang="zh-CN" altLang="en-US" sz="1900" b="1">
                <a:solidFill>
                  <a:srgbClr val="2F6096"/>
                </a:solidFill>
                <a:latin typeface="Microsoft YaHei" panose="020B0503020204020204" pitchFamily="34" charset="-122"/>
                <a:ea typeface="微软雅黑" panose="020B0503020204020204" pitchFamily="34" charset="-122"/>
              </a:rPr>
              <a:t>（</a:t>
            </a:r>
            <a:r>
              <a:rPr lang="en-US" altLang="zh-CN" sz="1900" b="1">
                <a:solidFill>
                  <a:srgbClr val="2F6096"/>
                </a:solidFill>
                <a:latin typeface="Microsoft YaHei" panose="020B0503020204020204" pitchFamily="34" charset="-122"/>
                <a:ea typeface="微软雅黑" panose="020B0503020204020204" pitchFamily="34" charset="-122"/>
              </a:rPr>
              <a:t>1992</a:t>
            </a:r>
            <a:r>
              <a:rPr lang="zh-CN" altLang="en-US" sz="1900" b="1">
                <a:solidFill>
                  <a:srgbClr val="2F6096"/>
                </a:solidFill>
                <a:latin typeface="Microsoft YaHei" panose="020B0503020204020204" pitchFamily="34" charset="-122"/>
                <a:ea typeface="微软雅黑" panose="020B0503020204020204" pitchFamily="34" charset="-122"/>
              </a:rPr>
              <a:t>）</a:t>
            </a:r>
          </a:p>
          <a:p>
            <a:pPr>
              <a:lnSpc>
                <a:spcPts val="2470"/>
              </a:lnSpc>
            </a:pPr>
            <a:r>
              <a:rPr lang="en-US" altLang="zh-CN" sz="1900" b="1">
                <a:solidFill>
                  <a:srgbClr val="2F6096"/>
                </a:solidFill>
                <a:latin typeface="Microsoft YaHei" panose="020B0503020204020204" pitchFamily="34" charset="-122"/>
                <a:ea typeface="微软雅黑" panose="020B0503020204020204" pitchFamily="34" charset="-122"/>
              </a:rPr>
              <a:t>LS [182-104]</a:t>
            </a:r>
            <a:endParaRPr lang="zh-CN" altLang="en-US" sz="1900" b="1">
              <a:solidFill>
                <a:srgbClr val="2F6096"/>
              </a:solidFill>
              <a:latin typeface="Microsoft YaHei" panose="020B0503020204020204" pitchFamily="34" charset="-122"/>
              <a:ea typeface="微软雅黑" panose="020B0503020204020204" pitchFamily="34" charset="-122"/>
            </a:endParaRPr>
          </a:p>
        </p:txBody>
      </p:sp>
      <p:sp>
        <p:nvSpPr>
          <p:cNvPr id="22" name="文本框 21">
            <a:extLst>
              <a:ext uri="{FF2B5EF4-FFF2-40B4-BE49-F238E27FC236}">
                <a16:creationId xmlns:a16="http://schemas.microsoft.com/office/drawing/2014/main" id="{9088E423-6F70-7F77-62F4-4B0420B98228}"/>
              </a:ext>
            </a:extLst>
          </p:cNvPr>
          <p:cNvSpPr txBox="1"/>
          <p:nvPr/>
        </p:nvSpPr>
        <p:spPr>
          <a:xfrm>
            <a:off x="2222500" y="5041900"/>
            <a:ext cx="9220200" cy="330200"/>
          </a:xfrm>
          <a:prstGeom prst="rect">
            <a:avLst/>
          </a:prstGeom>
          <a:noFill/>
        </p:spPr>
        <p:txBody>
          <a:bodyPr vert="horz" wrap="square" lIns="0" tIns="0" rIns="0" bIns="0" rtlCol="0">
            <a:noAutofit/>
          </a:bodyPr>
          <a:lstStyle/>
          <a:p>
            <a:pPr>
              <a:lnSpc>
                <a:spcPts val="2210"/>
              </a:lnSpc>
            </a:pPr>
            <a:r>
              <a:rPr lang="zh-CN" altLang="en-US" sz="1700">
                <a:solidFill>
                  <a:srgbClr val="000000"/>
                </a:solidFill>
                <a:latin typeface="Microsoft YaHei" panose="020B0503020204020204" pitchFamily="34" charset="-122"/>
                <a:ea typeface="微软雅黑" panose="020B0503020204020204" pitchFamily="34" charset="-122"/>
              </a:rPr>
              <a:t>另一构造：</a:t>
            </a:r>
            <a:r>
              <a:rPr lang="en-US" altLang="zh-CN" sz="1700">
                <a:solidFill>
                  <a:srgbClr val="000000"/>
                </a:solidFill>
                <a:latin typeface="Microsoft YaHei" panose="020B0503020204020204" pitchFamily="34" charset="-122"/>
                <a:ea typeface="微软雅黑" panose="020B0503020204020204" pitchFamily="34" charset="-122"/>
              </a:rPr>
              <a:t>Park</a:t>
            </a:r>
            <a:r>
              <a:rPr lang="zh-CN" altLang="en-US" sz="1700">
                <a:solidFill>
                  <a:srgbClr val="000000"/>
                </a:solidFill>
                <a:latin typeface="Microsoft YaHei" panose="020B0503020204020204" pitchFamily="34" charset="-122"/>
                <a:ea typeface="微软雅黑" panose="020B0503020204020204" pitchFamily="34" charset="-122"/>
              </a:rPr>
              <a:t>（</a:t>
            </a:r>
            <a:r>
              <a:rPr lang="en-US" altLang="zh-CN" sz="1700">
                <a:solidFill>
                  <a:srgbClr val="000000"/>
                </a:solidFill>
                <a:latin typeface="Microsoft YaHei" panose="020B0503020204020204" pitchFamily="34" charset="-122"/>
                <a:ea typeface="微软雅黑" panose="020B0503020204020204" pitchFamily="34" charset="-122"/>
              </a:rPr>
              <a:t>2017</a:t>
            </a:r>
            <a:r>
              <a:rPr lang="zh-CN" altLang="en-US" sz="1700">
                <a:solidFill>
                  <a:srgbClr val="000000"/>
                </a:solidFill>
                <a:latin typeface="Microsoft YaHei" panose="020B0503020204020204" pitchFamily="34" charset="-122"/>
                <a:ea typeface="微软雅黑" panose="020B0503020204020204" pitchFamily="34" charset="-122"/>
              </a:rPr>
              <a:t>）</a:t>
            </a:r>
            <a:r>
              <a:rPr lang="en-US" altLang="zh-CN" sz="1700">
                <a:solidFill>
                  <a:srgbClr val="000000"/>
                </a:solidFill>
                <a:latin typeface="Microsoft YaHei" panose="020B0503020204020204" pitchFamily="34" charset="-122"/>
                <a:ea typeface="微软雅黑" panose="020B0503020204020204" pitchFamily="34" charset="-122"/>
              </a:rPr>
              <a:t>[182-115]</a:t>
            </a:r>
            <a:r>
              <a:rPr lang="zh-CN" altLang="en-US" sz="1700">
                <a:solidFill>
                  <a:srgbClr val="000000"/>
                </a:solidFill>
                <a:latin typeface="Microsoft YaHei" panose="020B0503020204020204" pitchFamily="34" charset="-122"/>
                <a:ea typeface="微软雅黑" panose="020B0503020204020204" pitchFamily="34" charset="-122"/>
              </a:rPr>
              <a:t>用相关系数估位置，</a:t>
            </a:r>
          </a:p>
        </p:txBody>
      </p:sp>
      <p:sp>
        <p:nvSpPr>
          <p:cNvPr id="23" name="文本框 22">
            <a:extLst>
              <a:ext uri="{FF2B5EF4-FFF2-40B4-BE49-F238E27FC236}">
                <a16:creationId xmlns:a16="http://schemas.microsoft.com/office/drawing/2014/main" id="{CFB357DD-D7B9-56AF-6165-37B064E0F984}"/>
              </a:ext>
            </a:extLst>
          </p:cNvPr>
          <p:cNvSpPr txBox="1"/>
          <p:nvPr/>
        </p:nvSpPr>
        <p:spPr>
          <a:xfrm>
            <a:off x="2222500" y="5397500"/>
            <a:ext cx="9220200" cy="317500"/>
          </a:xfrm>
          <a:prstGeom prst="rect">
            <a:avLst/>
          </a:prstGeom>
          <a:noFill/>
        </p:spPr>
        <p:txBody>
          <a:bodyPr vert="horz" wrap="square" lIns="0" tIns="0" rIns="0" bIns="0" rtlCol="0">
            <a:noAutofit/>
          </a:bodyPr>
          <a:lstStyle/>
          <a:p>
            <a:pPr>
              <a:lnSpc>
                <a:spcPts val="2210"/>
              </a:lnSpc>
            </a:pPr>
            <a:r>
              <a:rPr lang="zh-CN" altLang="en-US" sz="1700">
                <a:solidFill>
                  <a:srgbClr val="000000"/>
                </a:solidFill>
                <a:latin typeface="Microsoft YaHei" panose="020B0503020204020204" pitchFamily="34" charset="-122"/>
                <a:ea typeface="微软雅黑" panose="020B0503020204020204" pitchFamily="34" charset="-122"/>
              </a:rPr>
              <a:t>再分别用回归或条件</a:t>
            </a:r>
            <a:r>
              <a:rPr lang="en-US" altLang="zh-CN" sz="1700">
                <a:solidFill>
                  <a:srgbClr val="000000"/>
                </a:solidFill>
                <a:latin typeface="Microsoft YaHei" panose="020B0503020204020204" pitchFamily="34" charset="-122"/>
                <a:ea typeface="微软雅黑" panose="020B0503020204020204" pitchFamily="34" charset="-122"/>
              </a:rPr>
              <a:t>MLE</a:t>
            </a:r>
            <a:r>
              <a:rPr lang="zh-CN" altLang="en-US" sz="1700">
                <a:solidFill>
                  <a:srgbClr val="000000"/>
                </a:solidFill>
                <a:latin typeface="Microsoft YaHei" panose="020B0503020204020204" pitchFamily="34" charset="-122"/>
                <a:ea typeface="微软雅黑" panose="020B0503020204020204" pitchFamily="34" charset="-122"/>
              </a:rPr>
              <a:t>恢复其余参数。</a:t>
            </a:r>
          </a:p>
        </p:txBody>
      </p:sp>
    </p:spTree>
    <p:extLst>
      <p:ext uri="{BB962C8B-B14F-4D97-AF65-F5344CB8AC3E}">
        <p14:creationId xmlns:p14="http://schemas.microsoft.com/office/powerpoint/2010/main" val="39219304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400" b="1" spc="-150">
                <a:solidFill>
                  <a:srgbClr val="FFFFFF"/>
                </a:solidFill>
                <a:latin typeface="汉仪文润宋韵 U"/>
                <a:ea typeface="汉仪文润宋韵 U"/>
                <a:cs typeface="汉仪文润宋韵 U"/>
              </a:rPr>
              <a:t>概率图方法：分数和回归方向决定版本</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已有方法及其发展关系</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01</a:t>
            </a:r>
            <a:endParaRPr sz="1800">
              <a:latin typeface="Microsoft YaHei"/>
            </a:endParaRPr>
          </a:p>
        </p:txBody>
      </p:sp>
      <p:sp>
        <p:nvSpPr>
          <p:cNvPr id="6" name="文本框 5">
            <a:extLst>
              <a:ext uri="{FF2B5EF4-FFF2-40B4-BE49-F238E27FC236}">
                <a16:creationId xmlns:a16="http://schemas.microsoft.com/office/drawing/2014/main" id="{3B212A97-B4B9-DB6F-EC05-982B434705D7}"/>
              </a:ext>
            </a:extLst>
          </p:cNvPr>
          <p:cNvSpPr txBox="1"/>
          <p:nvPr/>
        </p:nvSpPr>
        <p:spPr>
          <a:xfrm>
            <a:off x="622300" y="1676400"/>
            <a:ext cx="10922000" cy="558800"/>
          </a:xfrm>
          <a:prstGeom prst="rect">
            <a:avLst/>
          </a:prstGeom>
          <a:noFill/>
        </p:spPr>
        <p:txBody>
          <a:bodyPr vert="horz" wrap="square" lIns="0" tIns="0" rIns="0" bIns="0" rtlCol="0">
            <a:noAutofit/>
          </a:bodyPr>
          <a:lstStyle/>
          <a:p>
            <a:pPr>
              <a:lnSpc>
                <a:spcPts val="2340"/>
              </a:lnSpc>
            </a:pPr>
            <a:r>
              <a:rPr lang="zh-CN" altLang="en-US">
                <a:solidFill>
                  <a:srgbClr val="2F6096"/>
                </a:solidFill>
                <a:latin typeface="Microsoft YaHei" panose="020B0503020204020204" pitchFamily="34" charset="-122"/>
                <a:ea typeface="微软雅黑" panose="020B0503020204020204" pitchFamily="34" charset="-122"/>
              </a:rPr>
              <a:t>同一线性化关系，可以对应不同的估计量。</a:t>
            </a:r>
          </a:p>
        </p:txBody>
      </p:sp>
      <p:sp>
        <p:nvSpPr>
          <p:cNvPr id="7" name="文本框 6">
            <a:extLst>
              <a:ext uri="{FF2B5EF4-FFF2-40B4-BE49-F238E27FC236}">
                <a16:creationId xmlns:a16="http://schemas.microsoft.com/office/drawing/2014/main" id="{59AC3F9E-F190-B24F-DB25-9BBC54C3D3E0}"/>
              </a:ext>
            </a:extLst>
          </p:cNvPr>
          <p:cNvSpPr txBox="1"/>
          <p:nvPr/>
        </p:nvSpPr>
        <p:spPr>
          <a:xfrm>
            <a:off x="622300" y="6197600"/>
            <a:ext cx="10922000" cy="330200"/>
          </a:xfrm>
          <a:prstGeom prst="rect">
            <a:avLst/>
          </a:prstGeom>
          <a:noFill/>
        </p:spPr>
        <p:txBody>
          <a:bodyPr vert="horz" wrap="square" lIns="0" tIns="0" rIns="0" bIns="0" rtlCol="0">
            <a:noAutofit/>
          </a:bodyPr>
          <a:lstStyle/>
          <a:p>
            <a:pPr>
              <a:lnSpc>
                <a:spcPts val="2210"/>
              </a:lnSpc>
            </a:pPr>
            <a:r>
              <a:rPr lang="zh-CN" altLang="en-US" sz="1500" b="1">
                <a:solidFill>
                  <a:srgbClr val="2F6096"/>
                </a:solidFill>
                <a:latin typeface="Microsoft YaHei" panose="020B0503020204020204" pitchFamily="34" charset="-122"/>
                <a:ea typeface="微软雅黑" panose="020B0503020204020204" pitchFamily="34" charset="-122"/>
              </a:rPr>
              <a:t>图只隔离回归方向；项目</a:t>
            </a:r>
            <a:r>
              <a:rPr lang="en-US" altLang="zh-CN" sz="1500" b="1">
                <a:solidFill>
                  <a:srgbClr val="2F6096"/>
                </a:solidFill>
                <a:latin typeface="Microsoft YaHei" panose="020B0503020204020204" pitchFamily="34" charset="-122"/>
                <a:ea typeface="微软雅黑" panose="020B0503020204020204" pitchFamily="34" charset="-122"/>
              </a:rPr>
              <a:t>LS</a:t>
            </a:r>
            <a:r>
              <a:rPr lang="zh-CN" altLang="en-US" sz="1500" b="1">
                <a:solidFill>
                  <a:srgbClr val="2F6096"/>
                </a:solidFill>
                <a:latin typeface="Microsoft YaHei" panose="020B0503020204020204" pitchFamily="34" charset="-122"/>
                <a:ea typeface="微软雅黑" panose="020B0503020204020204" pitchFamily="34" charset="-122"/>
              </a:rPr>
              <a:t>与</a:t>
            </a:r>
            <a:r>
              <a:rPr lang="en-US" altLang="zh-CN" sz="1500" b="1">
                <a:solidFill>
                  <a:srgbClr val="2F6096"/>
                </a:solidFill>
                <a:latin typeface="Microsoft YaHei" panose="020B0503020204020204" pitchFamily="34" charset="-122"/>
                <a:ea typeface="微软雅黑" panose="020B0503020204020204" pitchFamily="34" charset="-122"/>
              </a:rPr>
              <a:t>LRE</a:t>
            </a:r>
            <a:r>
              <a:rPr lang="zh-CN" altLang="en-US" sz="1500" b="1">
                <a:solidFill>
                  <a:srgbClr val="2F6096"/>
                </a:solidFill>
                <a:latin typeface="Microsoft YaHei" panose="020B0503020204020204" pitchFamily="34" charset="-122"/>
                <a:ea typeface="微软雅黑" panose="020B0503020204020204" pitchFamily="34" charset="-122"/>
              </a:rPr>
              <a:t>还采用不同分数，不能只按名称引用。</a:t>
            </a:r>
          </a:p>
        </p:txBody>
      </p:sp>
      <p:pic>
        <p:nvPicPr>
          <p:cNvPr id="9" name="图片 8">
            <a:extLst>
              <a:ext uri="{FF2B5EF4-FFF2-40B4-BE49-F238E27FC236}">
                <a16:creationId xmlns:a16="http://schemas.microsoft.com/office/drawing/2014/main" id="{E650370F-3307-0532-ABF6-58448BD9326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03300" y="2247900"/>
            <a:ext cx="10160000" cy="4064000"/>
          </a:xfrm>
          <a:prstGeom prst="rect">
            <a:avLst/>
          </a:prstGeom>
        </p:spPr>
      </p:pic>
    </p:spTree>
    <p:extLst>
      <p:ext uri="{BB962C8B-B14F-4D97-AF65-F5344CB8AC3E}">
        <p14:creationId xmlns:p14="http://schemas.microsoft.com/office/powerpoint/2010/main" val="1413506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400" b="1" spc="-150">
                <a:solidFill>
                  <a:srgbClr val="FFFFFF"/>
                </a:solidFill>
                <a:latin typeface="汉仪文润宋韵 U"/>
                <a:ea typeface="汉仪文润宋韵 U"/>
                <a:cs typeface="汉仪文润宋韵 U"/>
              </a:rPr>
              <a:t>新构造：比较对象或参数更新方式发生变化</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已有方法及其发展关系</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01</a:t>
            </a:r>
            <a:endParaRPr sz="1800">
              <a:latin typeface="Microsoft YaHei"/>
            </a:endParaRPr>
          </a:p>
        </p:txBody>
      </p:sp>
      <p:sp>
        <p:nvSpPr>
          <p:cNvPr id="6" name="文本框 5">
            <a:extLst>
              <a:ext uri="{FF2B5EF4-FFF2-40B4-BE49-F238E27FC236}">
                <a16:creationId xmlns:a16="http://schemas.microsoft.com/office/drawing/2014/main" id="{B500C8F7-75FE-3302-05A7-664C17B127BD}"/>
              </a:ext>
            </a:extLst>
          </p:cNvPr>
          <p:cNvSpPr txBox="1"/>
          <p:nvPr/>
        </p:nvSpPr>
        <p:spPr>
          <a:xfrm>
            <a:off x="622300" y="1676400"/>
            <a:ext cx="10922000" cy="558800"/>
          </a:xfrm>
          <a:prstGeom prst="rect">
            <a:avLst/>
          </a:prstGeom>
          <a:noFill/>
        </p:spPr>
        <p:txBody>
          <a:bodyPr vert="horz" wrap="square" lIns="0" tIns="0" rIns="0" bIns="0" rtlCol="0">
            <a:noAutofit/>
          </a:bodyPr>
          <a:lstStyle/>
          <a:p>
            <a:pPr>
              <a:lnSpc>
                <a:spcPts val="2340"/>
              </a:lnSpc>
            </a:pPr>
            <a:r>
              <a:rPr lang="zh-CN" altLang="en-US">
                <a:solidFill>
                  <a:srgbClr val="2F6096"/>
                </a:solidFill>
                <a:latin typeface="Microsoft YaHei" panose="020B0503020204020204" pitchFamily="34" charset="-122"/>
                <a:ea typeface="微软雅黑" panose="020B0503020204020204" pitchFamily="34" charset="-122"/>
              </a:rPr>
              <a:t>基本思路有差别，不能把所有新名称都归为“改进</a:t>
            </a:r>
            <a:r>
              <a:rPr lang="en-US" altLang="zh-CN">
                <a:solidFill>
                  <a:srgbClr val="2F6096"/>
                </a:solidFill>
                <a:latin typeface="Microsoft YaHei" panose="020B0503020204020204" pitchFamily="34" charset="-122"/>
                <a:ea typeface="微软雅黑" panose="020B0503020204020204" pitchFamily="34" charset="-122"/>
              </a:rPr>
              <a:t>MLE”</a:t>
            </a:r>
            <a:r>
              <a:rPr lang="zh-CN" altLang="en-US">
                <a:solidFill>
                  <a:srgbClr val="2F6096"/>
                </a:solidFill>
                <a:latin typeface="Microsoft YaHei" panose="020B0503020204020204" pitchFamily="34" charset="-122"/>
                <a:ea typeface="微软雅黑" panose="020B0503020204020204" pitchFamily="34" charset="-122"/>
              </a:rPr>
              <a:t>。</a:t>
            </a:r>
          </a:p>
        </p:txBody>
      </p:sp>
      <p:sp>
        <p:nvSpPr>
          <p:cNvPr id="7" name="文本框 6">
            <a:extLst>
              <a:ext uri="{FF2B5EF4-FFF2-40B4-BE49-F238E27FC236}">
                <a16:creationId xmlns:a16="http://schemas.microsoft.com/office/drawing/2014/main" id="{1C723509-F904-FE9F-2BF4-F2230D684811}"/>
              </a:ext>
            </a:extLst>
          </p:cNvPr>
          <p:cNvSpPr txBox="1"/>
          <p:nvPr/>
        </p:nvSpPr>
        <p:spPr>
          <a:xfrm>
            <a:off x="622300" y="5981700"/>
            <a:ext cx="10922000" cy="508000"/>
          </a:xfrm>
          <a:prstGeom prst="rect">
            <a:avLst/>
          </a:prstGeom>
          <a:noFill/>
        </p:spPr>
        <p:txBody>
          <a:bodyPr vert="horz" wrap="square" lIns="0" tIns="0" rIns="0" bIns="0" rtlCol="0">
            <a:noAutofit/>
          </a:bodyPr>
          <a:lstStyle/>
          <a:p>
            <a:pPr>
              <a:lnSpc>
                <a:spcPts val="2210"/>
              </a:lnSpc>
            </a:pPr>
            <a:r>
              <a:rPr lang="zh-CN" altLang="en-US" sz="1700" b="1">
                <a:solidFill>
                  <a:srgbClr val="2F6096"/>
                </a:solidFill>
                <a:latin typeface="Microsoft YaHei" panose="020B0503020204020204" pitchFamily="34" charset="-122"/>
                <a:ea typeface="微软雅黑" panose="020B0503020204020204" pitchFamily="34" charset="-122"/>
              </a:rPr>
              <a:t>沿革说明方法改了哪里；是否值得入选，还要看任务条件和检验证据。</a:t>
            </a:r>
          </a:p>
        </p:txBody>
      </p:sp>
      <p:graphicFrame>
        <p:nvGraphicFramePr>
          <p:cNvPr id="8" name="表格 7">
            <a:extLst>
              <a:ext uri="{FF2B5EF4-FFF2-40B4-BE49-F238E27FC236}">
                <a16:creationId xmlns:a16="http://schemas.microsoft.com/office/drawing/2014/main" id="{B3669A2F-AAA9-05AD-2FF1-6E2C3E05431B}"/>
              </a:ext>
            </a:extLst>
          </p:cNvPr>
          <p:cNvGraphicFramePr>
            <a:graphicFrameLocks noGrp="1"/>
          </p:cNvGraphicFramePr>
          <p:nvPr>
            <p:extLst>
              <p:ext uri="{D42A27DB-BD31-4B8C-83A1-F6EECF244321}">
                <p14:modId xmlns:p14="http://schemas.microsoft.com/office/powerpoint/2010/main" val="286293123"/>
              </p:ext>
            </p:extLst>
          </p:nvPr>
        </p:nvGraphicFramePr>
        <p:xfrm>
          <a:off x="622300" y="2413000"/>
          <a:ext cx="10922000" cy="3302000"/>
        </p:xfrm>
        <a:graphic>
          <a:graphicData uri="http://schemas.openxmlformats.org/drawingml/2006/table">
            <a:tbl>
              <a:tblPr firstRow="1" bandRow="1">
                <a:tableStyleId>{5C22544A-7EE6-4342-B048-85BDC9FD1C3A}</a:tableStyleId>
              </a:tblPr>
              <a:tblGrid>
                <a:gridCol w="3086100">
                  <a:extLst>
                    <a:ext uri="{9D8B030D-6E8A-4147-A177-3AD203B41FA5}">
                      <a16:colId xmlns:a16="http://schemas.microsoft.com/office/drawing/2014/main" val="3597764059"/>
                    </a:ext>
                  </a:extLst>
                </a:gridCol>
                <a:gridCol w="4000500">
                  <a:extLst>
                    <a:ext uri="{9D8B030D-6E8A-4147-A177-3AD203B41FA5}">
                      <a16:colId xmlns:a16="http://schemas.microsoft.com/office/drawing/2014/main" val="3133818840"/>
                    </a:ext>
                  </a:extLst>
                </a:gridCol>
                <a:gridCol w="3835400">
                  <a:extLst>
                    <a:ext uri="{9D8B030D-6E8A-4147-A177-3AD203B41FA5}">
                      <a16:colId xmlns:a16="http://schemas.microsoft.com/office/drawing/2014/main" val="503822222"/>
                    </a:ext>
                  </a:extLst>
                </a:gridCol>
              </a:tblGrid>
              <a:tr h="660400">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构造</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关键关系或改动</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它区别于什么</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extLst>
                  <a:ext uri="{0D108BD9-81ED-4DB2-BD59-A6C34878D82A}">
                    <a16:rowId xmlns:a16="http://schemas.microsoft.com/office/drawing/2014/main" val="1363885715"/>
                  </a:ext>
                </a:extLst>
              </a:tr>
              <a:tr h="660400">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MDM [182-030]</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el-GR" altLang="zh-CN" sz="1600" b="0">
                          <a:solidFill>
                            <a:srgbClr val="000000"/>
                          </a:solidFill>
                          <a:latin typeface="Microsoft YaHei" panose="020B0503020204020204" pitchFamily="34" charset="-122"/>
                          <a:ea typeface="微软雅黑" panose="020B0503020204020204" pitchFamily="34" charset="-122"/>
                        </a:rPr>
                        <a:t>η</a:t>
                      </a:r>
                      <a:r>
                        <a:rPr lang="en-US" altLang="zh-CN" sz="1600" b="0">
                          <a:solidFill>
                            <a:srgbClr val="000000"/>
                          </a:solidFill>
                          <a:latin typeface="Microsoft YaHei" panose="020B0503020204020204" pitchFamily="34" charset="-122"/>
                          <a:ea typeface="微软雅黑" panose="020B0503020204020204" pitchFamily="34" charset="-122"/>
                        </a:rPr>
                        <a:t>ᵢ=(t₍ᵢ₎−</a:t>
                      </a:r>
                      <a:r>
                        <a:rPr lang="el-GR" altLang="zh-CN" sz="1600" b="0">
                          <a:solidFill>
                            <a:srgbClr val="000000"/>
                          </a:solidFill>
                          <a:latin typeface="Microsoft YaHei" panose="020B0503020204020204" pitchFamily="34" charset="-122"/>
                          <a:ea typeface="微软雅黑" panose="020B0503020204020204" pitchFamily="34" charset="-122"/>
                        </a:rPr>
                        <a:t>γ)/[−</a:t>
                      </a:r>
                      <a:r>
                        <a:rPr lang="en-US" altLang="zh-CN" sz="1600" b="0">
                          <a:solidFill>
                            <a:srgbClr val="000000"/>
                          </a:solidFill>
                          <a:latin typeface="Microsoft YaHei" panose="020B0503020204020204" pitchFamily="34" charset="-122"/>
                          <a:ea typeface="微软雅黑" panose="020B0503020204020204" pitchFamily="34" charset="-122"/>
                        </a:rPr>
                        <a:t>ln(1−pᵢ)]¹⁄</a:t>
                      </a:r>
                      <a:r>
                        <a:rPr lang="el-GR" altLang="zh-CN" sz="1600" b="0">
                          <a:solidFill>
                            <a:srgbClr val="000000"/>
                          </a:solidFill>
                          <a:latin typeface="Microsoft YaHei" panose="020B0503020204020204" pitchFamily="34" charset="-122"/>
                          <a:ea typeface="微软雅黑" panose="020B0503020204020204" pitchFamily="34" charset="-122"/>
                        </a:rPr>
                        <a:t>ᵝ</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比较尺度伪估计的离散</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2664643523"/>
                  </a:ext>
                </a:extLst>
              </a:tr>
              <a:tr h="660400">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SAM 2023 [185-005]</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最小值期望关系＋回归更新</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不同参数使用不同依据</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2716077815"/>
                  </a:ext>
                </a:extLst>
              </a:tr>
              <a:tr h="660400">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PM 2024 [182-117]</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最小值中位数关系＋条件</a:t>
                      </a:r>
                      <a:r>
                        <a:rPr lang="en-US" altLang="zh-CN" sz="1600" b="0">
                          <a:solidFill>
                            <a:srgbClr val="000000"/>
                          </a:solidFill>
                          <a:latin typeface="Microsoft YaHei" panose="020B0503020204020204" pitchFamily="34" charset="-122"/>
                          <a:ea typeface="微软雅黑" panose="020B0503020204020204" pitchFamily="34" charset="-122"/>
                        </a:rPr>
                        <a:t>MLE</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与</a:t>
                      </a:r>
                      <a:r>
                        <a:rPr lang="en-US" altLang="zh-CN" sz="1600" b="0">
                          <a:solidFill>
                            <a:srgbClr val="000000"/>
                          </a:solidFill>
                          <a:latin typeface="Microsoft YaHei" panose="020B0503020204020204" pitchFamily="34" charset="-122"/>
                          <a:ea typeface="微软雅黑" panose="020B0503020204020204" pitchFamily="34" charset="-122"/>
                        </a:rPr>
                        <a:t>SAM</a:t>
                      </a:r>
                      <a:r>
                        <a:rPr lang="zh-CN" altLang="en-US" sz="1600" b="0">
                          <a:solidFill>
                            <a:srgbClr val="000000"/>
                          </a:solidFill>
                          <a:latin typeface="Microsoft YaHei" panose="020B0503020204020204" pitchFamily="34" charset="-122"/>
                          <a:ea typeface="微软雅黑" panose="020B0503020204020204" pitchFamily="34" charset="-122"/>
                        </a:rPr>
                        <a:t>的更新公式不同</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3354519269"/>
                  </a:ext>
                </a:extLst>
              </a:tr>
              <a:tr h="660400">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直接</a:t>
                      </a:r>
                      <a:r>
                        <a:rPr lang="en-US" altLang="zh-CN" sz="1600" b="0">
                          <a:solidFill>
                            <a:srgbClr val="000000"/>
                          </a:solidFill>
                          <a:latin typeface="Microsoft YaHei" panose="020B0503020204020204" pitchFamily="34" charset="-122"/>
                          <a:ea typeface="微软雅黑" panose="020B0503020204020204" pitchFamily="34" charset="-122"/>
                        </a:rPr>
                        <a:t>NN / BPNN [184-009]</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el-GR" altLang="zh-CN" sz="1600" b="0">
                          <a:solidFill>
                            <a:srgbClr val="000000"/>
                          </a:solidFill>
                          <a:latin typeface="Microsoft YaHei" panose="020B0503020204020204" pitchFamily="34" charset="-122"/>
                          <a:ea typeface="微软雅黑" panose="020B0503020204020204" pitchFamily="34" charset="-122"/>
                        </a:rPr>
                        <a:t>θ̂ = </a:t>
                      </a:r>
                      <a:r>
                        <a:rPr lang="en-US" altLang="zh-CN" sz="1600" b="0">
                          <a:solidFill>
                            <a:srgbClr val="000000"/>
                          </a:solidFill>
                          <a:latin typeface="Microsoft YaHei" panose="020B0503020204020204" pitchFamily="34" charset="-122"/>
                          <a:ea typeface="微软雅黑" panose="020B0503020204020204" pitchFamily="34" charset="-122"/>
                        </a:rPr>
                        <a:t>g_w(</a:t>
                      </a:r>
                      <a:r>
                        <a:rPr lang="zh-CN" altLang="en-US" sz="1600" b="0">
                          <a:solidFill>
                            <a:srgbClr val="000000"/>
                          </a:solidFill>
                          <a:latin typeface="Microsoft YaHei" panose="020B0503020204020204" pitchFamily="34" charset="-122"/>
                          <a:ea typeface="微软雅黑" panose="020B0503020204020204" pitchFamily="34" charset="-122"/>
                        </a:rPr>
                        <a:t>样本特征</a:t>
                      </a:r>
                      <a:r>
                        <a:rPr lang="en-US" altLang="zh-CN" sz="1600" b="0">
                          <a:solidFill>
                            <a:srgbClr val="000000"/>
                          </a:solidFill>
                          <a:latin typeface="Microsoft YaHei" panose="020B0503020204020204" pitchFamily="34" charset="-122"/>
                          <a:ea typeface="微软雅黑" panose="020B0503020204020204" pitchFamily="34" charset="-122"/>
                        </a:rPr>
                        <a:t>)</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训练映射，使用时输出参数</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3947816123"/>
                  </a:ext>
                </a:extLst>
              </a:tr>
            </a:tbl>
          </a:graphicData>
        </a:graphic>
      </p:graphicFrame>
    </p:spTree>
    <p:extLst>
      <p:ext uri="{BB962C8B-B14F-4D97-AF65-F5344CB8AC3E}">
        <p14:creationId xmlns:p14="http://schemas.microsoft.com/office/powerpoint/2010/main" val="14473008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400" b="1" spc="-150">
                <a:solidFill>
                  <a:srgbClr val="FFFFFF"/>
                </a:solidFill>
                <a:latin typeface="汉仪文润宋韵 U"/>
                <a:ea typeface="汉仪文润宋韵 U"/>
                <a:cs typeface="汉仪文润宋韵 U"/>
              </a:rPr>
              <a:t>近期工作：改进层次与研究条件不同</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近期进展及其检验证据</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02</a:t>
            </a:r>
            <a:endParaRPr sz="1800">
              <a:latin typeface="Microsoft YaHei"/>
            </a:endParaRPr>
          </a:p>
        </p:txBody>
      </p:sp>
      <p:sp>
        <p:nvSpPr>
          <p:cNvPr id="6" name="文本框 5">
            <a:extLst>
              <a:ext uri="{FF2B5EF4-FFF2-40B4-BE49-F238E27FC236}">
                <a16:creationId xmlns:a16="http://schemas.microsoft.com/office/drawing/2014/main" id="{70FE6FF3-C7E8-DD81-6816-CD36888990A5}"/>
              </a:ext>
            </a:extLst>
          </p:cNvPr>
          <p:cNvSpPr txBox="1"/>
          <p:nvPr/>
        </p:nvSpPr>
        <p:spPr>
          <a:xfrm>
            <a:off x="622300" y="1676400"/>
            <a:ext cx="10922000" cy="558800"/>
          </a:xfrm>
          <a:prstGeom prst="rect">
            <a:avLst/>
          </a:prstGeom>
          <a:noFill/>
        </p:spPr>
        <p:txBody>
          <a:bodyPr vert="horz" wrap="square" lIns="0" tIns="0" rIns="0" bIns="0" rtlCol="0">
            <a:noAutofit/>
          </a:bodyPr>
          <a:lstStyle/>
          <a:p>
            <a:pPr>
              <a:lnSpc>
                <a:spcPts val="2340"/>
              </a:lnSpc>
            </a:pPr>
            <a:r>
              <a:rPr lang="zh-CN" altLang="en-US">
                <a:solidFill>
                  <a:srgbClr val="2F6096"/>
                </a:solidFill>
                <a:latin typeface="Microsoft YaHei" panose="020B0503020204020204" pitchFamily="34" charset="-122"/>
                <a:ea typeface="微软雅黑" panose="020B0503020204020204" pitchFamily="34" charset="-122"/>
              </a:rPr>
              <a:t>近</a:t>
            </a:r>
            <a:r>
              <a:rPr lang="en-US" altLang="zh-CN">
                <a:solidFill>
                  <a:srgbClr val="2F6096"/>
                </a:solidFill>
                <a:latin typeface="Microsoft YaHei" panose="020B0503020204020204" pitchFamily="34" charset="-122"/>
                <a:ea typeface="微软雅黑" panose="020B0503020204020204" pitchFamily="34" charset="-122"/>
              </a:rPr>
              <a:t>10—20</a:t>
            </a:r>
            <a:r>
              <a:rPr lang="zh-CN" altLang="en-US">
                <a:solidFill>
                  <a:srgbClr val="2F6096"/>
                </a:solidFill>
                <a:latin typeface="Microsoft YaHei" panose="020B0503020204020204" pitchFamily="34" charset="-122"/>
                <a:ea typeface="微软雅黑" panose="020B0503020204020204" pitchFamily="34" charset="-122"/>
              </a:rPr>
              <a:t>年的新工作，并不都在同一任务下竞争。</a:t>
            </a:r>
          </a:p>
        </p:txBody>
      </p:sp>
      <p:sp>
        <p:nvSpPr>
          <p:cNvPr id="7" name="文本框 6">
            <a:extLst>
              <a:ext uri="{FF2B5EF4-FFF2-40B4-BE49-F238E27FC236}">
                <a16:creationId xmlns:a16="http://schemas.microsoft.com/office/drawing/2014/main" id="{1504D4E2-A117-82A7-4055-45AEF192AE6E}"/>
              </a:ext>
            </a:extLst>
          </p:cNvPr>
          <p:cNvSpPr txBox="1"/>
          <p:nvPr/>
        </p:nvSpPr>
        <p:spPr>
          <a:xfrm>
            <a:off x="622300" y="5981700"/>
            <a:ext cx="10922000" cy="508000"/>
          </a:xfrm>
          <a:prstGeom prst="rect">
            <a:avLst/>
          </a:prstGeom>
          <a:noFill/>
        </p:spPr>
        <p:txBody>
          <a:bodyPr vert="horz" wrap="square" lIns="0" tIns="0" rIns="0" bIns="0" rtlCol="0">
            <a:noAutofit/>
          </a:bodyPr>
          <a:lstStyle/>
          <a:p>
            <a:pPr>
              <a:lnSpc>
                <a:spcPts val="2210"/>
              </a:lnSpc>
            </a:pPr>
            <a:r>
              <a:rPr lang="zh-CN" altLang="en-US" sz="1700" b="1">
                <a:solidFill>
                  <a:srgbClr val="2F6096"/>
                </a:solidFill>
                <a:latin typeface="Microsoft YaHei" panose="020B0503020204020204" pitchFamily="34" charset="-122"/>
                <a:ea typeface="微软雅黑" panose="020B0503020204020204" pitchFamily="34" charset="-122"/>
              </a:rPr>
              <a:t>库内反复出现这些方向，但尚无年度统计证明全领域注意力已转移。</a:t>
            </a:r>
          </a:p>
        </p:txBody>
      </p:sp>
      <p:sp>
        <p:nvSpPr>
          <p:cNvPr id="9" name="文本框 8">
            <a:extLst>
              <a:ext uri="{FF2B5EF4-FFF2-40B4-BE49-F238E27FC236}">
                <a16:creationId xmlns:a16="http://schemas.microsoft.com/office/drawing/2014/main" id="{54E31587-3EF2-3708-8EA4-E4AE09E814B6}"/>
              </a:ext>
            </a:extLst>
          </p:cNvPr>
          <p:cNvSpPr txBox="1"/>
          <p:nvPr/>
        </p:nvSpPr>
        <p:spPr>
          <a:xfrm>
            <a:off x="622300" y="2476500"/>
            <a:ext cx="2082800" cy="444500"/>
          </a:xfrm>
          <a:prstGeom prst="rect">
            <a:avLst/>
          </a:prstGeom>
          <a:noFill/>
        </p:spPr>
        <p:txBody>
          <a:bodyPr vert="horz" wrap="square" lIns="0" tIns="0" rIns="0" bIns="0" rtlCol="0">
            <a:noAutofit/>
          </a:bodyPr>
          <a:lstStyle/>
          <a:p>
            <a:pPr>
              <a:lnSpc>
                <a:spcPts val="2860"/>
              </a:lnSpc>
            </a:pPr>
            <a:r>
              <a:rPr lang="zh-CN" altLang="en-US" sz="2200" b="1">
                <a:solidFill>
                  <a:srgbClr val="C55A11"/>
                </a:solidFill>
                <a:latin typeface="Microsoft YaHei" panose="020B0503020204020204" pitchFamily="34" charset="-122"/>
                <a:ea typeface="微软雅黑" panose="020B0503020204020204" pitchFamily="34" charset="-122"/>
              </a:rPr>
              <a:t>改估计构造</a:t>
            </a:r>
          </a:p>
        </p:txBody>
      </p:sp>
      <p:sp>
        <p:nvSpPr>
          <p:cNvPr id="10" name="文本框 9">
            <a:extLst>
              <a:ext uri="{FF2B5EF4-FFF2-40B4-BE49-F238E27FC236}">
                <a16:creationId xmlns:a16="http://schemas.microsoft.com/office/drawing/2014/main" id="{30762B04-7DF6-2EE4-F31F-3DFCBE1C83B5}"/>
              </a:ext>
            </a:extLst>
          </p:cNvPr>
          <p:cNvSpPr txBox="1"/>
          <p:nvPr/>
        </p:nvSpPr>
        <p:spPr>
          <a:xfrm>
            <a:off x="2933700" y="2476500"/>
            <a:ext cx="8559800" cy="393700"/>
          </a:xfrm>
          <a:prstGeom prst="rect">
            <a:avLst/>
          </a:prstGeom>
          <a:noFill/>
        </p:spPr>
        <p:txBody>
          <a:bodyPr vert="horz" wrap="square" lIns="0" tIns="0" rIns="0" bIns="0" rtlCol="0">
            <a:noAutofit/>
          </a:bodyPr>
          <a:lstStyle/>
          <a:p>
            <a:pPr>
              <a:lnSpc>
                <a:spcPts val="2210"/>
              </a:lnSpc>
            </a:pPr>
            <a:r>
              <a:rPr lang="zh-CN" altLang="en-US" sz="1700" b="1">
                <a:solidFill>
                  <a:srgbClr val="2F6096"/>
                </a:solidFill>
                <a:latin typeface="Microsoft YaHei" panose="020B0503020204020204" pitchFamily="34" charset="-122"/>
                <a:ea typeface="微软雅黑" panose="020B0503020204020204" pitchFamily="34" charset="-122"/>
              </a:rPr>
              <a:t>有限样本、位置和偏差：</a:t>
            </a:r>
            <a:r>
              <a:rPr lang="en-US" altLang="zh-CN" sz="1700" b="1">
                <a:solidFill>
                  <a:srgbClr val="2F6096"/>
                </a:solidFill>
                <a:latin typeface="Microsoft YaHei" panose="020B0503020204020204" pitchFamily="34" charset="-122"/>
                <a:ea typeface="微软雅黑" panose="020B0503020204020204" pitchFamily="34" charset="-122"/>
              </a:rPr>
              <a:t>WMLE</a:t>
            </a:r>
            <a:r>
              <a:rPr lang="zh-CN" altLang="en-US" sz="1700" b="1">
                <a:solidFill>
                  <a:srgbClr val="2F6096"/>
                </a:solidFill>
                <a:latin typeface="Microsoft YaHei" panose="020B0503020204020204" pitchFamily="34" charset="-122"/>
                <a:ea typeface="微软雅黑" panose="020B0503020204020204" pitchFamily="34" charset="-122"/>
              </a:rPr>
              <a:t>、</a:t>
            </a:r>
            <a:r>
              <a:rPr lang="en-US" altLang="zh-CN" sz="1700" b="1">
                <a:solidFill>
                  <a:srgbClr val="2F6096"/>
                </a:solidFill>
                <a:latin typeface="Microsoft YaHei" panose="020B0503020204020204" pitchFamily="34" charset="-122"/>
                <a:ea typeface="微软雅黑" panose="020B0503020204020204" pitchFamily="34" charset="-122"/>
              </a:rPr>
              <a:t>Park</a:t>
            </a:r>
            <a:r>
              <a:rPr lang="zh-CN" altLang="en-US" sz="1700" b="1">
                <a:solidFill>
                  <a:srgbClr val="2F6096"/>
                </a:solidFill>
                <a:latin typeface="Microsoft YaHei" panose="020B0503020204020204" pitchFamily="34" charset="-122"/>
                <a:ea typeface="微软雅黑" panose="020B0503020204020204" pitchFamily="34" charset="-122"/>
              </a:rPr>
              <a:t>、</a:t>
            </a:r>
            <a:r>
              <a:rPr lang="en-US" altLang="zh-CN" sz="1700" b="1">
                <a:solidFill>
                  <a:srgbClr val="2F6096"/>
                </a:solidFill>
                <a:latin typeface="Microsoft YaHei" panose="020B0503020204020204" pitchFamily="34" charset="-122"/>
                <a:ea typeface="微软雅黑" panose="020B0503020204020204" pitchFamily="34" charset="-122"/>
              </a:rPr>
              <a:t>SAM/PM</a:t>
            </a:r>
            <a:r>
              <a:rPr lang="zh-CN" altLang="en-US" sz="1700" b="1">
                <a:solidFill>
                  <a:srgbClr val="2F6096"/>
                </a:solidFill>
                <a:latin typeface="Microsoft YaHei" panose="020B0503020204020204" pitchFamily="34" charset="-122"/>
                <a:ea typeface="微软雅黑" panose="020B0503020204020204" pitchFamily="34" charset="-122"/>
              </a:rPr>
              <a:t>、</a:t>
            </a:r>
            <a:r>
              <a:rPr lang="en-US" altLang="zh-CN" sz="1700" b="1">
                <a:solidFill>
                  <a:srgbClr val="2F6096"/>
                </a:solidFill>
                <a:latin typeface="Microsoft YaHei" panose="020B0503020204020204" pitchFamily="34" charset="-122"/>
                <a:ea typeface="微软雅黑" panose="020B0503020204020204" pitchFamily="34" charset="-122"/>
              </a:rPr>
              <a:t>DMMLE</a:t>
            </a:r>
            <a:r>
              <a:rPr lang="zh-CN" altLang="en-US" sz="1700" b="1">
                <a:solidFill>
                  <a:srgbClr val="2F6096"/>
                </a:solidFill>
                <a:latin typeface="Microsoft YaHei" panose="020B0503020204020204" pitchFamily="34" charset="-122"/>
                <a:ea typeface="微软雅黑" panose="020B0503020204020204" pitchFamily="34" charset="-122"/>
              </a:rPr>
              <a:t>。</a:t>
            </a:r>
          </a:p>
        </p:txBody>
      </p:sp>
      <p:sp>
        <p:nvSpPr>
          <p:cNvPr id="14" name="文本框 13">
            <a:extLst>
              <a:ext uri="{FF2B5EF4-FFF2-40B4-BE49-F238E27FC236}">
                <a16:creationId xmlns:a16="http://schemas.microsoft.com/office/drawing/2014/main" id="{A996BDCF-4100-5E60-3EB4-9312AA225023}"/>
              </a:ext>
            </a:extLst>
          </p:cNvPr>
          <p:cNvSpPr txBox="1"/>
          <p:nvPr/>
        </p:nvSpPr>
        <p:spPr>
          <a:xfrm>
            <a:off x="2933700" y="2933700"/>
            <a:ext cx="8559800" cy="381000"/>
          </a:xfrm>
          <a:prstGeom prst="rect">
            <a:avLst/>
          </a:prstGeom>
          <a:noFill/>
        </p:spPr>
        <p:txBody>
          <a:bodyPr vert="horz" wrap="square" lIns="0" tIns="0" rIns="0" bIns="0" rtlCol="0">
            <a:noAutofit/>
          </a:bodyPr>
          <a:lstStyle/>
          <a:p>
            <a:pPr>
              <a:lnSpc>
                <a:spcPts val="2210"/>
              </a:lnSpc>
            </a:pPr>
            <a:r>
              <a:rPr lang="zh-CN" altLang="en-US" sz="1700">
                <a:solidFill>
                  <a:srgbClr val="000000"/>
                </a:solidFill>
                <a:latin typeface="Microsoft YaHei" panose="020B0503020204020204" pitchFamily="34" charset="-122"/>
                <a:ea typeface="微软雅黑" panose="020B0503020204020204" pitchFamily="34" charset="-122"/>
              </a:rPr>
              <a:t>直接学习映射也属相关构造，要核训练范围与损失。</a:t>
            </a:r>
          </a:p>
        </p:txBody>
      </p:sp>
      <p:sp>
        <p:nvSpPr>
          <p:cNvPr id="15" name="文本框 14">
            <a:extLst>
              <a:ext uri="{FF2B5EF4-FFF2-40B4-BE49-F238E27FC236}">
                <a16:creationId xmlns:a16="http://schemas.microsoft.com/office/drawing/2014/main" id="{032AAE2C-08DC-94CE-0A17-746F62F0AB28}"/>
              </a:ext>
            </a:extLst>
          </p:cNvPr>
          <p:cNvSpPr txBox="1"/>
          <p:nvPr/>
        </p:nvSpPr>
        <p:spPr>
          <a:xfrm>
            <a:off x="622300" y="3594100"/>
            <a:ext cx="2082800" cy="444500"/>
          </a:xfrm>
          <a:prstGeom prst="rect">
            <a:avLst/>
          </a:prstGeom>
          <a:noFill/>
        </p:spPr>
        <p:txBody>
          <a:bodyPr vert="horz" wrap="square" lIns="0" tIns="0" rIns="0" bIns="0" rtlCol="0">
            <a:noAutofit/>
          </a:bodyPr>
          <a:lstStyle/>
          <a:p>
            <a:pPr>
              <a:lnSpc>
                <a:spcPts val="2860"/>
              </a:lnSpc>
            </a:pPr>
            <a:r>
              <a:rPr lang="zh-CN" altLang="en-US" sz="2200" b="1">
                <a:solidFill>
                  <a:srgbClr val="C55A11"/>
                </a:solidFill>
                <a:latin typeface="Microsoft YaHei" panose="020B0503020204020204" pitchFamily="34" charset="-122"/>
                <a:ea typeface="微软雅黑" panose="020B0503020204020204" pitchFamily="34" charset="-122"/>
              </a:rPr>
              <a:t>改观测条件</a:t>
            </a:r>
          </a:p>
        </p:txBody>
      </p:sp>
      <p:sp>
        <p:nvSpPr>
          <p:cNvPr id="16" name="文本框 15">
            <a:extLst>
              <a:ext uri="{FF2B5EF4-FFF2-40B4-BE49-F238E27FC236}">
                <a16:creationId xmlns:a16="http://schemas.microsoft.com/office/drawing/2014/main" id="{05668768-2A2A-4E3B-2B78-A189DDC6BFB7}"/>
              </a:ext>
            </a:extLst>
          </p:cNvPr>
          <p:cNvSpPr txBox="1"/>
          <p:nvPr/>
        </p:nvSpPr>
        <p:spPr>
          <a:xfrm>
            <a:off x="2933700" y="3594100"/>
            <a:ext cx="8559800" cy="393700"/>
          </a:xfrm>
          <a:prstGeom prst="rect">
            <a:avLst/>
          </a:prstGeom>
          <a:noFill/>
        </p:spPr>
        <p:txBody>
          <a:bodyPr vert="horz" wrap="square" lIns="0" tIns="0" rIns="0" bIns="0" rtlCol="0">
            <a:noAutofit/>
          </a:bodyPr>
          <a:lstStyle/>
          <a:p>
            <a:pPr>
              <a:lnSpc>
                <a:spcPts val="2210"/>
              </a:lnSpc>
            </a:pPr>
            <a:r>
              <a:rPr lang="zh-CN" altLang="en-US" sz="1700" b="1">
                <a:solidFill>
                  <a:srgbClr val="2F6096"/>
                </a:solidFill>
                <a:latin typeface="Microsoft YaHei" panose="020B0503020204020204" pitchFamily="34" charset="-122"/>
                <a:ea typeface="微软雅黑" panose="020B0503020204020204" pitchFamily="34" charset="-122"/>
              </a:rPr>
              <a:t>污染、删失等：</a:t>
            </a:r>
            <a:r>
              <a:rPr lang="en-US" altLang="zh-CN" sz="1700" b="1">
                <a:solidFill>
                  <a:srgbClr val="2F6096"/>
                </a:solidFill>
                <a:latin typeface="Microsoft YaHei" panose="020B0503020204020204" pitchFamily="34" charset="-122"/>
                <a:ea typeface="微软雅黑" panose="020B0503020204020204" pitchFamily="34" charset="-122"/>
              </a:rPr>
              <a:t>PITE [182-003]</a:t>
            </a:r>
            <a:r>
              <a:rPr lang="zh-CN" altLang="en-US" sz="1700" b="1">
                <a:solidFill>
                  <a:srgbClr val="2F6096"/>
                </a:solidFill>
                <a:latin typeface="Microsoft YaHei" panose="020B0503020204020204" pitchFamily="34" charset="-122"/>
                <a:ea typeface="微软雅黑" panose="020B0503020204020204" pitchFamily="34" charset="-122"/>
              </a:rPr>
              <a:t>、删失研究 </a:t>
            </a:r>
            <a:r>
              <a:rPr lang="en-US" altLang="zh-CN" sz="1700" b="1">
                <a:solidFill>
                  <a:srgbClr val="2F6096"/>
                </a:solidFill>
                <a:latin typeface="Microsoft YaHei" panose="020B0503020204020204" pitchFamily="34" charset="-122"/>
                <a:ea typeface="微软雅黑" panose="020B0503020204020204" pitchFamily="34" charset="-122"/>
              </a:rPr>
              <a:t>[182-114]</a:t>
            </a:r>
            <a:r>
              <a:rPr lang="zh-CN" altLang="en-US" sz="1700" b="1">
                <a:solidFill>
                  <a:srgbClr val="2F6096"/>
                </a:solidFill>
                <a:latin typeface="Microsoft YaHei" panose="020B0503020204020204" pitchFamily="34" charset="-122"/>
                <a:ea typeface="微软雅黑" panose="020B0503020204020204" pitchFamily="34" charset="-122"/>
              </a:rPr>
              <a:t>。</a:t>
            </a:r>
          </a:p>
        </p:txBody>
      </p:sp>
      <p:sp>
        <p:nvSpPr>
          <p:cNvPr id="17" name="文本框 16">
            <a:extLst>
              <a:ext uri="{FF2B5EF4-FFF2-40B4-BE49-F238E27FC236}">
                <a16:creationId xmlns:a16="http://schemas.microsoft.com/office/drawing/2014/main" id="{D829A61D-CFD6-9AA8-0B9F-514C376D83C6}"/>
              </a:ext>
            </a:extLst>
          </p:cNvPr>
          <p:cNvSpPr txBox="1"/>
          <p:nvPr/>
        </p:nvSpPr>
        <p:spPr>
          <a:xfrm>
            <a:off x="2933700" y="4051300"/>
            <a:ext cx="8559800" cy="381000"/>
          </a:xfrm>
          <a:prstGeom prst="rect">
            <a:avLst/>
          </a:prstGeom>
          <a:noFill/>
        </p:spPr>
        <p:txBody>
          <a:bodyPr vert="horz" wrap="square" lIns="0" tIns="0" rIns="0" bIns="0" rtlCol="0">
            <a:noAutofit/>
          </a:bodyPr>
          <a:lstStyle/>
          <a:p>
            <a:pPr>
              <a:lnSpc>
                <a:spcPts val="2210"/>
              </a:lnSpc>
            </a:pPr>
            <a:r>
              <a:rPr lang="zh-CN" altLang="en-US" sz="1700">
                <a:solidFill>
                  <a:srgbClr val="000000"/>
                </a:solidFill>
                <a:latin typeface="Microsoft YaHei" panose="020B0503020204020204" pitchFamily="34" charset="-122"/>
                <a:ea typeface="微软雅黑" panose="020B0503020204020204" pitchFamily="34" charset="-122"/>
              </a:rPr>
              <a:t>与完整样本任务不同，特殊情境中的排名不能直接移用。</a:t>
            </a:r>
          </a:p>
        </p:txBody>
      </p:sp>
      <p:sp>
        <p:nvSpPr>
          <p:cNvPr id="18" name="文本框 17">
            <a:extLst>
              <a:ext uri="{FF2B5EF4-FFF2-40B4-BE49-F238E27FC236}">
                <a16:creationId xmlns:a16="http://schemas.microsoft.com/office/drawing/2014/main" id="{8D95A7F3-14D6-A065-D07F-43881FCB45B0}"/>
              </a:ext>
            </a:extLst>
          </p:cNvPr>
          <p:cNvSpPr txBox="1"/>
          <p:nvPr/>
        </p:nvSpPr>
        <p:spPr>
          <a:xfrm>
            <a:off x="622300" y="4711700"/>
            <a:ext cx="2082800" cy="444500"/>
          </a:xfrm>
          <a:prstGeom prst="rect">
            <a:avLst/>
          </a:prstGeom>
          <a:noFill/>
        </p:spPr>
        <p:txBody>
          <a:bodyPr vert="horz" wrap="square" lIns="0" tIns="0" rIns="0" bIns="0" rtlCol="0">
            <a:noAutofit/>
          </a:bodyPr>
          <a:lstStyle/>
          <a:p>
            <a:pPr>
              <a:lnSpc>
                <a:spcPts val="2860"/>
              </a:lnSpc>
            </a:pPr>
            <a:r>
              <a:rPr lang="zh-CN" altLang="en-US" sz="2200" b="1">
                <a:solidFill>
                  <a:srgbClr val="C55A11"/>
                </a:solidFill>
                <a:latin typeface="Microsoft YaHei" panose="020B0503020204020204" pitchFamily="34" charset="-122"/>
                <a:ea typeface="微软雅黑" panose="020B0503020204020204" pitchFamily="34" charset="-122"/>
              </a:rPr>
              <a:t>改求解过程</a:t>
            </a:r>
          </a:p>
        </p:txBody>
      </p:sp>
      <p:sp>
        <p:nvSpPr>
          <p:cNvPr id="19" name="文本框 18">
            <a:extLst>
              <a:ext uri="{FF2B5EF4-FFF2-40B4-BE49-F238E27FC236}">
                <a16:creationId xmlns:a16="http://schemas.microsoft.com/office/drawing/2014/main" id="{5A457CEA-8DC3-A10C-8854-46FCE3CC0C15}"/>
              </a:ext>
            </a:extLst>
          </p:cNvPr>
          <p:cNvSpPr txBox="1"/>
          <p:nvPr/>
        </p:nvSpPr>
        <p:spPr>
          <a:xfrm>
            <a:off x="2933700" y="4711700"/>
            <a:ext cx="8559800" cy="393700"/>
          </a:xfrm>
          <a:prstGeom prst="rect">
            <a:avLst/>
          </a:prstGeom>
          <a:noFill/>
        </p:spPr>
        <p:txBody>
          <a:bodyPr vert="horz" wrap="square" lIns="0" tIns="0" rIns="0" bIns="0" rtlCol="0">
            <a:noAutofit/>
          </a:bodyPr>
          <a:lstStyle/>
          <a:p>
            <a:pPr>
              <a:lnSpc>
                <a:spcPts val="2210"/>
              </a:lnSpc>
            </a:pPr>
            <a:r>
              <a:rPr lang="zh-CN" altLang="en-US" sz="1700" b="1">
                <a:solidFill>
                  <a:srgbClr val="2F6096"/>
                </a:solidFill>
                <a:latin typeface="Microsoft YaHei" panose="020B0503020204020204" pitchFamily="34" charset="-122"/>
                <a:ea typeface="微软雅黑" panose="020B0503020204020204" pitchFamily="34" charset="-122"/>
              </a:rPr>
              <a:t>保留统计目标，改善搜索：</a:t>
            </a:r>
            <a:r>
              <a:rPr lang="en-US" altLang="zh-CN" sz="1700" b="1">
                <a:solidFill>
                  <a:srgbClr val="2F6096"/>
                </a:solidFill>
                <a:latin typeface="Microsoft YaHei" panose="020B0503020204020204" pitchFamily="34" charset="-122"/>
                <a:ea typeface="微软雅黑" panose="020B0503020204020204" pitchFamily="34" charset="-122"/>
              </a:rPr>
              <a:t>ADGBO [187-001]</a:t>
            </a:r>
            <a:r>
              <a:rPr lang="zh-CN" altLang="en-US" sz="1700" b="1">
                <a:solidFill>
                  <a:srgbClr val="2F6096"/>
                </a:solidFill>
                <a:latin typeface="Microsoft YaHei" panose="020B0503020204020204" pitchFamily="34" charset="-122"/>
                <a:ea typeface="微软雅黑" panose="020B0503020204020204" pitchFamily="34" charset="-122"/>
              </a:rPr>
              <a:t>、</a:t>
            </a:r>
            <a:r>
              <a:rPr lang="en-US" altLang="zh-CN" sz="1700" b="1">
                <a:solidFill>
                  <a:srgbClr val="2F6096"/>
                </a:solidFill>
                <a:latin typeface="Microsoft YaHei" panose="020B0503020204020204" pitchFamily="34" charset="-122"/>
                <a:ea typeface="微软雅黑" panose="020B0503020204020204" pitchFamily="34" charset="-122"/>
              </a:rPr>
              <a:t>PSO</a:t>
            </a:r>
            <a:r>
              <a:rPr lang="zh-CN" altLang="en-US" sz="1700" b="1">
                <a:solidFill>
                  <a:srgbClr val="2F6096"/>
                </a:solidFill>
                <a:latin typeface="Microsoft YaHei" panose="020B0503020204020204" pitchFamily="34" charset="-122"/>
                <a:ea typeface="微软雅黑" panose="020B0503020204020204" pitchFamily="34" charset="-122"/>
              </a:rPr>
              <a:t>等。</a:t>
            </a:r>
          </a:p>
        </p:txBody>
      </p:sp>
      <p:sp>
        <p:nvSpPr>
          <p:cNvPr id="20" name="文本框 19">
            <a:extLst>
              <a:ext uri="{FF2B5EF4-FFF2-40B4-BE49-F238E27FC236}">
                <a16:creationId xmlns:a16="http://schemas.microsoft.com/office/drawing/2014/main" id="{A264FA82-2916-7541-E4BD-51CCAEE83CA4}"/>
              </a:ext>
            </a:extLst>
          </p:cNvPr>
          <p:cNvSpPr txBox="1"/>
          <p:nvPr/>
        </p:nvSpPr>
        <p:spPr>
          <a:xfrm>
            <a:off x="2933700" y="5168900"/>
            <a:ext cx="8559800" cy="381000"/>
          </a:xfrm>
          <a:prstGeom prst="rect">
            <a:avLst/>
          </a:prstGeom>
          <a:noFill/>
        </p:spPr>
        <p:txBody>
          <a:bodyPr vert="horz" wrap="square" lIns="0" tIns="0" rIns="0" bIns="0" rtlCol="0">
            <a:noAutofit/>
          </a:bodyPr>
          <a:lstStyle/>
          <a:p>
            <a:pPr>
              <a:lnSpc>
                <a:spcPts val="2210"/>
              </a:lnSpc>
            </a:pPr>
            <a:r>
              <a:rPr lang="zh-CN" altLang="en-US" sz="1700">
                <a:solidFill>
                  <a:srgbClr val="000000"/>
                </a:solidFill>
                <a:latin typeface="Microsoft YaHei" panose="020B0503020204020204" pitchFamily="34" charset="-122"/>
                <a:ea typeface="微软雅黑" panose="020B0503020204020204" pitchFamily="34" charset="-122"/>
              </a:rPr>
              <a:t>先核目标与约束，再判断是否属于</a:t>
            </a:r>
            <a:r>
              <a:rPr lang="en-US" altLang="zh-CN" sz="1700">
                <a:solidFill>
                  <a:srgbClr val="000000"/>
                </a:solidFill>
                <a:latin typeface="Microsoft YaHei" panose="020B0503020204020204" pitchFamily="34" charset="-122"/>
                <a:ea typeface="微软雅黑" panose="020B0503020204020204" pitchFamily="34" charset="-122"/>
              </a:rPr>
              <a:t>MLE</a:t>
            </a:r>
            <a:r>
              <a:rPr lang="zh-CN" altLang="en-US" sz="1700">
                <a:solidFill>
                  <a:srgbClr val="000000"/>
                </a:solidFill>
                <a:latin typeface="Microsoft YaHei"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16151457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400" b="1" spc="-150">
                <a:solidFill>
                  <a:srgbClr val="FFFFFF"/>
                </a:solidFill>
                <a:latin typeface="汉仪文润宋韵 U"/>
                <a:ea typeface="汉仪文润宋韵 U"/>
                <a:cs typeface="汉仪文润宋韵 U"/>
              </a:rPr>
              <a:t>同任务候选：小样本研究与其他证据范围</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近期进展及其检验证据</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02</a:t>
            </a:r>
            <a:endParaRPr sz="1800">
              <a:latin typeface="Microsoft YaHei"/>
            </a:endParaRPr>
          </a:p>
        </p:txBody>
      </p:sp>
      <p:sp>
        <p:nvSpPr>
          <p:cNvPr id="6" name="文本框 5">
            <a:extLst>
              <a:ext uri="{FF2B5EF4-FFF2-40B4-BE49-F238E27FC236}">
                <a16:creationId xmlns:a16="http://schemas.microsoft.com/office/drawing/2014/main" id="{9BFDC1C8-AD64-77FF-B03A-016B42044838}"/>
              </a:ext>
            </a:extLst>
          </p:cNvPr>
          <p:cNvSpPr txBox="1"/>
          <p:nvPr/>
        </p:nvSpPr>
        <p:spPr>
          <a:xfrm>
            <a:off x="622300" y="1676400"/>
            <a:ext cx="10922000" cy="558800"/>
          </a:xfrm>
          <a:prstGeom prst="rect">
            <a:avLst/>
          </a:prstGeom>
          <a:noFill/>
        </p:spPr>
        <p:txBody>
          <a:bodyPr vert="horz" wrap="square" lIns="0" tIns="0" rIns="0" bIns="0" rtlCol="0">
            <a:noAutofit/>
          </a:bodyPr>
          <a:lstStyle/>
          <a:p>
            <a:pPr>
              <a:lnSpc>
                <a:spcPts val="2340"/>
              </a:lnSpc>
            </a:pPr>
            <a:r>
              <a:rPr lang="zh-CN" altLang="en-US">
                <a:solidFill>
                  <a:srgbClr val="2F6096"/>
                </a:solidFill>
                <a:latin typeface="Microsoft YaHei" panose="020B0503020204020204" pitchFamily="34" charset="-122"/>
                <a:ea typeface="微软雅黑" panose="020B0503020204020204" pitchFamily="34" charset="-122"/>
              </a:rPr>
              <a:t>候选范围应覆盖经典改进和近期构造，再看是否符合论文主张。</a:t>
            </a:r>
          </a:p>
        </p:txBody>
      </p:sp>
      <p:sp>
        <p:nvSpPr>
          <p:cNvPr id="7" name="文本框 6">
            <a:extLst>
              <a:ext uri="{FF2B5EF4-FFF2-40B4-BE49-F238E27FC236}">
                <a16:creationId xmlns:a16="http://schemas.microsoft.com/office/drawing/2014/main" id="{474448B6-AF41-2F1C-5EC2-84985A61FEEA}"/>
              </a:ext>
            </a:extLst>
          </p:cNvPr>
          <p:cNvSpPr txBox="1"/>
          <p:nvPr/>
        </p:nvSpPr>
        <p:spPr>
          <a:xfrm>
            <a:off x="622300" y="5981700"/>
            <a:ext cx="10922000" cy="508000"/>
          </a:xfrm>
          <a:prstGeom prst="rect">
            <a:avLst/>
          </a:prstGeom>
          <a:noFill/>
        </p:spPr>
        <p:txBody>
          <a:bodyPr vert="horz" wrap="square" lIns="0" tIns="0" rIns="0" bIns="0" rtlCol="0">
            <a:noAutofit/>
          </a:bodyPr>
          <a:lstStyle/>
          <a:p>
            <a:pPr>
              <a:lnSpc>
                <a:spcPts val="2210"/>
              </a:lnSpc>
            </a:pPr>
            <a:r>
              <a:rPr lang="en-US" altLang="zh-CN" sz="1700" b="1">
                <a:solidFill>
                  <a:srgbClr val="2F6096"/>
                </a:solidFill>
                <a:latin typeface="Microsoft YaHei" panose="020B0503020204020204" pitchFamily="34" charset="-122"/>
                <a:ea typeface="微软雅黑" panose="020B0503020204020204" pitchFamily="34" charset="-122"/>
              </a:rPr>
              <a:t>MDM</a:t>
            </a:r>
            <a:r>
              <a:rPr lang="zh-CN" altLang="en-US" sz="1700" b="1">
                <a:solidFill>
                  <a:srgbClr val="2F6096"/>
                </a:solidFill>
                <a:latin typeface="Microsoft YaHei" panose="020B0503020204020204" pitchFamily="34" charset="-122"/>
                <a:ea typeface="微软雅黑" panose="020B0503020204020204" pitchFamily="34" charset="-122"/>
              </a:rPr>
              <a:t>已在第一章介绍；若研究其改进，原方法自然承担母方法角色。</a:t>
            </a:r>
          </a:p>
        </p:txBody>
      </p:sp>
      <p:graphicFrame>
        <p:nvGraphicFramePr>
          <p:cNvPr id="8" name="表格 7">
            <a:extLst>
              <a:ext uri="{FF2B5EF4-FFF2-40B4-BE49-F238E27FC236}">
                <a16:creationId xmlns:a16="http://schemas.microsoft.com/office/drawing/2014/main" id="{236645C6-A316-4398-EDD1-223691012294}"/>
              </a:ext>
            </a:extLst>
          </p:cNvPr>
          <p:cNvGraphicFramePr>
            <a:graphicFrameLocks noGrp="1"/>
          </p:cNvGraphicFramePr>
          <p:nvPr>
            <p:extLst>
              <p:ext uri="{D42A27DB-BD31-4B8C-83A1-F6EECF244321}">
                <p14:modId xmlns:p14="http://schemas.microsoft.com/office/powerpoint/2010/main" val="872652245"/>
              </p:ext>
            </p:extLst>
          </p:nvPr>
        </p:nvGraphicFramePr>
        <p:xfrm>
          <a:off x="622300" y="2413000"/>
          <a:ext cx="10922000" cy="3301998"/>
        </p:xfrm>
        <a:graphic>
          <a:graphicData uri="http://schemas.openxmlformats.org/drawingml/2006/table">
            <a:tbl>
              <a:tblPr firstRow="1" bandRow="1">
                <a:tableStyleId>{5C22544A-7EE6-4342-B048-85BDC9FD1C3A}</a:tableStyleId>
              </a:tblPr>
              <a:tblGrid>
                <a:gridCol w="3086100">
                  <a:extLst>
                    <a:ext uri="{9D8B030D-6E8A-4147-A177-3AD203B41FA5}">
                      <a16:colId xmlns:a16="http://schemas.microsoft.com/office/drawing/2014/main" val="2106218217"/>
                    </a:ext>
                  </a:extLst>
                </a:gridCol>
                <a:gridCol w="4000500">
                  <a:extLst>
                    <a:ext uri="{9D8B030D-6E8A-4147-A177-3AD203B41FA5}">
                      <a16:colId xmlns:a16="http://schemas.microsoft.com/office/drawing/2014/main" val="596939627"/>
                    </a:ext>
                  </a:extLst>
                </a:gridCol>
                <a:gridCol w="3835400">
                  <a:extLst>
                    <a:ext uri="{9D8B030D-6E8A-4147-A177-3AD203B41FA5}">
                      <a16:colId xmlns:a16="http://schemas.microsoft.com/office/drawing/2014/main" val="3278027151"/>
                    </a:ext>
                  </a:extLst>
                </a:gridCol>
              </a:tblGrid>
              <a:tr h="471714">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方法与来源</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已核的任务或改进</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需要保留的边界</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extLst>
                  <a:ext uri="{0D108BD9-81ED-4DB2-BD59-A6C34878D82A}">
                    <a16:rowId xmlns:a16="http://schemas.microsoft.com/office/drawing/2014/main" val="2149725635"/>
                  </a:ext>
                </a:extLst>
              </a:tr>
              <a:tr h="471714">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WMLE 2009 [182-088]</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有限样本修正</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权重版本和参数域要明确</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4020886443"/>
                  </a:ext>
                </a:extLst>
              </a:tr>
              <a:tr h="471714">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LSPF 2013 [182-113]</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存在性及变换统计量构造</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可解性主张时提高优先级</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2487028360"/>
                  </a:ext>
                </a:extLst>
              </a:tr>
              <a:tr h="471714">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Park 2017 [182-115]</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相关系数处理未知位置</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区分</a:t>
                      </a:r>
                      <a:r>
                        <a:rPr lang="en-US" altLang="zh-CN" sz="1600" b="0">
                          <a:solidFill>
                            <a:srgbClr val="000000"/>
                          </a:solidFill>
                          <a:latin typeface="Microsoft YaHei" panose="020B0503020204020204" pitchFamily="34" charset="-122"/>
                          <a:ea typeface="微软雅黑" panose="020B0503020204020204" pitchFamily="34" charset="-122"/>
                        </a:rPr>
                        <a:t>Plot</a:t>
                      </a:r>
                      <a:r>
                        <a:rPr lang="zh-CN" altLang="en-US" sz="1600" b="0">
                          <a:solidFill>
                            <a:srgbClr val="000000"/>
                          </a:solidFill>
                          <a:latin typeface="Microsoft YaHei" panose="020B0503020204020204" pitchFamily="34" charset="-122"/>
                          <a:ea typeface="微软雅黑" panose="020B0503020204020204" pitchFamily="34" charset="-122"/>
                        </a:rPr>
                        <a:t>与</a:t>
                      </a:r>
                      <a:r>
                        <a:rPr lang="en-US" altLang="zh-CN" sz="1600" b="0">
                          <a:solidFill>
                            <a:srgbClr val="000000"/>
                          </a:solidFill>
                          <a:latin typeface="Microsoft YaHei" panose="020B0503020204020204" pitchFamily="34" charset="-122"/>
                          <a:ea typeface="微软雅黑" panose="020B0503020204020204" pitchFamily="34" charset="-122"/>
                        </a:rPr>
                        <a:t>MLE2</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442690487"/>
                  </a:ext>
                </a:extLst>
              </a:tr>
              <a:tr h="471714">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SAM / PM [185-005/182-117]</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含</a:t>
                      </a:r>
                      <a:r>
                        <a:rPr lang="en-US" altLang="zh-CN" sz="1600" b="0">
                          <a:solidFill>
                            <a:srgbClr val="000000"/>
                          </a:solidFill>
                          <a:latin typeface="Microsoft YaHei" panose="020B0503020204020204" pitchFamily="34" charset="-122"/>
                          <a:ea typeface="微软雅黑" panose="020B0503020204020204" pitchFamily="34" charset="-122"/>
                        </a:rPr>
                        <a:t>n=5</a:t>
                      </a:r>
                      <a:r>
                        <a:rPr lang="zh-CN" altLang="en-US" sz="1600" b="0">
                          <a:solidFill>
                            <a:srgbClr val="000000"/>
                          </a:solidFill>
                          <a:latin typeface="Microsoft YaHei" panose="020B0503020204020204" pitchFamily="34" charset="-122"/>
                          <a:ea typeface="微软雅黑" panose="020B0503020204020204" pitchFamily="34" charset="-122"/>
                        </a:rPr>
                        <a:t>等极小样本研究</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两版不能共用公式或结果</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870889167"/>
                  </a:ext>
                </a:extLst>
              </a:tr>
              <a:tr h="471714">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BPNN 2025 [184-009]</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覆盖</a:t>
                      </a:r>
                      <a:r>
                        <a:rPr lang="en-US" altLang="zh-CN" sz="1600" b="0">
                          <a:solidFill>
                            <a:srgbClr val="000000"/>
                          </a:solidFill>
                          <a:latin typeface="Microsoft YaHei" panose="020B0503020204020204" pitchFamily="34" charset="-122"/>
                          <a:ea typeface="微软雅黑" panose="020B0503020204020204" pitchFamily="34" charset="-122"/>
                        </a:rPr>
                        <a:t>n=5—20</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配置尚有缺口</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2872561720"/>
                  </a:ext>
                </a:extLst>
              </a:tr>
              <a:tr h="471714">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DMMLE 2025 [182-111]</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修改似然后的得分修正</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原模拟从</a:t>
                      </a:r>
                      <a:r>
                        <a:rPr lang="en-US" altLang="zh-CN" sz="1600" b="0">
                          <a:solidFill>
                            <a:srgbClr val="000000"/>
                          </a:solidFill>
                          <a:latin typeface="Microsoft YaHei" panose="020B0503020204020204" pitchFamily="34" charset="-122"/>
                          <a:ea typeface="微软雅黑" panose="020B0503020204020204" pitchFamily="34" charset="-122"/>
                        </a:rPr>
                        <a:t>n=50</a:t>
                      </a:r>
                      <a:r>
                        <a:rPr lang="zh-CN" altLang="en-US" sz="1600" b="0">
                          <a:solidFill>
                            <a:srgbClr val="000000"/>
                          </a:solidFill>
                          <a:latin typeface="Microsoft YaHei" panose="020B0503020204020204" pitchFamily="34" charset="-122"/>
                          <a:ea typeface="微软雅黑" panose="020B0503020204020204" pitchFamily="34" charset="-122"/>
                        </a:rPr>
                        <a:t>开始</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995398368"/>
                  </a:ext>
                </a:extLst>
              </a:tr>
            </a:tbl>
          </a:graphicData>
        </a:graphic>
      </p:graphicFrame>
    </p:spTree>
    <p:extLst>
      <p:ext uri="{BB962C8B-B14F-4D97-AF65-F5344CB8AC3E}">
        <p14:creationId xmlns:p14="http://schemas.microsoft.com/office/powerpoint/2010/main" val="32343974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400" b="1" spc="-150">
                <a:solidFill>
                  <a:srgbClr val="FFFFFF"/>
                </a:solidFill>
                <a:latin typeface="汉仪文润宋韵 U"/>
                <a:ea typeface="汉仪文润宋韵 U"/>
                <a:cs typeface="汉仪文润宋韵 U"/>
              </a:rPr>
              <a:t>后续检验：采用事实与性能结论分开判断</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近期进展及其检验证据</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02</a:t>
            </a:r>
            <a:endParaRPr sz="1800">
              <a:latin typeface="Microsoft YaHei"/>
            </a:endParaRPr>
          </a:p>
        </p:txBody>
      </p:sp>
      <p:sp>
        <p:nvSpPr>
          <p:cNvPr id="6" name="文本框 5">
            <a:extLst>
              <a:ext uri="{FF2B5EF4-FFF2-40B4-BE49-F238E27FC236}">
                <a16:creationId xmlns:a16="http://schemas.microsoft.com/office/drawing/2014/main" id="{68FAD16C-FF77-D9F1-6C05-5700D9662423}"/>
              </a:ext>
            </a:extLst>
          </p:cNvPr>
          <p:cNvSpPr txBox="1"/>
          <p:nvPr/>
        </p:nvSpPr>
        <p:spPr>
          <a:xfrm>
            <a:off x="622300" y="1676400"/>
            <a:ext cx="10922000" cy="558800"/>
          </a:xfrm>
          <a:prstGeom prst="rect">
            <a:avLst/>
          </a:prstGeom>
          <a:noFill/>
        </p:spPr>
        <p:txBody>
          <a:bodyPr vert="horz" wrap="square" lIns="0" tIns="0" rIns="0" bIns="0" rtlCol="0">
            <a:noAutofit/>
          </a:bodyPr>
          <a:lstStyle/>
          <a:p>
            <a:pPr>
              <a:lnSpc>
                <a:spcPts val="2340"/>
              </a:lnSpc>
            </a:pPr>
            <a:r>
              <a:rPr lang="zh-CN" altLang="en-US">
                <a:solidFill>
                  <a:srgbClr val="2F6096"/>
                </a:solidFill>
                <a:latin typeface="Microsoft YaHei" panose="020B0503020204020204" pitchFamily="34" charset="-122"/>
                <a:ea typeface="微软雅黑" panose="020B0503020204020204" pitchFamily="34" charset="-122"/>
              </a:rPr>
              <a:t>提出论文、后续采用和独立团队比较，提供的证据不同。</a:t>
            </a:r>
          </a:p>
        </p:txBody>
      </p:sp>
      <p:sp>
        <p:nvSpPr>
          <p:cNvPr id="7" name="文本框 6">
            <a:extLst>
              <a:ext uri="{FF2B5EF4-FFF2-40B4-BE49-F238E27FC236}">
                <a16:creationId xmlns:a16="http://schemas.microsoft.com/office/drawing/2014/main" id="{DCC67B17-9C19-19A4-658E-5F8CC76B584D}"/>
              </a:ext>
            </a:extLst>
          </p:cNvPr>
          <p:cNvSpPr txBox="1"/>
          <p:nvPr/>
        </p:nvSpPr>
        <p:spPr>
          <a:xfrm>
            <a:off x="622300" y="5981700"/>
            <a:ext cx="10922000" cy="508000"/>
          </a:xfrm>
          <a:prstGeom prst="rect">
            <a:avLst/>
          </a:prstGeom>
          <a:noFill/>
        </p:spPr>
        <p:txBody>
          <a:bodyPr vert="horz" wrap="square" lIns="0" tIns="0" rIns="0" bIns="0" rtlCol="0">
            <a:noAutofit/>
          </a:bodyPr>
          <a:lstStyle/>
          <a:p>
            <a:pPr>
              <a:lnSpc>
                <a:spcPts val="2210"/>
              </a:lnSpc>
            </a:pPr>
            <a:r>
              <a:rPr lang="zh-CN" altLang="en-US" sz="1700" b="1">
                <a:solidFill>
                  <a:srgbClr val="2F6096"/>
                </a:solidFill>
                <a:latin typeface="Microsoft YaHei" panose="020B0503020204020204" pitchFamily="34" charset="-122"/>
                <a:ea typeface="微软雅黑" panose="020B0503020204020204" pitchFamily="34" charset="-122"/>
              </a:rPr>
              <a:t>有相关近期候选；尚不能认定一个公认、全面最优的“最新方法”。</a:t>
            </a:r>
          </a:p>
        </p:txBody>
      </p:sp>
      <p:sp>
        <p:nvSpPr>
          <p:cNvPr id="9" name="文本框 8">
            <a:extLst>
              <a:ext uri="{FF2B5EF4-FFF2-40B4-BE49-F238E27FC236}">
                <a16:creationId xmlns:a16="http://schemas.microsoft.com/office/drawing/2014/main" id="{38626201-2AF1-74F3-FA32-57850C3117DF}"/>
              </a:ext>
            </a:extLst>
          </p:cNvPr>
          <p:cNvSpPr txBox="1"/>
          <p:nvPr/>
        </p:nvSpPr>
        <p:spPr>
          <a:xfrm>
            <a:off x="622300" y="2489200"/>
            <a:ext cx="4953000" cy="406400"/>
          </a:xfrm>
          <a:prstGeom prst="rect">
            <a:avLst/>
          </a:prstGeom>
          <a:noFill/>
        </p:spPr>
        <p:txBody>
          <a:bodyPr vert="horz" wrap="square" lIns="0" tIns="0" rIns="0" bIns="0" rtlCol="0">
            <a:noAutofit/>
          </a:bodyPr>
          <a:lstStyle/>
          <a:p>
            <a:pPr>
              <a:lnSpc>
                <a:spcPts val="2860"/>
              </a:lnSpc>
            </a:pPr>
            <a:r>
              <a:rPr lang="zh-CN" altLang="en-US" sz="2200" b="1">
                <a:solidFill>
                  <a:srgbClr val="C55A11"/>
                </a:solidFill>
                <a:latin typeface="Microsoft YaHei" panose="020B0503020204020204" pitchFamily="34" charset="-122"/>
                <a:ea typeface="微软雅黑" panose="020B0503020204020204" pitchFamily="34" charset="-122"/>
              </a:rPr>
              <a:t>已有跨作者采用</a:t>
            </a:r>
          </a:p>
        </p:txBody>
      </p:sp>
      <p:sp>
        <p:nvSpPr>
          <p:cNvPr id="10" name="文本框 9">
            <a:extLst>
              <a:ext uri="{FF2B5EF4-FFF2-40B4-BE49-F238E27FC236}">
                <a16:creationId xmlns:a16="http://schemas.microsoft.com/office/drawing/2014/main" id="{7A796EF6-FE22-6F7B-DAAC-804831AFD736}"/>
              </a:ext>
            </a:extLst>
          </p:cNvPr>
          <p:cNvSpPr txBox="1"/>
          <p:nvPr/>
        </p:nvSpPr>
        <p:spPr>
          <a:xfrm>
            <a:off x="6426200" y="2489200"/>
            <a:ext cx="5080000" cy="406400"/>
          </a:xfrm>
          <a:prstGeom prst="rect">
            <a:avLst/>
          </a:prstGeom>
          <a:noFill/>
        </p:spPr>
        <p:txBody>
          <a:bodyPr vert="horz" wrap="square" lIns="0" tIns="0" rIns="0" bIns="0" rtlCol="0">
            <a:noAutofit/>
          </a:bodyPr>
          <a:lstStyle/>
          <a:p>
            <a:pPr>
              <a:lnSpc>
                <a:spcPts val="2860"/>
              </a:lnSpc>
            </a:pPr>
            <a:r>
              <a:rPr lang="zh-CN" altLang="en-US" sz="2200" b="1">
                <a:solidFill>
                  <a:srgbClr val="C55A11"/>
                </a:solidFill>
                <a:latin typeface="Microsoft YaHei" panose="020B0503020204020204" pitchFamily="34" charset="-122"/>
                <a:ea typeface="微软雅黑" panose="020B0503020204020204" pitchFamily="34" charset="-122"/>
              </a:rPr>
              <a:t>独立确认仍有限</a:t>
            </a:r>
          </a:p>
        </p:txBody>
      </p:sp>
      <p:sp>
        <p:nvSpPr>
          <p:cNvPr id="14" name="文本框 13">
            <a:extLst>
              <a:ext uri="{FF2B5EF4-FFF2-40B4-BE49-F238E27FC236}">
                <a16:creationId xmlns:a16="http://schemas.microsoft.com/office/drawing/2014/main" id="{57CC98BA-FD9A-B8C5-CED5-42280AFA66E1}"/>
              </a:ext>
            </a:extLst>
          </p:cNvPr>
          <p:cNvSpPr txBox="1"/>
          <p:nvPr/>
        </p:nvSpPr>
        <p:spPr>
          <a:xfrm>
            <a:off x="622300" y="3098800"/>
            <a:ext cx="4953000" cy="1282700"/>
          </a:xfrm>
          <a:prstGeom prst="rect">
            <a:avLst/>
          </a:prstGeom>
          <a:noFill/>
        </p:spPr>
        <p:txBody>
          <a:bodyPr vert="horz" wrap="square" lIns="0" tIns="0" rIns="0" bIns="0" rtlCol="0">
            <a:noAutofit/>
          </a:bodyPr>
          <a:lstStyle/>
          <a:p>
            <a:pPr>
              <a:lnSpc>
                <a:spcPts val="2470"/>
              </a:lnSpc>
            </a:pPr>
            <a:r>
              <a:rPr lang="en-US" altLang="zh-CN" sz="1900">
                <a:solidFill>
                  <a:srgbClr val="000000"/>
                </a:solidFill>
                <a:latin typeface="Microsoft YaHei" panose="020B0503020204020204" pitchFamily="34" charset="-122"/>
                <a:ea typeface="微软雅黑" panose="020B0503020204020204" pitchFamily="34" charset="-122"/>
              </a:rPr>
              <a:t>WMLE</a:t>
            </a:r>
          </a:p>
          <a:p>
            <a:pPr>
              <a:lnSpc>
                <a:spcPts val="2470"/>
              </a:lnSpc>
            </a:pPr>
            <a:r>
              <a:rPr lang="en-US" altLang="zh-CN" sz="1900">
                <a:solidFill>
                  <a:srgbClr val="000000"/>
                </a:solidFill>
                <a:latin typeface="Microsoft YaHei" panose="020B0503020204020204" pitchFamily="34" charset="-122"/>
                <a:ea typeface="微软雅黑" panose="020B0503020204020204" pitchFamily="34" charset="-122"/>
              </a:rPr>
              <a:t>Nagatsuka</a:t>
            </a:r>
            <a:r>
              <a:rPr lang="zh-CN" altLang="en-US" sz="1900">
                <a:solidFill>
                  <a:srgbClr val="000000"/>
                </a:solidFill>
                <a:latin typeface="Microsoft YaHei" panose="020B0503020204020204" pitchFamily="34" charset="-122"/>
                <a:ea typeface="微软雅黑" panose="020B0503020204020204" pitchFamily="34" charset="-122"/>
              </a:rPr>
              <a:t>（</a:t>
            </a:r>
            <a:r>
              <a:rPr lang="en-US" altLang="zh-CN" sz="1900">
                <a:solidFill>
                  <a:srgbClr val="000000"/>
                </a:solidFill>
                <a:latin typeface="Microsoft YaHei" panose="020B0503020204020204" pitchFamily="34" charset="-122"/>
                <a:ea typeface="微软雅黑" panose="020B0503020204020204" pitchFamily="34" charset="-122"/>
              </a:rPr>
              <a:t>2013</a:t>
            </a:r>
            <a:r>
              <a:rPr lang="zh-CN" altLang="en-US" sz="1900">
                <a:solidFill>
                  <a:srgbClr val="000000"/>
                </a:solidFill>
                <a:latin typeface="Microsoft YaHei" panose="020B0503020204020204" pitchFamily="34" charset="-122"/>
                <a:ea typeface="微软雅黑" panose="020B0503020204020204" pitchFamily="34" charset="-122"/>
              </a:rPr>
              <a:t>）、</a:t>
            </a:r>
            <a:r>
              <a:rPr lang="en-US" altLang="zh-CN" sz="1900">
                <a:solidFill>
                  <a:srgbClr val="000000"/>
                </a:solidFill>
                <a:latin typeface="Microsoft YaHei" panose="020B0503020204020204" pitchFamily="34" charset="-122"/>
                <a:ea typeface="微软雅黑" panose="020B0503020204020204" pitchFamily="34" charset="-122"/>
              </a:rPr>
              <a:t>Safari</a:t>
            </a:r>
            <a:r>
              <a:rPr lang="zh-CN" altLang="en-US" sz="1900">
                <a:solidFill>
                  <a:srgbClr val="000000"/>
                </a:solidFill>
                <a:latin typeface="Microsoft YaHei" panose="020B0503020204020204" pitchFamily="34" charset="-122"/>
                <a:ea typeface="微软雅黑" panose="020B0503020204020204" pitchFamily="34" charset="-122"/>
              </a:rPr>
              <a:t>（</a:t>
            </a:r>
            <a:r>
              <a:rPr lang="en-US" altLang="zh-CN" sz="1900">
                <a:solidFill>
                  <a:srgbClr val="000000"/>
                </a:solidFill>
                <a:latin typeface="Microsoft YaHei" panose="020B0503020204020204" pitchFamily="34" charset="-122"/>
                <a:ea typeface="微软雅黑" panose="020B0503020204020204" pitchFamily="34" charset="-122"/>
              </a:rPr>
              <a:t>2025</a:t>
            </a:r>
            <a:r>
              <a:rPr lang="zh-CN" altLang="en-US" sz="1900">
                <a:solidFill>
                  <a:srgbClr val="000000"/>
                </a:solidFill>
                <a:latin typeface="Microsoft YaHei" panose="020B0503020204020204" pitchFamily="34" charset="-122"/>
                <a:ea typeface="微软雅黑" panose="020B0503020204020204" pitchFamily="34" charset="-122"/>
              </a:rPr>
              <a:t>）</a:t>
            </a:r>
          </a:p>
          <a:p>
            <a:pPr>
              <a:lnSpc>
                <a:spcPts val="2470"/>
              </a:lnSpc>
            </a:pPr>
            <a:r>
              <a:rPr lang="zh-CN" altLang="en-US" sz="1900">
                <a:solidFill>
                  <a:srgbClr val="000000"/>
                </a:solidFill>
                <a:latin typeface="Microsoft YaHei" panose="020B0503020204020204" pitchFamily="34" charset="-122"/>
                <a:ea typeface="微软雅黑" panose="020B0503020204020204" pitchFamily="34" charset="-122"/>
              </a:rPr>
              <a:t>均纳入实际比较。</a:t>
            </a:r>
          </a:p>
        </p:txBody>
      </p:sp>
      <p:sp>
        <p:nvSpPr>
          <p:cNvPr id="15" name="文本框 14">
            <a:extLst>
              <a:ext uri="{FF2B5EF4-FFF2-40B4-BE49-F238E27FC236}">
                <a16:creationId xmlns:a16="http://schemas.microsoft.com/office/drawing/2014/main" id="{9FA1CEC5-8D34-6329-6FCB-5D6FE9EB7B66}"/>
              </a:ext>
            </a:extLst>
          </p:cNvPr>
          <p:cNvSpPr txBox="1"/>
          <p:nvPr/>
        </p:nvSpPr>
        <p:spPr>
          <a:xfrm>
            <a:off x="622300" y="4597400"/>
            <a:ext cx="4953000" cy="965200"/>
          </a:xfrm>
          <a:prstGeom prst="rect">
            <a:avLst/>
          </a:prstGeom>
          <a:noFill/>
        </p:spPr>
        <p:txBody>
          <a:bodyPr vert="horz" wrap="square" lIns="0" tIns="0" rIns="0" bIns="0" rtlCol="0">
            <a:noAutofit/>
          </a:bodyPr>
          <a:lstStyle/>
          <a:p>
            <a:pPr>
              <a:lnSpc>
                <a:spcPts val="2470"/>
              </a:lnSpc>
            </a:pPr>
            <a:r>
              <a:rPr lang="en-US" altLang="zh-CN" sz="1900">
                <a:solidFill>
                  <a:srgbClr val="000000"/>
                </a:solidFill>
                <a:latin typeface="Microsoft YaHei" panose="020B0503020204020204" pitchFamily="34" charset="-122"/>
                <a:ea typeface="微软雅黑" panose="020B0503020204020204" pitchFamily="34" charset="-122"/>
              </a:rPr>
              <a:t>Park</a:t>
            </a:r>
            <a:r>
              <a:rPr lang="zh-CN" altLang="en-US" sz="1900">
                <a:solidFill>
                  <a:srgbClr val="000000"/>
                </a:solidFill>
                <a:latin typeface="Microsoft YaHei" panose="020B0503020204020204" pitchFamily="34" charset="-122"/>
                <a:ea typeface="微软雅黑" panose="020B0503020204020204" pitchFamily="34" charset="-122"/>
              </a:rPr>
              <a:t>相关回归</a:t>
            </a:r>
          </a:p>
          <a:p>
            <a:pPr>
              <a:lnSpc>
                <a:spcPts val="2470"/>
              </a:lnSpc>
            </a:pPr>
            <a:r>
              <a:rPr lang="en-US" altLang="zh-CN" sz="1900">
                <a:solidFill>
                  <a:srgbClr val="000000"/>
                </a:solidFill>
                <a:latin typeface="Microsoft YaHei" panose="020B0503020204020204" pitchFamily="34" charset="-122"/>
                <a:ea typeface="微软雅黑" panose="020B0503020204020204" pitchFamily="34" charset="-122"/>
              </a:rPr>
              <a:t>Wang</a:t>
            </a:r>
            <a:r>
              <a:rPr lang="zh-CN" altLang="en-US" sz="1900">
                <a:solidFill>
                  <a:srgbClr val="000000"/>
                </a:solidFill>
                <a:latin typeface="Microsoft YaHei" panose="020B0503020204020204" pitchFamily="34" charset="-122"/>
                <a:ea typeface="微软雅黑" panose="020B0503020204020204" pitchFamily="34" charset="-122"/>
              </a:rPr>
              <a:t>等 </a:t>
            </a:r>
            <a:r>
              <a:rPr lang="en-US" altLang="zh-CN" sz="1900">
                <a:solidFill>
                  <a:srgbClr val="000000"/>
                </a:solidFill>
                <a:latin typeface="Microsoft YaHei" panose="020B0503020204020204" pitchFamily="34" charset="-122"/>
                <a:ea typeface="微软雅黑" panose="020B0503020204020204" pitchFamily="34" charset="-122"/>
              </a:rPr>
              <a:t>[187-001]</a:t>
            </a:r>
            <a:r>
              <a:rPr lang="zh-CN" altLang="en-US" sz="1900">
                <a:solidFill>
                  <a:srgbClr val="000000"/>
                </a:solidFill>
                <a:latin typeface="Microsoft YaHei" panose="020B0503020204020204" pitchFamily="34" charset="-122"/>
                <a:ea typeface="微软雅黑" panose="020B0503020204020204" pitchFamily="34" charset="-122"/>
              </a:rPr>
              <a:t>介绍并比较。</a:t>
            </a:r>
          </a:p>
        </p:txBody>
      </p:sp>
      <p:sp>
        <p:nvSpPr>
          <p:cNvPr id="16" name="文本框 15">
            <a:extLst>
              <a:ext uri="{FF2B5EF4-FFF2-40B4-BE49-F238E27FC236}">
                <a16:creationId xmlns:a16="http://schemas.microsoft.com/office/drawing/2014/main" id="{8771CB35-9D6D-AC5D-F00F-FF8C0E65C414}"/>
              </a:ext>
            </a:extLst>
          </p:cNvPr>
          <p:cNvSpPr txBox="1"/>
          <p:nvPr/>
        </p:nvSpPr>
        <p:spPr>
          <a:xfrm>
            <a:off x="6426200" y="3098800"/>
            <a:ext cx="5080000" cy="977900"/>
          </a:xfrm>
          <a:prstGeom prst="rect">
            <a:avLst/>
          </a:prstGeom>
          <a:noFill/>
        </p:spPr>
        <p:txBody>
          <a:bodyPr vert="horz" wrap="square" lIns="0" tIns="0" rIns="0" bIns="0" rtlCol="0">
            <a:noAutofit/>
          </a:bodyPr>
          <a:lstStyle/>
          <a:p>
            <a:pPr>
              <a:lnSpc>
                <a:spcPts val="2470"/>
              </a:lnSpc>
            </a:pPr>
            <a:r>
              <a:rPr lang="en-US" altLang="zh-CN" sz="1900">
                <a:solidFill>
                  <a:srgbClr val="000000"/>
                </a:solidFill>
                <a:latin typeface="Microsoft YaHei" panose="020B0503020204020204" pitchFamily="34" charset="-122"/>
                <a:ea typeface="微软雅黑" panose="020B0503020204020204" pitchFamily="34" charset="-122"/>
              </a:rPr>
              <a:t>MDM</a:t>
            </a:r>
          </a:p>
          <a:p>
            <a:pPr>
              <a:lnSpc>
                <a:spcPts val="2470"/>
              </a:lnSpc>
            </a:pPr>
            <a:r>
              <a:rPr lang="zh-CN" altLang="en-US" sz="1900">
                <a:solidFill>
                  <a:srgbClr val="000000"/>
                </a:solidFill>
                <a:latin typeface="Microsoft YaHei" panose="020B0503020204020204" pitchFamily="34" charset="-122"/>
                <a:ea typeface="微软雅黑" panose="020B0503020204020204" pitchFamily="34" charset="-122"/>
              </a:rPr>
              <a:t>部分后续比较与提出团队作者重合。</a:t>
            </a:r>
          </a:p>
        </p:txBody>
      </p:sp>
      <p:sp>
        <p:nvSpPr>
          <p:cNvPr id="17" name="文本框 16">
            <a:extLst>
              <a:ext uri="{FF2B5EF4-FFF2-40B4-BE49-F238E27FC236}">
                <a16:creationId xmlns:a16="http://schemas.microsoft.com/office/drawing/2014/main" id="{50275E3D-0943-869E-6274-43225AD68010}"/>
              </a:ext>
            </a:extLst>
          </p:cNvPr>
          <p:cNvSpPr txBox="1"/>
          <p:nvPr/>
        </p:nvSpPr>
        <p:spPr>
          <a:xfrm>
            <a:off x="6426200" y="4419600"/>
            <a:ext cx="5080000" cy="1308100"/>
          </a:xfrm>
          <a:prstGeom prst="rect">
            <a:avLst/>
          </a:prstGeom>
          <a:noFill/>
        </p:spPr>
        <p:txBody>
          <a:bodyPr vert="horz" wrap="square" lIns="0" tIns="0" rIns="0" bIns="0" rtlCol="0">
            <a:noAutofit/>
          </a:bodyPr>
          <a:lstStyle/>
          <a:p>
            <a:pPr>
              <a:lnSpc>
                <a:spcPts val="2470"/>
              </a:lnSpc>
            </a:pPr>
            <a:r>
              <a:rPr lang="en-US" altLang="zh-CN" sz="1900">
                <a:solidFill>
                  <a:srgbClr val="000000"/>
                </a:solidFill>
                <a:latin typeface="Microsoft YaHei" panose="020B0503020204020204" pitchFamily="34" charset="-122"/>
                <a:ea typeface="微软雅黑" panose="020B0503020204020204" pitchFamily="34" charset="-122"/>
              </a:rPr>
              <a:t>SAM</a:t>
            </a:r>
            <a:r>
              <a:rPr lang="zh-CN" altLang="en-US" sz="1900">
                <a:solidFill>
                  <a:srgbClr val="000000"/>
                </a:solidFill>
                <a:latin typeface="Microsoft YaHei" panose="020B0503020204020204" pitchFamily="34" charset="-122"/>
                <a:ea typeface="微软雅黑" panose="020B0503020204020204" pitchFamily="34" charset="-122"/>
              </a:rPr>
              <a:t>、</a:t>
            </a:r>
            <a:r>
              <a:rPr lang="en-US" altLang="zh-CN" sz="1900">
                <a:solidFill>
                  <a:srgbClr val="000000"/>
                </a:solidFill>
                <a:latin typeface="Microsoft YaHei" panose="020B0503020204020204" pitchFamily="34" charset="-122"/>
                <a:ea typeface="微软雅黑" panose="020B0503020204020204" pitchFamily="34" charset="-122"/>
              </a:rPr>
              <a:t>BPNN</a:t>
            </a:r>
            <a:r>
              <a:rPr lang="zh-CN" altLang="en-US" sz="1900">
                <a:solidFill>
                  <a:srgbClr val="000000"/>
                </a:solidFill>
                <a:latin typeface="Microsoft YaHei" panose="020B0503020204020204" pitchFamily="34" charset="-122"/>
                <a:ea typeface="微软雅黑" panose="020B0503020204020204" pitchFamily="34" charset="-122"/>
              </a:rPr>
              <a:t>、</a:t>
            </a:r>
            <a:r>
              <a:rPr lang="en-US" altLang="zh-CN" sz="1900">
                <a:solidFill>
                  <a:srgbClr val="000000"/>
                </a:solidFill>
                <a:latin typeface="Microsoft YaHei" panose="020B0503020204020204" pitchFamily="34" charset="-122"/>
                <a:ea typeface="微软雅黑" panose="020B0503020204020204" pitchFamily="34" charset="-122"/>
              </a:rPr>
              <a:t>DMMLE</a:t>
            </a:r>
          </a:p>
          <a:p>
            <a:pPr>
              <a:lnSpc>
                <a:spcPts val="2470"/>
              </a:lnSpc>
            </a:pPr>
            <a:r>
              <a:rPr lang="zh-CN" altLang="en-US" sz="1900">
                <a:solidFill>
                  <a:srgbClr val="000000"/>
                </a:solidFill>
                <a:latin typeface="Microsoft YaHei" panose="020B0503020204020204" pitchFamily="34" charset="-122"/>
                <a:ea typeface="微软雅黑" panose="020B0503020204020204" pitchFamily="34" charset="-122"/>
              </a:rPr>
              <a:t>已核提出论文中的比较；本次尚未</a:t>
            </a:r>
          </a:p>
          <a:p>
            <a:pPr>
              <a:lnSpc>
                <a:spcPts val="2470"/>
              </a:lnSpc>
            </a:pPr>
            <a:r>
              <a:rPr lang="zh-CN" altLang="en-US" sz="1900">
                <a:solidFill>
                  <a:srgbClr val="000000"/>
                </a:solidFill>
                <a:latin typeface="Microsoft YaHei" panose="020B0503020204020204" pitchFamily="34" charset="-122"/>
                <a:ea typeface="微软雅黑" panose="020B0503020204020204" pitchFamily="34" charset="-122"/>
              </a:rPr>
              <a:t>确认充分的独立后续检验。</a:t>
            </a:r>
          </a:p>
        </p:txBody>
      </p:sp>
    </p:spTree>
    <p:extLst>
      <p:ext uri="{BB962C8B-B14F-4D97-AF65-F5344CB8AC3E}">
        <p14:creationId xmlns:p14="http://schemas.microsoft.com/office/powerpoint/2010/main" val="41521261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400" b="1" spc="-150">
                <a:solidFill>
                  <a:srgbClr val="FFFFFF"/>
                </a:solidFill>
                <a:latin typeface="汉仪文润宋韵 U"/>
                <a:ea typeface="汉仪文润宋韵 U"/>
                <a:cs typeface="汉仪文润宋韵 U"/>
              </a:rPr>
              <a:t>相近论文：常用参照与直接前身各有作用</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对照选择、版本与验证</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03</a:t>
            </a:r>
            <a:endParaRPr sz="1800">
              <a:latin typeface="Microsoft YaHei"/>
            </a:endParaRPr>
          </a:p>
        </p:txBody>
      </p:sp>
      <p:sp>
        <p:nvSpPr>
          <p:cNvPr id="6" name="文本框 5">
            <a:extLst>
              <a:ext uri="{FF2B5EF4-FFF2-40B4-BE49-F238E27FC236}">
                <a16:creationId xmlns:a16="http://schemas.microsoft.com/office/drawing/2014/main" id="{6A4905D9-126E-7C20-FFBB-4A61C0410080}"/>
              </a:ext>
            </a:extLst>
          </p:cNvPr>
          <p:cNvSpPr txBox="1"/>
          <p:nvPr/>
        </p:nvSpPr>
        <p:spPr>
          <a:xfrm>
            <a:off x="622300" y="1676400"/>
            <a:ext cx="10922000" cy="558800"/>
          </a:xfrm>
          <a:prstGeom prst="rect">
            <a:avLst/>
          </a:prstGeom>
          <a:noFill/>
        </p:spPr>
        <p:txBody>
          <a:bodyPr vert="horz" wrap="square" lIns="0" tIns="0" rIns="0" bIns="0" rtlCol="0">
            <a:noAutofit/>
          </a:bodyPr>
          <a:lstStyle/>
          <a:p>
            <a:pPr>
              <a:lnSpc>
                <a:spcPts val="2340"/>
              </a:lnSpc>
            </a:pPr>
            <a:r>
              <a:rPr lang="zh-CN" altLang="en-US">
                <a:solidFill>
                  <a:srgbClr val="2F6096"/>
                </a:solidFill>
                <a:latin typeface="Microsoft YaHei" panose="020B0503020204020204" pitchFamily="34" charset="-122"/>
                <a:ea typeface="微软雅黑" panose="020B0503020204020204" pitchFamily="34" charset="-122"/>
              </a:rPr>
              <a:t>先看别人实际与谁比，再形成我们的选择建议。</a:t>
            </a:r>
          </a:p>
        </p:txBody>
      </p:sp>
      <p:sp>
        <p:nvSpPr>
          <p:cNvPr id="7" name="文本框 6">
            <a:extLst>
              <a:ext uri="{FF2B5EF4-FFF2-40B4-BE49-F238E27FC236}">
                <a16:creationId xmlns:a16="http://schemas.microsoft.com/office/drawing/2014/main" id="{BF76769D-3F82-E47D-9A13-0A6944372FF5}"/>
              </a:ext>
            </a:extLst>
          </p:cNvPr>
          <p:cNvSpPr txBox="1"/>
          <p:nvPr/>
        </p:nvSpPr>
        <p:spPr>
          <a:xfrm>
            <a:off x="622300" y="5981700"/>
            <a:ext cx="10922000" cy="508000"/>
          </a:xfrm>
          <a:prstGeom prst="rect">
            <a:avLst/>
          </a:prstGeom>
          <a:noFill/>
        </p:spPr>
        <p:txBody>
          <a:bodyPr vert="horz" wrap="square" lIns="0" tIns="0" rIns="0" bIns="0" rtlCol="0">
            <a:noAutofit/>
          </a:bodyPr>
          <a:lstStyle/>
          <a:p>
            <a:pPr>
              <a:lnSpc>
                <a:spcPts val="2210"/>
              </a:lnSpc>
            </a:pPr>
            <a:r>
              <a:rPr lang="zh-CN" altLang="en-US" sz="1700" b="1">
                <a:solidFill>
                  <a:srgbClr val="2F6096"/>
                </a:solidFill>
                <a:latin typeface="Microsoft YaHei" panose="020B0503020204020204" pitchFamily="34" charset="-122"/>
                <a:ea typeface="微软雅黑" panose="020B0503020204020204" pitchFamily="34" charset="-122"/>
              </a:rPr>
              <a:t>可借鉴“共同参照＋近期近邻＋直接母方法”的组合，不按名称凑数量。</a:t>
            </a:r>
          </a:p>
        </p:txBody>
      </p:sp>
      <p:graphicFrame>
        <p:nvGraphicFramePr>
          <p:cNvPr id="8" name="表格 7">
            <a:extLst>
              <a:ext uri="{FF2B5EF4-FFF2-40B4-BE49-F238E27FC236}">
                <a16:creationId xmlns:a16="http://schemas.microsoft.com/office/drawing/2014/main" id="{58807F21-069D-AC16-568A-06FDE7C5058E}"/>
              </a:ext>
            </a:extLst>
          </p:cNvPr>
          <p:cNvGraphicFramePr>
            <a:graphicFrameLocks noGrp="1"/>
          </p:cNvGraphicFramePr>
          <p:nvPr>
            <p:extLst>
              <p:ext uri="{D42A27DB-BD31-4B8C-83A1-F6EECF244321}">
                <p14:modId xmlns:p14="http://schemas.microsoft.com/office/powerpoint/2010/main" val="587567561"/>
              </p:ext>
            </p:extLst>
          </p:nvPr>
        </p:nvGraphicFramePr>
        <p:xfrm>
          <a:off x="622300" y="2413000"/>
          <a:ext cx="10922000" cy="3301998"/>
        </p:xfrm>
        <a:graphic>
          <a:graphicData uri="http://schemas.openxmlformats.org/drawingml/2006/table">
            <a:tbl>
              <a:tblPr firstRow="1" bandRow="1">
                <a:tableStyleId>{5C22544A-7EE6-4342-B048-85BDC9FD1C3A}</a:tableStyleId>
              </a:tblPr>
              <a:tblGrid>
                <a:gridCol w="3086100">
                  <a:extLst>
                    <a:ext uri="{9D8B030D-6E8A-4147-A177-3AD203B41FA5}">
                      <a16:colId xmlns:a16="http://schemas.microsoft.com/office/drawing/2014/main" val="3195878985"/>
                    </a:ext>
                  </a:extLst>
                </a:gridCol>
                <a:gridCol w="4000500">
                  <a:extLst>
                    <a:ext uri="{9D8B030D-6E8A-4147-A177-3AD203B41FA5}">
                      <a16:colId xmlns:a16="http://schemas.microsoft.com/office/drawing/2014/main" val="1824879681"/>
                    </a:ext>
                  </a:extLst>
                </a:gridCol>
                <a:gridCol w="3835400">
                  <a:extLst>
                    <a:ext uri="{9D8B030D-6E8A-4147-A177-3AD203B41FA5}">
                      <a16:colId xmlns:a16="http://schemas.microsoft.com/office/drawing/2014/main" val="3010383572"/>
                    </a:ext>
                  </a:extLst>
                </a:gridCol>
              </a:tblGrid>
              <a:tr h="550333">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提出工作</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原文实际对手</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比较作用的归纳</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extLst>
                  <a:ext uri="{0D108BD9-81ED-4DB2-BD59-A6C34878D82A}">
                    <a16:rowId xmlns:a16="http://schemas.microsoft.com/office/drawing/2014/main" val="3214650536"/>
                  </a:ext>
                </a:extLst>
              </a:tr>
              <a:tr h="550333">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SAM [185-005]</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MLE</a:t>
                      </a:r>
                      <a:r>
                        <a:rPr lang="zh-CN" altLang="en-US" sz="1600" b="0">
                          <a:solidFill>
                            <a:srgbClr val="000000"/>
                          </a:solidFill>
                          <a:latin typeface="Microsoft YaHei" panose="020B0503020204020204" pitchFamily="34" charset="-122"/>
                          <a:ea typeface="微软雅黑" panose="020B0503020204020204" pitchFamily="34" charset="-122"/>
                        </a:rPr>
                        <a:t>、</a:t>
                      </a:r>
                      <a:r>
                        <a:rPr lang="en-US" altLang="zh-CN" sz="1600" b="0">
                          <a:solidFill>
                            <a:srgbClr val="000000"/>
                          </a:solidFill>
                          <a:latin typeface="Microsoft YaHei" panose="020B0503020204020204" pitchFamily="34" charset="-122"/>
                          <a:ea typeface="微软雅黑" panose="020B0503020204020204" pitchFamily="34" charset="-122"/>
                        </a:rPr>
                        <a:t>CCWP</a:t>
                      </a:r>
                      <a:r>
                        <a:rPr lang="zh-CN" altLang="en-US" sz="1600" b="0">
                          <a:solidFill>
                            <a:srgbClr val="000000"/>
                          </a:solidFill>
                          <a:latin typeface="Microsoft YaHei" panose="020B0503020204020204" pitchFamily="34" charset="-122"/>
                          <a:ea typeface="微软雅黑" panose="020B0503020204020204" pitchFamily="34" charset="-122"/>
                        </a:rPr>
                        <a:t>、</a:t>
                      </a:r>
                      <a:r>
                        <a:rPr lang="en-US" altLang="zh-CN" sz="1600" b="0">
                          <a:solidFill>
                            <a:srgbClr val="000000"/>
                          </a:solidFill>
                          <a:latin typeface="Microsoft YaHei" panose="020B0503020204020204" pitchFamily="34" charset="-122"/>
                          <a:ea typeface="微软雅黑" panose="020B0503020204020204" pitchFamily="34" charset="-122"/>
                        </a:rPr>
                        <a:t>PWM</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跨路线参照</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765226178"/>
                  </a:ext>
                </a:extLst>
              </a:tr>
              <a:tr h="550333">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PM [182-117]</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LSE</a:t>
                      </a:r>
                      <a:r>
                        <a:rPr lang="zh-CN" altLang="en-US" sz="1600" b="0">
                          <a:solidFill>
                            <a:srgbClr val="000000"/>
                          </a:solidFill>
                          <a:latin typeface="Microsoft YaHei" panose="020B0503020204020204" pitchFamily="34" charset="-122"/>
                          <a:ea typeface="微软雅黑" panose="020B0503020204020204" pitchFamily="34" charset="-122"/>
                        </a:rPr>
                        <a:t>、</a:t>
                      </a:r>
                      <a:r>
                        <a:rPr lang="en-US" altLang="zh-CN" sz="1600" b="0">
                          <a:solidFill>
                            <a:srgbClr val="000000"/>
                          </a:solidFill>
                          <a:latin typeface="Microsoft YaHei" panose="020B0503020204020204" pitchFamily="34" charset="-122"/>
                          <a:ea typeface="微软雅黑" panose="020B0503020204020204" pitchFamily="34" charset="-122"/>
                        </a:rPr>
                        <a:t>MLE</a:t>
                      </a:r>
                      <a:r>
                        <a:rPr lang="zh-CN" altLang="en-US" sz="1600" b="0">
                          <a:solidFill>
                            <a:srgbClr val="000000"/>
                          </a:solidFill>
                          <a:latin typeface="Microsoft YaHei" panose="020B0503020204020204" pitchFamily="34" charset="-122"/>
                          <a:ea typeface="微软雅黑" panose="020B0503020204020204" pitchFamily="34" charset="-122"/>
                        </a:rPr>
                        <a:t>、</a:t>
                      </a:r>
                      <a:r>
                        <a:rPr lang="en-US" altLang="zh-CN" sz="1600" b="0">
                          <a:solidFill>
                            <a:srgbClr val="000000"/>
                          </a:solidFill>
                          <a:latin typeface="Microsoft YaHei" panose="020B0503020204020204" pitchFamily="34" charset="-122"/>
                          <a:ea typeface="微软雅黑" panose="020B0503020204020204" pitchFamily="34" charset="-122"/>
                        </a:rPr>
                        <a:t>PWM</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相关条件下的多方法比较</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3040479415"/>
                  </a:ext>
                </a:extLst>
              </a:tr>
              <a:tr h="550333">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BPNN [184-009]</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CCM</a:t>
                      </a:r>
                      <a:r>
                        <a:rPr lang="zh-CN" altLang="en-US" sz="1600" b="0">
                          <a:solidFill>
                            <a:srgbClr val="000000"/>
                          </a:solidFill>
                          <a:latin typeface="Microsoft YaHei" panose="020B0503020204020204" pitchFamily="34" charset="-122"/>
                          <a:ea typeface="微软雅黑" panose="020B0503020204020204" pitchFamily="34" charset="-122"/>
                        </a:rPr>
                        <a:t>、</a:t>
                      </a:r>
                      <a:r>
                        <a:rPr lang="en-US" altLang="zh-CN" sz="1600" b="0">
                          <a:solidFill>
                            <a:srgbClr val="000000"/>
                          </a:solidFill>
                          <a:latin typeface="Microsoft YaHei" panose="020B0503020204020204" pitchFamily="34" charset="-122"/>
                          <a:ea typeface="微软雅黑" panose="020B0503020204020204" pitchFamily="34" charset="-122"/>
                        </a:rPr>
                        <a:t>MDM</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相关小样本方法</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4185588562"/>
                  </a:ext>
                </a:extLst>
              </a:tr>
              <a:tr h="550333">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WMLE</a:t>
                      </a:r>
                      <a:r>
                        <a:rPr lang="zh-CN" altLang="en-US" sz="1600" b="0">
                          <a:solidFill>
                            <a:srgbClr val="000000"/>
                          </a:solidFill>
                          <a:latin typeface="Microsoft YaHei" panose="020B0503020204020204" pitchFamily="34" charset="-122"/>
                          <a:ea typeface="微软雅黑" panose="020B0503020204020204" pitchFamily="34" charset="-122"/>
                        </a:rPr>
                        <a:t>形状修正 </a:t>
                      </a:r>
                      <a:r>
                        <a:rPr lang="en-US" altLang="zh-CN" sz="1600" b="0">
                          <a:solidFill>
                            <a:srgbClr val="000000"/>
                          </a:solidFill>
                          <a:latin typeface="Microsoft YaHei" panose="020B0503020204020204" pitchFamily="34" charset="-122"/>
                          <a:ea typeface="微软雅黑" panose="020B0503020204020204" pitchFamily="34" charset="-122"/>
                        </a:rPr>
                        <a:t>[182-024]</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原</a:t>
                      </a:r>
                      <a:r>
                        <a:rPr lang="en-US" altLang="zh-CN" sz="1600" b="0">
                          <a:solidFill>
                            <a:srgbClr val="000000"/>
                          </a:solidFill>
                          <a:latin typeface="Microsoft YaHei" panose="020B0503020204020204" pitchFamily="34" charset="-122"/>
                          <a:ea typeface="微软雅黑" panose="020B0503020204020204" pitchFamily="34" charset="-122"/>
                        </a:rPr>
                        <a:t>WMLE</a:t>
                      </a:r>
                      <a:r>
                        <a:rPr lang="zh-CN" altLang="en-US" sz="1600" b="0">
                          <a:solidFill>
                            <a:srgbClr val="000000"/>
                          </a:solidFill>
                          <a:latin typeface="Microsoft YaHei" panose="020B0503020204020204" pitchFamily="34" charset="-122"/>
                          <a:ea typeface="微软雅黑" panose="020B0503020204020204" pitchFamily="34" charset="-122"/>
                        </a:rPr>
                        <a:t>、其他修正版本</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识别相对前身的新增收益</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2354727762"/>
                  </a:ext>
                </a:extLst>
              </a:tr>
              <a:tr h="550333">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LSPF [182-113]</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BL</a:t>
                      </a:r>
                      <a:r>
                        <a:rPr lang="zh-CN" altLang="en-US" sz="1600" b="0">
                          <a:solidFill>
                            <a:srgbClr val="000000"/>
                          </a:solidFill>
                          <a:latin typeface="Microsoft YaHei" panose="020B0503020204020204" pitchFamily="34" charset="-122"/>
                          <a:ea typeface="微软雅黑" panose="020B0503020204020204" pitchFamily="34" charset="-122"/>
                        </a:rPr>
                        <a:t>、</a:t>
                      </a:r>
                      <a:r>
                        <a:rPr lang="en-US" altLang="zh-CN" sz="1600" b="0">
                          <a:solidFill>
                            <a:srgbClr val="000000"/>
                          </a:solidFill>
                          <a:latin typeface="Microsoft YaHei" panose="020B0503020204020204" pitchFamily="34" charset="-122"/>
                          <a:ea typeface="微软雅黑" panose="020B0503020204020204" pitchFamily="34" charset="-122"/>
                        </a:rPr>
                        <a:t>w-ML</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有限样本与位置估计对手</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3568740424"/>
                  </a:ext>
                </a:extLst>
              </a:tr>
            </a:tbl>
          </a:graphicData>
        </a:graphic>
      </p:graphicFrame>
    </p:spTree>
    <p:extLst>
      <p:ext uri="{BB962C8B-B14F-4D97-AF65-F5344CB8AC3E}">
        <p14:creationId xmlns:p14="http://schemas.microsoft.com/office/powerpoint/2010/main" val="36185978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400" b="1" spc="-150">
                <a:solidFill>
                  <a:srgbClr val="FFFFFF"/>
                </a:solidFill>
                <a:latin typeface="汉仪文润宋韵 U"/>
                <a:ea typeface="汉仪文润宋韵 U"/>
                <a:cs typeface="汉仪文润宋韵 U"/>
              </a:rPr>
              <a:t>对照建议：每个入选方法承担明确作用</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对照选择、版本与验证</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03</a:t>
            </a:r>
            <a:endParaRPr sz="1800">
              <a:latin typeface="Microsoft YaHei"/>
            </a:endParaRPr>
          </a:p>
        </p:txBody>
      </p:sp>
      <p:sp>
        <p:nvSpPr>
          <p:cNvPr id="6" name="文本框 5">
            <a:extLst>
              <a:ext uri="{FF2B5EF4-FFF2-40B4-BE49-F238E27FC236}">
                <a16:creationId xmlns:a16="http://schemas.microsoft.com/office/drawing/2014/main" id="{28A02C7C-E938-1921-73A8-7336F9F94CAB}"/>
              </a:ext>
            </a:extLst>
          </p:cNvPr>
          <p:cNvSpPr txBox="1"/>
          <p:nvPr/>
        </p:nvSpPr>
        <p:spPr>
          <a:xfrm>
            <a:off x="622300" y="1676400"/>
            <a:ext cx="10922000" cy="558800"/>
          </a:xfrm>
          <a:prstGeom prst="rect">
            <a:avLst/>
          </a:prstGeom>
          <a:noFill/>
        </p:spPr>
        <p:txBody>
          <a:bodyPr vert="horz" wrap="square" lIns="0" tIns="0" rIns="0" bIns="0" rtlCol="0">
            <a:noAutofit/>
          </a:bodyPr>
          <a:lstStyle/>
          <a:p>
            <a:pPr>
              <a:lnSpc>
                <a:spcPts val="2340"/>
              </a:lnSpc>
            </a:pPr>
            <a:r>
              <a:rPr lang="zh-CN" altLang="en-US">
                <a:solidFill>
                  <a:srgbClr val="2F6096"/>
                </a:solidFill>
                <a:latin typeface="Microsoft YaHei" panose="020B0503020204020204" pitchFamily="34" charset="-122"/>
                <a:ea typeface="微软雅黑" panose="020B0503020204020204" pitchFamily="34" charset="-122"/>
              </a:rPr>
              <a:t>以下面向完整三参数、重点小样本的点估计论文，属于初选建议。</a:t>
            </a:r>
          </a:p>
        </p:txBody>
      </p:sp>
      <p:sp>
        <p:nvSpPr>
          <p:cNvPr id="7" name="文本框 6">
            <a:extLst>
              <a:ext uri="{FF2B5EF4-FFF2-40B4-BE49-F238E27FC236}">
                <a16:creationId xmlns:a16="http://schemas.microsoft.com/office/drawing/2014/main" id="{47D43439-6665-4F74-B574-047913EADC80}"/>
              </a:ext>
            </a:extLst>
          </p:cNvPr>
          <p:cNvSpPr txBox="1"/>
          <p:nvPr/>
        </p:nvSpPr>
        <p:spPr>
          <a:xfrm>
            <a:off x="622300" y="5981700"/>
            <a:ext cx="10922000" cy="508000"/>
          </a:xfrm>
          <a:prstGeom prst="rect">
            <a:avLst/>
          </a:prstGeom>
          <a:noFill/>
        </p:spPr>
        <p:txBody>
          <a:bodyPr vert="horz" wrap="square" lIns="0" tIns="0" rIns="0" bIns="0" rtlCol="0">
            <a:noAutofit/>
          </a:bodyPr>
          <a:lstStyle/>
          <a:p>
            <a:pPr>
              <a:lnSpc>
                <a:spcPts val="2210"/>
              </a:lnSpc>
            </a:pPr>
            <a:r>
              <a:rPr lang="zh-CN" altLang="en-US" sz="1700" b="1">
                <a:solidFill>
                  <a:srgbClr val="2F6096"/>
                </a:solidFill>
                <a:latin typeface="Microsoft YaHei" panose="020B0503020204020204" pitchFamily="34" charset="-122"/>
                <a:ea typeface="微软雅黑" panose="020B0503020204020204" pitchFamily="34" charset="-122"/>
              </a:rPr>
              <a:t>按主张扩展</a:t>
            </a:r>
            <a:r>
              <a:rPr lang="en-US" altLang="zh-CN" sz="1700" b="1">
                <a:solidFill>
                  <a:srgbClr val="2F6096"/>
                </a:solidFill>
                <a:latin typeface="Microsoft YaHei" panose="020B0503020204020204" pitchFamily="34" charset="-122"/>
                <a:ea typeface="微软雅黑" panose="020B0503020204020204" pitchFamily="34" charset="-122"/>
              </a:rPr>
              <a:t>MPS/PWM</a:t>
            </a:r>
            <a:r>
              <a:rPr lang="zh-CN" altLang="en-US" sz="1700" b="1">
                <a:solidFill>
                  <a:srgbClr val="2F6096"/>
                </a:solidFill>
                <a:latin typeface="Microsoft YaHei" panose="020B0503020204020204" pitchFamily="34" charset="-122"/>
                <a:ea typeface="微软雅黑" panose="020B0503020204020204" pitchFamily="34" charset="-122"/>
              </a:rPr>
              <a:t>、</a:t>
            </a:r>
            <a:r>
              <a:rPr lang="en-US" altLang="zh-CN" sz="1700" b="1">
                <a:solidFill>
                  <a:srgbClr val="2F6096"/>
                </a:solidFill>
                <a:latin typeface="Microsoft YaHei" panose="020B0503020204020204" pitchFamily="34" charset="-122"/>
                <a:ea typeface="微软雅黑" panose="020B0503020204020204" pitchFamily="34" charset="-122"/>
              </a:rPr>
              <a:t>LSPF</a:t>
            </a:r>
            <a:r>
              <a:rPr lang="zh-CN" altLang="en-US" sz="1700" b="1">
                <a:solidFill>
                  <a:srgbClr val="2F6096"/>
                </a:solidFill>
                <a:latin typeface="Microsoft YaHei" panose="020B0503020204020204" pitchFamily="34" charset="-122"/>
                <a:ea typeface="微软雅黑" panose="020B0503020204020204" pitchFamily="34" charset="-122"/>
              </a:rPr>
              <a:t>、</a:t>
            </a:r>
            <a:r>
              <a:rPr lang="en-US" altLang="zh-CN" sz="1700" b="1">
                <a:solidFill>
                  <a:srgbClr val="2F6096"/>
                </a:solidFill>
                <a:latin typeface="Microsoft YaHei" panose="020B0503020204020204" pitchFamily="34" charset="-122"/>
                <a:ea typeface="微软雅黑" panose="020B0503020204020204" pitchFamily="34" charset="-122"/>
              </a:rPr>
              <a:t>BPNN</a:t>
            </a:r>
            <a:r>
              <a:rPr lang="zh-CN" altLang="en-US" sz="1700" b="1">
                <a:solidFill>
                  <a:srgbClr val="2F6096"/>
                </a:solidFill>
                <a:latin typeface="Microsoft YaHei" panose="020B0503020204020204" pitchFamily="34" charset="-122"/>
                <a:ea typeface="微软雅黑" panose="020B0503020204020204" pitchFamily="34" charset="-122"/>
              </a:rPr>
              <a:t>或</a:t>
            </a:r>
            <a:r>
              <a:rPr lang="en-US" altLang="zh-CN" sz="1700" b="1">
                <a:solidFill>
                  <a:srgbClr val="2F6096"/>
                </a:solidFill>
                <a:latin typeface="Microsoft YaHei" panose="020B0503020204020204" pitchFamily="34" charset="-122"/>
                <a:ea typeface="微软雅黑" panose="020B0503020204020204" pitchFamily="34" charset="-122"/>
              </a:rPr>
              <a:t>DMMLE</a:t>
            </a:r>
            <a:r>
              <a:rPr lang="zh-CN" altLang="en-US" sz="1700" b="1">
                <a:solidFill>
                  <a:srgbClr val="2F6096"/>
                </a:solidFill>
                <a:latin typeface="Microsoft YaHei" panose="020B0503020204020204" pitchFamily="34" charset="-122"/>
                <a:ea typeface="微软雅黑" panose="020B0503020204020204" pitchFamily="34" charset="-122"/>
              </a:rPr>
              <a:t>；暂不纳入不等于性能淘汰。</a:t>
            </a:r>
          </a:p>
        </p:txBody>
      </p:sp>
      <p:graphicFrame>
        <p:nvGraphicFramePr>
          <p:cNvPr id="8" name="表格 7">
            <a:extLst>
              <a:ext uri="{FF2B5EF4-FFF2-40B4-BE49-F238E27FC236}">
                <a16:creationId xmlns:a16="http://schemas.microsoft.com/office/drawing/2014/main" id="{CA510211-DAF4-96B6-DB0E-31F1165336C3}"/>
              </a:ext>
            </a:extLst>
          </p:cNvPr>
          <p:cNvGraphicFramePr>
            <a:graphicFrameLocks noGrp="1"/>
          </p:cNvGraphicFramePr>
          <p:nvPr>
            <p:extLst>
              <p:ext uri="{D42A27DB-BD31-4B8C-83A1-F6EECF244321}">
                <p14:modId xmlns:p14="http://schemas.microsoft.com/office/powerpoint/2010/main" val="3898706717"/>
              </p:ext>
            </p:extLst>
          </p:nvPr>
        </p:nvGraphicFramePr>
        <p:xfrm>
          <a:off x="622300" y="2413000"/>
          <a:ext cx="10922000" cy="3301998"/>
        </p:xfrm>
        <a:graphic>
          <a:graphicData uri="http://schemas.openxmlformats.org/drawingml/2006/table">
            <a:tbl>
              <a:tblPr firstRow="1" bandRow="1">
                <a:tableStyleId>{5C22544A-7EE6-4342-B048-85BDC9FD1C3A}</a:tableStyleId>
              </a:tblPr>
              <a:tblGrid>
                <a:gridCol w="3086100">
                  <a:extLst>
                    <a:ext uri="{9D8B030D-6E8A-4147-A177-3AD203B41FA5}">
                      <a16:colId xmlns:a16="http://schemas.microsoft.com/office/drawing/2014/main" val="794623125"/>
                    </a:ext>
                  </a:extLst>
                </a:gridCol>
                <a:gridCol w="4000500">
                  <a:extLst>
                    <a:ext uri="{9D8B030D-6E8A-4147-A177-3AD203B41FA5}">
                      <a16:colId xmlns:a16="http://schemas.microsoft.com/office/drawing/2014/main" val="665228427"/>
                    </a:ext>
                  </a:extLst>
                </a:gridCol>
                <a:gridCol w="3835400">
                  <a:extLst>
                    <a:ext uri="{9D8B030D-6E8A-4147-A177-3AD203B41FA5}">
                      <a16:colId xmlns:a16="http://schemas.microsoft.com/office/drawing/2014/main" val="905997384"/>
                    </a:ext>
                  </a:extLst>
                </a:gridCol>
              </a:tblGrid>
              <a:tr h="550333">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比较作用</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起始候选</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为什么保留或加入</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extLst>
                  <a:ext uri="{0D108BD9-81ED-4DB2-BD59-A6C34878D82A}">
                    <a16:rowId xmlns:a16="http://schemas.microsoft.com/office/drawing/2014/main" val="3148723406"/>
                  </a:ext>
                </a:extLst>
              </a:tr>
              <a:tr h="550333">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共同参照</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MLE</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联系相近文献，明确受限或局部解</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402116768"/>
                  </a:ext>
                </a:extLst>
              </a:tr>
              <a:tr h="550333">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有限样本改进</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Cousineau WMLE</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有修正内容与后续采用依据</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3140023757"/>
                  </a:ext>
                </a:extLst>
              </a:tr>
              <a:tr h="550333">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概率图代表</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一个明确的相关回归版本</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代表不同估计依据</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2291683713"/>
                  </a:ext>
                </a:extLst>
              </a:tr>
              <a:tr h="550333">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近期同任务构造</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SAM</a:t>
                      </a:r>
                      <a:r>
                        <a:rPr lang="zh-CN" altLang="en-US" sz="1600" b="0">
                          <a:solidFill>
                            <a:srgbClr val="000000"/>
                          </a:solidFill>
                          <a:latin typeface="Microsoft YaHei" panose="020B0503020204020204" pitchFamily="34" charset="-122"/>
                          <a:ea typeface="微软雅黑" panose="020B0503020204020204" pitchFamily="34" charset="-122"/>
                        </a:rPr>
                        <a:t>或</a:t>
                      </a:r>
                      <a:r>
                        <a:rPr lang="en-US" altLang="zh-CN" sz="1600" b="0">
                          <a:solidFill>
                            <a:srgbClr val="000000"/>
                          </a:solidFill>
                          <a:latin typeface="Microsoft YaHei" panose="020B0503020204020204" pitchFamily="34" charset="-122"/>
                          <a:ea typeface="微软雅黑" panose="020B0503020204020204" pitchFamily="34" charset="-122"/>
                        </a:rPr>
                        <a:t>PM</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已有极小样本研究</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3544926839"/>
                  </a:ext>
                </a:extLst>
              </a:tr>
              <a:tr h="550333">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新增收益</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新方法的直接母方法</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检验本次改动本身的贡献</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2816599595"/>
                  </a:ext>
                </a:extLst>
              </a:tr>
            </a:tbl>
          </a:graphicData>
        </a:graphic>
      </p:graphicFrame>
    </p:spTree>
    <p:extLst>
      <p:ext uri="{BB962C8B-B14F-4D97-AF65-F5344CB8AC3E}">
        <p14:creationId xmlns:p14="http://schemas.microsoft.com/office/powerpoint/2010/main" val="42866254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400" b="1" spc="-150">
                <a:solidFill>
                  <a:srgbClr val="FFFFFF"/>
                </a:solidFill>
                <a:latin typeface="汉仪文润宋韵 U"/>
                <a:ea typeface="汉仪文润宋韵 U"/>
                <a:cs typeface="汉仪文润宋韵 U"/>
              </a:rPr>
              <a:t>采用版本：方法名必须对应到实际构造</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对照选择、版本与验证</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03</a:t>
            </a:r>
            <a:endParaRPr sz="1800">
              <a:latin typeface="Microsoft YaHei"/>
            </a:endParaRPr>
          </a:p>
        </p:txBody>
      </p:sp>
      <p:sp>
        <p:nvSpPr>
          <p:cNvPr id="6" name="文本框 5">
            <a:extLst>
              <a:ext uri="{FF2B5EF4-FFF2-40B4-BE49-F238E27FC236}">
                <a16:creationId xmlns:a16="http://schemas.microsoft.com/office/drawing/2014/main" id="{7650F10A-9FF6-5DB6-2F06-4D17930303E5}"/>
              </a:ext>
            </a:extLst>
          </p:cNvPr>
          <p:cNvSpPr txBox="1"/>
          <p:nvPr/>
        </p:nvSpPr>
        <p:spPr>
          <a:xfrm>
            <a:off x="622300" y="1676400"/>
            <a:ext cx="10922000" cy="558800"/>
          </a:xfrm>
          <a:prstGeom prst="rect">
            <a:avLst/>
          </a:prstGeom>
          <a:noFill/>
        </p:spPr>
        <p:txBody>
          <a:bodyPr vert="horz" wrap="square" lIns="0" tIns="0" rIns="0" bIns="0" rtlCol="0">
            <a:noAutofit/>
          </a:bodyPr>
          <a:lstStyle/>
          <a:p>
            <a:pPr>
              <a:lnSpc>
                <a:spcPts val="2340"/>
              </a:lnSpc>
            </a:pPr>
            <a:r>
              <a:rPr lang="zh-CN" altLang="en-US">
                <a:solidFill>
                  <a:srgbClr val="2F6096"/>
                </a:solidFill>
                <a:latin typeface="Microsoft YaHei" panose="020B0503020204020204" pitchFamily="34" charset="-122"/>
                <a:ea typeface="微软雅黑" panose="020B0503020204020204" pitchFamily="34" charset="-122"/>
              </a:rPr>
              <a:t>构造论文负责定义方法，后续比较论文支持选型理由。</a:t>
            </a:r>
          </a:p>
        </p:txBody>
      </p:sp>
      <p:sp>
        <p:nvSpPr>
          <p:cNvPr id="7" name="文本框 6">
            <a:extLst>
              <a:ext uri="{FF2B5EF4-FFF2-40B4-BE49-F238E27FC236}">
                <a16:creationId xmlns:a16="http://schemas.microsoft.com/office/drawing/2014/main" id="{3F8CE453-AE40-7F8B-394A-9D15723EF39F}"/>
              </a:ext>
            </a:extLst>
          </p:cNvPr>
          <p:cNvSpPr txBox="1"/>
          <p:nvPr/>
        </p:nvSpPr>
        <p:spPr>
          <a:xfrm>
            <a:off x="622300" y="5981700"/>
            <a:ext cx="10922000" cy="508000"/>
          </a:xfrm>
          <a:prstGeom prst="rect">
            <a:avLst/>
          </a:prstGeom>
          <a:noFill/>
        </p:spPr>
        <p:txBody>
          <a:bodyPr vert="horz" wrap="square" lIns="0" tIns="0" rIns="0" bIns="0" rtlCol="0">
            <a:noAutofit/>
          </a:bodyPr>
          <a:lstStyle/>
          <a:p>
            <a:pPr>
              <a:lnSpc>
                <a:spcPts val="2210"/>
              </a:lnSpc>
            </a:pPr>
            <a:r>
              <a:rPr lang="zh-CN" altLang="en-US" sz="1700" b="1">
                <a:solidFill>
                  <a:srgbClr val="2F6096"/>
                </a:solidFill>
                <a:latin typeface="Microsoft YaHei" panose="020B0503020204020204" pitchFamily="34" charset="-122"/>
                <a:ea typeface="微软雅黑" panose="020B0503020204020204" pitchFamily="34" charset="-122"/>
              </a:rPr>
              <a:t>回归版本选型示例：若采用</a:t>
            </a:r>
            <a:r>
              <a:rPr lang="en-US" altLang="zh-CN" sz="1700" b="1">
                <a:solidFill>
                  <a:srgbClr val="2F6096"/>
                </a:solidFill>
                <a:latin typeface="Microsoft YaHei" panose="020B0503020204020204" pitchFamily="34" charset="-122"/>
                <a:ea typeface="微软雅黑" panose="020B0503020204020204" pitchFamily="34" charset="-122"/>
              </a:rPr>
              <a:t>Park</a:t>
            </a:r>
            <a:r>
              <a:rPr lang="zh-CN" altLang="en-US" sz="1700" b="1">
                <a:solidFill>
                  <a:srgbClr val="2F6096"/>
                </a:solidFill>
                <a:latin typeface="Microsoft YaHei" panose="020B0503020204020204" pitchFamily="34" charset="-122"/>
                <a:ea typeface="微软雅黑" panose="020B0503020204020204" pitchFamily="34" charset="-122"/>
              </a:rPr>
              <a:t>原版，就不能沿用</a:t>
            </a:r>
            <a:r>
              <a:rPr lang="en-US" altLang="zh-CN" sz="1700" b="1">
                <a:solidFill>
                  <a:srgbClr val="2F6096"/>
                </a:solidFill>
                <a:latin typeface="Microsoft YaHei" panose="020B0503020204020204" pitchFamily="34" charset="-122"/>
                <a:ea typeface="微软雅黑" panose="020B0503020204020204" pitchFamily="34" charset="-122"/>
              </a:rPr>
              <a:t>Bernard</a:t>
            </a:r>
            <a:r>
              <a:rPr lang="zh-CN" altLang="en-US" sz="1700" b="1">
                <a:solidFill>
                  <a:srgbClr val="2F6096"/>
                </a:solidFill>
                <a:latin typeface="Microsoft YaHei" panose="020B0503020204020204" pitchFamily="34" charset="-122"/>
                <a:ea typeface="微软雅黑" panose="020B0503020204020204" pitchFamily="34" charset="-122"/>
              </a:rPr>
              <a:t>分数结果称作复现。</a:t>
            </a:r>
          </a:p>
        </p:txBody>
      </p:sp>
      <p:graphicFrame>
        <p:nvGraphicFramePr>
          <p:cNvPr id="8" name="表格 7">
            <a:extLst>
              <a:ext uri="{FF2B5EF4-FFF2-40B4-BE49-F238E27FC236}">
                <a16:creationId xmlns:a16="http://schemas.microsoft.com/office/drawing/2014/main" id="{1AE12CCF-56EE-FE0F-5E9E-E3FB6EFC0DA2}"/>
              </a:ext>
            </a:extLst>
          </p:cNvPr>
          <p:cNvGraphicFramePr>
            <a:graphicFrameLocks noGrp="1"/>
          </p:cNvGraphicFramePr>
          <p:nvPr>
            <p:extLst>
              <p:ext uri="{D42A27DB-BD31-4B8C-83A1-F6EECF244321}">
                <p14:modId xmlns:p14="http://schemas.microsoft.com/office/powerpoint/2010/main" val="1327583566"/>
              </p:ext>
            </p:extLst>
          </p:nvPr>
        </p:nvGraphicFramePr>
        <p:xfrm>
          <a:off x="622300" y="2413000"/>
          <a:ext cx="10922000" cy="3301998"/>
        </p:xfrm>
        <a:graphic>
          <a:graphicData uri="http://schemas.openxmlformats.org/drawingml/2006/table">
            <a:tbl>
              <a:tblPr firstRow="1" bandRow="1">
                <a:tableStyleId>{5C22544A-7EE6-4342-B048-85BDC9FD1C3A}</a:tableStyleId>
              </a:tblPr>
              <a:tblGrid>
                <a:gridCol w="3086100">
                  <a:extLst>
                    <a:ext uri="{9D8B030D-6E8A-4147-A177-3AD203B41FA5}">
                      <a16:colId xmlns:a16="http://schemas.microsoft.com/office/drawing/2014/main" val="183469850"/>
                    </a:ext>
                  </a:extLst>
                </a:gridCol>
                <a:gridCol w="4000500">
                  <a:extLst>
                    <a:ext uri="{9D8B030D-6E8A-4147-A177-3AD203B41FA5}">
                      <a16:colId xmlns:a16="http://schemas.microsoft.com/office/drawing/2014/main" val="2108266563"/>
                    </a:ext>
                  </a:extLst>
                </a:gridCol>
                <a:gridCol w="3835400">
                  <a:extLst>
                    <a:ext uri="{9D8B030D-6E8A-4147-A177-3AD203B41FA5}">
                      <a16:colId xmlns:a16="http://schemas.microsoft.com/office/drawing/2014/main" val="3247050346"/>
                    </a:ext>
                  </a:extLst>
                </a:gridCol>
              </a:tblGrid>
              <a:tr h="550333">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方法</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可采用的明确版本</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引用与实现要对应</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extLst>
                  <a:ext uri="{0D108BD9-81ED-4DB2-BD59-A6C34878D82A}">
                    <a16:rowId xmlns:a16="http://schemas.microsoft.com/office/drawing/2014/main" val="577474159"/>
                  </a:ext>
                </a:extLst>
              </a:tr>
              <a:tr h="550333">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相关回归</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Park 2017 Proposed+Plot [182-115]</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相关系数定位后回归；项目</a:t>
                      </a:r>
                      <a:r>
                        <a:rPr lang="en-US" altLang="zh-CN" sz="1600" b="0">
                          <a:solidFill>
                            <a:srgbClr val="000000"/>
                          </a:solidFill>
                          <a:latin typeface="Microsoft YaHei" panose="020B0503020204020204" pitchFamily="34" charset="-122"/>
                          <a:ea typeface="微软雅黑" panose="020B0503020204020204" pitchFamily="34" charset="-122"/>
                        </a:rPr>
                        <a:t>LRE</a:t>
                      </a:r>
                      <a:r>
                        <a:rPr lang="zh-CN" altLang="en-US" sz="1600" b="0">
                          <a:solidFill>
                            <a:srgbClr val="000000"/>
                          </a:solidFill>
                          <a:latin typeface="Microsoft YaHei" panose="020B0503020204020204" pitchFamily="34" charset="-122"/>
                          <a:ea typeface="微软雅黑" panose="020B0503020204020204" pitchFamily="34" charset="-122"/>
                        </a:rPr>
                        <a:t>分数不同</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420210965"/>
                  </a:ext>
                </a:extLst>
              </a:tr>
              <a:tr h="550333">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LS</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Soman–Misra White</a:t>
                      </a:r>
                      <a:r>
                        <a:rPr lang="zh-CN" altLang="en-US" sz="1600" b="0">
                          <a:solidFill>
                            <a:srgbClr val="000000"/>
                          </a:solidFill>
                          <a:latin typeface="Microsoft YaHei" panose="020B0503020204020204" pitchFamily="34" charset="-122"/>
                          <a:ea typeface="微软雅黑" panose="020B0503020204020204" pitchFamily="34" charset="-122"/>
                        </a:rPr>
                        <a:t>扩展 </a:t>
                      </a:r>
                      <a:r>
                        <a:rPr lang="en-US" altLang="zh-CN" sz="1600" b="0">
                          <a:solidFill>
                            <a:srgbClr val="000000"/>
                          </a:solidFill>
                          <a:latin typeface="Microsoft YaHei" panose="020B0503020204020204" pitchFamily="34" charset="-122"/>
                          <a:ea typeface="微软雅黑" panose="020B0503020204020204" pitchFamily="34" charset="-122"/>
                        </a:rPr>
                        <a:t>[182-104]</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期望次序分数、</a:t>
                      </a:r>
                      <a:r>
                        <a:rPr lang="en-US" altLang="zh-CN" sz="1600" b="0">
                          <a:solidFill>
                            <a:srgbClr val="000000"/>
                          </a:solidFill>
                          <a:latin typeface="Microsoft YaHei" panose="020B0503020204020204" pitchFamily="34" charset="-122"/>
                          <a:ea typeface="微软雅黑" panose="020B0503020204020204" pitchFamily="34" charset="-122"/>
                        </a:rPr>
                        <a:t>x</a:t>
                      </a:r>
                      <a:r>
                        <a:rPr lang="zh-CN" altLang="en-US" sz="1600" b="0">
                          <a:solidFill>
                            <a:srgbClr val="000000"/>
                          </a:solidFill>
                          <a:latin typeface="Microsoft YaHei" panose="020B0503020204020204" pitchFamily="34" charset="-122"/>
                          <a:ea typeface="微软雅黑" panose="020B0503020204020204" pitchFamily="34" charset="-122"/>
                        </a:rPr>
                        <a:t>对</a:t>
                      </a:r>
                      <a:r>
                        <a:rPr lang="en-US" altLang="zh-CN" sz="1600" b="0">
                          <a:solidFill>
                            <a:srgbClr val="000000"/>
                          </a:solidFill>
                          <a:latin typeface="Microsoft YaHei" panose="020B0503020204020204" pitchFamily="34" charset="-122"/>
                          <a:ea typeface="微软雅黑" panose="020B0503020204020204" pitchFamily="34" charset="-122"/>
                        </a:rPr>
                        <a:t>z</a:t>
                      </a:r>
                      <a:r>
                        <a:rPr lang="zh-CN" altLang="en-US" sz="1600" b="0">
                          <a:solidFill>
                            <a:srgbClr val="000000"/>
                          </a:solidFill>
                          <a:latin typeface="Microsoft YaHei" panose="020B0503020204020204" pitchFamily="34" charset="-122"/>
                          <a:ea typeface="微软雅黑" panose="020B0503020204020204" pitchFamily="34" charset="-122"/>
                        </a:rPr>
                        <a:t>回归</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3669213512"/>
                  </a:ext>
                </a:extLst>
              </a:tr>
              <a:tr h="550333">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WMLE</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Cousineau 2009 [182-088]</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交代中位权重、插值与约束</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3461065511"/>
                  </a:ext>
                </a:extLst>
              </a:tr>
              <a:tr h="550333">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SAM / PM</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2023</a:t>
                      </a:r>
                      <a:r>
                        <a:rPr lang="zh-CN" altLang="en-US" sz="1600" b="0">
                          <a:solidFill>
                            <a:srgbClr val="000000"/>
                          </a:solidFill>
                          <a:latin typeface="Microsoft YaHei" panose="020B0503020204020204" pitchFamily="34" charset="-122"/>
                          <a:ea typeface="微软雅黑" panose="020B0503020204020204" pitchFamily="34" charset="-122"/>
                        </a:rPr>
                        <a:t>或</a:t>
                      </a:r>
                      <a:r>
                        <a:rPr lang="en-US" altLang="zh-CN" sz="1600" b="0">
                          <a:solidFill>
                            <a:srgbClr val="000000"/>
                          </a:solidFill>
                          <a:latin typeface="Microsoft YaHei" panose="020B0503020204020204" pitchFamily="34" charset="-122"/>
                          <a:ea typeface="微软雅黑" panose="020B0503020204020204" pitchFamily="34" charset="-122"/>
                        </a:rPr>
                        <a:t>2024</a:t>
                      </a:r>
                      <a:r>
                        <a:rPr lang="zh-CN" altLang="en-US" sz="1600" b="0">
                          <a:solidFill>
                            <a:srgbClr val="000000"/>
                          </a:solidFill>
                          <a:latin typeface="Microsoft YaHei" panose="020B0503020204020204" pitchFamily="34" charset="-122"/>
                          <a:ea typeface="微软雅黑" panose="020B0503020204020204" pitchFamily="34" charset="-122"/>
                        </a:rPr>
                        <a:t>的具体构造</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最小值期望</a:t>
                      </a:r>
                      <a:r>
                        <a:rPr lang="en-US" altLang="zh-CN" sz="1600" b="0">
                          <a:solidFill>
                            <a:srgbClr val="000000"/>
                          </a:solidFill>
                          <a:latin typeface="Microsoft YaHei" panose="020B0503020204020204" pitchFamily="34" charset="-122"/>
                          <a:ea typeface="微软雅黑" panose="020B0503020204020204" pitchFamily="34" charset="-122"/>
                        </a:rPr>
                        <a:t>/</a:t>
                      </a:r>
                      <a:r>
                        <a:rPr lang="zh-CN" altLang="en-US" sz="1600" b="0">
                          <a:solidFill>
                            <a:srgbClr val="000000"/>
                          </a:solidFill>
                          <a:latin typeface="Microsoft YaHei" panose="020B0503020204020204" pitchFamily="34" charset="-122"/>
                          <a:ea typeface="微软雅黑" panose="020B0503020204020204" pitchFamily="34" charset="-122"/>
                        </a:rPr>
                        <a:t>中位数及后续更新不同</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3756795410"/>
                  </a:ext>
                </a:extLst>
              </a:tr>
              <a:tr h="550333">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MLE / MPS</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实际准则＋本文求解设置</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明确可行域、解的类型和接受规则</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3217537541"/>
                  </a:ext>
                </a:extLst>
              </a:tr>
            </a:tbl>
          </a:graphicData>
        </a:graphic>
      </p:graphicFrame>
    </p:spTree>
    <p:extLst>
      <p:ext uri="{BB962C8B-B14F-4D97-AF65-F5344CB8AC3E}">
        <p14:creationId xmlns:p14="http://schemas.microsoft.com/office/powerpoint/2010/main" val="30107032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400" b="1" spc="-150">
                <a:solidFill>
                  <a:srgbClr val="FFFFFF"/>
                </a:solidFill>
                <a:latin typeface="汉仪文润宋韵 U"/>
                <a:ea typeface="汉仪文润宋韵 U"/>
                <a:cs typeface="汉仪文润宋韵 U"/>
              </a:rPr>
              <a:t>评价证据：模拟与真实数据回答不同问题</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对照选择、版本与验证</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03</a:t>
            </a:r>
            <a:endParaRPr sz="1800">
              <a:latin typeface="Microsoft YaHei"/>
            </a:endParaRPr>
          </a:p>
        </p:txBody>
      </p:sp>
      <p:sp>
        <p:nvSpPr>
          <p:cNvPr id="6" name="文本框 5">
            <a:extLst>
              <a:ext uri="{FF2B5EF4-FFF2-40B4-BE49-F238E27FC236}">
                <a16:creationId xmlns:a16="http://schemas.microsoft.com/office/drawing/2014/main" id="{FC896F9B-1C2B-C17E-9FA8-C60C1AED10A5}"/>
              </a:ext>
            </a:extLst>
          </p:cNvPr>
          <p:cNvSpPr txBox="1"/>
          <p:nvPr/>
        </p:nvSpPr>
        <p:spPr>
          <a:xfrm>
            <a:off x="622300" y="1676400"/>
            <a:ext cx="10922000" cy="558800"/>
          </a:xfrm>
          <a:prstGeom prst="rect">
            <a:avLst/>
          </a:prstGeom>
          <a:noFill/>
        </p:spPr>
        <p:txBody>
          <a:bodyPr vert="horz" wrap="square" lIns="0" tIns="0" rIns="0" bIns="0" rtlCol="0">
            <a:noAutofit/>
          </a:bodyPr>
          <a:lstStyle/>
          <a:p>
            <a:pPr>
              <a:lnSpc>
                <a:spcPts val="2340"/>
              </a:lnSpc>
            </a:pPr>
            <a:r>
              <a:rPr lang="en-US" altLang="zh-CN">
                <a:solidFill>
                  <a:srgbClr val="2F6096"/>
                </a:solidFill>
                <a:latin typeface="Microsoft YaHei" panose="020B0503020204020204" pitchFamily="34" charset="-122"/>
                <a:ea typeface="微软雅黑" panose="020B0503020204020204" pitchFamily="34" charset="-122"/>
              </a:rPr>
              <a:t>38</a:t>
            </a:r>
            <a:r>
              <a:rPr lang="zh-CN" altLang="en-US">
                <a:solidFill>
                  <a:srgbClr val="2F6096"/>
                </a:solidFill>
                <a:latin typeface="Microsoft YaHei" panose="020B0503020204020204" pitchFamily="34" charset="-122"/>
                <a:ea typeface="微软雅黑" panose="020B0503020204020204" pitchFamily="34" charset="-122"/>
              </a:rPr>
              <a:t>条经验用途记录中：重复生成样本</a:t>
            </a:r>
            <a:r>
              <a:rPr lang="en-US" altLang="zh-CN">
                <a:solidFill>
                  <a:srgbClr val="2F6096"/>
                </a:solidFill>
                <a:latin typeface="Microsoft YaHei" panose="020B0503020204020204" pitchFamily="34" charset="-122"/>
                <a:ea typeface="微软雅黑" panose="020B0503020204020204" pitchFamily="34" charset="-122"/>
              </a:rPr>
              <a:t>21</a:t>
            </a:r>
            <a:r>
              <a:rPr lang="zh-CN" altLang="en-US">
                <a:solidFill>
                  <a:srgbClr val="2F6096"/>
                </a:solidFill>
                <a:latin typeface="Microsoft YaHei" panose="020B0503020204020204" pitchFamily="34" charset="-122"/>
                <a:ea typeface="微软雅黑" panose="020B0503020204020204" pitchFamily="34" charset="-122"/>
              </a:rPr>
              <a:t>条，真实应用</a:t>
            </a:r>
            <a:r>
              <a:rPr lang="en-US" altLang="zh-CN">
                <a:solidFill>
                  <a:srgbClr val="2F6096"/>
                </a:solidFill>
                <a:latin typeface="Microsoft YaHei" panose="020B0503020204020204" pitchFamily="34" charset="-122"/>
                <a:ea typeface="微软雅黑" panose="020B0503020204020204" pitchFamily="34" charset="-122"/>
              </a:rPr>
              <a:t>21</a:t>
            </a:r>
            <a:r>
              <a:rPr lang="zh-CN" altLang="en-US">
                <a:solidFill>
                  <a:srgbClr val="2F6096"/>
                </a:solidFill>
                <a:latin typeface="Microsoft YaHei" panose="020B0503020204020204" pitchFamily="34" charset="-122"/>
                <a:ea typeface="微软雅黑" panose="020B0503020204020204" pitchFamily="34" charset="-122"/>
              </a:rPr>
              <a:t>条，两者兼有</a:t>
            </a:r>
            <a:r>
              <a:rPr lang="en-US" altLang="zh-CN">
                <a:solidFill>
                  <a:srgbClr val="2F6096"/>
                </a:solidFill>
                <a:latin typeface="Microsoft YaHei" panose="020B0503020204020204" pitchFamily="34" charset="-122"/>
                <a:ea typeface="微软雅黑" panose="020B0503020204020204" pitchFamily="34" charset="-122"/>
              </a:rPr>
              <a:t>10</a:t>
            </a:r>
            <a:r>
              <a:rPr lang="zh-CN" altLang="en-US">
                <a:solidFill>
                  <a:srgbClr val="2F6096"/>
                </a:solidFill>
                <a:latin typeface="Microsoft YaHei" panose="020B0503020204020204" pitchFamily="34" charset="-122"/>
                <a:ea typeface="微软雅黑" panose="020B0503020204020204" pitchFamily="34" charset="-122"/>
              </a:rPr>
              <a:t>条。</a:t>
            </a:r>
          </a:p>
        </p:txBody>
      </p:sp>
      <p:sp>
        <p:nvSpPr>
          <p:cNvPr id="7" name="文本框 6">
            <a:extLst>
              <a:ext uri="{FF2B5EF4-FFF2-40B4-BE49-F238E27FC236}">
                <a16:creationId xmlns:a16="http://schemas.microsoft.com/office/drawing/2014/main" id="{6BB7F06F-689C-1BFF-5F04-3D60015FE34F}"/>
              </a:ext>
            </a:extLst>
          </p:cNvPr>
          <p:cNvSpPr txBox="1"/>
          <p:nvPr/>
        </p:nvSpPr>
        <p:spPr>
          <a:xfrm>
            <a:off x="622300" y="5981700"/>
            <a:ext cx="10922000" cy="508000"/>
          </a:xfrm>
          <a:prstGeom prst="rect">
            <a:avLst/>
          </a:prstGeom>
          <a:noFill/>
        </p:spPr>
        <p:txBody>
          <a:bodyPr vert="horz" wrap="square" lIns="0" tIns="0" rIns="0" bIns="0" rtlCol="0">
            <a:noAutofit/>
          </a:bodyPr>
          <a:lstStyle/>
          <a:p>
            <a:pPr>
              <a:lnSpc>
                <a:spcPts val="2210"/>
              </a:lnSpc>
            </a:pPr>
            <a:r>
              <a:rPr lang="zh-CN" altLang="en-US" sz="1700" b="1">
                <a:solidFill>
                  <a:srgbClr val="2F6096"/>
                </a:solidFill>
                <a:latin typeface="Microsoft YaHei" panose="020B0503020204020204" pitchFamily="34" charset="-122"/>
                <a:ea typeface="微软雅黑" panose="020B0503020204020204" pitchFamily="34" charset="-122"/>
              </a:rPr>
              <a:t>次数不是独立团队或数据集数；真实拟合优胜不能替代参数真值误差证据。</a:t>
            </a:r>
          </a:p>
        </p:txBody>
      </p:sp>
      <p:sp>
        <p:nvSpPr>
          <p:cNvPr id="8" name="文本框 7">
            <a:extLst>
              <a:ext uri="{FF2B5EF4-FFF2-40B4-BE49-F238E27FC236}">
                <a16:creationId xmlns:a16="http://schemas.microsoft.com/office/drawing/2014/main" id="{C3F1E0AF-67D3-B88C-C13B-DF1CBD20537A}"/>
              </a:ext>
            </a:extLst>
          </p:cNvPr>
          <p:cNvSpPr txBox="1"/>
          <p:nvPr/>
        </p:nvSpPr>
        <p:spPr>
          <a:xfrm>
            <a:off x="622300" y="2514600"/>
            <a:ext cx="5092700" cy="406400"/>
          </a:xfrm>
          <a:prstGeom prst="rect">
            <a:avLst/>
          </a:prstGeom>
          <a:noFill/>
        </p:spPr>
        <p:txBody>
          <a:bodyPr vert="horz" wrap="square" lIns="0" tIns="0" rIns="0" bIns="0" rtlCol="0">
            <a:noAutofit/>
          </a:bodyPr>
          <a:lstStyle/>
          <a:p>
            <a:pPr>
              <a:lnSpc>
                <a:spcPts val="2860"/>
              </a:lnSpc>
            </a:pPr>
            <a:r>
              <a:rPr lang="en-US" altLang="zh-CN" sz="2200" b="1">
                <a:solidFill>
                  <a:srgbClr val="C55A11"/>
                </a:solidFill>
                <a:latin typeface="Microsoft YaHei" panose="020B0503020204020204" pitchFamily="34" charset="-122"/>
                <a:ea typeface="微软雅黑" panose="020B0503020204020204" pitchFamily="34" charset="-122"/>
              </a:rPr>
              <a:t>Monte Carlo</a:t>
            </a:r>
            <a:r>
              <a:rPr lang="zh-CN" altLang="en-US" sz="2200" b="1">
                <a:solidFill>
                  <a:srgbClr val="C55A11"/>
                </a:solidFill>
                <a:latin typeface="Microsoft YaHei" panose="020B0503020204020204" pitchFamily="34" charset="-122"/>
                <a:ea typeface="微软雅黑" panose="020B0503020204020204" pitchFamily="34" charset="-122"/>
              </a:rPr>
              <a:t>：真参数已知</a:t>
            </a:r>
          </a:p>
        </p:txBody>
      </p:sp>
      <p:sp>
        <p:nvSpPr>
          <p:cNvPr id="9" name="文本框 8">
            <a:extLst>
              <a:ext uri="{FF2B5EF4-FFF2-40B4-BE49-F238E27FC236}">
                <a16:creationId xmlns:a16="http://schemas.microsoft.com/office/drawing/2014/main" id="{A82D5CB0-A653-4A5C-3ACD-27A980D75DB9}"/>
              </a:ext>
            </a:extLst>
          </p:cNvPr>
          <p:cNvSpPr txBox="1"/>
          <p:nvPr/>
        </p:nvSpPr>
        <p:spPr>
          <a:xfrm>
            <a:off x="6451600" y="2514600"/>
            <a:ext cx="5080000" cy="406400"/>
          </a:xfrm>
          <a:prstGeom prst="rect">
            <a:avLst/>
          </a:prstGeom>
          <a:noFill/>
        </p:spPr>
        <p:txBody>
          <a:bodyPr vert="horz" wrap="square" lIns="0" tIns="0" rIns="0" bIns="0" rtlCol="0">
            <a:noAutofit/>
          </a:bodyPr>
          <a:lstStyle/>
          <a:p>
            <a:pPr>
              <a:lnSpc>
                <a:spcPts val="2860"/>
              </a:lnSpc>
            </a:pPr>
            <a:r>
              <a:rPr lang="zh-CN" altLang="en-US" sz="2200" b="1">
                <a:solidFill>
                  <a:srgbClr val="C55A11"/>
                </a:solidFill>
                <a:latin typeface="Microsoft YaHei" panose="020B0503020204020204" pitchFamily="34" charset="-122"/>
                <a:ea typeface="微软雅黑" panose="020B0503020204020204" pitchFamily="34" charset="-122"/>
              </a:rPr>
              <a:t>真实数据：总体参数未知</a:t>
            </a:r>
          </a:p>
        </p:txBody>
      </p:sp>
      <p:cxnSp>
        <p:nvCxnSpPr>
          <p:cNvPr id="10" name="直接连接符 9">
            <a:extLst>
              <a:ext uri="{FF2B5EF4-FFF2-40B4-BE49-F238E27FC236}">
                <a16:creationId xmlns:a16="http://schemas.microsoft.com/office/drawing/2014/main" id="{28C2BA06-FE43-0E15-F76B-6DB6841CD731}"/>
              </a:ext>
            </a:extLst>
          </p:cNvPr>
          <p:cNvCxnSpPr/>
          <p:nvPr/>
        </p:nvCxnSpPr>
        <p:spPr>
          <a:xfrm>
            <a:off x="622300" y="3060700"/>
            <a:ext cx="5041900" cy="0"/>
          </a:xfrm>
          <a:prstGeom prst="line">
            <a:avLst/>
          </a:prstGeom>
          <a:ln w="17780">
            <a:solidFill>
              <a:srgbClr val="2F6096"/>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EFD3242D-4B1C-B91C-531C-A29C49D77A8D}"/>
              </a:ext>
            </a:extLst>
          </p:cNvPr>
          <p:cNvCxnSpPr/>
          <p:nvPr/>
        </p:nvCxnSpPr>
        <p:spPr>
          <a:xfrm>
            <a:off x="6451600" y="3060700"/>
            <a:ext cx="5080000" cy="0"/>
          </a:xfrm>
          <a:prstGeom prst="line">
            <a:avLst/>
          </a:prstGeom>
          <a:ln w="17780">
            <a:solidFill>
              <a:srgbClr val="2F6096"/>
            </a:solidFill>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A5122E63-284F-27A1-3165-1F749A17FBC7}"/>
              </a:ext>
            </a:extLst>
          </p:cNvPr>
          <p:cNvSpPr txBox="1"/>
          <p:nvPr/>
        </p:nvSpPr>
        <p:spPr>
          <a:xfrm>
            <a:off x="622300" y="3352800"/>
            <a:ext cx="5092700" cy="1320800"/>
          </a:xfrm>
          <a:prstGeom prst="rect">
            <a:avLst/>
          </a:prstGeom>
          <a:noFill/>
        </p:spPr>
        <p:txBody>
          <a:bodyPr vert="horz" wrap="square" lIns="0" tIns="0" rIns="0" bIns="0" rtlCol="0">
            <a:noAutofit/>
          </a:bodyPr>
          <a:lstStyle/>
          <a:p>
            <a:pPr>
              <a:lnSpc>
                <a:spcPts val="2340"/>
              </a:lnSpc>
            </a:pPr>
            <a:r>
              <a:rPr lang="zh-CN" altLang="en-US">
                <a:solidFill>
                  <a:srgbClr val="000000"/>
                </a:solidFill>
                <a:latin typeface="Microsoft YaHei" panose="020B0503020204020204" pitchFamily="34" charset="-122"/>
                <a:ea typeface="微软雅黑" panose="020B0503020204020204" pitchFamily="34" charset="-122"/>
              </a:rPr>
              <a:t>反复生成样本，检验估计误差与波动。</a:t>
            </a:r>
          </a:p>
          <a:p>
            <a:pPr>
              <a:lnSpc>
                <a:spcPts val="2340"/>
              </a:lnSpc>
            </a:pPr>
            <a:r>
              <a:rPr lang="en-US" altLang="zh-CN">
                <a:solidFill>
                  <a:srgbClr val="000000"/>
                </a:solidFill>
                <a:latin typeface="Microsoft YaHei" panose="020B0503020204020204" pitchFamily="34" charset="-122"/>
                <a:ea typeface="微软雅黑" panose="020B0503020204020204" pitchFamily="34" charset="-122"/>
              </a:rPr>
              <a:t>Bias</a:t>
            </a:r>
            <a:r>
              <a:rPr lang="zh-CN" altLang="en-US">
                <a:solidFill>
                  <a:srgbClr val="000000"/>
                </a:solidFill>
                <a:latin typeface="Microsoft YaHei" panose="020B0503020204020204" pitchFamily="34" charset="-122"/>
                <a:ea typeface="微软雅黑" panose="020B0503020204020204" pitchFamily="34" charset="-122"/>
              </a:rPr>
              <a:t>：</a:t>
            </a:r>
            <a:r>
              <a:rPr lang="en-US" altLang="zh-CN">
                <a:solidFill>
                  <a:srgbClr val="000000"/>
                </a:solidFill>
                <a:latin typeface="Microsoft YaHei" panose="020B0503020204020204" pitchFamily="34" charset="-122"/>
                <a:ea typeface="微软雅黑" panose="020B0503020204020204" pitchFamily="34" charset="-122"/>
              </a:rPr>
              <a:t>11</a:t>
            </a:r>
            <a:r>
              <a:rPr lang="zh-CN" altLang="en-US">
                <a:solidFill>
                  <a:srgbClr val="000000"/>
                </a:solidFill>
                <a:latin typeface="Microsoft YaHei" panose="020B0503020204020204" pitchFamily="34" charset="-122"/>
                <a:ea typeface="微软雅黑" panose="020B0503020204020204" pitchFamily="34" charset="-122"/>
              </a:rPr>
              <a:t>条；</a:t>
            </a:r>
            <a:r>
              <a:rPr lang="en-US" altLang="zh-CN">
                <a:solidFill>
                  <a:srgbClr val="000000"/>
                </a:solidFill>
                <a:latin typeface="Microsoft YaHei" panose="020B0503020204020204" pitchFamily="34" charset="-122"/>
                <a:ea typeface="微软雅黑" panose="020B0503020204020204" pitchFamily="34" charset="-122"/>
              </a:rPr>
              <a:t>RMSE</a:t>
            </a:r>
            <a:r>
              <a:rPr lang="zh-CN" altLang="en-US">
                <a:solidFill>
                  <a:srgbClr val="000000"/>
                </a:solidFill>
                <a:latin typeface="Microsoft YaHei" panose="020B0503020204020204" pitchFamily="34" charset="-122"/>
                <a:ea typeface="微软雅黑" panose="020B0503020204020204" pitchFamily="34" charset="-122"/>
              </a:rPr>
              <a:t>：</a:t>
            </a:r>
            <a:r>
              <a:rPr lang="en-US" altLang="zh-CN">
                <a:solidFill>
                  <a:srgbClr val="000000"/>
                </a:solidFill>
                <a:latin typeface="Microsoft YaHei" panose="020B0503020204020204" pitchFamily="34" charset="-122"/>
                <a:ea typeface="微软雅黑" panose="020B0503020204020204" pitchFamily="34" charset="-122"/>
              </a:rPr>
              <a:t>10</a:t>
            </a:r>
            <a:r>
              <a:rPr lang="zh-CN" altLang="en-US">
                <a:solidFill>
                  <a:srgbClr val="000000"/>
                </a:solidFill>
                <a:latin typeface="Microsoft YaHei" panose="020B0503020204020204" pitchFamily="34" charset="-122"/>
                <a:ea typeface="微软雅黑" panose="020B0503020204020204" pitchFamily="34" charset="-122"/>
              </a:rPr>
              <a:t>条；</a:t>
            </a:r>
            <a:r>
              <a:rPr lang="en-US" altLang="zh-CN">
                <a:solidFill>
                  <a:srgbClr val="000000"/>
                </a:solidFill>
                <a:latin typeface="Microsoft YaHei" panose="020B0503020204020204" pitchFamily="34" charset="-122"/>
                <a:ea typeface="微软雅黑" panose="020B0503020204020204" pitchFamily="34" charset="-122"/>
              </a:rPr>
              <a:t>SD</a:t>
            </a:r>
            <a:r>
              <a:rPr lang="zh-CN" altLang="en-US">
                <a:solidFill>
                  <a:srgbClr val="000000"/>
                </a:solidFill>
                <a:latin typeface="Microsoft YaHei" panose="020B0503020204020204" pitchFamily="34" charset="-122"/>
                <a:ea typeface="微软雅黑" panose="020B0503020204020204" pitchFamily="34" charset="-122"/>
              </a:rPr>
              <a:t>：</a:t>
            </a:r>
            <a:r>
              <a:rPr lang="en-US" altLang="zh-CN">
                <a:solidFill>
                  <a:srgbClr val="000000"/>
                </a:solidFill>
                <a:latin typeface="Microsoft YaHei" panose="020B0503020204020204" pitchFamily="34" charset="-122"/>
                <a:ea typeface="微软雅黑" panose="020B0503020204020204" pitchFamily="34" charset="-122"/>
              </a:rPr>
              <a:t>9</a:t>
            </a:r>
            <a:r>
              <a:rPr lang="zh-CN" altLang="en-US">
                <a:solidFill>
                  <a:srgbClr val="000000"/>
                </a:solidFill>
                <a:latin typeface="Microsoft YaHei" panose="020B0503020204020204" pitchFamily="34" charset="-122"/>
                <a:ea typeface="微软雅黑" panose="020B0503020204020204" pitchFamily="34" charset="-122"/>
              </a:rPr>
              <a:t>条。</a:t>
            </a:r>
          </a:p>
          <a:p>
            <a:pPr>
              <a:lnSpc>
                <a:spcPts val="2340"/>
              </a:lnSpc>
            </a:pPr>
            <a:r>
              <a:rPr lang="zh-CN" altLang="en-US">
                <a:solidFill>
                  <a:srgbClr val="000000"/>
                </a:solidFill>
                <a:latin typeface="Microsoft YaHei" panose="020B0503020204020204" pitchFamily="34" charset="-122"/>
                <a:ea typeface="微软雅黑" panose="020B0503020204020204" pitchFamily="34" charset="-122"/>
              </a:rPr>
              <a:t>上述计数可重叠，分母为</a:t>
            </a:r>
            <a:r>
              <a:rPr lang="en-US" altLang="zh-CN">
                <a:solidFill>
                  <a:srgbClr val="000000"/>
                </a:solidFill>
                <a:latin typeface="Microsoft YaHei" panose="020B0503020204020204" pitchFamily="34" charset="-122"/>
                <a:ea typeface="微软雅黑" panose="020B0503020204020204" pitchFamily="34" charset="-122"/>
              </a:rPr>
              <a:t>21</a:t>
            </a:r>
            <a:r>
              <a:rPr lang="zh-CN" altLang="en-US">
                <a:solidFill>
                  <a:srgbClr val="000000"/>
                </a:solidFill>
                <a:latin typeface="Microsoft YaHei" panose="020B0503020204020204" pitchFamily="34" charset="-122"/>
                <a:ea typeface="微软雅黑" panose="020B0503020204020204" pitchFamily="34" charset="-122"/>
              </a:rPr>
              <a:t>条模拟来源。</a:t>
            </a:r>
          </a:p>
        </p:txBody>
      </p:sp>
      <p:sp>
        <p:nvSpPr>
          <p:cNvPr id="16" name="文本框 15">
            <a:extLst>
              <a:ext uri="{FF2B5EF4-FFF2-40B4-BE49-F238E27FC236}">
                <a16:creationId xmlns:a16="http://schemas.microsoft.com/office/drawing/2014/main" id="{0CD0357A-0C1E-2B77-2860-85F9AF884294}"/>
              </a:ext>
            </a:extLst>
          </p:cNvPr>
          <p:cNvSpPr txBox="1"/>
          <p:nvPr/>
        </p:nvSpPr>
        <p:spPr>
          <a:xfrm>
            <a:off x="6451600" y="3352800"/>
            <a:ext cx="5080000" cy="1320800"/>
          </a:xfrm>
          <a:prstGeom prst="rect">
            <a:avLst/>
          </a:prstGeom>
          <a:noFill/>
        </p:spPr>
        <p:txBody>
          <a:bodyPr vert="horz" wrap="square" lIns="0" tIns="0" rIns="0" bIns="0" rtlCol="0">
            <a:noAutofit/>
          </a:bodyPr>
          <a:lstStyle/>
          <a:p>
            <a:pPr>
              <a:lnSpc>
                <a:spcPts val="2340"/>
              </a:lnSpc>
            </a:pPr>
            <a:r>
              <a:rPr lang="zh-CN" altLang="en-US">
                <a:solidFill>
                  <a:srgbClr val="000000"/>
                </a:solidFill>
                <a:latin typeface="Microsoft YaHei" panose="020B0503020204020204" pitchFamily="34" charset="-122"/>
                <a:ea typeface="微软雅黑" panose="020B0503020204020204" pitchFamily="34" charset="-122"/>
              </a:rPr>
              <a:t>比较参数、寿命结果、</a:t>
            </a:r>
            <a:r>
              <a:rPr lang="en-US" altLang="zh-CN">
                <a:solidFill>
                  <a:srgbClr val="000000"/>
                </a:solidFill>
                <a:latin typeface="Microsoft YaHei" panose="020B0503020204020204" pitchFamily="34" charset="-122"/>
                <a:ea typeface="微软雅黑" panose="020B0503020204020204" pitchFamily="34" charset="-122"/>
              </a:rPr>
              <a:t>CDF</a:t>
            </a:r>
            <a:r>
              <a:rPr lang="zh-CN" altLang="en-US">
                <a:solidFill>
                  <a:srgbClr val="000000"/>
                </a:solidFill>
                <a:latin typeface="Microsoft YaHei" panose="020B0503020204020204" pitchFamily="34" charset="-122"/>
                <a:ea typeface="微软雅黑" panose="020B0503020204020204" pitchFamily="34" charset="-122"/>
              </a:rPr>
              <a:t>及</a:t>
            </a:r>
            <a:r>
              <a:rPr lang="en-US" altLang="zh-CN">
                <a:solidFill>
                  <a:srgbClr val="000000"/>
                </a:solidFill>
                <a:latin typeface="Microsoft YaHei" panose="020B0503020204020204" pitchFamily="34" charset="-122"/>
                <a:ea typeface="微软雅黑" panose="020B0503020204020204" pitchFamily="34" charset="-122"/>
              </a:rPr>
              <a:t>K-S/AD</a:t>
            </a:r>
            <a:r>
              <a:rPr lang="zh-CN" altLang="en-US">
                <a:solidFill>
                  <a:srgbClr val="000000"/>
                </a:solidFill>
                <a:latin typeface="Microsoft YaHei" panose="020B0503020204020204" pitchFamily="34" charset="-122"/>
                <a:ea typeface="微软雅黑" panose="020B0503020204020204" pitchFamily="34" charset="-122"/>
              </a:rPr>
              <a:t>。</a:t>
            </a:r>
          </a:p>
          <a:p>
            <a:pPr>
              <a:lnSpc>
                <a:spcPts val="2340"/>
              </a:lnSpc>
            </a:pPr>
            <a:r>
              <a:rPr lang="zh-CN" altLang="en-US">
                <a:solidFill>
                  <a:srgbClr val="000000"/>
                </a:solidFill>
                <a:latin typeface="Microsoft YaHei" panose="020B0503020204020204" pitchFamily="34" charset="-122"/>
                <a:ea typeface="微软雅黑" panose="020B0503020204020204" pitchFamily="34" charset="-122"/>
              </a:rPr>
              <a:t>主要说明拟合差异与应用含义。</a:t>
            </a:r>
          </a:p>
          <a:p>
            <a:pPr>
              <a:lnSpc>
                <a:spcPts val="2340"/>
              </a:lnSpc>
            </a:pPr>
            <a:r>
              <a:rPr lang="zh-CN" altLang="en-US">
                <a:solidFill>
                  <a:srgbClr val="000000"/>
                </a:solidFill>
                <a:latin typeface="Microsoft YaHei" panose="020B0503020204020204" pitchFamily="34" charset="-122"/>
                <a:ea typeface="微软雅黑" panose="020B0503020204020204" pitchFamily="34" charset="-122"/>
              </a:rPr>
              <a:t>没有真值，不能直接给参数</a:t>
            </a:r>
            <a:r>
              <a:rPr lang="en-US" altLang="zh-CN">
                <a:solidFill>
                  <a:srgbClr val="000000"/>
                </a:solidFill>
                <a:latin typeface="Microsoft YaHei" panose="020B0503020204020204" pitchFamily="34" charset="-122"/>
                <a:ea typeface="微软雅黑" panose="020B0503020204020204" pitchFamily="34" charset="-122"/>
              </a:rPr>
              <a:t>RMSE</a:t>
            </a:r>
            <a:r>
              <a:rPr lang="zh-CN" altLang="en-US">
                <a:solidFill>
                  <a:srgbClr val="000000"/>
                </a:solidFill>
                <a:latin typeface="Microsoft YaHei" panose="020B0503020204020204" pitchFamily="34" charset="-122"/>
                <a:ea typeface="微软雅黑" panose="020B0503020204020204" pitchFamily="34" charset="-122"/>
              </a:rPr>
              <a:t>。</a:t>
            </a:r>
          </a:p>
        </p:txBody>
      </p:sp>
      <p:sp>
        <p:nvSpPr>
          <p:cNvPr id="17" name="矩形: 圆角 16">
            <a:extLst>
              <a:ext uri="{FF2B5EF4-FFF2-40B4-BE49-F238E27FC236}">
                <a16:creationId xmlns:a16="http://schemas.microsoft.com/office/drawing/2014/main" id="{2C7C88C2-8228-DAD9-A6F0-34F106131CCA}"/>
              </a:ext>
            </a:extLst>
          </p:cNvPr>
          <p:cNvSpPr/>
          <p:nvPr/>
        </p:nvSpPr>
        <p:spPr>
          <a:xfrm>
            <a:off x="622300" y="4953000"/>
            <a:ext cx="10922000" cy="698500"/>
          </a:xfrm>
          <a:prstGeom prst="roundRect">
            <a:avLst/>
          </a:prstGeom>
          <a:noFill/>
          <a:ln w="12700">
            <a:solidFill>
              <a:srgbClr val="2F6096"/>
            </a:solidFill>
            <a:prstDash val="dash"/>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F36D28CE-D963-8A0B-44E7-89E0B0B80600}"/>
              </a:ext>
            </a:extLst>
          </p:cNvPr>
          <p:cNvSpPr txBox="1"/>
          <p:nvPr/>
        </p:nvSpPr>
        <p:spPr>
          <a:xfrm>
            <a:off x="812800" y="5130800"/>
            <a:ext cx="10541000" cy="393700"/>
          </a:xfrm>
          <a:prstGeom prst="rect">
            <a:avLst/>
          </a:prstGeom>
          <a:noFill/>
        </p:spPr>
        <p:txBody>
          <a:bodyPr vert="horz" wrap="square" lIns="0" tIns="0" rIns="0" bIns="0" rtlCol="0">
            <a:noAutofit/>
          </a:bodyPr>
          <a:lstStyle/>
          <a:p>
            <a:pPr>
              <a:lnSpc>
                <a:spcPts val="2340"/>
              </a:lnSpc>
            </a:pPr>
            <a:r>
              <a:rPr lang="zh-CN" altLang="en-US">
                <a:solidFill>
                  <a:srgbClr val="2F6096"/>
                </a:solidFill>
                <a:latin typeface="Microsoft YaHei" panose="020B0503020204020204" pitchFamily="34" charset="-122"/>
                <a:ea typeface="微软雅黑" panose="020B0503020204020204" pitchFamily="34" charset="-122"/>
              </a:rPr>
              <a:t>若主张寿命或区间改进，再加目标分位点误差或覆盖率与长度。</a:t>
            </a:r>
          </a:p>
        </p:txBody>
      </p:sp>
    </p:spTree>
    <p:extLst>
      <p:ext uri="{BB962C8B-B14F-4D97-AF65-F5344CB8AC3E}">
        <p14:creationId xmlns:p14="http://schemas.microsoft.com/office/powerpoint/2010/main" val="42311533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400" b="1" spc="-150">
                <a:solidFill>
                  <a:srgbClr val="FFFFFF"/>
                </a:solidFill>
                <a:latin typeface="汉仪文润宋韵 U"/>
                <a:ea typeface="汉仪文润宋韵 U"/>
                <a:cs typeface="汉仪文润宋韵 U"/>
              </a:rPr>
              <a:t>真实数据再抽样：关键是参照量是什么</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对照选择、版本与验证</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03</a:t>
            </a:r>
            <a:endParaRPr sz="1800">
              <a:latin typeface="Microsoft YaHei"/>
            </a:endParaRPr>
          </a:p>
        </p:txBody>
      </p:sp>
      <p:sp>
        <p:nvSpPr>
          <p:cNvPr id="6" name="文本框 5">
            <a:extLst>
              <a:ext uri="{FF2B5EF4-FFF2-40B4-BE49-F238E27FC236}">
                <a16:creationId xmlns:a16="http://schemas.microsoft.com/office/drawing/2014/main" id="{5A4BC94A-EF5B-B53C-D24B-6C9C64A0D133}"/>
              </a:ext>
            </a:extLst>
          </p:cNvPr>
          <p:cNvSpPr txBox="1"/>
          <p:nvPr/>
        </p:nvSpPr>
        <p:spPr>
          <a:xfrm>
            <a:off x="622300" y="1676400"/>
            <a:ext cx="10922000" cy="558800"/>
          </a:xfrm>
          <a:prstGeom prst="rect">
            <a:avLst/>
          </a:prstGeom>
          <a:noFill/>
        </p:spPr>
        <p:txBody>
          <a:bodyPr vert="horz" wrap="square" lIns="0" tIns="0" rIns="0" bIns="0" rtlCol="0">
            <a:noAutofit/>
          </a:bodyPr>
          <a:lstStyle/>
          <a:p>
            <a:pPr>
              <a:lnSpc>
                <a:spcPts val="2340"/>
              </a:lnSpc>
            </a:pPr>
            <a:r>
              <a:rPr lang="zh-CN" altLang="en-US">
                <a:solidFill>
                  <a:srgbClr val="2F6096"/>
                </a:solidFill>
                <a:latin typeface="Microsoft YaHei" panose="020B0503020204020204" pitchFamily="34" charset="-122"/>
                <a:ea typeface="微软雅黑" panose="020B0503020204020204" pitchFamily="34" charset="-122"/>
              </a:rPr>
              <a:t>抽样次数增加，并不会自动让未知的真实参数变成已知。</a:t>
            </a:r>
          </a:p>
        </p:txBody>
      </p:sp>
      <p:sp>
        <p:nvSpPr>
          <p:cNvPr id="7" name="文本框 6">
            <a:extLst>
              <a:ext uri="{FF2B5EF4-FFF2-40B4-BE49-F238E27FC236}">
                <a16:creationId xmlns:a16="http://schemas.microsoft.com/office/drawing/2014/main" id="{01E5D4AD-376C-1831-7C3E-8B4D063F2292}"/>
              </a:ext>
            </a:extLst>
          </p:cNvPr>
          <p:cNvSpPr txBox="1"/>
          <p:nvPr/>
        </p:nvSpPr>
        <p:spPr>
          <a:xfrm>
            <a:off x="622300" y="5981700"/>
            <a:ext cx="10922000" cy="508000"/>
          </a:xfrm>
          <a:prstGeom prst="rect">
            <a:avLst/>
          </a:prstGeom>
          <a:noFill/>
        </p:spPr>
        <p:txBody>
          <a:bodyPr vert="horz" wrap="square" lIns="0" tIns="0" rIns="0" bIns="0" rtlCol="0">
            <a:noAutofit/>
          </a:bodyPr>
          <a:lstStyle/>
          <a:p>
            <a:pPr>
              <a:lnSpc>
                <a:spcPts val="2210"/>
              </a:lnSpc>
            </a:pPr>
            <a:r>
              <a:rPr lang="zh-CN" altLang="en-US" sz="1700" b="1">
                <a:solidFill>
                  <a:srgbClr val="2F6096"/>
                </a:solidFill>
                <a:latin typeface="Microsoft YaHei" panose="020B0503020204020204" pitchFamily="34" charset="-122"/>
                <a:ea typeface="微软雅黑" panose="020B0503020204020204" pitchFamily="34" charset="-122"/>
              </a:rPr>
              <a:t>主方案以共同</a:t>
            </a:r>
            <a:r>
              <a:rPr lang="en-US" altLang="zh-CN" sz="1700" b="1">
                <a:solidFill>
                  <a:srgbClr val="2F6096"/>
                </a:solidFill>
                <a:latin typeface="Microsoft YaHei" panose="020B0503020204020204" pitchFamily="34" charset="-122"/>
                <a:ea typeface="微软雅黑" panose="020B0503020204020204" pitchFamily="34" charset="-122"/>
              </a:rPr>
              <a:t>Monte Carlo</a:t>
            </a:r>
            <a:r>
              <a:rPr lang="zh-CN" altLang="en-US" sz="1700" b="1">
                <a:solidFill>
                  <a:srgbClr val="2F6096"/>
                </a:solidFill>
                <a:latin typeface="Microsoft YaHei" panose="020B0503020204020204" pitchFamily="34" charset="-122"/>
                <a:ea typeface="微软雅黑" panose="020B0503020204020204" pitchFamily="34" charset="-122"/>
              </a:rPr>
              <a:t>评价精度，再配完整真实数据应用；额外设计按主张选。</a:t>
            </a:r>
          </a:p>
        </p:txBody>
      </p:sp>
      <p:graphicFrame>
        <p:nvGraphicFramePr>
          <p:cNvPr id="8" name="表格 7">
            <a:extLst>
              <a:ext uri="{FF2B5EF4-FFF2-40B4-BE49-F238E27FC236}">
                <a16:creationId xmlns:a16="http://schemas.microsoft.com/office/drawing/2014/main" id="{FE1BD4D4-20B0-1DA1-7921-2BB56809B198}"/>
              </a:ext>
            </a:extLst>
          </p:cNvPr>
          <p:cNvGraphicFramePr>
            <a:graphicFrameLocks noGrp="1"/>
          </p:cNvGraphicFramePr>
          <p:nvPr>
            <p:extLst>
              <p:ext uri="{D42A27DB-BD31-4B8C-83A1-F6EECF244321}">
                <p14:modId xmlns:p14="http://schemas.microsoft.com/office/powerpoint/2010/main" val="2047345350"/>
              </p:ext>
            </p:extLst>
          </p:nvPr>
        </p:nvGraphicFramePr>
        <p:xfrm>
          <a:off x="622300" y="2413000"/>
          <a:ext cx="10922000" cy="3302000"/>
        </p:xfrm>
        <a:graphic>
          <a:graphicData uri="http://schemas.openxmlformats.org/drawingml/2006/table">
            <a:tbl>
              <a:tblPr firstRow="1" bandRow="1">
                <a:tableStyleId>{5C22544A-7EE6-4342-B048-85BDC9FD1C3A}</a:tableStyleId>
              </a:tblPr>
              <a:tblGrid>
                <a:gridCol w="3086100">
                  <a:extLst>
                    <a:ext uri="{9D8B030D-6E8A-4147-A177-3AD203B41FA5}">
                      <a16:colId xmlns:a16="http://schemas.microsoft.com/office/drawing/2014/main" val="700743704"/>
                    </a:ext>
                  </a:extLst>
                </a:gridCol>
                <a:gridCol w="4000500">
                  <a:extLst>
                    <a:ext uri="{9D8B030D-6E8A-4147-A177-3AD203B41FA5}">
                      <a16:colId xmlns:a16="http://schemas.microsoft.com/office/drawing/2014/main" val="3761907707"/>
                    </a:ext>
                  </a:extLst>
                </a:gridCol>
                <a:gridCol w="3835400">
                  <a:extLst>
                    <a:ext uri="{9D8B030D-6E8A-4147-A177-3AD203B41FA5}">
                      <a16:colId xmlns:a16="http://schemas.microsoft.com/office/drawing/2014/main" val="1148187123"/>
                    </a:ext>
                  </a:extLst>
                </a:gridCol>
              </a:tblGrid>
              <a:tr h="660400">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已核实例或设计</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实际参照</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能得到的结论</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extLst>
                  <a:ext uri="{0D108BD9-81ED-4DB2-BD59-A6C34878D82A}">
                    <a16:rowId xmlns:a16="http://schemas.microsoft.com/office/drawing/2014/main" val="2608340076"/>
                  </a:ext>
                </a:extLst>
              </a:tr>
              <a:tr h="660400">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真实子抽样 </a:t>
                      </a:r>
                      <a:r>
                        <a:rPr lang="en-US" altLang="zh-CN" sz="1600" b="0">
                          <a:solidFill>
                            <a:srgbClr val="000000"/>
                          </a:solidFill>
                          <a:latin typeface="Microsoft YaHei" panose="020B0503020204020204" pitchFamily="34" charset="-122"/>
                          <a:ea typeface="微软雅黑" panose="020B0503020204020204" pitchFamily="34" charset="-122"/>
                        </a:rPr>
                        <a:t>[182-004]</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330</a:t>
                      </a:r>
                      <a:r>
                        <a:rPr lang="zh-CN" altLang="en-US" sz="1600" b="0">
                          <a:solidFill>
                            <a:srgbClr val="000000"/>
                          </a:solidFill>
                          <a:latin typeface="Microsoft YaHei" panose="020B0503020204020204" pitchFamily="34" charset="-122"/>
                          <a:ea typeface="微软雅黑" panose="020B0503020204020204" pitchFamily="34" charset="-122"/>
                        </a:rPr>
                        <a:t>个实测值取不同</a:t>
                      </a:r>
                      <a:r>
                        <a:rPr lang="en-US" altLang="zh-CN" sz="1600" b="0">
                          <a:solidFill>
                            <a:srgbClr val="000000"/>
                          </a:solidFill>
                          <a:latin typeface="Microsoft YaHei" panose="020B0503020204020204" pitchFamily="34" charset="-122"/>
                          <a:ea typeface="微软雅黑" panose="020B0503020204020204" pitchFamily="34" charset="-122"/>
                        </a:rPr>
                        <a:t>n</a:t>
                      </a:r>
                      <a:r>
                        <a:rPr lang="zh-CN" altLang="en-US" sz="1600" b="0">
                          <a:solidFill>
                            <a:srgbClr val="000000"/>
                          </a:solidFill>
                          <a:latin typeface="Microsoft YaHei" panose="020B0503020204020204" pitchFamily="34" charset="-122"/>
                          <a:ea typeface="微软雅黑" panose="020B0503020204020204" pitchFamily="34" charset="-122"/>
                        </a:rPr>
                        <a:t>子集</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相关性及寿命结果的重复性</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2909302960"/>
                  </a:ext>
                </a:extLst>
              </a:tr>
              <a:tr h="660400">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自助加权范数 </a:t>
                      </a:r>
                      <a:r>
                        <a:rPr lang="en-US" altLang="zh-CN" sz="1600" b="0">
                          <a:solidFill>
                            <a:srgbClr val="000000"/>
                          </a:solidFill>
                          <a:latin typeface="Microsoft YaHei" panose="020B0503020204020204" pitchFamily="34" charset="-122"/>
                          <a:ea typeface="微软雅黑" panose="020B0503020204020204" pitchFamily="34" charset="-122"/>
                        </a:rPr>
                        <a:t>[182-084]</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重抽多准则参数信息向量</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并非原始寿命</a:t>
                      </a:r>
                      <a:r>
                        <a:rPr lang="en-US" altLang="zh-CN" sz="1600" b="0">
                          <a:solidFill>
                            <a:srgbClr val="000000"/>
                          </a:solidFill>
                          <a:latin typeface="Microsoft YaHei" panose="020B0503020204020204" pitchFamily="34" charset="-122"/>
                          <a:ea typeface="微软雅黑" panose="020B0503020204020204" pitchFamily="34" charset="-122"/>
                        </a:rPr>
                        <a:t>Bootstrap</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4162710399"/>
                  </a:ext>
                </a:extLst>
              </a:tr>
              <a:tr h="660400">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Gibbs [182-006]</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后验分布中的参数抽样</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后验不确定性，非模拟性能</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3277519710"/>
                  </a:ext>
                </a:extLst>
              </a:tr>
              <a:tr h="660400">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参数</a:t>
                      </a:r>
                      <a:r>
                        <a:rPr lang="en-US" altLang="zh-CN" sz="1600" b="0">
                          <a:solidFill>
                            <a:srgbClr val="000000"/>
                          </a:solidFill>
                          <a:latin typeface="Microsoft YaHei" panose="020B0503020204020204" pitchFamily="34" charset="-122"/>
                          <a:ea typeface="微软雅黑" panose="020B0503020204020204" pitchFamily="34" charset="-122"/>
                        </a:rPr>
                        <a:t>Bootstrap</a:t>
                      </a:r>
                      <a:r>
                        <a:rPr lang="zh-CN" altLang="en-US" sz="1600" b="0">
                          <a:solidFill>
                            <a:srgbClr val="000000"/>
                          </a:solidFill>
                          <a:latin typeface="Microsoft YaHei" panose="020B0503020204020204" pitchFamily="34" charset="-122"/>
                          <a:ea typeface="微软雅黑" panose="020B0503020204020204" pitchFamily="34" charset="-122"/>
                        </a:rPr>
                        <a:t>（可选设计）</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从拟合模型生成，参数值已知</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拟合模型条件下的误差</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471695533"/>
                  </a:ext>
                </a:extLst>
              </a:tr>
            </a:tbl>
          </a:graphicData>
        </a:graphic>
      </p:graphicFrame>
    </p:spTree>
    <p:extLst>
      <p:ext uri="{BB962C8B-B14F-4D97-AF65-F5344CB8AC3E}">
        <p14:creationId xmlns:p14="http://schemas.microsoft.com/office/powerpoint/2010/main" val="123384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400" b="1" spc="-150">
                <a:solidFill>
                  <a:srgbClr val="FFFFFF"/>
                </a:solidFill>
                <a:latin typeface="汉仪文润宋韵 U"/>
                <a:ea typeface="汉仪文润宋韵 U"/>
                <a:cs typeface="汉仪文润宋韵 U"/>
              </a:rPr>
              <a:t>失败处理：精度必须连同有效率一起报告</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对照选择、版本与验证</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03</a:t>
            </a:r>
            <a:endParaRPr sz="1800">
              <a:latin typeface="Microsoft YaHei"/>
            </a:endParaRPr>
          </a:p>
        </p:txBody>
      </p:sp>
      <p:sp>
        <p:nvSpPr>
          <p:cNvPr id="6" name="文本框 5">
            <a:extLst>
              <a:ext uri="{FF2B5EF4-FFF2-40B4-BE49-F238E27FC236}">
                <a16:creationId xmlns:a16="http://schemas.microsoft.com/office/drawing/2014/main" id="{3C43A4D2-266F-4B41-031B-07FBAA0792B4}"/>
              </a:ext>
            </a:extLst>
          </p:cNvPr>
          <p:cNvSpPr txBox="1"/>
          <p:nvPr/>
        </p:nvSpPr>
        <p:spPr>
          <a:xfrm>
            <a:off x="622300" y="1676400"/>
            <a:ext cx="10922000" cy="558800"/>
          </a:xfrm>
          <a:prstGeom prst="rect">
            <a:avLst/>
          </a:prstGeom>
          <a:noFill/>
        </p:spPr>
        <p:txBody>
          <a:bodyPr vert="horz" wrap="square" lIns="0" tIns="0" rIns="0" bIns="0" rtlCol="0">
            <a:noAutofit/>
          </a:bodyPr>
          <a:lstStyle/>
          <a:p>
            <a:pPr>
              <a:lnSpc>
                <a:spcPts val="2340"/>
              </a:lnSpc>
            </a:pPr>
            <a:r>
              <a:rPr lang="zh-CN" altLang="en-US">
                <a:solidFill>
                  <a:srgbClr val="2F6096"/>
                </a:solidFill>
                <a:latin typeface="Microsoft YaHei" panose="020B0503020204020204" pitchFamily="34" charset="-122"/>
                <a:ea typeface="微软雅黑" panose="020B0503020204020204" pitchFamily="34" charset="-122"/>
              </a:rPr>
              <a:t>目标无界、方程分支、数值未收敛、越界输出，应分开记录。</a:t>
            </a:r>
          </a:p>
        </p:txBody>
      </p:sp>
      <p:sp>
        <p:nvSpPr>
          <p:cNvPr id="7" name="文本框 6">
            <a:extLst>
              <a:ext uri="{FF2B5EF4-FFF2-40B4-BE49-F238E27FC236}">
                <a16:creationId xmlns:a16="http://schemas.microsoft.com/office/drawing/2014/main" id="{27C56FF3-588F-AD51-73D3-B8671BC60424}"/>
              </a:ext>
            </a:extLst>
          </p:cNvPr>
          <p:cNvSpPr txBox="1"/>
          <p:nvPr/>
        </p:nvSpPr>
        <p:spPr>
          <a:xfrm>
            <a:off x="622300" y="5981700"/>
            <a:ext cx="10922000" cy="508000"/>
          </a:xfrm>
          <a:prstGeom prst="rect">
            <a:avLst/>
          </a:prstGeom>
          <a:noFill/>
        </p:spPr>
        <p:txBody>
          <a:bodyPr vert="horz" wrap="square" lIns="0" tIns="0" rIns="0" bIns="0" rtlCol="0">
            <a:noAutofit/>
          </a:bodyPr>
          <a:lstStyle/>
          <a:p>
            <a:pPr>
              <a:lnSpc>
                <a:spcPts val="2210"/>
              </a:lnSpc>
            </a:pPr>
            <a:r>
              <a:rPr lang="zh-CN" altLang="en-US" sz="1700" b="1">
                <a:solidFill>
                  <a:srgbClr val="2F6096"/>
                </a:solidFill>
                <a:latin typeface="Microsoft YaHei" panose="020B0503020204020204" pitchFamily="34" charset="-122"/>
                <a:ea typeface="微软雅黑" panose="020B0503020204020204" pitchFamily="34" charset="-122"/>
              </a:rPr>
              <a:t>各自有效子集与共同有效子集的误差均属条件结果，不能用单一</a:t>
            </a:r>
            <a:r>
              <a:rPr lang="en-US" altLang="zh-CN" sz="1700" b="1">
                <a:solidFill>
                  <a:srgbClr val="2F6096"/>
                </a:solidFill>
                <a:latin typeface="Microsoft YaHei" panose="020B0503020204020204" pitchFamily="34" charset="-122"/>
                <a:ea typeface="微软雅黑" panose="020B0503020204020204" pitchFamily="34" charset="-122"/>
              </a:rPr>
              <a:t>RMSE</a:t>
            </a:r>
            <a:r>
              <a:rPr lang="zh-CN" altLang="en-US" sz="1700" b="1">
                <a:solidFill>
                  <a:srgbClr val="2F6096"/>
                </a:solidFill>
                <a:latin typeface="Microsoft YaHei" panose="020B0503020204020204" pitchFamily="34" charset="-122"/>
                <a:ea typeface="微软雅黑" panose="020B0503020204020204" pitchFamily="34" charset="-122"/>
              </a:rPr>
              <a:t>掩盖失败。</a:t>
            </a:r>
          </a:p>
        </p:txBody>
      </p:sp>
      <p:graphicFrame>
        <p:nvGraphicFramePr>
          <p:cNvPr id="8" name="表格 7">
            <a:extLst>
              <a:ext uri="{FF2B5EF4-FFF2-40B4-BE49-F238E27FC236}">
                <a16:creationId xmlns:a16="http://schemas.microsoft.com/office/drawing/2014/main" id="{56D8FDA9-AD4D-FFA0-DC8B-425877C1B78E}"/>
              </a:ext>
            </a:extLst>
          </p:cNvPr>
          <p:cNvGraphicFramePr>
            <a:graphicFrameLocks noGrp="1"/>
          </p:cNvGraphicFramePr>
          <p:nvPr>
            <p:extLst>
              <p:ext uri="{D42A27DB-BD31-4B8C-83A1-F6EECF244321}">
                <p14:modId xmlns:p14="http://schemas.microsoft.com/office/powerpoint/2010/main" val="623014926"/>
              </p:ext>
            </p:extLst>
          </p:nvPr>
        </p:nvGraphicFramePr>
        <p:xfrm>
          <a:off x="622300" y="2413000"/>
          <a:ext cx="10922000" cy="3302000"/>
        </p:xfrm>
        <a:graphic>
          <a:graphicData uri="http://schemas.openxmlformats.org/drawingml/2006/table">
            <a:tbl>
              <a:tblPr firstRow="1" bandRow="1">
                <a:tableStyleId>{5C22544A-7EE6-4342-B048-85BDC9FD1C3A}</a:tableStyleId>
              </a:tblPr>
              <a:tblGrid>
                <a:gridCol w="3086100">
                  <a:extLst>
                    <a:ext uri="{9D8B030D-6E8A-4147-A177-3AD203B41FA5}">
                      <a16:colId xmlns:a16="http://schemas.microsoft.com/office/drawing/2014/main" val="1502878701"/>
                    </a:ext>
                  </a:extLst>
                </a:gridCol>
                <a:gridCol w="4000500">
                  <a:extLst>
                    <a:ext uri="{9D8B030D-6E8A-4147-A177-3AD203B41FA5}">
                      <a16:colId xmlns:a16="http://schemas.microsoft.com/office/drawing/2014/main" val="1179430298"/>
                    </a:ext>
                  </a:extLst>
                </a:gridCol>
                <a:gridCol w="3835400">
                  <a:extLst>
                    <a:ext uri="{9D8B030D-6E8A-4147-A177-3AD203B41FA5}">
                      <a16:colId xmlns:a16="http://schemas.microsoft.com/office/drawing/2014/main" val="637650616"/>
                    </a:ext>
                  </a:extLst>
                </a:gridCol>
              </a:tblGrid>
              <a:tr h="660400">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原文处理实例</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解释风险</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本研究应怎样报告</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extLst>
                  <a:ext uri="{0D108BD9-81ED-4DB2-BD59-A6C34878D82A}">
                    <a16:rowId xmlns:a16="http://schemas.microsoft.com/office/drawing/2014/main" val="3601955462"/>
                  </a:ext>
                </a:extLst>
              </a:tr>
              <a:tr h="660400">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仅比较收敛样本 </a:t>
                      </a:r>
                      <a:r>
                        <a:rPr lang="en-US" altLang="zh-CN" sz="1600" b="0">
                          <a:solidFill>
                            <a:srgbClr val="000000"/>
                          </a:solidFill>
                          <a:latin typeface="Microsoft YaHei" panose="020B0503020204020204" pitchFamily="34" charset="-122"/>
                          <a:ea typeface="微软雅黑" panose="020B0503020204020204" pitchFamily="34" charset="-122"/>
                        </a:rPr>
                        <a:t>[182-096]</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成为筛样后的条件精度</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给全部次数、有效数与失败原因</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2828684246"/>
                  </a:ext>
                </a:extLst>
              </a:tr>
              <a:tr h="660400">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限制参数并报未得到估计数 </a:t>
                      </a:r>
                      <a:r>
                        <a:rPr lang="en-US" altLang="zh-CN" sz="1600" b="0">
                          <a:solidFill>
                            <a:srgbClr val="000000"/>
                          </a:solidFill>
                          <a:latin typeface="Microsoft YaHei" panose="020B0503020204020204" pitchFamily="34" charset="-122"/>
                          <a:ea typeface="微软雅黑" panose="020B0503020204020204" pitchFamily="34" charset="-122"/>
                        </a:rPr>
                        <a:t>[182-091]</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约束与计算预算影响成功率</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预先声明参数域、预算与接受规则</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11998635"/>
                  </a:ext>
                </a:extLst>
              </a:tr>
              <a:tr h="660400">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失败用零作图标记 </a:t>
                      </a:r>
                      <a:r>
                        <a:rPr lang="en-US" altLang="zh-CN" sz="1600" b="0">
                          <a:solidFill>
                            <a:srgbClr val="000000"/>
                          </a:solidFill>
                          <a:latin typeface="Microsoft YaHei" panose="020B0503020204020204" pitchFamily="34" charset="-122"/>
                          <a:ea typeface="微软雅黑" panose="020B0503020204020204" pitchFamily="34" charset="-122"/>
                        </a:rPr>
                        <a:t>[182-030]</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零并非有效参数估计</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不得把标记值代入</a:t>
                      </a:r>
                      <a:r>
                        <a:rPr lang="en-US" altLang="zh-CN" sz="1600" b="0">
                          <a:solidFill>
                            <a:srgbClr val="000000"/>
                          </a:solidFill>
                          <a:latin typeface="Microsoft YaHei" panose="020B0503020204020204" pitchFamily="34" charset="-122"/>
                          <a:ea typeface="微软雅黑" panose="020B0503020204020204" pitchFamily="34" charset="-122"/>
                        </a:rPr>
                        <a:t>RMSE</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2208083093"/>
                  </a:ext>
                </a:extLst>
              </a:tr>
              <a:tr h="660400">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剔除极端输出 </a:t>
                      </a:r>
                      <a:r>
                        <a:rPr lang="en-US" altLang="zh-CN" sz="1600" b="0">
                          <a:solidFill>
                            <a:srgbClr val="000000"/>
                          </a:solidFill>
                          <a:latin typeface="Microsoft YaHei" panose="020B0503020204020204" pitchFamily="34" charset="-122"/>
                          <a:ea typeface="微软雅黑" panose="020B0503020204020204" pitchFamily="34" charset="-122"/>
                        </a:rPr>
                        <a:t>[182-101]</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有效极端值也会改变尾部风险</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披露筛选规则与统计分母</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2629353508"/>
                  </a:ext>
                </a:extLst>
              </a:tr>
            </a:tbl>
          </a:graphicData>
        </a:graphic>
      </p:graphicFrame>
    </p:spTree>
    <p:extLst>
      <p:ext uri="{BB962C8B-B14F-4D97-AF65-F5344CB8AC3E}">
        <p14:creationId xmlns:p14="http://schemas.microsoft.com/office/powerpoint/2010/main" val="2319764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400" b="1" spc="-150">
                <a:solidFill>
                  <a:srgbClr val="FFFFFF"/>
                </a:solidFill>
                <a:latin typeface="汉仪文润宋韵 U"/>
                <a:ea typeface="汉仪文润宋韵 U"/>
                <a:cs typeface="汉仪文润宋韵 U"/>
              </a:rPr>
              <a:t>对开场问题的回答</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调研结论</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04</a:t>
            </a:r>
            <a:endParaRPr sz="1800">
              <a:latin typeface="Microsoft YaHei"/>
            </a:endParaRPr>
          </a:p>
        </p:txBody>
      </p:sp>
      <p:sp>
        <p:nvSpPr>
          <p:cNvPr id="6" name="文本框 5">
            <a:extLst>
              <a:ext uri="{FF2B5EF4-FFF2-40B4-BE49-F238E27FC236}">
                <a16:creationId xmlns:a16="http://schemas.microsoft.com/office/drawing/2014/main" id="{68038B89-0AF0-DAA3-1FDB-424EBC14C0A3}"/>
              </a:ext>
            </a:extLst>
          </p:cNvPr>
          <p:cNvSpPr txBox="1"/>
          <p:nvPr/>
        </p:nvSpPr>
        <p:spPr>
          <a:xfrm>
            <a:off x="622300" y="1676400"/>
            <a:ext cx="10922000" cy="558800"/>
          </a:xfrm>
          <a:prstGeom prst="rect">
            <a:avLst/>
          </a:prstGeom>
          <a:noFill/>
        </p:spPr>
        <p:txBody>
          <a:bodyPr vert="horz" wrap="square" lIns="0" tIns="0" rIns="0" bIns="0" rtlCol="0">
            <a:noAutofit/>
          </a:bodyPr>
          <a:lstStyle/>
          <a:p>
            <a:pPr>
              <a:lnSpc>
                <a:spcPts val="2340"/>
              </a:lnSpc>
            </a:pPr>
            <a:r>
              <a:rPr lang="zh-CN" altLang="en-US">
                <a:solidFill>
                  <a:srgbClr val="2F6096"/>
                </a:solidFill>
                <a:latin typeface="Microsoft YaHei" panose="020B0503020204020204" pitchFamily="34" charset="-122"/>
                <a:ea typeface="微软雅黑" panose="020B0503020204020204" pitchFamily="34" charset="-122"/>
              </a:rPr>
              <a:t>对照方案应能检验新方法的具体改进，并与实际实现一致。</a:t>
            </a:r>
          </a:p>
        </p:txBody>
      </p:sp>
      <p:sp>
        <p:nvSpPr>
          <p:cNvPr id="7" name="文本框 6">
            <a:extLst>
              <a:ext uri="{FF2B5EF4-FFF2-40B4-BE49-F238E27FC236}">
                <a16:creationId xmlns:a16="http://schemas.microsoft.com/office/drawing/2014/main" id="{A18705D0-E1E5-5B44-78F3-7C6D1D3FF02B}"/>
              </a:ext>
            </a:extLst>
          </p:cNvPr>
          <p:cNvSpPr txBox="1"/>
          <p:nvPr/>
        </p:nvSpPr>
        <p:spPr>
          <a:xfrm>
            <a:off x="622300" y="5981700"/>
            <a:ext cx="10922000" cy="508000"/>
          </a:xfrm>
          <a:prstGeom prst="rect">
            <a:avLst/>
          </a:prstGeom>
          <a:noFill/>
        </p:spPr>
        <p:txBody>
          <a:bodyPr vert="horz" wrap="square" lIns="0" tIns="0" rIns="0" bIns="0" rtlCol="0">
            <a:noAutofit/>
          </a:bodyPr>
          <a:lstStyle/>
          <a:p>
            <a:pPr>
              <a:lnSpc>
                <a:spcPts val="2210"/>
              </a:lnSpc>
            </a:pPr>
            <a:r>
              <a:rPr lang="zh-CN" altLang="en-US" sz="1700" b="1">
                <a:solidFill>
                  <a:srgbClr val="2F6096"/>
                </a:solidFill>
                <a:latin typeface="Microsoft YaHei" panose="020B0503020204020204" pitchFamily="34" charset="-122"/>
                <a:ea typeface="微软雅黑" panose="020B0503020204020204" pitchFamily="34" charset="-122"/>
              </a:rPr>
              <a:t>当前建议可用于初选；近邻版本、部分来源及失败分母仍有待核项。</a:t>
            </a:r>
          </a:p>
        </p:txBody>
      </p:sp>
      <p:sp>
        <p:nvSpPr>
          <p:cNvPr id="8" name="文本框 7">
            <a:extLst>
              <a:ext uri="{FF2B5EF4-FFF2-40B4-BE49-F238E27FC236}">
                <a16:creationId xmlns:a16="http://schemas.microsoft.com/office/drawing/2014/main" id="{FD41DCC1-6CC1-58BE-FA6A-2C8AB8C456B5}"/>
              </a:ext>
            </a:extLst>
          </p:cNvPr>
          <p:cNvSpPr txBox="1"/>
          <p:nvPr/>
        </p:nvSpPr>
        <p:spPr>
          <a:xfrm>
            <a:off x="622300" y="2514600"/>
            <a:ext cx="1917700" cy="431800"/>
          </a:xfrm>
          <a:prstGeom prst="rect">
            <a:avLst/>
          </a:prstGeom>
          <a:noFill/>
        </p:spPr>
        <p:txBody>
          <a:bodyPr vert="horz" wrap="square" lIns="0" tIns="0" rIns="0" bIns="0" rtlCol="0">
            <a:noAutofit/>
          </a:bodyPr>
          <a:lstStyle/>
          <a:p>
            <a:pPr>
              <a:lnSpc>
                <a:spcPts val="2990"/>
              </a:lnSpc>
            </a:pPr>
            <a:r>
              <a:rPr lang="zh-CN" altLang="en-US" sz="2300" b="1">
                <a:solidFill>
                  <a:srgbClr val="C55A11"/>
                </a:solidFill>
                <a:latin typeface="Microsoft YaHei" panose="020B0503020204020204" pitchFamily="34" charset="-122"/>
                <a:ea typeface="微软雅黑" panose="020B0503020204020204" pitchFamily="34" charset="-122"/>
              </a:rPr>
              <a:t>与谁比较</a:t>
            </a:r>
          </a:p>
        </p:txBody>
      </p:sp>
      <p:sp>
        <p:nvSpPr>
          <p:cNvPr id="9" name="文本框 8">
            <a:extLst>
              <a:ext uri="{FF2B5EF4-FFF2-40B4-BE49-F238E27FC236}">
                <a16:creationId xmlns:a16="http://schemas.microsoft.com/office/drawing/2014/main" id="{67F5AEFF-DC60-9112-C7FB-BE7521BC7561}"/>
              </a:ext>
            </a:extLst>
          </p:cNvPr>
          <p:cNvSpPr txBox="1"/>
          <p:nvPr/>
        </p:nvSpPr>
        <p:spPr>
          <a:xfrm>
            <a:off x="2692400" y="2514600"/>
            <a:ext cx="8737600" cy="736600"/>
          </a:xfrm>
          <a:prstGeom prst="rect">
            <a:avLst/>
          </a:prstGeom>
          <a:noFill/>
        </p:spPr>
        <p:txBody>
          <a:bodyPr vert="horz" wrap="square" lIns="0" tIns="0" rIns="0" bIns="0" rtlCol="0">
            <a:noAutofit/>
          </a:bodyPr>
          <a:lstStyle/>
          <a:p>
            <a:pPr>
              <a:lnSpc>
                <a:spcPts val="2730"/>
              </a:lnSpc>
            </a:pPr>
            <a:r>
              <a:rPr lang="zh-CN" altLang="en-US" sz="2100">
                <a:solidFill>
                  <a:srgbClr val="000000"/>
                </a:solidFill>
                <a:latin typeface="Microsoft YaHei" panose="020B0503020204020204" pitchFamily="34" charset="-122"/>
                <a:ea typeface="微软雅黑" panose="020B0503020204020204" pitchFamily="34" charset="-122"/>
              </a:rPr>
              <a:t>共同参照、有限样本改进、近期同任务构造和直接母方法。</a:t>
            </a:r>
          </a:p>
        </p:txBody>
      </p:sp>
      <p:sp>
        <p:nvSpPr>
          <p:cNvPr id="10" name="文本框 9">
            <a:extLst>
              <a:ext uri="{FF2B5EF4-FFF2-40B4-BE49-F238E27FC236}">
                <a16:creationId xmlns:a16="http://schemas.microsoft.com/office/drawing/2014/main" id="{56F67830-977A-9CAC-7249-814A95DFFD75}"/>
              </a:ext>
            </a:extLst>
          </p:cNvPr>
          <p:cNvSpPr txBox="1"/>
          <p:nvPr/>
        </p:nvSpPr>
        <p:spPr>
          <a:xfrm>
            <a:off x="622300" y="3632200"/>
            <a:ext cx="1917700" cy="431800"/>
          </a:xfrm>
          <a:prstGeom prst="rect">
            <a:avLst/>
          </a:prstGeom>
          <a:noFill/>
        </p:spPr>
        <p:txBody>
          <a:bodyPr vert="horz" wrap="square" lIns="0" tIns="0" rIns="0" bIns="0" rtlCol="0">
            <a:noAutofit/>
          </a:bodyPr>
          <a:lstStyle/>
          <a:p>
            <a:pPr>
              <a:lnSpc>
                <a:spcPts val="2990"/>
              </a:lnSpc>
            </a:pPr>
            <a:r>
              <a:rPr lang="zh-CN" altLang="en-US" sz="2300" b="1">
                <a:solidFill>
                  <a:srgbClr val="C55A11"/>
                </a:solidFill>
                <a:latin typeface="Microsoft YaHei" panose="020B0503020204020204" pitchFamily="34" charset="-122"/>
                <a:ea typeface="微软雅黑" panose="020B0503020204020204" pitchFamily="34" charset="-122"/>
              </a:rPr>
              <a:t>为什么选</a:t>
            </a:r>
          </a:p>
        </p:txBody>
      </p:sp>
      <p:sp>
        <p:nvSpPr>
          <p:cNvPr id="14" name="文本框 13">
            <a:extLst>
              <a:ext uri="{FF2B5EF4-FFF2-40B4-BE49-F238E27FC236}">
                <a16:creationId xmlns:a16="http://schemas.microsoft.com/office/drawing/2014/main" id="{A68BE0B4-C35A-18BB-9DE0-A0A545911E86}"/>
              </a:ext>
            </a:extLst>
          </p:cNvPr>
          <p:cNvSpPr txBox="1"/>
          <p:nvPr/>
        </p:nvSpPr>
        <p:spPr>
          <a:xfrm>
            <a:off x="2692400" y="3632200"/>
            <a:ext cx="8737600" cy="736600"/>
          </a:xfrm>
          <a:prstGeom prst="rect">
            <a:avLst/>
          </a:prstGeom>
          <a:noFill/>
        </p:spPr>
        <p:txBody>
          <a:bodyPr vert="horz" wrap="square" lIns="0" tIns="0" rIns="0" bIns="0" rtlCol="0">
            <a:noAutofit/>
          </a:bodyPr>
          <a:lstStyle/>
          <a:p>
            <a:pPr>
              <a:lnSpc>
                <a:spcPts val="2730"/>
              </a:lnSpc>
            </a:pPr>
            <a:r>
              <a:rPr lang="zh-CN" altLang="en-US" sz="2100">
                <a:solidFill>
                  <a:srgbClr val="000000"/>
                </a:solidFill>
                <a:latin typeface="Microsoft YaHei" panose="020B0503020204020204" pitchFamily="34" charset="-122"/>
                <a:ea typeface="微软雅黑" panose="020B0503020204020204" pitchFamily="34" charset="-122"/>
              </a:rPr>
              <a:t>依据任务匹配、方法差异及实际比较证据，而非只看年份。</a:t>
            </a:r>
          </a:p>
        </p:txBody>
      </p:sp>
      <p:sp>
        <p:nvSpPr>
          <p:cNvPr id="15" name="文本框 14">
            <a:extLst>
              <a:ext uri="{FF2B5EF4-FFF2-40B4-BE49-F238E27FC236}">
                <a16:creationId xmlns:a16="http://schemas.microsoft.com/office/drawing/2014/main" id="{FCE25626-DAD6-92BD-8968-5F023A62F02F}"/>
              </a:ext>
            </a:extLst>
          </p:cNvPr>
          <p:cNvSpPr txBox="1"/>
          <p:nvPr/>
        </p:nvSpPr>
        <p:spPr>
          <a:xfrm>
            <a:off x="622300" y="4749800"/>
            <a:ext cx="1917700" cy="431800"/>
          </a:xfrm>
          <a:prstGeom prst="rect">
            <a:avLst/>
          </a:prstGeom>
          <a:noFill/>
        </p:spPr>
        <p:txBody>
          <a:bodyPr vert="horz" wrap="square" lIns="0" tIns="0" rIns="0" bIns="0" rtlCol="0">
            <a:noAutofit/>
          </a:bodyPr>
          <a:lstStyle/>
          <a:p>
            <a:pPr>
              <a:lnSpc>
                <a:spcPts val="2990"/>
              </a:lnSpc>
            </a:pPr>
            <a:r>
              <a:rPr lang="zh-CN" altLang="en-US" sz="2300" b="1">
                <a:solidFill>
                  <a:srgbClr val="C55A11"/>
                </a:solidFill>
                <a:latin typeface="Microsoft YaHei" panose="020B0503020204020204" pitchFamily="34" charset="-122"/>
                <a:ea typeface="微软雅黑" panose="020B0503020204020204" pitchFamily="34" charset="-122"/>
              </a:rPr>
              <a:t>采用哪版</a:t>
            </a:r>
          </a:p>
        </p:txBody>
      </p:sp>
      <p:sp>
        <p:nvSpPr>
          <p:cNvPr id="16" name="文本框 15">
            <a:extLst>
              <a:ext uri="{FF2B5EF4-FFF2-40B4-BE49-F238E27FC236}">
                <a16:creationId xmlns:a16="http://schemas.microsoft.com/office/drawing/2014/main" id="{5700DE84-1562-2411-EA1A-CC12E56B80C1}"/>
              </a:ext>
            </a:extLst>
          </p:cNvPr>
          <p:cNvSpPr txBox="1"/>
          <p:nvPr/>
        </p:nvSpPr>
        <p:spPr>
          <a:xfrm>
            <a:off x="2692400" y="4749800"/>
            <a:ext cx="8737600" cy="736600"/>
          </a:xfrm>
          <a:prstGeom prst="rect">
            <a:avLst/>
          </a:prstGeom>
          <a:noFill/>
        </p:spPr>
        <p:txBody>
          <a:bodyPr vert="horz" wrap="square" lIns="0" tIns="0" rIns="0" bIns="0" rtlCol="0">
            <a:noAutofit/>
          </a:bodyPr>
          <a:lstStyle/>
          <a:p>
            <a:pPr>
              <a:lnSpc>
                <a:spcPts val="2730"/>
              </a:lnSpc>
            </a:pPr>
            <a:r>
              <a:rPr lang="zh-CN" altLang="en-US" sz="2100">
                <a:solidFill>
                  <a:srgbClr val="000000"/>
                </a:solidFill>
                <a:latin typeface="Microsoft YaHei" panose="020B0503020204020204" pitchFamily="34" charset="-122"/>
                <a:ea typeface="微软雅黑" panose="020B0503020204020204" pitchFamily="34" charset="-122"/>
              </a:rPr>
              <a:t>对应作者、构造、分支与本地设置，引用和实现保持一致。</a:t>
            </a:r>
          </a:p>
        </p:txBody>
      </p:sp>
    </p:spTree>
    <p:extLst>
      <p:ext uri="{BB962C8B-B14F-4D97-AF65-F5344CB8AC3E}">
        <p14:creationId xmlns:p14="http://schemas.microsoft.com/office/powerpoint/2010/main" val="172014489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2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3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631</TotalTime>
  <Words>2621</Words>
  <Application>Microsoft Office PowerPoint</Application>
  <DocSecurity>0</DocSecurity>
  <PresentationFormat>宽屏</PresentationFormat>
  <Paragraphs>290</Paragraphs>
  <Slides>16</Slides>
  <Notes>16</Notes>
  <HiddenSlides>0</HiddenSlides>
  <MMClips>0</MMClips>
  <ScaleCrop>false</ScaleCrop>
  <HeadingPairs>
    <vt:vector size="6" baseType="variant">
      <vt:variant>
        <vt:lpstr>已用的字体</vt:lpstr>
      </vt:variant>
      <vt:variant>
        <vt:i4>10</vt:i4>
      </vt:variant>
      <vt:variant>
        <vt:lpstr>主题</vt:lpstr>
      </vt:variant>
      <vt:variant>
        <vt:i4>3</vt:i4>
      </vt:variant>
      <vt:variant>
        <vt:lpstr>幻灯片标题</vt:lpstr>
      </vt:variant>
      <vt:variant>
        <vt:i4>16</vt:i4>
      </vt:variant>
    </vt:vector>
  </HeadingPairs>
  <TitlesOfParts>
    <vt:vector size="29" baseType="lpstr">
      <vt:lpstr>等线</vt:lpstr>
      <vt:lpstr>等线 Light</vt:lpstr>
      <vt:lpstr>汉仪粗宋简</vt:lpstr>
      <vt:lpstr>汉仪文润宋韵 U</vt:lpstr>
      <vt:lpstr>Microsoft YaHei</vt:lpstr>
      <vt:lpstr>Microsoft YaHei</vt:lpstr>
      <vt:lpstr>Arial</vt:lpstr>
      <vt:lpstr>Calibri</vt:lpstr>
      <vt:lpstr>Calibri Light</vt:lpstr>
      <vt:lpstr>Times New Roman</vt:lpstr>
      <vt:lpstr>Office 主题​​</vt:lpstr>
      <vt:lpstr>2_自定义设计方案</vt:lpstr>
      <vt:lpstr>3_自定义设计方案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H60655@365mak.com</cp:lastModifiedBy>
  <cp:revision>14</cp:revision>
  <dcterms:created xsi:type="dcterms:W3CDTF">2026-09-06T04:22:26Z</dcterms:created>
  <dcterms:modified xsi:type="dcterms:W3CDTF">2026-09-27T22:15:05Z</dcterms:modified>
</cp:coreProperties>
</file>