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9"/>
  </p:notesMasterIdLst>
  <p:sldIdLst>
    <p:sldId id="256" r:id="rId4"/>
    <p:sldId id="258" r:id="rId5"/>
    <p:sldId id="259" r:id="rId6"/>
    <p:sldId id="260" r:id="rId7"/>
    <p:sldId id="261"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88"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范围：普通移位三参数</a:t>
            </a:r>
            <a:r>
              <a:rPr lang="en-US" altLang="zh-CN" sz="1800"/>
              <a:t>Weibull</a:t>
            </a:r>
            <a:r>
              <a:rPr lang="zh-CN" altLang="en-US" sz="1800"/>
              <a:t>、完整样本，设计重点为小样本。依据：研究报告</a:t>
            </a:r>
            <a:r>
              <a:rPr lang="en-US" altLang="zh-CN" sz="1800"/>
              <a:t>3.1</a:t>
            </a:r>
            <a:r>
              <a:rPr lang="zh-CN" altLang="en-US" sz="1800"/>
              <a:t>、</a:t>
            </a:r>
            <a:r>
              <a:rPr lang="en-US" altLang="zh-CN" sz="1800"/>
              <a:t>3.2</a:t>
            </a:r>
            <a:r>
              <a:rPr lang="zh-CN" altLang="en-US" sz="1800"/>
              <a:t>、</a:t>
            </a:r>
            <a:r>
              <a:rPr lang="en-US" altLang="zh-CN" sz="1800"/>
              <a:t>3.5</a:t>
            </a:r>
            <a:r>
              <a:rPr lang="zh-CN" altLang="en-US" sz="1800"/>
              <a:t>。</a:t>
            </a:r>
            <a:r>
              <a:rPr lang="en-US" altLang="zh-CN" sz="1800"/>
              <a:t>LS</a:t>
            </a:r>
            <a:r>
              <a:rPr lang="zh-CN" altLang="en-US" sz="1800"/>
              <a:t>版本来源</a:t>
            </a:r>
            <a:r>
              <a:rPr lang="en-US" altLang="zh-CN" sz="1800"/>
              <a:t>Soman–Misra</a:t>
            </a:r>
            <a:r>
              <a:rPr lang="zh-CN" altLang="en-US" sz="1800"/>
              <a:t>（</a:t>
            </a:r>
            <a:r>
              <a:rPr lang="en-US" altLang="zh-CN" sz="1800"/>
              <a:t>1992</a:t>
            </a:r>
            <a:r>
              <a:rPr lang="zh-CN" altLang="en-US" sz="1800"/>
              <a:t>）</a:t>
            </a:r>
            <a:r>
              <a:rPr lang="en-US" altLang="zh-CN" sz="1800"/>
              <a:t>[182-104]</a:t>
            </a:r>
            <a:r>
              <a:rPr lang="zh-CN" altLang="en-US" sz="1800"/>
              <a:t>；相关回归来源</a:t>
            </a:r>
            <a:r>
              <a:rPr lang="en-US" altLang="zh-CN" sz="1800"/>
              <a:t>Park</a:t>
            </a:r>
            <a:r>
              <a:rPr lang="zh-CN" altLang="en-US" sz="1800"/>
              <a:t>（</a:t>
            </a:r>
            <a:r>
              <a:rPr lang="en-US" altLang="zh-CN" sz="1800"/>
              <a:t>2017</a:t>
            </a:r>
            <a:r>
              <a:rPr lang="zh-CN" altLang="en-US" sz="1800"/>
              <a:t>）</a:t>
            </a:r>
            <a:r>
              <a:rPr lang="en-US" altLang="zh-CN" sz="1800"/>
              <a:t>[182-115]</a:t>
            </a:r>
            <a:r>
              <a:rPr lang="zh-CN" altLang="en-US" sz="1800"/>
              <a:t>；</a:t>
            </a:r>
            <a:r>
              <a:rPr lang="en-US" altLang="zh-CN" sz="1800"/>
              <a:t>MPS</a:t>
            </a:r>
            <a:r>
              <a:rPr lang="zh-CN" altLang="en-US" sz="1800"/>
              <a:t>来源</a:t>
            </a:r>
            <a:r>
              <a:rPr lang="en-US" altLang="zh-CN" sz="1800"/>
              <a:t>Cheng–Amin</a:t>
            </a:r>
            <a:r>
              <a:rPr lang="zh-CN" altLang="en-US" sz="1800"/>
              <a:t>（</a:t>
            </a:r>
            <a:r>
              <a:rPr lang="en-US" altLang="zh-CN" sz="1800"/>
              <a:t>1983</a:t>
            </a:r>
            <a:r>
              <a:rPr lang="zh-CN" altLang="en-US" sz="1800"/>
              <a:t>）</a:t>
            </a:r>
            <a:r>
              <a:rPr lang="en-US" altLang="zh-CN" sz="1800"/>
              <a:t>[182-116]</a:t>
            </a:r>
            <a:r>
              <a:rPr lang="zh-CN" altLang="en-US" sz="1800"/>
              <a:t>。这里归纳已核候选，非所有估计理论的穷尽分类。矩路线：普通矩、</a:t>
            </a:r>
            <a:r>
              <a:rPr lang="en-US" altLang="zh-CN" sz="1800"/>
              <a:t>PWM</a:t>
            </a:r>
            <a:r>
              <a:rPr lang="zh-CN" altLang="en-US" sz="1800"/>
              <a:t>与</a:t>
            </a:r>
            <a:r>
              <a:rPr lang="en-US" altLang="zh-CN" sz="1800"/>
              <a:t>L</a:t>
            </a:r>
            <a:r>
              <a:rPr lang="zh-CN" altLang="en-US" sz="1800"/>
              <a:t>矩使用不同统计量。保留</a:t>
            </a:r>
            <a:r>
              <a:rPr lang="en-US" altLang="zh-CN" sz="1800"/>
              <a:t>MLE</a:t>
            </a:r>
            <a:r>
              <a:rPr lang="zh-CN" altLang="en-US" sz="1800"/>
              <a:t>不代表认定其小样本最优，求解定义与边界仍需明确。</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依据：研究报告</a:t>
            </a:r>
            <a:r>
              <a:rPr lang="en-US" altLang="zh-CN" sz="1800"/>
              <a:t>3.2</a:t>
            </a:r>
            <a:r>
              <a:rPr lang="zh-CN" altLang="en-US" sz="1800"/>
              <a:t>及</a:t>
            </a:r>
            <a:r>
              <a:rPr lang="en-US" altLang="zh-CN" sz="1800"/>
              <a:t>3.5.2</a:t>
            </a:r>
            <a:r>
              <a:rPr lang="zh-CN" altLang="en-US" sz="1800"/>
              <a:t>，附录</a:t>
            </a:r>
            <a:r>
              <a:rPr lang="en-US" altLang="zh-CN" sz="1800"/>
              <a:t>B</a:t>
            </a:r>
            <a:r>
              <a:rPr lang="zh-CN" altLang="en-US" sz="1800"/>
              <a:t>第</a:t>
            </a:r>
            <a:r>
              <a:rPr lang="en-US" altLang="zh-CN" sz="1800"/>
              <a:t>2</a:t>
            </a:r>
            <a:r>
              <a:rPr lang="zh-CN" altLang="en-US" sz="1800"/>
              <a:t>至</a:t>
            </a:r>
            <a:r>
              <a:rPr lang="en-US" altLang="zh-CN" sz="1800"/>
              <a:t>5</a:t>
            </a:r>
            <a:r>
              <a:rPr lang="zh-CN" altLang="en-US" sz="1800"/>
              <a:t>节。箭头只用于已核的继承关系，不表示性能提升。</a:t>
            </a:r>
            <a:r>
              <a:rPr lang="en-US" altLang="zh-CN" sz="1800"/>
              <a:t>White</a:t>
            </a:r>
            <a:r>
              <a:rPr lang="zh-CN" altLang="en-US" sz="1800"/>
              <a:t>由</a:t>
            </a:r>
            <a:r>
              <a:rPr lang="en-US" altLang="zh-CN" sz="1800"/>
              <a:t>Soman–Misra</a:t>
            </a:r>
            <a:r>
              <a:rPr lang="zh-CN" altLang="en-US" sz="1800"/>
              <a:t>原文追溯；</a:t>
            </a:r>
            <a:r>
              <a:rPr lang="en-US" altLang="zh-CN" sz="1800"/>
              <a:t>Jacquelin</a:t>
            </a:r>
            <a:r>
              <a:rPr lang="zh-CN" altLang="en-US" sz="1800"/>
              <a:t>由</a:t>
            </a:r>
            <a:r>
              <a:rPr lang="en-US" altLang="zh-CN" sz="1800"/>
              <a:t>Cousineau</a:t>
            </a:r>
            <a:r>
              <a:rPr lang="zh-CN" altLang="en-US" sz="1800"/>
              <a:t>原文追溯，不把转引当作完整审读。</a:t>
            </a:r>
            <a:r>
              <a:rPr lang="en-US" altLang="zh-CN" sz="1800"/>
              <a:t>Park</a:t>
            </a:r>
            <a:r>
              <a:rPr lang="zh-CN" altLang="en-US" sz="1800"/>
              <a:t>（</a:t>
            </a:r>
            <a:r>
              <a:rPr lang="en-US" altLang="zh-CN" sz="1800"/>
              <a:t>2017</a:t>
            </a:r>
            <a:r>
              <a:rPr lang="zh-CN" altLang="en-US" sz="1800"/>
              <a:t>）的两支为</a:t>
            </a:r>
            <a:r>
              <a:rPr lang="en-US" altLang="zh-CN" sz="1800"/>
              <a:t>Proposed+Plot</a:t>
            </a:r>
            <a:r>
              <a:rPr lang="zh-CN" altLang="en-US" sz="1800"/>
              <a:t>与</a:t>
            </a:r>
            <a:r>
              <a:rPr lang="en-US" altLang="zh-CN" sz="1800"/>
              <a:t>Proposed+MLE2</a:t>
            </a:r>
            <a:r>
              <a:rPr lang="zh-CN" altLang="en-US" sz="1800"/>
              <a:t>；这里没有把</a:t>
            </a:r>
            <a:r>
              <a:rPr lang="en-US" altLang="zh-CN" sz="1800"/>
              <a:t>Soman–Misra</a:t>
            </a:r>
            <a:r>
              <a:rPr lang="zh-CN" altLang="en-US" sz="1800"/>
              <a:t>与</a:t>
            </a:r>
            <a:r>
              <a:rPr lang="en-US" altLang="zh-CN" sz="1800"/>
              <a:t>Park</a:t>
            </a:r>
            <a:r>
              <a:rPr lang="zh-CN" altLang="en-US" sz="1800"/>
              <a:t>连成直接继承链。项目</a:t>
            </a:r>
            <a:r>
              <a:rPr lang="en-US" altLang="zh-CN" sz="1800"/>
              <a:t>LRE</a:t>
            </a:r>
            <a:r>
              <a:rPr lang="zh-CN" altLang="en-US" sz="1800"/>
              <a:t>用</a:t>
            </a:r>
            <a:r>
              <a:rPr lang="en-US" altLang="zh-CN" sz="1800"/>
              <a:t>Bernard</a:t>
            </a:r>
            <a:r>
              <a:rPr lang="zh-CN" altLang="en-US" sz="1800"/>
              <a:t>绘图位置，相关系数定位后</a:t>
            </a:r>
            <a:r>
              <a:rPr lang="en-US" altLang="zh-CN" sz="1800"/>
              <a:t>z</a:t>
            </a:r>
            <a:r>
              <a:rPr lang="zh-CN" altLang="en-US" sz="1800"/>
              <a:t>对</a:t>
            </a:r>
            <a:r>
              <a:rPr lang="en-US" altLang="zh-CN" sz="1800"/>
              <a:t>x</a:t>
            </a:r>
            <a:r>
              <a:rPr lang="zh-CN" altLang="en-US" sz="1800"/>
              <a:t>回归，与</a:t>
            </a:r>
            <a:r>
              <a:rPr lang="en-US" altLang="zh-CN" sz="1800"/>
              <a:t>Park</a:t>
            </a:r>
            <a:r>
              <a:rPr lang="zh-CN" altLang="en-US" sz="1800"/>
              <a:t>的分数规则不同。</a:t>
            </a:r>
            <a:r>
              <a:rPr lang="en-US" altLang="zh-CN" sz="1800"/>
              <a:t>WMLE</a:t>
            </a:r>
            <a:r>
              <a:rPr lang="zh-CN" altLang="en-US" sz="1800"/>
              <a:t>修正估计方程，不是仅替换求解器。</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依据：研究报告</a:t>
            </a:r>
            <a:r>
              <a:rPr lang="en-US" altLang="zh-CN" sz="1800"/>
              <a:t>3.3</a:t>
            </a:r>
            <a:r>
              <a:rPr lang="zh-CN" altLang="en-US" sz="1800"/>
              <a:t>及附录</a:t>
            </a:r>
            <a:r>
              <a:rPr lang="en-US" altLang="zh-CN" sz="1800"/>
              <a:t>A</a:t>
            </a:r>
            <a:r>
              <a:rPr lang="zh-CN" altLang="en-US" sz="1800"/>
              <a:t>。</a:t>
            </a:r>
            <a:r>
              <a:rPr lang="en-US" altLang="zh-CN" sz="1800"/>
              <a:t>WMLE</a:t>
            </a:r>
            <a:r>
              <a:rPr lang="zh-CN" altLang="en-US" sz="1800"/>
              <a:t>后续采用：</a:t>
            </a:r>
            <a:r>
              <a:rPr lang="en-US" altLang="zh-CN" sz="1800"/>
              <a:t>Nagatsuka</a:t>
            </a:r>
            <a:r>
              <a:rPr lang="zh-CN" altLang="en-US" sz="1800"/>
              <a:t>等</a:t>
            </a:r>
            <a:r>
              <a:rPr lang="en-US" altLang="zh-CN" sz="1800"/>
              <a:t>2013</a:t>
            </a:r>
            <a:r>
              <a:rPr lang="zh-CN" altLang="en-US" sz="1800"/>
              <a:t>与</a:t>
            </a:r>
            <a:r>
              <a:rPr lang="en-US" altLang="zh-CN" sz="1800"/>
              <a:t>Safari</a:t>
            </a:r>
            <a:r>
              <a:rPr lang="zh-CN" altLang="en-US" sz="1800"/>
              <a:t>等</a:t>
            </a:r>
            <a:r>
              <a:rPr lang="en-US" altLang="zh-CN" sz="1800"/>
              <a:t>2025</a:t>
            </a:r>
            <a:r>
              <a:rPr lang="zh-CN" altLang="en-US" sz="1800"/>
              <a:t>，后者为污染情境，只用于支持采用事实，不搬用性能排名。</a:t>
            </a:r>
            <a:r>
              <a:rPr lang="en-US" altLang="zh-CN" sz="1800"/>
              <a:t>Park</a:t>
            </a:r>
            <a:r>
              <a:rPr lang="zh-CN" altLang="en-US" sz="1800"/>
              <a:t>相关回归被</a:t>
            </a:r>
            <a:r>
              <a:rPr lang="en-US" altLang="zh-CN" sz="1800"/>
              <a:t>Wang</a:t>
            </a:r>
            <a:r>
              <a:rPr lang="zh-CN" altLang="en-US" sz="1800"/>
              <a:t>等</a:t>
            </a:r>
            <a:r>
              <a:rPr lang="en-US" altLang="zh-CN" sz="1800"/>
              <a:t>[187-001]</a:t>
            </a:r>
            <a:r>
              <a:rPr lang="zh-CN" altLang="en-US" sz="1800"/>
              <a:t>纳入比较。</a:t>
            </a:r>
            <a:r>
              <a:rPr lang="en-US" altLang="zh-CN" sz="1800"/>
              <a:t>SAM</a:t>
            </a:r>
            <a:r>
              <a:rPr lang="zh-CN" altLang="en-US" sz="1800"/>
              <a:t>含</a:t>
            </a:r>
            <a:r>
              <a:rPr lang="en-US" altLang="zh-CN" sz="1800"/>
              <a:t>n=5/10/15/20</a:t>
            </a:r>
            <a:r>
              <a:rPr lang="zh-CN" altLang="en-US" sz="1800"/>
              <a:t>；</a:t>
            </a:r>
            <a:r>
              <a:rPr lang="en-US" altLang="zh-CN" sz="1800"/>
              <a:t>PM</a:t>
            </a:r>
            <a:r>
              <a:rPr lang="zh-CN" altLang="en-US" sz="1800"/>
              <a:t>含</a:t>
            </a:r>
            <a:r>
              <a:rPr lang="en-US" altLang="zh-CN" sz="1800"/>
              <a:t>n=5</a:t>
            </a:r>
            <a:r>
              <a:rPr lang="zh-CN" altLang="en-US" sz="1800"/>
              <a:t>比较，两版位置更新与其他参数估计不同，不能合成一个版本或称</a:t>
            </a:r>
            <a:r>
              <a:rPr lang="en-US" altLang="zh-CN" sz="1800"/>
              <a:t>2024</a:t>
            </a:r>
            <a:r>
              <a:rPr lang="zh-CN" altLang="en-US" sz="1800"/>
              <a:t>必然升级。</a:t>
            </a:r>
            <a:r>
              <a:rPr lang="en-US" altLang="zh-CN" sz="1800"/>
              <a:t>MDM</a:t>
            </a:r>
            <a:r>
              <a:rPr lang="zh-CN" altLang="en-US" sz="1800"/>
              <a:t>在线</a:t>
            </a:r>
            <a:r>
              <a:rPr lang="en-US" altLang="zh-CN" sz="1800"/>
              <a:t>2022</a:t>
            </a:r>
            <a:r>
              <a:rPr lang="zh-CN" altLang="en-US" sz="1800"/>
              <a:t>、卷期</a:t>
            </a:r>
            <a:r>
              <a:rPr lang="en-US" altLang="zh-CN" sz="1800"/>
              <a:t>2023</a:t>
            </a:r>
            <a:r>
              <a:rPr lang="zh-CN" altLang="en-US" sz="1800"/>
              <a:t>，后续部分比较与提出团队有作者重合，非多次独立团队确认。</a:t>
            </a:r>
            <a:r>
              <a:rPr lang="en-US" altLang="zh-CN" sz="1800"/>
              <a:t>BPNN</a:t>
            </a:r>
            <a:r>
              <a:rPr lang="zh-CN" altLang="en-US" sz="1800"/>
              <a:t>输入及训练配置尚有未决信息；</a:t>
            </a:r>
            <a:r>
              <a:rPr lang="en-US" altLang="zh-CN" sz="1800"/>
              <a:t>DMMLE</a:t>
            </a:r>
            <a:r>
              <a:rPr lang="zh-CN" altLang="en-US" sz="1800"/>
              <a:t>原仿真从</a:t>
            </a:r>
            <a:r>
              <a:rPr lang="en-US" altLang="zh-CN" sz="1800"/>
              <a:t>n=50</a:t>
            </a:r>
            <a:r>
              <a:rPr lang="zh-CN" altLang="en-US" sz="1800"/>
              <a:t>开始，极小样本表现需另检验。认可程度不等于性能排名；全领域最新最强未被本次定向调研证明。</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300" b="1" spc="-150">
                <a:solidFill>
                  <a:srgbClr val="FFFFFF"/>
                </a:solidFill>
                <a:latin typeface="汉仪文润宋韵 U"/>
                <a:ea typeface="汉仪文润宋韵 U"/>
                <a:cs typeface="汉仪文润宋韵 U"/>
              </a:rPr>
              <a:t>经典方法：比较的是不同的估计依据</a:t>
            </a:r>
            <a:endParaRPr sz="23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1049000" cy="2438400"/>
          </a:xfrm>
          <a:prstGeom prst="rect">
            <a:avLst/>
          </a:prstGeom>
          <a:noFill/>
        </p:spPr>
        <p:txBody>
          <a:bodyPr wrap="square" lIns="0" tIns="0" rIns="0" bIns="0">
            <a:noAutofit/>
          </a:bodyPr>
          <a:lstStyle/>
          <a:p>
            <a:pPr>
              <a:lnSpc>
                <a:spcPts val="2400"/>
              </a:lnSpc>
              <a:spcAft>
                <a:spcPts val="1200"/>
              </a:spcAft>
            </a:pPr>
            <a:r>
              <a:rPr lang="zh-CN" altLang="en-US" sz="2000" b="1">
                <a:solidFill>
                  <a:srgbClr val="2F6096"/>
                </a:solidFill>
                <a:latin typeface="微软雅黑" panose="020B0503020204020204" pitchFamily="34" charset="-122"/>
                <a:ea typeface="微软雅黑" panose="020B0503020204020204" pitchFamily="34" charset="-122"/>
              </a:rPr>
              <a:t>对选择对照的启示</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MLE</a:t>
            </a:r>
            <a:r>
              <a:rPr lang="zh-CN" altLang="en-US" sz="1700">
                <a:solidFill>
                  <a:srgbClr val="000000"/>
                </a:solidFill>
                <a:latin typeface="微软雅黑" panose="020B0503020204020204" pitchFamily="34" charset="-122"/>
                <a:ea typeface="微软雅黑" panose="020B0503020204020204" pitchFamily="34" charset="-122"/>
              </a:rPr>
              <a:t>：用似然确定参数，是联系既有研究的共同参照。</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LS / LRE</a:t>
            </a:r>
            <a:r>
              <a:rPr lang="zh-CN" altLang="en-US" sz="1700">
                <a:solidFill>
                  <a:srgbClr val="000000"/>
                </a:solidFill>
                <a:latin typeface="微软雅黑" panose="020B0503020204020204" pitchFamily="34" charset="-122"/>
                <a:ea typeface="微软雅黑" panose="020B0503020204020204" pitchFamily="34" charset="-122"/>
              </a:rPr>
              <a:t>：用概率图回归估计，分数和回归方向影响结果。</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MM / PWM / L</a:t>
            </a:r>
            <a:r>
              <a:rPr lang="zh-CN" altLang="en-US" sz="1700">
                <a:solidFill>
                  <a:srgbClr val="000000"/>
                </a:solidFill>
                <a:latin typeface="微软雅黑" panose="020B0503020204020204" pitchFamily="34" charset="-122"/>
                <a:ea typeface="微软雅黑" panose="020B0503020204020204" pitchFamily="34" charset="-122"/>
              </a:rPr>
              <a:t>矩：匹配不同的样本统计量与理论关系。</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MPS</a:t>
            </a:r>
            <a:r>
              <a:rPr lang="zh-CN" altLang="en-US" sz="1700">
                <a:solidFill>
                  <a:srgbClr val="000000"/>
                </a:solidFill>
                <a:latin typeface="微软雅黑" panose="020B0503020204020204" pitchFamily="34" charset="-122"/>
                <a:ea typeface="微软雅黑" panose="020B0503020204020204" pitchFamily="34" charset="-122"/>
              </a:rPr>
              <a:t>：用</a:t>
            </a:r>
            <a:r>
              <a:rPr lang="en-US" altLang="zh-CN" sz="1700">
                <a:solidFill>
                  <a:srgbClr val="000000"/>
                </a:solidFill>
                <a:latin typeface="微软雅黑" panose="020B0503020204020204" pitchFamily="34" charset="-122"/>
                <a:ea typeface="微软雅黑" panose="020B0503020204020204" pitchFamily="34" charset="-122"/>
              </a:rPr>
              <a:t>CDF</a:t>
            </a:r>
            <a:r>
              <a:rPr lang="zh-CN" altLang="en-US" sz="1700">
                <a:solidFill>
                  <a:srgbClr val="000000"/>
                </a:solidFill>
                <a:latin typeface="微软雅黑" panose="020B0503020204020204" pitchFamily="34" charset="-122"/>
                <a:ea typeface="微软雅黑" panose="020B0503020204020204" pitchFamily="34" charset="-122"/>
              </a:rPr>
              <a:t>概率间距定义目标，区别于逐观测密度。</a:t>
            </a:r>
          </a:p>
          <a:p>
            <a:pPr>
              <a:lnSpc>
                <a:spcPts val="2400"/>
              </a:lnSpc>
              <a:spcAft>
                <a:spcPts val="500"/>
              </a:spcAft>
            </a:pPr>
            <a:r>
              <a:rPr lang="zh-CN" altLang="en-US" sz="1700">
                <a:solidFill>
                  <a:srgbClr val="000000"/>
                </a:solidFill>
                <a:latin typeface="微软雅黑" panose="020B0503020204020204" pitchFamily="34" charset="-122"/>
                <a:ea typeface="微软雅黑" panose="020B0503020204020204" pitchFamily="34" charset="-122"/>
              </a:rPr>
              <a:t>四个方法名称未必覆盖四种原理，应按比较作用选代表。</a:t>
            </a:r>
            <a:endParaRPr lang="zh-CN" altLang="zh-CN" sz="1700" dirty="0">
              <a:solidFill>
                <a:srgbClr val="000000"/>
              </a:solidFill>
              <a:latin typeface="微软雅黑"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方法区别</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已核文献中的经典参照，主要覆盖四种估计依据。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en-US" altLang="zh-CN">
                <a:solidFill>
                  <a:srgbClr val="154F8C"/>
                </a:solidFill>
                <a:latin typeface="Microsoft YaHei"/>
              </a:rPr>
              <a:t>MLE</a:t>
            </a:r>
            <a:r>
              <a:rPr lang="zh-CN" altLang="en-US">
                <a:solidFill>
                  <a:srgbClr val="154F8C"/>
                </a:solidFill>
                <a:latin typeface="Microsoft YaHei"/>
              </a:rPr>
              <a:t>与</a:t>
            </a:r>
            <a:r>
              <a:rPr lang="en-US" altLang="zh-CN">
                <a:solidFill>
                  <a:srgbClr val="154F8C"/>
                </a:solidFill>
                <a:latin typeface="Microsoft YaHei"/>
              </a:rPr>
              <a:t>WMLE</a:t>
            </a:r>
            <a:r>
              <a:rPr lang="zh-CN" altLang="en-US">
                <a:solidFill>
                  <a:srgbClr val="154F8C"/>
                </a:solidFill>
                <a:latin typeface="Microsoft YaHei"/>
              </a:rPr>
              <a:t>同属似然路线，</a:t>
            </a:r>
            <a:r>
              <a:rPr lang="en-US" altLang="zh-CN">
                <a:solidFill>
                  <a:srgbClr val="154F8C"/>
                </a:solidFill>
                <a:latin typeface="Microsoft YaHei"/>
              </a:rPr>
              <a:t>LS</a:t>
            </a:r>
            <a:r>
              <a:rPr lang="zh-CN" altLang="en-US">
                <a:solidFill>
                  <a:srgbClr val="154F8C"/>
                </a:solidFill>
                <a:latin typeface="Microsoft YaHei"/>
              </a:rPr>
              <a:t>与</a:t>
            </a:r>
            <a:r>
              <a:rPr lang="en-US" altLang="zh-CN">
                <a:solidFill>
                  <a:srgbClr val="154F8C"/>
                </a:solidFill>
                <a:latin typeface="Microsoft YaHei"/>
              </a:rPr>
              <a:t>LRE</a:t>
            </a:r>
            <a:r>
              <a:rPr lang="zh-CN" altLang="en-US">
                <a:solidFill>
                  <a:srgbClr val="154F8C"/>
                </a:solidFill>
                <a:latin typeface="Microsoft YaHei"/>
              </a:rPr>
              <a:t>同属概率图路线。</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1559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300" b="1" spc="-150">
                <a:solidFill>
                  <a:srgbClr val="FFFFFF"/>
                </a:solidFill>
                <a:latin typeface="汉仪文润宋韵 U"/>
                <a:ea typeface="汉仪文润宋韵 U"/>
                <a:cs typeface="汉仪文润宋韵 U"/>
              </a:rPr>
              <a:t>方法沿革：同一条路线也有不同版本</a:t>
            </a:r>
            <a:endParaRPr sz="23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1049000" cy="2438400"/>
          </a:xfrm>
          <a:prstGeom prst="rect">
            <a:avLst/>
          </a:prstGeom>
          <a:noFill/>
        </p:spPr>
        <p:txBody>
          <a:bodyPr wrap="square" lIns="0" tIns="0" rIns="0" bIns="0">
            <a:noAutofit/>
          </a:bodyPr>
          <a:lstStyle/>
          <a:p>
            <a:pPr>
              <a:lnSpc>
                <a:spcPts val="2400"/>
              </a:lnSpc>
              <a:spcAft>
                <a:spcPts val="1200"/>
              </a:spcAft>
            </a:pPr>
            <a:r>
              <a:rPr lang="zh-CN" altLang="en-US" sz="2000" b="1">
                <a:solidFill>
                  <a:srgbClr val="2F6096"/>
                </a:solidFill>
                <a:latin typeface="微软雅黑" panose="020B0503020204020204" pitchFamily="34" charset="-122"/>
                <a:ea typeface="微软雅黑" panose="020B0503020204020204" pitchFamily="34" charset="-122"/>
              </a:rPr>
              <a:t>两条直接影响选型的沿革</a:t>
            </a:r>
          </a:p>
          <a:p>
            <a:pPr>
              <a:lnSpc>
                <a:spcPts val="2400"/>
              </a:lnSpc>
              <a:spcAft>
                <a:spcPts val="500"/>
              </a:spcAft>
            </a:pPr>
            <a:r>
              <a:rPr lang="zh-CN" altLang="en-US" sz="1700">
                <a:solidFill>
                  <a:srgbClr val="000000"/>
                </a:solidFill>
                <a:latin typeface="微软雅黑" panose="020B0503020204020204" pitchFamily="34" charset="-122"/>
                <a:ea typeface="微软雅黑" panose="020B0503020204020204" pitchFamily="34" charset="-122"/>
              </a:rPr>
              <a:t>似然：</a:t>
            </a:r>
            <a:r>
              <a:rPr lang="en-US" altLang="zh-CN" sz="1700">
                <a:solidFill>
                  <a:srgbClr val="000000"/>
                </a:solidFill>
                <a:latin typeface="微软雅黑" panose="020B0503020204020204" pitchFamily="34" charset="-122"/>
                <a:ea typeface="微软雅黑" panose="020B0503020204020204" pitchFamily="34" charset="-122"/>
              </a:rPr>
              <a:t>Jacquelin</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1993</a:t>
            </a:r>
            <a:r>
              <a:rPr lang="zh-CN" altLang="en-US" sz="1700">
                <a:solidFill>
                  <a:srgbClr val="000000"/>
                </a:solidFill>
                <a:latin typeface="微软雅黑" panose="020B0503020204020204" pitchFamily="34" charset="-122"/>
                <a:ea typeface="微软雅黑" panose="020B0503020204020204" pitchFamily="34" charset="-122"/>
              </a:rPr>
              <a:t>，二参数）→ </a:t>
            </a:r>
            <a:r>
              <a:rPr lang="en-US" altLang="zh-CN" sz="1700">
                <a:solidFill>
                  <a:srgbClr val="000000"/>
                </a:solidFill>
                <a:latin typeface="微软雅黑" panose="020B0503020204020204" pitchFamily="34" charset="-122"/>
                <a:ea typeface="微软雅黑" panose="020B0503020204020204" pitchFamily="34" charset="-122"/>
              </a:rPr>
              <a:t>Cousineau WMLE</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2009</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[182-088]</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Cousineau</a:t>
            </a:r>
            <a:r>
              <a:rPr lang="zh-CN" altLang="en-US" sz="1700">
                <a:solidFill>
                  <a:srgbClr val="000000"/>
                </a:solidFill>
                <a:latin typeface="微软雅黑" panose="020B0503020204020204" pitchFamily="34" charset="-122"/>
                <a:ea typeface="微软雅黑" panose="020B0503020204020204" pitchFamily="34" charset="-122"/>
              </a:rPr>
              <a:t>扩展到三参数，并引入有限样本修正权重。</a:t>
            </a:r>
          </a:p>
          <a:p>
            <a:pPr>
              <a:lnSpc>
                <a:spcPts val="2400"/>
              </a:lnSpc>
              <a:spcAft>
                <a:spcPts val="500"/>
              </a:spcAft>
            </a:pPr>
            <a:r>
              <a:rPr lang="zh-CN" altLang="en-US" sz="1700">
                <a:solidFill>
                  <a:srgbClr val="000000"/>
                </a:solidFill>
                <a:latin typeface="微软雅黑" panose="020B0503020204020204" pitchFamily="34" charset="-122"/>
                <a:ea typeface="微软雅黑" panose="020B0503020204020204" pitchFamily="34" charset="-122"/>
              </a:rPr>
              <a:t>概率图：</a:t>
            </a:r>
            <a:r>
              <a:rPr lang="en-US" altLang="zh-CN" sz="1700">
                <a:solidFill>
                  <a:srgbClr val="000000"/>
                </a:solidFill>
                <a:latin typeface="微软雅黑" panose="020B0503020204020204" pitchFamily="34" charset="-122"/>
                <a:ea typeface="微软雅黑" panose="020B0503020204020204" pitchFamily="34" charset="-122"/>
              </a:rPr>
              <a:t>White</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1969</a:t>
            </a:r>
            <a:r>
              <a:rPr lang="zh-CN" altLang="en-US" sz="1700">
                <a:solidFill>
                  <a:srgbClr val="000000"/>
                </a:solidFill>
                <a:latin typeface="微软雅黑" panose="020B0503020204020204" pitchFamily="34" charset="-122"/>
                <a:ea typeface="微软雅黑" panose="020B0503020204020204" pitchFamily="34" charset="-122"/>
              </a:rPr>
              <a:t>）→ </a:t>
            </a:r>
            <a:r>
              <a:rPr lang="en-US" altLang="zh-CN" sz="1700">
                <a:solidFill>
                  <a:srgbClr val="000000"/>
                </a:solidFill>
                <a:latin typeface="微软雅黑" panose="020B0503020204020204" pitchFamily="34" charset="-122"/>
                <a:ea typeface="微软雅黑" panose="020B0503020204020204" pitchFamily="34" charset="-122"/>
              </a:rPr>
              <a:t>Soman–Misra</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1992</a:t>
            </a:r>
            <a:r>
              <a:rPr lang="zh-CN" altLang="en-US" sz="1700">
                <a:solidFill>
                  <a:srgbClr val="000000"/>
                </a:solidFill>
                <a:latin typeface="微软雅黑" panose="020B0503020204020204" pitchFamily="34" charset="-122"/>
                <a:ea typeface="微软雅黑" panose="020B0503020204020204" pitchFamily="34" charset="-122"/>
              </a:rPr>
              <a:t>，三参数扩展）</a:t>
            </a:r>
            <a:r>
              <a:rPr lang="en-US" altLang="zh-CN" sz="1700">
                <a:solidFill>
                  <a:srgbClr val="000000"/>
                </a:solidFill>
                <a:latin typeface="微软雅黑" panose="020B0503020204020204" pitchFamily="34" charset="-122"/>
                <a:ea typeface="微软雅黑" panose="020B0503020204020204" pitchFamily="34" charset="-122"/>
              </a:rPr>
              <a:t>[182-104]</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Park</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2017</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[182-115]</a:t>
            </a:r>
            <a:r>
              <a:rPr lang="zh-CN" altLang="en-US" sz="1700">
                <a:solidFill>
                  <a:srgbClr val="000000"/>
                </a:solidFill>
                <a:latin typeface="微软雅黑" panose="020B0503020204020204" pitchFamily="34" charset="-122"/>
                <a:ea typeface="微软雅黑" panose="020B0503020204020204" pitchFamily="34" charset="-122"/>
              </a:rPr>
              <a:t>另用相关系数估位置，再选回归或条件</a:t>
            </a:r>
            <a:r>
              <a:rPr lang="en-US" altLang="zh-CN" sz="1700">
                <a:solidFill>
                  <a:srgbClr val="000000"/>
                </a:solidFill>
                <a:latin typeface="微软雅黑" panose="020B0503020204020204" pitchFamily="34" charset="-122"/>
                <a:ea typeface="微软雅黑" panose="020B0503020204020204" pitchFamily="34" charset="-122"/>
              </a:rPr>
              <a:t>MLE</a:t>
            </a:r>
            <a:r>
              <a:rPr lang="zh-CN" altLang="en-US" sz="1700">
                <a:solidFill>
                  <a:srgbClr val="000000"/>
                </a:solidFill>
                <a:latin typeface="微软雅黑" panose="020B0503020204020204" pitchFamily="34" charset="-122"/>
                <a:ea typeface="微软雅黑" panose="020B0503020204020204" pitchFamily="34" charset="-122"/>
              </a:rPr>
              <a:t>。</a:t>
            </a:r>
          </a:p>
          <a:p>
            <a:pPr>
              <a:lnSpc>
                <a:spcPts val="2400"/>
              </a:lnSpc>
              <a:spcAft>
                <a:spcPts val="500"/>
              </a:spcAft>
            </a:pPr>
            <a:r>
              <a:rPr lang="zh-CN" altLang="en-US" sz="1700">
                <a:solidFill>
                  <a:srgbClr val="000000"/>
                </a:solidFill>
                <a:latin typeface="微软雅黑" panose="020B0503020204020204" pitchFamily="34" charset="-122"/>
                <a:ea typeface="微软雅黑" panose="020B0503020204020204" pitchFamily="34" charset="-122"/>
              </a:rPr>
              <a:t>项目</a:t>
            </a:r>
            <a:r>
              <a:rPr lang="en-US" altLang="zh-CN" sz="1700">
                <a:solidFill>
                  <a:srgbClr val="000000"/>
                </a:solidFill>
                <a:latin typeface="微软雅黑" panose="020B0503020204020204" pitchFamily="34" charset="-122"/>
                <a:ea typeface="微软雅黑" panose="020B0503020204020204" pitchFamily="34" charset="-122"/>
              </a:rPr>
              <a:t>LRE</a:t>
            </a:r>
            <a:r>
              <a:rPr lang="zh-CN" altLang="en-US" sz="1700">
                <a:solidFill>
                  <a:srgbClr val="000000"/>
                </a:solidFill>
                <a:latin typeface="微软雅黑" panose="020B0503020204020204" pitchFamily="34" charset="-122"/>
                <a:ea typeface="微软雅黑" panose="020B0503020204020204" pitchFamily="34" charset="-122"/>
              </a:rPr>
              <a:t>改变了绘图位置，不能直接称为</a:t>
            </a:r>
            <a:r>
              <a:rPr lang="en-US" altLang="zh-CN" sz="1700">
                <a:solidFill>
                  <a:srgbClr val="000000"/>
                </a:solidFill>
                <a:latin typeface="微软雅黑" panose="020B0503020204020204" pitchFamily="34" charset="-122"/>
                <a:ea typeface="微软雅黑" panose="020B0503020204020204" pitchFamily="34" charset="-122"/>
              </a:rPr>
              <a:t>Park</a:t>
            </a:r>
            <a:r>
              <a:rPr lang="zh-CN" altLang="en-US" sz="1700">
                <a:solidFill>
                  <a:srgbClr val="000000"/>
                </a:solidFill>
                <a:latin typeface="微软雅黑" panose="020B0503020204020204" pitchFamily="34" charset="-122"/>
                <a:ea typeface="微软雅黑" panose="020B0503020204020204" pitchFamily="34" charset="-122"/>
              </a:rPr>
              <a:t>原版。</a:t>
            </a:r>
            <a:endParaRPr lang="zh-CN" altLang="zh-CN" sz="1700" dirty="0">
              <a:solidFill>
                <a:srgbClr val="000000"/>
              </a:solidFill>
              <a:latin typeface="微软雅黑"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沿革发现</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两条与现有对照直接相关的路线，都因具体问题继续发展。</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弄清“谁改了哪一步”，才能决定引用和采用哪个版本。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37162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300" b="1" spc="-150">
                <a:solidFill>
                  <a:srgbClr val="FFFFFF"/>
                </a:solidFill>
                <a:latin typeface="汉仪文润宋韵 U"/>
                <a:ea typeface="汉仪文润宋韵 U"/>
                <a:cs typeface="汉仪文润宋韵 U"/>
              </a:rPr>
              <a:t>近</a:t>
            </a:r>
            <a:r>
              <a:rPr lang="en-US" altLang="zh-CN" sz="2300" b="1" spc="-150">
                <a:solidFill>
                  <a:srgbClr val="FFFFFF"/>
                </a:solidFill>
                <a:latin typeface="汉仪文润宋韵 U"/>
                <a:ea typeface="汉仪文润宋韵 U"/>
                <a:cs typeface="汉仪文润宋韵 U"/>
              </a:rPr>
              <a:t>20</a:t>
            </a:r>
            <a:r>
              <a:rPr lang="zh-CN" altLang="en-US" sz="2300" b="1" spc="-150">
                <a:solidFill>
                  <a:srgbClr val="FFFFFF"/>
                </a:solidFill>
                <a:latin typeface="汉仪文润宋韵 U"/>
                <a:ea typeface="汉仪文润宋韵 U"/>
                <a:cs typeface="汉仪文润宋韵 U"/>
              </a:rPr>
              <a:t>年的方法：有相关进展，但认可程度不同</a:t>
            </a:r>
            <a:endParaRPr sz="23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1049000" cy="2438400"/>
          </a:xfrm>
          <a:prstGeom prst="rect">
            <a:avLst/>
          </a:prstGeom>
          <a:noFill/>
        </p:spPr>
        <p:txBody>
          <a:bodyPr wrap="square" lIns="0" tIns="0" rIns="0" bIns="0">
            <a:noAutofit/>
          </a:bodyPr>
          <a:lstStyle/>
          <a:p>
            <a:pPr>
              <a:lnSpc>
                <a:spcPts val="2400"/>
              </a:lnSpc>
              <a:spcAft>
                <a:spcPts val="1200"/>
              </a:spcAft>
            </a:pPr>
            <a:r>
              <a:rPr lang="zh-CN" altLang="en-US" sz="2000" b="1">
                <a:solidFill>
                  <a:srgbClr val="2F6096"/>
                </a:solidFill>
                <a:latin typeface="微软雅黑" panose="020B0503020204020204" pitchFamily="34" charset="-122"/>
                <a:ea typeface="微软雅黑" panose="020B0503020204020204" pitchFamily="34" charset="-122"/>
              </a:rPr>
              <a:t>当前值得关注的候选</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WMLE</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2009</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[182-088]</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Park</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2017</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[182-115]</a:t>
            </a:r>
            <a:r>
              <a:rPr lang="zh-CN" altLang="en-US" sz="1700">
                <a:solidFill>
                  <a:srgbClr val="000000"/>
                </a:solidFill>
                <a:latin typeface="微软雅黑" panose="020B0503020204020204" pitchFamily="34" charset="-122"/>
                <a:ea typeface="微软雅黑" panose="020B0503020204020204" pitchFamily="34" charset="-122"/>
              </a:rPr>
              <a:t>：已有跨作者采用。</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SAM</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2023</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[185-005]</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PM</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2024</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[182-117]</a:t>
            </a:r>
            <a:r>
              <a:rPr lang="zh-CN" altLang="en-US" sz="1700">
                <a:solidFill>
                  <a:srgbClr val="000000"/>
                </a:solidFill>
                <a:latin typeface="微软雅黑" panose="020B0503020204020204" pitchFamily="34" charset="-122"/>
                <a:ea typeface="微软雅黑" panose="020B0503020204020204" pitchFamily="34" charset="-122"/>
              </a:rPr>
              <a:t>：直接包含极小样本研究。</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MDM</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2023</a:t>
            </a:r>
            <a:r>
              <a:rPr lang="zh-CN" altLang="en-US" sz="1700">
                <a:solidFill>
                  <a:srgbClr val="000000"/>
                </a:solidFill>
                <a:latin typeface="微软雅黑" panose="020B0503020204020204" pitchFamily="34" charset="-122"/>
                <a:ea typeface="微软雅黑" panose="020B0503020204020204" pitchFamily="34" charset="-122"/>
              </a:rPr>
              <a:t>卷期）</a:t>
            </a:r>
            <a:r>
              <a:rPr lang="en-US" altLang="zh-CN" sz="1700">
                <a:solidFill>
                  <a:srgbClr val="000000"/>
                </a:solidFill>
                <a:latin typeface="微软雅黑" panose="020B0503020204020204" pitchFamily="34" charset="-122"/>
                <a:ea typeface="微软雅黑" panose="020B0503020204020204" pitchFamily="34" charset="-122"/>
              </a:rPr>
              <a:t>[182-030]</a:t>
            </a:r>
            <a:r>
              <a:rPr lang="zh-CN" altLang="en-US" sz="1700">
                <a:solidFill>
                  <a:srgbClr val="000000"/>
                </a:solidFill>
                <a:latin typeface="微软雅黑" panose="020B0503020204020204" pitchFamily="34" charset="-122"/>
                <a:ea typeface="微软雅黑" panose="020B0503020204020204" pitchFamily="34" charset="-122"/>
              </a:rPr>
              <a:t>：研究其改进时，原方法应作直接参照。</a:t>
            </a:r>
          </a:p>
          <a:p>
            <a:pPr>
              <a:lnSpc>
                <a:spcPts val="2400"/>
              </a:lnSpc>
              <a:spcAft>
                <a:spcPts val="500"/>
              </a:spcAft>
            </a:pPr>
            <a:r>
              <a:rPr lang="en-US" altLang="zh-CN" sz="1700">
                <a:solidFill>
                  <a:srgbClr val="000000"/>
                </a:solidFill>
                <a:latin typeface="微软雅黑" panose="020B0503020204020204" pitchFamily="34" charset="-122"/>
                <a:ea typeface="微软雅黑" panose="020B0503020204020204" pitchFamily="34" charset="-122"/>
              </a:rPr>
              <a:t>BPNN</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2025</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[184-009]</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DMMLE</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2025</a:t>
            </a:r>
            <a:r>
              <a:rPr lang="zh-CN" altLang="en-US" sz="1700">
                <a:solidFill>
                  <a:srgbClr val="000000"/>
                </a:solidFill>
                <a:latin typeface="微软雅黑" panose="020B0503020204020204" pitchFamily="34" charset="-122"/>
                <a:ea typeface="微软雅黑" panose="020B0503020204020204" pitchFamily="34" charset="-122"/>
              </a:rPr>
              <a:t>）</a:t>
            </a:r>
            <a:r>
              <a:rPr lang="en-US" altLang="zh-CN" sz="1700">
                <a:solidFill>
                  <a:srgbClr val="000000"/>
                </a:solidFill>
                <a:latin typeface="微软雅黑" panose="020B0503020204020204" pitchFamily="34" charset="-122"/>
                <a:ea typeface="微软雅黑" panose="020B0503020204020204" pitchFamily="34" charset="-122"/>
              </a:rPr>
              <a:t>[182-111]</a:t>
            </a:r>
            <a:r>
              <a:rPr lang="zh-CN" altLang="en-US" sz="1700">
                <a:solidFill>
                  <a:srgbClr val="000000"/>
                </a:solidFill>
                <a:latin typeface="微软雅黑" panose="020B0503020204020204" pitchFamily="34" charset="-122"/>
                <a:ea typeface="微软雅黑" panose="020B0503020204020204" pitchFamily="34" charset="-122"/>
              </a:rPr>
              <a:t>：按创新点考虑。</a:t>
            </a:r>
          </a:p>
          <a:p>
            <a:pPr>
              <a:lnSpc>
                <a:spcPts val="2400"/>
              </a:lnSpc>
              <a:spcAft>
                <a:spcPts val="500"/>
              </a:spcAft>
            </a:pPr>
            <a:r>
              <a:rPr lang="zh-CN" altLang="en-US" sz="1700">
                <a:solidFill>
                  <a:srgbClr val="000000"/>
                </a:solidFill>
                <a:latin typeface="微软雅黑" panose="020B0503020204020204" pitchFamily="34" charset="-122"/>
                <a:ea typeface="微软雅黑" panose="020B0503020204020204" pitchFamily="34" charset="-122"/>
              </a:rPr>
              <a:t>现有证据支持列入候选，尚不能确定唯一公认的最新最强方法。</a:t>
            </a:r>
            <a:endParaRPr lang="zh-CN" altLang="zh-CN" sz="1700" dirty="0">
              <a:solidFill>
                <a:srgbClr val="000000"/>
              </a:solidFill>
              <a:latin typeface="微软雅黑"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近期进展</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近期工作既有对经典路线的修正，也有新的组合与学习构造。</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任务相关性和后续实际采用，比单看发表年份更有用。</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45617295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TotalTime>
  <Words>953</Words>
  <Application>Microsoft Office PowerPoint</Application>
  <DocSecurity>0</DocSecurity>
  <PresentationFormat>宽屏</PresentationFormat>
  <Paragraphs>60</Paragraphs>
  <Slides>5</Slides>
  <Notes>5</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5</vt:i4>
      </vt:variant>
    </vt:vector>
  </HeadingPairs>
  <TitlesOfParts>
    <vt:vector size="18"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9</cp:revision>
  <dcterms:created xsi:type="dcterms:W3CDTF">2026-09-06T04:22:26Z</dcterms:created>
  <dcterms:modified xsi:type="dcterms:W3CDTF">2026-09-27T16:30:34Z</dcterms:modified>
</cp:coreProperties>
</file>