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21"/>
  </p:notesMasterIdLst>
  <p:sldIdLst>
    <p:sldId id="256" r:id="rId4"/>
    <p:sldId id="258" r:id="rId5"/>
    <p:sldId id="259" r:id="rId6"/>
    <p:sldId id="273" r:id="rId7"/>
    <p:sldId id="274" r:id="rId8"/>
    <p:sldId id="275" r:id="rId9"/>
    <p:sldId id="276"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88" autoAdjust="0"/>
  </p:normalViewPr>
  <p:slideViewPr>
    <p:cSldViewPr snapToGrid="0">
      <p:cViewPr varScale="1">
        <p:scale>
          <a:sx n="91" d="100"/>
          <a:sy n="91" d="100"/>
        </p:scale>
        <p:origin x="34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sz="1800"/>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1.1</a:t>
            </a:r>
            <a:r>
              <a:rPr lang="zh-CN" altLang="en-US" sz="1800"/>
              <a:t>。定向工作分类，非互斥穷尽理论。</a:t>
            </a:r>
            <a:r>
              <a:rPr lang="en-US" altLang="zh-CN" sz="1800"/>
              <a:t>MLE</a:t>
            </a:r>
            <a:r>
              <a:rPr lang="zh-CN" altLang="en-US" sz="1800"/>
              <a:t>与</a:t>
            </a:r>
            <a:r>
              <a:rPr lang="en-US" altLang="zh-CN" sz="1800"/>
              <a:t>WMLE</a:t>
            </a:r>
            <a:r>
              <a:rPr lang="zh-CN" altLang="en-US" sz="1800"/>
              <a:t>同属似然，</a:t>
            </a:r>
            <a:r>
              <a:rPr lang="en-US" altLang="zh-CN" sz="1800"/>
              <a:t>LS</a:t>
            </a:r>
            <a:r>
              <a:rPr lang="zh-CN" altLang="en-US" sz="1800"/>
              <a:t>与</a:t>
            </a:r>
            <a:r>
              <a:rPr lang="en-US" altLang="zh-CN" sz="1800"/>
              <a:t>LRE</a:t>
            </a:r>
            <a:r>
              <a:rPr lang="zh-CN" altLang="en-US" sz="1800"/>
              <a:t>同属概率图。</a:t>
            </a:r>
            <a:r>
              <a:rPr lang="en-US" altLang="zh-CN" sz="1800"/>
              <a:t>MDM</a:t>
            </a:r>
            <a:r>
              <a:rPr lang="zh-CN" altLang="en-US" sz="1800"/>
              <a:t>是已核近期构造。</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A</a:t>
            </a:r>
            <a:r>
              <a:rPr lang="zh-CN" altLang="en-US" sz="1800"/>
              <a:t>部分。节点、作者年份和连线关系沿用原图，按</a:t>
            </a:r>
            <a:r>
              <a:rPr lang="en-US" altLang="zh-CN" sz="1800"/>
              <a:t>PPT</a:t>
            </a:r>
            <a:r>
              <a:rPr lang="zh-CN" altLang="en-US" sz="1800"/>
              <a:t>版面重排。</a:t>
            </a:r>
          </a:p>
          <a:p>
            <a:r>
              <a:rPr lang="zh-CN" altLang="en-US" sz="1800"/>
              <a:t>共同起点是样本似然，后续工作分别处理偏差、边界和数值求解。</a:t>
            </a:r>
          </a:p>
          <a:p>
            <a:r>
              <a:rPr lang="en-US" altLang="zh-CN" sz="1800"/>
              <a:t>WMLE</a:t>
            </a:r>
            <a:r>
              <a:rPr lang="zh-CN" altLang="en-US" sz="1800"/>
              <a:t>修正有限样本估计方程，</a:t>
            </a:r>
            <a:r>
              <a:rPr lang="en-US" altLang="zh-CN" sz="1800"/>
              <a:t>MMLE</a:t>
            </a:r>
            <a:r>
              <a:rPr lang="zh-CN" altLang="en-US" sz="1800"/>
              <a:t>改变似然构造，</a:t>
            </a:r>
            <a:r>
              <a:rPr lang="en-US" altLang="zh-CN" sz="1800"/>
              <a:t>DMMLE</a:t>
            </a:r>
            <a:r>
              <a:rPr lang="zh-CN" altLang="en-US" sz="1800"/>
              <a:t>进一步修正得分偏差。</a:t>
            </a:r>
          </a:p>
          <a:p>
            <a:r>
              <a:rPr lang="en-US" altLang="zh-CN" sz="1800"/>
              <a:t>PSO</a:t>
            </a:r>
            <a:r>
              <a:rPr lang="zh-CN" altLang="en-US" sz="1800"/>
              <a:t>、</a:t>
            </a:r>
            <a:r>
              <a:rPr lang="en-US" altLang="zh-CN" sz="1800"/>
              <a:t>ADGBO</a:t>
            </a:r>
            <a:r>
              <a:rPr lang="zh-CN" altLang="en-US" sz="1800"/>
              <a:t>等若保持同一似然与约束，改进的是求解过程。</a:t>
            </a:r>
          </a:p>
          <a:p>
            <a:r>
              <a:rPr lang="en-US" altLang="zh-CN" sz="1800"/>
              <a:t>WMLE [182-088]</a:t>
            </a:r>
            <a:r>
              <a:rPr lang="zh-CN" altLang="en-US" sz="1800"/>
              <a:t>；</a:t>
            </a:r>
            <a:r>
              <a:rPr lang="en-US" altLang="zh-CN" sz="1800"/>
              <a:t>DMMLE [182-111]</a:t>
            </a:r>
            <a:r>
              <a:rPr lang="zh-CN" altLang="en-US" sz="1800"/>
              <a:t>；</a:t>
            </a:r>
            <a:r>
              <a:rPr lang="en-US" altLang="zh-CN" sz="1800"/>
              <a:t>ADGBO [187-001]</a:t>
            </a:r>
            <a:r>
              <a:rPr lang="zh-CN" altLang="en-US" sz="1800"/>
              <a:t>。</a:t>
            </a:r>
            <a:r>
              <a:rPr lang="en-US" altLang="zh-CN" sz="1800"/>
              <a:t>Fisher</a:t>
            </a:r>
            <a:r>
              <a:rPr lang="zh-CN" altLang="en-US" sz="1800"/>
              <a:t>（</a:t>
            </a:r>
            <a:r>
              <a:rPr lang="en-US" altLang="zh-CN" sz="1800"/>
              <a:t>1922</a:t>
            </a:r>
            <a:r>
              <a:rPr lang="zh-CN" altLang="en-US" sz="1800"/>
              <a:t>）标示通用似然原理来源。</a:t>
            </a:r>
          </a:p>
          <a:p>
            <a:r>
              <a:rPr lang="en-US" altLang="zh-CN" sz="1800"/>
              <a:t>WMLE</a:t>
            </a:r>
            <a:r>
              <a:rPr lang="zh-CN" altLang="en-US" sz="1800"/>
              <a:t>承接</a:t>
            </a:r>
            <a:r>
              <a:rPr lang="en-US" altLang="zh-CN" sz="1800"/>
              <a:t>Jacquelin</a:t>
            </a:r>
            <a:r>
              <a:rPr lang="zh-CN" altLang="en-US" sz="1800"/>
              <a:t>（</a:t>
            </a:r>
            <a:r>
              <a:rPr lang="en-US" altLang="zh-CN" sz="1800"/>
              <a:t>1993</a:t>
            </a:r>
            <a:r>
              <a:rPr lang="zh-CN" altLang="en-US" sz="1800"/>
              <a:t>）的二参数构造。</a:t>
            </a:r>
            <a:r>
              <a:rPr lang="en-US" altLang="zh-CN" sz="1800"/>
              <a:t>Fisher</a:t>
            </a:r>
            <a:r>
              <a:rPr lang="zh-CN" altLang="en-US" sz="1800"/>
              <a:t>（</a:t>
            </a:r>
            <a:r>
              <a:rPr lang="en-US" altLang="zh-CN" sz="1800"/>
              <a:t>1922</a:t>
            </a:r>
            <a:r>
              <a:rPr lang="zh-CN" altLang="en-US" sz="1800"/>
              <a:t>）为通用似然原理来源，非三参数</a:t>
            </a:r>
            <a:r>
              <a:rPr lang="en-US" altLang="zh-CN" sz="1800"/>
              <a:t>Weibull</a:t>
            </a:r>
            <a:r>
              <a:rPr lang="zh-CN" altLang="en-US" sz="1800"/>
              <a:t>方法提出年份。蓝为已有依据，紫为统计构造改变，黄为数值求解。</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B</a:t>
            </a:r>
            <a:r>
              <a:rPr lang="zh-CN" altLang="en-US" sz="1800"/>
              <a:t>部分。节点、作者年份和连线关系沿用原图，按</a:t>
            </a:r>
            <a:r>
              <a:rPr lang="en-US" altLang="zh-CN" sz="1800"/>
              <a:t>PPT</a:t>
            </a:r>
            <a:r>
              <a:rPr lang="zh-CN" altLang="en-US" sz="1800"/>
              <a:t>版面重排。</a:t>
            </a:r>
          </a:p>
          <a:p>
            <a:r>
              <a:rPr lang="zh-CN" altLang="en-US" sz="1800"/>
              <a:t>共同思路是将</a:t>
            </a:r>
            <a:r>
              <a:rPr lang="en-US" altLang="zh-CN" sz="1800"/>
              <a:t>Weibull</a:t>
            </a:r>
            <a:r>
              <a:rPr lang="zh-CN" altLang="en-US" sz="1800"/>
              <a:t>关系线性化，关键分歧在于如何确定位置参数。</a:t>
            </a:r>
          </a:p>
          <a:p>
            <a:r>
              <a:rPr lang="en-US" altLang="zh-CN" sz="1800"/>
              <a:t>White</a:t>
            </a:r>
            <a:r>
              <a:rPr lang="zh-CN" altLang="en-US" sz="1800"/>
              <a:t>到</a:t>
            </a:r>
            <a:r>
              <a:rPr lang="en-US" altLang="zh-CN" sz="1800"/>
              <a:t>Soman–Misra</a:t>
            </a:r>
            <a:r>
              <a:rPr lang="zh-CN" altLang="en-US" sz="1800"/>
              <a:t>是明确的三参数扩展。</a:t>
            </a:r>
            <a:r>
              <a:rPr lang="en-US" altLang="zh-CN" sz="1800"/>
              <a:t>Li</a:t>
            </a:r>
            <a:r>
              <a:rPr lang="zh-CN" altLang="en-US" sz="1800"/>
              <a:t>与</a:t>
            </a:r>
            <a:r>
              <a:rPr lang="en-US" altLang="zh-CN" sz="1800"/>
              <a:t>Park</a:t>
            </a:r>
            <a:r>
              <a:rPr lang="zh-CN" altLang="en-US" sz="1800"/>
              <a:t>分别构造位置估计。</a:t>
            </a:r>
          </a:p>
          <a:p>
            <a:r>
              <a:rPr lang="zh-CN" altLang="en-US" sz="1800"/>
              <a:t>引用</a:t>
            </a:r>
            <a:r>
              <a:rPr lang="en-US" altLang="zh-CN" sz="1800"/>
              <a:t>LS</a:t>
            </a:r>
            <a:r>
              <a:rPr lang="zh-CN" altLang="en-US" sz="1800"/>
              <a:t>或</a:t>
            </a:r>
            <a:r>
              <a:rPr lang="en-US" altLang="zh-CN" sz="1800"/>
              <a:t>LRE</a:t>
            </a:r>
            <a:r>
              <a:rPr lang="zh-CN" altLang="en-US" sz="1800"/>
              <a:t>时，还要交代绘图分数、回归方向和参数恢复分支。</a:t>
            </a:r>
          </a:p>
          <a:p>
            <a:r>
              <a:rPr lang="en-US" altLang="zh-CN" sz="1800"/>
              <a:t>Soman–Misra [182-104]</a:t>
            </a:r>
            <a:r>
              <a:rPr lang="zh-CN" altLang="en-US" sz="1800"/>
              <a:t>；</a:t>
            </a:r>
            <a:r>
              <a:rPr lang="en-US" altLang="zh-CN" sz="1800"/>
              <a:t>Li [182-107]</a:t>
            </a:r>
            <a:r>
              <a:rPr lang="zh-CN" altLang="en-US" sz="1800"/>
              <a:t>；</a:t>
            </a:r>
            <a:r>
              <a:rPr lang="en-US" altLang="zh-CN" sz="1800"/>
              <a:t>Park [182-115]</a:t>
            </a:r>
            <a:r>
              <a:rPr lang="zh-CN" altLang="en-US" sz="1800"/>
              <a:t>、</a:t>
            </a:r>
            <a:r>
              <a:rPr lang="en-US" altLang="zh-CN" sz="1800"/>
              <a:t>[182-106]</a:t>
            </a:r>
            <a:r>
              <a:rPr lang="zh-CN" altLang="en-US" sz="1800"/>
              <a:t>。不按年份推定继承关系。</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C</a:t>
            </a:r>
            <a:r>
              <a:rPr lang="zh-CN" altLang="en-US" sz="1800"/>
              <a:t>部分。节点、作者年份和连线关系沿用原图，按</a:t>
            </a:r>
            <a:r>
              <a:rPr lang="en-US" altLang="zh-CN" sz="1800"/>
              <a:t>PPT</a:t>
            </a:r>
            <a:r>
              <a:rPr lang="zh-CN" altLang="en-US" sz="1800"/>
              <a:t>版面重排。</a:t>
            </a:r>
          </a:p>
          <a:p>
            <a:r>
              <a:rPr lang="zh-CN" altLang="en-US" sz="1800"/>
              <a:t>这三支分别采用统计量匹配、概率间距和尺度伪估计差异作为估计依据。</a:t>
            </a:r>
          </a:p>
          <a:p>
            <a:r>
              <a:rPr lang="en-US" altLang="zh-CN" sz="1800"/>
              <a:t>PWM</a:t>
            </a:r>
            <a:r>
              <a:rPr lang="zh-CN" altLang="en-US" sz="1800"/>
              <a:t>经线性组合形成</a:t>
            </a:r>
            <a:r>
              <a:rPr lang="en-US" altLang="zh-CN" sz="1800"/>
              <a:t>L</a:t>
            </a:r>
            <a:r>
              <a:rPr lang="zh-CN" altLang="en-US" sz="1800"/>
              <a:t>矩。</a:t>
            </a:r>
            <a:r>
              <a:rPr lang="en-US" altLang="zh-CN" sz="1800"/>
              <a:t>MPS</a:t>
            </a:r>
            <a:r>
              <a:rPr lang="zh-CN" altLang="en-US" sz="1800"/>
              <a:t>针对似然边界困难，转而使用概率间距。</a:t>
            </a:r>
          </a:p>
          <a:p>
            <a:r>
              <a:rPr lang="en-US" altLang="zh-CN" sz="1800"/>
              <a:t>MDM</a:t>
            </a:r>
            <a:r>
              <a:rPr lang="zh-CN" altLang="en-US" sz="1800"/>
              <a:t>使尺度伪估计尽量一致；现有来源未确认它直接继承</a:t>
            </a:r>
            <a:r>
              <a:rPr lang="en-US" altLang="zh-CN" sz="1800"/>
              <a:t>MPS</a:t>
            </a:r>
            <a:r>
              <a:rPr lang="zh-CN" altLang="en-US" sz="1800"/>
              <a:t>或某个</a:t>
            </a:r>
            <a:r>
              <a:rPr lang="en-US" altLang="zh-CN" sz="1800"/>
              <a:t>LS</a:t>
            </a:r>
            <a:r>
              <a:rPr lang="zh-CN" altLang="en-US" sz="1800"/>
              <a:t>版本。</a:t>
            </a:r>
          </a:p>
          <a:p>
            <a:r>
              <a:rPr lang="en-US" altLang="zh-CN" sz="1800"/>
              <a:t>PWM</a:t>
            </a:r>
            <a:r>
              <a:rPr lang="zh-CN" altLang="en-US" sz="1800"/>
              <a:t>与</a:t>
            </a:r>
            <a:r>
              <a:rPr lang="en-US" altLang="zh-CN" sz="1800"/>
              <a:t>L</a:t>
            </a:r>
            <a:r>
              <a:rPr lang="zh-CN" altLang="en-US" sz="1800"/>
              <a:t>矩来源见报告</a:t>
            </a:r>
            <a:r>
              <a:rPr lang="en-US" altLang="zh-CN" sz="1800"/>
              <a:t>1.4</a:t>
            </a:r>
            <a:r>
              <a:rPr lang="zh-CN" altLang="en-US" sz="1800"/>
              <a:t>；</a:t>
            </a:r>
            <a:r>
              <a:rPr lang="en-US" altLang="zh-CN" sz="1800"/>
              <a:t>MPS [182-116]</a:t>
            </a:r>
            <a:r>
              <a:rPr lang="zh-CN" altLang="en-US" sz="1800"/>
              <a:t>；</a:t>
            </a:r>
            <a:r>
              <a:rPr lang="en-US" altLang="zh-CN" sz="1800"/>
              <a:t>MDM [182-030]</a:t>
            </a:r>
            <a:r>
              <a:rPr lang="zh-CN" altLang="en-US" sz="1800"/>
              <a:t>。虚线表示替代方案，不表示直接继承。</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D</a:t>
            </a:r>
            <a:r>
              <a:rPr lang="zh-CN" altLang="en-US" sz="1800"/>
              <a:t>部分。节点、作者年份和连线关系沿用原图，按</a:t>
            </a:r>
            <a:r>
              <a:rPr lang="en-US" altLang="zh-CN" sz="1800"/>
              <a:t>PPT</a:t>
            </a:r>
            <a:r>
              <a:rPr lang="zh-CN" altLang="en-US" sz="1800"/>
              <a:t>版面重排。</a:t>
            </a:r>
          </a:p>
          <a:p>
            <a:r>
              <a:rPr lang="zh-CN" altLang="en-US" sz="1800"/>
              <a:t>组合已有统计关系、变换观测统计量，或直接学习参数映射，都形成了新的构造。</a:t>
            </a:r>
          </a:p>
          <a:p>
            <a:r>
              <a:rPr lang="en-US" altLang="zh-CN" sz="1800"/>
              <a:t>SAM</a:t>
            </a:r>
            <a:r>
              <a:rPr lang="zh-CN" altLang="en-US" sz="1800"/>
              <a:t>用最小值期望结合回归，</a:t>
            </a:r>
            <a:r>
              <a:rPr lang="en-US" altLang="zh-CN" sz="1800"/>
              <a:t>PM</a:t>
            </a:r>
            <a:r>
              <a:rPr lang="zh-CN" altLang="en-US" sz="1800"/>
              <a:t>用最小值中位数结合条件似然，未确认直接升级关系。</a:t>
            </a:r>
          </a:p>
          <a:p>
            <a:r>
              <a:rPr lang="en-US" altLang="zh-CN" sz="1800"/>
              <a:t>LSPF</a:t>
            </a:r>
            <a:r>
              <a:rPr lang="zh-CN" altLang="en-US" sz="1800"/>
              <a:t>通过变换统计量构造似然；</a:t>
            </a:r>
            <a:r>
              <a:rPr lang="en-US" altLang="zh-CN" sz="1800"/>
              <a:t>BPNN</a:t>
            </a:r>
            <a:r>
              <a:rPr lang="zh-CN" altLang="en-US" sz="1800"/>
              <a:t>直接学习样本特征到参数的映射。</a:t>
            </a:r>
          </a:p>
          <a:p>
            <a:r>
              <a:rPr lang="en-US" altLang="zh-CN" sz="1800"/>
              <a:t>SAM [185-005]</a:t>
            </a:r>
            <a:r>
              <a:rPr lang="zh-CN" altLang="en-US" sz="1800"/>
              <a:t>；</a:t>
            </a:r>
            <a:r>
              <a:rPr lang="en-US" altLang="zh-CN" sz="1800"/>
              <a:t>PM [182-117]</a:t>
            </a:r>
            <a:r>
              <a:rPr lang="zh-CN" altLang="en-US" sz="1800"/>
              <a:t>；</a:t>
            </a:r>
            <a:r>
              <a:rPr lang="en-US" altLang="zh-CN" sz="1800"/>
              <a:t>LSPF [182-113]</a:t>
            </a:r>
            <a:r>
              <a:rPr lang="zh-CN" altLang="en-US" sz="1800"/>
              <a:t>；</a:t>
            </a:r>
            <a:r>
              <a:rPr lang="en-US" altLang="zh-CN" sz="1800"/>
              <a:t>BPNN [184-009]</a:t>
            </a:r>
            <a:r>
              <a:rPr lang="zh-CN" altLang="en-US" sz="1800"/>
              <a:t>。</a:t>
            </a:r>
            <a:r>
              <a:rPr lang="en-US" altLang="zh-CN" sz="1800"/>
              <a:t>BPNN</a:t>
            </a:r>
            <a:r>
              <a:rPr lang="zh-CN" altLang="en-US" sz="1800"/>
              <a:t>是近期实例，不是该路线起点。</a:t>
            </a:r>
          </a:p>
          <a:p>
            <a:r>
              <a:rPr lang="en-US" altLang="zh-CN" sz="1800"/>
              <a:t>LSPF</a:t>
            </a:r>
            <a:r>
              <a:rPr lang="zh-CN" altLang="en-US" sz="1800"/>
              <a:t>虚线表示针对同一困难的替代构造。直接三参数</a:t>
            </a:r>
            <a:r>
              <a:rPr lang="en-US" altLang="zh-CN" sz="1800"/>
              <a:t>ANN</a:t>
            </a:r>
            <a:r>
              <a:rPr lang="zh-CN" altLang="en-US" sz="1800"/>
              <a:t>早见</a:t>
            </a:r>
            <a:r>
              <a:rPr lang="en-US" altLang="zh-CN" sz="1800"/>
              <a:t>Abbasi</a:t>
            </a:r>
            <a:r>
              <a:rPr lang="zh-CN" altLang="en-US" sz="1800"/>
              <a:t>等（</a:t>
            </a:r>
            <a:r>
              <a:rPr lang="en-US" altLang="zh-CN" sz="1800"/>
              <a:t>2008</a:t>
            </a:r>
            <a:r>
              <a:rPr lang="zh-CN" altLang="en-US" sz="1800"/>
              <a:t>）</a:t>
            </a:r>
            <a:r>
              <a:rPr lang="en-US" altLang="zh-CN" sz="1800"/>
              <a:t>[183-020]</a:t>
            </a:r>
            <a:r>
              <a:rPr lang="zh-CN" altLang="en-US" sz="1800"/>
              <a:t>，不能以</a:t>
            </a:r>
            <a:r>
              <a:rPr lang="en-US" altLang="zh-CN" sz="1800"/>
              <a:t>BPNN</a:t>
            </a:r>
            <a:r>
              <a:rPr lang="zh-CN" altLang="en-US" sz="1800"/>
              <a:t>（</a:t>
            </a:r>
            <a:r>
              <a:rPr lang="en-US" altLang="zh-CN" sz="1800"/>
              <a:t>2025</a:t>
            </a:r>
            <a:r>
              <a:rPr lang="zh-CN" altLang="en-US" sz="1800"/>
              <a:t>）为神经估计起点。</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2.1</a:t>
            </a:r>
            <a:r>
              <a:rPr lang="zh-CN" altLang="en-US" sz="1800"/>
              <a:t>。</a:t>
            </a:r>
            <a:r>
              <a:rPr lang="en-US" altLang="zh-CN" sz="1800"/>
              <a:t>182-114</a:t>
            </a:r>
            <a:r>
              <a:rPr lang="zh-CN" altLang="en-US" sz="1800"/>
              <a:t>是二参数删失，明确单列。</a:t>
            </a:r>
            <a:r>
              <a:rPr lang="en-US" altLang="zh-CN" sz="1800"/>
              <a:t>187-001</a:t>
            </a:r>
            <a:r>
              <a:rPr lang="zh-CN" altLang="en-US" sz="1800"/>
              <a:t>卷期</a:t>
            </a:r>
            <a:r>
              <a:rPr lang="en-US" altLang="zh-CN" sz="1800"/>
              <a:t>2026</a:t>
            </a:r>
            <a:r>
              <a:rPr lang="zh-CN" altLang="en-US" sz="1800"/>
              <a:t>，目标为</a:t>
            </a:r>
            <a:r>
              <a:rPr lang="en-US" altLang="zh-CN" sz="1800"/>
              <a:t>MLE</a:t>
            </a:r>
            <a:r>
              <a:rPr lang="zh-CN" altLang="en-US" sz="1800"/>
              <a:t>数值求解。不能由此推断近期完整三参数没有新方法。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2.2</a:t>
            </a:r>
            <a:r>
              <a:rPr lang="zh-CN" altLang="en-US" sz="1800"/>
              <a:t>。</a:t>
            </a:r>
            <a:r>
              <a:rPr lang="en-US" altLang="zh-CN" sz="1800"/>
              <a:t>LSPF</a:t>
            </a:r>
            <a:r>
              <a:rPr lang="zh-CN" altLang="en-US" sz="1800"/>
              <a:t>来源</a:t>
            </a:r>
            <a:r>
              <a:rPr lang="en-US" altLang="zh-CN" sz="1800"/>
              <a:t>Nagatsuka</a:t>
            </a:r>
            <a:r>
              <a:rPr lang="zh-CN" altLang="en-US" sz="1800"/>
              <a:t>等</a:t>
            </a:r>
            <a:r>
              <a:rPr lang="en-US" altLang="zh-CN" sz="1800"/>
              <a:t>2013</a:t>
            </a:r>
            <a:r>
              <a:rPr lang="zh-CN" altLang="en-US" sz="1800"/>
              <a:t>。</a:t>
            </a:r>
            <a:r>
              <a:rPr lang="en-US" altLang="zh-CN" sz="1800"/>
              <a:t>SAM n=5/10/15/20</a:t>
            </a:r>
            <a:r>
              <a:rPr lang="zh-CN" altLang="en-US" sz="1800"/>
              <a:t>；</a:t>
            </a:r>
            <a:r>
              <a:rPr lang="en-US" altLang="zh-CN" sz="1800"/>
              <a:t>PM §5.1 n=5</a:t>
            </a:r>
            <a:r>
              <a:rPr lang="zh-CN" altLang="en-US" sz="1800"/>
              <a:t>。</a:t>
            </a:r>
            <a:r>
              <a:rPr lang="en-US" altLang="zh-CN" sz="1800"/>
              <a:t>DMMLE</a:t>
            </a:r>
            <a:r>
              <a:rPr lang="zh-CN" altLang="en-US" sz="1800"/>
              <a:t>的小样本比较属于新检验，不预先认定最强。</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2.3</a:t>
            </a:r>
            <a:r>
              <a:rPr lang="zh-CN" altLang="en-US" sz="1800"/>
              <a:t>，附录</a:t>
            </a:r>
            <a:r>
              <a:rPr lang="en-US" altLang="zh-CN" sz="1800"/>
              <a:t>A</a:t>
            </a:r>
            <a:r>
              <a:rPr lang="zh-CN" altLang="en-US" sz="1800"/>
              <a:t>。</a:t>
            </a:r>
            <a:r>
              <a:rPr lang="en-US" altLang="zh-CN" sz="1800"/>
              <a:t>Safari</a:t>
            </a:r>
            <a:r>
              <a:rPr lang="zh-CN" altLang="en-US" sz="1800"/>
              <a:t>为污染实验，支持采用事实，不把排名搬到完整干净小样本。未确认后续充分检验不等于不存在。</a:t>
            </a:r>
            <a:r>
              <a:rPr lang="en-US" altLang="zh-CN" sz="1800"/>
              <a:t>MPS</a:t>
            </a:r>
            <a:r>
              <a:rPr lang="zh-CN" altLang="en-US" sz="1800"/>
              <a:t>经典路线亦有</a:t>
            </a:r>
            <a:r>
              <a:rPr lang="en-US" altLang="zh-CN" sz="1800"/>
              <a:t>2014</a:t>
            </a:r>
            <a:r>
              <a:rPr lang="zh-CN" altLang="en-US" sz="1800"/>
              <a:t>及</a:t>
            </a:r>
            <a:r>
              <a:rPr lang="en-US" altLang="zh-CN" sz="1800"/>
              <a:t>2025</a:t>
            </a:r>
            <a:r>
              <a:rPr lang="zh-CN" altLang="en-US" sz="1800"/>
              <a:t>后续比较，见报告</a:t>
            </a:r>
            <a:r>
              <a:rPr lang="en-US" altLang="zh-CN" sz="1800"/>
              <a:t>1.4</a:t>
            </a:r>
            <a:r>
              <a:rPr lang="zh-CN" altLang="en-US" sz="1800"/>
              <a:t>。</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3.1</a:t>
            </a:r>
            <a:r>
              <a:rPr lang="zh-CN" altLang="en-US" sz="1800"/>
              <a:t>，附录</a:t>
            </a:r>
            <a:r>
              <a:rPr lang="en-US" altLang="zh-CN" sz="1800"/>
              <a:t>A</a:t>
            </a:r>
            <a:r>
              <a:rPr lang="zh-CN" altLang="en-US" sz="1800"/>
              <a:t>逐篇证据。表中作用是本调研归纳，不都是作者明说的选择理由。只评价形状的工作不能证明三参数同时改善。当前</a:t>
            </a:r>
            <a:r>
              <a:rPr lang="en-US" altLang="zh-CN" sz="1800"/>
              <a:t>44</a:t>
            </a:r>
            <a:r>
              <a:rPr lang="zh-CN" altLang="en-US" sz="1800"/>
              <a:t>条记录中</a:t>
            </a:r>
            <a:r>
              <a:rPr lang="en-US" altLang="zh-CN" sz="1800"/>
              <a:t>38</a:t>
            </a:r>
            <a:r>
              <a:rPr lang="zh-CN" altLang="en-US" sz="1800"/>
              <a:t>条计经验用途，非完整领域名单。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3.2</a:t>
            </a:r>
            <a:r>
              <a:rPr lang="zh-CN" altLang="en-US" sz="1800"/>
              <a:t>。回归可考虑</a:t>
            </a:r>
            <a:r>
              <a:rPr lang="en-US" altLang="zh-CN" sz="1800"/>
              <a:t>Park Proposed+Plot</a:t>
            </a:r>
            <a:r>
              <a:rPr lang="zh-CN" altLang="en-US" sz="1800"/>
              <a:t>，尚需与论文最终实现一致。不是固定必选清单，不把这组方法称公认排名。</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3.3</a:t>
            </a:r>
            <a:r>
              <a:rPr lang="zh-CN" altLang="en-US" sz="1800"/>
              <a:t>和附录</a:t>
            </a:r>
            <a:r>
              <a:rPr lang="en-US" altLang="zh-CN" sz="1800"/>
              <a:t>B</a:t>
            </a:r>
            <a:r>
              <a:rPr lang="zh-CN" altLang="en-US" sz="1800"/>
              <a:t>。</a:t>
            </a:r>
            <a:r>
              <a:rPr lang="en-US" altLang="zh-CN" sz="1800"/>
              <a:t>Park</a:t>
            </a:r>
            <a:r>
              <a:rPr lang="zh-CN" altLang="en-US" sz="1800"/>
              <a:t>绘图位置：</a:t>
            </a:r>
            <a:r>
              <a:rPr lang="en-US" altLang="zh-CN" sz="1800"/>
              <a:t>n≤10</a:t>
            </a:r>
            <a:r>
              <a:rPr lang="zh-CN" altLang="en-US" sz="1800"/>
              <a:t>时</a:t>
            </a:r>
            <a:r>
              <a:rPr lang="en-US" altLang="zh-CN" sz="1800"/>
              <a:t>(i−3/8)/(n+1/4)</a:t>
            </a:r>
            <a:r>
              <a:rPr lang="zh-CN" altLang="en-US" sz="1800"/>
              <a:t>，其余</a:t>
            </a:r>
            <a:r>
              <a:rPr lang="en-US" altLang="zh-CN" sz="1800"/>
              <a:t>(i−1/2)/n</a:t>
            </a:r>
            <a:r>
              <a:rPr lang="zh-CN" altLang="en-US" sz="1800"/>
              <a:t>。项目</a:t>
            </a:r>
            <a:r>
              <a:rPr lang="en-US" altLang="zh-CN" sz="1800"/>
              <a:t>LRE</a:t>
            </a:r>
            <a:r>
              <a:rPr lang="zh-CN" altLang="en-US" sz="1800"/>
              <a:t>为</a:t>
            </a:r>
            <a:r>
              <a:rPr lang="en-US" altLang="zh-CN" sz="1800"/>
              <a:t>(i−0.3)/(n+0.4)</a:t>
            </a:r>
            <a:r>
              <a:rPr lang="zh-CN" altLang="en-US" sz="1800"/>
              <a:t>。若保留项目变体，须如实命名并披露改动。</a:t>
            </a:r>
            <a:r>
              <a:rPr lang="en-US" altLang="zh-CN" sz="1800"/>
              <a:t>WMLE</a:t>
            </a:r>
            <a:r>
              <a:rPr lang="zh-CN" altLang="en-US" sz="1800"/>
              <a:t>不能用同作者比较论文替代构造来源。</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3.4</a:t>
            </a:r>
            <a:r>
              <a:rPr lang="zh-CN" altLang="en-US" sz="1800"/>
              <a:t>，</a:t>
            </a:r>
            <a:r>
              <a:rPr lang="en-US" altLang="zh-CN" sz="1800"/>
              <a:t>evidence/complete_sample_metric_audit.json</a:t>
            </a:r>
            <a:r>
              <a:rPr lang="zh-CN" altLang="en-US" sz="1800"/>
              <a:t>。</a:t>
            </a:r>
            <a:r>
              <a:rPr lang="en-US" altLang="zh-CN" sz="1800"/>
              <a:t>44</a:t>
            </a:r>
            <a:r>
              <a:rPr lang="zh-CN" altLang="en-US" sz="1800"/>
              <a:t>条中扣</a:t>
            </a:r>
            <a:r>
              <a:rPr lang="en-US" altLang="zh-CN" sz="1800"/>
              <a:t>3</a:t>
            </a:r>
            <a:r>
              <a:rPr lang="zh-CN" altLang="en-US" sz="1800"/>
              <a:t>理论、</a:t>
            </a:r>
            <a:r>
              <a:rPr lang="en-US" altLang="zh-CN" sz="1800"/>
              <a:t>2</a:t>
            </a:r>
            <a:r>
              <a:rPr lang="zh-CN" altLang="en-US" sz="1800"/>
              <a:t>待核和</a:t>
            </a:r>
            <a:r>
              <a:rPr lang="en-US" altLang="zh-CN" sz="1800"/>
              <a:t>1GEV</a:t>
            </a:r>
            <a:r>
              <a:rPr lang="zh-CN" altLang="en-US" sz="1800"/>
              <a:t>扩展，</a:t>
            </a:r>
            <a:r>
              <a:rPr lang="en-US" altLang="zh-CN" sz="1800"/>
              <a:t>38</a:t>
            </a:r>
            <a:r>
              <a:rPr lang="zh-CN" altLang="en-US" sz="1800"/>
              <a:t>条经验用途。</a:t>
            </a:r>
            <a:r>
              <a:rPr lang="en-US" altLang="zh-CN" sz="1800"/>
              <a:t>21</a:t>
            </a:r>
            <a:r>
              <a:rPr lang="zh-CN" altLang="en-US" sz="1800"/>
              <a:t>重复生成来源中</a:t>
            </a:r>
            <a:r>
              <a:rPr lang="en-US" altLang="zh-CN" sz="1800"/>
              <a:t>Bias11</a:t>
            </a:r>
            <a:r>
              <a:rPr lang="zh-CN" altLang="en-US" sz="1800"/>
              <a:t>，</a:t>
            </a:r>
            <a:r>
              <a:rPr lang="en-US" altLang="zh-CN" sz="1800"/>
              <a:t>RMSE10</a:t>
            </a:r>
            <a:r>
              <a:rPr lang="zh-CN" altLang="en-US" sz="1800"/>
              <a:t>（其中</a:t>
            </a:r>
            <a:r>
              <a:rPr lang="en-US" altLang="zh-CN" sz="1800"/>
              <a:t>2</a:t>
            </a:r>
            <a:r>
              <a:rPr lang="zh-CN" altLang="en-US" sz="1800"/>
              <a:t>只形状），</a:t>
            </a:r>
            <a:r>
              <a:rPr lang="en-US" altLang="zh-CN" sz="1800"/>
              <a:t>SD9</a:t>
            </a:r>
            <a:r>
              <a:rPr lang="zh-CN" altLang="en-US" sz="1800"/>
              <a:t>，</a:t>
            </a:r>
            <a:r>
              <a:rPr lang="en-US" altLang="zh-CN" sz="1800"/>
              <a:t>MSE2</a:t>
            </a:r>
            <a:r>
              <a:rPr lang="zh-CN" altLang="en-US" sz="1800"/>
              <a:t>，</a:t>
            </a:r>
            <a:r>
              <a:rPr lang="en-US" altLang="zh-CN" sz="1800"/>
              <a:t>MAD1</a:t>
            </a:r>
            <a:r>
              <a:rPr lang="zh-CN" altLang="en-US" sz="1800"/>
              <a:t>，寿命</a:t>
            </a:r>
            <a:r>
              <a:rPr lang="en-US" altLang="zh-CN" sz="1800"/>
              <a:t>/MTTF</a:t>
            </a:r>
            <a:r>
              <a:rPr lang="zh-CN" altLang="en-US" sz="1800"/>
              <a:t>误差</a:t>
            </a:r>
            <a:r>
              <a:rPr lang="en-US" altLang="zh-CN" sz="1800"/>
              <a:t>3</a:t>
            </a:r>
            <a:r>
              <a:rPr lang="zh-CN" altLang="en-US" sz="1800"/>
              <a:t>，参数覆盖率</a:t>
            </a:r>
            <a:r>
              <a:rPr lang="en-US" altLang="zh-CN" sz="1800"/>
              <a:t>1</a:t>
            </a:r>
            <a:r>
              <a:rPr lang="zh-CN" altLang="en-US" sz="1800"/>
              <a:t>。多标签可重叠，不是全领域采用率。</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3.4</a:t>
            </a:r>
            <a:r>
              <a:rPr lang="zh-CN" altLang="en-US" sz="1800"/>
              <a:t>。第一例</a:t>
            </a:r>
            <a:r>
              <a:rPr lang="en-US" altLang="zh-CN" sz="1800"/>
              <a:t>3</a:t>
            </a:r>
            <a:r>
              <a:rPr lang="zh-CN" altLang="en-US" sz="1800"/>
              <a:t>次抽样均值不是充分独立重复；</a:t>
            </a:r>
            <a:r>
              <a:rPr lang="en-US" altLang="zh-CN" sz="1800"/>
              <a:t>182-084</a:t>
            </a:r>
            <a:r>
              <a:rPr lang="zh-CN" altLang="en-US" sz="1800"/>
              <a:t>作者“估计真值”术语不等于真实参数。参数</a:t>
            </a:r>
            <a:r>
              <a:rPr lang="en-US" altLang="zh-CN" sz="1800"/>
              <a:t>Bootstrap</a:t>
            </a:r>
            <a:r>
              <a:rPr lang="zh-CN" altLang="en-US" sz="1800"/>
              <a:t>在此为评价逻辑说明，不冒称本库已形成通行做法。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3.5</a:t>
            </a:r>
            <a:r>
              <a:rPr lang="zh-CN" altLang="en-US" sz="1800"/>
              <a:t>。无约束</a:t>
            </a:r>
            <a:r>
              <a:rPr lang="en-US" altLang="zh-CN" sz="1800"/>
              <a:t>3P Weibull</a:t>
            </a:r>
            <a:r>
              <a:rPr lang="zh-CN" altLang="en-US" sz="1800"/>
              <a:t>允许</a:t>
            </a:r>
            <a:r>
              <a:rPr lang="en-US" altLang="zh-CN" sz="1800"/>
              <a:t>0&lt;β&lt;1</a:t>
            </a:r>
            <a:r>
              <a:rPr lang="zh-CN" altLang="en-US" sz="1800"/>
              <a:t>时，</a:t>
            </a:r>
            <a:r>
              <a:rPr lang="en-US" altLang="zh-CN" sz="1800"/>
              <a:t>γ</a:t>
            </a:r>
            <a:r>
              <a:rPr lang="zh-CN" altLang="en-US" sz="1800"/>
              <a:t>趋近样本最小值的路径使似然无界，与真实</a:t>
            </a:r>
            <a:r>
              <a:rPr lang="en-US" altLang="zh-CN" sz="1800"/>
              <a:t>β</a:t>
            </a:r>
            <a:r>
              <a:rPr lang="zh-CN" altLang="en-US" sz="1800"/>
              <a:t>不等价；更换</a:t>
            </a:r>
            <a:r>
              <a:rPr lang="en-US" altLang="zh-CN" sz="1800"/>
              <a:t>PSO</a:t>
            </a:r>
            <a:r>
              <a:rPr lang="zh-CN" altLang="en-US" sz="1800"/>
              <a:t>不能创造有限全局最大值。若回退，另定义完整流程。失败率完整披露是建议，不是文献已统一执行的惯例。</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报告总结及研究进度与待办。仅重组既有证据，未新做性能实验。</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2026/9/27</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2026/9/27</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2026/9/27</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dirty="0" err="1">
                <a:ln>
                  <a:noFill/>
                </a:ln>
                <a:solidFill>
                  <a:schemeClr val="tx1"/>
                </a:solidFill>
                <a:latin typeface="汉仪文润宋韵 U"/>
                <a:ea typeface="汉仪文润宋韵 U"/>
                <a:cs typeface="汉仪文润宋韵 U"/>
              </a:rPr>
              <a:t>汇报人：魏鹏宇</a:t>
            </a:r>
            <a:endParaRPr sz="2400" i="0" u="none" cap="none" dirty="0">
              <a:ln>
                <a:noFill/>
              </a:ln>
              <a:solidFill>
                <a:schemeClr val="tx1"/>
              </a:solidFill>
              <a:latin typeface="汉仪文润宋韵 U"/>
              <a:ea typeface="汉仪文润宋韵 U"/>
              <a:cs typeface="汉仪文润宋韵 U"/>
            </a:endParaRP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dirty="0">
                <a:solidFill>
                  <a:schemeClr val="tx1"/>
                </a:solidFill>
                <a:latin typeface="汉仪文润宋韵 U"/>
                <a:ea typeface="汉仪文润宋韵 U"/>
                <a:cs typeface="汉仪文润宋韵 U"/>
              </a:rPr>
              <a:t>2026.09</a:t>
            </a:r>
            <a:r>
              <a:rPr lang="en-US" sz="2000" spc="300" dirty="0">
                <a:solidFill>
                  <a:schemeClr val="tx1"/>
                </a:solidFill>
                <a:latin typeface="汉仪文润宋韵 U"/>
                <a:ea typeface="汉仪文润宋韵 U"/>
                <a:cs typeface="汉仪文润宋韵 U"/>
              </a:rPr>
              <a:t>.28</a:t>
            </a:r>
            <a:endParaRPr sz="2000" spc="300" dirty="0">
              <a:solidFill>
                <a:schemeClr val="tx1"/>
              </a:solidFill>
              <a:latin typeface="汉仪文润宋韵 U"/>
              <a:ea typeface="汉仪文润宋韵 U"/>
              <a:cs typeface="汉仪文润宋韵 U"/>
            </a:endParaRP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08"/>
            <a:ext cx="12975771"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i="0" u="none" cap="none" spc="0" dirty="0">
                <a:ln>
                  <a:noFill/>
                </a:ln>
                <a:solidFill>
                  <a:srgbClr val="FFFFFF"/>
                </a:solidFill>
                <a:latin typeface="汉仪文润宋韵 U"/>
                <a:ea typeface="汉仪文润宋韵 U"/>
                <a:cs typeface="汉仪文润宋韵 U"/>
              </a:rPr>
              <a:t>三参数 </a:t>
            </a:r>
            <a:r>
              <a:rPr lang="en-US" altLang="zh-CN" sz="3600" i="0" u="none" cap="none" spc="0" dirty="0">
                <a:ln>
                  <a:noFill/>
                </a:ln>
                <a:solidFill>
                  <a:srgbClr val="FFFFFF"/>
                </a:solidFill>
                <a:latin typeface="汉仪文润宋韵 U"/>
                <a:ea typeface="汉仪文润宋韵 U"/>
                <a:cs typeface="汉仪文润宋韵 U"/>
              </a:rPr>
              <a:t>Weibull</a:t>
            </a:r>
            <a:r>
              <a:rPr lang="zh-CN" altLang="en-US" sz="3600" i="0" u="none" cap="none" spc="0" dirty="0">
                <a:ln>
                  <a:noFill/>
                </a:ln>
                <a:solidFill>
                  <a:srgbClr val="FFFFFF"/>
                </a:solidFill>
                <a:latin typeface="汉仪文润宋韵 U"/>
                <a:ea typeface="汉仪文润宋韵 U"/>
                <a:cs typeface="汉仪文润宋韵 U"/>
              </a:rPr>
              <a:t>参数估计方法</a:t>
            </a:r>
            <a:endParaRPr lang="en-US" altLang="zh-CN" sz="3600" i="0" u="none" cap="none" spc="0" dirty="0">
              <a:ln>
                <a:noFill/>
              </a:ln>
              <a:solidFill>
                <a:srgbClr val="FFFFFF"/>
              </a:solidFill>
              <a:latin typeface="汉仪文润宋韵 U"/>
              <a:ea typeface="汉仪文润宋韵 U"/>
              <a:cs typeface="汉仪文润宋韵 U"/>
            </a:endParaRPr>
          </a:p>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dirty="0">
                <a:solidFill>
                  <a:srgbClr val="FFFFFF"/>
                </a:solidFill>
                <a:latin typeface="汉仪文润宋韵 U"/>
                <a:ea typeface="汉仪文润宋韵 U"/>
                <a:cs typeface="汉仪文润宋韵 U"/>
              </a:rPr>
              <a:t>的</a:t>
            </a:r>
            <a:r>
              <a:rPr lang="zh-CN" altLang="en-US" sz="3600" dirty="0">
                <a:solidFill>
                  <a:schemeClr val="accent6">
                    <a:lumMod val="20000"/>
                    <a:lumOff val="80000"/>
                  </a:schemeClr>
                </a:solidFill>
                <a:latin typeface="汉仪文润宋韵 U"/>
                <a:ea typeface="汉仪文润宋韵 U"/>
                <a:cs typeface="汉仪文润宋韵 U"/>
              </a:rPr>
              <a:t>比较对象选择</a:t>
            </a:r>
            <a:endParaRPr sz="3600" i="0" u="none" cap="none" spc="0" dirty="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4104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600" b="1" spc="-150">
                <a:solidFill>
                  <a:srgbClr val="FFFFFF"/>
                </a:solidFill>
                <a:latin typeface="汉仪文润宋韵 U"/>
                <a:ea typeface="汉仪文润宋韵 U"/>
                <a:cs typeface="汉仪文润宋韵 U"/>
              </a:rPr>
              <a:t>研究动机与调研问题</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dirty="0">
                <a:latin typeface="Microsoft YaHei"/>
              </a:rPr>
              <a:t>参数估计方法调研</a:t>
            </a:r>
            <a:endParaRPr sz="1800" dirty="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0922000" cy="2451100"/>
          </a:xfrm>
          <a:prstGeom prst="rect">
            <a:avLst/>
          </a:prstGeom>
          <a:noFill/>
        </p:spPr>
        <p:txBody>
          <a:bodyPr wrap="square" lIns="0" tIns="0" rIns="0" bIns="0">
            <a:noAutofit/>
          </a:bodyPr>
          <a:lstStyle/>
          <a:p>
            <a:pPr>
              <a:lnSpc>
                <a:spcPts val="2500"/>
              </a:lnSpc>
              <a:spcAft>
                <a:spcPts val="1300"/>
              </a:spcAft>
            </a:pPr>
            <a:r>
              <a:rPr lang="zh-CN" altLang="en-US" sz="2000" b="1">
                <a:solidFill>
                  <a:srgbClr val="2F6096"/>
                </a:solidFill>
                <a:latin typeface="Microsoft YaHei" panose="020B0503020204020204" pitchFamily="34" charset="-122"/>
                <a:ea typeface="微软雅黑" panose="020B0503020204020204" pitchFamily="34" charset="-122"/>
              </a:rPr>
              <a:t>调研要回答的问题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1. </a:t>
            </a:r>
            <a:r>
              <a:rPr lang="zh-CN" altLang="en-US" sz="1900">
                <a:solidFill>
                  <a:srgbClr val="000000"/>
                </a:solidFill>
                <a:latin typeface="Microsoft YaHei" panose="020B0503020204020204" pitchFamily="34" charset="-122"/>
                <a:ea typeface="微软雅黑" panose="020B0503020204020204" pitchFamily="34" charset="-122"/>
              </a:rPr>
              <a:t>经典方法有哪些，主要区别是什么？</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2. </a:t>
            </a:r>
            <a:r>
              <a:rPr lang="zh-CN" altLang="en-US" sz="1900">
                <a:solidFill>
                  <a:srgbClr val="000000"/>
                </a:solidFill>
                <a:latin typeface="Microsoft YaHei" panose="020B0503020204020204" pitchFamily="34" charset="-122"/>
                <a:ea typeface="微软雅黑" panose="020B0503020204020204" pitchFamily="34" charset="-122"/>
              </a:rPr>
              <a:t>谁提出、谁改进？改进针对什么问题？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3. </a:t>
            </a:r>
            <a:r>
              <a:rPr lang="zh-CN" altLang="en-US" sz="1900">
                <a:solidFill>
                  <a:srgbClr val="000000"/>
                </a:solidFill>
                <a:latin typeface="Microsoft YaHei" panose="020B0503020204020204" pitchFamily="34" charset="-122"/>
                <a:ea typeface="微软雅黑" panose="020B0503020204020204" pitchFamily="34" charset="-122"/>
              </a:rPr>
              <a:t>近</a:t>
            </a:r>
            <a:r>
              <a:rPr lang="en-US" altLang="zh-CN" sz="1900">
                <a:solidFill>
                  <a:srgbClr val="000000"/>
                </a:solidFill>
                <a:latin typeface="Microsoft YaHei" panose="020B0503020204020204" pitchFamily="34" charset="-122"/>
                <a:ea typeface="微软雅黑" panose="020B0503020204020204" pitchFamily="34" charset="-122"/>
              </a:rPr>
              <a:t>10—20</a:t>
            </a:r>
            <a:r>
              <a:rPr lang="zh-CN" altLang="en-US" sz="1900">
                <a:solidFill>
                  <a:srgbClr val="000000"/>
                </a:solidFill>
                <a:latin typeface="Microsoft YaHei" panose="020B0503020204020204" pitchFamily="34" charset="-122"/>
                <a:ea typeface="微软雅黑" panose="020B0503020204020204" pitchFamily="34" charset="-122"/>
              </a:rPr>
              <a:t>年有哪些值得纳入比较的新方法？</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4. </a:t>
            </a:r>
            <a:r>
              <a:rPr lang="zh-CN" altLang="en-US" sz="1900">
                <a:solidFill>
                  <a:srgbClr val="000000"/>
                </a:solidFill>
                <a:latin typeface="Microsoft YaHei" panose="020B0503020204020204" pitchFamily="34" charset="-122"/>
                <a:ea typeface="微软雅黑" panose="020B0503020204020204" pitchFamily="34" charset="-122"/>
              </a:rPr>
              <a:t>已有研究与谁比较，用什么数据和指标评价？</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5. </a:t>
            </a:r>
            <a:r>
              <a:rPr lang="zh-CN" altLang="en-US" sz="1900">
                <a:solidFill>
                  <a:srgbClr val="000000"/>
                </a:solidFill>
                <a:latin typeface="Microsoft YaHei" panose="020B0503020204020204" pitchFamily="34" charset="-122"/>
                <a:ea typeface="微软雅黑" panose="020B0503020204020204" pitchFamily="34" charset="-122"/>
              </a:rPr>
              <a:t>应选哪些对照、采用哪个版本，如何在论文中引用？</a:t>
            </a:r>
            <a:endParaRPr lang="zh-CN" altLang="zh-CN" sz="1900" dirty="0">
              <a:solidFill>
                <a:srgbClr val="000000"/>
              </a:solidFill>
              <a:latin typeface="Microsoft YaHei"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动机</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验证一种新的参数估计方法，需要明确：</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a:solidFill>
                  <a:srgbClr val="154F8C"/>
                </a:solidFill>
                <a:latin typeface="Microsoft YaHei"/>
              </a:rPr>
              <a:t>与哪些方法比较？为什么选它们？具体采用哪个版本？</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56545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方法体系：先分清估计依据</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11" name="文本框 10">
            <a:extLst>
              <a:ext uri="{FF2B5EF4-FFF2-40B4-BE49-F238E27FC236}">
                <a16:creationId xmlns:a16="http://schemas.microsoft.com/office/drawing/2014/main" id="{311F793F-B739-70D4-DC6E-BBDA191CB736}"/>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分类用于辨认差异，不直接给出性能排名。</a:t>
            </a:r>
          </a:p>
        </p:txBody>
      </p:sp>
      <p:sp>
        <p:nvSpPr>
          <p:cNvPr id="12" name="文本框 11">
            <a:extLst>
              <a:ext uri="{FF2B5EF4-FFF2-40B4-BE49-F238E27FC236}">
                <a16:creationId xmlns:a16="http://schemas.microsoft.com/office/drawing/2014/main" id="{2AD966A0-E2CD-641E-06AA-8AE5AFF0806E}"/>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经典参照主要覆盖前四类；组合估计和学习映射还需说明完整构造。</a:t>
            </a:r>
          </a:p>
        </p:txBody>
      </p:sp>
      <p:graphicFrame>
        <p:nvGraphicFramePr>
          <p:cNvPr id="13" name="表格 12">
            <a:extLst>
              <a:ext uri="{FF2B5EF4-FFF2-40B4-BE49-F238E27FC236}">
                <a16:creationId xmlns:a16="http://schemas.microsoft.com/office/drawing/2014/main" id="{9D9C47B1-EB14-ECC6-32EB-AB9690179E06}"/>
              </a:ext>
            </a:extLst>
          </p:cNvPr>
          <p:cNvGraphicFramePr>
            <a:graphicFrameLocks noGrp="1"/>
          </p:cNvGraphicFramePr>
          <p:nvPr>
            <p:extLst>
              <p:ext uri="{D42A27DB-BD31-4B8C-83A1-F6EECF244321}">
                <p14:modId xmlns:p14="http://schemas.microsoft.com/office/powerpoint/2010/main" val="940295078"/>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532456774"/>
                    </a:ext>
                  </a:extLst>
                </a:gridCol>
                <a:gridCol w="3149600">
                  <a:extLst>
                    <a:ext uri="{9D8B030D-6E8A-4147-A177-3AD203B41FA5}">
                      <a16:colId xmlns:a16="http://schemas.microsoft.com/office/drawing/2014/main" val="3179615699"/>
                    </a:ext>
                  </a:extLst>
                </a:gridCol>
                <a:gridCol w="5105400">
                  <a:extLst>
                    <a:ext uri="{9D8B030D-6E8A-4147-A177-3AD203B41FA5}">
                      <a16:colId xmlns:a16="http://schemas.microsoft.com/office/drawing/2014/main" val="1847047489"/>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估计依据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代表方法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依据什么确定参数</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466218001"/>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似然及其修正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样本密度或相关估计方程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30390024"/>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概率图与相关回归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LRE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变换后点的线性关系</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865231518"/>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统计量匹配</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L</a:t>
                      </a:r>
                      <a:r>
                        <a:rPr lang="zh-CN" altLang="en-US" sz="1600" b="0">
                          <a:solidFill>
                            <a:srgbClr val="000000"/>
                          </a:solidFill>
                          <a:latin typeface="Microsoft YaHei" panose="020B0503020204020204" pitchFamily="34" charset="-122"/>
                          <a:ea typeface="微软雅黑" panose="020B0503020204020204" pitchFamily="34" charset="-122"/>
                        </a:rPr>
                        <a:t>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样本统计量与理论关系</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669113163"/>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概率间距</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MPS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相邻观测的</a:t>
                      </a:r>
                      <a:r>
                        <a:rPr lang="en-US" altLang="zh-CN" sz="1600" b="0">
                          <a:solidFill>
                            <a:srgbClr val="000000"/>
                          </a:solidFill>
                          <a:latin typeface="Microsoft YaHei" panose="020B0503020204020204" pitchFamily="34" charset="-122"/>
                          <a:ea typeface="微软雅黑" panose="020B0503020204020204" pitchFamily="34" charset="-122"/>
                        </a:rPr>
                        <a:t>CDF</a:t>
                      </a:r>
                      <a:r>
                        <a:rPr lang="zh-CN" altLang="en-US" sz="1600" b="0">
                          <a:solidFill>
                            <a:srgbClr val="000000"/>
                          </a:solidFill>
                          <a:latin typeface="Microsoft YaHei" panose="020B0503020204020204" pitchFamily="34" charset="-122"/>
                          <a:ea typeface="微软雅黑" panose="020B0503020204020204" pitchFamily="34" charset="-122"/>
                        </a:rPr>
                        <a:t>概率间距</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38696600"/>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构造量差异</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MDM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各观测反推尺度的一致性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070606349"/>
                  </a:ext>
                </a:extLst>
              </a:tr>
            </a:tbl>
          </a:graphicData>
        </a:graphic>
      </p:graphicFrame>
    </p:spTree>
    <p:extLst>
      <p:ext uri="{BB962C8B-B14F-4D97-AF65-F5344CB8AC3E}">
        <p14:creationId xmlns:p14="http://schemas.microsoft.com/office/powerpoint/2010/main" val="261559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A  </a:t>
            </a:r>
            <a:r>
              <a:rPr lang="zh-CN" altLang="en-US" sz="2400" b="1" spc="-150">
                <a:solidFill>
                  <a:srgbClr val="FFFFFF"/>
                </a:solidFill>
                <a:latin typeface="汉仪文润宋韵 U"/>
                <a:ea typeface="汉仪文润宋韵 U"/>
                <a:cs typeface="汉仪文润宋韵 U"/>
              </a:rPr>
              <a:t>似然路线：改统计构造，还是改求解过程？</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5182E52D-4601-B1F3-0C0E-B00CE691318A}"/>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共同起点是样本似然，后续工作分别处理偏差、边界和数值求解。</a:t>
            </a:r>
          </a:p>
        </p:txBody>
      </p:sp>
      <p:sp>
        <p:nvSpPr>
          <p:cNvPr id="19" name="fig1-mle">
            <a:extLst>
              <a:ext uri="{FF2B5EF4-FFF2-40B4-BE49-F238E27FC236}">
                <a16:creationId xmlns:a16="http://schemas.microsoft.com/office/drawing/2014/main" id="{3F549896-0F81-B81E-3E4D-D1F4CA76133E}"/>
              </a:ext>
            </a:extLst>
          </p:cNvPr>
          <p:cNvSpPr/>
          <p:nvPr/>
        </p:nvSpPr>
        <p:spPr>
          <a:xfrm>
            <a:off x="622300" y="3225800"/>
            <a:ext cx="1841500" cy="8382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MLE </a:t>
            </a:r>
            <a:r>
              <a:rPr lang="zh-CN" altLang="en-US" sz="1400">
                <a:solidFill>
                  <a:srgbClr val="203040"/>
                </a:solidFill>
                <a:latin typeface="Microsoft YaHei" panose="020B0503020204020204" pitchFamily="34" charset="-122"/>
                <a:ea typeface="微软雅黑" panose="020B0503020204020204" pitchFamily="34" charset="-122"/>
              </a:rPr>
              <a:t>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Fisher · 1922</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0" name="fig1-wmle">
            <a:extLst>
              <a:ext uri="{FF2B5EF4-FFF2-40B4-BE49-F238E27FC236}">
                <a16:creationId xmlns:a16="http://schemas.microsoft.com/office/drawing/2014/main" id="{5416E38E-8E81-E443-7AE9-B716E959045E}"/>
              </a:ext>
            </a:extLst>
          </p:cNvPr>
          <p:cNvSpPr/>
          <p:nvPr/>
        </p:nvSpPr>
        <p:spPr>
          <a:xfrm>
            <a:off x="5003800" y="2209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WMLE </a:t>
            </a:r>
            <a:r>
              <a:rPr lang="zh-CN" altLang="en-US" sz="1400">
                <a:solidFill>
                  <a:srgbClr val="203040"/>
                </a:solidFill>
                <a:latin typeface="Microsoft YaHei" panose="020B0503020204020204" pitchFamily="34" charset="-122"/>
                <a:ea typeface="微软雅黑" panose="020B0503020204020204" pitchFamily="34" charset="-122"/>
              </a:rPr>
              <a:t>加权极大似然估计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Cousineau · 2009</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1" name="fig1-mmle">
            <a:extLst>
              <a:ext uri="{FF2B5EF4-FFF2-40B4-BE49-F238E27FC236}">
                <a16:creationId xmlns:a16="http://schemas.microsoft.com/office/drawing/2014/main" id="{B3FB964F-6897-E78A-451B-97829A5DD69B}"/>
              </a:ext>
            </a:extLst>
          </p:cNvPr>
          <p:cNvSpPr/>
          <p:nvPr/>
        </p:nvSpPr>
        <p:spPr>
          <a:xfrm>
            <a:off x="5003800" y="3225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MMLE </a:t>
            </a:r>
            <a:r>
              <a:rPr lang="zh-CN" altLang="en-US" sz="1400">
                <a:solidFill>
                  <a:srgbClr val="203040"/>
                </a:solidFill>
                <a:latin typeface="Microsoft YaHei" panose="020B0503020204020204" pitchFamily="34" charset="-122"/>
                <a:ea typeface="微软雅黑" panose="020B0503020204020204" pitchFamily="34" charset="-122"/>
              </a:rPr>
              <a:t>修改极大似然估计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Kundu &amp; Raqab · 2009</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2" name="fig1-solver">
            <a:extLst>
              <a:ext uri="{FF2B5EF4-FFF2-40B4-BE49-F238E27FC236}">
                <a16:creationId xmlns:a16="http://schemas.microsoft.com/office/drawing/2014/main" id="{116337BF-9C34-45F6-B739-96E1382ED323}"/>
              </a:ext>
            </a:extLst>
          </p:cNvPr>
          <p:cNvSpPr/>
          <p:nvPr/>
        </p:nvSpPr>
        <p:spPr>
          <a:xfrm>
            <a:off x="5003800" y="4241800"/>
            <a:ext cx="2679700" cy="736600"/>
          </a:xfrm>
          <a:prstGeom prst="roundRect">
            <a:avLst>
              <a:gd name="adj" fmla="val 7000"/>
            </a:avLst>
          </a:prstGeom>
          <a:solidFill>
            <a:srgbClr val="F4EEDC"/>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ADGBO</a:t>
            </a:r>
            <a:r>
              <a:rPr lang="zh-CN" altLang="en-US" sz="1400">
                <a:solidFill>
                  <a:srgbClr val="203040"/>
                </a:solidFill>
                <a:latin typeface="Microsoft YaHei" panose="020B0503020204020204" pitchFamily="34" charset="-122"/>
                <a:ea typeface="微软雅黑" panose="020B0503020204020204" pitchFamily="34" charset="-122"/>
              </a:rPr>
              <a:t>求解</a:t>
            </a:r>
            <a:r>
              <a:rPr lang="en-US" altLang="zh-CN" sz="1400">
                <a:solidFill>
                  <a:srgbClr val="203040"/>
                </a:solidFill>
                <a:latin typeface="Microsoft YaHei" panose="020B0503020204020204" pitchFamily="34" charset="-122"/>
                <a:ea typeface="微软雅黑" panose="020B0503020204020204" pitchFamily="34" charset="-122"/>
              </a:rPr>
              <a:t>MLE</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Wang</a:t>
            </a:r>
            <a:r>
              <a:rPr lang="zh-CN" altLang="en-US" sz="1400">
                <a:solidFill>
                  <a:srgbClr val="203040"/>
                </a:solidFill>
                <a:latin typeface="Microsoft YaHei" panose="020B0503020204020204" pitchFamily="34" charset="-122"/>
                <a:ea typeface="微软雅黑" panose="020B0503020204020204" pitchFamily="34" charset="-122"/>
              </a:rPr>
              <a:t>等 </a:t>
            </a:r>
            <a:r>
              <a:rPr lang="en-US" altLang="zh-CN" sz="1400">
                <a:solidFill>
                  <a:srgbClr val="203040"/>
                </a:solidFill>
                <a:latin typeface="Microsoft YaHei" panose="020B0503020204020204" pitchFamily="34" charset="-122"/>
                <a:ea typeface="微软雅黑" panose="020B0503020204020204" pitchFamily="34" charset="-122"/>
              </a:rPr>
              <a:t>· 2026</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3" name="fig1-firth">
            <a:extLst>
              <a:ext uri="{FF2B5EF4-FFF2-40B4-BE49-F238E27FC236}">
                <a16:creationId xmlns:a16="http://schemas.microsoft.com/office/drawing/2014/main" id="{516109D5-65F7-7C6F-6EB1-588D61EAE408}"/>
              </a:ext>
            </a:extLst>
          </p:cNvPr>
          <p:cNvSpPr/>
          <p:nvPr/>
        </p:nvSpPr>
        <p:spPr>
          <a:xfrm>
            <a:off x="9321800" y="2209800"/>
            <a:ext cx="2222500" cy="7366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zh-CN" altLang="en-US" sz="1400">
                <a:solidFill>
                  <a:srgbClr val="203040"/>
                </a:solidFill>
                <a:latin typeface="Microsoft YaHei" panose="020B0503020204020204" pitchFamily="34" charset="-122"/>
                <a:ea typeface="微软雅黑" panose="020B0503020204020204" pitchFamily="34" charset="-122"/>
              </a:rPr>
              <a:t>得分偏差修正</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Firth · 1993</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4" name="fig1-dmmle">
            <a:extLst>
              <a:ext uri="{FF2B5EF4-FFF2-40B4-BE49-F238E27FC236}">
                <a16:creationId xmlns:a16="http://schemas.microsoft.com/office/drawing/2014/main" id="{2AC304CE-AA20-F1BD-CCDB-C472C745E2BA}"/>
              </a:ext>
            </a:extLst>
          </p:cNvPr>
          <p:cNvSpPr/>
          <p:nvPr/>
        </p:nvSpPr>
        <p:spPr>
          <a:xfrm>
            <a:off x="9321800" y="3225800"/>
            <a:ext cx="2222500" cy="8890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DMMLE </a:t>
            </a:r>
            <a:r>
              <a:rPr lang="zh-CN" altLang="en-US" sz="1400">
                <a:solidFill>
                  <a:srgbClr val="203040"/>
                </a:solidFill>
                <a:latin typeface="Microsoft YaHei" panose="020B0503020204020204" pitchFamily="34" charset="-122"/>
                <a:ea typeface="微软雅黑" panose="020B0503020204020204" pitchFamily="34" charset="-122"/>
              </a:rPr>
              <a:t>双重修改极大似然估计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da Silva</a:t>
            </a:r>
            <a:r>
              <a:rPr lang="zh-CN" altLang="en-US" sz="1400">
                <a:solidFill>
                  <a:srgbClr val="203040"/>
                </a:solidFill>
                <a:latin typeface="Microsoft YaHei" panose="020B0503020204020204" pitchFamily="34" charset="-122"/>
                <a:ea typeface="微软雅黑" panose="020B0503020204020204" pitchFamily="34" charset="-122"/>
              </a:rPr>
              <a:t>等 </a:t>
            </a:r>
            <a:r>
              <a:rPr lang="en-US" altLang="zh-CN" sz="1400">
                <a:solidFill>
                  <a:srgbClr val="203040"/>
                </a:solidFill>
                <a:latin typeface="Microsoft YaHei" panose="020B0503020204020204" pitchFamily="34" charset="-122"/>
                <a:ea typeface="微软雅黑" panose="020B0503020204020204" pitchFamily="34" charset="-122"/>
              </a:rPr>
              <a:t>· 2025</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5" name="fig1-text_edge1">
            <a:extLst>
              <a:ext uri="{FF2B5EF4-FFF2-40B4-BE49-F238E27FC236}">
                <a16:creationId xmlns:a16="http://schemas.microsoft.com/office/drawing/2014/main" id="{59737199-1D4A-7ABA-8568-245599796836}"/>
              </a:ext>
            </a:extLst>
          </p:cNvPr>
          <p:cNvSpPr txBox="1"/>
          <p:nvPr/>
        </p:nvSpPr>
        <p:spPr>
          <a:xfrm>
            <a:off x="2806700" y="2120900"/>
            <a:ext cx="21082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减小小样本偏差</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修正估计方程</a:t>
            </a:r>
          </a:p>
        </p:txBody>
      </p:sp>
      <p:sp>
        <p:nvSpPr>
          <p:cNvPr id="26" name="fig1-text_edge2">
            <a:extLst>
              <a:ext uri="{FF2B5EF4-FFF2-40B4-BE49-F238E27FC236}">
                <a16:creationId xmlns:a16="http://schemas.microsoft.com/office/drawing/2014/main" id="{2293B625-BEC5-3B2A-A86E-9386781AFB81}"/>
              </a:ext>
            </a:extLst>
          </p:cNvPr>
          <p:cNvSpPr txBox="1"/>
          <p:nvPr/>
        </p:nvSpPr>
        <p:spPr>
          <a:xfrm>
            <a:off x="2806700" y="3162300"/>
            <a:ext cx="21082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处理边界奇异</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改变似然构造</a:t>
            </a:r>
          </a:p>
        </p:txBody>
      </p:sp>
      <p:sp>
        <p:nvSpPr>
          <p:cNvPr id="27" name="fig1-text_edge5">
            <a:extLst>
              <a:ext uri="{FF2B5EF4-FFF2-40B4-BE49-F238E27FC236}">
                <a16:creationId xmlns:a16="http://schemas.microsoft.com/office/drawing/2014/main" id="{8060B0A7-DA03-DA54-5E73-A07FAB8713B8}"/>
              </a:ext>
            </a:extLst>
          </p:cNvPr>
          <p:cNvSpPr txBox="1"/>
          <p:nvPr/>
        </p:nvSpPr>
        <p:spPr>
          <a:xfrm>
            <a:off x="2806700" y="4152900"/>
            <a:ext cx="21082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缓解初值敏感与局部停滞</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改进搜索策略</a:t>
            </a:r>
          </a:p>
        </p:txBody>
      </p:sp>
      <p:sp>
        <p:nvSpPr>
          <p:cNvPr id="28" name="fig1-text_edge3">
            <a:extLst>
              <a:ext uri="{FF2B5EF4-FFF2-40B4-BE49-F238E27FC236}">
                <a16:creationId xmlns:a16="http://schemas.microsoft.com/office/drawing/2014/main" id="{1D92B7E6-D647-3717-6D68-A4243B1E4895}"/>
              </a:ext>
            </a:extLst>
          </p:cNvPr>
          <p:cNvSpPr txBox="1"/>
          <p:nvPr/>
        </p:nvSpPr>
        <p:spPr>
          <a:xfrm>
            <a:off x="7747000" y="3124200"/>
            <a:ext cx="15240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剩余偏差</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引入</a:t>
            </a:r>
            <a:r>
              <a:rPr lang="en-US" altLang="zh-CN" sz="1200">
                <a:solidFill>
                  <a:srgbClr val="304559"/>
                </a:solidFill>
                <a:latin typeface="Microsoft YaHei" panose="020B0503020204020204" pitchFamily="34" charset="-122"/>
                <a:ea typeface="微软雅黑" panose="020B0503020204020204" pitchFamily="34" charset="-122"/>
              </a:rPr>
              <a:t>Firth</a:t>
            </a:r>
            <a:r>
              <a:rPr lang="zh-CN" altLang="en-US" sz="1200">
                <a:solidFill>
                  <a:srgbClr val="304559"/>
                </a:solidFill>
                <a:latin typeface="Microsoft YaHei" panose="020B0503020204020204" pitchFamily="34" charset="-122"/>
                <a:ea typeface="微软雅黑" panose="020B0503020204020204" pitchFamily="34" charset="-122"/>
              </a:rPr>
              <a:t>修正</a:t>
            </a:r>
          </a:p>
        </p:txBody>
      </p:sp>
      <p:sp>
        <p:nvSpPr>
          <p:cNvPr id="29" name="fig1-text_edge4">
            <a:extLst>
              <a:ext uri="{FF2B5EF4-FFF2-40B4-BE49-F238E27FC236}">
                <a16:creationId xmlns:a16="http://schemas.microsoft.com/office/drawing/2014/main" id="{A7DDFAD8-0F92-FD68-9A8F-9D08F41C5B79}"/>
              </a:ext>
            </a:extLst>
          </p:cNvPr>
          <p:cNvSpPr txBox="1"/>
          <p:nvPr/>
        </p:nvSpPr>
        <p:spPr>
          <a:xfrm>
            <a:off x="10579100" y="2959100"/>
            <a:ext cx="927100" cy="241300"/>
          </a:xfrm>
          <a:prstGeom prst="rect">
            <a:avLst/>
          </a:prstGeom>
          <a:noFill/>
        </p:spPr>
        <p:txBody>
          <a:bodyPr vert="horz" wrap="square" lIns="38100" tIns="25400" rIns="38100" bIns="25400" rtlCol="0" anchor="ctr">
            <a:noAutofit/>
          </a:bodyPr>
          <a:lstStyle/>
          <a:p>
            <a:pPr algn="ctr">
              <a:lnSpc>
                <a:spcPts val="1298"/>
              </a:lnSpc>
            </a:pPr>
            <a:r>
              <a:rPr lang="zh-CN" altLang="en-US" sz="1100">
                <a:solidFill>
                  <a:srgbClr val="304559"/>
                </a:solidFill>
                <a:latin typeface="Microsoft YaHei" panose="020B0503020204020204" pitchFamily="34" charset="-122"/>
                <a:ea typeface="微软雅黑" panose="020B0503020204020204" pitchFamily="34" charset="-122"/>
              </a:rPr>
              <a:t>修正思想</a:t>
            </a:r>
          </a:p>
        </p:txBody>
      </p:sp>
      <p:sp>
        <p:nvSpPr>
          <p:cNvPr id="30" name="panel-description">
            <a:extLst>
              <a:ext uri="{FF2B5EF4-FFF2-40B4-BE49-F238E27FC236}">
                <a16:creationId xmlns:a16="http://schemas.microsoft.com/office/drawing/2014/main" id="{C52DB519-AB17-D781-A557-DC4D1405FE31}"/>
              </a:ext>
            </a:extLst>
          </p:cNvPr>
          <p:cNvSpPr txBox="1"/>
          <p:nvPr/>
        </p:nvSpPr>
        <p:spPr>
          <a:xfrm>
            <a:off x="622300" y="5384800"/>
            <a:ext cx="10922000" cy="609600"/>
          </a:xfrm>
          <a:prstGeom prst="rect">
            <a:avLst/>
          </a:prstGeom>
          <a:noFill/>
        </p:spPr>
        <p:txBody>
          <a:bodyPr vert="horz" wrap="square" lIns="38100" tIns="0" rIns="38100" bIns="0" rtlCol="0" anchor="t">
            <a:noAutofit/>
          </a:bodyPr>
          <a:lstStyle/>
          <a:p>
            <a:pPr>
              <a:lnSpc>
                <a:spcPts val="2006"/>
              </a:lnSpc>
            </a:pPr>
            <a:r>
              <a:rPr lang="en-US" altLang="zh-CN" sz="1700">
                <a:solidFill>
                  <a:srgbClr val="2F6096"/>
                </a:solidFill>
                <a:latin typeface="Microsoft YaHei" panose="020B0503020204020204" pitchFamily="34" charset="-122"/>
                <a:ea typeface="微软雅黑" panose="020B0503020204020204" pitchFamily="34" charset="-122"/>
              </a:rPr>
              <a:t>WMLE</a:t>
            </a:r>
            <a:r>
              <a:rPr lang="zh-CN" altLang="en-US" sz="1700">
                <a:solidFill>
                  <a:srgbClr val="2F6096"/>
                </a:solidFill>
                <a:latin typeface="Microsoft YaHei" panose="020B0503020204020204" pitchFamily="34" charset="-122"/>
                <a:ea typeface="微软雅黑" panose="020B0503020204020204" pitchFamily="34" charset="-122"/>
              </a:rPr>
              <a:t>修正有限样本估计方程，</a:t>
            </a:r>
            <a:r>
              <a:rPr lang="en-US" altLang="zh-CN" sz="1700">
                <a:solidFill>
                  <a:srgbClr val="2F6096"/>
                </a:solidFill>
                <a:latin typeface="Microsoft YaHei" panose="020B0503020204020204" pitchFamily="34" charset="-122"/>
                <a:ea typeface="微软雅黑" panose="020B0503020204020204" pitchFamily="34" charset="-122"/>
              </a:rPr>
              <a:t>MMLE</a:t>
            </a:r>
            <a:r>
              <a:rPr lang="zh-CN" altLang="en-US" sz="1700">
                <a:solidFill>
                  <a:srgbClr val="2F6096"/>
                </a:solidFill>
                <a:latin typeface="Microsoft YaHei" panose="020B0503020204020204" pitchFamily="34" charset="-122"/>
                <a:ea typeface="微软雅黑" panose="020B0503020204020204" pitchFamily="34" charset="-122"/>
              </a:rPr>
              <a:t>改变似然构造，</a:t>
            </a:r>
            <a:r>
              <a:rPr lang="en-US" altLang="zh-CN" sz="1700">
                <a:solidFill>
                  <a:srgbClr val="2F6096"/>
                </a:solidFill>
                <a:latin typeface="Microsoft YaHei" panose="020B0503020204020204" pitchFamily="34" charset="-122"/>
                <a:ea typeface="微软雅黑" panose="020B0503020204020204" pitchFamily="34" charset="-122"/>
              </a:rPr>
              <a:t>DMMLE</a:t>
            </a:r>
            <a:r>
              <a:rPr lang="zh-CN" altLang="en-US" sz="1700">
                <a:solidFill>
                  <a:srgbClr val="2F6096"/>
                </a:solidFill>
                <a:latin typeface="Microsoft YaHei" panose="020B0503020204020204" pitchFamily="34" charset="-122"/>
                <a:ea typeface="微软雅黑" panose="020B0503020204020204" pitchFamily="34" charset="-122"/>
              </a:rPr>
              <a:t>进一步修正得分偏差。</a:t>
            </a:r>
          </a:p>
          <a:p>
            <a:pPr>
              <a:lnSpc>
                <a:spcPts val="2006"/>
              </a:lnSpc>
            </a:pPr>
            <a:r>
              <a:rPr lang="en-US" altLang="zh-CN" sz="1700">
                <a:solidFill>
                  <a:srgbClr val="2F6096"/>
                </a:solidFill>
                <a:latin typeface="Microsoft YaHei" panose="020B0503020204020204" pitchFamily="34" charset="-122"/>
                <a:ea typeface="微软雅黑" panose="020B0503020204020204" pitchFamily="34" charset="-122"/>
              </a:rPr>
              <a:t>PSO</a:t>
            </a:r>
            <a:r>
              <a:rPr lang="zh-CN" altLang="en-US" sz="1700">
                <a:solidFill>
                  <a:srgbClr val="2F6096"/>
                </a:solidFill>
                <a:latin typeface="Microsoft YaHei" panose="020B0503020204020204" pitchFamily="34" charset="-122"/>
                <a:ea typeface="微软雅黑" panose="020B0503020204020204" pitchFamily="34" charset="-122"/>
              </a:rPr>
              <a:t>、</a:t>
            </a:r>
            <a:r>
              <a:rPr lang="en-US" altLang="zh-CN" sz="1700">
                <a:solidFill>
                  <a:srgbClr val="2F6096"/>
                </a:solidFill>
                <a:latin typeface="Microsoft YaHei" panose="020B0503020204020204" pitchFamily="34" charset="-122"/>
                <a:ea typeface="微软雅黑" panose="020B0503020204020204" pitchFamily="34" charset="-122"/>
              </a:rPr>
              <a:t>ADGBO</a:t>
            </a:r>
            <a:r>
              <a:rPr lang="zh-CN" altLang="en-US" sz="1700">
                <a:solidFill>
                  <a:srgbClr val="2F6096"/>
                </a:solidFill>
                <a:latin typeface="Microsoft YaHei" panose="020B0503020204020204" pitchFamily="34" charset="-122"/>
                <a:ea typeface="微软雅黑" panose="020B0503020204020204" pitchFamily="34" charset="-122"/>
              </a:rPr>
              <a:t>等若保持同一似然与约束，改进的是求解过程。</a:t>
            </a:r>
          </a:p>
        </p:txBody>
      </p:sp>
      <p:sp>
        <p:nvSpPr>
          <p:cNvPr id="31" name="panel-citations">
            <a:extLst>
              <a:ext uri="{FF2B5EF4-FFF2-40B4-BE49-F238E27FC236}">
                <a16:creationId xmlns:a16="http://schemas.microsoft.com/office/drawing/2014/main" id="{43D54EE6-3576-5B72-1D9F-150FD070BF80}"/>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WMLE [182-088]</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DMMLE [182-111]</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ADGBO [187-001]</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Fisher</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1922</a:t>
            </a:r>
            <a:r>
              <a:rPr lang="zh-CN" altLang="en-US" sz="1000">
                <a:solidFill>
                  <a:srgbClr val="787878"/>
                </a:solidFill>
                <a:latin typeface="Microsoft YaHei" panose="020B0503020204020204" pitchFamily="34" charset="-122"/>
                <a:ea typeface="微软雅黑" panose="020B0503020204020204" pitchFamily="34" charset="-122"/>
              </a:rPr>
              <a:t>）标示通用似然原理来源。</a:t>
            </a:r>
          </a:p>
        </p:txBody>
      </p:sp>
      <p:cxnSp>
        <p:nvCxnSpPr>
          <p:cNvPr id="32" name="fig1-edge1-1">
            <a:extLst>
              <a:ext uri="{FF2B5EF4-FFF2-40B4-BE49-F238E27FC236}">
                <a16:creationId xmlns:a16="http://schemas.microsoft.com/office/drawing/2014/main" id="{7CA313AF-5535-B936-EB8B-1F22332F9CB5}"/>
              </a:ext>
            </a:extLst>
          </p:cNvPr>
          <p:cNvCxnSpPr/>
          <p:nvPr/>
        </p:nvCxnSpPr>
        <p:spPr>
          <a:xfrm>
            <a:off x="2463800" y="33782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3" name="fig1-edge1-2">
            <a:extLst>
              <a:ext uri="{FF2B5EF4-FFF2-40B4-BE49-F238E27FC236}">
                <a16:creationId xmlns:a16="http://schemas.microsoft.com/office/drawing/2014/main" id="{65928FDF-C6E5-93E6-F434-802232B4DFB8}"/>
              </a:ext>
            </a:extLst>
          </p:cNvPr>
          <p:cNvCxnSpPr/>
          <p:nvPr/>
        </p:nvCxnSpPr>
        <p:spPr>
          <a:xfrm flipV="1">
            <a:off x="2730500" y="2578100"/>
            <a:ext cx="0" cy="800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4" name="fig1-edge1-3">
            <a:extLst>
              <a:ext uri="{FF2B5EF4-FFF2-40B4-BE49-F238E27FC236}">
                <a16:creationId xmlns:a16="http://schemas.microsoft.com/office/drawing/2014/main" id="{47C7D5B7-DCA5-7D0F-7169-86C81A3C7079}"/>
              </a:ext>
            </a:extLst>
          </p:cNvPr>
          <p:cNvCxnSpPr/>
          <p:nvPr/>
        </p:nvCxnSpPr>
        <p:spPr>
          <a:xfrm>
            <a:off x="2730500" y="2578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5" name="fig1-edge2-1">
            <a:extLst>
              <a:ext uri="{FF2B5EF4-FFF2-40B4-BE49-F238E27FC236}">
                <a16:creationId xmlns:a16="http://schemas.microsoft.com/office/drawing/2014/main" id="{ED331878-50CE-6593-B9FF-08AB750D060D}"/>
              </a:ext>
            </a:extLst>
          </p:cNvPr>
          <p:cNvCxnSpPr/>
          <p:nvPr/>
        </p:nvCxnSpPr>
        <p:spPr>
          <a:xfrm>
            <a:off x="2463800" y="3644900"/>
            <a:ext cx="2540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6" name="fig1-edge5-1">
            <a:extLst>
              <a:ext uri="{FF2B5EF4-FFF2-40B4-BE49-F238E27FC236}">
                <a16:creationId xmlns:a16="http://schemas.microsoft.com/office/drawing/2014/main" id="{7F6A0CFC-A7DB-BC6C-E195-CB51B47B63CF}"/>
              </a:ext>
            </a:extLst>
          </p:cNvPr>
          <p:cNvCxnSpPr/>
          <p:nvPr/>
        </p:nvCxnSpPr>
        <p:spPr>
          <a:xfrm>
            <a:off x="2463800" y="39116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7" name="fig1-edge5-2">
            <a:extLst>
              <a:ext uri="{FF2B5EF4-FFF2-40B4-BE49-F238E27FC236}">
                <a16:creationId xmlns:a16="http://schemas.microsoft.com/office/drawing/2014/main" id="{E4814CB7-E67C-000A-AAA0-439534DA5098}"/>
              </a:ext>
            </a:extLst>
          </p:cNvPr>
          <p:cNvCxnSpPr/>
          <p:nvPr/>
        </p:nvCxnSpPr>
        <p:spPr>
          <a:xfrm>
            <a:off x="2730500" y="3911600"/>
            <a:ext cx="0" cy="6985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8" name="fig1-edge5-3">
            <a:extLst>
              <a:ext uri="{FF2B5EF4-FFF2-40B4-BE49-F238E27FC236}">
                <a16:creationId xmlns:a16="http://schemas.microsoft.com/office/drawing/2014/main" id="{83FBA02B-8D28-CAEE-A58C-3F08F725BBEA}"/>
              </a:ext>
            </a:extLst>
          </p:cNvPr>
          <p:cNvCxnSpPr/>
          <p:nvPr/>
        </p:nvCxnSpPr>
        <p:spPr>
          <a:xfrm>
            <a:off x="2730500" y="4610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9" name="fig1-edge3-1">
            <a:extLst>
              <a:ext uri="{FF2B5EF4-FFF2-40B4-BE49-F238E27FC236}">
                <a16:creationId xmlns:a16="http://schemas.microsoft.com/office/drawing/2014/main" id="{D7ABDE7F-C462-A3E2-8B1E-FBFDC7970EA1}"/>
              </a:ext>
            </a:extLst>
          </p:cNvPr>
          <p:cNvCxnSpPr/>
          <p:nvPr/>
        </p:nvCxnSpPr>
        <p:spPr>
          <a:xfrm>
            <a:off x="7683500" y="3594100"/>
            <a:ext cx="1638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40" name="fig1-edge4-1">
            <a:extLst>
              <a:ext uri="{FF2B5EF4-FFF2-40B4-BE49-F238E27FC236}">
                <a16:creationId xmlns:a16="http://schemas.microsoft.com/office/drawing/2014/main" id="{D9EC5824-7FDE-23B4-4D60-539509B15083}"/>
              </a:ext>
            </a:extLst>
          </p:cNvPr>
          <p:cNvCxnSpPr/>
          <p:nvPr/>
        </p:nvCxnSpPr>
        <p:spPr>
          <a:xfrm>
            <a:off x="10433050" y="2946400"/>
            <a:ext cx="0" cy="27940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8501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B  </a:t>
            </a:r>
            <a:r>
              <a:rPr lang="zh-CN" altLang="en-US" sz="2400" b="1" spc="-150">
                <a:solidFill>
                  <a:srgbClr val="FFFFFF"/>
                </a:solidFill>
                <a:latin typeface="汉仪文润宋韵 U"/>
                <a:ea typeface="汉仪文润宋韵 U"/>
                <a:cs typeface="汉仪文润宋韵 U"/>
              </a:rPr>
              <a:t>概率图路线：如何处理未知位置？</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2911FE70-E849-ED7F-BFB0-3FB730551685}"/>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共同思路是将</a:t>
            </a:r>
            <a:r>
              <a:rPr lang="en-US" altLang="zh-CN" sz="1700">
                <a:solidFill>
                  <a:srgbClr val="2F6096"/>
                </a:solidFill>
                <a:latin typeface="Microsoft YaHei" panose="020B0503020204020204" pitchFamily="34" charset="-122"/>
                <a:ea typeface="微软雅黑" panose="020B0503020204020204" pitchFamily="34" charset="-122"/>
              </a:rPr>
              <a:t>Weibull</a:t>
            </a:r>
            <a:r>
              <a:rPr lang="zh-CN" altLang="en-US" sz="1700">
                <a:solidFill>
                  <a:srgbClr val="2F6096"/>
                </a:solidFill>
                <a:latin typeface="Microsoft YaHei" panose="020B0503020204020204" pitchFamily="34" charset="-122"/>
                <a:ea typeface="微软雅黑" panose="020B0503020204020204" pitchFamily="34" charset="-122"/>
              </a:rPr>
              <a:t>关系线性化，关键分歧在于如何确定位置参数。</a:t>
            </a:r>
          </a:p>
        </p:txBody>
      </p:sp>
      <p:sp>
        <p:nvSpPr>
          <p:cNvPr id="17" name="fig1-white">
            <a:extLst>
              <a:ext uri="{FF2B5EF4-FFF2-40B4-BE49-F238E27FC236}">
                <a16:creationId xmlns:a16="http://schemas.microsoft.com/office/drawing/2014/main" id="{6BAFF377-25AB-9762-2D70-2278810E5997}"/>
              </a:ext>
            </a:extLst>
          </p:cNvPr>
          <p:cNvSpPr/>
          <p:nvPr/>
        </p:nvSpPr>
        <p:spPr>
          <a:xfrm>
            <a:off x="622300" y="2273300"/>
            <a:ext cx="3302000" cy="8128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LS </a:t>
            </a:r>
            <a:r>
              <a:rPr lang="zh-CN" altLang="en-US" sz="1700">
                <a:solidFill>
                  <a:srgbClr val="203040"/>
                </a:solidFill>
                <a:latin typeface="Microsoft YaHei" panose="020B0503020204020204" pitchFamily="34" charset="-122"/>
                <a:ea typeface="微软雅黑" panose="020B0503020204020204" pitchFamily="34" charset="-122"/>
              </a:rPr>
              <a:t>二参数概率图回归</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White · 1969</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8" name="fig1-soman">
            <a:extLst>
              <a:ext uri="{FF2B5EF4-FFF2-40B4-BE49-F238E27FC236}">
                <a16:creationId xmlns:a16="http://schemas.microsoft.com/office/drawing/2014/main" id="{F83C78B6-253F-8ED2-FCDB-4716D21876E0}"/>
              </a:ext>
            </a:extLst>
          </p:cNvPr>
          <p:cNvSpPr/>
          <p:nvPr/>
        </p:nvSpPr>
        <p:spPr>
          <a:xfrm>
            <a:off x="7670800" y="22733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zh-CN" altLang="en-US" sz="1700">
                <a:solidFill>
                  <a:srgbClr val="203040"/>
                </a:solidFill>
                <a:latin typeface="Microsoft YaHei" panose="020B0503020204020204" pitchFamily="34" charset="-122"/>
                <a:ea typeface="微软雅黑" panose="020B0503020204020204" pitchFamily="34" charset="-122"/>
              </a:rPr>
              <a:t>三参数</a:t>
            </a:r>
            <a:r>
              <a:rPr lang="en-US" altLang="zh-CN" sz="1700">
                <a:solidFill>
                  <a:srgbClr val="203040"/>
                </a:solidFill>
                <a:latin typeface="Microsoft YaHei" panose="020B0503020204020204" pitchFamily="34" charset="-122"/>
                <a:ea typeface="微软雅黑" panose="020B0503020204020204" pitchFamily="34" charset="-122"/>
              </a:rPr>
              <a:t>LS</a:t>
            </a:r>
            <a:r>
              <a:rPr lang="zh-CN" altLang="en-US" sz="1700">
                <a:solidFill>
                  <a:srgbClr val="203040"/>
                </a:solidFill>
                <a:latin typeface="Microsoft YaHei" panose="020B0503020204020204" pitchFamily="34" charset="-122"/>
                <a:ea typeface="微软雅黑" panose="020B0503020204020204" pitchFamily="34" charset="-122"/>
              </a:rPr>
              <a:t>（</a:t>
            </a:r>
            <a:r>
              <a:rPr lang="en-US" altLang="zh-CN" sz="1700">
                <a:solidFill>
                  <a:srgbClr val="203040"/>
                </a:solidFill>
                <a:latin typeface="Microsoft YaHei" panose="020B0503020204020204" pitchFamily="34" charset="-122"/>
                <a:ea typeface="微软雅黑" panose="020B0503020204020204" pitchFamily="34" charset="-122"/>
              </a:rPr>
              <a:t>White</a:t>
            </a:r>
            <a:r>
              <a:rPr lang="zh-CN" altLang="en-US" sz="1700">
                <a:solidFill>
                  <a:srgbClr val="203040"/>
                </a:solidFill>
                <a:latin typeface="Microsoft YaHei" panose="020B0503020204020204" pitchFamily="34" charset="-122"/>
                <a:ea typeface="微软雅黑" panose="020B0503020204020204" pitchFamily="34" charset="-122"/>
              </a:rPr>
              <a:t>扩展分支）</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Soman &amp; Misra · 1992</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9" name="fig1-plot">
            <a:extLst>
              <a:ext uri="{FF2B5EF4-FFF2-40B4-BE49-F238E27FC236}">
                <a16:creationId xmlns:a16="http://schemas.microsoft.com/office/drawing/2014/main" id="{65675938-9A67-E934-E6DF-F65962F514D0}"/>
              </a:ext>
            </a:extLst>
          </p:cNvPr>
          <p:cNvSpPr/>
          <p:nvPr/>
        </p:nvSpPr>
        <p:spPr>
          <a:xfrm>
            <a:off x="622300" y="3721100"/>
            <a:ext cx="3302000" cy="8382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124"/>
              </a:lnSpc>
            </a:pPr>
            <a:r>
              <a:rPr lang="en-US" altLang="zh-CN">
                <a:solidFill>
                  <a:srgbClr val="203040"/>
                </a:solidFill>
                <a:latin typeface="Microsoft YaHei" panose="020B0503020204020204" pitchFamily="34" charset="-122"/>
                <a:ea typeface="微软雅黑" panose="020B0503020204020204" pitchFamily="34" charset="-122"/>
              </a:rPr>
              <a:t>Weibull</a:t>
            </a:r>
            <a:r>
              <a:rPr lang="zh-CN" altLang="en-US">
                <a:solidFill>
                  <a:srgbClr val="203040"/>
                </a:solidFill>
                <a:latin typeface="Microsoft YaHei" panose="020B0503020204020204" pitchFamily="34" charset="-122"/>
                <a:ea typeface="微软雅黑" panose="020B0503020204020204" pitchFamily="34" charset="-122"/>
              </a:rPr>
              <a:t>图线性化</a:t>
            </a:r>
          </a:p>
        </p:txBody>
      </p:sp>
      <p:sp>
        <p:nvSpPr>
          <p:cNvPr id="20" name="fig1-li">
            <a:extLst>
              <a:ext uri="{FF2B5EF4-FFF2-40B4-BE49-F238E27FC236}">
                <a16:creationId xmlns:a16="http://schemas.microsoft.com/office/drawing/2014/main" id="{3813DF7B-6E53-2F54-2674-A9944E5E53E2}"/>
              </a:ext>
            </a:extLst>
          </p:cNvPr>
          <p:cNvSpPr/>
          <p:nvPr/>
        </p:nvSpPr>
        <p:spPr>
          <a:xfrm>
            <a:off x="7670800" y="34544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zh-CN" altLang="en-US" sz="1700">
                <a:solidFill>
                  <a:srgbClr val="203040"/>
                </a:solidFill>
                <a:latin typeface="Microsoft YaHei" panose="020B0503020204020204" pitchFamily="34" charset="-122"/>
                <a:ea typeface="微软雅黑" panose="020B0503020204020204" pitchFamily="34" charset="-122"/>
              </a:rPr>
              <a:t>广义线性回归</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Li · 1994</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21" name="fig1-park">
            <a:extLst>
              <a:ext uri="{FF2B5EF4-FFF2-40B4-BE49-F238E27FC236}">
                <a16:creationId xmlns:a16="http://schemas.microsoft.com/office/drawing/2014/main" id="{2CDB9860-B1C3-AFF8-60E0-F026CE1F5EFF}"/>
              </a:ext>
            </a:extLst>
          </p:cNvPr>
          <p:cNvSpPr/>
          <p:nvPr/>
        </p:nvSpPr>
        <p:spPr>
          <a:xfrm>
            <a:off x="7670800" y="4876800"/>
            <a:ext cx="3873500" cy="838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zh-CN" altLang="en-US" sz="1700">
                <a:solidFill>
                  <a:srgbClr val="203040"/>
                </a:solidFill>
                <a:latin typeface="Microsoft YaHei" panose="020B0503020204020204" pitchFamily="34" charset="-122"/>
                <a:ea typeface="微软雅黑" panose="020B0503020204020204" pitchFamily="34" charset="-122"/>
              </a:rPr>
              <a:t>相关系数法（</a:t>
            </a:r>
            <a:r>
              <a:rPr lang="en-US" altLang="zh-CN" sz="1700">
                <a:solidFill>
                  <a:srgbClr val="203040"/>
                </a:solidFill>
                <a:latin typeface="Microsoft YaHei" panose="020B0503020204020204" pitchFamily="34" charset="-122"/>
                <a:ea typeface="微软雅黑" panose="020B0503020204020204" pitchFamily="34" charset="-122"/>
              </a:rPr>
              <a:t>Plot</a:t>
            </a:r>
            <a:r>
              <a:rPr lang="zh-CN" altLang="en-US" sz="1700">
                <a:solidFill>
                  <a:srgbClr val="203040"/>
                </a:solidFill>
                <a:latin typeface="Microsoft YaHei" panose="020B0503020204020204" pitchFamily="34" charset="-122"/>
                <a:ea typeface="微软雅黑" panose="020B0503020204020204" pitchFamily="34" charset="-122"/>
              </a:rPr>
              <a:t>分支）</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Park · 2017</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22" name="fig1-text_edge6">
            <a:extLst>
              <a:ext uri="{FF2B5EF4-FFF2-40B4-BE49-F238E27FC236}">
                <a16:creationId xmlns:a16="http://schemas.microsoft.com/office/drawing/2014/main" id="{0C5A288D-71E8-CD1A-1D63-B92A6275E59E}"/>
              </a:ext>
            </a:extLst>
          </p:cNvPr>
          <p:cNvSpPr txBox="1"/>
          <p:nvPr/>
        </p:nvSpPr>
        <p:spPr>
          <a:xfrm>
            <a:off x="4686300" y="2108200"/>
            <a:ext cx="2222500" cy="5588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位置未知</a:t>
            </a:r>
          </a:p>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扩展到三参数</a:t>
            </a:r>
          </a:p>
        </p:txBody>
      </p:sp>
      <p:sp>
        <p:nvSpPr>
          <p:cNvPr id="23" name="fig1-text_edge7">
            <a:extLst>
              <a:ext uri="{FF2B5EF4-FFF2-40B4-BE49-F238E27FC236}">
                <a16:creationId xmlns:a16="http://schemas.microsoft.com/office/drawing/2014/main" id="{117F3D43-7A7D-3E23-B704-0B144E79EF5A}"/>
              </a:ext>
            </a:extLst>
          </p:cNvPr>
          <p:cNvSpPr txBox="1"/>
          <p:nvPr/>
        </p:nvSpPr>
        <p:spPr>
          <a:xfrm>
            <a:off x="4406900" y="3467100"/>
            <a:ext cx="3111500" cy="3302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构造位置近似</a:t>
            </a:r>
          </a:p>
        </p:txBody>
      </p:sp>
      <p:sp>
        <p:nvSpPr>
          <p:cNvPr id="24" name="fig1-text_edge8">
            <a:extLst>
              <a:ext uri="{FF2B5EF4-FFF2-40B4-BE49-F238E27FC236}">
                <a16:creationId xmlns:a16="http://schemas.microsoft.com/office/drawing/2014/main" id="{8CA15B03-9C15-A8DF-20A2-CB58859DED9C}"/>
              </a:ext>
            </a:extLst>
          </p:cNvPr>
          <p:cNvSpPr txBox="1"/>
          <p:nvPr/>
        </p:nvSpPr>
        <p:spPr>
          <a:xfrm>
            <a:off x="5676900" y="4813300"/>
            <a:ext cx="1905000" cy="3810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以相关性选位置</a:t>
            </a:r>
          </a:p>
        </p:txBody>
      </p:sp>
      <p:sp>
        <p:nvSpPr>
          <p:cNvPr id="25" name="panel-description">
            <a:extLst>
              <a:ext uri="{FF2B5EF4-FFF2-40B4-BE49-F238E27FC236}">
                <a16:creationId xmlns:a16="http://schemas.microsoft.com/office/drawing/2014/main" id="{4B08E68D-1A4B-6682-AFA5-65FC8E416B5B}"/>
              </a:ext>
            </a:extLst>
          </p:cNvPr>
          <p:cNvSpPr txBox="1"/>
          <p:nvPr/>
        </p:nvSpPr>
        <p:spPr>
          <a:xfrm>
            <a:off x="622300" y="5765800"/>
            <a:ext cx="10922000" cy="609600"/>
          </a:xfrm>
          <a:prstGeom prst="rect">
            <a:avLst/>
          </a:prstGeom>
          <a:noFill/>
        </p:spPr>
        <p:txBody>
          <a:bodyPr vert="horz" wrap="square" lIns="38100" tIns="0" rIns="38100" bIns="0" rtlCol="0" anchor="t">
            <a:noAutofit/>
          </a:bodyPr>
          <a:lstStyle/>
          <a:p>
            <a:pPr>
              <a:lnSpc>
                <a:spcPts val="1770"/>
              </a:lnSpc>
            </a:pPr>
            <a:r>
              <a:rPr lang="en-US" altLang="zh-CN" sz="1500">
                <a:solidFill>
                  <a:srgbClr val="2F6096"/>
                </a:solidFill>
                <a:latin typeface="Microsoft YaHei" panose="020B0503020204020204" pitchFamily="34" charset="-122"/>
                <a:ea typeface="微软雅黑" panose="020B0503020204020204" pitchFamily="34" charset="-122"/>
              </a:rPr>
              <a:t>White</a:t>
            </a:r>
            <a:r>
              <a:rPr lang="zh-CN" altLang="en-US" sz="1500">
                <a:solidFill>
                  <a:srgbClr val="2F6096"/>
                </a:solidFill>
                <a:latin typeface="Microsoft YaHei" panose="020B0503020204020204" pitchFamily="34" charset="-122"/>
                <a:ea typeface="微软雅黑" panose="020B0503020204020204" pitchFamily="34" charset="-122"/>
              </a:rPr>
              <a:t>到</a:t>
            </a:r>
            <a:r>
              <a:rPr lang="en-US" altLang="zh-CN" sz="1500">
                <a:solidFill>
                  <a:srgbClr val="2F6096"/>
                </a:solidFill>
                <a:latin typeface="Microsoft YaHei" panose="020B0503020204020204" pitchFamily="34" charset="-122"/>
                <a:ea typeface="微软雅黑" panose="020B0503020204020204" pitchFamily="34" charset="-122"/>
              </a:rPr>
              <a:t>Soman–Misra</a:t>
            </a:r>
            <a:r>
              <a:rPr lang="zh-CN" altLang="en-US" sz="1500">
                <a:solidFill>
                  <a:srgbClr val="2F6096"/>
                </a:solidFill>
                <a:latin typeface="Microsoft YaHei" panose="020B0503020204020204" pitchFamily="34" charset="-122"/>
                <a:ea typeface="微软雅黑" panose="020B0503020204020204" pitchFamily="34" charset="-122"/>
              </a:rPr>
              <a:t>是明确的三参数扩展。</a:t>
            </a:r>
            <a:r>
              <a:rPr lang="en-US" altLang="zh-CN" sz="1500">
                <a:solidFill>
                  <a:srgbClr val="2F6096"/>
                </a:solidFill>
                <a:latin typeface="Microsoft YaHei" panose="020B0503020204020204" pitchFamily="34" charset="-122"/>
                <a:ea typeface="微软雅黑" panose="020B0503020204020204" pitchFamily="34" charset="-122"/>
              </a:rPr>
              <a:t>Li</a:t>
            </a:r>
            <a:r>
              <a:rPr lang="zh-CN" altLang="en-US" sz="1500">
                <a:solidFill>
                  <a:srgbClr val="2F6096"/>
                </a:solidFill>
                <a:latin typeface="Microsoft YaHei" panose="020B0503020204020204" pitchFamily="34" charset="-122"/>
                <a:ea typeface="微软雅黑" panose="020B0503020204020204" pitchFamily="34" charset="-122"/>
              </a:rPr>
              <a:t>与</a:t>
            </a:r>
            <a:r>
              <a:rPr lang="en-US" altLang="zh-CN" sz="1500">
                <a:solidFill>
                  <a:srgbClr val="2F6096"/>
                </a:solidFill>
                <a:latin typeface="Microsoft YaHei" panose="020B0503020204020204" pitchFamily="34" charset="-122"/>
                <a:ea typeface="微软雅黑" panose="020B0503020204020204" pitchFamily="34" charset="-122"/>
              </a:rPr>
              <a:t>Park</a:t>
            </a:r>
            <a:r>
              <a:rPr lang="zh-CN" altLang="en-US" sz="1500">
                <a:solidFill>
                  <a:srgbClr val="2F6096"/>
                </a:solidFill>
                <a:latin typeface="Microsoft YaHei" panose="020B0503020204020204" pitchFamily="34" charset="-122"/>
                <a:ea typeface="微软雅黑" panose="020B0503020204020204" pitchFamily="34" charset="-122"/>
              </a:rPr>
              <a:t>分别构造位置估计。</a:t>
            </a:r>
          </a:p>
          <a:p>
            <a:pPr>
              <a:lnSpc>
                <a:spcPts val="1770"/>
              </a:lnSpc>
            </a:pPr>
            <a:r>
              <a:rPr lang="zh-CN" altLang="en-US" sz="1500">
                <a:solidFill>
                  <a:srgbClr val="2F6096"/>
                </a:solidFill>
                <a:latin typeface="Microsoft YaHei" panose="020B0503020204020204" pitchFamily="34" charset="-122"/>
                <a:ea typeface="微软雅黑" panose="020B0503020204020204" pitchFamily="34" charset="-122"/>
              </a:rPr>
              <a:t>引用</a:t>
            </a:r>
            <a:r>
              <a:rPr lang="en-US" altLang="zh-CN" sz="1500">
                <a:solidFill>
                  <a:srgbClr val="2F6096"/>
                </a:solidFill>
                <a:latin typeface="Microsoft YaHei" panose="020B0503020204020204" pitchFamily="34" charset="-122"/>
                <a:ea typeface="微软雅黑" panose="020B0503020204020204" pitchFamily="34" charset="-122"/>
              </a:rPr>
              <a:t>LS</a:t>
            </a:r>
            <a:r>
              <a:rPr lang="zh-CN" altLang="en-US" sz="1500">
                <a:solidFill>
                  <a:srgbClr val="2F6096"/>
                </a:solidFill>
                <a:latin typeface="Microsoft YaHei" panose="020B0503020204020204" pitchFamily="34" charset="-122"/>
                <a:ea typeface="微软雅黑" panose="020B0503020204020204" pitchFamily="34" charset="-122"/>
              </a:rPr>
              <a:t>或</a:t>
            </a:r>
            <a:r>
              <a:rPr lang="en-US" altLang="zh-CN" sz="1500">
                <a:solidFill>
                  <a:srgbClr val="2F6096"/>
                </a:solidFill>
                <a:latin typeface="Microsoft YaHei" panose="020B0503020204020204" pitchFamily="34" charset="-122"/>
                <a:ea typeface="微软雅黑" panose="020B0503020204020204" pitchFamily="34" charset="-122"/>
              </a:rPr>
              <a:t>LRE</a:t>
            </a:r>
            <a:r>
              <a:rPr lang="zh-CN" altLang="en-US" sz="1500">
                <a:solidFill>
                  <a:srgbClr val="2F6096"/>
                </a:solidFill>
                <a:latin typeface="Microsoft YaHei" panose="020B0503020204020204" pitchFamily="34" charset="-122"/>
                <a:ea typeface="微软雅黑" panose="020B0503020204020204" pitchFamily="34" charset="-122"/>
              </a:rPr>
              <a:t>时，还要交代绘图分数、回归方向和参数恢复分支。</a:t>
            </a:r>
          </a:p>
        </p:txBody>
      </p:sp>
      <p:sp>
        <p:nvSpPr>
          <p:cNvPr id="26" name="panel-citations">
            <a:extLst>
              <a:ext uri="{FF2B5EF4-FFF2-40B4-BE49-F238E27FC236}">
                <a16:creationId xmlns:a16="http://schemas.microsoft.com/office/drawing/2014/main" id="{8E16AEC8-4FD6-7F68-7779-5B4AF74CD1AD}"/>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Soman–Misra [182-104]</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Li [182-107]</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Park [182-115]</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[182-106]</a:t>
            </a:r>
            <a:r>
              <a:rPr lang="zh-CN" altLang="en-US" sz="1000">
                <a:solidFill>
                  <a:srgbClr val="787878"/>
                </a:solidFill>
                <a:latin typeface="Microsoft YaHei" panose="020B0503020204020204" pitchFamily="34" charset="-122"/>
                <a:ea typeface="微软雅黑" panose="020B0503020204020204" pitchFamily="34" charset="-122"/>
              </a:rPr>
              <a:t>。不按年份推定继承关系。</a:t>
            </a:r>
          </a:p>
        </p:txBody>
      </p:sp>
      <p:cxnSp>
        <p:nvCxnSpPr>
          <p:cNvPr id="27" name="fig1-edge6-1">
            <a:extLst>
              <a:ext uri="{FF2B5EF4-FFF2-40B4-BE49-F238E27FC236}">
                <a16:creationId xmlns:a16="http://schemas.microsoft.com/office/drawing/2014/main" id="{2451FEE3-AD04-7247-FE51-A90513F024C8}"/>
              </a:ext>
            </a:extLst>
          </p:cNvPr>
          <p:cNvCxnSpPr/>
          <p:nvPr/>
        </p:nvCxnSpPr>
        <p:spPr>
          <a:xfrm>
            <a:off x="3924300" y="2679700"/>
            <a:ext cx="3746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28" name="fig1-edge7-1">
            <a:extLst>
              <a:ext uri="{FF2B5EF4-FFF2-40B4-BE49-F238E27FC236}">
                <a16:creationId xmlns:a16="http://schemas.microsoft.com/office/drawing/2014/main" id="{0DA19543-A04F-5DD8-5968-C8F591C49A25}"/>
              </a:ext>
            </a:extLst>
          </p:cNvPr>
          <p:cNvCxnSpPr/>
          <p:nvPr/>
        </p:nvCxnSpPr>
        <p:spPr>
          <a:xfrm>
            <a:off x="3924300" y="3924300"/>
            <a:ext cx="19050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29" name="fig1-edge7-2">
            <a:extLst>
              <a:ext uri="{FF2B5EF4-FFF2-40B4-BE49-F238E27FC236}">
                <a16:creationId xmlns:a16="http://schemas.microsoft.com/office/drawing/2014/main" id="{936408E0-140D-E068-175C-3E5DF5147064}"/>
              </a:ext>
            </a:extLst>
          </p:cNvPr>
          <p:cNvCxnSpPr/>
          <p:nvPr/>
        </p:nvCxnSpPr>
        <p:spPr>
          <a:xfrm flipV="1">
            <a:off x="5829300" y="3860800"/>
            <a:ext cx="0" cy="635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0" name="fig1-edge7-3">
            <a:extLst>
              <a:ext uri="{FF2B5EF4-FFF2-40B4-BE49-F238E27FC236}">
                <a16:creationId xmlns:a16="http://schemas.microsoft.com/office/drawing/2014/main" id="{7F5A733D-256A-D03F-0757-96EE26607D6B}"/>
              </a:ext>
            </a:extLst>
          </p:cNvPr>
          <p:cNvCxnSpPr/>
          <p:nvPr/>
        </p:nvCxnSpPr>
        <p:spPr>
          <a:xfrm>
            <a:off x="5829300" y="3860800"/>
            <a:ext cx="1841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1" name="fig1-edge8-1">
            <a:extLst>
              <a:ext uri="{FF2B5EF4-FFF2-40B4-BE49-F238E27FC236}">
                <a16:creationId xmlns:a16="http://schemas.microsoft.com/office/drawing/2014/main" id="{70D4D455-EF9C-E1EE-A1D3-CFED15553030}"/>
              </a:ext>
            </a:extLst>
          </p:cNvPr>
          <p:cNvCxnSpPr/>
          <p:nvPr/>
        </p:nvCxnSpPr>
        <p:spPr>
          <a:xfrm>
            <a:off x="3924300" y="4356100"/>
            <a:ext cx="15875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2" name="fig1-edge8-2">
            <a:extLst>
              <a:ext uri="{FF2B5EF4-FFF2-40B4-BE49-F238E27FC236}">
                <a16:creationId xmlns:a16="http://schemas.microsoft.com/office/drawing/2014/main" id="{03C68E42-96A0-AD70-A4E4-17A06688DE43}"/>
              </a:ext>
            </a:extLst>
          </p:cNvPr>
          <p:cNvCxnSpPr/>
          <p:nvPr/>
        </p:nvCxnSpPr>
        <p:spPr>
          <a:xfrm>
            <a:off x="5511800" y="4356100"/>
            <a:ext cx="0" cy="9398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3" name="fig1-edge8-3">
            <a:extLst>
              <a:ext uri="{FF2B5EF4-FFF2-40B4-BE49-F238E27FC236}">
                <a16:creationId xmlns:a16="http://schemas.microsoft.com/office/drawing/2014/main" id="{9D383E8C-0782-58A3-7720-27E89C41D2D0}"/>
              </a:ext>
            </a:extLst>
          </p:cNvPr>
          <p:cNvCxnSpPr/>
          <p:nvPr/>
        </p:nvCxnSpPr>
        <p:spPr>
          <a:xfrm>
            <a:off x="5511800" y="5295900"/>
            <a:ext cx="2159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814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C  </a:t>
            </a:r>
            <a:r>
              <a:rPr lang="zh-CN" altLang="en-US" sz="2400" b="1" spc="-150">
                <a:solidFill>
                  <a:srgbClr val="FFFFFF"/>
                </a:solidFill>
                <a:latin typeface="汉仪文润宋韵 U"/>
                <a:ea typeface="汉仪文润宋韵 U"/>
                <a:cs typeface="汉仪文润宋韵 U"/>
              </a:rPr>
              <a:t>改用统计量、间距或构造差异</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15A7D3A0-D900-C788-4169-A5B9277F249C}"/>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这三支分别采用统计量匹配、概率间距和尺度伪估计差异作为估计依据。</a:t>
            </a:r>
          </a:p>
        </p:txBody>
      </p:sp>
      <p:sp>
        <p:nvSpPr>
          <p:cNvPr id="10" name="fig1-pwm">
            <a:extLst>
              <a:ext uri="{FF2B5EF4-FFF2-40B4-BE49-F238E27FC236}">
                <a16:creationId xmlns:a16="http://schemas.microsoft.com/office/drawing/2014/main" id="{8F6A1F28-3F96-720B-92D4-29EDB54A21C1}"/>
              </a:ext>
            </a:extLst>
          </p:cNvPr>
          <p:cNvSpPr/>
          <p:nvPr/>
        </p:nvSpPr>
        <p:spPr>
          <a:xfrm>
            <a:off x="622300" y="2209800"/>
            <a:ext cx="3556000" cy="8128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PWM </a:t>
            </a:r>
            <a:r>
              <a:rPr lang="zh-CN" altLang="en-US" sz="1700">
                <a:solidFill>
                  <a:srgbClr val="203040"/>
                </a:solidFill>
                <a:latin typeface="Microsoft YaHei" panose="020B0503020204020204" pitchFamily="34" charset="-122"/>
                <a:ea typeface="微软雅黑" panose="020B0503020204020204" pitchFamily="34" charset="-122"/>
              </a:rPr>
              <a:t>概率加权矩</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Greenwood</a:t>
            </a:r>
            <a:r>
              <a:rPr lang="zh-CN" altLang="en-US" sz="1700">
                <a:solidFill>
                  <a:srgbClr val="203040"/>
                </a:solidFill>
                <a:latin typeface="Microsoft YaHei" panose="020B0503020204020204" pitchFamily="34" charset="-122"/>
                <a:ea typeface="微软雅黑" panose="020B0503020204020204" pitchFamily="34" charset="-122"/>
              </a:rPr>
              <a:t>等 </a:t>
            </a:r>
            <a:r>
              <a:rPr lang="en-US" altLang="zh-CN" sz="1700">
                <a:solidFill>
                  <a:srgbClr val="203040"/>
                </a:solidFill>
                <a:latin typeface="Microsoft YaHei" panose="020B0503020204020204" pitchFamily="34" charset="-122"/>
                <a:ea typeface="微软雅黑" panose="020B0503020204020204" pitchFamily="34" charset="-122"/>
              </a:rPr>
              <a:t>· 1979</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4" name="fig1-lm">
            <a:extLst>
              <a:ext uri="{FF2B5EF4-FFF2-40B4-BE49-F238E27FC236}">
                <a16:creationId xmlns:a16="http://schemas.microsoft.com/office/drawing/2014/main" id="{79657A67-AAA1-E8B8-BBAB-E8676A07F1B4}"/>
              </a:ext>
            </a:extLst>
          </p:cNvPr>
          <p:cNvSpPr/>
          <p:nvPr/>
        </p:nvSpPr>
        <p:spPr>
          <a:xfrm>
            <a:off x="7670800" y="22098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LM L</a:t>
            </a:r>
            <a:r>
              <a:rPr lang="zh-CN" altLang="en-US" sz="1700">
                <a:solidFill>
                  <a:srgbClr val="203040"/>
                </a:solidFill>
                <a:latin typeface="Microsoft YaHei" panose="020B0503020204020204" pitchFamily="34" charset="-122"/>
                <a:ea typeface="微软雅黑" panose="020B0503020204020204" pitchFamily="34" charset="-122"/>
              </a:rPr>
              <a:t>矩估计</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Hosking · 1990</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5" name="fig1-boundary">
            <a:extLst>
              <a:ext uri="{FF2B5EF4-FFF2-40B4-BE49-F238E27FC236}">
                <a16:creationId xmlns:a16="http://schemas.microsoft.com/office/drawing/2014/main" id="{7068ACF1-1F3E-F83A-8143-3AE0A34E1B55}"/>
              </a:ext>
            </a:extLst>
          </p:cNvPr>
          <p:cNvSpPr/>
          <p:nvPr/>
        </p:nvSpPr>
        <p:spPr>
          <a:xfrm>
            <a:off x="622300" y="33782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zh-CN" altLang="en-US" sz="1700">
                <a:solidFill>
                  <a:srgbClr val="203040"/>
                </a:solidFill>
                <a:latin typeface="Microsoft YaHei" panose="020B0503020204020204" pitchFamily="34" charset="-122"/>
                <a:ea typeface="微软雅黑" panose="020B0503020204020204" pitchFamily="34" charset="-122"/>
              </a:rPr>
              <a:t>原始似然的边界困难</a:t>
            </a:r>
          </a:p>
        </p:txBody>
      </p:sp>
      <p:sp>
        <p:nvSpPr>
          <p:cNvPr id="16" name="fig1-mps">
            <a:extLst>
              <a:ext uri="{FF2B5EF4-FFF2-40B4-BE49-F238E27FC236}">
                <a16:creationId xmlns:a16="http://schemas.microsoft.com/office/drawing/2014/main" id="{F9B87335-C6B8-E869-E904-C4FCC2939D7E}"/>
              </a:ext>
            </a:extLst>
          </p:cNvPr>
          <p:cNvSpPr/>
          <p:nvPr/>
        </p:nvSpPr>
        <p:spPr>
          <a:xfrm>
            <a:off x="7670800" y="33782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MPS </a:t>
            </a:r>
            <a:r>
              <a:rPr lang="zh-CN" altLang="en-US" sz="1700">
                <a:solidFill>
                  <a:srgbClr val="203040"/>
                </a:solidFill>
                <a:latin typeface="Microsoft YaHei" panose="020B0503020204020204" pitchFamily="34" charset="-122"/>
                <a:ea typeface="微软雅黑" panose="020B0503020204020204" pitchFamily="34" charset="-122"/>
              </a:rPr>
              <a:t>最大乘积间距估计</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Cheng &amp; Amin · 1983</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7" name="fig1-cdf">
            <a:extLst>
              <a:ext uri="{FF2B5EF4-FFF2-40B4-BE49-F238E27FC236}">
                <a16:creationId xmlns:a16="http://schemas.microsoft.com/office/drawing/2014/main" id="{76486402-F8C3-1669-77B5-09F0CAB966C1}"/>
              </a:ext>
            </a:extLst>
          </p:cNvPr>
          <p:cNvSpPr/>
          <p:nvPr/>
        </p:nvSpPr>
        <p:spPr>
          <a:xfrm>
            <a:off x="622300" y="45466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zh-CN" altLang="en-US" sz="1700">
                <a:solidFill>
                  <a:srgbClr val="203040"/>
                </a:solidFill>
                <a:latin typeface="Microsoft YaHei" panose="020B0503020204020204" pitchFamily="34" charset="-122"/>
                <a:ea typeface="微软雅黑" panose="020B0503020204020204" pitchFamily="34" charset="-122"/>
              </a:rPr>
              <a:t>样本＋分布概率关系</a:t>
            </a:r>
          </a:p>
        </p:txBody>
      </p:sp>
      <p:sp>
        <p:nvSpPr>
          <p:cNvPr id="18" name="fig1-mdm">
            <a:extLst>
              <a:ext uri="{FF2B5EF4-FFF2-40B4-BE49-F238E27FC236}">
                <a16:creationId xmlns:a16="http://schemas.microsoft.com/office/drawing/2014/main" id="{A8026710-239E-5E15-6502-5B237C7F989E}"/>
              </a:ext>
            </a:extLst>
          </p:cNvPr>
          <p:cNvSpPr/>
          <p:nvPr/>
        </p:nvSpPr>
        <p:spPr>
          <a:xfrm>
            <a:off x="7670800" y="45466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MDM </a:t>
            </a:r>
            <a:r>
              <a:rPr lang="zh-CN" altLang="en-US" sz="1700">
                <a:solidFill>
                  <a:srgbClr val="203040"/>
                </a:solidFill>
                <a:latin typeface="Microsoft YaHei" panose="020B0503020204020204" pitchFamily="34" charset="-122"/>
                <a:ea typeface="微软雅黑" panose="020B0503020204020204" pitchFamily="34" charset="-122"/>
              </a:rPr>
              <a:t>最小差异法</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Xie</a:t>
            </a:r>
            <a:r>
              <a:rPr lang="zh-CN" altLang="en-US" sz="1700">
                <a:solidFill>
                  <a:srgbClr val="203040"/>
                </a:solidFill>
                <a:latin typeface="Microsoft YaHei" panose="020B0503020204020204" pitchFamily="34" charset="-122"/>
                <a:ea typeface="微软雅黑" panose="020B0503020204020204" pitchFamily="34" charset="-122"/>
              </a:rPr>
              <a:t>等 </a:t>
            </a:r>
            <a:r>
              <a:rPr lang="en-US" altLang="zh-CN" sz="1700">
                <a:solidFill>
                  <a:srgbClr val="203040"/>
                </a:solidFill>
                <a:latin typeface="Microsoft YaHei" panose="020B0503020204020204" pitchFamily="34" charset="-122"/>
                <a:ea typeface="微软雅黑" panose="020B0503020204020204" pitchFamily="34" charset="-122"/>
              </a:rPr>
              <a:t>· 2022/2023</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9" name="fig1-text_edge9">
            <a:extLst>
              <a:ext uri="{FF2B5EF4-FFF2-40B4-BE49-F238E27FC236}">
                <a16:creationId xmlns:a16="http://schemas.microsoft.com/office/drawing/2014/main" id="{2FE5EADD-ADFB-A8B8-0F8A-2B8E9D08ED75}"/>
              </a:ext>
            </a:extLst>
          </p:cNvPr>
          <p:cNvSpPr txBox="1"/>
          <p:nvPr/>
        </p:nvSpPr>
        <p:spPr>
          <a:xfrm>
            <a:off x="4597400" y="2057400"/>
            <a:ext cx="2730500" cy="5461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线性组合</a:t>
            </a:r>
          </a:p>
          <a:p>
            <a:pPr algn="ctr">
              <a:lnSpc>
                <a:spcPts val="1770"/>
              </a:lnSpc>
            </a:pPr>
            <a:r>
              <a:rPr lang="en-US" altLang="zh-CN" sz="1500">
                <a:solidFill>
                  <a:srgbClr val="304559"/>
                </a:solidFill>
                <a:latin typeface="Microsoft YaHei" panose="020B0503020204020204" pitchFamily="34" charset="-122"/>
                <a:ea typeface="微软雅黑" panose="020B0503020204020204" pitchFamily="34" charset="-122"/>
              </a:rPr>
              <a:t>L</a:t>
            </a:r>
            <a:r>
              <a:rPr lang="zh-CN" altLang="en-US" sz="1500">
                <a:solidFill>
                  <a:srgbClr val="304559"/>
                </a:solidFill>
                <a:latin typeface="Microsoft YaHei" panose="020B0503020204020204" pitchFamily="34" charset="-122"/>
                <a:ea typeface="微软雅黑" panose="020B0503020204020204" pitchFamily="34" charset="-122"/>
              </a:rPr>
              <a:t>矩匹配</a:t>
            </a:r>
          </a:p>
        </p:txBody>
      </p:sp>
      <p:sp>
        <p:nvSpPr>
          <p:cNvPr id="20" name="fig1-text_edge10">
            <a:extLst>
              <a:ext uri="{FF2B5EF4-FFF2-40B4-BE49-F238E27FC236}">
                <a16:creationId xmlns:a16="http://schemas.microsoft.com/office/drawing/2014/main" id="{21C0CC91-0314-A0B8-A849-4FA030309BE7}"/>
              </a:ext>
            </a:extLst>
          </p:cNvPr>
          <p:cNvSpPr txBox="1"/>
          <p:nvPr/>
        </p:nvSpPr>
        <p:spPr>
          <a:xfrm>
            <a:off x="4597400" y="3327400"/>
            <a:ext cx="2730500" cy="4445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改用间距乘积</a:t>
            </a:r>
          </a:p>
        </p:txBody>
      </p:sp>
      <p:sp>
        <p:nvSpPr>
          <p:cNvPr id="21" name="fig1-text_edge11">
            <a:extLst>
              <a:ext uri="{FF2B5EF4-FFF2-40B4-BE49-F238E27FC236}">
                <a16:creationId xmlns:a16="http://schemas.microsoft.com/office/drawing/2014/main" id="{7C4BB7F2-9BC5-7689-AFB0-B4C55F3E957D}"/>
              </a:ext>
            </a:extLst>
          </p:cNvPr>
          <p:cNvSpPr txBox="1"/>
          <p:nvPr/>
        </p:nvSpPr>
        <p:spPr>
          <a:xfrm>
            <a:off x="4597400" y="4394200"/>
            <a:ext cx="2730500" cy="5461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小样本估计</a:t>
            </a:r>
          </a:p>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构造一致性准则</a:t>
            </a:r>
          </a:p>
        </p:txBody>
      </p:sp>
      <p:sp>
        <p:nvSpPr>
          <p:cNvPr id="22" name="panel-description">
            <a:extLst>
              <a:ext uri="{FF2B5EF4-FFF2-40B4-BE49-F238E27FC236}">
                <a16:creationId xmlns:a16="http://schemas.microsoft.com/office/drawing/2014/main" id="{5F699454-EC62-E30A-ADE7-F8AE441FA17A}"/>
              </a:ext>
            </a:extLst>
          </p:cNvPr>
          <p:cNvSpPr txBox="1"/>
          <p:nvPr/>
        </p:nvSpPr>
        <p:spPr>
          <a:xfrm>
            <a:off x="622300" y="5524500"/>
            <a:ext cx="10922000" cy="609600"/>
          </a:xfrm>
          <a:prstGeom prst="rect">
            <a:avLst/>
          </a:prstGeom>
          <a:noFill/>
        </p:spPr>
        <p:txBody>
          <a:bodyPr vert="horz" wrap="square" lIns="38100" tIns="0" rIns="38100" bIns="0" rtlCol="0" anchor="t">
            <a:noAutofit/>
          </a:bodyPr>
          <a:lstStyle/>
          <a:p>
            <a:pPr>
              <a:lnSpc>
                <a:spcPts val="1888"/>
              </a:lnSpc>
            </a:pPr>
            <a:r>
              <a:rPr lang="en-US" altLang="zh-CN" sz="1600">
                <a:solidFill>
                  <a:srgbClr val="2F6096"/>
                </a:solidFill>
                <a:latin typeface="Microsoft YaHei" panose="020B0503020204020204" pitchFamily="34" charset="-122"/>
                <a:ea typeface="微软雅黑" panose="020B0503020204020204" pitchFamily="34" charset="-122"/>
              </a:rPr>
              <a:t>PWM</a:t>
            </a:r>
            <a:r>
              <a:rPr lang="zh-CN" altLang="en-US" sz="1600">
                <a:solidFill>
                  <a:srgbClr val="2F6096"/>
                </a:solidFill>
                <a:latin typeface="Microsoft YaHei" panose="020B0503020204020204" pitchFamily="34" charset="-122"/>
                <a:ea typeface="微软雅黑" panose="020B0503020204020204" pitchFamily="34" charset="-122"/>
              </a:rPr>
              <a:t>经线性组合形成</a:t>
            </a:r>
            <a:r>
              <a:rPr lang="en-US" altLang="zh-CN" sz="1600">
                <a:solidFill>
                  <a:srgbClr val="2F6096"/>
                </a:solidFill>
                <a:latin typeface="Microsoft YaHei" panose="020B0503020204020204" pitchFamily="34" charset="-122"/>
                <a:ea typeface="微软雅黑" panose="020B0503020204020204" pitchFamily="34" charset="-122"/>
              </a:rPr>
              <a:t>L</a:t>
            </a:r>
            <a:r>
              <a:rPr lang="zh-CN" altLang="en-US" sz="1600">
                <a:solidFill>
                  <a:srgbClr val="2F6096"/>
                </a:solidFill>
                <a:latin typeface="Microsoft YaHei" panose="020B0503020204020204" pitchFamily="34" charset="-122"/>
                <a:ea typeface="微软雅黑" panose="020B0503020204020204" pitchFamily="34" charset="-122"/>
              </a:rPr>
              <a:t>矩。</a:t>
            </a:r>
            <a:r>
              <a:rPr lang="en-US" altLang="zh-CN" sz="1600">
                <a:solidFill>
                  <a:srgbClr val="2F6096"/>
                </a:solidFill>
                <a:latin typeface="Microsoft YaHei" panose="020B0503020204020204" pitchFamily="34" charset="-122"/>
                <a:ea typeface="微软雅黑" panose="020B0503020204020204" pitchFamily="34" charset="-122"/>
              </a:rPr>
              <a:t>MPS</a:t>
            </a:r>
            <a:r>
              <a:rPr lang="zh-CN" altLang="en-US" sz="1600">
                <a:solidFill>
                  <a:srgbClr val="2F6096"/>
                </a:solidFill>
                <a:latin typeface="Microsoft YaHei" panose="020B0503020204020204" pitchFamily="34" charset="-122"/>
                <a:ea typeface="微软雅黑" panose="020B0503020204020204" pitchFamily="34" charset="-122"/>
              </a:rPr>
              <a:t>针对似然边界困难，转而使用概率间距。</a:t>
            </a:r>
          </a:p>
          <a:p>
            <a:pPr>
              <a:lnSpc>
                <a:spcPts val="1888"/>
              </a:lnSpc>
            </a:pPr>
            <a:r>
              <a:rPr lang="en-US" altLang="zh-CN" sz="1600">
                <a:solidFill>
                  <a:srgbClr val="2F6096"/>
                </a:solidFill>
                <a:latin typeface="Microsoft YaHei" panose="020B0503020204020204" pitchFamily="34" charset="-122"/>
                <a:ea typeface="微软雅黑" panose="020B0503020204020204" pitchFamily="34" charset="-122"/>
              </a:rPr>
              <a:t>MDM</a:t>
            </a:r>
            <a:r>
              <a:rPr lang="zh-CN" altLang="en-US" sz="1600">
                <a:solidFill>
                  <a:srgbClr val="2F6096"/>
                </a:solidFill>
                <a:latin typeface="Microsoft YaHei" panose="020B0503020204020204" pitchFamily="34" charset="-122"/>
                <a:ea typeface="微软雅黑" panose="020B0503020204020204" pitchFamily="34" charset="-122"/>
              </a:rPr>
              <a:t>使尺度伪估计尽量一致；现有来源未确认它直接继承</a:t>
            </a:r>
            <a:r>
              <a:rPr lang="en-US" altLang="zh-CN" sz="1600">
                <a:solidFill>
                  <a:srgbClr val="2F6096"/>
                </a:solidFill>
                <a:latin typeface="Microsoft YaHei" panose="020B0503020204020204" pitchFamily="34" charset="-122"/>
                <a:ea typeface="微软雅黑" panose="020B0503020204020204" pitchFamily="34" charset="-122"/>
              </a:rPr>
              <a:t>MPS</a:t>
            </a:r>
            <a:r>
              <a:rPr lang="zh-CN" altLang="en-US" sz="1600">
                <a:solidFill>
                  <a:srgbClr val="2F6096"/>
                </a:solidFill>
                <a:latin typeface="Microsoft YaHei" panose="020B0503020204020204" pitchFamily="34" charset="-122"/>
                <a:ea typeface="微软雅黑" panose="020B0503020204020204" pitchFamily="34" charset="-122"/>
              </a:rPr>
              <a:t>或某个</a:t>
            </a:r>
            <a:r>
              <a:rPr lang="en-US" altLang="zh-CN" sz="1600">
                <a:solidFill>
                  <a:srgbClr val="2F6096"/>
                </a:solidFill>
                <a:latin typeface="Microsoft YaHei" panose="020B0503020204020204" pitchFamily="34" charset="-122"/>
                <a:ea typeface="微软雅黑" panose="020B0503020204020204" pitchFamily="34" charset="-122"/>
              </a:rPr>
              <a:t>LS</a:t>
            </a:r>
            <a:r>
              <a:rPr lang="zh-CN" altLang="en-US" sz="1600">
                <a:solidFill>
                  <a:srgbClr val="2F6096"/>
                </a:solidFill>
                <a:latin typeface="Microsoft YaHei" panose="020B0503020204020204" pitchFamily="34" charset="-122"/>
                <a:ea typeface="微软雅黑" panose="020B0503020204020204" pitchFamily="34" charset="-122"/>
              </a:rPr>
              <a:t>版本。</a:t>
            </a:r>
          </a:p>
        </p:txBody>
      </p:sp>
      <p:sp>
        <p:nvSpPr>
          <p:cNvPr id="23" name="panel-citations">
            <a:extLst>
              <a:ext uri="{FF2B5EF4-FFF2-40B4-BE49-F238E27FC236}">
                <a16:creationId xmlns:a16="http://schemas.microsoft.com/office/drawing/2014/main" id="{3F542315-CAB6-4DC0-0C5C-79FDA95058C1}"/>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PWM</a:t>
            </a:r>
            <a:r>
              <a:rPr lang="zh-CN" altLang="en-US" sz="1000">
                <a:solidFill>
                  <a:srgbClr val="787878"/>
                </a:solidFill>
                <a:latin typeface="Microsoft YaHei" panose="020B0503020204020204" pitchFamily="34" charset="-122"/>
                <a:ea typeface="微软雅黑" panose="020B0503020204020204" pitchFamily="34" charset="-122"/>
              </a:rPr>
              <a:t>与</a:t>
            </a:r>
            <a:r>
              <a:rPr lang="en-US" altLang="zh-CN" sz="1000">
                <a:solidFill>
                  <a:srgbClr val="787878"/>
                </a:solidFill>
                <a:latin typeface="Microsoft YaHei" panose="020B0503020204020204" pitchFamily="34" charset="-122"/>
                <a:ea typeface="微软雅黑" panose="020B0503020204020204" pitchFamily="34" charset="-122"/>
              </a:rPr>
              <a:t>L</a:t>
            </a:r>
            <a:r>
              <a:rPr lang="zh-CN" altLang="en-US" sz="1000">
                <a:solidFill>
                  <a:srgbClr val="787878"/>
                </a:solidFill>
                <a:latin typeface="Microsoft YaHei" panose="020B0503020204020204" pitchFamily="34" charset="-122"/>
                <a:ea typeface="微软雅黑" panose="020B0503020204020204" pitchFamily="34" charset="-122"/>
              </a:rPr>
              <a:t>矩来源见报告</a:t>
            </a:r>
            <a:r>
              <a:rPr lang="en-US" altLang="zh-CN" sz="1000">
                <a:solidFill>
                  <a:srgbClr val="787878"/>
                </a:solidFill>
                <a:latin typeface="Microsoft YaHei" panose="020B0503020204020204" pitchFamily="34" charset="-122"/>
                <a:ea typeface="微软雅黑" panose="020B0503020204020204" pitchFamily="34" charset="-122"/>
              </a:rPr>
              <a:t>1.4</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MPS [182-116]</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MDM [182-030]</a:t>
            </a:r>
            <a:r>
              <a:rPr lang="zh-CN" altLang="en-US" sz="1000">
                <a:solidFill>
                  <a:srgbClr val="787878"/>
                </a:solidFill>
                <a:latin typeface="Microsoft YaHei" panose="020B0503020204020204" pitchFamily="34" charset="-122"/>
                <a:ea typeface="微软雅黑" panose="020B0503020204020204" pitchFamily="34" charset="-122"/>
              </a:rPr>
              <a:t>。虚线表示替代方案，不表示直接继承。</a:t>
            </a:r>
          </a:p>
        </p:txBody>
      </p:sp>
      <p:cxnSp>
        <p:nvCxnSpPr>
          <p:cNvPr id="24" name="fig1-edge9-1">
            <a:extLst>
              <a:ext uri="{FF2B5EF4-FFF2-40B4-BE49-F238E27FC236}">
                <a16:creationId xmlns:a16="http://schemas.microsoft.com/office/drawing/2014/main" id="{5AD1389F-87BD-7CBD-4E4F-EFCD6267C1A4}"/>
              </a:ext>
            </a:extLst>
          </p:cNvPr>
          <p:cNvCxnSpPr/>
          <p:nvPr/>
        </p:nvCxnSpPr>
        <p:spPr>
          <a:xfrm>
            <a:off x="4178300" y="26162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25" name="fig1-edge10-1">
            <a:extLst>
              <a:ext uri="{FF2B5EF4-FFF2-40B4-BE49-F238E27FC236}">
                <a16:creationId xmlns:a16="http://schemas.microsoft.com/office/drawing/2014/main" id="{A715074C-1841-F380-A20A-8A800110A0C6}"/>
              </a:ext>
            </a:extLst>
          </p:cNvPr>
          <p:cNvCxnSpPr/>
          <p:nvPr/>
        </p:nvCxnSpPr>
        <p:spPr>
          <a:xfrm>
            <a:off x="4178300" y="3784600"/>
            <a:ext cx="34925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6" name="fig1-edge11-1">
            <a:extLst>
              <a:ext uri="{FF2B5EF4-FFF2-40B4-BE49-F238E27FC236}">
                <a16:creationId xmlns:a16="http://schemas.microsoft.com/office/drawing/2014/main" id="{EA4D0D7C-5E07-EAE9-939D-17D823644F7E}"/>
              </a:ext>
            </a:extLst>
          </p:cNvPr>
          <p:cNvCxnSpPr/>
          <p:nvPr/>
        </p:nvCxnSpPr>
        <p:spPr>
          <a:xfrm>
            <a:off x="4178300" y="49530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319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D  </a:t>
            </a:r>
            <a:r>
              <a:rPr lang="zh-CN" altLang="en-US" sz="2400" b="1" spc="-150">
                <a:solidFill>
                  <a:srgbClr val="FFFFFF"/>
                </a:solidFill>
                <a:latin typeface="汉仪文润宋韵 U"/>
                <a:ea typeface="汉仪文润宋韵 U"/>
                <a:cs typeface="汉仪文润宋韵 U"/>
              </a:rPr>
              <a:t>组合与学习：相同困难，也可以采用不同构造</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E0A9E155-D276-0264-E48F-FD2B097FE8C3}"/>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组合已有统计关系、变换观测统计量，或直接学习参数映射，都形成了新的构造。</a:t>
            </a:r>
          </a:p>
        </p:txBody>
      </p:sp>
      <p:sp>
        <p:nvSpPr>
          <p:cNvPr id="18" name="fig1-min">
            <a:extLst>
              <a:ext uri="{FF2B5EF4-FFF2-40B4-BE49-F238E27FC236}">
                <a16:creationId xmlns:a16="http://schemas.microsoft.com/office/drawing/2014/main" id="{F4A32D05-D5F8-C7FA-7B79-CBBC460EAB28}"/>
              </a:ext>
            </a:extLst>
          </p:cNvPr>
          <p:cNvSpPr/>
          <p:nvPr/>
        </p:nvSpPr>
        <p:spPr>
          <a:xfrm>
            <a:off x="622300" y="2590800"/>
            <a:ext cx="3302000" cy="8509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zh-CN" altLang="en-US" sz="1600">
                <a:solidFill>
                  <a:srgbClr val="203040"/>
                </a:solidFill>
                <a:latin typeface="Microsoft YaHei" panose="020B0503020204020204" pitchFamily="34" charset="-122"/>
                <a:ea typeface="微软雅黑" panose="020B0503020204020204" pitchFamily="34" charset="-122"/>
              </a:rPr>
              <a:t>最小次序统计量与位置的关系</a:t>
            </a:r>
          </a:p>
        </p:txBody>
      </p:sp>
      <p:sp>
        <p:nvSpPr>
          <p:cNvPr id="19" name="fig1-sam23">
            <a:extLst>
              <a:ext uri="{FF2B5EF4-FFF2-40B4-BE49-F238E27FC236}">
                <a16:creationId xmlns:a16="http://schemas.microsoft.com/office/drawing/2014/main" id="{BE82563B-4C8F-E061-6E42-A8ABD30827F2}"/>
              </a:ext>
            </a:extLst>
          </p:cNvPr>
          <p:cNvSpPr/>
          <p:nvPr/>
        </p:nvSpPr>
        <p:spPr>
          <a:xfrm>
            <a:off x="7861300" y="21590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SAM </a:t>
            </a:r>
            <a:r>
              <a:rPr lang="zh-CN" altLang="en-US" sz="1600">
                <a:solidFill>
                  <a:srgbClr val="203040"/>
                </a:solidFill>
                <a:latin typeface="Microsoft YaHei" panose="020B0503020204020204" pitchFamily="34" charset="-122"/>
                <a:ea typeface="微软雅黑" panose="020B0503020204020204" pitchFamily="34" charset="-122"/>
              </a:rPr>
              <a:t>逐次逼近法</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Guo</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2023</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0" name="fig1-sam24">
            <a:extLst>
              <a:ext uri="{FF2B5EF4-FFF2-40B4-BE49-F238E27FC236}">
                <a16:creationId xmlns:a16="http://schemas.microsoft.com/office/drawing/2014/main" id="{6BDEA08A-AC64-B334-F1A0-C09DDFD52B98}"/>
              </a:ext>
            </a:extLst>
          </p:cNvPr>
          <p:cNvSpPr/>
          <p:nvPr/>
        </p:nvSpPr>
        <p:spPr>
          <a:xfrm>
            <a:off x="7861300" y="30988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PM </a:t>
            </a:r>
            <a:r>
              <a:rPr lang="zh-CN" altLang="en-US" sz="1600">
                <a:solidFill>
                  <a:srgbClr val="203040"/>
                </a:solidFill>
                <a:latin typeface="Microsoft YaHei" panose="020B0503020204020204" pitchFamily="34" charset="-122"/>
                <a:ea typeface="微软雅黑" panose="020B0503020204020204" pitchFamily="34" charset="-122"/>
              </a:rPr>
              <a:t>逐次逼近构造</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Guo</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2024</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1" name="fig1-nonregular">
            <a:extLst>
              <a:ext uri="{FF2B5EF4-FFF2-40B4-BE49-F238E27FC236}">
                <a16:creationId xmlns:a16="http://schemas.microsoft.com/office/drawing/2014/main" id="{560B9E70-1AC3-C43F-A90D-F5B4328F693A}"/>
              </a:ext>
            </a:extLst>
          </p:cNvPr>
          <p:cNvSpPr/>
          <p:nvPr/>
        </p:nvSpPr>
        <p:spPr>
          <a:xfrm>
            <a:off x="622300" y="41021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zh-CN" altLang="en-US" sz="1600">
                <a:solidFill>
                  <a:srgbClr val="203040"/>
                </a:solidFill>
                <a:latin typeface="Microsoft YaHei" panose="020B0503020204020204" pitchFamily="34" charset="-122"/>
                <a:ea typeface="微软雅黑" panose="020B0503020204020204" pitchFamily="34" charset="-122"/>
              </a:rPr>
              <a:t>未知位置导致非正规似然</a:t>
            </a:r>
          </a:p>
        </p:txBody>
      </p:sp>
      <p:sp>
        <p:nvSpPr>
          <p:cNvPr id="22" name="fig1-naga">
            <a:extLst>
              <a:ext uri="{FF2B5EF4-FFF2-40B4-BE49-F238E27FC236}">
                <a16:creationId xmlns:a16="http://schemas.microsoft.com/office/drawing/2014/main" id="{7E8E9B17-1FC5-F3DB-FBAE-F24B11FEC65F}"/>
              </a:ext>
            </a:extLst>
          </p:cNvPr>
          <p:cNvSpPr/>
          <p:nvPr/>
        </p:nvSpPr>
        <p:spPr>
          <a:xfrm>
            <a:off x="7861300" y="4102100"/>
            <a:ext cx="3683000" cy="6604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LSPF </a:t>
            </a:r>
            <a:r>
              <a:rPr lang="zh-CN" altLang="en-US" sz="1600">
                <a:solidFill>
                  <a:srgbClr val="203040"/>
                </a:solidFill>
                <a:latin typeface="Microsoft YaHei" panose="020B0503020204020204" pitchFamily="34" charset="-122"/>
                <a:ea typeface="微软雅黑" panose="020B0503020204020204" pitchFamily="34" charset="-122"/>
              </a:rPr>
              <a:t>变换统计量似然估计</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Nagatsuka</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2013</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3" name="fig1-training">
            <a:extLst>
              <a:ext uri="{FF2B5EF4-FFF2-40B4-BE49-F238E27FC236}">
                <a16:creationId xmlns:a16="http://schemas.microsoft.com/office/drawing/2014/main" id="{EBA49D2F-16EA-1703-B109-F4D4D139E299}"/>
              </a:ext>
            </a:extLst>
          </p:cNvPr>
          <p:cNvSpPr/>
          <p:nvPr/>
        </p:nvSpPr>
        <p:spPr>
          <a:xfrm>
            <a:off x="622300" y="50292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zh-CN" altLang="en-US" sz="1600">
                <a:solidFill>
                  <a:srgbClr val="203040"/>
                </a:solidFill>
                <a:latin typeface="Microsoft YaHei" panose="020B0503020204020204" pitchFamily="34" charset="-122"/>
                <a:ea typeface="微软雅黑" panose="020B0503020204020204" pitchFamily="34" charset="-122"/>
              </a:rPr>
              <a:t>模拟样本特征＋参数标签</a:t>
            </a:r>
          </a:p>
        </p:txBody>
      </p:sp>
      <p:sp>
        <p:nvSpPr>
          <p:cNvPr id="24" name="fig1-bpnn">
            <a:extLst>
              <a:ext uri="{FF2B5EF4-FFF2-40B4-BE49-F238E27FC236}">
                <a16:creationId xmlns:a16="http://schemas.microsoft.com/office/drawing/2014/main" id="{0B37021B-D1A8-75B7-B97F-ACE95A3AA458}"/>
              </a:ext>
            </a:extLst>
          </p:cNvPr>
          <p:cNvSpPr/>
          <p:nvPr/>
        </p:nvSpPr>
        <p:spPr>
          <a:xfrm>
            <a:off x="7861300" y="5029200"/>
            <a:ext cx="3683000" cy="660400"/>
          </a:xfrm>
          <a:prstGeom prst="roundRect">
            <a:avLst>
              <a:gd name="adj" fmla="val 7000"/>
            </a:avLst>
          </a:prstGeom>
          <a:solidFill>
            <a:srgbClr val="E5F1E3"/>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BPNN </a:t>
            </a:r>
            <a:r>
              <a:rPr lang="zh-CN" altLang="en-US" sz="1600">
                <a:solidFill>
                  <a:srgbClr val="203040"/>
                </a:solidFill>
                <a:latin typeface="Microsoft YaHei" panose="020B0503020204020204" pitchFamily="34" charset="-122"/>
                <a:ea typeface="微软雅黑" panose="020B0503020204020204" pitchFamily="34" charset="-122"/>
              </a:rPr>
              <a:t>神经网络参数估计</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Yang</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2025</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5" name="fig1-text_edge12">
            <a:extLst>
              <a:ext uri="{FF2B5EF4-FFF2-40B4-BE49-F238E27FC236}">
                <a16:creationId xmlns:a16="http://schemas.microsoft.com/office/drawing/2014/main" id="{A39D4504-6D3C-4F45-604D-8FA9DCA9E3AE}"/>
              </a:ext>
            </a:extLst>
          </p:cNvPr>
          <p:cNvSpPr txBox="1"/>
          <p:nvPr/>
        </p:nvSpPr>
        <p:spPr>
          <a:xfrm>
            <a:off x="4508500" y="19685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极小样本位置估计</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期望修正与回归更新</a:t>
            </a:r>
          </a:p>
        </p:txBody>
      </p:sp>
      <p:sp>
        <p:nvSpPr>
          <p:cNvPr id="26" name="fig1-text_edge13">
            <a:extLst>
              <a:ext uri="{FF2B5EF4-FFF2-40B4-BE49-F238E27FC236}">
                <a16:creationId xmlns:a16="http://schemas.microsoft.com/office/drawing/2014/main" id="{9D252892-336F-E75F-64E6-39939F60DFA7}"/>
              </a:ext>
            </a:extLst>
          </p:cNvPr>
          <p:cNvSpPr txBox="1"/>
          <p:nvPr/>
        </p:nvSpPr>
        <p:spPr>
          <a:xfrm>
            <a:off x="4508500" y="29083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位置与区间推断</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分位数修正与似然更新</a:t>
            </a:r>
          </a:p>
        </p:txBody>
      </p:sp>
      <p:sp>
        <p:nvSpPr>
          <p:cNvPr id="27" name="fig1-text_edge14">
            <a:extLst>
              <a:ext uri="{FF2B5EF4-FFF2-40B4-BE49-F238E27FC236}">
                <a16:creationId xmlns:a16="http://schemas.microsoft.com/office/drawing/2014/main" id="{0413E637-A378-6B9B-23CC-3A26256D0E1E}"/>
              </a:ext>
            </a:extLst>
          </p:cNvPr>
          <p:cNvSpPr txBox="1"/>
          <p:nvPr/>
        </p:nvSpPr>
        <p:spPr>
          <a:xfrm>
            <a:off x="4508500" y="38862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处理存在性与唯一性</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变换后估计形状</a:t>
            </a:r>
          </a:p>
        </p:txBody>
      </p:sp>
      <p:sp>
        <p:nvSpPr>
          <p:cNvPr id="28" name="fig1-text_edge15">
            <a:extLst>
              <a:ext uri="{FF2B5EF4-FFF2-40B4-BE49-F238E27FC236}">
                <a16:creationId xmlns:a16="http://schemas.microsoft.com/office/drawing/2014/main" id="{BCDBD5C7-EF55-AAAB-F0B7-7791DE34D102}"/>
              </a:ext>
            </a:extLst>
          </p:cNvPr>
          <p:cNvSpPr txBox="1"/>
          <p:nvPr/>
        </p:nvSpPr>
        <p:spPr>
          <a:xfrm>
            <a:off x="4508500" y="48133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小样本估计</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学习特征到参数映射</a:t>
            </a:r>
          </a:p>
        </p:txBody>
      </p:sp>
      <p:sp>
        <p:nvSpPr>
          <p:cNvPr id="29" name="panel-description">
            <a:extLst>
              <a:ext uri="{FF2B5EF4-FFF2-40B4-BE49-F238E27FC236}">
                <a16:creationId xmlns:a16="http://schemas.microsoft.com/office/drawing/2014/main" id="{638B9803-B925-A14B-CFEE-AC8D91CE32BB}"/>
              </a:ext>
            </a:extLst>
          </p:cNvPr>
          <p:cNvSpPr txBox="1"/>
          <p:nvPr/>
        </p:nvSpPr>
        <p:spPr>
          <a:xfrm>
            <a:off x="622300" y="5880100"/>
            <a:ext cx="10922000" cy="609600"/>
          </a:xfrm>
          <a:prstGeom prst="rect">
            <a:avLst/>
          </a:prstGeom>
          <a:noFill/>
        </p:spPr>
        <p:txBody>
          <a:bodyPr vert="horz" wrap="square" lIns="38100" tIns="0" rIns="38100" bIns="0" rtlCol="0" anchor="t">
            <a:noAutofit/>
          </a:bodyPr>
          <a:lstStyle/>
          <a:p>
            <a:pPr>
              <a:lnSpc>
                <a:spcPts val="1652"/>
              </a:lnSpc>
            </a:pPr>
            <a:r>
              <a:rPr lang="en-US" altLang="zh-CN" sz="1400">
                <a:solidFill>
                  <a:srgbClr val="2F6096"/>
                </a:solidFill>
                <a:latin typeface="Microsoft YaHei" panose="020B0503020204020204" pitchFamily="34" charset="-122"/>
                <a:ea typeface="微软雅黑" panose="020B0503020204020204" pitchFamily="34" charset="-122"/>
              </a:rPr>
              <a:t>SAM</a:t>
            </a:r>
            <a:r>
              <a:rPr lang="zh-CN" altLang="en-US" sz="1400">
                <a:solidFill>
                  <a:srgbClr val="2F6096"/>
                </a:solidFill>
                <a:latin typeface="Microsoft YaHei" panose="020B0503020204020204" pitchFamily="34" charset="-122"/>
                <a:ea typeface="微软雅黑" panose="020B0503020204020204" pitchFamily="34" charset="-122"/>
              </a:rPr>
              <a:t>用最小值期望结合回归，</a:t>
            </a:r>
            <a:r>
              <a:rPr lang="en-US" altLang="zh-CN" sz="1400">
                <a:solidFill>
                  <a:srgbClr val="2F6096"/>
                </a:solidFill>
                <a:latin typeface="Microsoft YaHei" panose="020B0503020204020204" pitchFamily="34" charset="-122"/>
                <a:ea typeface="微软雅黑" panose="020B0503020204020204" pitchFamily="34" charset="-122"/>
              </a:rPr>
              <a:t>PM</a:t>
            </a:r>
            <a:r>
              <a:rPr lang="zh-CN" altLang="en-US" sz="1400">
                <a:solidFill>
                  <a:srgbClr val="2F6096"/>
                </a:solidFill>
                <a:latin typeface="Microsoft YaHei" panose="020B0503020204020204" pitchFamily="34" charset="-122"/>
                <a:ea typeface="微软雅黑" panose="020B0503020204020204" pitchFamily="34" charset="-122"/>
              </a:rPr>
              <a:t>用最小值中位数结合条件似然，未确认直接升级关系。</a:t>
            </a:r>
          </a:p>
          <a:p>
            <a:pPr>
              <a:lnSpc>
                <a:spcPts val="1652"/>
              </a:lnSpc>
            </a:pPr>
            <a:r>
              <a:rPr lang="en-US" altLang="zh-CN" sz="1400">
                <a:solidFill>
                  <a:srgbClr val="2F6096"/>
                </a:solidFill>
                <a:latin typeface="Microsoft YaHei" panose="020B0503020204020204" pitchFamily="34" charset="-122"/>
                <a:ea typeface="微软雅黑" panose="020B0503020204020204" pitchFamily="34" charset="-122"/>
              </a:rPr>
              <a:t>LSPF</a:t>
            </a:r>
            <a:r>
              <a:rPr lang="zh-CN" altLang="en-US" sz="1400">
                <a:solidFill>
                  <a:srgbClr val="2F6096"/>
                </a:solidFill>
                <a:latin typeface="Microsoft YaHei" panose="020B0503020204020204" pitchFamily="34" charset="-122"/>
                <a:ea typeface="微软雅黑" panose="020B0503020204020204" pitchFamily="34" charset="-122"/>
              </a:rPr>
              <a:t>通过变换统计量构造似然；</a:t>
            </a:r>
            <a:r>
              <a:rPr lang="en-US" altLang="zh-CN" sz="1400">
                <a:solidFill>
                  <a:srgbClr val="2F6096"/>
                </a:solidFill>
                <a:latin typeface="Microsoft YaHei" panose="020B0503020204020204" pitchFamily="34" charset="-122"/>
                <a:ea typeface="微软雅黑" panose="020B0503020204020204" pitchFamily="34" charset="-122"/>
              </a:rPr>
              <a:t>BPNN</a:t>
            </a:r>
            <a:r>
              <a:rPr lang="zh-CN" altLang="en-US" sz="1400">
                <a:solidFill>
                  <a:srgbClr val="2F6096"/>
                </a:solidFill>
                <a:latin typeface="Microsoft YaHei" panose="020B0503020204020204" pitchFamily="34" charset="-122"/>
                <a:ea typeface="微软雅黑" panose="020B0503020204020204" pitchFamily="34" charset="-122"/>
              </a:rPr>
              <a:t>直接学习样本特征到参数的映射。</a:t>
            </a:r>
          </a:p>
        </p:txBody>
      </p:sp>
      <p:sp>
        <p:nvSpPr>
          <p:cNvPr id="30" name="panel-citations">
            <a:extLst>
              <a:ext uri="{FF2B5EF4-FFF2-40B4-BE49-F238E27FC236}">
                <a16:creationId xmlns:a16="http://schemas.microsoft.com/office/drawing/2014/main" id="{FFF163E1-9DEA-A44C-8F7B-54741DC29B7F}"/>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SAM [185-005]</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PM [182-117]</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LSPF [182-113]</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BPNN [184-009]</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BPNN</a:t>
            </a:r>
            <a:r>
              <a:rPr lang="zh-CN" altLang="en-US" sz="1000">
                <a:solidFill>
                  <a:srgbClr val="787878"/>
                </a:solidFill>
                <a:latin typeface="Microsoft YaHei" panose="020B0503020204020204" pitchFamily="34" charset="-122"/>
                <a:ea typeface="微软雅黑" panose="020B0503020204020204" pitchFamily="34" charset="-122"/>
              </a:rPr>
              <a:t>是近期实例，不是该路线起点。</a:t>
            </a:r>
          </a:p>
        </p:txBody>
      </p:sp>
      <p:cxnSp>
        <p:nvCxnSpPr>
          <p:cNvPr id="31" name="fig1-edge12-1">
            <a:extLst>
              <a:ext uri="{FF2B5EF4-FFF2-40B4-BE49-F238E27FC236}">
                <a16:creationId xmlns:a16="http://schemas.microsoft.com/office/drawing/2014/main" id="{C43000A4-4BBA-8AF9-B420-2FE2EFCAD6A6}"/>
              </a:ext>
            </a:extLst>
          </p:cNvPr>
          <p:cNvCxnSpPr/>
          <p:nvPr/>
        </p:nvCxnSpPr>
        <p:spPr>
          <a:xfrm>
            <a:off x="3924300" y="28067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2" name="fig1-edge12-2">
            <a:extLst>
              <a:ext uri="{FF2B5EF4-FFF2-40B4-BE49-F238E27FC236}">
                <a16:creationId xmlns:a16="http://schemas.microsoft.com/office/drawing/2014/main" id="{A86C2BDC-9E2E-9142-57ED-D5C8F49F88C0}"/>
              </a:ext>
            </a:extLst>
          </p:cNvPr>
          <p:cNvCxnSpPr/>
          <p:nvPr/>
        </p:nvCxnSpPr>
        <p:spPr>
          <a:xfrm flipV="1">
            <a:off x="4254500" y="2514600"/>
            <a:ext cx="0" cy="292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3" name="fig1-edge12-3">
            <a:extLst>
              <a:ext uri="{FF2B5EF4-FFF2-40B4-BE49-F238E27FC236}">
                <a16:creationId xmlns:a16="http://schemas.microsoft.com/office/drawing/2014/main" id="{08DBE442-C876-282F-0F63-E3D4685E02C6}"/>
              </a:ext>
            </a:extLst>
          </p:cNvPr>
          <p:cNvCxnSpPr/>
          <p:nvPr/>
        </p:nvCxnSpPr>
        <p:spPr>
          <a:xfrm>
            <a:off x="4254500" y="25146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4" name="fig1-edge13-1">
            <a:extLst>
              <a:ext uri="{FF2B5EF4-FFF2-40B4-BE49-F238E27FC236}">
                <a16:creationId xmlns:a16="http://schemas.microsoft.com/office/drawing/2014/main" id="{5BE36C92-ABE0-6628-E4ED-28F7C22B8D27}"/>
              </a:ext>
            </a:extLst>
          </p:cNvPr>
          <p:cNvCxnSpPr/>
          <p:nvPr/>
        </p:nvCxnSpPr>
        <p:spPr>
          <a:xfrm>
            <a:off x="3924300" y="32258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5" name="fig1-edge13-2">
            <a:extLst>
              <a:ext uri="{FF2B5EF4-FFF2-40B4-BE49-F238E27FC236}">
                <a16:creationId xmlns:a16="http://schemas.microsoft.com/office/drawing/2014/main" id="{C1CD9B4B-9EAE-0F67-2859-81A71C5BE4F0}"/>
              </a:ext>
            </a:extLst>
          </p:cNvPr>
          <p:cNvCxnSpPr/>
          <p:nvPr/>
        </p:nvCxnSpPr>
        <p:spPr>
          <a:xfrm>
            <a:off x="4254500" y="3225800"/>
            <a:ext cx="0" cy="2286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6" name="fig1-edge13-3">
            <a:extLst>
              <a:ext uri="{FF2B5EF4-FFF2-40B4-BE49-F238E27FC236}">
                <a16:creationId xmlns:a16="http://schemas.microsoft.com/office/drawing/2014/main" id="{B9B90A39-1106-41CC-5A16-8FB82CDA41CE}"/>
              </a:ext>
            </a:extLst>
          </p:cNvPr>
          <p:cNvCxnSpPr/>
          <p:nvPr/>
        </p:nvCxnSpPr>
        <p:spPr>
          <a:xfrm>
            <a:off x="4254500" y="34544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7" name="fig1-edge14-1">
            <a:extLst>
              <a:ext uri="{FF2B5EF4-FFF2-40B4-BE49-F238E27FC236}">
                <a16:creationId xmlns:a16="http://schemas.microsoft.com/office/drawing/2014/main" id="{4380E5B5-8418-350E-89D0-B4C747391022}"/>
              </a:ext>
            </a:extLst>
          </p:cNvPr>
          <p:cNvCxnSpPr/>
          <p:nvPr/>
        </p:nvCxnSpPr>
        <p:spPr>
          <a:xfrm>
            <a:off x="3924300" y="4432300"/>
            <a:ext cx="39370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8" name="fig1-edge15-1">
            <a:extLst>
              <a:ext uri="{FF2B5EF4-FFF2-40B4-BE49-F238E27FC236}">
                <a16:creationId xmlns:a16="http://schemas.microsoft.com/office/drawing/2014/main" id="{FAD6F345-CBBE-5077-11DF-1688510B3C2D}"/>
              </a:ext>
            </a:extLst>
          </p:cNvPr>
          <p:cNvCxnSpPr/>
          <p:nvPr/>
        </p:nvCxnSpPr>
        <p:spPr>
          <a:xfrm>
            <a:off x="3924300" y="5359400"/>
            <a:ext cx="3937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720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近期工作：改进层次与研究条件不同</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70FE6FF3-C7E8-DD81-6816-CD36888990A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近</a:t>
            </a:r>
            <a:r>
              <a:rPr lang="en-US" altLang="zh-CN">
                <a:solidFill>
                  <a:srgbClr val="2F6096"/>
                </a:solidFill>
                <a:latin typeface="Microsoft YaHei" panose="020B0503020204020204" pitchFamily="34" charset="-122"/>
                <a:ea typeface="微软雅黑" panose="020B0503020204020204" pitchFamily="34" charset="-122"/>
              </a:rPr>
              <a:t>10—20</a:t>
            </a:r>
            <a:r>
              <a:rPr lang="zh-CN" altLang="en-US">
                <a:solidFill>
                  <a:srgbClr val="2F6096"/>
                </a:solidFill>
                <a:latin typeface="Microsoft YaHei" panose="020B0503020204020204" pitchFamily="34" charset="-122"/>
                <a:ea typeface="微软雅黑" panose="020B0503020204020204" pitchFamily="34" charset="-122"/>
              </a:rPr>
              <a:t>年的新工作，并不都在同一任务下竞争。</a:t>
            </a:r>
          </a:p>
        </p:txBody>
      </p:sp>
      <p:sp>
        <p:nvSpPr>
          <p:cNvPr id="7" name="文本框 6">
            <a:extLst>
              <a:ext uri="{FF2B5EF4-FFF2-40B4-BE49-F238E27FC236}">
                <a16:creationId xmlns:a16="http://schemas.microsoft.com/office/drawing/2014/main" id="{1504D4E2-A117-82A7-4055-45AEF192AE6E}"/>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库内反复出现这些方向，但尚无年度统计证明全领域注意力已转移。</a:t>
            </a:r>
          </a:p>
        </p:txBody>
      </p:sp>
      <p:sp>
        <p:nvSpPr>
          <p:cNvPr id="9" name="文本框 8">
            <a:extLst>
              <a:ext uri="{FF2B5EF4-FFF2-40B4-BE49-F238E27FC236}">
                <a16:creationId xmlns:a16="http://schemas.microsoft.com/office/drawing/2014/main" id="{54E31587-3EF2-3708-8EA4-E4AE09E814B6}"/>
              </a:ext>
            </a:extLst>
          </p:cNvPr>
          <p:cNvSpPr txBox="1"/>
          <p:nvPr/>
        </p:nvSpPr>
        <p:spPr>
          <a:xfrm>
            <a:off x="622300" y="24765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改估计构造</a:t>
            </a:r>
          </a:p>
        </p:txBody>
      </p:sp>
      <p:sp>
        <p:nvSpPr>
          <p:cNvPr id="10" name="文本框 9">
            <a:extLst>
              <a:ext uri="{FF2B5EF4-FFF2-40B4-BE49-F238E27FC236}">
                <a16:creationId xmlns:a16="http://schemas.microsoft.com/office/drawing/2014/main" id="{30762B04-7DF6-2EE4-F31F-3DFCBE1C83B5}"/>
              </a:ext>
            </a:extLst>
          </p:cNvPr>
          <p:cNvSpPr txBox="1"/>
          <p:nvPr/>
        </p:nvSpPr>
        <p:spPr>
          <a:xfrm>
            <a:off x="2933700" y="24765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有限样本、位置和偏差：</a:t>
            </a:r>
            <a:r>
              <a:rPr lang="en-US" altLang="zh-CN" sz="1700" b="1">
                <a:solidFill>
                  <a:srgbClr val="2F6096"/>
                </a:solidFill>
                <a:latin typeface="Microsoft YaHei" panose="020B0503020204020204" pitchFamily="34" charset="-122"/>
                <a:ea typeface="微软雅黑" panose="020B0503020204020204" pitchFamily="34" charset="-122"/>
              </a:rPr>
              <a:t>WMLE</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Park</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SAM/PM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DMMLE</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14" name="文本框 13">
            <a:extLst>
              <a:ext uri="{FF2B5EF4-FFF2-40B4-BE49-F238E27FC236}">
                <a16:creationId xmlns:a16="http://schemas.microsoft.com/office/drawing/2014/main" id="{A996BDCF-4100-5E60-3EB4-9312AA225023}"/>
              </a:ext>
            </a:extLst>
          </p:cNvPr>
          <p:cNvSpPr txBox="1"/>
          <p:nvPr/>
        </p:nvSpPr>
        <p:spPr>
          <a:xfrm>
            <a:off x="2933700" y="29337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直接学习映射也属相关构造，要核训练范围与损失。</a:t>
            </a:r>
          </a:p>
        </p:txBody>
      </p:sp>
      <p:sp>
        <p:nvSpPr>
          <p:cNvPr id="15" name="文本框 14">
            <a:extLst>
              <a:ext uri="{FF2B5EF4-FFF2-40B4-BE49-F238E27FC236}">
                <a16:creationId xmlns:a16="http://schemas.microsoft.com/office/drawing/2014/main" id="{032AAE2C-08DC-94CE-0A17-746F62F0AB28}"/>
              </a:ext>
            </a:extLst>
          </p:cNvPr>
          <p:cNvSpPr txBox="1"/>
          <p:nvPr/>
        </p:nvSpPr>
        <p:spPr>
          <a:xfrm>
            <a:off x="622300" y="35941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改观测条件</a:t>
            </a:r>
          </a:p>
        </p:txBody>
      </p:sp>
      <p:sp>
        <p:nvSpPr>
          <p:cNvPr id="16" name="文本框 15">
            <a:extLst>
              <a:ext uri="{FF2B5EF4-FFF2-40B4-BE49-F238E27FC236}">
                <a16:creationId xmlns:a16="http://schemas.microsoft.com/office/drawing/2014/main" id="{05668768-2A2A-4E3B-2B78-A189DDC6BFB7}"/>
              </a:ext>
            </a:extLst>
          </p:cNvPr>
          <p:cNvSpPr txBox="1"/>
          <p:nvPr/>
        </p:nvSpPr>
        <p:spPr>
          <a:xfrm>
            <a:off x="2933700" y="35941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污染、删失等：</a:t>
            </a:r>
            <a:r>
              <a:rPr lang="en-US" altLang="zh-CN" sz="1700" b="1">
                <a:solidFill>
                  <a:srgbClr val="2F6096"/>
                </a:solidFill>
                <a:latin typeface="Microsoft YaHei" panose="020B0503020204020204" pitchFamily="34" charset="-122"/>
                <a:ea typeface="微软雅黑" panose="020B0503020204020204" pitchFamily="34" charset="-122"/>
              </a:rPr>
              <a:t>PITE [182-003]</a:t>
            </a:r>
            <a:r>
              <a:rPr lang="zh-CN" altLang="en-US" sz="1700" b="1">
                <a:solidFill>
                  <a:srgbClr val="2F6096"/>
                </a:solidFill>
                <a:latin typeface="Microsoft YaHei" panose="020B0503020204020204" pitchFamily="34" charset="-122"/>
                <a:ea typeface="微软雅黑" panose="020B0503020204020204" pitchFamily="34" charset="-122"/>
              </a:rPr>
              <a:t>、删失研究 </a:t>
            </a:r>
            <a:r>
              <a:rPr lang="en-US" altLang="zh-CN" sz="1700" b="1">
                <a:solidFill>
                  <a:srgbClr val="2F6096"/>
                </a:solidFill>
                <a:latin typeface="Microsoft YaHei" panose="020B0503020204020204" pitchFamily="34" charset="-122"/>
                <a:ea typeface="微软雅黑" panose="020B0503020204020204" pitchFamily="34" charset="-122"/>
              </a:rPr>
              <a:t>[182-114]</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17" name="文本框 16">
            <a:extLst>
              <a:ext uri="{FF2B5EF4-FFF2-40B4-BE49-F238E27FC236}">
                <a16:creationId xmlns:a16="http://schemas.microsoft.com/office/drawing/2014/main" id="{D829A61D-CFD6-9AA8-0B9F-514C376D83C6}"/>
              </a:ext>
            </a:extLst>
          </p:cNvPr>
          <p:cNvSpPr txBox="1"/>
          <p:nvPr/>
        </p:nvSpPr>
        <p:spPr>
          <a:xfrm>
            <a:off x="2933700" y="40513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与完整样本任务不同，特殊情境中的排名不能直接移用。</a:t>
            </a:r>
          </a:p>
        </p:txBody>
      </p:sp>
      <p:sp>
        <p:nvSpPr>
          <p:cNvPr id="18" name="文本框 17">
            <a:extLst>
              <a:ext uri="{FF2B5EF4-FFF2-40B4-BE49-F238E27FC236}">
                <a16:creationId xmlns:a16="http://schemas.microsoft.com/office/drawing/2014/main" id="{8D95A7F3-14D6-A065-D07F-43881FCB45B0}"/>
              </a:ext>
            </a:extLst>
          </p:cNvPr>
          <p:cNvSpPr txBox="1"/>
          <p:nvPr/>
        </p:nvSpPr>
        <p:spPr>
          <a:xfrm>
            <a:off x="622300" y="47117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改求解过程</a:t>
            </a:r>
          </a:p>
        </p:txBody>
      </p:sp>
      <p:sp>
        <p:nvSpPr>
          <p:cNvPr id="19" name="文本框 18">
            <a:extLst>
              <a:ext uri="{FF2B5EF4-FFF2-40B4-BE49-F238E27FC236}">
                <a16:creationId xmlns:a16="http://schemas.microsoft.com/office/drawing/2014/main" id="{5A457CEA-8DC3-A10C-8854-46FCE3CC0C15}"/>
              </a:ext>
            </a:extLst>
          </p:cNvPr>
          <p:cNvSpPr txBox="1"/>
          <p:nvPr/>
        </p:nvSpPr>
        <p:spPr>
          <a:xfrm>
            <a:off x="2933700" y="47117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保留统计目标，改善搜索：</a:t>
            </a:r>
            <a:r>
              <a:rPr lang="en-US" altLang="zh-CN" sz="1700" b="1">
                <a:solidFill>
                  <a:srgbClr val="2F6096"/>
                </a:solidFill>
                <a:latin typeface="Microsoft YaHei" panose="020B0503020204020204" pitchFamily="34" charset="-122"/>
                <a:ea typeface="微软雅黑" panose="020B0503020204020204" pitchFamily="34" charset="-122"/>
              </a:rPr>
              <a:t>ADGBO [187-001]</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PSO</a:t>
            </a:r>
            <a:r>
              <a:rPr lang="zh-CN" altLang="en-US" sz="1700" b="1">
                <a:solidFill>
                  <a:srgbClr val="2F6096"/>
                </a:solidFill>
                <a:latin typeface="Microsoft YaHei" panose="020B0503020204020204" pitchFamily="34" charset="-122"/>
                <a:ea typeface="微软雅黑" panose="020B0503020204020204" pitchFamily="34" charset="-122"/>
              </a:rPr>
              <a:t>等。</a:t>
            </a:r>
          </a:p>
        </p:txBody>
      </p:sp>
      <p:sp>
        <p:nvSpPr>
          <p:cNvPr id="20" name="文本框 19">
            <a:extLst>
              <a:ext uri="{FF2B5EF4-FFF2-40B4-BE49-F238E27FC236}">
                <a16:creationId xmlns:a16="http://schemas.microsoft.com/office/drawing/2014/main" id="{A264FA82-2916-7541-E4BD-51CCAEE83CA4}"/>
              </a:ext>
            </a:extLst>
          </p:cNvPr>
          <p:cNvSpPr txBox="1"/>
          <p:nvPr/>
        </p:nvSpPr>
        <p:spPr>
          <a:xfrm>
            <a:off x="2933700" y="51689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先核目标与约束，再判断是否属于</a:t>
            </a:r>
            <a:r>
              <a:rPr lang="en-US" altLang="zh-CN" sz="1700">
                <a:solidFill>
                  <a:srgbClr val="000000"/>
                </a:solidFill>
                <a:latin typeface="Microsoft YaHei" panose="020B0503020204020204" pitchFamily="34" charset="-122"/>
                <a:ea typeface="微软雅黑" panose="020B0503020204020204" pitchFamily="34" charset="-122"/>
              </a:rPr>
              <a:t>MLE</a:t>
            </a:r>
            <a:r>
              <a:rPr lang="zh-CN" altLang="en-US" sz="1700">
                <a:solidFill>
                  <a:srgbClr val="000000"/>
                </a:solidFill>
                <a:latin typeface="Microsoft YaHei"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615145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同任务候选：小样本研究与其他证据范围</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9BFDC1C8-AD64-77FF-B03A-016B42044838}"/>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候选范围应覆盖经典改进和近期构造，再看是否符合论文主张。</a:t>
            </a:r>
          </a:p>
        </p:txBody>
      </p:sp>
      <p:sp>
        <p:nvSpPr>
          <p:cNvPr id="7" name="文本框 6">
            <a:extLst>
              <a:ext uri="{FF2B5EF4-FFF2-40B4-BE49-F238E27FC236}">
                <a16:creationId xmlns:a16="http://schemas.microsoft.com/office/drawing/2014/main" id="{474448B6-AF41-2F1C-5EC2-84985A61FEEA}"/>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en-US" altLang="zh-CN" sz="1700" b="1">
                <a:solidFill>
                  <a:srgbClr val="2F6096"/>
                </a:solidFill>
                <a:latin typeface="Microsoft YaHei" panose="020B0503020204020204" pitchFamily="34" charset="-122"/>
                <a:ea typeface="微软雅黑" panose="020B0503020204020204" pitchFamily="34" charset="-122"/>
              </a:rPr>
              <a:t>MDM</a:t>
            </a:r>
            <a:r>
              <a:rPr lang="zh-CN" altLang="en-US" sz="1700" b="1">
                <a:solidFill>
                  <a:srgbClr val="2F6096"/>
                </a:solidFill>
                <a:latin typeface="Microsoft YaHei" panose="020B0503020204020204" pitchFamily="34" charset="-122"/>
                <a:ea typeface="微软雅黑" panose="020B0503020204020204" pitchFamily="34" charset="-122"/>
              </a:rPr>
              <a:t>已在第一章介绍；若研究其改进，原方法自然承担母方法角色。</a:t>
            </a:r>
          </a:p>
        </p:txBody>
      </p:sp>
      <p:graphicFrame>
        <p:nvGraphicFramePr>
          <p:cNvPr id="8" name="表格 7">
            <a:extLst>
              <a:ext uri="{FF2B5EF4-FFF2-40B4-BE49-F238E27FC236}">
                <a16:creationId xmlns:a16="http://schemas.microsoft.com/office/drawing/2014/main" id="{236645C6-A316-4398-EDD1-223691012294}"/>
              </a:ext>
            </a:extLst>
          </p:cNvPr>
          <p:cNvGraphicFramePr>
            <a:graphicFrameLocks noGrp="1"/>
          </p:cNvGraphicFramePr>
          <p:nvPr>
            <p:extLst>
              <p:ext uri="{D42A27DB-BD31-4B8C-83A1-F6EECF244321}">
                <p14:modId xmlns:p14="http://schemas.microsoft.com/office/powerpoint/2010/main" val="872652245"/>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106218217"/>
                    </a:ext>
                  </a:extLst>
                </a:gridCol>
                <a:gridCol w="4000500">
                  <a:extLst>
                    <a:ext uri="{9D8B030D-6E8A-4147-A177-3AD203B41FA5}">
                      <a16:colId xmlns:a16="http://schemas.microsoft.com/office/drawing/2014/main" val="596939627"/>
                    </a:ext>
                  </a:extLst>
                </a:gridCol>
                <a:gridCol w="3835400">
                  <a:extLst>
                    <a:ext uri="{9D8B030D-6E8A-4147-A177-3AD203B41FA5}">
                      <a16:colId xmlns:a16="http://schemas.microsoft.com/office/drawing/2014/main" val="3278027151"/>
                    </a:ext>
                  </a:extLst>
                </a:gridCol>
              </a:tblGrid>
              <a:tr h="471714">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方法与来源</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已核的任务或改进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需要保留的边界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149725635"/>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 2009 [182-088]</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权重版本和参数域要明确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020886443"/>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LSPF 2013 [182-113]</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存在性及变换统计量构造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可解性主张时提高优先级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487028360"/>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Park 2017 [182-115]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相关系数处理未知位置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区分</a:t>
                      </a:r>
                      <a:r>
                        <a:rPr lang="en-US" altLang="zh-CN" sz="1600" b="0">
                          <a:solidFill>
                            <a:srgbClr val="000000"/>
                          </a:solidFill>
                          <a:latin typeface="Microsoft YaHei" panose="020B0503020204020204" pitchFamily="34" charset="-122"/>
                          <a:ea typeface="微软雅黑" panose="020B0503020204020204" pitchFamily="34" charset="-122"/>
                        </a:rPr>
                        <a:t>Plot</a:t>
                      </a:r>
                      <a:r>
                        <a:rPr lang="zh-CN" altLang="en-US" sz="1600" b="0">
                          <a:solidFill>
                            <a:srgbClr val="000000"/>
                          </a:solidFill>
                          <a:latin typeface="Microsoft YaHei" panose="020B0503020204020204" pitchFamily="34" charset="-122"/>
                          <a:ea typeface="微软雅黑" panose="020B0503020204020204" pitchFamily="34" charset="-122"/>
                        </a:rPr>
                        <a:t>与</a:t>
                      </a:r>
                      <a:r>
                        <a:rPr lang="en-US" altLang="zh-CN" sz="1600" b="0">
                          <a:solidFill>
                            <a:srgbClr val="000000"/>
                          </a:solidFill>
                          <a:latin typeface="Microsoft YaHei" panose="020B0503020204020204" pitchFamily="34" charset="-122"/>
                          <a:ea typeface="微软雅黑" panose="020B0503020204020204" pitchFamily="34" charset="-122"/>
                        </a:rPr>
                        <a:t>MLE2</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42690487"/>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 PM [185-005/182-117]</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含</a:t>
                      </a:r>
                      <a:r>
                        <a:rPr lang="en-US" altLang="zh-CN" sz="1600" b="0">
                          <a:solidFill>
                            <a:srgbClr val="000000"/>
                          </a:solidFill>
                          <a:latin typeface="Microsoft YaHei" panose="020B0503020204020204" pitchFamily="34" charset="-122"/>
                          <a:ea typeface="微软雅黑" panose="020B0503020204020204" pitchFamily="34" charset="-122"/>
                        </a:rPr>
                        <a:t>n=5</a:t>
                      </a:r>
                      <a:r>
                        <a:rPr lang="zh-CN" altLang="en-US" sz="1600" b="0">
                          <a:solidFill>
                            <a:srgbClr val="000000"/>
                          </a:solidFill>
                          <a:latin typeface="Microsoft YaHei" panose="020B0503020204020204" pitchFamily="34" charset="-122"/>
                          <a:ea typeface="微软雅黑" panose="020B0503020204020204" pitchFamily="34" charset="-122"/>
                        </a:rPr>
                        <a:t>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两版不能共用公式或结果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870889167"/>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BPNN 2025 [184-009]</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覆盖</a:t>
                      </a:r>
                      <a:r>
                        <a:rPr lang="en-US" altLang="zh-CN" sz="1600" b="0">
                          <a:solidFill>
                            <a:srgbClr val="000000"/>
                          </a:solidFill>
                          <a:latin typeface="Microsoft YaHei" panose="020B0503020204020204" pitchFamily="34" charset="-122"/>
                          <a:ea typeface="微软雅黑" panose="020B0503020204020204" pitchFamily="34" charset="-122"/>
                        </a:rPr>
                        <a:t>n=5—20</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配置尚有缺口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72561720"/>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DMMLE 2025 [182-111]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修改似然后的得分修正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原模拟从</a:t>
                      </a:r>
                      <a:r>
                        <a:rPr lang="en-US" altLang="zh-CN" sz="1600" b="0">
                          <a:solidFill>
                            <a:srgbClr val="000000"/>
                          </a:solidFill>
                          <a:latin typeface="Microsoft YaHei" panose="020B0503020204020204" pitchFamily="34" charset="-122"/>
                          <a:ea typeface="微软雅黑" panose="020B0503020204020204" pitchFamily="34" charset="-122"/>
                        </a:rPr>
                        <a:t>n=50</a:t>
                      </a:r>
                      <a:r>
                        <a:rPr lang="zh-CN" altLang="en-US" sz="1600" b="0">
                          <a:solidFill>
                            <a:srgbClr val="000000"/>
                          </a:solidFill>
                          <a:latin typeface="Microsoft YaHei" panose="020B0503020204020204" pitchFamily="34" charset="-122"/>
                          <a:ea typeface="微软雅黑" panose="020B0503020204020204" pitchFamily="34" charset="-122"/>
                        </a:rPr>
                        <a:t>开始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995398368"/>
                  </a:ext>
                </a:extLst>
              </a:tr>
            </a:tbl>
          </a:graphicData>
        </a:graphic>
      </p:graphicFrame>
    </p:spTree>
    <p:extLst>
      <p:ext uri="{BB962C8B-B14F-4D97-AF65-F5344CB8AC3E}">
        <p14:creationId xmlns:p14="http://schemas.microsoft.com/office/powerpoint/2010/main" val="3234397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后续检验：采用事实与性能结论分开判断</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68FAD16C-FF77-D9F1-6C05-5700D966242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提出论文、后续采用和独立团队比较，提供的证据不同。</a:t>
            </a:r>
          </a:p>
        </p:txBody>
      </p:sp>
      <p:sp>
        <p:nvSpPr>
          <p:cNvPr id="7" name="文本框 6">
            <a:extLst>
              <a:ext uri="{FF2B5EF4-FFF2-40B4-BE49-F238E27FC236}">
                <a16:creationId xmlns:a16="http://schemas.microsoft.com/office/drawing/2014/main" id="{DCC67B17-9C19-19A4-658E-5F8CC76B584D}"/>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有相关近期候选；尚不能认定一个公认、全面最优的“最新方法”。</a:t>
            </a:r>
          </a:p>
        </p:txBody>
      </p:sp>
      <p:sp>
        <p:nvSpPr>
          <p:cNvPr id="9" name="文本框 8">
            <a:extLst>
              <a:ext uri="{FF2B5EF4-FFF2-40B4-BE49-F238E27FC236}">
                <a16:creationId xmlns:a16="http://schemas.microsoft.com/office/drawing/2014/main" id="{38626201-2AF1-74F3-FA32-57850C3117DF}"/>
              </a:ext>
            </a:extLst>
          </p:cNvPr>
          <p:cNvSpPr txBox="1"/>
          <p:nvPr/>
        </p:nvSpPr>
        <p:spPr>
          <a:xfrm>
            <a:off x="622300" y="2489200"/>
            <a:ext cx="4953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已有跨作者采用</a:t>
            </a:r>
          </a:p>
        </p:txBody>
      </p:sp>
      <p:sp>
        <p:nvSpPr>
          <p:cNvPr id="10" name="文本框 9">
            <a:extLst>
              <a:ext uri="{FF2B5EF4-FFF2-40B4-BE49-F238E27FC236}">
                <a16:creationId xmlns:a16="http://schemas.microsoft.com/office/drawing/2014/main" id="{7A796EF6-FE22-6F7B-DAAC-804831AFD736}"/>
              </a:ext>
            </a:extLst>
          </p:cNvPr>
          <p:cNvSpPr txBox="1"/>
          <p:nvPr/>
        </p:nvSpPr>
        <p:spPr>
          <a:xfrm>
            <a:off x="6426200" y="2489200"/>
            <a:ext cx="5080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独立确认仍有限</a:t>
            </a:r>
          </a:p>
        </p:txBody>
      </p:sp>
      <p:sp>
        <p:nvSpPr>
          <p:cNvPr id="14" name="文本框 13">
            <a:extLst>
              <a:ext uri="{FF2B5EF4-FFF2-40B4-BE49-F238E27FC236}">
                <a16:creationId xmlns:a16="http://schemas.microsoft.com/office/drawing/2014/main" id="{57CC98BA-FD9A-B8C5-CED5-42280AFA66E1}"/>
              </a:ext>
            </a:extLst>
          </p:cNvPr>
          <p:cNvSpPr txBox="1"/>
          <p:nvPr/>
        </p:nvSpPr>
        <p:spPr>
          <a:xfrm>
            <a:off x="622300" y="3098800"/>
            <a:ext cx="4953000" cy="12827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WMLE</a:t>
            </a:r>
          </a:p>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Nagatsuka</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2013</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Safari</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2025</a:t>
            </a:r>
            <a:r>
              <a:rPr lang="zh-CN" altLang="en-US" sz="1900">
                <a:solidFill>
                  <a:srgbClr val="000000"/>
                </a:solidFill>
                <a:latin typeface="Microsoft YaHei" panose="020B0503020204020204" pitchFamily="34" charset="-122"/>
                <a:ea typeface="微软雅黑" panose="020B0503020204020204" pitchFamily="34" charset="-122"/>
              </a:rPr>
              <a:t>）</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均纳入实际比较。</a:t>
            </a:r>
          </a:p>
        </p:txBody>
      </p:sp>
      <p:sp>
        <p:nvSpPr>
          <p:cNvPr id="15" name="文本框 14">
            <a:extLst>
              <a:ext uri="{FF2B5EF4-FFF2-40B4-BE49-F238E27FC236}">
                <a16:creationId xmlns:a16="http://schemas.microsoft.com/office/drawing/2014/main" id="{9FA1CEC5-8D34-6329-6FCB-5D6FE9EB7B66}"/>
              </a:ext>
            </a:extLst>
          </p:cNvPr>
          <p:cNvSpPr txBox="1"/>
          <p:nvPr/>
        </p:nvSpPr>
        <p:spPr>
          <a:xfrm>
            <a:off x="622300" y="4597400"/>
            <a:ext cx="4953000" cy="9652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Park</a:t>
            </a:r>
            <a:r>
              <a:rPr lang="zh-CN" altLang="en-US" sz="1900">
                <a:solidFill>
                  <a:srgbClr val="000000"/>
                </a:solidFill>
                <a:latin typeface="Microsoft YaHei" panose="020B0503020204020204" pitchFamily="34" charset="-122"/>
                <a:ea typeface="微软雅黑" panose="020B0503020204020204" pitchFamily="34" charset="-122"/>
              </a:rPr>
              <a:t>相关回归</a:t>
            </a:r>
          </a:p>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Wang</a:t>
            </a:r>
            <a:r>
              <a:rPr lang="zh-CN" altLang="en-US" sz="1900">
                <a:solidFill>
                  <a:srgbClr val="000000"/>
                </a:solidFill>
                <a:latin typeface="Microsoft YaHei" panose="020B0503020204020204" pitchFamily="34" charset="-122"/>
                <a:ea typeface="微软雅黑" panose="020B0503020204020204" pitchFamily="34" charset="-122"/>
              </a:rPr>
              <a:t>等 </a:t>
            </a:r>
            <a:r>
              <a:rPr lang="en-US" altLang="zh-CN" sz="1900">
                <a:solidFill>
                  <a:srgbClr val="000000"/>
                </a:solidFill>
                <a:latin typeface="Microsoft YaHei" panose="020B0503020204020204" pitchFamily="34" charset="-122"/>
                <a:ea typeface="微软雅黑" panose="020B0503020204020204" pitchFamily="34" charset="-122"/>
              </a:rPr>
              <a:t>[187-001]</a:t>
            </a:r>
            <a:r>
              <a:rPr lang="zh-CN" altLang="en-US" sz="1900">
                <a:solidFill>
                  <a:srgbClr val="000000"/>
                </a:solidFill>
                <a:latin typeface="Microsoft YaHei" panose="020B0503020204020204" pitchFamily="34" charset="-122"/>
                <a:ea typeface="微软雅黑" panose="020B0503020204020204" pitchFamily="34" charset="-122"/>
              </a:rPr>
              <a:t>介绍并比较。</a:t>
            </a:r>
          </a:p>
        </p:txBody>
      </p:sp>
      <p:sp>
        <p:nvSpPr>
          <p:cNvPr id="16" name="文本框 15">
            <a:extLst>
              <a:ext uri="{FF2B5EF4-FFF2-40B4-BE49-F238E27FC236}">
                <a16:creationId xmlns:a16="http://schemas.microsoft.com/office/drawing/2014/main" id="{8771CB35-9D6D-AC5D-F00F-FF8C0E65C414}"/>
              </a:ext>
            </a:extLst>
          </p:cNvPr>
          <p:cNvSpPr txBox="1"/>
          <p:nvPr/>
        </p:nvSpPr>
        <p:spPr>
          <a:xfrm>
            <a:off x="6426200" y="3098800"/>
            <a:ext cx="5080000" cy="9779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MDM</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部分后续比较与提出团队作者重合。</a:t>
            </a:r>
          </a:p>
        </p:txBody>
      </p:sp>
      <p:sp>
        <p:nvSpPr>
          <p:cNvPr id="17" name="文本框 16">
            <a:extLst>
              <a:ext uri="{FF2B5EF4-FFF2-40B4-BE49-F238E27FC236}">
                <a16:creationId xmlns:a16="http://schemas.microsoft.com/office/drawing/2014/main" id="{50275E3D-0943-869E-6274-43225AD68010}"/>
              </a:ext>
            </a:extLst>
          </p:cNvPr>
          <p:cNvSpPr txBox="1"/>
          <p:nvPr/>
        </p:nvSpPr>
        <p:spPr>
          <a:xfrm>
            <a:off x="6426200" y="4419600"/>
            <a:ext cx="5080000" cy="13081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SAM</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BPNN</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DMMLE</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已核提出论文中的比较；本次尚未</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确认充分的独立后续检验。</a:t>
            </a:r>
          </a:p>
        </p:txBody>
      </p:sp>
    </p:spTree>
    <p:extLst>
      <p:ext uri="{BB962C8B-B14F-4D97-AF65-F5344CB8AC3E}">
        <p14:creationId xmlns:p14="http://schemas.microsoft.com/office/powerpoint/2010/main" val="4152126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相近论文：常用参照与直接前身各有作用</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6A4905D9-126E-7C20-FFBB-4A61C0410080}"/>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先看别人实际与谁比，再形成我们的选择建议。</a:t>
            </a:r>
          </a:p>
        </p:txBody>
      </p:sp>
      <p:sp>
        <p:nvSpPr>
          <p:cNvPr id="7" name="文本框 6">
            <a:extLst>
              <a:ext uri="{FF2B5EF4-FFF2-40B4-BE49-F238E27FC236}">
                <a16:creationId xmlns:a16="http://schemas.microsoft.com/office/drawing/2014/main" id="{BF76769D-3F82-E47D-9A13-0A6944372FF5}"/>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可借鉴“共同参照＋近期近邻＋直接母方法”的组合，不按名称凑数量。</a:t>
            </a:r>
          </a:p>
        </p:txBody>
      </p:sp>
      <p:graphicFrame>
        <p:nvGraphicFramePr>
          <p:cNvPr id="8" name="表格 7">
            <a:extLst>
              <a:ext uri="{FF2B5EF4-FFF2-40B4-BE49-F238E27FC236}">
                <a16:creationId xmlns:a16="http://schemas.microsoft.com/office/drawing/2014/main" id="{58807F21-069D-AC16-568A-06FDE7C5058E}"/>
              </a:ext>
            </a:extLst>
          </p:cNvPr>
          <p:cNvGraphicFramePr>
            <a:graphicFrameLocks noGrp="1"/>
          </p:cNvGraphicFramePr>
          <p:nvPr>
            <p:extLst>
              <p:ext uri="{D42A27DB-BD31-4B8C-83A1-F6EECF244321}">
                <p14:modId xmlns:p14="http://schemas.microsoft.com/office/powerpoint/2010/main" val="587567561"/>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3195878985"/>
                    </a:ext>
                  </a:extLst>
                </a:gridCol>
                <a:gridCol w="4000500">
                  <a:extLst>
                    <a:ext uri="{9D8B030D-6E8A-4147-A177-3AD203B41FA5}">
                      <a16:colId xmlns:a16="http://schemas.microsoft.com/office/drawing/2014/main" val="1824879681"/>
                    </a:ext>
                  </a:extLst>
                </a:gridCol>
                <a:gridCol w="3835400">
                  <a:extLst>
                    <a:ext uri="{9D8B030D-6E8A-4147-A177-3AD203B41FA5}">
                      <a16:colId xmlns:a16="http://schemas.microsoft.com/office/drawing/2014/main" val="3010383572"/>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提出工作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原文实际对手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比较作用的归纳</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214650536"/>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[185-005]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CCWP</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跨路线参照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765226178"/>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PM [182-117]</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相关条件下的多方法比较</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040479415"/>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BPNN [184-009]</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CCM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MDM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相关小样本方法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18558856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a:t>
                      </a:r>
                      <a:r>
                        <a:rPr lang="zh-CN" altLang="en-US" sz="1600" b="0">
                          <a:solidFill>
                            <a:srgbClr val="000000"/>
                          </a:solidFill>
                          <a:latin typeface="Microsoft YaHei" panose="020B0503020204020204" pitchFamily="34" charset="-122"/>
                          <a:ea typeface="微软雅黑" panose="020B0503020204020204" pitchFamily="34" charset="-122"/>
                        </a:rPr>
                        <a:t>形状修正 </a:t>
                      </a:r>
                      <a:r>
                        <a:rPr lang="en-US" altLang="zh-CN" sz="1600" b="0">
                          <a:solidFill>
                            <a:srgbClr val="000000"/>
                          </a:solidFill>
                          <a:latin typeface="Microsoft YaHei" panose="020B0503020204020204" pitchFamily="34" charset="-122"/>
                          <a:ea typeface="微软雅黑" panose="020B0503020204020204" pitchFamily="34" charset="-122"/>
                        </a:rPr>
                        <a:t>[182-024]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原</a:t>
                      </a:r>
                      <a:r>
                        <a:rPr lang="en-US" altLang="zh-CN" sz="1600" b="0">
                          <a:solidFill>
                            <a:srgbClr val="000000"/>
                          </a:solidFill>
                          <a:latin typeface="Microsoft YaHei" panose="020B0503020204020204" pitchFamily="34" charset="-122"/>
                          <a:ea typeface="微软雅黑" panose="020B0503020204020204" pitchFamily="34" charset="-122"/>
                        </a:rPr>
                        <a:t>WMLE</a:t>
                      </a:r>
                      <a:r>
                        <a:rPr lang="zh-CN" altLang="en-US" sz="1600" b="0">
                          <a:solidFill>
                            <a:srgbClr val="000000"/>
                          </a:solidFill>
                          <a:latin typeface="Microsoft YaHei" panose="020B0503020204020204" pitchFamily="34" charset="-122"/>
                          <a:ea typeface="微软雅黑" panose="020B0503020204020204" pitchFamily="34" charset="-122"/>
                        </a:rPr>
                        <a:t>、其他修正版本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识别相对前身的新增收益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35472776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LSPF [182-113]</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BL</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w-ML</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有限样本与位置估计对手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568740424"/>
                  </a:ext>
                </a:extLst>
              </a:tr>
            </a:tbl>
          </a:graphicData>
        </a:graphic>
      </p:graphicFrame>
    </p:spTree>
    <p:extLst>
      <p:ext uri="{BB962C8B-B14F-4D97-AF65-F5344CB8AC3E}">
        <p14:creationId xmlns:p14="http://schemas.microsoft.com/office/powerpoint/2010/main" val="3618597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对照建议：每个入选方法承担明确作用</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28A02C7C-E938-1921-73A8-7336F9F94CAB}"/>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以下面向完整三参数、重点小样本的点估计论文，属于初选建议。</a:t>
            </a:r>
          </a:p>
        </p:txBody>
      </p:sp>
      <p:sp>
        <p:nvSpPr>
          <p:cNvPr id="7" name="文本框 6">
            <a:extLst>
              <a:ext uri="{FF2B5EF4-FFF2-40B4-BE49-F238E27FC236}">
                <a16:creationId xmlns:a16="http://schemas.microsoft.com/office/drawing/2014/main" id="{47D43439-6665-4F74-B574-047913EADC80}"/>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按主张扩展</a:t>
            </a:r>
            <a:r>
              <a:rPr lang="en-US" altLang="zh-CN" sz="1700" b="1">
                <a:solidFill>
                  <a:srgbClr val="2F6096"/>
                </a:solidFill>
                <a:latin typeface="Microsoft YaHei" panose="020B0503020204020204" pitchFamily="34" charset="-122"/>
                <a:ea typeface="微软雅黑" panose="020B0503020204020204" pitchFamily="34" charset="-122"/>
              </a:rPr>
              <a:t>MPS/PWM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LSPF</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BPNN</a:t>
            </a:r>
            <a:r>
              <a:rPr lang="zh-CN" altLang="en-US" sz="1700" b="1">
                <a:solidFill>
                  <a:srgbClr val="2F6096"/>
                </a:solidFill>
                <a:latin typeface="Microsoft YaHei" panose="020B0503020204020204" pitchFamily="34" charset="-122"/>
                <a:ea typeface="微软雅黑" panose="020B0503020204020204" pitchFamily="34" charset="-122"/>
              </a:rPr>
              <a:t>或</a:t>
            </a:r>
            <a:r>
              <a:rPr lang="en-US" altLang="zh-CN" sz="1700" b="1">
                <a:solidFill>
                  <a:srgbClr val="2F6096"/>
                </a:solidFill>
                <a:latin typeface="Microsoft YaHei" panose="020B0503020204020204" pitchFamily="34" charset="-122"/>
                <a:ea typeface="微软雅黑" panose="020B0503020204020204" pitchFamily="34" charset="-122"/>
              </a:rPr>
              <a:t>DMMLE</a:t>
            </a:r>
            <a:r>
              <a:rPr lang="zh-CN" altLang="en-US" sz="1700" b="1">
                <a:solidFill>
                  <a:srgbClr val="2F6096"/>
                </a:solidFill>
                <a:latin typeface="Microsoft YaHei" panose="020B0503020204020204" pitchFamily="34" charset="-122"/>
                <a:ea typeface="微软雅黑" panose="020B0503020204020204" pitchFamily="34" charset="-122"/>
              </a:rPr>
              <a:t>；暂不纳入不等于性能淘汰。</a:t>
            </a:r>
          </a:p>
        </p:txBody>
      </p:sp>
      <p:graphicFrame>
        <p:nvGraphicFramePr>
          <p:cNvPr id="8" name="表格 7">
            <a:extLst>
              <a:ext uri="{FF2B5EF4-FFF2-40B4-BE49-F238E27FC236}">
                <a16:creationId xmlns:a16="http://schemas.microsoft.com/office/drawing/2014/main" id="{CA510211-DAF4-96B6-DB0E-31F1165336C3}"/>
              </a:ext>
            </a:extLst>
          </p:cNvPr>
          <p:cNvGraphicFramePr>
            <a:graphicFrameLocks noGrp="1"/>
          </p:cNvGraphicFramePr>
          <p:nvPr>
            <p:extLst>
              <p:ext uri="{D42A27DB-BD31-4B8C-83A1-F6EECF244321}">
                <p14:modId xmlns:p14="http://schemas.microsoft.com/office/powerpoint/2010/main" val="3898706717"/>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794623125"/>
                    </a:ext>
                  </a:extLst>
                </a:gridCol>
                <a:gridCol w="4000500">
                  <a:extLst>
                    <a:ext uri="{9D8B030D-6E8A-4147-A177-3AD203B41FA5}">
                      <a16:colId xmlns:a16="http://schemas.microsoft.com/office/drawing/2014/main" val="665228427"/>
                    </a:ext>
                  </a:extLst>
                </a:gridCol>
                <a:gridCol w="3835400">
                  <a:extLst>
                    <a:ext uri="{9D8B030D-6E8A-4147-A177-3AD203B41FA5}">
                      <a16:colId xmlns:a16="http://schemas.microsoft.com/office/drawing/2014/main" val="905997384"/>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比较作用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起始候选</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为什么保留或加入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148723406"/>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共同参照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联系相近文献，明确受限或局部解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02116768"/>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Cousineau 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有修正内容与后续采用依据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140023757"/>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概率图代表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一个明确的相关回归版本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代表不同估计依据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291683713"/>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近期同任务构造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a:t>
                      </a:r>
                      <a:r>
                        <a:rPr lang="zh-CN" altLang="en-US" sz="1600" b="0">
                          <a:solidFill>
                            <a:srgbClr val="000000"/>
                          </a:solidFill>
                          <a:latin typeface="Microsoft YaHei" panose="020B0503020204020204" pitchFamily="34" charset="-122"/>
                          <a:ea typeface="微软雅黑" panose="020B0503020204020204" pitchFamily="34" charset="-122"/>
                        </a:rPr>
                        <a:t>或</a:t>
                      </a:r>
                      <a:r>
                        <a:rPr lang="en-US" altLang="zh-CN" sz="1600" b="0">
                          <a:solidFill>
                            <a:srgbClr val="000000"/>
                          </a:solidFill>
                          <a:latin typeface="Microsoft YaHei" panose="020B0503020204020204" pitchFamily="34" charset="-122"/>
                          <a:ea typeface="微软雅黑" panose="020B0503020204020204" pitchFamily="34" charset="-122"/>
                        </a:rPr>
                        <a:t>PM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已有极小样本研究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544926839"/>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新增收益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新方法的直接母方法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检验本次改动本身的贡献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16599595"/>
                  </a:ext>
                </a:extLst>
              </a:tr>
            </a:tbl>
          </a:graphicData>
        </a:graphic>
      </p:graphicFrame>
    </p:spTree>
    <p:extLst>
      <p:ext uri="{BB962C8B-B14F-4D97-AF65-F5344CB8AC3E}">
        <p14:creationId xmlns:p14="http://schemas.microsoft.com/office/powerpoint/2010/main" val="4286625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采用版本：方法名必须对应到实际构造</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7650F10A-9FF6-5DB6-2F06-4D17930303E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构造论文负责定义方法，后续比较论文支持选型理由。</a:t>
            </a:r>
          </a:p>
        </p:txBody>
      </p:sp>
      <p:sp>
        <p:nvSpPr>
          <p:cNvPr id="7" name="文本框 6">
            <a:extLst>
              <a:ext uri="{FF2B5EF4-FFF2-40B4-BE49-F238E27FC236}">
                <a16:creationId xmlns:a16="http://schemas.microsoft.com/office/drawing/2014/main" id="{3F8CE453-AE40-7F8B-394A-9D15723EF39F}"/>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回归版本选型示例：若采用</a:t>
            </a:r>
            <a:r>
              <a:rPr lang="en-US" altLang="zh-CN" sz="1700" b="1">
                <a:solidFill>
                  <a:srgbClr val="2F6096"/>
                </a:solidFill>
                <a:latin typeface="Microsoft YaHei" panose="020B0503020204020204" pitchFamily="34" charset="-122"/>
                <a:ea typeface="微软雅黑" panose="020B0503020204020204" pitchFamily="34" charset="-122"/>
              </a:rPr>
              <a:t>Park</a:t>
            </a:r>
            <a:r>
              <a:rPr lang="zh-CN" altLang="en-US" sz="1700" b="1">
                <a:solidFill>
                  <a:srgbClr val="2F6096"/>
                </a:solidFill>
                <a:latin typeface="Microsoft YaHei" panose="020B0503020204020204" pitchFamily="34" charset="-122"/>
                <a:ea typeface="微软雅黑" panose="020B0503020204020204" pitchFamily="34" charset="-122"/>
              </a:rPr>
              <a:t>原版，就不能沿用</a:t>
            </a:r>
            <a:r>
              <a:rPr lang="en-US" altLang="zh-CN" sz="1700" b="1">
                <a:solidFill>
                  <a:srgbClr val="2F6096"/>
                </a:solidFill>
                <a:latin typeface="Microsoft YaHei" panose="020B0503020204020204" pitchFamily="34" charset="-122"/>
                <a:ea typeface="微软雅黑" panose="020B0503020204020204" pitchFamily="34" charset="-122"/>
              </a:rPr>
              <a:t>Bernard</a:t>
            </a:r>
            <a:r>
              <a:rPr lang="zh-CN" altLang="en-US" sz="1700" b="1">
                <a:solidFill>
                  <a:srgbClr val="2F6096"/>
                </a:solidFill>
                <a:latin typeface="Microsoft YaHei" panose="020B0503020204020204" pitchFamily="34" charset="-122"/>
                <a:ea typeface="微软雅黑" panose="020B0503020204020204" pitchFamily="34" charset="-122"/>
              </a:rPr>
              <a:t>分数结果称作复现。</a:t>
            </a:r>
          </a:p>
        </p:txBody>
      </p:sp>
      <p:graphicFrame>
        <p:nvGraphicFramePr>
          <p:cNvPr id="8" name="表格 7">
            <a:extLst>
              <a:ext uri="{FF2B5EF4-FFF2-40B4-BE49-F238E27FC236}">
                <a16:creationId xmlns:a16="http://schemas.microsoft.com/office/drawing/2014/main" id="{1AE12CCF-56EE-FE0F-5E9E-E3FB6EFC0DA2}"/>
              </a:ext>
            </a:extLst>
          </p:cNvPr>
          <p:cNvGraphicFramePr>
            <a:graphicFrameLocks noGrp="1"/>
          </p:cNvGraphicFramePr>
          <p:nvPr>
            <p:extLst>
              <p:ext uri="{D42A27DB-BD31-4B8C-83A1-F6EECF244321}">
                <p14:modId xmlns:p14="http://schemas.microsoft.com/office/powerpoint/2010/main" val="1327583566"/>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183469850"/>
                    </a:ext>
                  </a:extLst>
                </a:gridCol>
                <a:gridCol w="4000500">
                  <a:extLst>
                    <a:ext uri="{9D8B030D-6E8A-4147-A177-3AD203B41FA5}">
                      <a16:colId xmlns:a16="http://schemas.microsoft.com/office/drawing/2014/main" val="2108266563"/>
                    </a:ext>
                  </a:extLst>
                </a:gridCol>
                <a:gridCol w="3835400">
                  <a:extLst>
                    <a:ext uri="{9D8B030D-6E8A-4147-A177-3AD203B41FA5}">
                      <a16:colId xmlns:a16="http://schemas.microsoft.com/office/drawing/2014/main" val="3247050346"/>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可采用的明确版本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引用与实现要对应</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577474159"/>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Park 2017 Proposed+Plot [182-115]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相关系数定位后回归；项目</a:t>
                      </a:r>
                      <a:r>
                        <a:rPr lang="en-US" altLang="zh-CN" sz="1600" b="0">
                          <a:solidFill>
                            <a:srgbClr val="000000"/>
                          </a:solidFill>
                          <a:latin typeface="Microsoft YaHei" panose="020B0503020204020204" pitchFamily="34" charset="-122"/>
                          <a:ea typeface="微软雅黑" panose="020B0503020204020204" pitchFamily="34" charset="-122"/>
                        </a:rPr>
                        <a:t>LRE</a:t>
                      </a:r>
                      <a:r>
                        <a:rPr lang="zh-CN" altLang="en-US" sz="1600" b="0">
                          <a:solidFill>
                            <a:srgbClr val="000000"/>
                          </a:solidFill>
                          <a:latin typeface="Microsoft YaHei" panose="020B0503020204020204" pitchFamily="34" charset="-122"/>
                          <a:ea typeface="微软雅黑" panose="020B0503020204020204" pitchFamily="34" charset="-122"/>
                        </a:rPr>
                        <a:t>分数不同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20210965"/>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Soman–Misra White</a:t>
                      </a:r>
                      <a:r>
                        <a:rPr lang="zh-CN" altLang="en-US" sz="1600" b="0">
                          <a:solidFill>
                            <a:srgbClr val="000000"/>
                          </a:solidFill>
                          <a:latin typeface="Microsoft YaHei" panose="020B0503020204020204" pitchFamily="34" charset="-122"/>
                          <a:ea typeface="微软雅黑" panose="020B0503020204020204" pitchFamily="34" charset="-122"/>
                        </a:rPr>
                        <a:t>扩展 </a:t>
                      </a:r>
                      <a:r>
                        <a:rPr lang="en-US" altLang="zh-CN" sz="1600" b="0">
                          <a:solidFill>
                            <a:srgbClr val="000000"/>
                          </a:solidFill>
                          <a:latin typeface="Microsoft YaHei" panose="020B0503020204020204" pitchFamily="34" charset="-122"/>
                          <a:ea typeface="微软雅黑" panose="020B0503020204020204" pitchFamily="34" charset="-122"/>
                        </a:rPr>
                        <a:t>[182-104]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期望次序分数、</a:t>
                      </a:r>
                      <a:r>
                        <a:rPr lang="en-US" altLang="zh-CN" sz="1600" b="0">
                          <a:solidFill>
                            <a:srgbClr val="000000"/>
                          </a:solidFill>
                          <a:latin typeface="Microsoft YaHei" panose="020B0503020204020204" pitchFamily="34" charset="-122"/>
                          <a:ea typeface="微软雅黑" panose="020B0503020204020204" pitchFamily="34" charset="-122"/>
                        </a:rPr>
                        <a:t>x</a:t>
                      </a:r>
                      <a:r>
                        <a:rPr lang="zh-CN" altLang="en-US" sz="1600" b="0">
                          <a:solidFill>
                            <a:srgbClr val="000000"/>
                          </a:solidFill>
                          <a:latin typeface="Microsoft YaHei" panose="020B0503020204020204" pitchFamily="34" charset="-122"/>
                          <a:ea typeface="微软雅黑" panose="020B0503020204020204" pitchFamily="34" charset="-122"/>
                        </a:rPr>
                        <a:t>对</a:t>
                      </a:r>
                      <a:r>
                        <a:rPr lang="en-US" altLang="zh-CN" sz="1600" b="0">
                          <a:solidFill>
                            <a:srgbClr val="000000"/>
                          </a:solidFill>
                          <a:latin typeface="Microsoft YaHei" panose="020B0503020204020204" pitchFamily="34" charset="-122"/>
                          <a:ea typeface="微软雅黑" panose="020B0503020204020204" pitchFamily="34" charset="-122"/>
                        </a:rPr>
                        <a:t>z</a:t>
                      </a:r>
                      <a:r>
                        <a:rPr lang="zh-CN" altLang="en-US" sz="1600" b="0">
                          <a:solidFill>
                            <a:srgbClr val="000000"/>
                          </a:solidFill>
                          <a:latin typeface="Microsoft YaHei" panose="020B0503020204020204" pitchFamily="34" charset="-122"/>
                          <a:ea typeface="微软雅黑" panose="020B0503020204020204" pitchFamily="34" charset="-122"/>
                        </a:rPr>
                        <a:t>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66921351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Cousineau 2009 [182-088]</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交代中位权重、插值与约束</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461065511"/>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 PM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2023</a:t>
                      </a:r>
                      <a:r>
                        <a:rPr lang="zh-CN" altLang="en-US" sz="1600" b="0">
                          <a:solidFill>
                            <a:srgbClr val="000000"/>
                          </a:solidFill>
                          <a:latin typeface="Microsoft YaHei" panose="020B0503020204020204" pitchFamily="34" charset="-122"/>
                          <a:ea typeface="微软雅黑" panose="020B0503020204020204" pitchFamily="34" charset="-122"/>
                        </a:rPr>
                        <a:t>或</a:t>
                      </a:r>
                      <a:r>
                        <a:rPr lang="en-US" altLang="zh-CN" sz="1600" b="0">
                          <a:solidFill>
                            <a:srgbClr val="000000"/>
                          </a:solidFill>
                          <a:latin typeface="Microsoft YaHei" panose="020B0503020204020204" pitchFamily="34" charset="-122"/>
                          <a:ea typeface="微软雅黑" panose="020B0503020204020204" pitchFamily="34" charset="-122"/>
                        </a:rPr>
                        <a:t>2024</a:t>
                      </a:r>
                      <a:r>
                        <a:rPr lang="zh-CN" altLang="en-US" sz="1600" b="0">
                          <a:solidFill>
                            <a:srgbClr val="000000"/>
                          </a:solidFill>
                          <a:latin typeface="Microsoft YaHei" panose="020B0503020204020204" pitchFamily="34" charset="-122"/>
                          <a:ea typeface="微软雅黑" panose="020B0503020204020204" pitchFamily="34" charset="-122"/>
                        </a:rPr>
                        <a:t>的具体构造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最小值期望</a:t>
                      </a:r>
                      <a:r>
                        <a:rPr lang="en-US" altLang="zh-CN" sz="1600" b="0">
                          <a:solidFill>
                            <a:srgbClr val="000000"/>
                          </a:solidFill>
                          <a:latin typeface="Microsoft YaHei" panose="020B0503020204020204" pitchFamily="34" charset="-122"/>
                          <a:ea typeface="微软雅黑" panose="020B0503020204020204" pitchFamily="34" charset="-122"/>
                        </a:rPr>
                        <a:t>/</a:t>
                      </a:r>
                      <a:r>
                        <a:rPr lang="zh-CN" altLang="en-US" sz="1600" b="0">
                          <a:solidFill>
                            <a:srgbClr val="000000"/>
                          </a:solidFill>
                          <a:latin typeface="Microsoft YaHei" panose="020B0503020204020204" pitchFamily="34" charset="-122"/>
                          <a:ea typeface="微软雅黑" panose="020B0503020204020204" pitchFamily="34" charset="-122"/>
                        </a:rPr>
                        <a:t>中位数及后续更新不同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756795410"/>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 / MPS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实际准则＋本文求解设置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明确可行域、解的类型和接受规则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217537541"/>
                  </a:ext>
                </a:extLst>
              </a:tr>
            </a:tbl>
          </a:graphicData>
        </a:graphic>
      </p:graphicFrame>
    </p:spTree>
    <p:extLst>
      <p:ext uri="{BB962C8B-B14F-4D97-AF65-F5344CB8AC3E}">
        <p14:creationId xmlns:p14="http://schemas.microsoft.com/office/powerpoint/2010/main" val="3010703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评价证据：模拟与真实数据回答不同问题</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FC896F9B-1C2B-C17E-9FA8-C60C1AED10A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en-US" altLang="zh-CN">
                <a:solidFill>
                  <a:srgbClr val="2F6096"/>
                </a:solidFill>
                <a:latin typeface="Microsoft YaHei" panose="020B0503020204020204" pitchFamily="34" charset="-122"/>
                <a:ea typeface="微软雅黑" panose="020B0503020204020204" pitchFamily="34" charset="-122"/>
              </a:rPr>
              <a:t>38</a:t>
            </a:r>
            <a:r>
              <a:rPr lang="zh-CN" altLang="en-US">
                <a:solidFill>
                  <a:srgbClr val="2F6096"/>
                </a:solidFill>
                <a:latin typeface="Microsoft YaHei" panose="020B0503020204020204" pitchFamily="34" charset="-122"/>
                <a:ea typeface="微软雅黑" panose="020B0503020204020204" pitchFamily="34" charset="-122"/>
              </a:rPr>
              <a:t>条经验用途记录中：重复生成样本</a:t>
            </a:r>
            <a:r>
              <a:rPr lang="en-US" altLang="zh-CN">
                <a:solidFill>
                  <a:srgbClr val="2F6096"/>
                </a:solidFill>
                <a:latin typeface="Microsoft YaHei" panose="020B0503020204020204" pitchFamily="34" charset="-122"/>
                <a:ea typeface="微软雅黑" panose="020B0503020204020204" pitchFamily="34" charset="-122"/>
              </a:rPr>
              <a:t>21</a:t>
            </a:r>
            <a:r>
              <a:rPr lang="zh-CN" altLang="en-US">
                <a:solidFill>
                  <a:srgbClr val="2F6096"/>
                </a:solidFill>
                <a:latin typeface="Microsoft YaHei" panose="020B0503020204020204" pitchFamily="34" charset="-122"/>
                <a:ea typeface="微软雅黑" panose="020B0503020204020204" pitchFamily="34" charset="-122"/>
              </a:rPr>
              <a:t>条，真实应用</a:t>
            </a:r>
            <a:r>
              <a:rPr lang="en-US" altLang="zh-CN">
                <a:solidFill>
                  <a:srgbClr val="2F6096"/>
                </a:solidFill>
                <a:latin typeface="Microsoft YaHei" panose="020B0503020204020204" pitchFamily="34" charset="-122"/>
                <a:ea typeface="微软雅黑" panose="020B0503020204020204" pitchFamily="34" charset="-122"/>
              </a:rPr>
              <a:t>21</a:t>
            </a:r>
            <a:r>
              <a:rPr lang="zh-CN" altLang="en-US">
                <a:solidFill>
                  <a:srgbClr val="2F6096"/>
                </a:solidFill>
                <a:latin typeface="Microsoft YaHei" panose="020B0503020204020204" pitchFamily="34" charset="-122"/>
                <a:ea typeface="微软雅黑" panose="020B0503020204020204" pitchFamily="34" charset="-122"/>
              </a:rPr>
              <a:t>条，两者兼有</a:t>
            </a:r>
            <a:r>
              <a:rPr lang="en-US" altLang="zh-CN">
                <a:solidFill>
                  <a:srgbClr val="2F6096"/>
                </a:solidFill>
                <a:latin typeface="Microsoft YaHei" panose="020B0503020204020204" pitchFamily="34" charset="-122"/>
                <a:ea typeface="微软雅黑" panose="020B0503020204020204" pitchFamily="34" charset="-122"/>
              </a:rPr>
              <a:t>10</a:t>
            </a:r>
            <a:r>
              <a:rPr lang="zh-CN" altLang="en-US">
                <a:solidFill>
                  <a:srgbClr val="2F6096"/>
                </a:solidFill>
                <a:latin typeface="Microsoft YaHei" panose="020B0503020204020204" pitchFamily="34" charset="-122"/>
                <a:ea typeface="微软雅黑" panose="020B0503020204020204" pitchFamily="34" charset="-122"/>
              </a:rPr>
              <a:t>条。</a:t>
            </a:r>
          </a:p>
        </p:txBody>
      </p:sp>
      <p:sp>
        <p:nvSpPr>
          <p:cNvPr id="7" name="文本框 6">
            <a:extLst>
              <a:ext uri="{FF2B5EF4-FFF2-40B4-BE49-F238E27FC236}">
                <a16:creationId xmlns:a16="http://schemas.microsoft.com/office/drawing/2014/main" id="{6BB7F06F-689C-1BFF-5F04-3D60015FE34F}"/>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次数不是独立团队或数据集数；真实拟合优胜不能替代参数真值误差证据。</a:t>
            </a:r>
          </a:p>
        </p:txBody>
      </p:sp>
      <p:sp>
        <p:nvSpPr>
          <p:cNvPr id="8" name="文本框 7">
            <a:extLst>
              <a:ext uri="{FF2B5EF4-FFF2-40B4-BE49-F238E27FC236}">
                <a16:creationId xmlns:a16="http://schemas.microsoft.com/office/drawing/2014/main" id="{C3F1E0AF-67D3-B88C-C13B-DF1CBD20537A}"/>
              </a:ext>
            </a:extLst>
          </p:cNvPr>
          <p:cNvSpPr txBox="1"/>
          <p:nvPr/>
        </p:nvSpPr>
        <p:spPr>
          <a:xfrm>
            <a:off x="622300" y="2514600"/>
            <a:ext cx="5092700" cy="406400"/>
          </a:xfrm>
          <a:prstGeom prst="rect">
            <a:avLst/>
          </a:prstGeom>
          <a:noFill/>
        </p:spPr>
        <p:txBody>
          <a:bodyPr vert="horz" wrap="square" lIns="0" tIns="0" rIns="0" bIns="0" rtlCol="0">
            <a:noAutofit/>
          </a:bodyPr>
          <a:lstStyle/>
          <a:p>
            <a:pPr>
              <a:lnSpc>
                <a:spcPts val="2860"/>
              </a:lnSpc>
            </a:pPr>
            <a:r>
              <a:rPr lang="en-US" altLang="zh-CN" sz="2200" b="1">
                <a:solidFill>
                  <a:srgbClr val="C55A11"/>
                </a:solidFill>
                <a:latin typeface="Microsoft YaHei" panose="020B0503020204020204" pitchFamily="34" charset="-122"/>
                <a:ea typeface="微软雅黑" panose="020B0503020204020204" pitchFamily="34" charset="-122"/>
              </a:rPr>
              <a:t>Monte Carlo</a:t>
            </a:r>
            <a:r>
              <a:rPr lang="zh-CN" altLang="en-US" sz="2200" b="1">
                <a:solidFill>
                  <a:srgbClr val="C55A11"/>
                </a:solidFill>
                <a:latin typeface="Microsoft YaHei" panose="020B0503020204020204" pitchFamily="34" charset="-122"/>
                <a:ea typeface="微软雅黑" panose="020B0503020204020204" pitchFamily="34" charset="-122"/>
              </a:rPr>
              <a:t>：真参数已知</a:t>
            </a:r>
          </a:p>
        </p:txBody>
      </p:sp>
      <p:sp>
        <p:nvSpPr>
          <p:cNvPr id="9" name="文本框 8">
            <a:extLst>
              <a:ext uri="{FF2B5EF4-FFF2-40B4-BE49-F238E27FC236}">
                <a16:creationId xmlns:a16="http://schemas.microsoft.com/office/drawing/2014/main" id="{A82D5CB0-A653-4A5C-3ACD-27A980D75DB9}"/>
              </a:ext>
            </a:extLst>
          </p:cNvPr>
          <p:cNvSpPr txBox="1"/>
          <p:nvPr/>
        </p:nvSpPr>
        <p:spPr>
          <a:xfrm>
            <a:off x="6451600" y="2514600"/>
            <a:ext cx="5080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真实数据：总体参数未知</a:t>
            </a:r>
          </a:p>
        </p:txBody>
      </p:sp>
      <p:cxnSp>
        <p:nvCxnSpPr>
          <p:cNvPr id="10" name="直接连接符 9">
            <a:extLst>
              <a:ext uri="{FF2B5EF4-FFF2-40B4-BE49-F238E27FC236}">
                <a16:creationId xmlns:a16="http://schemas.microsoft.com/office/drawing/2014/main" id="{28C2BA06-FE43-0E15-F76B-6DB6841CD731}"/>
              </a:ext>
            </a:extLst>
          </p:cNvPr>
          <p:cNvCxnSpPr/>
          <p:nvPr/>
        </p:nvCxnSpPr>
        <p:spPr>
          <a:xfrm>
            <a:off x="622300" y="3060700"/>
            <a:ext cx="5041900" cy="0"/>
          </a:xfrm>
          <a:prstGeom prst="line">
            <a:avLst/>
          </a:prstGeom>
          <a:ln w="17780">
            <a:solidFill>
              <a:srgbClr val="2F6096"/>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FD3242D-4B1C-B91C-531C-A29C49D77A8D}"/>
              </a:ext>
            </a:extLst>
          </p:cNvPr>
          <p:cNvCxnSpPr/>
          <p:nvPr/>
        </p:nvCxnSpPr>
        <p:spPr>
          <a:xfrm>
            <a:off x="6451600" y="3060700"/>
            <a:ext cx="5080000" cy="0"/>
          </a:xfrm>
          <a:prstGeom prst="line">
            <a:avLst/>
          </a:prstGeom>
          <a:ln w="17780">
            <a:solidFill>
              <a:srgbClr val="2F6096"/>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5122E63-284F-27A1-3165-1F749A17FBC7}"/>
              </a:ext>
            </a:extLst>
          </p:cNvPr>
          <p:cNvSpPr txBox="1"/>
          <p:nvPr/>
        </p:nvSpPr>
        <p:spPr>
          <a:xfrm>
            <a:off x="622300" y="3352800"/>
            <a:ext cx="5092700" cy="1320800"/>
          </a:xfrm>
          <a:prstGeom prst="rect">
            <a:avLst/>
          </a:prstGeom>
          <a:noFill/>
        </p:spPr>
        <p:txBody>
          <a:bodyPr vert="horz" wrap="square" lIns="0" tIns="0" rIns="0" bIns="0" rtlCol="0">
            <a:noAutofit/>
          </a:bodyPr>
          <a:lstStyle/>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反复生成样本，检验估计误差与波动。</a:t>
            </a:r>
          </a:p>
          <a:p>
            <a:pPr>
              <a:lnSpc>
                <a:spcPts val="2340"/>
              </a:lnSpc>
            </a:pPr>
            <a:r>
              <a:rPr lang="en-US" altLang="zh-CN">
                <a:solidFill>
                  <a:srgbClr val="000000"/>
                </a:solidFill>
                <a:latin typeface="Microsoft YaHei" panose="020B0503020204020204" pitchFamily="34" charset="-122"/>
                <a:ea typeface="微软雅黑" panose="020B0503020204020204" pitchFamily="34" charset="-122"/>
              </a:rPr>
              <a:t>Bias</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11</a:t>
            </a:r>
            <a:r>
              <a:rPr lang="zh-CN" altLang="en-US">
                <a:solidFill>
                  <a:srgbClr val="000000"/>
                </a:solidFill>
                <a:latin typeface="Microsoft YaHei" panose="020B0503020204020204" pitchFamily="34" charset="-122"/>
                <a:ea typeface="微软雅黑" panose="020B0503020204020204" pitchFamily="34" charset="-122"/>
              </a:rPr>
              <a:t>条；</a:t>
            </a:r>
            <a:r>
              <a:rPr lang="en-US" altLang="zh-CN">
                <a:solidFill>
                  <a:srgbClr val="000000"/>
                </a:solidFill>
                <a:latin typeface="Microsoft YaHei" panose="020B0503020204020204" pitchFamily="34" charset="-122"/>
                <a:ea typeface="微软雅黑" panose="020B0503020204020204" pitchFamily="34" charset="-122"/>
              </a:rPr>
              <a:t>RMSE</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10</a:t>
            </a:r>
            <a:r>
              <a:rPr lang="zh-CN" altLang="en-US">
                <a:solidFill>
                  <a:srgbClr val="000000"/>
                </a:solidFill>
                <a:latin typeface="Microsoft YaHei" panose="020B0503020204020204" pitchFamily="34" charset="-122"/>
                <a:ea typeface="微软雅黑" panose="020B0503020204020204" pitchFamily="34" charset="-122"/>
              </a:rPr>
              <a:t>条；</a:t>
            </a:r>
            <a:r>
              <a:rPr lang="en-US" altLang="zh-CN">
                <a:solidFill>
                  <a:srgbClr val="000000"/>
                </a:solidFill>
                <a:latin typeface="Microsoft YaHei" panose="020B0503020204020204" pitchFamily="34" charset="-122"/>
                <a:ea typeface="微软雅黑" panose="020B0503020204020204" pitchFamily="34" charset="-122"/>
              </a:rPr>
              <a:t>SD</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9</a:t>
            </a:r>
            <a:r>
              <a:rPr lang="zh-CN" altLang="en-US">
                <a:solidFill>
                  <a:srgbClr val="000000"/>
                </a:solidFill>
                <a:latin typeface="Microsoft YaHei" panose="020B0503020204020204" pitchFamily="34" charset="-122"/>
                <a:ea typeface="微软雅黑" panose="020B0503020204020204" pitchFamily="34" charset="-122"/>
              </a:rPr>
              <a:t>条。</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上述计数可重叠，分母为</a:t>
            </a:r>
            <a:r>
              <a:rPr lang="en-US" altLang="zh-CN">
                <a:solidFill>
                  <a:srgbClr val="000000"/>
                </a:solidFill>
                <a:latin typeface="Microsoft YaHei" panose="020B0503020204020204" pitchFamily="34" charset="-122"/>
                <a:ea typeface="微软雅黑" panose="020B0503020204020204" pitchFamily="34" charset="-122"/>
              </a:rPr>
              <a:t>21</a:t>
            </a:r>
            <a:r>
              <a:rPr lang="zh-CN" altLang="en-US">
                <a:solidFill>
                  <a:srgbClr val="000000"/>
                </a:solidFill>
                <a:latin typeface="Microsoft YaHei" panose="020B0503020204020204" pitchFamily="34" charset="-122"/>
                <a:ea typeface="微软雅黑" panose="020B0503020204020204" pitchFamily="34" charset="-122"/>
              </a:rPr>
              <a:t>条模拟来源。</a:t>
            </a:r>
          </a:p>
        </p:txBody>
      </p:sp>
      <p:sp>
        <p:nvSpPr>
          <p:cNvPr id="16" name="文本框 15">
            <a:extLst>
              <a:ext uri="{FF2B5EF4-FFF2-40B4-BE49-F238E27FC236}">
                <a16:creationId xmlns:a16="http://schemas.microsoft.com/office/drawing/2014/main" id="{0CD0357A-0C1E-2B77-2860-85F9AF884294}"/>
              </a:ext>
            </a:extLst>
          </p:cNvPr>
          <p:cNvSpPr txBox="1"/>
          <p:nvPr/>
        </p:nvSpPr>
        <p:spPr>
          <a:xfrm>
            <a:off x="6451600" y="3352800"/>
            <a:ext cx="5080000" cy="1320800"/>
          </a:xfrm>
          <a:prstGeom prst="rect">
            <a:avLst/>
          </a:prstGeom>
          <a:noFill/>
        </p:spPr>
        <p:txBody>
          <a:bodyPr vert="horz" wrap="square" lIns="0" tIns="0" rIns="0" bIns="0" rtlCol="0">
            <a:noAutofit/>
          </a:bodyPr>
          <a:lstStyle/>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比较参数、寿命结果、</a:t>
            </a:r>
            <a:r>
              <a:rPr lang="en-US" altLang="zh-CN">
                <a:solidFill>
                  <a:srgbClr val="000000"/>
                </a:solidFill>
                <a:latin typeface="Microsoft YaHei" panose="020B0503020204020204" pitchFamily="34" charset="-122"/>
                <a:ea typeface="微软雅黑" panose="020B0503020204020204" pitchFamily="34" charset="-122"/>
              </a:rPr>
              <a:t>CDF</a:t>
            </a:r>
            <a:r>
              <a:rPr lang="zh-CN" altLang="en-US">
                <a:solidFill>
                  <a:srgbClr val="000000"/>
                </a:solidFill>
                <a:latin typeface="Microsoft YaHei" panose="020B0503020204020204" pitchFamily="34" charset="-122"/>
                <a:ea typeface="微软雅黑" panose="020B0503020204020204" pitchFamily="34" charset="-122"/>
              </a:rPr>
              <a:t>及</a:t>
            </a:r>
            <a:r>
              <a:rPr lang="en-US" altLang="zh-CN">
                <a:solidFill>
                  <a:srgbClr val="000000"/>
                </a:solidFill>
                <a:latin typeface="Microsoft YaHei" panose="020B0503020204020204" pitchFamily="34" charset="-122"/>
                <a:ea typeface="微软雅黑" panose="020B0503020204020204" pitchFamily="34" charset="-122"/>
              </a:rPr>
              <a:t>K-S/AD</a:t>
            </a:r>
            <a:r>
              <a:rPr lang="zh-CN" altLang="en-US">
                <a:solidFill>
                  <a:srgbClr val="000000"/>
                </a:solidFill>
                <a:latin typeface="Microsoft YaHei" panose="020B0503020204020204" pitchFamily="34" charset="-122"/>
                <a:ea typeface="微软雅黑" panose="020B0503020204020204" pitchFamily="34" charset="-122"/>
              </a:rPr>
              <a:t>。</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主要说明拟合差异与应用含义。</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没有真值，不能直接给参数</a:t>
            </a:r>
            <a:r>
              <a:rPr lang="en-US" altLang="zh-CN">
                <a:solidFill>
                  <a:srgbClr val="000000"/>
                </a:solidFill>
                <a:latin typeface="Microsoft YaHei" panose="020B0503020204020204" pitchFamily="34" charset="-122"/>
                <a:ea typeface="微软雅黑" panose="020B0503020204020204" pitchFamily="34" charset="-122"/>
              </a:rPr>
              <a:t>RMSE</a:t>
            </a:r>
            <a:r>
              <a:rPr lang="zh-CN" altLang="en-US">
                <a:solidFill>
                  <a:srgbClr val="000000"/>
                </a:solidFill>
                <a:latin typeface="Microsoft YaHei" panose="020B0503020204020204" pitchFamily="34" charset="-122"/>
                <a:ea typeface="微软雅黑" panose="020B0503020204020204" pitchFamily="34" charset="-122"/>
              </a:rPr>
              <a:t>。</a:t>
            </a:r>
          </a:p>
        </p:txBody>
      </p:sp>
      <p:sp>
        <p:nvSpPr>
          <p:cNvPr id="17" name="矩形: 圆角 16">
            <a:extLst>
              <a:ext uri="{FF2B5EF4-FFF2-40B4-BE49-F238E27FC236}">
                <a16:creationId xmlns:a16="http://schemas.microsoft.com/office/drawing/2014/main" id="{2C7C88C2-8228-DAD9-A6F0-34F106131CCA}"/>
              </a:ext>
            </a:extLst>
          </p:cNvPr>
          <p:cNvSpPr/>
          <p:nvPr/>
        </p:nvSpPr>
        <p:spPr>
          <a:xfrm>
            <a:off x="622300" y="4953000"/>
            <a:ext cx="10922000" cy="698500"/>
          </a:xfrm>
          <a:prstGeom prst="roundRect">
            <a:avLst/>
          </a:prstGeom>
          <a:noFill/>
          <a:ln w="12700">
            <a:solidFill>
              <a:srgbClr val="2F6096"/>
            </a:solidFill>
            <a:prstDash val="dash"/>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F36D28CE-D963-8A0B-44E7-89E0B0B80600}"/>
              </a:ext>
            </a:extLst>
          </p:cNvPr>
          <p:cNvSpPr txBox="1"/>
          <p:nvPr/>
        </p:nvSpPr>
        <p:spPr>
          <a:xfrm>
            <a:off x="812800" y="5130800"/>
            <a:ext cx="10541000" cy="3937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若主张寿命或区间改进，再加目标分位点误差或覆盖率与长度。</a:t>
            </a:r>
          </a:p>
        </p:txBody>
      </p:sp>
    </p:spTree>
    <p:extLst>
      <p:ext uri="{BB962C8B-B14F-4D97-AF65-F5344CB8AC3E}">
        <p14:creationId xmlns:p14="http://schemas.microsoft.com/office/powerpoint/2010/main" val="4231153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真实数据再抽样：关键是参照量是什么</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5A4BC94A-EF5B-B53C-D24B-6C9C64A0D13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抽样次数增加，并不会自动让未知的真实参数变成已知。</a:t>
            </a:r>
          </a:p>
        </p:txBody>
      </p:sp>
      <p:sp>
        <p:nvSpPr>
          <p:cNvPr id="7" name="文本框 6">
            <a:extLst>
              <a:ext uri="{FF2B5EF4-FFF2-40B4-BE49-F238E27FC236}">
                <a16:creationId xmlns:a16="http://schemas.microsoft.com/office/drawing/2014/main" id="{01E5D4AD-376C-1831-7C3E-8B4D063F2292}"/>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主方案以共同</a:t>
            </a:r>
            <a:r>
              <a:rPr lang="en-US" altLang="zh-CN" sz="1700" b="1">
                <a:solidFill>
                  <a:srgbClr val="2F6096"/>
                </a:solidFill>
                <a:latin typeface="Microsoft YaHei" panose="020B0503020204020204" pitchFamily="34" charset="-122"/>
                <a:ea typeface="微软雅黑" panose="020B0503020204020204" pitchFamily="34" charset="-122"/>
              </a:rPr>
              <a:t>Monte Carlo</a:t>
            </a:r>
            <a:r>
              <a:rPr lang="zh-CN" altLang="en-US" sz="1700" b="1">
                <a:solidFill>
                  <a:srgbClr val="2F6096"/>
                </a:solidFill>
                <a:latin typeface="Microsoft YaHei" panose="020B0503020204020204" pitchFamily="34" charset="-122"/>
                <a:ea typeface="微软雅黑" panose="020B0503020204020204" pitchFamily="34" charset="-122"/>
              </a:rPr>
              <a:t>评价精度，再配完整真实数据应用；额外设计按主张选。</a:t>
            </a:r>
          </a:p>
        </p:txBody>
      </p:sp>
      <p:graphicFrame>
        <p:nvGraphicFramePr>
          <p:cNvPr id="8" name="表格 7">
            <a:extLst>
              <a:ext uri="{FF2B5EF4-FFF2-40B4-BE49-F238E27FC236}">
                <a16:creationId xmlns:a16="http://schemas.microsoft.com/office/drawing/2014/main" id="{FE1BD4D4-20B0-1DA1-7921-2BB56809B198}"/>
              </a:ext>
            </a:extLst>
          </p:cNvPr>
          <p:cNvGraphicFramePr>
            <a:graphicFrameLocks noGrp="1"/>
          </p:cNvGraphicFramePr>
          <p:nvPr>
            <p:extLst>
              <p:ext uri="{D42A27DB-BD31-4B8C-83A1-F6EECF244321}">
                <p14:modId xmlns:p14="http://schemas.microsoft.com/office/powerpoint/2010/main" val="2047345350"/>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700743704"/>
                    </a:ext>
                  </a:extLst>
                </a:gridCol>
                <a:gridCol w="4000500">
                  <a:extLst>
                    <a:ext uri="{9D8B030D-6E8A-4147-A177-3AD203B41FA5}">
                      <a16:colId xmlns:a16="http://schemas.microsoft.com/office/drawing/2014/main" val="3761907707"/>
                    </a:ext>
                  </a:extLst>
                </a:gridCol>
                <a:gridCol w="3835400">
                  <a:extLst>
                    <a:ext uri="{9D8B030D-6E8A-4147-A177-3AD203B41FA5}">
                      <a16:colId xmlns:a16="http://schemas.microsoft.com/office/drawing/2014/main" val="1148187123"/>
                    </a:ext>
                  </a:extLst>
                </a:gridCol>
              </a:tblGrid>
              <a:tr h="660400">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已核实例或设计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实际参照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能得到的结论</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608340076"/>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真实子抽样 </a:t>
                      </a:r>
                      <a:r>
                        <a:rPr lang="en-US" altLang="zh-CN" sz="1600" b="0">
                          <a:solidFill>
                            <a:srgbClr val="000000"/>
                          </a:solidFill>
                          <a:latin typeface="Microsoft YaHei" panose="020B0503020204020204" pitchFamily="34" charset="-122"/>
                          <a:ea typeface="微软雅黑" panose="020B0503020204020204" pitchFamily="34" charset="-122"/>
                        </a:rPr>
                        <a:t>[182-004]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330</a:t>
                      </a:r>
                      <a:r>
                        <a:rPr lang="zh-CN" altLang="en-US" sz="1600" b="0">
                          <a:solidFill>
                            <a:srgbClr val="000000"/>
                          </a:solidFill>
                          <a:latin typeface="Microsoft YaHei" panose="020B0503020204020204" pitchFamily="34" charset="-122"/>
                          <a:ea typeface="微软雅黑" panose="020B0503020204020204" pitchFamily="34" charset="-122"/>
                        </a:rPr>
                        <a:t>个实测值取不同</a:t>
                      </a:r>
                      <a:r>
                        <a:rPr lang="en-US" altLang="zh-CN" sz="1600" b="0">
                          <a:solidFill>
                            <a:srgbClr val="000000"/>
                          </a:solidFill>
                          <a:latin typeface="Microsoft YaHei" panose="020B0503020204020204" pitchFamily="34" charset="-122"/>
                          <a:ea typeface="微软雅黑" panose="020B0503020204020204" pitchFamily="34" charset="-122"/>
                        </a:rPr>
                        <a:t>n</a:t>
                      </a:r>
                      <a:r>
                        <a:rPr lang="zh-CN" altLang="en-US" sz="1600" b="0">
                          <a:solidFill>
                            <a:srgbClr val="000000"/>
                          </a:solidFill>
                          <a:latin typeface="Microsoft YaHei" panose="020B0503020204020204" pitchFamily="34" charset="-122"/>
                          <a:ea typeface="微软雅黑" panose="020B0503020204020204" pitchFamily="34" charset="-122"/>
                        </a:rPr>
                        <a:t>子集</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相关性及寿命结果的重复性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909302960"/>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自助加权范数 </a:t>
                      </a:r>
                      <a:r>
                        <a:rPr lang="en-US" altLang="zh-CN" sz="1600" b="0">
                          <a:solidFill>
                            <a:srgbClr val="000000"/>
                          </a:solidFill>
                          <a:latin typeface="Microsoft YaHei" panose="020B0503020204020204" pitchFamily="34" charset="-122"/>
                          <a:ea typeface="微软雅黑" panose="020B0503020204020204" pitchFamily="34" charset="-122"/>
                        </a:rPr>
                        <a:t>[182-084]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重抽多准则参数信息向量</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并非原始寿命</a:t>
                      </a:r>
                      <a:r>
                        <a:rPr lang="en-US" altLang="zh-CN" sz="1600" b="0">
                          <a:solidFill>
                            <a:srgbClr val="000000"/>
                          </a:solidFill>
                          <a:latin typeface="Microsoft YaHei" panose="020B0503020204020204" pitchFamily="34" charset="-122"/>
                          <a:ea typeface="微软雅黑" panose="020B0503020204020204" pitchFamily="34" charset="-122"/>
                        </a:rPr>
                        <a:t>Bootstrap</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162710399"/>
                  </a:ext>
                </a:extLst>
              </a:tr>
              <a:tr h="660400">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Gibbs [182-006]</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后验分布中的参数抽样</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后验不确定性，非模拟性能</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277519710"/>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参数</a:t>
                      </a:r>
                      <a:r>
                        <a:rPr lang="en-US" altLang="zh-CN" sz="1600" b="0">
                          <a:solidFill>
                            <a:srgbClr val="000000"/>
                          </a:solidFill>
                          <a:latin typeface="Microsoft YaHei" panose="020B0503020204020204" pitchFamily="34" charset="-122"/>
                          <a:ea typeface="微软雅黑" panose="020B0503020204020204" pitchFamily="34" charset="-122"/>
                        </a:rPr>
                        <a:t>Bootstrap</a:t>
                      </a:r>
                      <a:r>
                        <a:rPr lang="zh-CN" altLang="en-US" sz="1600" b="0">
                          <a:solidFill>
                            <a:srgbClr val="000000"/>
                          </a:solidFill>
                          <a:latin typeface="Microsoft YaHei" panose="020B0503020204020204" pitchFamily="34" charset="-122"/>
                          <a:ea typeface="微软雅黑" panose="020B0503020204020204" pitchFamily="34" charset="-122"/>
                        </a:rPr>
                        <a:t>（可选设计）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从拟合模型生成，参数值已知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拟合模型条件下的误差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71695533"/>
                  </a:ext>
                </a:extLst>
              </a:tr>
            </a:tbl>
          </a:graphicData>
        </a:graphic>
      </p:graphicFrame>
    </p:spTree>
    <p:extLst>
      <p:ext uri="{BB962C8B-B14F-4D97-AF65-F5344CB8AC3E}">
        <p14:creationId xmlns:p14="http://schemas.microsoft.com/office/powerpoint/2010/main" val="12338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失败处理：精度必须连同有效率一起报告</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3C43A4D2-266F-4B41-031B-07FBAA0792B4}"/>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目标无界、方程分支、数值未收敛、越界输出，应分开记录。</a:t>
            </a:r>
          </a:p>
        </p:txBody>
      </p:sp>
      <p:sp>
        <p:nvSpPr>
          <p:cNvPr id="7" name="文本框 6">
            <a:extLst>
              <a:ext uri="{FF2B5EF4-FFF2-40B4-BE49-F238E27FC236}">
                <a16:creationId xmlns:a16="http://schemas.microsoft.com/office/drawing/2014/main" id="{27C56FF3-588F-AD51-73D3-B8671BC60424}"/>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各自有效子集与共同有效子集的误差均属条件结果，不能用单一</a:t>
            </a:r>
            <a:r>
              <a:rPr lang="en-US" altLang="zh-CN" sz="1700" b="1">
                <a:solidFill>
                  <a:srgbClr val="2F6096"/>
                </a:solidFill>
                <a:latin typeface="Microsoft YaHei" panose="020B0503020204020204" pitchFamily="34" charset="-122"/>
                <a:ea typeface="微软雅黑" panose="020B0503020204020204" pitchFamily="34" charset="-122"/>
              </a:rPr>
              <a:t>RMSE</a:t>
            </a:r>
            <a:r>
              <a:rPr lang="zh-CN" altLang="en-US" sz="1700" b="1">
                <a:solidFill>
                  <a:srgbClr val="2F6096"/>
                </a:solidFill>
                <a:latin typeface="Microsoft YaHei" panose="020B0503020204020204" pitchFamily="34" charset="-122"/>
                <a:ea typeface="微软雅黑" panose="020B0503020204020204" pitchFamily="34" charset="-122"/>
              </a:rPr>
              <a:t>掩盖失败。</a:t>
            </a:r>
          </a:p>
        </p:txBody>
      </p:sp>
      <p:graphicFrame>
        <p:nvGraphicFramePr>
          <p:cNvPr id="8" name="表格 7">
            <a:extLst>
              <a:ext uri="{FF2B5EF4-FFF2-40B4-BE49-F238E27FC236}">
                <a16:creationId xmlns:a16="http://schemas.microsoft.com/office/drawing/2014/main" id="{56D8FDA9-AD4D-FFA0-DC8B-425877C1B78E}"/>
              </a:ext>
            </a:extLst>
          </p:cNvPr>
          <p:cNvGraphicFramePr>
            <a:graphicFrameLocks noGrp="1"/>
          </p:cNvGraphicFramePr>
          <p:nvPr>
            <p:extLst>
              <p:ext uri="{D42A27DB-BD31-4B8C-83A1-F6EECF244321}">
                <p14:modId xmlns:p14="http://schemas.microsoft.com/office/powerpoint/2010/main" val="623014926"/>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1502878701"/>
                    </a:ext>
                  </a:extLst>
                </a:gridCol>
                <a:gridCol w="4000500">
                  <a:extLst>
                    <a:ext uri="{9D8B030D-6E8A-4147-A177-3AD203B41FA5}">
                      <a16:colId xmlns:a16="http://schemas.microsoft.com/office/drawing/2014/main" val="1179430298"/>
                    </a:ext>
                  </a:extLst>
                </a:gridCol>
                <a:gridCol w="3835400">
                  <a:extLst>
                    <a:ext uri="{9D8B030D-6E8A-4147-A177-3AD203B41FA5}">
                      <a16:colId xmlns:a16="http://schemas.microsoft.com/office/drawing/2014/main" val="637650616"/>
                    </a:ext>
                  </a:extLst>
                </a:gridCol>
              </a:tblGrid>
              <a:tr h="660400">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原文处理实例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解释风险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本研究应怎样报告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601955462"/>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仅比较收敛样本 </a:t>
                      </a:r>
                      <a:r>
                        <a:rPr lang="en-US" altLang="zh-CN" sz="1600" b="0">
                          <a:solidFill>
                            <a:srgbClr val="000000"/>
                          </a:solidFill>
                          <a:latin typeface="Microsoft YaHei" panose="020B0503020204020204" pitchFamily="34" charset="-122"/>
                          <a:ea typeface="微软雅黑" panose="020B0503020204020204" pitchFamily="34" charset="-122"/>
                        </a:rPr>
                        <a:t>[182-096]</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成为筛样后的条件精度</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给全部次数、有效数与失败原因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28684246"/>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限制参数并报未得到估计数 </a:t>
                      </a:r>
                      <a:r>
                        <a:rPr lang="en-US" altLang="zh-CN" sz="1600" b="0">
                          <a:solidFill>
                            <a:srgbClr val="000000"/>
                          </a:solidFill>
                          <a:latin typeface="Microsoft YaHei" panose="020B0503020204020204" pitchFamily="34" charset="-122"/>
                          <a:ea typeface="微软雅黑" panose="020B0503020204020204" pitchFamily="34" charset="-122"/>
                        </a:rPr>
                        <a:t>[182-091]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约束与计算预算影响成功率</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预先声明参数域、预算与接受规则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11998635"/>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失败用零作图标记 </a:t>
                      </a:r>
                      <a:r>
                        <a:rPr lang="en-US" altLang="zh-CN" sz="1600" b="0">
                          <a:solidFill>
                            <a:srgbClr val="000000"/>
                          </a:solidFill>
                          <a:latin typeface="Microsoft YaHei" panose="020B0503020204020204" pitchFamily="34" charset="-122"/>
                          <a:ea typeface="微软雅黑" panose="020B0503020204020204" pitchFamily="34" charset="-122"/>
                        </a:rPr>
                        <a:t>[182-030]</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零并非有效参数估计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不得把标记值代入</a:t>
                      </a:r>
                      <a:r>
                        <a:rPr lang="en-US" altLang="zh-CN" sz="1600" b="0">
                          <a:solidFill>
                            <a:srgbClr val="000000"/>
                          </a:solidFill>
                          <a:latin typeface="Microsoft YaHei" panose="020B0503020204020204" pitchFamily="34" charset="-122"/>
                          <a:ea typeface="微软雅黑" panose="020B0503020204020204" pitchFamily="34" charset="-122"/>
                        </a:rPr>
                        <a:t>RMSE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208083093"/>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剔除极端输出 </a:t>
                      </a:r>
                      <a:r>
                        <a:rPr lang="en-US" altLang="zh-CN" sz="1600" b="0">
                          <a:solidFill>
                            <a:srgbClr val="000000"/>
                          </a:solidFill>
                          <a:latin typeface="Microsoft YaHei" panose="020B0503020204020204" pitchFamily="34" charset="-122"/>
                          <a:ea typeface="微软雅黑" panose="020B0503020204020204" pitchFamily="34" charset="-122"/>
                        </a:rPr>
                        <a:t>[182-101]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有效极端值也会改变尾部风险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披露筛选规则与统计分母</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629353508"/>
                  </a:ext>
                </a:extLst>
              </a:tr>
            </a:tbl>
          </a:graphicData>
        </a:graphic>
      </p:graphicFrame>
    </p:spTree>
    <p:extLst>
      <p:ext uri="{BB962C8B-B14F-4D97-AF65-F5344CB8AC3E}">
        <p14:creationId xmlns:p14="http://schemas.microsoft.com/office/powerpoint/2010/main" val="231976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对开场问题的回答</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调研结论</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04</a:t>
            </a:r>
            <a:endParaRPr sz="1800">
              <a:latin typeface="Microsoft YaHei"/>
            </a:endParaRPr>
          </a:p>
        </p:txBody>
      </p:sp>
      <p:sp>
        <p:nvSpPr>
          <p:cNvPr id="6" name="文本框 5">
            <a:extLst>
              <a:ext uri="{FF2B5EF4-FFF2-40B4-BE49-F238E27FC236}">
                <a16:creationId xmlns:a16="http://schemas.microsoft.com/office/drawing/2014/main" id="{68038B89-0AF0-DAA3-1FDB-424EBC14C0A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对照方案应能检验新方法的具体改进，并与实际实现一致。</a:t>
            </a:r>
          </a:p>
        </p:txBody>
      </p:sp>
      <p:sp>
        <p:nvSpPr>
          <p:cNvPr id="7" name="文本框 6">
            <a:extLst>
              <a:ext uri="{FF2B5EF4-FFF2-40B4-BE49-F238E27FC236}">
                <a16:creationId xmlns:a16="http://schemas.microsoft.com/office/drawing/2014/main" id="{A18705D0-E1E5-5B44-78F3-7C6D1D3FF02B}"/>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当前建议可用于初选；近邻版本、部分来源及失败分母仍有待核项。</a:t>
            </a:r>
          </a:p>
        </p:txBody>
      </p:sp>
      <p:sp>
        <p:nvSpPr>
          <p:cNvPr id="8" name="文本框 7">
            <a:extLst>
              <a:ext uri="{FF2B5EF4-FFF2-40B4-BE49-F238E27FC236}">
                <a16:creationId xmlns:a16="http://schemas.microsoft.com/office/drawing/2014/main" id="{FD41DCC1-6CC1-58BE-FA6A-2C8AB8C456B5}"/>
              </a:ext>
            </a:extLst>
          </p:cNvPr>
          <p:cNvSpPr txBox="1"/>
          <p:nvPr/>
        </p:nvSpPr>
        <p:spPr>
          <a:xfrm>
            <a:off x="622300" y="25146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与谁比较</a:t>
            </a:r>
          </a:p>
        </p:txBody>
      </p:sp>
      <p:sp>
        <p:nvSpPr>
          <p:cNvPr id="9" name="文本框 8">
            <a:extLst>
              <a:ext uri="{FF2B5EF4-FFF2-40B4-BE49-F238E27FC236}">
                <a16:creationId xmlns:a16="http://schemas.microsoft.com/office/drawing/2014/main" id="{67F5AEFF-DC60-9112-C7FB-BE7521BC7561}"/>
              </a:ext>
            </a:extLst>
          </p:cNvPr>
          <p:cNvSpPr txBox="1"/>
          <p:nvPr/>
        </p:nvSpPr>
        <p:spPr>
          <a:xfrm>
            <a:off x="2692400" y="25146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共同参照、有限样本改进、近期同任务构造和直接母方法。</a:t>
            </a:r>
          </a:p>
        </p:txBody>
      </p:sp>
      <p:sp>
        <p:nvSpPr>
          <p:cNvPr id="10" name="文本框 9">
            <a:extLst>
              <a:ext uri="{FF2B5EF4-FFF2-40B4-BE49-F238E27FC236}">
                <a16:creationId xmlns:a16="http://schemas.microsoft.com/office/drawing/2014/main" id="{56F67830-977A-9CAC-7249-814A95DFFD75}"/>
              </a:ext>
            </a:extLst>
          </p:cNvPr>
          <p:cNvSpPr txBox="1"/>
          <p:nvPr/>
        </p:nvSpPr>
        <p:spPr>
          <a:xfrm>
            <a:off x="622300" y="36322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为什么选</a:t>
            </a:r>
          </a:p>
        </p:txBody>
      </p:sp>
      <p:sp>
        <p:nvSpPr>
          <p:cNvPr id="14" name="文本框 13">
            <a:extLst>
              <a:ext uri="{FF2B5EF4-FFF2-40B4-BE49-F238E27FC236}">
                <a16:creationId xmlns:a16="http://schemas.microsoft.com/office/drawing/2014/main" id="{A68BE0B4-C35A-18BB-9DE0-A0A545911E86}"/>
              </a:ext>
            </a:extLst>
          </p:cNvPr>
          <p:cNvSpPr txBox="1"/>
          <p:nvPr/>
        </p:nvSpPr>
        <p:spPr>
          <a:xfrm>
            <a:off x="2692400" y="36322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依据任务匹配、方法差异及实际比较证据，而非只看年份。</a:t>
            </a:r>
          </a:p>
        </p:txBody>
      </p:sp>
      <p:sp>
        <p:nvSpPr>
          <p:cNvPr id="15" name="文本框 14">
            <a:extLst>
              <a:ext uri="{FF2B5EF4-FFF2-40B4-BE49-F238E27FC236}">
                <a16:creationId xmlns:a16="http://schemas.microsoft.com/office/drawing/2014/main" id="{FCE25626-DAD6-92BD-8968-5F023A62F02F}"/>
              </a:ext>
            </a:extLst>
          </p:cNvPr>
          <p:cNvSpPr txBox="1"/>
          <p:nvPr/>
        </p:nvSpPr>
        <p:spPr>
          <a:xfrm>
            <a:off x="622300" y="47498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采用哪版</a:t>
            </a:r>
          </a:p>
        </p:txBody>
      </p:sp>
      <p:sp>
        <p:nvSpPr>
          <p:cNvPr id="16" name="文本框 15">
            <a:extLst>
              <a:ext uri="{FF2B5EF4-FFF2-40B4-BE49-F238E27FC236}">
                <a16:creationId xmlns:a16="http://schemas.microsoft.com/office/drawing/2014/main" id="{5700DE84-1562-2411-EA1A-CC12E56B80C1}"/>
              </a:ext>
            </a:extLst>
          </p:cNvPr>
          <p:cNvSpPr txBox="1"/>
          <p:nvPr/>
        </p:nvSpPr>
        <p:spPr>
          <a:xfrm>
            <a:off x="2692400" y="47498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对应作者、构造、分支与本地设置，引用和实现保持一致。</a:t>
            </a:r>
          </a:p>
        </p:txBody>
      </p:sp>
    </p:spTree>
    <p:extLst>
      <p:ext uri="{BB962C8B-B14F-4D97-AF65-F5344CB8AC3E}">
        <p14:creationId xmlns:p14="http://schemas.microsoft.com/office/powerpoint/2010/main" val="172014489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645</TotalTime>
  <Words>3336</Words>
  <Application>Microsoft Office PowerPoint</Application>
  <DocSecurity>0</DocSecurity>
  <PresentationFormat>宽屏</PresentationFormat>
  <Paragraphs>361</Paragraphs>
  <Slides>17</Slides>
  <Notes>17</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17</vt:i4>
      </vt:variant>
    </vt:vector>
  </HeadingPairs>
  <TitlesOfParts>
    <vt:vector size="30" baseType="lpstr">
      <vt:lpstr>等线</vt:lpstr>
      <vt:lpstr>等线 Light</vt:lpstr>
      <vt:lpstr>汉仪粗宋简</vt:lpstr>
      <vt:lpstr>汉仪文润宋韵 U</vt:lpstr>
      <vt:lpstr>Microsoft YaHei</vt:lpstr>
      <vt:lpstr>Microsoft YaHei</vt:lpstr>
      <vt:lpstr>Arial</vt:lpstr>
      <vt:lpstr>Calibri</vt:lpstr>
      <vt:lpstr>Calibri Light</vt:lpstr>
      <vt:lpstr>Times New Roman</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19</cp:revision>
  <dcterms:created xsi:type="dcterms:W3CDTF">2026-09-06T04:22:26Z</dcterms:created>
  <dcterms:modified xsi:type="dcterms:W3CDTF">2026-09-27T22:28:23Z</dcterms:modified>
</cp:coreProperties>
</file>