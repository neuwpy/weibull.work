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5c53d03c9d405d" /><Relationship Type="http://schemas.openxmlformats.org/officeDocument/2006/relationships/extended-properties" Target="/docProps/app.xml" Id="R4f52d71fe06947b9" /><Relationship Type="http://schemas.openxmlformats.org/officeDocument/2006/relationships/officeDocument" Target="/ppt/presentation.xml" Id="R5770cd3c542c46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bc0f42935c4659"/>
    <p:sldMasterId xmlns:r="http://schemas.openxmlformats.org/officeDocument/2006/relationships" id="2147483660" r:id="R3f843d3bee9e4ac1"/>
    <p:sldMasterId xmlns:r="http://schemas.openxmlformats.org/officeDocument/2006/relationships" id="2147483663" r:id="R76f7c0e5b0bc4221"/>
  </p:sldMasterIdLst>
  <p:notesMasterIdLst>
    <p:notesMasterId xmlns:r="http://schemas.openxmlformats.org/officeDocument/2006/relationships" r:id="R34ac2414c58944e9"/>
  </p:notesMasterIdLst>
  <p:sldIdLst>
    <p:sldId xmlns:r="http://schemas.openxmlformats.org/officeDocument/2006/relationships" id="256" r:id="R9e755ae11c484502"/>
    <p:sldId xmlns:r="http://schemas.openxmlformats.org/officeDocument/2006/relationships" id="257" r:id="R525304be8a264395"/>
    <p:sldId xmlns:r="http://schemas.openxmlformats.org/officeDocument/2006/relationships" id="258" r:id="R77f8abfd3f75447a"/>
    <p:sldId xmlns:r="http://schemas.openxmlformats.org/officeDocument/2006/relationships" id="259" r:id="R8ca7948bb4ad4923"/>
    <p:sldId xmlns:r="http://schemas.openxmlformats.org/officeDocument/2006/relationships" id="260" r:id="Rc01c9d0e0ac04f0a"/>
    <p:sldId xmlns:r="http://schemas.openxmlformats.org/officeDocument/2006/relationships" id="261" r:id="Rf070eefe8ead4c92"/>
    <p:sldId xmlns:r="http://schemas.openxmlformats.org/officeDocument/2006/relationships" id="262" r:id="R46dd875d0ec64a4c"/>
    <p:sldId xmlns:r="http://schemas.openxmlformats.org/officeDocument/2006/relationships" id="263" r:id="R4da8326831514cfb"/>
    <p:sldId xmlns:r="http://schemas.openxmlformats.org/officeDocument/2006/relationships" id="264" r:id="R6c3d3d73995c4b03"/>
    <p:sldId xmlns:r="http://schemas.openxmlformats.org/officeDocument/2006/relationships" id="265" r:id="R50475e52b0c44ae5"/>
    <p:sldId xmlns:r="http://schemas.openxmlformats.org/officeDocument/2006/relationships" id="266" r:id="Rd3ad70f9f62c4549"/>
    <p:sldId xmlns:r="http://schemas.openxmlformats.org/officeDocument/2006/relationships" id="267" r:id="Rc30efeaa1a5d4cd4"/>
    <p:sldId xmlns:r="http://schemas.openxmlformats.org/officeDocument/2006/relationships" id="268" r:id="R0b16ab9ee93f47f1"/>
    <p:sldId xmlns:r="http://schemas.openxmlformats.org/officeDocument/2006/relationships" id="269" r:id="R3925d7af3e9b4745"/>
    <p:sldId xmlns:r="http://schemas.openxmlformats.org/officeDocument/2006/relationships" id="270" r:id="R921ad5d7496e41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2ef761efac425b" /><Relationship Type="http://schemas.openxmlformats.org/officeDocument/2006/relationships/slideMaster" Target="/ppt/slideMasters/slideMaster1.xml" Id="Rdbbc0f42935c4659" /><Relationship Type="http://schemas.openxmlformats.org/officeDocument/2006/relationships/slideMaster" Target="/ppt/slideMasters/slideMaster2.xml" Id="R3f843d3bee9e4ac1" /><Relationship Type="http://schemas.openxmlformats.org/officeDocument/2006/relationships/slideMaster" Target="/ppt/slideMasters/slideMaster3.xml" Id="R76f7c0e5b0bc4221" /><Relationship Type="http://schemas.openxmlformats.org/officeDocument/2006/relationships/notesMaster" Target="/ppt/notesMasters/notesMaster1.xml" Id="R34ac2414c58944e9" /><Relationship Type="http://schemas.openxmlformats.org/officeDocument/2006/relationships/presProps" Target="/ppt/presProps.xml" Id="Rc696597b3328450c" /><Relationship Type="http://schemas.openxmlformats.org/officeDocument/2006/relationships/viewProps" Target="/ppt/viewProps.xml" Id="Rc328d95c82aa49b0" /><Relationship Type="http://schemas.openxmlformats.org/officeDocument/2006/relationships/tableStyles" Target="/ppt/tableStyles.xml" Id="R85c1bf3a050c4ec2" /><Relationship Type="http://schemas.openxmlformats.org/officeDocument/2006/relationships/slide" Target="/ppt/slides/slide1.xml" Id="R9e755ae11c484502" /><Relationship Type="http://schemas.openxmlformats.org/officeDocument/2006/relationships/slide" Target="/ppt/slides/slide2.xml" Id="R525304be8a264395" /><Relationship Type="http://schemas.openxmlformats.org/officeDocument/2006/relationships/slide" Target="/ppt/slides/slide3.xml" Id="R77f8abfd3f75447a" /><Relationship Type="http://schemas.openxmlformats.org/officeDocument/2006/relationships/slide" Target="/ppt/slides/slide4.xml" Id="R8ca7948bb4ad4923" /><Relationship Type="http://schemas.openxmlformats.org/officeDocument/2006/relationships/slide" Target="/ppt/slides/slide5.xml" Id="Rc01c9d0e0ac04f0a" /><Relationship Type="http://schemas.openxmlformats.org/officeDocument/2006/relationships/slide" Target="/ppt/slides/slide6.xml" Id="Rf070eefe8ead4c92" /><Relationship Type="http://schemas.openxmlformats.org/officeDocument/2006/relationships/slide" Target="/ppt/slides/slide7.xml" Id="R46dd875d0ec64a4c" /><Relationship Type="http://schemas.openxmlformats.org/officeDocument/2006/relationships/slide" Target="/ppt/slides/slide8.xml" Id="R4da8326831514cfb" /><Relationship Type="http://schemas.openxmlformats.org/officeDocument/2006/relationships/slide" Target="/ppt/slides/slide9.xml" Id="R6c3d3d73995c4b03" /><Relationship Type="http://schemas.openxmlformats.org/officeDocument/2006/relationships/slide" Target="/ppt/slides/slide10.xml" Id="R50475e52b0c44ae5" /><Relationship Type="http://schemas.openxmlformats.org/officeDocument/2006/relationships/slide" Target="/ppt/slides/slide11.xml" Id="Rd3ad70f9f62c4549" /><Relationship Type="http://schemas.openxmlformats.org/officeDocument/2006/relationships/slide" Target="/ppt/slides/slide12.xml" Id="Rc30efeaa1a5d4cd4" /><Relationship Type="http://schemas.openxmlformats.org/officeDocument/2006/relationships/slide" Target="/ppt/slides/slide13.xml" Id="R0b16ab9ee93f47f1" /><Relationship Type="http://schemas.openxmlformats.org/officeDocument/2006/relationships/slide" Target="/ppt/slides/slide14.xml" Id="R3925d7af3e9b4745" /><Relationship Type="http://schemas.openxmlformats.org/officeDocument/2006/relationships/slide" Target="/ppt/slides/slide15.xml" Id="R921ad5d7496e41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56c2dceb67640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a7c8aaf0d749a5" /><Relationship Type="http://schemas.openxmlformats.org/officeDocument/2006/relationships/notesMaster" Target="/ppt/notesMasters/notesMaster1.xml" Id="Re2c0a503a42443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a359d4859f4983" /><Relationship Type="http://schemas.openxmlformats.org/officeDocument/2006/relationships/notesMaster" Target="/ppt/notesMasters/notesMaster1.xml" Id="R1ec737c5590145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a7b8448ea84845" /><Relationship Type="http://schemas.openxmlformats.org/officeDocument/2006/relationships/notesMaster" Target="/ppt/notesMasters/notesMaster1.xml" Id="R63c3b6450fd941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dd85f816284ff7" /><Relationship Type="http://schemas.openxmlformats.org/officeDocument/2006/relationships/notesMaster" Target="/ppt/notesMasters/notesMaster1.xml" Id="Rc85bb751038a4c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8e11955a694bcc" /><Relationship Type="http://schemas.openxmlformats.org/officeDocument/2006/relationships/notesMaster" Target="/ppt/notesMasters/notesMaster1.xml" Id="Rb7707f4b9cd443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c4fedd0f07480d" /><Relationship Type="http://schemas.openxmlformats.org/officeDocument/2006/relationships/notesMaster" Target="/ppt/notesMasters/notesMaster1.xml" Id="Rff292c76114344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78cfe0af54459d" /><Relationship Type="http://schemas.openxmlformats.org/officeDocument/2006/relationships/notesMaster" Target="/ppt/notesMasters/notesMaster1.xml" Id="R1d2491e128d246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ee10478f524175" /><Relationship Type="http://schemas.openxmlformats.org/officeDocument/2006/relationships/notesMaster" Target="/ppt/notesMasters/notesMaster1.xml" Id="Re4799b3d6ce24d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eaf896d3e14c58" /><Relationship Type="http://schemas.openxmlformats.org/officeDocument/2006/relationships/notesMaster" Target="/ppt/notesMasters/notesMaster1.xml" Id="Rddd736c2eb1745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0a16a72af34a23" /><Relationship Type="http://schemas.openxmlformats.org/officeDocument/2006/relationships/notesMaster" Target="/ppt/notesMasters/notesMaster1.xml" Id="Rcf2bd62b20004e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4c471ff7434b1a" /><Relationship Type="http://schemas.openxmlformats.org/officeDocument/2006/relationships/notesMaster" Target="/ppt/notesMasters/notesMaster1.xml" Id="Rb5a3e3ecd43c49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c461dcbc6e419b" /><Relationship Type="http://schemas.openxmlformats.org/officeDocument/2006/relationships/notesMaster" Target="/ppt/notesMasters/notesMaster1.xml" Id="R5c2d3f7bbd4847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c0fb8c4ac54b0f" /><Relationship Type="http://schemas.openxmlformats.org/officeDocument/2006/relationships/notesMaster" Target="/ppt/notesMasters/notesMaster1.xml" Id="R411c82dc6f6c45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5859f6713a448f" /><Relationship Type="http://schemas.openxmlformats.org/officeDocument/2006/relationships/notesMaster" Target="/ppt/notesMasters/notesMaster1.xml" Id="R81661f574a8049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5825d007bf4cd2" /><Relationship Type="http://schemas.openxmlformats.org/officeDocument/2006/relationships/notesMaster" Target="/ppt/notesMasters/notesMaster1.xml" Id="R7c38173f2dac43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/>
              <a:t>研究目的：完整样本、尤其小样本三参数Weibull新估计器应与谁比较，为什么，采用哪版，怎样比较。本轮独立于Study01。推荐属于文献调研决定，尚未完成全部方法复现与新性能实验。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研究报告§1；用户研究意图保存在README。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研究报告§2；Cousineau2009 DOI10.1348/000711007X270843；MPS DOI10.1111/j.2517-6161.1983.tb01268.x；LSPF DOI10.1016/j.csda.2012.09.005；Park DOI10.23055/ijietap.2017.24.4.2848。White为后文追溯。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资料/近期文献范围核查.md；evidence/recent_direction_audit.json。63条有界定向编码，选择偏向任务辨别，不能估计领域份额。图只展示部分重叠标签，完整表见报告。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研究报告§3.2。WMLE、LSPF、Park、SAM、PM、DMMLE原文入口见报告。HGLM：10.1007/s12206-024-0911-5；AIMGC-PSO：10.1016/j.probengmech.2026.103978。后两项仅摘要/元数据，不计采用频次。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资料/比较习惯核查.md；evidence/benchmark_comparison_audit.json。主集13篇，完整普通三参数、重复抽样、全参数或联合风险。同篇同类只计一次，提出方法不计自身对手；综合比较182-096计参与者。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研究报告§4.1；比较习惯核查。Cousineau182-101明示MLE作常用基线，Nagatsuka182-113依据前序结果选WMLE/BL。182-050的名义BL/LSPF与原构造不符，已排除规范采用计数。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研究报告§4.2与§5.4。同一13篇主子集明确核到逐参数RMSE7、SD5、Bias4；相对Bias1，跨参数平均指标另编码。指标建议按作用作出，并非领域统一规范。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研究报告§4.3；LSPF182-113、SAM185-005、BPNN184-009、Akram–Hayat182-096。非参数重抽样会产生重复值，普通MPS零间距处理与端点非正则性必须另定义。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研究报告§4.4、§5.5；MPS1983及DMMLE2025。固定β&lt;1让γ逼近最小观测，可使全域似然无界。不能仅凭有限搜索未找到就证明无局部极大。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研究报告§5.1；资料/通用比较方案核查.md。此为调研推荐，不是文献投票共识，也不代表这些方法已完成共同实验。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研究报告§5.2。WMLE构造原文式3–4、LSPF§2与§2.3、Park2017§5、MPS1983。细节及原文链接见附录B与通用方案核查。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研究报告§5.3。SAM/PM算法边界与PM伪代码符号已在资料/通用比较方案核查.md定位。DMMLE选DM2，原模拟n≥50。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研究报告§5.4–5.5。网格与重复次数是本调研设计建议，并非已运行或文献统一标准。主分析n=5/10/20/30/50，n100只作补充。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研究报告v3.0。来源范围与剩余全文/复现门槛见研究进度与待办。最终推荐 independent of Study01。</a:t>
            </a:r>
            <a:endParaRPr sz="1800"/>
          </a:p>
          <a:p xmlns:a="http://schemas.openxmlformats.org/drawingml/2006/main">
            <a:r>
              <a:t>本页为Research09独立调研建议或有界文献统计，不是新增性能实验。完整来源与定位见研究报告v3.0和相应核查JSON。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fe3ffef754201" /><Relationship Type="http://schemas.openxmlformats.org/officeDocument/2006/relationships/image" Target="/ppt/media/image.jpeg" Id="R642bd364c54a4233" /><Relationship Type="http://schemas.openxmlformats.org/officeDocument/2006/relationships/image" Target="/ppt/media/image.png" Id="Ra544c2078ecb4920" /><Relationship Type="http://schemas.openxmlformats.org/officeDocument/2006/relationships/image" Target="/ppt/media/image2.png" Id="R37ab5f9c683c46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aef0f92c448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9f5ec941c46df" /><Relationship Type="http://schemas.openxmlformats.org/officeDocument/2006/relationships/image" Target="/ppt/media/image3.png" Id="R3cc968cebf3243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7ec318b9248dd" /><Relationship Type="http://schemas.openxmlformats.org/officeDocument/2006/relationships/image" Target="/ppt/media/image4.png" Id="Rc4afdf7946b242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d6e32ea854a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36b13e8f449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92e9ac9c74e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93e6ea1dc4d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b4314ac03440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30a7253b4452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015ee4baf480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16cef0648241ca" /><Relationship Type="http://schemas.openxmlformats.org/officeDocument/2006/relationships/image" Target="/ppt/media/image5.png" Id="R7311495c872b4dc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17366afa314b5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0b38ef4eb8d4944" /><Relationship Type="http://schemas.openxmlformats.org/officeDocument/2006/relationships/image" Target="/ppt/media/image5.png" Id="Rb93ffb66c980497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c47610ad3a7484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bd364c54a423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4c2078ecb492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b5f9c683c4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968cebf32435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fdf7946b242ba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2026/9/27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2026/9/27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2026/9/27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2026/9/27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2026/9/27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2026/9/27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2026/9/27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1495c872b4dc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ffb66c980497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d4b5d2ca2147a6" /><Relationship Type="http://schemas.openxmlformats.org/officeDocument/2006/relationships/slideLayout" Target="/ppt/slideLayouts/slideLayout1.xml" Id="R7cb1fb9e6fd649dc" /><Relationship Type="http://schemas.openxmlformats.org/officeDocument/2006/relationships/slideLayout" Target="/ppt/slideLayouts/slideLayout2.xml" Id="R1b3a82949ba348db" /><Relationship Type="http://schemas.openxmlformats.org/officeDocument/2006/relationships/slideLayout" Target="/ppt/slideLayouts/slideLayout3.xml" Id="Rb661fe418fee49fd" /><Relationship Type="http://schemas.openxmlformats.org/officeDocument/2006/relationships/slideLayout" Target="/ppt/slideLayouts/slideLayout4.xml" Id="R0e88ec84d60f408e" /><Relationship Type="http://schemas.openxmlformats.org/officeDocument/2006/relationships/slideLayout" Target="/ppt/slideLayouts/slideLayout5.xml" Id="R5d310f3ce37c4435" /><Relationship Type="http://schemas.openxmlformats.org/officeDocument/2006/relationships/slideLayout" Target="/ppt/slideLayouts/slideLayout6.xml" Id="R9b585eb948c2444c" /><Relationship Type="http://schemas.openxmlformats.org/officeDocument/2006/relationships/slideLayout" Target="/ppt/slideLayouts/slideLayout7.xml" Id="Rdbddcd9345184a29" /><Relationship Type="http://schemas.openxmlformats.org/officeDocument/2006/relationships/slideLayout" Target="/ppt/slideLayouts/slideLayout8.xml" Id="Rb34466306c894128" /><Relationship Type="http://schemas.openxmlformats.org/officeDocument/2006/relationships/slideLayout" Target="/ppt/slideLayouts/slideLayout9.xml" Id="R55451441e4074a39" /><Relationship Type="http://schemas.openxmlformats.org/officeDocument/2006/relationships/slideLayout" Target="/ppt/slideLayouts/slideLayout10.xml" Id="R70965dee738540cf" /><Relationship Type="http://schemas.openxmlformats.org/officeDocument/2006/relationships/slideLayout" Target="/ppt/slideLayouts/slideLayout11.xml" Id="R8b1d91853a164cd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99c7b15ecf742f1" /><Relationship Type="http://schemas.openxmlformats.org/officeDocument/2006/relationships/slideLayout" Target="/ppt/slideLayouts/slideLayout12.xml" Id="R013941b57ac548c0" /><Relationship Type="http://schemas.openxmlformats.org/officeDocument/2006/relationships/slideLayout" Target="/ppt/slideLayouts/slideLayout13.xml" Id="Rd0338dd32edc4bd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c9a76a95eac43e2" /><Relationship Type="http://schemas.openxmlformats.org/officeDocument/2006/relationships/slideLayout" Target="/ppt/slideLayouts/slideLayout14.xml" Id="R91ad19dbc5df4198" /><Relationship Type="http://schemas.openxmlformats.org/officeDocument/2006/relationships/slideLayout" Target="/ppt/slideLayouts/slideLayout15.xml" Id="R141b99b0749a4d7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2026/9/27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b1fb9e6fd649dc"/>
    <p:sldLayoutId xmlns:r="http://schemas.openxmlformats.org/officeDocument/2006/relationships" id="2147483650" r:id="R1b3a82949ba348db"/>
    <p:sldLayoutId xmlns:r="http://schemas.openxmlformats.org/officeDocument/2006/relationships" id="2147483651" r:id="Rb661fe418fee49fd"/>
    <p:sldLayoutId xmlns:r="http://schemas.openxmlformats.org/officeDocument/2006/relationships" id="2147483652" r:id="R0e88ec84d60f408e"/>
    <p:sldLayoutId xmlns:r="http://schemas.openxmlformats.org/officeDocument/2006/relationships" id="2147483653" r:id="R5d310f3ce37c4435"/>
    <p:sldLayoutId xmlns:r="http://schemas.openxmlformats.org/officeDocument/2006/relationships" id="2147483654" r:id="R9b585eb948c2444c"/>
    <p:sldLayoutId xmlns:r="http://schemas.openxmlformats.org/officeDocument/2006/relationships" id="2147483655" r:id="Rdbddcd9345184a29"/>
    <p:sldLayoutId xmlns:r="http://schemas.openxmlformats.org/officeDocument/2006/relationships" id="2147483656" r:id="Rb34466306c894128"/>
    <p:sldLayoutId xmlns:r="http://schemas.openxmlformats.org/officeDocument/2006/relationships" id="2147483657" r:id="R55451441e4074a39"/>
    <p:sldLayoutId xmlns:r="http://schemas.openxmlformats.org/officeDocument/2006/relationships" id="2147483658" r:id="R70965dee738540cf"/>
    <p:sldLayoutId xmlns:r="http://schemas.openxmlformats.org/officeDocument/2006/relationships" id="2147483659" r:id="R8b1d91853a164cd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2026/9/27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13941b57ac548c0"/>
    <p:sldLayoutId xmlns:r="http://schemas.openxmlformats.org/officeDocument/2006/relationships" id="2147483662" r:id="Rd0338dd32edc4bd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2026/9/27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91ad19dbc5df4198"/>
    <p:sldLayoutId xmlns:r="http://schemas.openxmlformats.org/officeDocument/2006/relationships" id="2147483665" r:id="R141b99b0749a4d7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662764d85442a" /><Relationship Type="http://schemas.openxmlformats.org/officeDocument/2006/relationships/notesSlide" Target="/ppt/notesSlides/notesSlide1.xml" Id="R9ceb3ee50dde4f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e5829004a84d06" /><Relationship Type="http://schemas.openxmlformats.org/officeDocument/2006/relationships/notesSlide" Target="/ppt/notesSlides/notesSlide2.xml" Id="R03cc198563c147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7008782dcd4234" /><Relationship Type="http://schemas.openxmlformats.org/officeDocument/2006/relationships/notesSlide" Target="/ppt/notesSlides/notesSlide3.xml" Id="R98331c52731c49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210be9e54d7471a" /><Relationship Type="http://schemas.openxmlformats.org/officeDocument/2006/relationships/chart" Target="/ppt/slides/charts/chart1.xml" Id="Rdbf1dd02096d40b0" /><Relationship Type="http://schemas.openxmlformats.org/officeDocument/2006/relationships/chart" Target="/ppt/slides/charts/chart2.xml" Id="Rbc7c76ffe36d4b6c" /><Relationship Type="http://schemas.openxmlformats.org/officeDocument/2006/relationships/notesSlide" Target="/ppt/notesSlides/notesSlide4.xml" Id="R152f57eb13d143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ac3e3c88dd4b01" /><Relationship Type="http://schemas.openxmlformats.org/officeDocument/2006/relationships/notesSlide" Target="/ppt/notesSlides/notesSlide5.xml" Id="Rdbda490f607f42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1e57c0553ac4c33" /><Relationship Type="http://schemas.openxmlformats.org/officeDocument/2006/relationships/chart" Target="/ppt/slides/charts/chart3.xml" Id="Ra014bdb1d8f241f8" /><Relationship Type="http://schemas.openxmlformats.org/officeDocument/2006/relationships/notesSlide" Target="/ppt/notesSlides/notesSlide6.xml" Id="R49bd78eb3b9c44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53590345a34c92" /><Relationship Type="http://schemas.openxmlformats.org/officeDocument/2006/relationships/notesSlide" Target="/ppt/notesSlides/notesSlide7.xml" Id="Rbfd83ef5ffa348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81c9427f794276" /><Relationship Type="http://schemas.openxmlformats.org/officeDocument/2006/relationships/notesSlide" Target="/ppt/notesSlides/notesSlide8.xml" Id="R208d4d1fd2f845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556e645c014a6f" /><Relationship Type="http://schemas.openxmlformats.org/officeDocument/2006/relationships/notesSlide" Target="/ppt/notesSlides/notesSlide9.xml" Id="Re7ac60af91f44e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700795cf1c440e" /><Relationship Type="http://schemas.openxmlformats.org/officeDocument/2006/relationships/notesSlide" Target="/ppt/notesSlides/notesSlide10.xml" Id="R732ffa301b7545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3354f6522b4e46" /><Relationship Type="http://schemas.openxmlformats.org/officeDocument/2006/relationships/notesSlide" Target="/ppt/notesSlides/notesSlide11.xml" Id="Rd879ba2d690948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42c44990cd4ac0" /><Relationship Type="http://schemas.openxmlformats.org/officeDocument/2006/relationships/notesSlide" Target="/ppt/notesSlides/notesSlide12.xml" Id="R5c4bd66365b048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4fbe536f0441bc" /><Relationship Type="http://schemas.openxmlformats.org/officeDocument/2006/relationships/notesSlide" Target="/ppt/notesSlides/notesSlide13.xml" Id="R5ce2dfaa384448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e342cdfbc834243" /><Relationship Type="http://schemas.openxmlformats.org/officeDocument/2006/relationships/notesSlide" Target="/ppt/notesSlides/notesSlide14.xml" Id="R4745ca9532f74a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1d297d605a421e" /><Relationship Type="http://schemas.openxmlformats.org/officeDocument/2006/relationships/notesSlide" Target="/ppt/notesSlides/notesSlide15.xml" Id="Rdb74fe6e301a4c3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论文数</c:v>
          </c:tx>
          <c:spPr>
            <a:solidFill xmlns:a="http://schemas.openxmlformats.org/drawingml/2006/main">
              <a:srgbClr val="2D609F"/>
            </a:solidFill>
          </c:spPr>
          <c:cat>
            <c:strRef>
              <c:f>'Chart Data'!$A$2:$A$5</c:f>
              <c:strCache>
                <c:ptCount val="4"/>
                <c:pt idx="0">
                  <c:v>混合结构</c:v>
                </c:pt>
                <c:pt idx="1">
                  <c:v>二参数</c:v>
                </c:pt>
                <c:pt idx="2">
                  <c:v>删失</c:v>
                </c:pt>
                <c:pt idx="3">
                  <c:v>完整观测子项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13</c:v>
                </c:pt>
                <c:pt idx="3">
                  <c:v>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253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论文数</c:v>
          </c:tx>
          <c:spPr>
            <a:solidFill xmlns:a="http://schemas.openxmlformats.org/drawingml/2006/main">
              <a:srgbClr val="2D609F"/>
            </a:solidFill>
          </c:spPr>
          <c:cat>
            <c:strRef>
              <c:f>'Chart Data'!$A$2:$A$5</c:f>
              <c:strCache>
                <c:ptCount val="4"/>
                <c:pt idx="0">
                  <c:v>贝叶斯</c:v>
                </c:pt>
                <c:pt idx="1">
                  <c:v>新估计构造</c:v>
                </c:pt>
                <c:pt idx="2">
                  <c:v>修正或组合构造</c:v>
                </c:pt>
                <c:pt idx="3">
                  <c:v>数值求解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</c:v>
                </c:pt>
                <c:pt idx="1">
                  <c:v>8</c:v>
                </c:pt>
                <c:pt idx="2">
                  <c:v>11</c:v>
                </c:pt>
                <c:pt idx="3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253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论文数</c:v>
          </c:tx>
          <c:spPr>
            <a:solidFill xmlns:a="http://schemas.openxmlformats.org/drawingml/2006/main">
              <a:srgbClr val="2D609F"/>
            </a:solidFill>
          </c:spPr>
          <c:cat>
            <c:strRef>
              <c:f>'Chart Data'!$A$2:$A$10</c:f>
              <c:strCache>
                <c:ptCount val="9"/>
                <c:pt idx="0">
                  <c:v>MDM</c:v>
                </c:pt>
                <c:pt idx="1">
                  <c:v>LS</c:v>
                </c:pt>
                <c:pt idx="2">
                  <c:v>MMLE</c:v>
                </c:pt>
                <c:pt idx="3">
                  <c:v>PWM</c:v>
                </c:pt>
                <c:pt idx="4">
                  <c:v>MPS</c:v>
                </c:pt>
                <c:pt idx="5">
                  <c:v>WMLE</c:v>
                </c:pt>
                <c:pt idx="6">
                  <c:v>MM</c:v>
                </c:pt>
                <c:pt idx="7">
                  <c:v>CC</c:v>
                </c:pt>
                <c:pt idx="8">
                  <c:v>MLE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5</c:v>
                </c:pt>
                <c:pt idx="8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253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4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  <a:endParaRPr sz="2400" i="0" u="none" cap="none">
              <a:ln>
                <a:noFill/>
              </a:ln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0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</a:t>
            </a:r>
            <a:r>
              <a:rPr sz="20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.28</a:t>
            </a:r>
            <a:endParaRPr sz="20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44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450" b="1">
                <a:solidFill>
                  <a:srgbClr val="FFFFFF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3450" b="1" i="0" u="none" cap="none" spc="0">
                <a:ln>
                  <a:noFill/>
                </a:ln>
                <a:solidFill>
                  <a:srgbClr val="FFFFFF"/>
                </a:solidFill>
                <a:latin typeface="汉仪粗宋简"/>
                <a:ea typeface="汉仪粗宋简"/>
                <a:cs typeface="汉仪粗宋简"/>
              </a:rPr>
              <a:t>三参数 Weibull 参数估计</a:t>
            </a:r>
            <a:endParaRPr sz="3600" i="0" u="none" cap="none" spc="0">
              <a:ln>
                <a:noFill/>
              </a:ln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450" b="1">
                <a:solidFill>
                  <a:srgbClr val="FFFFFF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3450" b="1">
                <a:solidFill>
                  <a:srgbClr val="FFFFFF"/>
                </a:solidFill>
                <a:latin typeface="汉仪粗宋简"/>
                <a:ea typeface="汉仪粗宋简"/>
                <a:cs typeface="汉仪粗宋简"/>
              </a:rPr>
              <a:t>比较对象与评价方案</a:t>
            </a:r>
            <a:endParaRPr sz="3600" i="0" u="none" cap="none" spc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latin typeface="汉仪文润宋韵 U"/>
              <a:ea typeface="汉仪文润宋韵 U"/>
              <a:cs typeface="汉仪文润宋韵 U"/>
            </a:endParaRPr>
          </a:p>
        </p:txBody>
      </p:sp>
    </p:spTree>
    <p:extLst>
      <p:ext uri="{BB962C8B-B14F-4D97-AF65-F5344CB8AC3E}">
        <p14:creationId xmlns:p14="http://schemas.microsoft.com/office/powerpoint/2010/main" val="8410421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新方法应该和谁比，为什么，怎样比？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2 / 15">
            <a:extLst xmlns:a="http://schemas.openxmlformats.org/drawingml/2006/main">
              <a:ext uri="{FF2B5EF4-FFF2-40B4-BE49-F238E27FC236}">
                <a16:creationId xmlns:a16="http://schemas.microsoft.com/office/drawing/2014/main" id="{715102CE-1BBB-4518-96FA-BDE24608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2 / 15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BBE04757-6E21-4907-A5EA-21288FC3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对象：完整样本、小样本、三个未知参数">
            <a:extLst xmlns:a="http://schemas.openxmlformats.org/drawingml/2006/main">
              <a:ext uri="{FF2B5EF4-FFF2-40B4-BE49-F238E27FC236}">
                <a16:creationId xmlns:a16="http://schemas.microsoft.com/office/drawing/2014/main" id="{5AE7FA4E-B2B0-4184-857E-09B3686E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对象：完整样本、小样本、三个未知参数</a:t>
            </a:r>
          </a:p>
        </p:txBody>
      </p:sp>
      <p:sp>
        <p:nvSpPr>
          <p:cNvPr id="9" name="一般移位 γ∈R；非负起点寿命 γ≥0。两种任务要分别说">
            <a:extLst xmlns:a="http://schemas.openxmlformats.org/drawingml/2006/main">
              <a:ext uri="{FF2B5EF4-FFF2-40B4-BE49-F238E27FC236}">
                <a16:creationId xmlns:a16="http://schemas.microsoft.com/office/drawing/2014/main" id="{6B5DDC63-508A-401C-BC63-374AC476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527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一般移位 γ∈R；非负起点寿命 γ≥0。两种任务要分别说明。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C9DDED54-C2A6-4D5F-B939-F3D6C3DA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证据：方法来源与论文中的实际比较">
            <a:extLst xmlns:a="http://schemas.openxmlformats.org/drawingml/2006/main">
              <a:ext uri="{FF2B5EF4-FFF2-40B4-BE49-F238E27FC236}">
                <a16:creationId xmlns:a16="http://schemas.microsoft.com/office/drawing/2014/main" id="{65D06C02-D49A-416B-9098-59409420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证据：方法来源与论文中的实际比较</a:t>
            </a:r>
          </a:p>
        </p:txBody>
      </p:sp>
      <p:sp>
        <p:nvSpPr>
          <p:cNvPr id="12" name="同一名称不一定同一构造；引用不等于采用；频次不等于性能。">
            <a:extLst xmlns:a="http://schemas.openxmlformats.org/drawingml/2006/main">
              <a:ext uri="{FF2B5EF4-FFF2-40B4-BE49-F238E27FC236}">
                <a16:creationId xmlns:a16="http://schemas.microsoft.com/office/drawing/2014/main" id="{CC31FA96-30F4-4D6D-8DC0-4F64BCBD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909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同一名称不一定同一构造；引用不等于采用；频次不等于性能。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CCA27D8D-C611-451B-8A67-DC8D6F05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产物：明确组合、具体版本、评价协议">
            <a:extLst xmlns:a="http://schemas.openxmlformats.org/drawingml/2006/main">
              <a:ext uri="{FF2B5EF4-FFF2-40B4-BE49-F238E27FC236}">
                <a16:creationId xmlns:a16="http://schemas.microsoft.com/office/drawing/2014/main" id="{9A7A9606-8D81-4A85-8834-A4AA5C00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产物：明确组合、具体版本、评价协议</a:t>
            </a:r>
          </a:p>
        </p:txBody>
      </p:sp>
      <p:sp>
        <p:nvSpPr>
          <p:cNvPr id="15" name="经典参照＋问题相关竞争者；按创新主张增加母方法或近邻。">
            <a:extLst xmlns:a="http://schemas.openxmlformats.org/drawingml/2006/main">
              <a:ext uri="{FF2B5EF4-FFF2-40B4-BE49-F238E27FC236}">
                <a16:creationId xmlns:a16="http://schemas.microsoft.com/office/drawing/2014/main" id="{F3BE33E0-ED38-4E32-98C0-881D2B6A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292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经典参照＋问题相关竞争者；按创新主张增加母方法或近邻。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沿革决定比较作用，名称不能代替定义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方法沿革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3 / 15">
            <a:extLst xmlns:a="http://schemas.openxmlformats.org/drawingml/2006/main">
              <a:ext uri="{FF2B5EF4-FFF2-40B4-BE49-F238E27FC236}">
                <a16:creationId xmlns:a16="http://schemas.microsoft.com/office/drawing/2014/main" id="{9BB1C5BB-C4ED-4053-9724-D6F639A2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3 / 15</a:t>
            </a:r>
          </a:p>
        </p:txBody>
      </p:sp>
      <p:sp>
        <p:nvSpPr>
          <p:cNvPr id="7" name="保留五条与选型直接有关的路线">
            <a:extLst xmlns:a="http://schemas.openxmlformats.org/drawingml/2006/main">
              <a:ext uri="{FF2B5EF4-FFF2-40B4-BE49-F238E27FC236}">
                <a16:creationId xmlns:a16="http://schemas.microsoft.com/office/drawing/2014/main" id="{8E48D9FF-3507-4399-AA91-9E58F482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保留五条与选型直接有关的路线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048250"/>
                <a:gridCol w="3638550"/>
              </a:tblGrid>
              <a:tr h="565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路线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代表沿革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比较作用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</a:tr>
              <a:tr h="565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似然与修正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 → WMLE 2009 / DMMLE 2025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共同参照、偏差修正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65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White → Soman–Misra / Park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绘图分数、方向与位置域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矩与概率加权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 → PWM → L矩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矩类创新的直接参照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65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非正则问题的新构造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 1983；LSPF 2013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不同准则，不是直接继承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顺序构造与学习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MDM、SAM / PM；ANN / BPNN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按具体创新主张增补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9" name="优化器替换、估计方程修改、直接学习映射，需要分开判断。">
            <a:extLst xmlns:a="http://schemas.openxmlformats.org/drawingml/2006/main">
              <a:ext uri="{FF2B5EF4-FFF2-40B4-BE49-F238E27FC236}">
                <a16:creationId xmlns:a16="http://schemas.microsoft.com/office/drawing/2014/main" id="{15655FD1-A7F3-4F95-BF2E-C406DBBF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优化器替换、估计方程修改、直接学习映射，需要分开判断。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近期材料同时包含新构造与特殊任务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近期进展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4 / 15">
            <a:extLst xmlns:a="http://schemas.openxmlformats.org/drawingml/2006/main">
              <a:ext uri="{FF2B5EF4-FFF2-40B4-BE49-F238E27FC236}">
                <a16:creationId xmlns:a16="http://schemas.microsoft.com/office/drawing/2014/main" id="{85AC6F58-4568-463C-912A-92AF74FD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4 / 15</a:t>
            </a:r>
          </a:p>
        </p:txBody>
      </p:sp>
      <p:sp>
        <p:nvSpPr>
          <p:cNvPr id="7" name="2006年以来已核年份 51 条；标签可重叠，分母来自定">
            <a:extLst xmlns:a="http://schemas.openxmlformats.org/drawingml/2006/main">
              <a:ext uri="{FF2B5EF4-FFF2-40B4-BE49-F238E27FC236}">
                <a16:creationId xmlns:a16="http://schemas.microsoft.com/office/drawing/2014/main" id="{4ECA9C03-AC37-455C-ABAA-86ADDB8A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2006年以来已核年份 51 条；标签可重叠，分母来自定向核查</a:t>
            </a:r>
          </a:p>
        </p:txBody>
      </p:sp>
      <p:sp>
        <p:nvSpPr>
          <p:cNvPr id="8" name="研究任务">
            <a:extLst xmlns:a="http://schemas.openxmlformats.org/drawingml/2006/main">
              <a:ext uri="{FF2B5EF4-FFF2-40B4-BE49-F238E27FC236}">
                <a16:creationId xmlns:a16="http://schemas.microsoft.com/office/drawing/2014/main" id="{797D48E2-873B-4F8E-93A5-6BB052F6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研究任务</a:t>
            </a:r>
          </a:p>
        </p:txBody>
      </p:sp>
      <p:sp>
        <p:nvSpPr>
          <p:cNvPr id="9" name="创新内容">
            <a:extLst xmlns:a="http://schemas.openxmlformats.org/drawingml/2006/main">
              <a:ext uri="{FF2B5EF4-FFF2-40B4-BE49-F238E27FC236}">
                <a16:creationId xmlns:a16="http://schemas.microsoft.com/office/drawing/2014/main" id="{AAE43151-C1E1-40CD-94F9-EF24D4C2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526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创新内容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19125" y="2628900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f1dd02096d40b0"/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362700" y="2628900"/>
          <a:ext xmlns:a="http://schemas.openxmlformats.org/drawingml/2006/main" cx="5143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7c76ffe36d4b6c"/>
          </a:graphicData>
        </a:graphic>
      </p:graphicFrame>
      <p:sp>
        <p:nvSpPr>
          <p:cNvPr id="12" name="可确认通用构造仍在出现；该样本不能证明全领域研究重心已发">
            <a:extLst xmlns:a="http://schemas.openxmlformats.org/drawingml/2006/main">
              <a:ext uri="{FF2B5EF4-FFF2-40B4-BE49-F238E27FC236}">
                <a16:creationId xmlns:a16="http://schemas.microsoft.com/office/drawing/2014/main" id="{B2256567-5E77-4DB2-B41F-D4C68839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可确认通用构造仍在出现；该样本不能证明全领域研究重心已发生转移。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直接相关的近期竞争者仍在出现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近期进展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5 / 15">
            <a:extLst xmlns:a="http://schemas.openxmlformats.org/drawingml/2006/main">
              <a:ext uri="{FF2B5EF4-FFF2-40B4-BE49-F238E27FC236}">
                <a16:creationId xmlns:a16="http://schemas.microsoft.com/office/drawing/2014/main" id="{1BC82604-B6CA-44A2-ADD2-8A5944AB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5 / 15</a:t>
            </a:r>
          </a:p>
        </p:txBody>
      </p:sp>
      <p:sp>
        <p:nvSpPr>
          <p:cNvPr id="7" name="年份只是入口，任务匹配与具体构造决定是否进入实验">
            <a:extLst xmlns:a="http://schemas.openxmlformats.org/drawingml/2006/main">
              <a:ext uri="{FF2B5EF4-FFF2-40B4-BE49-F238E27FC236}">
                <a16:creationId xmlns:a16="http://schemas.microsoft.com/office/drawing/2014/main" id="{EB729C68-0017-457A-94DB-7AE4CAF9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年份只是入口，任务匹配与具体构造决定是否进入实验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4095750"/>
                <a:gridCol w="3162300"/>
              </a:tblGrid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时期／方法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直接相关性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本次取舍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2009 WMLE；2013 LSPF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完整三参数、有限样本／非正则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一般主组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2017 Park Plot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概率图、非负位置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寿命问题主组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 MDM / SAM；2024 PM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一致性构造／极小样本顺序更新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按创新主张增补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 DMMLE；近期BPNN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似然偏差／学习估计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匹配主张时加入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 HGLM；2026 AIMGC-PSO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小样本组合与智能搜索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全文待补，暂不作性能结论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9" name="不能说近年没有新方法，也不能说某个最新方法已经成为统一b">
            <a:extLst xmlns:a="http://schemas.openxmlformats.org/drawingml/2006/main">
              <a:ext uri="{FF2B5EF4-FFF2-40B4-BE49-F238E27FC236}">
                <a16:creationId xmlns:a16="http://schemas.microsoft.com/office/drawing/2014/main" id="{5DF28015-29DE-4835-9016-4D3140E4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不能说近年没有新方法，也不能说某个最新方法已经成为统一benchmark。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MLE与概率图路线是主要共同参照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实际比较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6 / 15">
            <a:extLst xmlns:a="http://schemas.openxmlformats.org/drawingml/2006/main">
              <a:ext uri="{FF2B5EF4-FFF2-40B4-BE49-F238E27FC236}">
                <a16:creationId xmlns:a16="http://schemas.microsoft.com/office/drawing/2014/main" id="{F97DA5BD-C3D3-4079-B04D-72EFC4DE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6 / 15</a:t>
            </a:r>
          </a:p>
        </p:txBody>
      </p:sp>
      <p:sp>
        <p:nvSpPr>
          <p:cNvPr id="7" name="13篇严格主子集：同篇同类最多一次，提出方法不计为自身对">
            <a:extLst xmlns:a="http://schemas.openxmlformats.org/drawingml/2006/main">
              <a:ext uri="{FF2B5EF4-FFF2-40B4-BE49-F238E27FC236}">
                <a16:creationId xmlns:a16="http://schemas.microsoft.com/office/drawing/2014/main" id="{9E7689F5-1460-446F-A9DE-B811FBDB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13篇严格主子集：同篇同类最多一次，提出方法不计为自身对手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8175" y="2190750"/>
          <a:ext xmlns:a="http://schemas.openxmlformats.org/drawingml/2006/main" cx="71247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14bdb1d8f241f8"/>
          </a:graphicData>
        </a:graphic>
      </p:graphicFrame>
      <p:sp>
        <p:nvSpPr>
          <p:cNvPr id="9" name="8 / 13">
            <a:extLst xmlns:a="http://schemas.openxmlformats.org/drawingml/2006/main">
              <a:ext uri="{FF2B5EF4-FFF2-40B4-BE49-F238E27FC236}">
                <a16:creationId xmlns:a16="http://schemas.microsoft.com/office/drawing/2014/main" id="{5A732866-43EA-4AD4-9259-D632DF17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9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8 / 13</a:t>
            </a:r>
          </a:p>
        </p:txBody>
      </p:sp>
      <p:sp>
        <p:nvSpPr>
          <p:cNvPr id="10" name="使用MLE作参照">
            <a:extLst xmlns:a="http://schemas.openxmlformats.org/drawingml/2006/main">
              <a:ext uri="{FF2B5EF4-FFF2-40B4-BE49-F238E27FC236}">
                <a16:creationId xmlns:a16="http://schemas.microsoft.com/office/drawing/2014/main" id="{7EB2CA95-9D37-4C2D-A98D-84AB7F69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33725"/>
            <a:ext cx="3114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使用MLE作参照</a:t>
            </a:r>
          </a:p>
        </p:txBody>
      </p:sp>
      <p:sp>
        <p:nvSpPr>
          <p:cNvPr id="11" name="6 / 13">
            <a:extLst xmlns:a="http://schemas.openxmlformats.org/drawingml/2006/main">
              <a:ext uri="{FF2B5EF4-FFF2-40B4-BE49-F238E27FC236}">
                <a16:creationId xmlns:a16="http://schemas.microsoft.com/office/drawing/2014/main" id="{820DC3CC-8629-4E11-9F3B-D66F7412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957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6 / 13</a:t>
            </a:r>
          </a:p>
        </p:txBody>
      </p:sp>
      <p:sp>
        <p:nvSpPr>
          <p:cNvPr id="12" name="LS或相关系数路线&#10;合并仅用于粗分类">
            <a:extLst xmlns:a="http://schemas.openxmlformats.org/drawingml/2006/main">
              <a:ext uri="{FF2B5EF4-FFF2-40B4-BE49-F238E27FC236}">
                <a16:creationId xmlns:a16="http://schemas.microsoft.com/office/drawing/2014/main" id="{D06D3A02-3CA7-4A1B-9022-3C6D5C5F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29150"/>
            <a:ext cx="3114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LS或相关系数路线</a:t>
            </a:r>
          </a:p>
          <a:p xmlns:a="http://schemas.openxmlformats.org/drawingml/2006/main"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合并仅用于粗分类</a:t>
            </a:r>
          </a:p>
        </p:txBody>
      </p:sp>
      <p:sp>
        <p:nvSpPr>
          <p:cNvPr id="13" name="CC与LS的具体构造不同；频次说明采用实践，不证明哪个估">
            <a:extLst xmlns:a="http://schemas.openxmlformats.org/drawingml/2006/main">
              <a:ext uri="{FF2B5EF4-FFF2-40B4-BE49-F238E27FC236}">
                <a16:creationId xmlns:a16="http://schemas.microsoft.com/office/drawing/2014/main" id="{4D16E6C1-2E7B-493E-9BA7-7F0018FE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CC与LS的具体构造不同；频次说明采用实践，不证明哪个估计器性能最好。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常见做法是共同基线加问题相关对手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实际比较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7 / 15">
            <a:extLst xmlns:a="http://schemas.openxmlformats.org/drawingml/2006/main">
              <a:ext uri="{FF2B5EF4-FFF2-40B4-BE49-F238E27FC236}">
                <a16:creationId xmlns:a16="http://schemas.microsoft.com/office/drawing/2014/main" id="{E5457D76-C8C3-4BE3-9F77-AF5D8403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7 / 15</a:t>
            </a:r>
          </a:p>
        </p:txBody>
      </p:sp>
      <p:sp>
        <p:nvSpPr>
          <p:cNvPr id="7" name="有反复出现的比较逻辑，尚无证据支持唯一默认组合">
            <a:extLst xmlns:a="http://schemas.openxmlformats.org/drawingml/2006/main">
              <a:ext uri="{FF2B5EF4-FFF2-40B4-BE49-F238E27FC236}">
                <a16:creationId xmlns:a16="http://schemas.microsoft.com/office/drawing/2014/main" id="{86414A62-CA8A-481B-A3BD-BA1F00BD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有反复出现的比较逻辑，尚无证据支持唯一默认组合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000500"/>
                <a:gridCol w="37338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论文／研究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实际比较对象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对选型的启示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Cousineau 比较研究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MLE、MPS、WMLE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保留常用参照并比较替代构造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Nagatsuka LSPF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WMLE、BL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根据前序证据选较强对手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SAM；PM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MLE＋CC或LS＋PWM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共同基线加相关路线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CC、MDM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学习方法与目标问题近邻比较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三篇共同出现MLE＋CC；部分近期论文作者重合。&#10;论文数">
            <a:extLst xmlns:a="http://schemas.openxmlformats.org/drawingml/2006/main">
              <a:ext uri="{FF2B5EF4-FFF2-40B4-BE49-F238E27FC236}">
                <a16:creationId xmlns:a16="http://schemas.microsoft.com/office/drawing/2014/main" id="{25EB4415-2651-4B5D-9680-3A85B10B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三篇共同出现MLE＋CC；部分近期论文作者重合。</a:t>
            </a:r>
          </a:p>
          <a:p xmlns:a="http://schemas.openxmlformats.org/drawingml/2006/main">
            <a:pPr>
              <a:defRPr sz="1875" b="0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论文数不能当独立团队数，方法引用不能当运行采用。</a:t>
            </a:r>
          </a:p>
        </p:txBody>
      </p:sp>
      <p:sp>
        <p:nvSpPr>
          <p:cNvPr id="10" name="旧9篇定向矩阵由本轮审核取代；有争议的同名方法不再合并计">
            <a:extLst xmlns:a="http://schemas.openxmlformats.org/drawingml/2006/main">
              <a:ext uri="{FF2B5EF4-FFF2-40B4-BE49-F238E27FC236}">
                <a16:creationId xmlns:a16="http://schemas.microsoft.com/office/drawing/2014/main" id="{EC6E11E3-13B5-4E68-8157-1FC14039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旧9篇定向矩阵由本轮审核取代；有争议的同名方法不再合并计数。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Monte Carlo直接评价参数误差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评价依据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8 / 15">
            <a:extLst xmlns:a="http://schemas.openxmlformats.org/drawingml/2006/main">
              <a:ext uri="{FF2B5EF4-FFF2-40B4-BE49-F238E27FC236}">
                <a16:creationId xmlns:a16="http://schemas.microsoft.com/office/drawing/2014/main" id="{81740683-617C-4C7E-B21E-EDAA8C76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8 / 15</a:t>
            </a:r>
          </a:p>
        </p:txBody>
      </p:sp>
      <p:sp>
        <p:nvSpPr>
          <p:cNvPr id="7" name="主输出：逐参数Bias、RMSE、SD，加有效率">
            <a:extLst xmlns:a="http://schemas.openxmlformats.org/drawingml/2006/main">
              <a:ext uri="{FF2B5EF4-FFF2-40B4-BE49-F238E27FC236}">
                <a16:creationId xmlns:a16="http://schemas.microsoft.com/office/drawing/2014/main" id="{2186D1FF-1FE8-4574-A2DC-0F1ACA0F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主输出：逐参数Bias、RMSE、SD，加有效率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4286250"/>
                <a:gridCol w="3590925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要回答什么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采用什么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需要避免什么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系统偏差与总误差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每个参数Bias、RMSE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只看估计均值离真值多远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抽样波动与可计算性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SD、有效数 / 全部生成数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只列成功样本RMSE排名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不同单位如何比较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形状和尺度相对误差</a:t>
                      </a:r>
                    </a:p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位置误差除以尺度η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位置γ=0时除以γ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特定主张是否成立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寿命误差、覆盖率＋区间长度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把拟合R²当参数准确性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联合指标只作摘要，保留β、η、γ各自结果；极端有效估计不">
            <a:extLst xmlns:a="http://schemas.openxmlformats.org/drawingml/2006/main">
              <a:ext uri="{FF2B5EF4-FFF2-40B4-BE49-F238E27FC236}">
                <a16:creationId xmlns:a16="http://schemas.microsoft.com/office/drawing/2014/main" id="{F9312A6A-2CB8-43DF-92B6-992E0B51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联合指标只作摘要，保留β、η、γ各自结果；极端有效估计不能随意删除。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真实数据展示应用、拟合与算法表现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评价依据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9 / 15">
            <a:extLst xmlns:a="http://schemas.openxmlformats.org/drawingml/2006/main">
              <a:ext uri="{FF2B5EF4-FFF2-40B4-BE49-F238E27FC236}">
                <a16:creationId xmlns:a16="http://schemas.microsoft.com/office/drawing/2014/main" id="{5B018FFB-73C1-4F89-BECC-42B7E167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9 / 15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45230D95-6F3D-46B6-9F86-825451D5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默认任务：应用与拟合诊断">
            <a:extLst xmlns:a="http://schemas.openxmlformats.org/drawingml/2006/main">
              <a:ext uri="{FF2B5EF4-FFF2-40B4-BE49-F238E27FC236}">
                <a16:creationId xmlns:a16="http://schemas.microsoft.com/office/drawing/2014/main" id="{54913E84-2ADB-46A8-A4BC-46F8EABB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764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默认任务：应用与拟合诊断</a:t>
            </a:r>
          </a:p>
        </p:txBody>
      </p:sp>
      <p:sp>
        <p:nvSpPr>
          <p:cNvPr id="9" name="参数、经验CDF、KS或AD统计量、有效状态和用时。真实">
            <a:extLst xmlns:a="http://schemas.openxmlformats.org/drawingml/2006/main">
              <a:ext uri="{FF2B5EF4-FFF2-40B4-BE49-F238E27FC236}">
                <a16:creationId xmlns:a16="http://schemas.microsoft.com/office/drawing/2014/main" id="{AFFD8FB5-845E-4568-BEBD-06182719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336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参数、经验CDF、KS或AD统计量、有效状态和用时。真实参数通常未知。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9BBC3760-1B4B-47AF-867B-0556CE81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43275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需要p值：拟合后重新估参校准">
            <a:extLst xmlns:a="http://schemas.openxmlformats.org/drawingml/2006/main">
              <a:ext uri="{FF2B5EF4-FFF2-40B4-BE49-F238E27FC236}">
                <a16:creationId xmlns:a16="http://schemas.microsoft.com/office/drawing/2014/main" id="{22A28490-1577-4FBD-92E0-D96FCE35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43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需要p值：拟合后重新估参校准</a:t>
            </a:r>
          </a:p>
        </p:txBody>
      </p:sp>
      <p:sp>
        <p:nvSpPr>
          <p:cNvPr id="12" name="按参数bootstrap校准，说明拟合模型条件；普通KS">
            <a:extLst xmlns:a="http://schemas.openxmlformats.org/drawingml/2006/main">
              <a:ext uri="{FF2B5EF4-FFF2-40B4-BE49-F238E27FC236}">
                <a16:creationId xmlns:a16="http://schemas.microsoft.com/office/drawing/2014/main" id="{802D174F-FA92-4696-BB52-CBF22704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按参数bootstrap校准，说明拟合模型条件；普通KS临界值不能直接套用。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1CA47ABB-972D-43B4-A0AA-4C32BB7B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0100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需要预测或稳定性：另设评价设计">
            <a:extLst xmlns:a="http://schemas.openxmlformats.org/drawingml/2006/main">
              <a:ext uri="{FF2B5EF4-FFF2-40B4-BE49-F238E27FC236}">
                <a16:creationId xmlns:a16="http://schemas.microsoft.com/office/drawing/2014/main" id="{BB622970-1A3B-435A-98CA-25ED7B65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01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需要预测或稳定性：另设评价设计</a:t>
            </a:r>
          </a:p>
        </p:txBody>
      </p:sp>
      <p:sp>
        <p:nvSpPr>
          <p:cNvPr id="15" name="留出数据支撑预测；重抽样须处理重复值及端点问题，不产生新">
            <a:extLst xmlns:a="http://schemas.openxmlformats.org/drawingml/2006/main">
              <a:ext uri="{FF2B5EF4-FFF2-40B4-BE49-F238E27FC236}">
                <a16:creationId xmlns:a16="http://schemas.microsoft.com/office/drawing/2014/main" id="{741410BB-32CD-48DF-985F-1E3E7285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673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留出数据支撑预测；重抽样须处理重复值及端点问题，不产生新的真值。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MLE异常必须进入比较结果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评价依据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10 / 15">
            <a:extLst xmlns:a="http://schemas.openxmlformats.org/drawingml/2006/main">
              <a:ext uri="{FF2B5EF4-FFF2-40B4-BE49-F238E27FC236}">
                <a16:creationId xmlns:a16="http://schemas.microsoft.com/office/drawing/2014/main" id="{C0965242-7B2F-4E08-A4A3-523C7419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10 / 15</a:t>
            </a:r>
          </a:p>
        </p:txBody>
      </p:sp>
      <p:sp>
        <p:nvSpPr>
          <p:cNvPr id="7" name="采用有限局部剖面似然参照Local-ML，明确区别于全域">
            <a:extLst xmlns:a="http://schemas.openxmlformats.org/drawingml/2006/main">
              <a:ext uri="{FF2B5EF4-FFF2-40B4-BE49-F238E27FC236}">
                <a16:creationId xmlns:a16="http://schemas.microsoft.com/office/drawing/2014/main" id="{EFBCEC09-190C-4FBB-840B-BB0EC2E0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采用有限局部剖面似然参照Local-ML，明确区别于全域最优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782050"/>
              </a:tblGrid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统一要求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公开目标、参数域、初始化、预算与验收规则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区分搜索到限、未收敛、支持域违反及有效极端值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分母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全部生成数、各自有效数、固定主组与成对共同有效数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各自与共同有效集均标条件结果；失败不填零或真值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没有找到有限局部极大，不等于已证明数学上不存在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9" name="改变对手会改变共同有效集；公开回退流程并单独命名。">
            <a:extLst xmlns:a="http://schemas.openxmlformats.org/drawingml/2006/main">
              <a:ext uri="{FF2B5EF4-FFF2-40B4-BE49-F238E27FC236}">
                <a16:creationId xmlns:a16="http://schemas.microsoft.com/office/drawing/2014/main" id="{5CC3A1C2-A48A-4760-99F8-8D363F55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改变对手会改变共同有效集；公开回退流程并单独命名。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一般移位四基准，非负寿命再加Park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最终选择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11 / 15">
            <a:extLst xmlns:a="http://schemas.openxmlformats.org/drawingml/2006/main">
              <a:ext uri="{FF2B5EF4-FFF2-40B4-BE49-F238E27FC236}">
                <a16:creationId xmlns:a16="http://schemas.microsoft.com/office/drawing/2014/main" id="{A6CA5F64-D2AD-4B6E-859F-D195F36B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11 / 15</a:t>
            </a:r>
          </a:p>
        </p:txBody>
      </p:sp>
      <p:sp>
        <p:nvSpPr>
          <p:cNvPr id="7" name="一般移位模型  γ∈R">
            <a:extLst xmlns:a="http://schemas.openxmlformats.org/drawingml/2006/main">
              <a:ext uri="{FF2B5EF4-FFF2-40B4-BE49-F238E27FC236}">
                <a16:creationId xmlns:a16="http://schemas.microsoft.com/office/drawing/2014/main" id="{D3D51EC7-3D6A-4DE1-9843-9F607B8D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2405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一般移位模型  γ∈R</a:t>
            </a:r>
          </a:p>
        </p:txBody>
      </p:sp>
      <p:sp>
        <p:nvSpPr>
          <p:cNvPr id="8" name="Local-ML     WMLE-J     MPS ">
            <a:extLst xmlns:a="http://schemas.openxmlformats.org/drawingml/2006/main">
              <a:ext uri="{FF2B5EF4-FFF2-40B4-BE49-F238E27FC236}">
                <a16:creationId xmlns:a16="http://schemas.microsoft.com/office/drawing/2014/main" id="{F90843A7-D1A3-4C23-8807-40197642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Local-ML     WMLE-J     MPS     LSPF</a:t>
            </a:r>
          </a:p>
        </p:txBody>
      </p:sp>
      <p:sp>
        <p:nvSpPr>
          <p:cNvPr id="9" name="通行似然参照       小样本修正       间距准">
            <a:extLst xmlns:a="http://schemas.openxmlformats.org/drawingml/2006/main">
              <a:ext uri="{FF2B5EF4-FFF2-40B4-BE49-F238E27FC236}">
                <a16:creationId xmlns:a16="http://schemas.microsoft.com/office/drawing/2014/main" id="{87F274B4-1388-4BE8-8A64-8D70F7AE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052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通行似然参照       小样本修正       间距准则       2013年直接相关构造</a:t>
            </a:r>
          </a:p>
        </p:txBody>
      </p:sp>
      <p:sp>
        <p:nvSpPr>
          <p:cNvPr id="10" name="非负起点寿命  γ≥0">
            <a:extLst xmlns:a="http://schemas.openxmlformats.org/drawingml/2006/main">
              <a:ext uri="{FF2B5EF4-FFF2-40B4-BE49-F238E27FC236}">
                <a16:creationId xmlns:a16="http://schemas.microsoft.com/office/drawing/2014/main" id="{DE75FBFA-7F8C-46E5-9D84-96BCE003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529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非负起点寿命  γ≥0</a:t>
            </a:r>
          </a:p>
        </p:txBody>
      </p:sp>
      <p:sp>
        <p:nvSpPr>
          <p:cNvPr id="11" name="四基准 ＋ Park2017 Proposed+Plot">
            <a:extLst xmlns:a="http://schemas.openxmlformats.org/drawingml/2006/main">
              <a:ext uri="{FF2B5EF4-FFF2-40B4-BE49-F238E27FC236}">
                <a16:creationId xmlns:a16="http://schemas.microsoft.com/office/drawing/2014/main" id="{604AD079-1D82-4E86-B74F-5A0A1DF0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rPr>
              <a:t>四基准 ＋ Park2017 Proposed+Plot</a:t>
            </a:r>
          </a:p>
        </p:txBody>
      </p:sp>
      <p:sp>
        <p:nvSpPr>
          <p:cNvPr id="12" name="Park使用非负信息，其余保留原定义；需要统一非负输出时">
            <a:extLst xmlns:a="http://schemas.openxmlformats.org/drawingml/2006/main">
              <a:ext uri="{FF2B5EF4-FFF2-40B4-BE49-F238E27FC236}">
                <a16:creationId xmlns:a16="http://schemas.microsoft.com/office/drawing/2014/main" id="{4CBBD915-B1A9-4D20-8382-4D0EE1E1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Park使用非负信息，其余保留原定义；需要统一非负输出时，另报受限版本敏感性。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每个benchmark固定到可辨认的版本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最终选择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12 / 15">
            <a:extLst xmlns:a="http://schemas.openxmlformats.org/drawingml/2006/main">
              <a:ext uri="{FF2B5EF4-FFF2-40B4-BE49-F238E27FC236}">
                <a16:creationId xmlns:a16="http://schemas.microsoft.com/office/drawing/2014/main" id="{69B549B6-052E-40EB-88BB-2BE6B90A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12 / 15</a:t>
            </a:r>
          </a:p>
        </p:txBody>
      </p:sp>
      <p:sp>
        <p:nvSpPr>
          <p:cNvPr id="7" name="方法简称必须与公式、约束和实际程序对应">
            <a:extLst xmlns:a="http://schemas.openxmlformats.org/drawingml/2006/main">
              <a:ext uri="{FF2B5EF4-FFF2-40B4-BE49-F238E27FC236}">
                <a16:creationId xmlns:a16="http://schemas.microsoft.com/office/drawing/2014/main" id="{02D86696-9B3C-4241-BD02-D9F1C4FD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方法简称必须与公式、约束和实际程序对应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  <a:gridCol w="3448050"/>
              </a:tblGrid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固定版本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防止的混淆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Local-ML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条件二参数ML＋局部剖面极大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任意得分根≠局部极大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WMLE-J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J1、J2、候选β对应J3中位权重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不以真β选权重、不夹表域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含两端的n+1个CDF间距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重复值扩展另命名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标准化次序统计量形状似然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不能用2P-MLE形状替代积分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Park2017 Plot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分段绘图概率＋z对log寿命回归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不是项目Bernard-LRE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9" name="统计版本已选择；WMLE权重覆盖、LSPF积分等仍须通过">
            <a:extLst xmlns:a="http://schemas.openxmlformats.org/drawingml/2006/main">
              <a:ext uri="{FF2B5EF4-FFF2-40B4-BE49-F238E27FC236}">
                <a16:creationId xmlns:a16="http://schemas.microsoft.com/office/drawing/2014/main" id="{D58D623B-2805-49E9-A4BD-40606831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统计版本已选择；WMLE权重覆盖、LSPF积分等仍须通过实施前复现验证。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近期方法按新方法的主张增补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最终选择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13 / 15">
            <a:extLst xmlns:a="http://schemas.openxmlformats.org/drawingml/2006/main">
              <a:ext uri="{FF2B5EF4-FFF2-40B4-BE49-F238E27FC236}">
                <a16:creationId xmlns:a16="http://schemas.microsoft.com/office/drawing/2014/main" id="{875B2DF8-292E-442D-9A76-8ED52BBB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13 / 15</a:t>
            </a:r>
          </a:p>
        </p:txBody>
      </p:sp>
      <p:sp>
        <p:nvSpPr>
          <p:cNvPr id="7" name="母方法仅在存在继承关系时必加，不预设MDM普遍必选">
            <a:extLst xmlns:a="http://schemas.openxmlformats.org/drawingml/2006/main">
              <a:ext uri="{FF2B5EF4-FFF2-40B4-BE49-F238E27FC236}">
                <a16:creationId xmlns:a16="http://schemas.microsoft.com/office/drawing/2014/main" id="{1797A46B-A3D5-416E-B87D-7B1A1DAF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母方法仅在存在继承关系时必加，不预设MDM普遍必选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857500"/>
                <a:gridCol w="4019550"/>
              </a:tblGrid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新方法的主张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增补对象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必须满足的条件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极小样本、顺序更新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SAM2023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非负位置，公开停止／越界规则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条件似然或区间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PM2024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修正求根伪代码；验证覆盖率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似然偏差修正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DMMLE2025 DM2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小n属于新外推检验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矩／伪参数一致性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对应PWM、LM或MDM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原构造和被改动分支清楚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学习或智能搜索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BPNN；HGLM/AIMGC等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训练信息可比，相关全文先补齐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9" name="加入对手的理由是检验具体主张，不能仅以年份新旧决定去留。">
            <a:extLst xmlns:a="http://schemas.openxmlformats.org/drawingml/2006/main">
              <a:ext uri="{FF2B5EF4-FFF2-40B4-BE49-F238E27FC236}">
                <a16:creationId xmlns:a16="http://schemas.microsoft.com/office/drawing/2014/main" id="{B17ABD2E-E776-465C-A6EA-B16F2B06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加入对手的理由是检验具体主张，不能仅以年份新旧决定去留。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共同模拟与真实应用的推荐安排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实施方案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14 / 15">
            <a:extLst xmlns:a="http://schemas.openxmlformats.org/drawingml/2006/main">
              <a:ext uri="{FF2B5EF4-FFF2-40B4-BE49-F238E27FC236}">
                <a16:creationId xmlns:a16="http://schemas.microsoft.com/office/drawing/2014/main" id="{26E09369-5396-4F9C-9678-1191E9D6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14 / 15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895475"/>
          <a:ext xmlns:a="http://schemas.openxmlformats.org/drawingml/2006/main" cx="10972800" cy="3800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推荐方案</a:t>
                      </a:r>
                    </a:p>
                  </a:txBody>
                  <a:tcPr marL="91440" marR="91440" marT="45720" marB="45720">
                    <a:solidFill>
                      <a:srgbClr val="2D609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形状与样本量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β=0.5、0.8、1、1.2、1.5、2、3、5；n=5、10、20、30、50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位置与尺度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一般移位η=1、γ=0；非负寿命加γ/η=0.5、2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重复与精度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每格先10000次；共享样本，按Monte Carlo误差追加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敏感性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负位置适用域、单位缩放、边界、有效极端估计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真实数据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完整寿命数据＋公开困难样本；统一拟合与算法诊断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实施顺序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先验证原文例子、权重和积分，再执行正式共同模拟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任何性能结论均限定于实际检验的参数格子；本轮交付方案，未">
            <a:extLst xmlns:a="http://schemas.openxmlformats.org/drawingml/2006/main">
              <a:ext uri="{FF2B5EF4-FFF2-40B4-BE49-F238E27FC236}">
                <a16:creationId xmlns:a16="http://schemas.microsoft.com/office/drawing/2014/main" id="{2B0D7285-926C-4637-B982-AB6B0D06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任何性能结论均限定于实际检验的参数格子；本轮交付方案，未启动大规模重算。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四个问题已有明确回答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3" y="352424"/>
            <a:ext cx="877824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研究结论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22" y="352424"/>
            <a:ext cx="1299843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15 / 15">
            <a:extLst xmlns:a="http://schemas.openxmlformats.org/drawingml/2006/main">
              <a:ext uri="{FF2B5EF4-FFF2-40B4-BE49-F238E27FC236}">
                <a16:creationId xmlns:a16="http://schemas.microsoft.com/office/drawing/2014/main" id="{72857A31-71A9-4738-8D80-23792D9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150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15 / 15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D68901E3-DFEB-4DBA-AEBE-E3E11192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和谁比">
            <a:extLst xmlns:a="http://schemas.openxmlformats.org/drawingml/2006/main">
              <a:ext uri="{FF2B5EF4-FFF2-40B4-BE49-F238E27FC236}">
                <a16:creationId xmlns:a16="http://schemas.microsoft.com/office/drawing/2014/main" id="{7E9E7298-CED2-4D72-8B31-20677222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573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和谁比</a:t>
            </a:r>
          </a:p>
        </p:txBody>
      </p:sp>
      <p:sp>
        <p:nvSpPr>
          <p:cNvPr id="9" name="一般移位：Local-ML、WMLE-J、MPS、LSP">
            <a:extLst xmlns:a="http://schemas.openxmlformats.org/drawingml/2006/main">
              <a:ext uri="{FF2B5EF4-FFF2-40B4-BE49-F238E27FC236}">
                <a16:creationId xmlns:a16="http://schemas.microsoft.com/office/drawing/2014/main" id="{6CAE9F14-19AD-477A-BA93-C2D2A501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145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一般移位：Local-ML、WMLE-J、MPS、LSPF；非负寿命再加Park。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8384229E-74DE-4932-81A9-04685ED4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为什么选，采用哪版">
            <a:extLst xmlns:a="http://schemas.openxmlformats.org/drawingml/2006/main">
              <a:ext uri="{FF2B5EF4-FFF2-40B4-BE49-F238E27FC236}">
                <a16:creationId xmlns:a16="http://schemas.microsoft.com/office/drawing/2014/main" id="{945F4FC9-ED31-47A1-AD86-29AFA34E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为什么选，采用哪版</a:t>
            </a:r>
          </a:p>
        </p:txBody>
      </p:sp>
      <p:sp>
        <p:nvSpPr>
          <p:cNvPr id="12" name="依据任务匹配、实际比较习惯和估计作用；固定到原文分支与约">
            <a:extLst xmlns:a="http://schemas.openxmlformats.org/drawingml/2006/main">
              <a:ext uri="{FF2B5EF4-FFF2-40B4-BE49-F238E27FC236}">
                <a16:creationId xmlns:a16="http://schemas.microsoft.com/office/drawing/2014/main" id="{552A5DCA-BE08-4538-82C7-C6A695A1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052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依据任务匹配、实际比较习惯和估计作用；固定到原文分支与约束。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87AD706B-241D-4014-A2F7-FB3AA0DD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38625"/>
            <a:ext cx="80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9501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怎样比">
            <a:extLst xmlns:a="http://schemas.openxmlformats.org/drawingml/2006/main">
              <a:ext uri="{FF2B5EF4-FFF2-40B4-BE49-F238E27FC236}">
                <a16:creationId xmlns:a16="http://schemas.microsoft.com/office/drawing/2014/main" id="{AFFB8279-88AE-414B-8A31-E103EA52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D609F"/>
                </a:solidFill>
                <a:latin typeface="Microsoft YaHei"/>
                <a:ea typeface="Microsoft YaHei"/>
                <a:cs typeface="Microsoft YaHei"/>
              </a:rPr>
              <a:t>怎样比</a:t>
            </a:r>
          </a:p>
        </p:txBody>
      </p:sp>
      <p:sp>
        <p:nvSpPr>
          <p:cNvPr id="15" name="共同Monte Carlo评价真值误差与有效率；真实数据">
            <a:extLst xmlns:a="http://schemas.openxmlformats.org/drawingml/2006/main">
              <a:ext uri="{FF2B5EF4-FFF2-40B4-BE49-F238E27FC236}">
                <a16:creationId xmlns:a16="http://schemas.microsoft.com/office/drawing/2014/main" id="{A124A555-6504-445B-9DD9-4A6D151F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9582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共同Monte Carlo评价真值误差与有效率；真实数据评价应用和拟合。</a:t>
            </a:r>
          </a:p>
        </p:txBody>
      </p:sp>
      <p:sp>
        <p:nvSpPr>
          <p:cNvPr id="16" name="近期候选全文与算法复现仍有门槛；不宣称已覆盖全领域或验证">
            <a:extLst xmlns:a="http://schemas.openxmlformats.org/drawingml/2006/main">
              <a:ext uri="{FF2B5EF4-FFF2-40B4-BE49-F238E27FC236}">
                <a16:creationId xmlns:a16="http://schemas.microsoft.com/office/drawing/2014/main" id="{21719956-905F-4F11-8D70-F4C01888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775"/>
                </a:solidFill>
                <a:latin typeface="Microsoft YaHei"/>
                <a:ea typeface="Microsoft YaHei"/>
                <a:cs typeface="Microsoft YaHei"/>
              </a:rPr>
              <a:t>近期候选全文与算法复现仍有门槛；不宣称已覆盖全领域或验证了方法性能名次。</a:t>
            </a:r>
          </a:p>
        </p:txBody>
      </p:sp>
    </p:spTree>
    <p:extLst>
      <p:ext uri="{BB962C8B-B14F-4D97-AF65-F5344CB8AC3E}">
        <p14:creationId xmlns:p14="http://schemas.microsoft.com/office/powerpoint/2010/main" val="565456612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2026-09-28T01:45:09.1810000Z</dcterms:created>
  <dcterms:modified xsi:type="dcterms:W3CDTF">2026-09-28T01:45:09.1810000Z</dcterms:modified>
</coreProperties>
</file>