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22"/>
  </p:notesMasterIdLst>
  <p:sldIdLst>
    <p:sldId id="256" r:id="rId4"/>
    <p:sldId id="292" r:id="rId5"/>
    <p:sldId id="258" r:id="rId6"/>
    <p:sldId id="259" r:id="rId7"/>
    <p:sldId id="293" r:id="rId8"/>
    <p:sldId id="294" r:id="rId9"/>
    <p:sldId id="29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63" autoAdjust="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来源：研究报告v2.3（2026-09-28），Research09。本汇报讨论完整样本、尤其小样本三参数点估计的有效性评价。研究状态为ACTIVE + INDEPENDENT；本轮为文献分析与评价建议，不是新增性能实验。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883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来源：研究报告</a:t>
            </a:r>
            <a:r>
              <a:rPr lang="en-US" altLang="zh-CN" dirty="0"/>
              <a:t>v2.3</a:t>
            </a:r>
            <a:r>
              <a:rPr lang="zh-CN" altLang="en-US" dirty="0"/>
              <a:t>，第</a:t>
            </a:r>
            <a:r>
              <a:rPr lang="en-US" altLang="zh-CN" dirty="0"/>
              <a:t>1</a:t>
            </a:r>
            <a:r>
              <a:rPr lang="zh-CN" altLang="en-US" dirty="0"/>
              <a:t>章与第</a:t>
            </a:r>
            <a:r>
              <a:rPr lang="en-US" altLang="zh-CN" dirty="0"/>
              <a:t>6</a:t>
            </a:r>
            <a:r>
              <a:rPr lang="zh-CN" altLang="en-US" dirty="0"/>
              <a:t>章。先按候选方法与文献证据确定合理对手，再在共同</a:t>
            </a:r>
            <a:r>
              <a:rPr lang="en-US" altLang="zh-CN" dirty="0"/>
              <a:t>Monte Carlo</a:t>
            </a:r>
            <a:r>
              <a:rPr lang="zh-CN" altLang="en-US" dirty="0"/>
              <a:t>条件下比较逐参数误差、波动和有效求解率。真实数据补充可用性、拟合及寿命量解释，不承担参数真值精度证明。两类证据汇合为评价建议。</a:t>
            </a:r>
            <a:endParaRPr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467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来源：研究报告v2.3（2026-09-28），Research09。§2.1：A似然；B概率图；C统计量、间距与构造差异，含MDM；D组合与学习，含统计量变换。分组服务于辨认方法，不是互斥分类或性能排序。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627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来源：研究报告v2.3（2026-09-28），Research09。§2.2，附录A方法继承关系。WMLE Cousineau2009 DOI10.1348/000711007X270843；DMMLE DOI10.3390/e27050485；ADGBO DOI10.1016/j.ress.2025.111610。Fisher1922标示通用似然原理，不是Weibull专用方法年份。同目标同约束下，优化器改进首先是求解改进。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610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来源：研究报告v2.3（2026-09-28），Research09。§2.3，附录B第2—4、11节。Soman–Misra DOI10.1016/0026-2714(92)90057-R；Li DOI10.1109/24.295002；Park2017 DOI10.23055/ijietap.2017.24.4.2848。Plot与MLE2是不同恢复分支；项目Bernard分数LRE不等于Park原版。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10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来源：研究报告v2.3（2026-09-28），Research09。§2.4，附录B第9、11节。MDM DOI10.1142/S0219455423500852（2022在线／2023卷期）以尺度伪估计差异定义准则，属于C组。MPS DOI10.1111/j.2517-6161.1983.tb01268.x。没有将MDM连成MPS或LS的已证实直接后继。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088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来源：研究报告v2.3（2026-09-28），Research09。§2.5。SAM DOI10.1007/s12206-023-1019-z；PM DOI10.1002/qre.3559；LSPF DOI10.1016/j.csda.2012.09.005；BPNN DOI10.1016/j.probengmech.2025.103828。SAM与PM位置关系和参数更新不同，未核得直接升级或性能比较关系。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862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3.1与4.2；数据evidence/benchmark_comparison_audit.json。primary_included的13篇中展示剔除182-030及MDM列，与报告图3一致；MLE7/12、CC4/12。表头LRE对应审核CC相关回归族，具体版本不等价。指标统计保留13篇，RMSE7、SD5、Bias4。仅统计现有已核子集，不作全领域普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195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来源：研究报告v2.3（2026-09-28），Research09。§3.3，资料/近期文献范围核查.md。WMLE、Park、SAM/PM、DMMLE涉及估计构造；PITE DOI10.1038/s41598-025-96043-1涉及污染，Nassar–Elshahhat2024涉及二参数删失；ADGBO/PSO需按实际目标和约束辨别数值改进。方向实例不证明全领域重心转移。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311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研究报告v2.3（2026-09-28），Research09。§3.4；WMLE182-088、LSPF182-113、SAM185-005、PM182-117、BPNN184-009、DMMLE182-111。详细来源见附录A/B和evidence/literature_performance_boundaries.json。SAM的MAD是跨三参数平均，不能说每个参数都改善；LSPF2013使用Ng式WMLE；PM主体大n，另有n5；DMMLE原尺度参数化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9260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3.5</a:t>
            </a:r>
            <a:r>
              <a:rPr lang="zh-CN" altLang="en-US" sz="1800"/>
              <a:t>节：当前已核文献尚未确认通用固定比较组合；同一方法可兼任多个角色，第</a:t>
            </a:r>
            <a:r>
              <a:rPr lang="en-US" altLang="zh-CN" sz="1800"/>
              <a:t>6</a:t>
            </a:r>
            <a:r>
              <a:rPr lang="zh-CN" altLang="en-US" sz="1800"/>
              <a:t>章提供选择与评价规则。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352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4.1—4.2、6.3。建议n5、10、15、20、30，补50/100；形状可参考0.5、1、1.5、2、3、5，按适用域取舍；正位置主体，零位置边界单列。1000次为起点，接近结果可增加至5000—10000。来源SAM/BPNN/迭代LS/LSPF/综合比较。指标数来自13篇主子集，同篇可多项；relative Bias及联合指标另列。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255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4.3与6.4。Akram–Hayat182-096筛ML收敛样本；182-091记录未得估计数；MDM182-030图中零是失败标记；182-101剔除形状&gt;5。保留所有生成次数；全失败条件误差不可计算。DMMLE允许γ̂=min(x)，须按原定义判断边界，不能统一套严格内点接受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308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来源：研究报告v2.3（2026-09-28），Research09。§5、6.5。BPNN184-009 DOI10.1016/j.probengmech.2025.103828；LSPF182-113 DOI10.1016/j.csda.2012.09.005；SAM185-005 DOI10.1007/s12206-023-1019-z。SAM部分沿用历史估计，非统一重跑；同一10/4点数据重复使用不增加独立数据来源。Bootstrap不生成原总体参数真值。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31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6.1</a:t>
            </a:r>
            <a:r>
              <a:rPr lang="zh-CN" altLang="en-US" sz="1800"/>
              <a:t>节：依次核查共同参照、同任务强对手、近期竞争者及直接母方法。按任务匹配、比较作用与可复现性决定入选，不预设固定方法组合。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8626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报告</a:t>
            </a:r>
            <a:r>
              <a:rPr lang="en-US" altLang="zh-CN"/>
              <a:t>v2.4</a:t>
            </a:r>
            <a:r>
              <a:rPr lang="zh-CN" altLang="en-US"/>
              <a:t>第</a:t>
            </a:r>
            <a:r>
              <a:rPr lang="en-US" altLang="zh-CN"/>
              <a:t>6.2</a:t>
            </a:r>
            <a:r>
              <a:rPr lang="zh-CN" altLang="en-US"/>
              <a:t>节：按研究主张确定对照。候选实例包括</a:t>
            </a:r>
            <a:r>
              <a:rPr lang="en-US" altLang="zh-CN"/>
              <a:t>MLE</a:t>
            </a:r>
            <a:r>
              <a:rPr lang="zh-CN" altLang="en-US"/>
              <a:t>、</a:t>
            </a:r>
            <a:r>
              <a:rPr lang="en-US" altLang="zh-CN"/>
              <a:t>WMLE</a:t>
            </a:r>
            <a:r>
              <a:rPr lang="zh-CN" altLang="en-US"/>
              <a:t>、</a:t>
            </a:r>
            <a:r>
              <a:rPr lang="en-US" altLang="zh-CN"/>
              <a:t>Soman–Misra</a:t>
            </a:r>
            <a:r>
              <a:rPr lang="zh-CN" altLang="en-US"/>
              <a:t>、</a:t>
            </a:r>
            <a:r>
              <a:rPr lang="en-US" altLang="zh-CN"/>
              <a:t>Park</a:t>
            </a:r>
            <a:r>
              <a:rPr lang="zh-CN" altLang="en-US"/>
              <a:t>、</a:t>
            </a:r>
            <a:r>
              <a:rPr lang="en-US" altLang="zh-CN"/>
              <a:t>SAM</a:t>
            </a:r>
            <a:r>
              <a:rPr lang="zh-CN" altLang="en-US"/>
              <a:t>、</a:t>
            </a:r>
            <a:r>
              <a:rPr lang="en-US" altLang="zh-CN"/>
              <a:t>PM</a:t>
            </a:r>
            <a:r>
              <a:rPr lang="zh-CN" altLang="en-US"/>
              <a:t>、</a:t>
            </a:r>
            <a:r>
              <a:rPr lang="en-US" altLang="zh-CN"/>
              <a:t>MPS</a:t>
            </a:r>
            <a:r>
              <a:rPr lang="zh-CN" altLang="en-US"/>
              <a:t>、</a:t>
            </a:r>
            <a:r>
              <a:rPr lang="en-US" altLang="zh-CN"/>
              <a:t>LSPF</a:t>
            </a:r>
            <a:r>
              <a:rPr lang="zh-CN" altLang="en-US"/>
              <a:t>、</a:t>
            </a:r>
            <a:r>
              <a:rPr lang="en-US" altLang="zh-CN"/>
              <a:t>DMMLE</a:t>
            </a:r>
            <a:r>
              <a:rPr lang="zh-CN" altLang="en-US"/>
              <a:t>、</a:t>
            </a:r>
            <a:r>
              <a:rPr lang="en-US" altLang="zh-CN"/>
              <a:t>BPNN</a:t>
            </a:r>
            <a:r>
              <a:rPr lang="zh-CN" altLang="en-US"/>
              <a:t>及直接母方法；不是全部必选。极小样本证据及具体版本见第</a:t>
            </a:r>
            <a:r>
              <a:rPr lang="en-US" altLang="zh-CN"/>
              <a:t>3.4</a:t>
            </a:r>
            <a:r>
              <a:rPr lang="zh-CN" altLang="en-US"/>
              <a:t>节和附录</a:t>
            </a:r>
            <a:r>
              <a:rPr lang="en-US" altLang="zh-CN"/>
              <a:t>B</a:t>
            </a:r>
            <a:r>
              <a:rPr lang="zh-CN" altLang="en-US"/>
              <a:t>。学习步骤的独立收益还需消融。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430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6.1</a:t>
            </a:r>
            <a:r>
              <a:rPr lang="zh-CN" altLang="en-US" sz="1800"/>
              <a:t>节及附录</a:t>
            </a:r>
            <a:r>
              <a:rPr lang="en-US" altLang="zh-CN" sz="1800"/>
              <a:t>B</a:t>
            </a:r>
            <a:r>
              <a:rPr lang="zh-CN" altLang="en-US" sz="1800"/>
              <a:t>：本页方法仅为版本核查实例，不是推荐固定组合。</a:t>
            </a:r>
            <a:r>
              <a:rPr lang="en-US" altLang="zh-CN" sz="1800"/>
              <a:t>SAM</a:t>
            </a:r>
            <a:r>
              <a:rPr lang="zh-CN" altLang="en-US" sz="1800"/>
              <a:t>两个示例复现不等于全部边界处理已复现。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报告</a:t>
            </a:r>
            <a:r>
              <a:rPr lang="en-US" altLang="zh-CN" sz="1800"/>
              <a:t>v2.4</a:t>
            </a:r>
            <a:r>
              <a:rPr lang="zh-CN" altLang="en-US" sz="1800"/>
              <a:t>第</a:t>
            </a:r>
            <a:r>
              <a:rPr lang="en-US" altLang="zh-CN" sz="1800"/>
              <a:t>6</a:t>
            </a:r>
            <a:r>
              <a:rPr lang="zh-CN" altLang="en-US" sz="1800"/>
              <a:t>章结论：形成</a:t>
            </a:r>
            <a:r>
              <a:rPr lang="en-US" altLang="zh-CN" sz="1800"/>
              <a:t>benchmark</a:t>
            </a:r>
            <a:r>
              <a:rPr lang="zh-CN" altLang="en-US" sz="1800"/>
              <a:t>选择与评价规则。具体对照由研究主张、样本条件、参数域、近期同任务研究和继承关系决定；结论说明相对对手、改善条件及波动、计算与失败代价。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9638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1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5" t="36417" r="375" b="17715"/>
          <a:stretch>
            <a:fillRect/>
          </a:stretch>
        </p:blipFill>
        <p:spPr>
          <a:xfrm>
            <a:off x="-188953" y="3125718"/>
            <a:ext cx="12697941" cy="4114800"/>
          </a:xfrm>
          <a:prstGeom prst="rect">
            <a:avLst/>
          </a:prstGeom>
        </p:spPr>
      </p:pic>
      <p:pic>
        <p:nvPicPr>
          <p:cNvPr id="5" name="图片 24"/>
          <p:cNvPicPr>
            <a:picLocks noChangeAspect="1"/>
          </p:cNvPicPr>
          <p:nvPr/>
        </p:nvPicPr>
        <p:blipFill>
          <a:blip r:embed="rId3"/>
          <a:srcRect b="60826"/>
          <a:stretch>
            <a:fillRect/>
          </a:stretch>
        </p:blipFill>
        <p:spPr>
          <a:xfrm>
            <a:off x="133584" y="72497"/>
            <a:ext cx="3337845" cy="708895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6" y="72497"/>
            <a:ext cx="5102794" cy="9144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noGrp="1"/>
          </p:cNvSpPr>
          <p:nvPr/>
        </p:nvSpPr>
        <p:spPr>
          <a:xfrm>
            <a:off x="334962" y="833952"/>
            <a:ext cx="11522073" cy="499299"/>
          </a:xfrm>
          <a:prstGeom prst="rect">
            <a:avLst/>
          </a:prstGeom>
          <a:gradFill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b="100000"/>
            </a:path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noChangeAspect="1"/>
          </p:cNvPicPr>
          <p:nvPr/>
        </p:nvPicPr>
        <p:blipFill>
          <a:blip r:embed="rId2"/>
          <a:srcRect b="59104"/>
          <a:stretch>
            <a:fillRect/>
          </a:stretch>
        </p:blipFill>
        <p:spPr>
          <a:xfrm>
            <a:off x="9374637" y="198304"/>
            <a:ext cx="2675956" cy="593304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noGrp="1"/>
          </p:cNvSpPr>
          <p:nvPr/>
        </p:nvSpPr>
        <p:spPr>
          <a:xfrm>
            <a:off x="334962" y="6564990"/>
            <a:ext cx="11522076" cy="0"/>
          </a:xfrm>
          <a:prstGeom prst="line">
            <a:avLst/>
          </a:prstGeom>
          <a:ln w="508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noGrp="1"/>
          </p:cNvSpPr>
          <p:nvPr/>
        </p:nvSpPr>
        <p:spPr>
          <a:xfrm>
            <a:off x="334963" y="1402294"/>
            <a:ext cx="11522075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noGrp="1"/>
          </p:cNvSpPr>
          <p:nvPr/>
        </p:nvSpPr>
        <p:spPr>
          <a:xfrm rot="10800000">
            <a:off x="2562" y="10535"/>
            <a:ext cx="4440577" cy="2998608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noGrp="1"/>
          </p:cNvSpPr>
          <p:nvPr/>
        </p:nvSpPr>
        <p:spPr>
          <a:xfrm>
            <a:off x="-79985" y="1085380"/>
            <a:ext cx="326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noChangeAspect="1"/>
          </p:cNvPicPr>
          <p:nvPr/>
        </p:nvPicPr>
        <p:blipFill>
          <a:blip r:embed="rId2">
            <a:alphaModFix amt="70000"/>
          </a:blip>
          <a:srcRect b="58808"/>
          <a:stretch>
            <a:fillRect/>
          </a:stretch>
        </p:blipFill>
        <p:spPr>
          <a:xfrm>
            <a:off x="662962" y="3707963"/>
            <a:ext cx="3024288" cy="2020666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noGrp="1"/>
          </p:cNvSpPr>
          <p:nvPr/>
        </p:nvSpPr>
        <p:spPr>
          <a:xfrm>
            <a:off x="851667" y="1479325"/>
            <a:ext cx="2646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noGrp="1"/>
          </p:cNvSpPr>
          <p:nvPr/>
        </p:nvSpPr>
        <p:spPr>
          <a:xfrm>
            <a:off x="8895335" y="4602588"/>
            <a:ext cx="3296666" cy="2255412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noGrp="1"/>
          </p:cNvSpPr>
          <p:nvPr/>
        </p:nvSpPr>
        <p:spPr>
          <a:xfrm>
            <a:off x="0" y="1513114"/>
            <a:ext cx="12192000" cy="2376715"/>
          </a:xfrm>
          <a:prstGeom prst="rect">
            <a:avLst/>
          </a:prstGeom>
          <a:gradFill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mpd="sng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noGrp="1"/>
          </p:cNvSpPr>
          <p:nvPr/>
        </p:nvSpPr>
        <p:spPr>
          <a:xfrm>
            <a:off x="4514780" y="4695050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4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noGrp="1"/>
          </p:cNvSpPr>
          <p:nvPr/>
        </p:nvSpPr>
        <p:spPr>
          <a:xfrm>
            <a:off x="4514780" y="5531496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0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2026.09.28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noGrp="1"/>
          </p:cNvSpPr>
          <p:nvPr/>
        </p:nvSpPr>
        <p:spPr>
          <a:xfrm>
            <a:off x="0" y="4007644"/>
            <a:ext cx="12192000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noGrp="1"/>
          </p:cNvSpPr>
          <p:nvPr/>
        </p:nvSpPr>
        <p:spPr>
          <a:xfrm>
            <a:off x="161706" y="1887437"/>
            <a:ext cx="11932078" cy="161355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参数估计方法</a:t>
            </a:r>
          </a:p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的评价依据与建议</a:t>
            </a:r>
            <a:endParaRPr sz="3600" i="0" u="none" cap="none" spc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latin typeface="汉仪文润宋韵 U"/>
              <a:ea typeface="汉仪文润宋韵 U"/>
              <a:cs typeface="汉仪文润宋韵 U"/>
            </a:endParaRPr>
          </a:p>
        </p:txBody>
      </p:sp>
    </p:spTree>
    <p:extLst>
      <p:ext uri="{BB962C8B-B14F-4D97-AF65-F5344CB8AC3E}">
        <p14:creationId xmlns:p14="http://schemas.microsoft.com/office/powerpoint/2010/main" val="306433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明确完整样本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+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小样本条件下的三参数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Weibull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分布参数估计方法怎么评价“有效性”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研究问题与评价框架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研究目标">
            <a:extLst>
              <a:ext uri="{FF2B5EF4-FFF2-40B4-BE49-F238E27FC236}">
                <a16:creationId xmlns:a16="http://schemas.microsoft.com/office/drawing/2014/main" id="{08DABA51-670F-26F6-1412-71C5A9E15E19}"/>
              </a:ext>
            </a:extLst>
          </p:cNvPr>
          <p:cNvSpPr txBox="1"/>
          <p:nvPr/>
        </p:nvSpPr>
        <p:spPr>
          <a:xfrm>
            <a:off x="609599" y="1689100"/>
            <a:ext cx="2670495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方法需要证明有效性：</a:t>
            </a:r>
          </a:p>
        </p:txBody>
      </p:sp>
      <p:sp>
        <p:nvSpPr>
          <p:cNvPr id="17" name="目标内容">
            <a:extLst>
              <a:ext uri="{FF2B5EF4-FFF2-40B4-BE49-F238E27FC236}">
                <a16:creationId xmlns:a16="http://schemas.microsoft.com/office/drawing/2014/main" id="{462ABA51-9EE3-66EF-8409-A14F5DEAC889}"/>
              </a:ext>
            </a:extLst>
          </p:cNvPr>
          <p:cNvSpPr txBox="1"/>
          <p:nvPr/>
        </p:nvSpPr>
        <p:spPr>
          <a:xfrm>
            <a:off x="609599" y="2047836"/>
            <a:ext cx="10972800" cy="7888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在目标样本条件下，相对于合理的比较对象，具有良好的参数估计精度、</a:t>
            </a:r>
            <a:r>
              <a:rPr lang="zh-CN" altLang="en-US" dirty="0"/>
              <a:t>估计</a:t>
            </a:r>
            <a:r>
              <a:rPr lang="zh-CN" altLang="zh-CN" dirty="0"/>
              <a:t>稳定性和有效求解能力；真实数据补充说明实际可用性</a:t>
            </a:r>
          </a:p>
        </p:txBody>
      </p:sp>
      <p:sp>
        <p:nvSpPr>
          <p:cNvPr id="28" name="Mermaid-A">
            <a:extLst>
              <a:ext uri="{FF2B5EF4-FFF2-40B4-BE49-F238E27FC236}">
                <a16:creationId xmlns:a16="http://schemas.microsoft.com/office/drawing/2014/main" id="{0DD011D5-D241-6155-0CB9-12F5875B9FFF}"/>
              </a:ext>
            </a:extLst>
          </p:cNvPr>
          <p:cNvSpPr/>
          <p:nvPr/>
        </p:nvSpPr>
        <p:spPr>
          <a:xfrm>
            <a:off x="609600" y="4249606"/>
            <a:ext cx="2311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新方法在目标条件下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是否有效</a:t>
            </a:r>
          </a:p>
        </p:txBody>
      </p:sp>
      <p:sp>
        <p:nvSpPr>
          <p:cNvPr id="29" name="Mermaid-B">
            <a:extLst>
              <a:ext uri="{FF2B5EF4-FFF2-40B4-BE49-F238E27FC236}">
                <a16:creationId xmlns:a16="http://schemas.microsoft.com/office/drawing/2014/main" id="{07EA1AC9-B6EB-E948-883C-A63B92B86EEC}"/>
              </a:ext>
            </a:extLst>
          </p:cNvPr>
          <p:cNvSpPr/>
          <p:nvPr/>
        </p:nvSpPr>
        <p:spPr>
          <a:xfrm>
            <a:off x="3390900" y="3576506"/>
            <a:ext cx="3543300" cy="7747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先确定对比方法</a:t>
            </a:r>
          </a:p>
        </p:txBody>
      </p:sp>
      <p:sp>
        <p:nvSpPr>
          <p:cNvPr id="30" name="Mermaid-C">
            <a:extLst>
              <a:ext uri="{FF2B5EF4-FFF2-40B4-BE49-F238E27FC236}">
                <a16:creationId xmlns:a16="http://schemas.microsoft.com/office/drawing/2014/main" id="{D076890E-B70C-749F-CF6C-92DC944885FE}"/>
              </a:ext>
            </a:extLst>
          </p:cNvPr>
          <p:cNvSpPr/>
          <p:nvPr/>
        </p:nvSpPr>
        <p:spPr>
          <a:xfrm>
            <a:off x="7467600" y="3576506"/>
            <a:ext cx="41148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形成合理衡量标准</a:t>
            </a:r>
          </a:p>
        </p:txBody>
      </p:sp>
      <p:sp>
        <p:nvSpPr>
          <p:cNvPr id="31" name="Mermaid-D">
            <a:extLst>
              <a:ext uri="{FF2B5EF4-FFF2-40B4-BE49-F238E27FC236}">
                <a16:creationId xmlns:a16="http://schemas.microsoft.com/office/drawing/2014/main" id="{58E890BD-6675-FAF5-2C6A-D9F919531B9B}"/>
              </a:ext>
            </a:extLst>
          </p:cNvPr>
          <p:cNvSpPr/>
          <p:nvPr/>
        </p:nvSpPr>
        <p:spPr>
          <a:xfrm>
            <a:off x="7467600" y="4554406"/>
            <a:ext cx="4114800" cy="838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</a:t>
            </a:r>
            <a:r>
              <a:rPr lang="en-US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逐参数精度、估计稳定性、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有效求解率</a:t>
            </a:r>
          </a:p>
        </p:txBody>
      </p:sp>
      <p:sp>
        <p:nvSpPr>
          <p:cNvPr id="32" name="Mermaid-E">
            <a:extLst>
              <a:ext uri="{FF2B5EF4-FFF2-40B4-BE49-F238E27FC236}">
                <a16:creationId xmlns:a16="http://schemas.microsoft.com/office/drawing/2014/main" id="{4B65E912-EC16-8050-4851-35393A7AD4CE}"/>
              </a:ext>
            </a:extLst>
          </p:cNvPr>
          <p:cNvSpPr/>
          <p:nvPr/>
        </p:nvSpPr>
        <p:spPr>
          <a:xfrm>
            <a:off x="3390900" y="4656006"/>
            <a:ext cx="3543300" cy="736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真实数据：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实际可用性、拟合</a:t>
            </a:r>
          </a:p>
        </p:txBody>
      </p:sp>
      <p:sp>
        <p:nvSpPr>
          <p:cNvPr id="33" name="Mermaid-F">
            <a:extLst>
              <a:ext uri="{FF2B5EF4-FFF2-40B4-BE49-F238E27FC236}">
                <a16:creationId xmlns:a16="http://schemas.microsoft.com/office/drawing/2014/main" id="{438E2490-C1CD-00BC-0A6F-ACE81C8CFC07}"/>
              </a:ext>
            </a:extLst>
          </p:cNvPr>
          <p:cNvSpPr/>
          <p:nvPr/>
        </p:nvSpPr>
        <p:spPr>
          <a:xfrm>
            <a:off x="3390900" y="5760906"/>
            <a:ext cx="8191500" cy="38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综合判断</a:t>
            </a:r>
          </a:p>
        </p:txBody>
      </p:sp>
      <p:cxnSp>
        <p:nvCxnSpPr>
          <p:cNvPr id="34" name="Mermaid-AB-1">
            <a:extLst>
              <a:ext uri="{FF2B5EF4-FFF2-40B4-BE49-F238E27FC236}">
                <a16:creationId xmlns:a16="http://schemas.microsoft.com/office/drawing/2014/main" id="{871ECF2C-2A71-264E-3560-3B50BA688D93}"/>
              </a:ext>
            </a:extLst>
          </p:cNvPr>
          <p:cNvCxnSpPr/>
          <p:nvPr/>
        </p:nvCxnSpPr>
        <p:spPr>
          <a:xfrm>
            <a:off x="2921000" y="44909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Mermaid-AB-2">
            <a:extLst>
              <a:ext uri="{FF2B5EF4-FFF2-40B4-BE49-F238E27FC236}">
                <a16:creationId xmlns:a16="http://schemas.microsoft.com/office/drawing/2014/main" id="{1BC0BA69-E3A7-99B0-716E-5A36175AFFA7}"/>
              </a:ext>
            </a:extLst>
          </p:cNvPr>
          <p:cNvCxnSpPr/>
          <p:nvPr/>
        </p:nvCxnSpPr>
        <p:spPr>
          <a:xfrm flipV="1">
            <a:off x="3149600" y="3963856"/>
            <a:ext cx="0" cy="52705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Mermaid-AB-3">
            <a:extLst>
              <a:ext uri="{FF2B5EF4-FFF2-40B4-BE49-F238E27FC236}">
                <a16:creationId xmlns:a16="http://schemas.microsoft.com/office/drawing/2014/main" id="{E485042C-D99D-1F94-7FCE-6A370D66C169}"/>
              </a:ext>
            </a:extLst>
          </p:cNvPr>
          <p:cNvCxnSpPr/>
          <p:nvPr/>
        </p:nvCxnSpPr>
        <p:spPr>
          <a:xfrm>
            <a:off x="3149600" y="396385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Mermaid-BC">
            <a:extLst>
              <a:ext uri="{FF2B5EF4-FFF2-40B4-BE49-F238E27FC236}">
                <a16:creationId xmlns:a16="http://schemas.microsoft.com/office/drawing/2014/main" id="{73650BC9-F6D9-5779-EC0F-047B872E4F20}"/>
              </a:ext>
            </a:extLst>
          </p:cNvPr>
          <p:cNvCxnSpPr/>
          <p:nvPr/>
        </p:nvCxnSpPr>
        <p:spPr>
          <a:xfrm>
            <a:off x="6934200" y="3963856"/>
            <a:ext cx="5334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Mermaid-CD">
            <a:extLst>
              <a:ext uri="{FF2B5EF4-FFF2-40B4-BE49-F238E27FC236}">
                <a16:creationId xmlns:a16="http://schemas.microsoft.com/office/drawing/2014/main" id="{811EA8E6-E5A1-A3DE-078F-19E4CE51EB18}"/>
              </a:ext>
            </a:extLst>
          </p:cNvPr>
          <p:cNvCxnSpPr/>
          <p:nvPr/>
        </p:nvCxnSpPr>
        <p:spPr>
          <a:xfrm>
            <a:off x="9525000" y="41861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Mermaid-DF">
            <a:extLst>
              <a:ext uri="{FF2B5EF4-FFF2-40B4-BE49-F238E27FC236}">
                <a16:creationId xmlns:a16="http://schemas.microsoft.com/office/drawing/2014/main" id="{606084D3-31F5-A011-A6C5-955613580983}"/>
              </a:ext>
            </a:extLst>
          </p:cNvPr>
          <p:cNvCxnSpPr/>
          <p:nvPr/>
        </p:nvCxnSpPr>
        <p:spPr>
          <a:xfrm>
            <a:off x="952500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Mermaid-AE-1">
            <a:extLst>
              <a:ext uri="{FF2B5EF4-FFF2-40B4-BE49-F238E27FC236}">
                <a16:creationId xmlns:a16="http://schemas.microsoft.com/office/drawing/2014/main" id="{6EF1C689-37AD-1F45-CF5F-67BFE5A15B23}"/>
              </a:ext>
            </a:extLst>
          </p:cNvPr>
          <p:cNvCxnSpPr/>
          <p:nvPr/>
        </p:nvCxnSpPr>
        <p:spPr>
          <a:xfrm>
            <a:off x="2921000" y="49354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Mermaid-AE-2">
            <a:extLst>
              <a:ext uri="{FF2B5EF4-FFF2-40B4-BE49-F238E27FC236}">
                <a16:creationId xmlns:a16="http://schemas.microsoft.com/office/drawing/2014/main" id="{D22BBFCD-6D79-984B-A50C-DAA17EBE1BFD}"/>
              </a:ext>
            </a:extLst>
          </p:cNvPr>
          <p:cNvCxnSpPr/>
          <p:nvPr/>
        </p:nvCxnSpPr>
        <p:spPr>
          <a:xfrm>
            <a:off x="3149600" y="4935406"/>
            <a:ext cx="0" cy="8890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Mermaid-AE-3">
            <a:extLst>
              <a:ext uri="{FF2B5EF4-FFF2-40B4-BE49-F238E27FC236}">
                <a16:creationId xmlns:a16="http://schemas.microsoft.com/office/drawing/2014/main" id="{4FC5A968-BABB-A333-9357-AB8B4CF522DE}"/>
              </a:ext>
            </a:extLst>
          </p:cNvPr>
          <p:cNvCxnSpPr/>
          <p:nvPr/>
        </p:nvCxnSpPr>
        <p:spPr>
          <a:xfrm>
            <a:off x="3149600" y="502430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Mermaid-EF">
            <a:extLst>
              <a:ext uri="{FF2B5EF4-FFF2-40B4-BE49-F238E27FC236}">
                <a16:creationId xmlns:a16="http://schemas.microsoft.com/office/drawing/2014/main" id="{7EF3BD25-8896-4F84-0EE7-A29D1D6C422E}"/>
              </a:ext>
            </a:extLst>
          </p:cNvPr>
          <p:cNvCxnSpPr/>
          <p:nvPr/>
        </p:nvCxnSpPr>
        <p:spPr>
          <a:xfrm>
            <a:off x="516255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8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参数估计的四类主要思路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讲解-8">
            <a:extLst>
              <a:ext uri="{FF2B5EF4-FFF2-40B4-BE49-F238E27FC236}">
                <a16:creationId xmlns:a16="http://schemas.microsoft.com/office/drawing/2014/main" id="{5A8A9FF0-FE44-62B3-4555-3AA1B79700E2}"/>
              </a:ext>
            </a:extLst>
          </p:cNvPr>
          <p:cNvSpPr txBox="1"/>
          <p:nvPr/>
        </p:nvSpPr>
        <p:spPr>
          <a:xfrm>
            <a:off x="609600" y="16764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同样估计形状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、尺度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和位置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，区别在于用什么关系确定参数。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8C3615E-38E7-76CF-8A96-6EB966105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55865"/>
              </p:ext>
            </p:extLst>
          </p:nvPr>
        </p:nvGraphicFramePr>
        <p:xfrm>
          <a:off x="609600" y="2438400"/>
          <a:ext cx="10972800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01308696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3362090419"/>
                    </a:ext>
                  </a:extLst>
                </a:gridCol>
                <a:gridCol w="4241800">
                  <a:extLst>
                    <a:ext uri="{9D8B030D-6E8A-4147-A177-3AD203B41FA5}">
                      <a16:colId xmlns:a16="http://schemas.microsoft.com/office/drawing/2014/main" val="2124396652"/>
                    </a:ext>
                  </a:extLst>
                </a:gridCol>
              </a:tblGrid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方法类别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估计依据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代表方法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498896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似然路线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让观测样本的似然较大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074349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概率图路线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将分布关系变成直线，再做回归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LRE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、相关系数法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857048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统计量与构造准则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匹配统计量，或优化间距、差异量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PWM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85964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 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组合与学习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组合统计关系，或学习样本到参数的映射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BPNN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088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41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A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似然路线：从样本似然到偏差修正与求解改进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82E52D-4601-B1F3-0C0E-B00CE691318A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：把观测点的密度相乘，寻找最能解释这组样本的参数。</a:t>
            </a:r>
            <a:endParaRPr sz="170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fig1-mle">
            <a:extLst>
              <a:ext uri="{FF2B5EF4-FFF2-40B4-BE49-F238E27FC236}">
                <a16:creationId xmlns:a16="http://schemas.microsoft.com/office/drawing/2014/main" id="{3F549896-0F81-B81E-3E4D-D1F4CA76133E}"/>
              </a:ext>
            </a:extLst>
          </p:cNvPr>
          <p:cNvSpPr>
            <a:spLocks noGrp="1"/>
          </p:cNvSpPr>
          <p:nvPr/>
        </p:nvSpPr>
        <p:spPr>
          <a:xfrm>
            <a:off x="622300" y="3225800"/>
            <a:ext cx="1841500" cy="8382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MLE 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Fisher · 1922</a:t>
            </a:r>
          </a:p>
        </p:txBody>
      </p:sp>
      <p:sp>
        <p:nvSpPr>
          <p:cNvPr id="20" name="fig1-wmle">
            <a:extLst>
              <a:ext uri="{FF2B5EF4-FFF2-40B4-BE49-F238E27FC236}">
                <a16:creationId xmlns:a16="http://schemas.microsoft.com/office/drawing/2014/main" id="{5416E38E-8E81-E443-7AE9-B716E959045E}"/>
              </a:ext>
            </a:extLst>
          </p:cNvPr>
          <p:cNvSpPr>
            <a:spLocks noGrp="1"/>
          </p:cNvSpPr>
          <p:nvPr/>
        </p:nvSpPr>
        <p:spPr>
          <a:xfrm>
            <a:off x="5003800" y="2209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WMLE 加权极大似然估计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Cousineau · 2009</a:t>
            </a:r>
          </a:p>
        </p:txBody>
      </p:sp>
      <p:sp>
        <p:nvSpPr>
          <p:cNvPr id="21" name="fig1-mmle">
            <a:extLst>
              <a:ext uri="{FF2B5EF4-FFF2-40B4-BE49-F238E27FC236}">
                <a16:creationId xmlns:a16="http://schemas.microsoft.com/office/drawing/2014/main" id="{B3FB964F-6897-E78A-451B-97829A5DD69B}"/>
              </a:ext>
            </a:extLst>
          </p:cNvPr>
          <p:cNvSpPr>
            <a:spLocks noGrp="1"/>
          </p:cNvSpPr>
          <p:nvPr/>
        </p:nvSpPr>
        <p:spPr>
          <a:xfrm>
            <a:off x="5003800" y="3225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MMLE 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Kundu &amp; Raqab · 2009</a:t>
            </a:r>
          </a:p>
        </p:txBody>
      </p:sp>
      <p:sp>
        <p:nvSpPr>
          <p:cNvPr id="22" name="fig1-solver">
            <a:extLst>
              <a:ext uri="{FF2B5EF4-FFF2-40B4-BE49-F238E27FC236}">
                <a16:creationId xmlns:a16="http://schemas.microsoft.com/office/drawing/2014/main" id="{116337BF-9C34-45F6-B739-96E1382ED323}"/>
              </a:ext>
            </a:extLst>
          </p:cNvPr>
          <p:cNvSpPr>
            <a:spLocks noGrp="1"/>
          </p:cNvSpPr>
          <p:nvPr/>
        </p:nvSpPr>
        <p:spPr>
          <a:xfrm>
            <a:off x="5003800" y="4241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F4EEDC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ADGBO求解MLE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Wang等 · 2026</a:t>
            </a:r>
          </a:p>
        </p:txBody>
      </p:sp>
      <p:sp>
        <p:nvSpPr>
          <p:cNvPr id="23" name="fig1-firth">
            <a:extLst>
              <a:ext uri="{FF2B5EF4-FFF2-40B4-BE49-F238E27FC236}">
                <a16:creationId xmlns:a16="http://schemas.microsoft.com/office/drawing/2014/main" id="{516109D5-65F7-7C6F-6EB1-588D61EAE408}"/>
              </a:ext>
            </a:extLst>
          </p:cNvPr>
          <p:cNvSpPr>
            <a:spLocks noGrp="1"/>
          </p:cNvSpPr>
          <p:nvPr/>
        </p:nvSpPr>
        <p:spPr>
          <a:xfrm>
            <a:off x="9321800" y="2209800"/>
            <a:ext cx="2222500" cy="7366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得分偏差修正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Firth · 1993</a:t>
            </a:r>
          </a:p>
        </p:txBody>
      </p:sp>
      <p:sp>
        <p:nvSpPr>
          <p:cNvPr id="24" name="fig1-dmmle">
            <a:extLst>
              <a:ext uri="{FF2B5EF4-FFF2-40B4-BE49-F238E27FC236}">
                <a16:creationId xmlns:a16="http://schemas.microsoft.com/office/drawing/2014/main" id="{2AC304CE-AA20-F1BD-CCDB-C472C745E2BA}"/>
              </a:ext>
            </a:extLst>
          </p:cNvPr>
          <p:cNvSpPr>
            <a:spLocks noGrp="1"/>
          </p:cNvSpPr>
          <p:nvPr/>
        </p:nvSpPr>
        <p:spPr>
          <a:xfrm>
            <a:off x="9321800" y="3225800"/>
            <a:ext cx="2222500" cy="8890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DMMLE 双重修改极大似然估计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da Silva等 · 2025</a:t>
            </a:r>
          </a:p>
        </p:txBody>
      </p:sp>
      <p:sp>
        <p:nvSpPr>
          <p:cNvPr id="25" name="fig1-text_edge1">
            <a:extLst>
              <a:ext uri="{FF2B5EF4-FFF2-40B4-BE49-F238E27FC236}">
                <a16:creationId xmlns:a16="http://schemas.microsoft.com/office/drawing/2014/main" id="{59737199-1D4A-7ABA-8568-245599796836}"/>
              </a:ext>
            </a:extLst>
          </p:cNvPr>
          <p:cNvSpPr>
            <a:spLocks noGrp="1"/>
          </p:cNvSpPr>
          <p:nvPr/>
        </p:nvSpPr>
        <p:spPr>
          <a:xfrm>
            <a:off x="2806700" y="2120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减小小样本偏差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修正估计方程</a:t>
            </a:r>
          </a:p>
        </p:txBody>
      </p:sp>
      <p:sp>
        <p:nvSpPr>
          <p:cNvPr id="26" name="fig1-text_edge2">
            <a:extLst>
              <a:ext uri="{FF2B5EF4-FFF2-40B4-BE49-F238E27FC236}">
                <a16:creationId xmlns:a16="http://schemas.microsoft.com/office/drawing/2014/main" id="{2293B625-BEC5-3B2A-A86E-9386781AFB81}"/>
              </a:ext>
            </a:extLst>
          </p:cNvPr>
          <p:cNvSpPr>
            <a:spLocks noGrp="1"/>
          </p:cNvSpPr>
          <p:nvPr/>
        </p:nvSpPr>
        <p:spPr>
          <a:xfrm>
            <a:off x="2806700" y="31623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处理边界奇异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改变似然构造</a:t>
            </a:r>
          </a:p>
        </p:txBody>
      </p:sp>
      <p:sp>
        <p:nvSpPr>
          <p:cNvPr id="27" name="fig1-text_edge5">
            <a:extLst>
              <a:ext uri="{FF2B5EF4-FFF2-40B4-BE49-F238E27FC236}">
                <a16:creationId xmlns:a16="http://schemas.microsoft.com/office/drawing/2014/main" id="{8060B0A7-DA03-DA54-5E73-A07FAB8713B8}"/>
              </a:ext>
            </a:extLst>
          </p:cNvPr>
          <p:cNvSpPr>
            <a:spLocks noGrp="1"/>
          </p:cNvSpPr>
          <p:nvPr/>
        </p:nvSpPr>
        <p:spPr>
          <a:xfrm>
            <a:off x="2806700" y="4152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缓解初值敏感与局部停滞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改进搜索策略</a:t>
            </a:r>
          </a:p>
        </p:txBody>
      </p:sp>
      <p:sp>
        <p:nvSpPr>
          <p:cNvPr id="28" name="fig1-text_edge3">
            <a:extLst>
              <a:ext uri="{FF2B5EF4-FFF2-40B4-BE49-F238E27FC236}">
                <a16:creationId xmlns:a16="http://schemas.microsoft.com/office/drawing/2014/main" id="{1D92B7E6-D647-3717-6D68-A4243B1E4895}"/>
              </a:ext>
            </a:extLst>
          </p:cNvPr>
          <p:cNvSpPr>
            <a:spLocks noGrp="1"/>
          </p:cNvSpPr>
          <p:nvPr/>
        </p:nvSpPr>
        <p:spPr>
          <a:xfrm>
            <a:off x="7747000" y="3124200"/>
            <a:ext cx="15240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剩余偏差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引入Firth修正</a:t>
            </a:r>
          </a:p>
        </p:txBody>
      </p:sp>
      <p:sp>
        <p:nvSpPr>
          <p:cNvPr id="29" name="fig1-text_edge4">
            <a:extLst>
              <a:ext uri="{FF2B5EF4-FFF2-40B4-BE49-F238E27FC236}">
                <a16:creationId xmlns:a16="http://schemas.microsoft.com/office/drawing/2014/main" id="{A7DDFAD8-0F92-FD68-9A8F-9D08F41C5B79}"/>
              </a:ext>
            </a:extLst>
          </p:cNvPr>
          <p:cNvSpPr>
            <a:spLocks noGrp="1"/>
          </p:cNvSpPr>
          <p:nvPr/>
        </p:nvSpPr>
        <p:spPr>
          <a:xfrm>
            <a:off x="10579100" y="2959100"/>
            <a:ext cx="927100" cy="2413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298"/>
              </a:lnSpc>
              <a:buNone/>
            </a:pPr>
            <a:r>
              <a:rPr sz="11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修正思想</a:t>
            </a:r>
          </a:p>
        </p:txBody>
      </p:sp>
      <p:sp>
        <p:nvSpPr>
          <p:cNvPr id="30" name="panel-description">
            <a:extLst>
              <a:ext uri="{FF2B5EF4-FFF2-40B4-BE49-F238E27FC236}">
                <a16:creationId xmlns:a16="http://schemas.microsoft.com/office/drawing/2014/main" id="{C52DB519-AB17-D781-A557-DC4D1405FE31}"/>
              </a:ext>
            </a:extLst>
          </p:cNvPr>
          <p:cNvSpPr>
            <a:spLocks noGrp="1"/>
          </p:cNvSpPr>
          <p:nvPr/>
        </p:nvSpPr>
        <p:spPr>
          <a:xfrm>
            <a:off x="622300" y="53848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小样本偏差 → 权重或得分修正；位置边界困难 → 修改似然构造。</a:t>
            </a:r>
          </a:p>
          <a:p>
            <a:pPr>
              <a:lnSpc>
                <a:spcPts val="2006"/>
              </a:lnSpc>
              <a:buNone/>
            </a:pP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PSO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DE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ADGBO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等保持同一目标与约束时，改善的是搜索、收敛和计算效率。</a:t>
            </a:r>
            <a:endParaRPr sz="170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fig1-edge1-1">
            <a:extLst>
              <a:ext uri="{FF2B5EF4-FFF2-40B4-BE49-F238E27FC236}">
                <a16:creationId xmlns:a16="http://schemas.microsoft.com/office/drawing/2014/main" id="{6E92AD90-669A-49E5-901C-E4F838C25B57}"/>
              </a:ext>
            </a:extLst>
          </p:cNvPr>
          <p:cNvSpPr>
            <a:spLocks noGrp="1"/>
          </p:cNvSpPr>
          <p:nvPr/>
        </p:nvSpPr>
        <p:spPr>
          <a:xfrm>
            <a:off x="2463800" y="33782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-2">
            <a:extLst>
              <a:ext uri="{FF2B5EF4-FFF2-40B4-BE49-F238E27FC236}">
                <a16:creationId xmlns:a16="http://schemas.microsoft.com/office/drawing/2014/main" id="{A3E25788-F79D-4275-9D97-514AE73D9FAB}"/>
              </a:ext>
            </a:extLst>
          </p:cNvPr>
          <p:cNvSpPr>
            <a:spLocks noGrp="1"/>
          </p:cNvSpPr>
          <p:nvPr/>
        </p:nvSpPr>
        <p:spPr>
          <a:xfrm flipV="1">
            <a:off x="2730500" y="2578100"/>
            <a:ext cx="0" cy="800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-3">
            <a:extLst>
              <a:ext uri="{FF2B5EF4-FFF2-40B4-BE49-F238E27FC236}">
                <a16:creationId xmlns:a16="http://schemas.microsoft.com/office/drawing/2014/main" id="{D56C5989-3BA1-4DA8-B603-2C65CBEFFF6C}"/>
              </a:ext>
            </a:extLst>
          </p:cNvPr>
          <p:cNvSpPr>
            <a:spLocks noGrp="1"/>
          </p:cNvSpPr>
          <p:nvPr/>
        </p:nvSpPr>
        <p:spPr>
          <a:xfrm>
            <a:off x="2730500" y="2578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2-1">
            <a:extLst>
              <a:ext uri="{FF2B5EF4-FFF2-40B4-BE49-F238E27FC236}">
                <a16:creationId xmlns:a16="http://schemas.microsoft.com/office/drawing/2014/main" id="{3B2C1C55-881A-4C6F-9AD2-DCF1EAF5B5EB}"/>
              </a:ext>
            </a:extLst>
          </p:cNvPr>
          <p:cNvSpPr>
            <a:spLocks noGrp="1"/>
          </p:cNvSpPr>
          <p:nvPr/>
        </p:nvSpPr>
        <p:spPr>
          <a:xfrm>
            <a:off x="2463800" y="3644900"/>
            <a:ext cx="2540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5-1">
            <a:extLst>
              <a:ext uri="{FF2B5EF4-FFF2-40B4-BE49-F238E27FC236}">
                <a16:creationId xmlns:a16="http://schemas.microsoft.com/office/drawing/2014/main" id="{2DA16478-21D8-4B29-9282-8BFE3E738370}"/>
              </a:ext>
            </a:extLst>
          </p:cNvPr>
          <p:cNvSpPr>
            <a:spLocks noGrp="1"/>
          </p:cNvSpPr>
          <p:nvPr/>
        </p:nvSpPr>
        <p:spPr>
          <a:xfrm>
            <a:off x="2463800" y="39116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5-2">
            <a:extLst>
              <a:ext uri="{FF2B5EF4-FFF2-40B4-BE49-F238E27FC236}">
                <a16:creationId xmlns:a16="http://schemas.microsoft.com/office/drawing/2014/main" id="{9F66D62E-AAD0-4433-8535-89EAA8D7FF91}"/>
              </a:ext>
            </a:extLst>
          </p:cNvPr>
          <p:cNvSpPr>
            <a:spLocks noGrp="1"/>
          </p:cNvSpPr>
          <p:nvPr/>
        </p:nvSpPr>
        <p:spPr>
          <a:xfrm>
            <a:off x="2730500" y="3911600"/>
            <a:ext cx="0" cy="6985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5-3">
            <a:extLst>
              <a:ext uri="{FF2B5EF4-FFF2-40B4-BE49-F238E27FC236}">
                <a16:creationId xmlns:a16="http://schemas.microsoft.com/office/drawing/2014/main" id="{569DA4BF-F3FF-48C1-A1E8-B5A7D2248511}"/>
              </a:ext>
            </a:extLst>
          </p:cNvPr>
          <p:cNvSpPr>
            <a:spLocks noGrp="1"/>
          </p:cNvSpPr>
          <p:nvPr/>
        </p:nvSpPr>
        <p:spPr>
          <a:xfrm>
            <a:off x="2730500" y="4610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9" name="fig1-edge3-1">
            <a:extLst>
              <a:ext uri="{FF2B5EF4-FFF2-40B4-BE49-F238E27FC236}">
                <a16:creationId xmlns:a16="http://schemas.microsoft.com/office/drawing/2014/main" id="{98BF49C1-30B1-4EA9-91B8-25052B2F7188}"/>
              </a:ext>
            </a:extLst>
          </p:cNvPr>
          <p:cNvSpPr>
            <a:spLocks noGrp="1"/>
          </p:cNvSpPr>
          <p:nvPr/>
        </p:nvSpPr>
        <p:spPr>
          <a:xfrm>
            <a:off x="7683500" y="3594100"/>
            <a:ext cx="1638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0" name="fig1-edge4-1">
            <a:extLst>
              <a:ext uri="{FF2B5EF4-FFF2-40B4-BE49-F238E27FC236}">
                <a16:creationId xmlns:a16="http://schemas.microsoft.com/office/drawing/2014/main" id="{1E2AD48F-43FA-489E-B128-DC45DDC8E022}"/>
              </a:ext>
            </a:extLst>
          </p:cNvPr>
          <p:cNvSpPr>
            <a:spLocks noGrp="1"/>
          </p:cNvSpPr>
          <p:nvPr/>
        </p:nvSpPr>
        <p:spPr>
          <a:xfrm>
            <a:off x="10433050" y="2946400"/>
            <a:ext cx="0" cy="27940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645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概率图路线：把分布关系变成直线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讲解-7">
            <a:extLst>
              <a:ext uri="{FF2B5EF4-FFF2-40B4-BE49-F238E27FC236}">
                <a16:creationId xmlns:a16="http://schemas.microsoft.com/office/drawing/2014/main" id="{C556B47E-9B0D-00B9-501A-844407DFA214}"/>
              </a:ext>
            </a:extLst>
          </p:cNvPr>
          <p:cNvSpPr txBox="1"/>
          <p:nvPr/>
        </p:nvSpPr>
        <p:spPr>
          <a:xfrm>
            <a:off x="609600" y="16510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样本排序 → 分配累计概率</a:t>
            </a:r>
            <a:r>
              <a:rPr lang="en-US" altLang="zh-CN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 → </a:t>
            </a:r>
            <a:r>
              <a:rPr lang="zh-CN" altLang="en-US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变换坐标 → 回归求参数</a:t>
            </a:r>
          </a:p>
        </p:txBody>
      </p:sp>
      <p:sp>
        <p:nvSpPr>
          <p:cNvPr id="8" name="讲解-8">
            <a:extLst>
              <a:ext uri="{FF2B5EF4-FFF2-40B4-BE49-F238E27FC236}">
                <a16:creationId xmlns:a16="http://schemas.microsoft.com/office/drawing/2014/main" id="{79C4F6D6-8A54-C970-8766-78FF1E7C8F23}"/>
              </a:ext>
            </a:extLst>
          </p:cNvPr>
          <p:cNvSpPr txBox="1"/>
          <p:nvPr/>
        </p:nvSpPr>
        <p:spPr>
          <a:xfrm>
            <a:off x="609600" y="2197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 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= ln(t − 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γ)</a:t>
            </a:r>
            <a:r>
              <a:rPr lang="zh-CN" altLang="el-GR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纵轴 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 = ln[−ln(1 − p)]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；理论关系 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 = 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− 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ln</a:t>
            </a:r>
            <a:r>
              <a:rPr lang="el-GR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7A1C9C8-F6CB-D936-30E0-318766AFE5A4}"/>
              </a:ext>
            </a:extLst>
          </p:cNvPr>
          <p:cNvCxnSpPr/>
          <p:nvPr/>
        </p:nvCxnSpPr>
        <p:spPr>
          <a:xfrm>
            <a:off x="977900" y="5549900"/>
            <a:ext cx="30988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7461B63-C25E-328C-5180-1536E14A6EB8}"/>
              </a:ext>
            </a:extLst>
          </p:cNvPr>
          <p:cNvCxnSpPr/>
          <p:nvPr/>
        </p:nvCxnSpPr>
        <p:spPr>
          <a:xfrm flipV="1">
            <a:off x="977900" y="3009900"/>
            <a:ext cx="0" cy="254000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FF8A5F8-7986-B726-9555-6FC2FBF73B4F}"/>
              </a:ext>
            </a:extLst>
          </p:cNvPr>
          <p:cNvCxnSpPr/>
          <p:nvPr/>
        </p:nvCxnSpPr>
        <p:spPr>
          <a:xfrm flipV="1">
            <a:off x="1155700" y="3314700"/>
            <a:ext cx="2679700" cy="1955800"/>
          </a:xfrm>
          <a:prstGeom prst="line">
            <a:avLst/>
          </a:prstGeom>
          <a:ln w="17780">
            <a:solidFill>
              <a:srgbClr val="2F6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94D04D53-167B-AF54-19BB-554CD60458FC}"/>
              </a:ext>
            </a:extLst>
          </p:cNvPr>
          <p:cNvSpPr/>
          <p:nvPr/>
        </p:nvSpPr>
        <p:spPr>
          <a:xfrm>
            <a:off x="1282700" y="5054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CA53DC-F3C2-A77A-7ACE-F8A3AE3C2C2B}"/>
              </a:ext>
            </a:extLst>
          </p:cNvPr>
          <p:cNvSpPr/>
          <p:nvPr/>
        </p:nvSpPr>
        <p:spPr>
          <a:xfrm>
            <a:off x="1600200" y="4927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7FB0136-8A49-64F2-58F6-147F2D3E65D8}"/>
              </a:ext>
            </a:extLst>
          </p:cNvPr>
          <p:cNvSpPr/>
          <p:nvPr/>
        </p:nvSpPr>
        <p:spPr>
          <a:xfrm>
            <a:off x="2006600" y="4546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9ECC8F0-5771-CF78-AA43-514345AB1D0A}"/>
              </a:ext>
            </a:extLst>
          </p:cNvPr>
          <p:cNvSpPr/>
          <p:nvPr/>
        </p:nvSpPr>
        <p:spPr>
          <a:xfrm>
            <a:off x="2374900" y="43434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9CE8FF1-EFAA-5C3F-D2A6-EB4F8A964A6D}"/>
              </a:ext>
            </a:extLst>
          </p:cNvPr>
          <p:cNvSpPr/>
          <p:nvPr/>
        </p:nvSpPr>
        <p:spPr>
          <a:xfrm>
            <a:off x="2794000" y="39497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BC3D377-577D-41BD-3FA9-DFE2FE3B3F09}"/>
              </a:ext>
            </a:extLst>
          </p:cNvPr>
          <p:cNvSpPr/>
          <p:nvPr/>
        </p:nvSpPr>
        <p:spPr>
          <a:xfrm>
            <a:off x="3175000" y="37846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846C943-4BC6-6D13-C26C-49FB82C7A7C9}"/>
              </a:ext>
            </a:extLst>
          </p:cNvPr>
          <p:cNvSpPr/>
          <p:nvPr/>
        </p:nvSpPr>
        <p:spPr>
          <a:xfrm>
            <a:off x="3556000" y="3441700"/>
            <a:ext cx="76200" cy="7620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讲解-34">
            <a:extLst>
              <a:ext uri="{FF2B5EF4-FFF2-40B4-BE49-F238E27FC236}">
                <a16:creationId xmlns:a16="http://schemas.microsoft.com/office/drawing/2014/main" id="{C0218D1B-BB88-2D2C-DA1D-7E455D7218B7}"/>
              </a:ext>
            </a:extLst>
          </p:cNvPr>
          <p:cNvSpPr txBox="1"/>
          <p:nvPr/>
        </p:nvSpPr>
        <p:spPr>
          <a:xfrm>
            <a:off x="1320800" y="2781300"/>
            <a:ext cx="2349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概率图示意</a:t>
            </a:r>
          </a:p>
        </p:txBody>
      </p:sp>
      <p:sp>
        <p:nvSpPr>
          <p:cNvPr id="37" name="讲解-37">
            <a:extLst>
              <a:ext uri="{FF2B5EF4-FFF2-40B4-BE49-F238E27FC236}">
                <a16:creationId xmlns:a16="http://schemas.microsoft.com/office/drawing/2014/main" id="{249BC1C8-0168-5026-99C6-0876EC3574E1}"/>
              </a:ext>
            </a:extLst>
          </p:cNvPr>
          <p:cNvSpPr txBox="1"/>
          <p:nvPr/>
        </p:nvSpPr>
        <p:spPr>
          <a:xfrm>
            <a:off x="2400300" y="56515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ln(t − </a:t>
            </a:r>
            <a:r>
              <a:rPr lang="el-GR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γ)</a:t>
            </a:r>
            <a:endParaRPr lang="zh-CN" altLang="en-US" sz="14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讲解-38">
            <a:extLst>
              <a:ext uri="{FF2B5EF4-FFF2-40B4-BE49-F238E27FC236}">
                <a16:creationId xmlns:a16="http://schemas.microsoft.com/office/drawing/2014/main" id="{01935591-DE45-73F8-F960-FE84678CC994}"/>
              </a:ext>
            </a:extLst>
          </p:cNvPr>
          <p:cNvSpPr txBox="1"/>
          <p:nvPr/>
        </p:nvSpPr>
        <p:spPr>
          <a:xfrm>
            <a:off x="609600" y="2628900"/>
            <a:ext cx="203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ln[−ln(1−p)]</a:t>
            </a:r>
            <a:endParaRPr lang="zh-CN" altLang="en-US" sz="14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讲解-39">
            <a:extLst>
              <a:ext uri="{FF2B5EF4-FFF2-40B4-BE49-F238E27FC236}">
                <a16:creationId xmlns:a16="http://schemas.microsoft.com/office/drawing/2014/main" id="{44599280-C3CB-B1EC-61FA-71FA4FFFE742}"/>
              </a:ext>
            </a:extLst>
          </p:cNvPr>
          <p:cNvSpPr txBox="1"/>
          <p:nvPr/>
        </p:nvSpPr>
        <p:spPr>
          <a:xfrm>
            <a:off x="609600" y="6045200"/>
            <a:ext cx="4000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斜率 → 形状</a:t>
            </a:r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；截距 → 尺度</a:t>
            </a:r>
            <a:r>
              <a:rPr lang="en-US" altLang="zh-CN" sz="14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4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73D1C7-77CF-FBEF-1969-2270CAEE381C}"/>
              </a:ext>
            </a:extLst>
          </p:cNvPr>
          <p:cNvSpPr/>
          <p:nvPr/>
        </p:nvSpPr>
        <p:spPr>
          <a:xfrm>
            <a:off x="4838700" y="2895600"/>
            <a:ext cx="2667000" cy="6604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二参数概率图回归</a:t>
            </a:r>
          </a:p>
          <a:p>
            <a:pPr algn="ctr"/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White · 1969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6485BA6-2817-3E6A-3D70-A957EBB11878}"/>
              </a:ext>
            </a:extLst>
          </p:cNvPr>
          <p:cNvSpPr/>
          <p:nvPr/>
        </p:nvSpPr>
        <p:spPr>
          <a:xfrm>
            <a:off x="8724900" y="2895600"/>
            <a:ext cx="2857500" cy="6604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三参数最小二乘（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/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Soman &amp; Misra · 1992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A8F9F22-11EF-A47D-E313-993F1D2B0EC8}"/>
              </a:ext>
            </a:extLst>
          </p:cNvPr>
          <p:cNvCxnSpPr/>
          <p:nvPr/>
        </p:nvCxnSpPr>
        <p:spPr>
          <a:xfrm>
            <a:off x="7505700" y="3213100"/>
            <a:ext cx="12192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讲解-43">
            <a:extLst>
              <a:ext uri="{FF2B5EF4-FFF2-40B4-BE49-F238E27FC236}">
                <a16:creationId xmlns:a16="http://schemas.microsoft.com/office/drawing/2014/main" id="{E6079F00-80F1-5FC1-0D3E-547CD1CBE1A9}"/>
              </a:ext>
            </a:extLst>
          </p:cNvPr>
          <p:cNvSpPr txBox="1"/>
          <p:nvPr/>
        </p:nvSpPr>
        <p:spPr>
          <a:xfrm>
            <a:off x="7632700" y="2832100"/>
            <a:ext cx="10541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位置未知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F27A96F-3696-DC38-8103-560417693B0C}"/>
              </a:ext>
            </a:extLst>
          </p:cNvPr>
          <p:cNvSpPr/>
          <p:nvPr/>
        </p:nvSpPr>
        <p:spPr>
          <a:xfrm>
            <a:off x="4838700" y="4064000"/>
            <a:ext cx="6743700" cy="622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广义线性回归（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GLRA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 · 1994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讲解-45">
            <a:extLst>
              <a:ext uri="{FF2B5EF4-FFF2-40B4-BE49-F238E27FC236}">
                <a16:creationId xmlns:a16="http://schemas.microsoft.com/office/drawing/2014/main" id="{6EC27DB8-3CAF-8FCE-2DA0-CF232718E2DF}"/>
              </a:ext>
            </a:extLst>
          </p:cNvPr>
          <p:cNvSpPr txBox="1"/>
          <p:nvPr/>
        </p:nvSpPr>
        <p:spPr>
          <a:xfrm>
            <a:off x="4965700" y="4749800"/>
            <a:ext cx="6502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通过回归构造处理未知位置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9E55E5A-74B1-AB88-6DD1-180E2887D7A8}"/>
              </a:ext>
            </a:extLst>
          </p:cNvPr>
          <p:cNvSpPr/>
          <p:nvPr/>
        </p:nvSpPr>
        <p:spPr>
          <a:xfrm>
            <a:off x="4838700" y="5270500"/>
            <a:ext cx="6743700" cy="622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相关系数法｜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Park · 2017 / 2018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讲解-47">
            <a:extLst>
              <a:ext uri="{FF2B5EF4-FFF2-40B4-BE49-F238E27FC236}">
                <a16:creationId xmlns:a16="http://schemas.microsoft.com/office/drawing/2014/main" id="{E8CF854C-C363-6A4A-55DA-7078E14D8FDE}"/>
              </a:ext>
            </a:extLst>
          </p:cNvPr>
          <p:cNvSpPr txBox="1"/>
          <p:nvPr/>
        </p:nvSpPr>
        <p:spPr>
          <a:xfrm>
            <a:off x="4965700" y="5969000"/>
            <a:ext cx="6502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寻找相关性较强的位置，再恢复形状与尺度</a:t>
            </a:r>
          </a:p>
        </p:txBody>
      </p:sp>
    </p:spTree>
    <p:extLst>
      <p:ext uri="{BB962C8B-B14F-4D97-AF65-F5344CB8AC3E}">
        <p14:creationId xmlns:p14="http://schemas.microsoft.com/office/powerpoint/2010/main" val="358763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C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统计量与构造准则：让什么量满足什么条件？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99282AE-3BA0-DEE0-DB5A-05360C976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364756"/>
              </p:ext>
            </p:extLst>
          </p:nvPr>
        </p:nvGraphicFramePr>
        <p:xfrm>
          <a:off x="609600" y="1879600"/>
          <a:ext cx="10972800" cy="384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1169505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74879841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2278635387"/>
                    </a:ext>
                  </a:extLst>
                </a:gridCol>
              </a:tblGrid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构造什么量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用什么条件确定参数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65980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矩／概率加权矩／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PWM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LM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样本矩、概率加权矩或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样本统计量与理论值匹配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用统计特征约束参数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856048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最大乘积间距（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Cheng &amp; Amin · 1983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相邻排序观测在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CDF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上的概率间隔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最大化各间隔的乘积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惩罚接近零的概率间隔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839453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最小差异法（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Xie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 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· 2022/2023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由每个观测和绘图概率反推的尺度值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最小化尺度伪估计的差异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使不同观测给出的尺度尽量一致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51853"/>
                  </a:ext>
                </a:extLst>
              </a:tr>
            </a:tbl>
          </a:graphicData>
        </a:graphic>
      </p:graphicFrame>
      <p:sp>
        <p:nvSpPr>
          <p:cNvPr id="8" name="讲解-8">
            <a:extLst>
              <a:ext uri="{FF2B5EF4-FFF2-40B4-BE49-F238E27FC236}">
                <a16:creationId xmlns:a16="http://schemas.microsoft.com/office/drawing/2014/main" id="{4385EA12-BD71-2A8F-8C82-68ADF71B9503}"/>
              </a:ext>
            </a:extLst>
          </p:cNvPr>
          <p:cNvSpPr txBox="1"/>
          <p:nvPr/>
        </p:nvSpPr>
        <p:spPr>
          <a:xfrm>
            <a:off x="609600" y="60198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三种依据：统计量匹配、概率间距、尺度一致性。</a:t>
            </a:r>
          </a:p>
        </p:txBody>
      </p:sp>
    </p:spTree>
    <p:extLst>
      <p:ext uri="{BB962C8B-B14F-4D97-AF65-F5344CB8AC3E}">
        <p14:creationId xmlns:p14="http://schemas.microsoft.com/office/powerpoint/2010/main" val="300781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组合与学习：交替更新参数，或学习参数映射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讲解-7">
            <a:extLst>
              <a:ext uri="{FF2B5EF4-FFF2-40B4-BE49-F238E27FC236}">
                <a16:creationId xmlns:a16="http://schemas.microsoft.com/office/drawing/2014/main" id="{C6FA8885-C6A0-F599-6469-FDE15BD07627}"/>
              </a:ext>
            </a:extLst>
          </p:cNvPr>
          <p:cNvSpPr txBox="1"/>
          <p:nvPr/>
        </p:nvSpPr>
        <p:spPr>
          <a:xfrm>
            <a:off x="609600" y="1651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最小观测值通常高于分布起点：先修正位置，再更新形状和尺度。</a:t>
            </a:r>
          </a:p>
        </p:txBody>
      </p:sp>
      <p:sp>
        <p:nvSpPr>
          <p:cNvPr id="8" name="讲解-8">
            <a:extLst>
              <a:ext uri="{FF2B5EF4-FFF2-40B4-BE49-F238E27FC236}">
                <a16:creationId xmlns:a16="http://schemas.microsoft.com/office/drawing/2014/main" id="{CAC3F1A2-CF31-70A4-5B84-1504D69D9B43}"/>
              </a:ext>
            </a:extLst>
          </p:cNvPr>
          <p:cNvSpPr txBox="1"/>
          <p:nvPr/>
        </p:nvSpPr>
        <p:spPr>
          <a:xfrm>
            <a:off x="609600" y="2260600"/>
            <a:ext cx="4635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逐次逼近（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Guo</a:t>
            </a:r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2023</a:t>
            </a:r>
            <a:endParaRPr lang="zh-CN" altLang="en-US" sz="17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9E2483-EE80-7B5E-3B8D-653D041C3540}"/>
              </a:ext>
            </a:extLst>
          </p:cNvPr>
          <p:cNvSpPr/>
          <p:nvPr/>
        </p:nvSpPr>
        <p:spPr>
          <a:xfrm>
            <a:off x="609600" y="27432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最小值期望关系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修正位置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F7EE53-2021-1F67-DE16-459D0C807E08}"/>
              </a:ext>
            </a:extLst>
          </p:cNvPr>
          <p:cNvSpPr/>
          <p:nvPr/>
        </p:nvSpPr>
        <p:spPr>
          <a:xfrm>
            <a:off x="4521200" y="27432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概率图回归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73E900-5677-7FE2-220C-0E3A6A8E5D41}"/>
              </a:ext>
            </a:extLst>
          </p:cNvPr>
          <p:cNvSpPr/>
          <p:nvPr/>
        </p:nvSpPr>
        <p:spPr>
          <a:xfrm>
            <a:off x="8432800" y="2743200"/>
            <a:ext cx="31496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重复至参数稳定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892B2E5-4644-9629-759D-C45599235009}"/>
              </a:ext>
            </a:extLst>
          </p:cNvPr>
          <p:cNvCxnSpPr/>
          <p:nvPr/>
        </p:nvCxnSpPr>
        <p:spPr>
          <a:xfrm>
            <a:off x="3721100" y="30988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99FE30D-B018-5731-FBB6-7BE99D04D13F}"/>
              </a:ext>
            </a:extLst>
          </p:cNvPr>
          <p:cNvCxnSpPr/>
          <p:nvPr/>
        </p:nvCxnSpPr>
        <p:spPr>
          <a:xfrm>
            <a:off x="7632700" y="30988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讲解-14">
            <a:extLst>
              <a:ext uri="{FF2B5EF4-FFF2-40B4-BE49-F238E27FC236}">
                <a16:creationId xmlns:a16="http://schemas.microsoft.com/office/drawing/2014/main" id="{B657A55F-2EAC-3D8F-32C4-4D7DFBF54F81}"/>
              </a:ext>
            </a:extLst>
          </p:cNvPr>
          <p:cNvSpPr txBox="1"/>
          <p:nvPr/>
        </p:nvSpPr>
        <p:spPr>
          <a:xfrm>
            <a:off x="609600" y="37084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位置修正逐次逼近（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Guo</a:t>
            </a:r>
            <a:r>
              <a:rPr lang="zh-CN" altLang="en-US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7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2024</a:t>
            </a:r>
            <a:endParaRPr lang="zh-CN" altLang="en-US" sz="17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ACF34E-AEF1-6883-0F8E-C2E416A35ABC}"/>
              </a:ext>
            </a:extLst>
          </p:cNvPr>
          <p:cNvSpPr/>
          <p:nvPr/>
        </p:nvSpPr>
        <p:spPr>
          <a:xfrm>
            <a:off x="609600" y="41910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最小值中位数关系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修正位置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E13927-C484-4BDD-7AE0-91A9A6C2C6A7}"/>
              </a:ext>
            </a:extLst>
          </p:cNvPr>
          <p:cNvSpPr/>
          <p:nvPr/>
        </p:nvSpPr>
        <p:spPr>
          <a:xfrm>
            <a:off x="4521200" y="41910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条件似然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751B73-84F2-521C-37D9-D32F01854B91}"/>
              </a:ext>
            </a:extLst>
          </p:cNvPr>
          <p:cNvSpPr/>
          <p:nvPr/>
        </p:nvSpPr>
        <p:spPr>
          <a:xfrm>
            <a:off x="8432800" y="4191000"/>
            <a:ext cx="31496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重复至参数稳定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F7B097A-3970-0D77-D07A-060633EA9973}"/>
              </a:ext>
            </a:extLst>
          </p:cNvPr>
          <p:cNvCxnSpPr/>
          <p:nvPr/>
        </p:nvCxnSpPr>
        <p:spPr>
          <a:xfrm>
            <a:off x="3721100" y="45466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26AE1C0-32E3-ADDC-4B03-5EBEB062C932}"/>
              </a:ext>
            </a:extLst>
          </p:cNvPr>
          <p:cNvCxnSpPr/>
          <p:nvPr/>
        </p:nvCxnSpPr>
        <p:spPr>
          <a:xfrm>
            <a:off x="7632700" y="45466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讲解-41">
            <a:extLst>
              <a:ext uri="{FF2B5EF4-FFF2-40B4-BE49-F238E27FC236}">
                <a16:creationId xmlns:a16="http://schemas.microsoft.com/office/drawing/2014/main" id="{30F47254-4A3D-C119-1186-48B9762CBF08}"/>
              </a:ext>
            </a:extLst>
          </p:cNvPr>
          <p:cNvSpPr txBox="1"/>
          <p:nvPr/>
        </p:nvSpPr>
        <p:spPr>
          <a:xfrm>
            <a:off x="609600" y="5372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LSPF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：消除位置、尺度影响 → 估计形状 → 恢复其余参数</a:t>
            </a:r>
          </a:p>
        </p:txBody>
      </p:sp>
      <p:sp>
        <p:nvSpPr>
          <p:cNvPr id="42" name="讲解-42">
            <a:extLst>
              <a:ext uri="{FF2B5EF4-FFF2-40B4-BE49-F238E27FC236}">
                <a16:creationId xmlns:a16="http://schemas.microsoft.com/office/drawing/2014/main" id="{058CC3E2-86AC-FD49-5058-8E6265F095F3}"/>
              </a:ext>
            </a:extLst>
          </p:cNvPr>
          <p:cNvSpPr txBox="1"/>
          <p:nvPr/>
        </p:nvSpPr>
        <p:spPr>
          <a:xfrm>
            <a:off x="609600" y="59309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BPNN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：模拟样本＋已知参数训练 → 从样本特征直接输出参数</a:t>
            </a:r>
          </a:p>
        </p:txBody>
      </p:sp>
    </p:spTree>
    <p:extLst>
      <p:ext uri="{BB962C8B-B14F-4D97-AF65-F5344CB8AC3E}">
        <p14:creationId xmlns:p14="http://schemas.microsoft.com/office/powerpoint/2010/main" val="11770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12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篇论文实际选择了哪些对照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文献怎样选择比较对象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03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讲解-7">
            <a:extLst>
              <a:ext uri="{FF2B5EF4-FFF2-40B4-BE49-F238E27FC236}">
                <a16:creationId xmlns:a16="http://schemas.microsoft.com/office/drawing/2014/main" id="{1316CFF3-249F-8FDA-3443-426C2B1AE6D8}"/>
              </a:ext>
            </a:extLst>
          </p:cNvPr>
          <p:cNvSpPr txBox="1"/>
          <p:nvPr/>
        </p:nvSpPr>
        <p:spPr>
          <a:xfrm>
            <a:off x="609600" y="1536700"/>
            <a:ext cx="10972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MLE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出现</a:t>
            </a:r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篇，相关回归路线出现</a:t>
            </a:r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篇；经典方法仍是常见参照。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58CF35A-613B-62DB-E189-10E6BF9BF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971202"/>
              </p:ext>
            </p:extLst>
          </p:nvPr>
        </p:nvGraphicFramePr>
        <p:xfrm>
          <a:off x="609600" y="1968500"/>
          <a:ext cx="10972800" cy="318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151726883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4752718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82636269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86696782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91518507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79811986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72002975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34441767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83081802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78715042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96746789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09417024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1726181328"/>
                    </a:ext>
                  </a:extLst>
                </a:gridCol>
              </a:tblGrid>
              <a:tr h="227693">
                <a:tc>
                  <a:txBody>
                    <a:bodyPr/>
                    <a:lstStyle/>
                    <a:p>
                      <a:r>
                        <a:rPr lang="zh-CN" altLang="en-US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论文方法（缩写）／作者与年份</a:t>
                      </a:r>
                    </a:p>
                  </a:txBody>
                  <a:tcPr marL="762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548115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736795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005506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031811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852069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49737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430215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008570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769595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644124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910100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197118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25993"/>
                  </a:ext>
                </a:extLst>
              </a:tr>
              <a:tr h="22769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781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45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近期工作：估计构造、观测条件与求解过程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FE6FF3-C7E8-DD81-6816-CD36888990A5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</a:pPr>
            <a:r>
              <a:rPr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近10—20年的新工作，并不都在同一任务下竞争。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04D4E2-A117-82A7-4055-45AEF192AE6E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近期创新同时涉及估计构造、观测条件和求解过程，比较时先看是否解决同一问题。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E31587-3EF2-3708-8EA4-E4AE09E814B6}"/>
              </a:ext>
            </a:extLst>
          </p:cNvPr>
          <p:cNvSpPr>
            <a:spLocks noGrp="1"/>
          </p:cNvSpPr>
          <p:nvPr/>
        </p:nvSpPr>
        <p:spPr>
          <a:xfrm>
            <a:off x="622300" y="24765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改估计构造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762B04-7DF6-2EE4-F31F-3DFCBE1C83B5}"/>
              </a:ext>
            </a:extLst>
          </p:cNvPr>
          <p:cNvSpPr>
            <a:spLocks noGrp="1"/>
          </p:cNvSpPr>
          <p:nvPr/>
        </p:nvSpPr>
        <p:spPr>
          <a:xfrm>
            <a:off x="2933700" y="24765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有限样本、位置和偏差：WMLE、Park、SAM/PM、DMMLE。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96BDCF-4100-5E60-3EB4-9312AA225023}"/>
              </a:ext>
            </a:extLst>
          </p:cNvPr>
          <p:cNvSpPr>
            <a:spLocks noGrp="1"/>
          </p:cNvSpPr>
          <p:nvPr/>
        </p:nvSpPr>
        <p:spPr>
          <a:xfrm>
            <a:off x="2933700" y="29337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直接学习映射也属相关构造，要核训练范围与损失。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2AAE2C-08DC-94CE-0A17-746F62F0AB28}"/>
              </a:ext>
            </a:extLst>
          </p:cNvPr>
          <p:cNvSpPr>
            <a:spLocks noGrp="1"/>
          </p:cNvSpPr>
          <p:nvPr/>
        </p:nvSpPr>
        <p:spPr>
          <a:xfrm>
            <a:off x="622300" y="35941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改观测条件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5668768-2A2A-4E3B-2B78-A189DDC6BFB7}"/>
              </a:ext>
            </a:extLst>
          </p:cNvPr>
          <p:cNvSpPr>
            <a:spLocks noGrp="1"/>
          </p:cNvSpPr>
          <p:nvPr/>
        </p:nvSpPr>
        <p:spPr>
          <a:xfrm>
            <a:off x="2933700" y="35941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污染、删失等：PITE [182-003]、删失研究 [182-114]。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29A61D-CFD6-9AA8-0B9F-514C376D83C6}"/>
              </a:ext>
            </a:extLst>
          </p:cNvPr>
          <p:cNvSpPr>
            <a:spLocks noGrp="1"/>
          </p:cNvSpPr>
          <p:nvPr/>
        </p:nvSpPr>
        <p:spPr>
          <a:xfrm>
            <a:off x="2933700" y="40513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与完整样本任务不同，特殊情境中的排名不能直接移用。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95A7F3-14D6-A065-D07F-43881FCB45B0}"/>
              </a:ext>
            </a:extLst>
          </p:cNvPr>
          <p:cNvSpPr>
            <a:spLocks noGrp="1"/>
          </p:cNvSpPr>
          <p:nvPr/>
        </p:nvSpPr>
        <p:spPr>
          <a:xfrm>
            <a:off x="622300" y="47117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改求解过程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457CEA-8DC3-A10C-8854-46FCE3CC0C15}"/>
              </a:ext>
            </a:extLst>
          </p:cNvPr>
          <p:cNvSpPr>
            <a:spLocks noGrp="1"/>
          </p:cNvSpPr>
          <p:nvPr/>
        </p:nvSpPr>
        <p:spPr>
          <a:xfrm>
            <a:off x="2933700" y="47117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保留统计目标，改善搜索：ADGBO [187-001]、PSO等。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64FA82-2916-7541-E4BD-51CCAEE83CA4}"/>
              </a:ext>
            </a:extLst>
          </p:cNvPr>
          <p:cNvSpPr>
            <a:spLocks noGrp="1"/>
          </p:cNvSpPr>
          <p:nvPr/>
        </p:nvSpPr>
        <p:spPr>
          <a:xfrm>
            <a:off x="2933700" y="51689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先核目标与约束，再判断是否属于MLE。</a:t>
            </a:r>
          </a:p>
        </p:txBody>
      </p:sp>
    </p:spTree>
    <p:extLst>
      <p:ext uri="{BB962C8B-B14F-4D97-AF65-F5344CB8AC3E}">
        <p14:creationId xmlns:p14="http://schemas.microsoft.com/office/powerpoint/2010/main" val="182936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近期候选提供的比较证据与边界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270D80-DB91-41EC-A17C-1B65588111B7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比较证据必须同时给出样本条件、评价指标和结论范围。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19350"/>
          <a:ext cx="10972800" cy="333375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工作与条件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已有比较证据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不能直接外推的结论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WMLE／LSPF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n=8—32／10—500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WMLE有小样本修正证据；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LSPF作者按n提出不同建议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WMLE版本有差异；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可解性不等于RMSE最优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SAM／PM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n=5—20／另有n=5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SAM极小样本平均MAD较好；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PM比较LSE、MLE、PWM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SAM未检验β&lt;1；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两版尚无直接性能比较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对CCM、MDM比较参数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及1%分位点SD、RMSE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训练域有界；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原输入和配置仍有缺口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n=50—1000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相对偏差改善，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RMSE总体接近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尚不能据原实验判断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9C808BA-CF7E-4FFD-8217-A0E0BFE50A3B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这些结果来自各篇内部比较，不构成跨论文统一排名。</a:t>
            </a:r>
          </a:p>
        </p:txBody>
      </p:sp>
    </p:spTree>
    <p:extLst>
      <p:ext uri="{BB962C8B-B14F-4D97-AF65-F5344CB8AC3E}">
        <p14:creationId xmlns:p14="http://schemas.microsoft.com/office/powerpoint/2010/main" val="336981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对照选择原则：每个角色回答一个问题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B11EBC-B8DC-4358-8D0A-B31C760B6F5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在当前已核文献范围内，尚未确认通用固定组合；可按比较作用选择对手。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33375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对手角色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为什么需要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共同经典基准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与历史结果建立联系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有竞争力的有限样本方法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防止只战胜较弱基线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同任务近期方法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回答新方法相对于当前研究的表现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识别新增步骤本身带来的收益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特殊场景方法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仅在数据条件与相应主张匹配时纳入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5077C12-D1FE-4186-958A-344A846FA61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同一方法可以兼任多个角色；第六部分给出选择顺序与候选实例。</a:t>
            </a:r>
            <a:endParaRPr sz="150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93150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Monte Carlo：精度、波动与有效求解率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96DBA2-C84C-4647-9587-4D83BC4F7B5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各方法处理同一批生成样本，分别报告β、η、γ，按样本量与参数条件展示。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419350"/>
          <a:ext cx="10972800" cy="3009902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评价问题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主指标或记录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怎样解释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估得准不准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Bias、RMSE（或MSE）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系统偏差与总体误差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抽样稳不稳定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重复抽样造成的波动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能否有效求解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有效率／失败率及原因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给定版本与计算预算下的表现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优势出现在哪里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真参数、n、重复次数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保留条件差异，不只报总体平均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B4BC099-B7C6-4834-B2C5-C1E09FE990E5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建议以n=5—30为重点，补n=50或100；每条件1000次起，按模拟精度增加。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B5AF19-5148-480E-8BED-7649AD89702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已核13篇：逐参数RMSE 7篇、SD 5篇、Bias 4篇；频次不是指标选择的唯一依据。</a:t>
            </a:r>
          </a:p>
        </p:txBody>
      </p:sp>
    </p:spTree>
    <p:extLst>
      <p:ext uri="{BB962C8B-B14F-4D97-AF65-F5344CB8AC3E}">
        <p14:creationId xmlns:p14="http://schemas.microsoft.com/office/powerpoint/2010/main" val="413336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失败处理：精度必须连同有效率一起报告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43A4D2-266F-4B41-031B-07FBAA0792B4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  <a:def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无有限最大值、数值未收敛与越界输出分开记录；不把程序失败等同于理论无解。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C56FF3-588F-AD51-73D3-B8671BC60424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57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误差按有效估计计算并标明数量；共同成功样本比较仍是条件结果，不能替代失败统计。</a:t>
            </a:r>
          </a:p>
        </p:txBody>
      </p:sp>
      <p:graphicFrame>
        <p:nvGraphicFramePr>
          <p:cNvPr id="15" name="表格 7"/>
          <p:cNvGraphicFramePr/>
          <p:nvPr/>
        </p:nvGraphicFramePr>
        <p:xfrm>
          <a:off x="622300" y="24130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原文处理实例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本研究应怎样报告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仅比较收敛样本 [182-096]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成为筛样后的条件精度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给全部次数、有效数与失败原因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限制参数并报未得到估计数 [182-091]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约束与计算预算影响成功率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预先声明参数域、预算与接受规则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失败用零作图标记 [182-030]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零并非有效参数估计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不得把标记值代入RMSE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剔除极端输出 [182-101]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有效极端值也会改变尾部风险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披露筛选规则与统计分母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791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真实数据：实际可用性、拟合与寿命量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真实数据的作用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994507-8E5F-46F1-B013-23E8B80D3186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通常没有参数真值；真实数据支持应用解释，不能直接证明参数估计更准确。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571750"/>
          <a:ext cx="10972800" cy="2686050"/>
        </p:xfrm>
        <a:graphic>
          <a:graphicData uri="http://schemas.openxmlformats.org/drawingml/2006/table">
            <a:tbl>
              <a:tblPr/>
              <a:tblGrid>
                <a:gridCol w="32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来源与真实样本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实际评价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BPNN：15点疲劳寿命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与CCM、MDM比较K-S、CDF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这组数据的应用与拟合表现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参数、变换似然及不收敛记录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困难样本上的可计算性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K-S、CDF、MTTF与可靠寿命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应用差异；部分为历史参照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38687B6-A49A-4AD6-8E6C-1AD8B0EDD8BA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可以比较多个方法，也可以只展示新方法应用；案例选择应服务于要说明的问题。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48248-BEE3-46AD-B1F5-CD59D619E7F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只有涉及稳定性、预测或区间主张时，再增加相应验证。</a:t>
            </a:r>
          </a:p>
        </p:txBody>
      </p:sp>
    </p:spTree>
    <p:extLst>
      <p:ext uri="{BB962C8B-B14F-4D97-AF65-F5344CB8AC3E}">
        <p14:creationId xmlns:p14="http://schemas.microsoft.com/office/powerpoint/2010/main" val="76427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Benchmark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应怎样选择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DCD40E-FDDC-4FFC-B50A-DB2EF1DE384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依次核查共同参照、同任务强对手、近期竞争者和直接母方法。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4" name="表格 13"/>
          <p:cNvGraphicFramePr/>
          <p:nvPr>
            <p:extLst>
              <p:ext uri="{D42A27DB-BD31-4B8C-83A1-F6EECF244321}">
                <p14:modId xmlns:p14="http://schemas.microsoft.com/office/powerpoint/2010/main" val="1872700200"/>
              </p:ext>
            </p:extLst>
          </p:nvPr>
        </p:nvGraphicFramePr>
        <p:xfrm>
          <a:off x="609600" y="2457450"/>
          <a:ext cx="10972800" cy="3162302"/>
        </p:xfrm>
        <a:graphic>
          <a:graphicData uri="http://schemas.openxmlformats.org/drawingml/2006/table">
            <a:tbl>
              <a:tblPr/>
              <a:tblGrid>
                <a:gridCol w="425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选择顺序</a:t>
                      </a:r>
                      <a:endParaRPr sz="17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核查重点</a:t>
                      </a:r>
                      <a:endParaRPr sz="17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比较作用</a:t>
                      </a:r>
                      <a:endParaRPr sz="17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共同参照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定义明确、可以复现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与既有研究建立联系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同任务强对手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目标样本量与参数域的证据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避免只与较弱基线比较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近期竞争者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数据条件、目标是否一致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回应当前同任务研究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lang="en-US" altLang="zh-CN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</a:t>
                      </a:r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直接母方法（若适用）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被改进或组合的具体版本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识别新增步骤的收益</a:t>
                      </a:r>
                      <a:endParaRPr sz="1725" b="0">
                        <a:solidFill>
                          <a:srgbClr val="18253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4C72E68-732B-4190-A389-3857F87D2F2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最终入选取决于任务匹配、比较作用与可复现性；同一方法可兼任多个角色。</a:t>
            </a:r>
            <a:endParaRPr sz="150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0690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根据研究主张确定具体对照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100E04-C5FA-4167-BE13-1C739F22BA8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下列方法是待核查的候选实例，具体选择由新方法要证明什么决定。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1F5804-D50B-4947-9783-6BA44BBB391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候选无需全部纳入；先核查具体版本、适用域与复现完整程度，再确定最终对照。</a:t>
            </a:r>
            <a:endParaRPr sz="150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按研究主张选择对照">
            <a:extLst>
              <a:ext uri="{FF2B5EF4-FFF2-40B4-BE49-F238E27FC236}">
                <a16:creationId xmlns:a16="http://schemas.microsoft.com/office/drawing/2014/main" id="{362AAF87-21AA-38EF-4884-6F967CC0D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31972"/>
              </p:ext>
            </p:extLst>
          </p:nvPr>
        </p:nvGraphicFramePr>
        <p:xfrm>
          <a:off x="609600" y="2349500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903390400"/>
                    </a:ext>
                  </a:extLst>
                </a:gridCol>
                <a:gridCol w="4127500">
                  <a:extLst>
                    <a:ext uri="{9D8B030D-6E8A-4147-A177-3AD203B41FA5}">
                      <a16:colId xmlns:a16="http://schemas.microsoft.com/office/drawing/2014/main" val="3022949253"/>
                    </a:ext>
                  </a:extLst>
                </a:gridCol>
                <a:gridCol w="4051300">
                  <a:extLst>
                    <a:ext uri="{9D8B030D-6E8A-4147-A177-3AD203B41FA5}">
                      <a16:colId xmlns:a16="http://schemas.microsoft.com/office/drawing/2014/main" val="1080147819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如果新方法主要声称</a:t>
                      </a:r>
                      <a:r>
                        <a:rPr lang="en-US" altLang="zh-CN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……</a:t>
                      </a:r>
                      <a:endParaRPr lang="zh-CN" altLang="en-US" sz="145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优先核查的比较对象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比较作用／核查边界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65244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／概率图估计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Soman–Misra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Park</a:t>
                      </a:r>
                      <a:endParaRPr lang="zh-CN" altLang="en-US" sz="145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与已有概率图构造比较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24043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改善位置参数估计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PM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等位置修正方法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比较解决同一困难的方法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923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小样本偏差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等似然修正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原模拟从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n=50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开始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60804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改善边界／可解性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同时评价精度与有效率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65482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使用学习型估计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BPNN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等＋统计方法参照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核清训练范围与原版配置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51998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改进已有方法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直接母方法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识别新增步骤的收益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04149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强调极小样本性能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已有</a:t>
                      </a:r>
                      <a:r>
                        <a:rPr lang="en-US" altLang="zh-CN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n≈5—20</a:t>
                      </a:r>
                      <a:r>
                        <a:rPr lang="zh-CN" altLang="en-US" sz="14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证据的方法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逐项核对参数域与指标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808080"/>
                      </a:solidFill>
                    </a:lnL>
                    <a:lnR w="6350" cmpd="sng">
                      <a:solidFill>
                        <a:srgbClr val="808080"/>
                      </a:solidFill>
                    </a:lnR>
                    <a:lnT w="6350" cmpd="sng">
                      <a:solidFill>
                        <a:srgbClr val="808080"/>
                      </a:solidFill>
                    </a:lnT>
                    <a:lnB w="6350" cmpd="sng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396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28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候选入选前：核查具体版本与实现边界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E4C33A-ADA3-4CFB-9460-46784DB72B2C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以下为版本核查实例；列为候选不等于完成复现，也不构成固定名单。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28612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需要固定的版本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当前需注意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局部／受限解，参数域与接受规则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不将无界全局目标当作一般收敛问题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J权重、权重表及代入方式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Ng代入与其他更新版本分开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Proposed+Plot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原绘图概率、Plot恢复与非负位置域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Bernard分数是另一变体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形状未知分支、停止与边界重试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两个原文例已复现；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后期越域重试待澄清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91DC32C-238D-4E6F-BFD1-666B12AD13AE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原版与补救版分开命名；有效输出、回退流程和计算预算一起记录。</a:t>
            </a:r>
          </a:p>
        </p:txBody>
      </p:sp>
    </p:spTree>
    <p:extLst>
      <p:ext uri="{BB962C8B-B14F-4D97-AF65-F5344CB8AC3E}">
        <p14:creationId xmlns:p14="http://schemas.microsoft.com/office/powerpoint/2010/main" val="223724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本调研形成</a:t>
            </a: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benchmark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选择与评价规则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综合建议：如何选择对照并评价新方法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605129-F54E-4AA0-88C7-37CB694799D0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当前已核文献尚未确认通用固定组合；对照由研究主张与目标条件决定。</a:t>
            </a:r>
            <a:endParaRPr sz="1875" b="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8F032A-1765-4F9D-86B3-3784D0C03E15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怎样选对照</a:t>
            </a:r>
            <a:endParaRPr sz="2025" b="1">
              <a:solidFill>
                <a:srgbClr val="BE5A1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E60471-8E17-4730-97AC-B1AEA05DA493}"/>
              </a:ext>
            </a:extLst>
          </p:cNvPr>
          <p:cNvSpPr>
            <a:spLocks noGrp="1"/>
          </p:cNvSpPr>
          <p:nvPr/>
        </p:nvSpPr>
        <p:spPr>
          <a:xfrm>
            <a:off x="3648075" y="242887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按比较作用核查候选，允许同一方法兼任多个角色；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结合样本条件、参数域、继承关系与可复现性确定。</a:t>
            </a:r>
            <a:endParaRPr sz="1800" b="0">
              <a:solidFill>
                <a:srgbClr val="1825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5D9C8A-2798-4E5E-AF0B-2D5EDCD5A54B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怎样比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58780B-E0E8-4EF7-83DF-4B66516B27C4}"/>
              </a:ext>
            </a:extLst>
          </p:cNvPr>
          <p:cNvSpPr>
            <a:spLocks noGrp="1"/>
          </p:cNvSpPr>
          <p:nvPr/>
        </p:nvSpPr>
        <p:spPr>
          <a:xfrm>
            <a:off x="3648075" y="327660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共同Monte Carlo，逐参数Bias、RMSE、SD；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同时报告有效率、失败原因与成功样本数。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8CE192-94AC-4072-A47B-D891E4C3A701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真实数据说明什么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6F538C-083F-4FBF-A6B6-4A69996A0F31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展示可用性、拟合与寿命量；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不以同数据拟合较好代替参数精度证据。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058099-3B78-4182-8B3D-D27FBA6305E2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最终怎样下结论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D87CE4-D445-4DE8-8DC2-03DABE07CCF0}"/>
              </a:ext>
            </a:extLst>
          </p:cNvPr>
          <p:cNvSpPr>
            <a:spLocks noGrp="1"/>
          </p:cNvSpPr>
          <p:nvPr/>
        </p:nvSpPr>
        <p:spPr>
          <a:xfrm>
            <a:off x="3648075" y="497205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明确相对哪些对手、在何种条件下改善哪些评价量；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同时说明波动、计算、失败与适用范围的代价。</a:t>
            </a:r>
            <a:endParaRPr sz="1800" b="0">
              <a:solidFill>
                <a:srgbClr val="1825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1EC082-8A54-4A24-B30E-55AA9087AD55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Monte Carlo</a:t>
            </a:r>
            <a:r>
              <a:rPr lang="zh-CN" altLang="en-US"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提供主要参数性能证据，真实数据补充应用证据，共同限定结论范围。</a:t>
            </a:r>
            <a:endParaRPr sz="1650" b="1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4037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2585</Words>
  <Application>Microsoft Office PowerPoint</Application>
  <DocSecurity>0</DocSecurity>
  <PresentationFormat>宽屏</PresentationFormat>
  <Paragraphs>356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等线</vt:lpstr>
      <vt:lpstr>等线 Light</vt:lpstr>
      <vt:lpstr>汉仪粗宋简</vt:lpstr>
      <vt:lpstr>汉仪文润宋韵 U</vt:lpstr>
      <vt:lpstr>Microsoft YaHei</vt:lpstr>
      <vt:lpstr>Microsoft YaHei</vt:lpstr>
      <vt:lpstr>Arial</vt:lpstr>
      <vt:lpstr>Calibri</vt:lpstr>
      <vt:lpstr>Calibri Light</vt:lpstr>
      <vt:lpstr>Office 主题​​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38</cp:revision>
  <dcterms:created xsi:type="dcterms:W3CDTF">2026-09-06T04:22:26Z</dcterms:created>
  <dcterms:modified xsi:type="dcterms:W3CDTF">2026-09-28T08:32:02Z</dcterms:modified>
</cp:coreProperties>
</file>