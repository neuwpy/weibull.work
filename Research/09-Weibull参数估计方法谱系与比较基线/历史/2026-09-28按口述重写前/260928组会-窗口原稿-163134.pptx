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63" r:id="rId3"/>
  </p:sldMasterIdLst>
  <p:notesMasterIdLst>
    <p:notesMasterId r:id="rId22"/>
  </p:notesMasterIdLst>
  <p:sldIdLst>
    <p:sldId id="256" r:id="rId4"/>
    <p:sldId id="292" r:id="rId5"/>
    <p:sldId id="258" r:id="rId6"/>
    <p:sldId id="259" r:id="rId7"/>
    <p:sldId id="293" r:id="rId8"/>
    <p:sldId id="294" r:id="rId9"/>
    <p:sldId id="295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163" autoAdjust="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来源：研究报告v2.3（2026-09-28），Research09。本汇报讨论完整样本、尤其小样本三参数点估计的有效性评价。研究状态为ACTIVE + INDEPENDENT；本轮为文献分析与评价建议，不是新增性能实验。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678832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来源：研究报告</a:t>
            </a:r>
            <a:r>
              <a:rPr lang="en-US" altLang="zh-CN" dirty="0"/>
              <a:t>v2.3</a:t>
            </a:r>
            <a:r>
              <a:rPr lang="zh-CN" altLang="en-US" dirty="0"/>
              <a:t>，第</a:t>
            </a:r>
            <a:r>
              <a:rPr lang="en-US" altLang="zh-CN" dirty="0"/>
              <a:t>1</a:t>
            </a:r>
            <a:r>
              <a:rPr lang="zh-CN" altLang="en-US" dirty="0"/>
              <a:t>章与第</a:t>
            </a:r>
            <a:r>
              <a:rPr lang="en-US" altLang="zh-CN" dirty="0"/>
              <a:t>6</a:t>
            </a:r>
            <a:r>
              <a:rPr lang="zh-CN" altLang="en-US" dirty="0"/>
              <a:t>章。先按候选方法与文献证据确定合理对手，再在共同</a:t>
            </a:r>
            <a:r>
              <a:rPr lang="en-US" altLang="zh-CN" dirty="0"/>
              <a:t>Monte Carlo</a:t>
            </a:r>
            <a:r>
              <a:rPr lang="zh-CN" altLang="en-US" dirty="0"/>
              <a:t>条件下比较逐参数误差、波动和有效求解率。真实数据补充可用性、拟合及寿命量解释，不承担参数真值精度证明。两类证据汇合为评价建议。</a:t>
            </a:r>
            <a:endParaRPr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10467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来源：研究报告v2.3（2026-09-28），Research09。§2.1：A似然；B概率图；C统计量、间距与构造差异，含MDM；D组合与学习，含统计量变换。分组服务于辨认方法，不是互斥分类或性能排序。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74627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来源：研究报告v2.3（2026-09-28），Research09。§2.2，附录A方法继承关系。WMLE Cousineau2009 DOI10.1348/000711007X270843；DMMLE DOI10.3390/e27050485；ADGBO DOI10.1016/j.ress.2025.111610。Fisher1922标示通用似然原理，不是Weibull专用方法年份。同目标同约束下，优化器改进首先是求解改进。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86107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来源：研究报告v2.3（2026-09-28），Research09。§2.3，附录B第2—4、11节。Soman–Misra DOI10.1016/0026-2714(92)90057-R；Li DOI10.1109/24.295002；Park2017 DOI10.23055/ijietap.2017.24.4.2848。Plot与MLE2是不同恢复分支；项目Bernard分数LRE不等于Park原版。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271017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来源：研究报告v2.3（2026-09-28），Research09。§2.4，附录B第9、11节。MDM DOI10.1142/S0219455423500852（2022在线／2023卷期）以尺度伪估计差异定义准则，属于C组。MPS DOI10.1111/j.2517-6161.1983.tb01268.x。没有将MDM连成MPS或LS的已证实直接后继。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43088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来源：研究报告v2.3（2026-09-28），Research09。§2.5。SAM DOI10.1007/s12206-023-1019-z；PM DOI10.1002/qre.3559；LSPF DOI10.1016/j.csda.2012.09.005；BPNN DOI10.1016/j.probengmech.2025.103828。SAM与PM位置关系和参数更新不同，未核得直接升级或性能比较关系。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508625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3.1与4.2；数据evidence/benchmark_comparison_audit.json。primary_included的13篇中展示剔除182-030及MDM列，与报告图3一致；MLE7/12、CC4/12。表头LRE对应审核CC相关回归族，具体版本不等价。指标统计保留13篇，RMSE7、SD5、Bias4。仅统计现有已核子集，不作全领域普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731951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来源：研究报告v2.3（2026-09-28），Research09。§3.3，资料/近期文献范围核查.md。WMLE、Park、SAM/PM、DMMLE涉及估计构造；PITE DOI10.1038/s41598-025-96043-1涉及污染，Nassar–Elshahhat2024涉及二参数删失；ADGBO/PSO需按实际目标和约束辨别数值改进。方向实例不证明全领域重心转移。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31154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研究报告v2.3（2026-09-28），Research09。§3.4；WMLE182-088、LSPF182-113、SAM185-005、PM182-117、BPNN184-009、DMMLE182-111。详细来源见附录A/B和evidence/literature_performance_boundaries.json。SAM的MAD是跨三参数平均，不能说每个参数都改善；LSPF2013使用Ng式WMLE；PM主体大n，另有n5；DMMLE原尺度参数化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392601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/>
              <a:t>报告</a:t>
            </a:r>
            <a:r>
              <a:rPr lang="en-US" altLang="zh-CN" sz="1800"/>
              <a:t>v2.4</a:t>
            </a:r>
            <a:r>
              <a:rPr lang="zh-CN" altLang="en-US" sz="1800"/>
              <a:t>第</a:t>
            </a:r>
            <a:r>
              <a:rPr lang="en-US" altLang="zh-CN" sz="1800"/>
              <a:t>3.5</a:t>
            </a:r>
            <a:r>
              <a:rPr lang="zh-CN" altLang="en-US" sz="1800"/>
              <a:t>节：当前已核文献尚未确认通用固定比较组合；同一方法可兼任多个角色，第</a:t>
            </a:r>
            <a:r>
              <a:rPr lang="en-US" altLang="zh-CN" sz="1800"/>
              <a:t>6</a:t>
            </a:r>
            <a:r>
              <a:rPr lang="zh-CN" altLang="en-US" sz="1800"/>
              <a:t>章提供选择与评价规则。</a:t>
            </a:r>
            <a:endParaRPr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935229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4.1—4.2、6.3。建议n5、10、15、20、30，补50/100；形状可参考0.5、1、1.5、2、3、5，按适用域取舍；正位置主体，零位置边界单列。1000次为起点，接近结果可增加至5000—10000。来源SAM/BPNN/迭代LS/LSPF/综合比较。指标数来自13篇主子集，同篇可多项；relative Bias及联合指标另列。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25504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4.3与6.4。Akram–Hayat182-096筛ML收敛样本；182-091记录未得估计数；MDM182-030图中零是失败标记；182-101剔除形状&gt;5。保留所有生成次数；全失败条件误差不可计算。DMMLE允许γ̂=min(x)，须按原定义判断边界，不能统一套严格内点接受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363088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来源：研究报告v2.3（2026-09-28），Research09。§5、6.5。BPNN184-009 DOI10.1016/j.probengmech.2025.103828；LSPF182-113 DOI10.1016/j.csda.2012.09.005；SAM185-005 DOI10.1007/s12206-023-1019-z。SAM部分沿用历史估计，非统一重跑；同一10/4点数据重复使用不增加独立数据来源。Bootstrap不生成原总体参数真值。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133125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/>
              <a:t>报告</a:t>
            </a:r>
            <a:r>
              <a:rPr lang="en-US" altLang="zh-CN" sz="1800"/>
              <a:t>v2.4</a:t>
            </a:r>
            <a:r>
              <a:rPr lang="zh-CN" altLang="en-US" sz="1800"/>
              <a:t>第</a:t>
            </a:r>
            <a:r>
              <a:rPr lang="en-US" altLang="zh-CN" sz="1800"/>
              <a:t>6.1</a:t>
            </a:r>
            <a:r>
              <a:rPr lang="zh-CN" altLang="en-US" sz="1800"/>
              <a:t>节：依次核查共同参照、同任务强对手、近期竞争者及直接母方法。按任务匹配、比较作用与可复现性决定入选，不预设固定方法组合。</a:t>
            </a:r>
            <a:endParaRPr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686267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报告</a:t>
            </a:r>
            <a:r>
              <a:rPr lang="en-US" altLang="zh-CN"/>
              <a:t>v2.4</a:t>
            </a:r>
            <a:r>
              <a:rPr lang="zh-CN" altLang="en-US"/>
              <a:t>第</a:t>
            </a:r>
            <a:r>
              <a:rPr lang="en-US" altLang="zh-CN"/>
              <a:t>6.2</a:t>
            </a:r>
            <a:r>
              <a:rPr lang="zh-CN" altLang="en-US"/>
              <a:t>节：按研究主张确定对照。候选实例包括</a:t>
            </a:r>
            <a:r>
              <a:rPr lang="en-US" altLang="zh-CN"/>
              <a:t>MLE</a:t>
            </a:r>
            <a:r>
              <a:rPr lang="zh-CN" altLang="en-US"/>
              <a:t>、</a:t>
            </a:r>
            <a:r>
              <a:rPr lang="en-US" altLang="zh-CN"/>
              <a:t>WMLE</a:t>
            </a:r>
            <a:r>
              <a:rPr lang="zh-CN" altLang="en-US"/>
              <a:t>、</a:t>
            </a:r>
            <a:r>
              <a:rPr lang="en-US" altLang="zh-CN"/>
              <a:t>Soman–Misra</a:t>
            </a:r>
            <a:r>
              <a:rPr lang="zh-CN" altLang="en-US"/>
              <a:t>、</a:t>
            </a:r>
            <a:r>
              <a:rPr lang="en-US" altLang="zh-CN"/>
              <a:t>Park</a:t>
            </a:r>
            <a:r>
              <a:rPr lang="zh-CN" altLang="en-US"/>
              <a:t>、</a:t>
            </a:r>
            <a:r>
              <a:rPr lang="en-US" altLang="zh-CN"/>
              <a:t>SAM</a:t>
            </a:r>
            <a:r>
              <a:rPr lang="zh-CN" altLang="en-US"/>
              <a:t>、</a:t>
            </a:r>
            <a:r>
              <a:rPr lang="en-US" altLang="zh-CN"/>
              <a:t>PM</a:t>
            </a:r>
            <a:r>
              <a:rPr lang="zh-CN" altLang="en-US"/>
              <a:t>、</a:t>
            </a:r>
            <a:r>
              <a:rPr lang="en-US" altLang="zh-CN"/>
              <a:t>MPS</a:t>
            </a:r>
            <a:r>
              <a:rPr lang="zh-CN" altLang="en-US"/>
              <a:t>、</a:t>
            </a:r>
            <a:r>
              <a:rPr lang="en-US" altLang="zh-CN"/>
              <a:t>LSPF</a:t>
            </a:r>
            <a:r>
              <a:rPr lang="zh-CN" altLang="en-US"/>
              <a:t>、</a:t>
            </a:r>
            <a:r>
              <a:rPr lang="en-US" altLang="zh-CN"/>
              <a:t>DMMLE</a:t>
            </a:r>
            <a:r>
              <a:rPr lang="zh-CN" altLang="en-US"/>
              <a:t>、</a:t>
            </a:r>
            <a:r>
              <a:rPr lang="en-US" altLang="zh-CN"/>
              <a:t>BPNN</a:t>
            </a:r>
            <a:r>
              <a:rPr lang="zh-CN" altLang="en-US"/>
              <a:t>及直接母方法；不是全部必选。极小样本证据及具体版本见第</a:t>
            </a:r>
            <a:r>
              <a:rPr lang="en-US" altLang="zh-CN"/>
              <a:t>3.4</a:t>
            </a:r>
            <a:r>
              <a:rPr lang="zh-CN" altLang="en-US"/>
              <a:t>节和附录</a:t>
            </a:r>
            <a:r>
              <a:rPr lang="en-US" altLang="zh-CN"/>
              <a:t>B</a:t>
            </a:r>
            <a:r>
              <a:rPr lang="zh-CN" altLang="en-US"/>
              <a:t>。学习步骤的独立收益还需消融。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784309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/>
              <a:t>报告</a:t>
            </a:r>
            <a:r>
              <a:rPr lang="en-US" altLang="zh-CN" sz="1800"/>
              <a:t>v2.4</a:t>
            </a:r>
            <a:r>
              <a:rPr lang="zh-CN" altLang="en-US" sz="1800"/>
              <a:t>第</a:t>
            </a:r>
            <a:r>
              <a:rPr lang="en-US" altLang="zh-CN" sz="1800"/>
              <a:t>6.1</a:t>
            </a:r>
            <a:r>
              <a:rPr lang="zh-CN" altLang="en-US" sz="1800"/>
              <a:t>节及附录</a:t>
            </a:r>
            <a:r>
              <a:rPr lang="en-US" altLang="zh-CN" sz="1800"/>
              <a:t>B</a:t>
            </a:r>
            <a:r>
              <a:rPr lang="zh-CN" altLang="en-US" sz="1800"/>
              <a:t>：本页方法仅为版本核查实例，不是推荐固定组合。</a:t>
            </a:r>
            <a:r>
              <a:rPr lang="en-US" altLang="zh-CN" sz="1800"/>
              <a:t>SAM</a:t>
            </a:r>
            <a:r>
              <a:rPr lang="zh-CN" altLang="en-US" sz="1800"/>
              <a:t>两个示例复现不等于全部边界处理已复现。</a:t>
            </a:r>
            <a:endParaRPr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13649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/>
              <a:t>报告</a:t>
            </a:r>
            <a:r>
              <a:rPr lang="en-US" altLang="zh-CN" sz="1800"/>
              <a:t>v2.4</a:t>
            </a:r>
            <a:r>
              <a:rPr lang="zh-CN" altLang="en-US" sz="1800"/>
              <a:t>第</a:t>
            </a:r>
            <a:r>
              <a:rPr lang="en-US" altLang="zh-CN" sz="1800"/>
              <a:t>6</a:t>
            </a:r>
            <a:r>
              <a:rPr lang="zh-CN" altLang="en-US" sz="1800"/>
              <a:t>章结论：形成</a:t>
            </a:r>
            <a:r>
              <a:rPr lang="en-US" altLang="zh-CN" sz="1800"/>
              <a:t>benchmark</a:t>
            </a:r>
            <a:r>
              <a:rPr lang="zh-CN" altLang="en-US" sz="1800"/>
              <a:t>选择与评价规则。具体对照由研究主张、样本条件、参数域、近期同任务研究和继承关系决定；结论说明相对对手、改善条件及波动、计算与失败代价。</a:t>
            </a:r>
            <a:endParaRPr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19638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21"/>
          <p:cNvPicPr>
            <a:picLocks noChangeAspect="1"/>
          </p:cNvPicPr>
          <p:nvPr/>
        </p:nvPicPr>
        <p:blipFill>
          <a:blip r:embed="rId2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-375" t="36417" r="375" b="17715"/>
          <a:stretch>
            <a:fillRect/>
          </a:stretch>
        </p:blipFill>
        <p:spPr>
          <a:xfrm>
            <a:off x="-188953" y="3125718"/>
            <a:ext cx="12697941" cy="4114800"/>
          </a:xfrm>
          <a:prstGeom prst="rect">
            <a:avLst/>
          </a:prstGeom>
        </p:spPr>
      </p:pic>
      <p:pic>
        <p:nvPicPr>
          <p:cNvPr id="5" name="图片 24"/>
          <p:cNvPicPr>
            <a:picLocks noChangeAspect="1"/>
          </p:cNvPicPr>
          <p:nvPr/>
        </p:nvPicPr>
        <p:blipFill>
          <a:blip r:embed="rId3"/>
          <a:srcRect b="60826"/>
          <a:stretch>
            <a:fillRect/>
          </a:stretch>
        </p:blipFill>
        <p:spPr>
          <a:xfrm>
            <a:off x="133584" y="72497"/>
            <a:ext cx="3337845" cy="708895"/>
          </a:xfrm>
          <a:prstGeom prst="rect">
            <a:avLst/>
          </a:prstGeom>
        </p:spPr>
      </p:pic>
      <p:pic>
        <p:nvPicPr>
          <p:cNvPr id="6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9206" y="72497"/>
            <a:ext cx="5102794" cy="9144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矩形 332">
            <a:extLst>
              <a:ext uri="{FF2B5EF4-FFF2-40B4-BE49-F238E27FC236}">
                <a16:creationId xmlns:a16="http://schemas.microsoft.com/office/drawing/2014/main" id="{25D00A80-15F0-4C3D-BA1C-D2B8DF5713B7}"/>
              </a:ext>
            </a:extLst>
          </p:cNvPr>
          <p:cNvSpPr>
            <a:spLocks noGrp="1"/>
          </p:cNvSpPr>
          <p:nvPr/>
        </p:nvSpPr>
        <p:spPr>
          <a:xfrm>
            <a:off x="334962" y="833952"/>
            <a:ext cx="11522073" cy="499299"/>
          </a:xfrm>
          <a:prstGeom prst="rect">
            <a:avLst/>
          </a:prstGeom>
          <a:gradFill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b="100000"/>
            </a:path>
          </a:gra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noChangeAspect="1"/>
          </p:cNvPicPr>
          <p:nvPr/>
        </p:nvPicPr>
        <p:blipFill>
          <a:blip r:embed="rId2"/>
          <a:srcRect b="59104"/>
          <a:stretch>
            <a:fillRect/>
          </a:stretch>
        </p:blipFill>
        <p:spPr>
          <a:xfrm>
            <a:off x="9374637" y="198304"/>
            <a:ext cx="2675956" cy="593304"/>
          </a:xfrm>
          <a:prstGeom prst="rect">
            <a:avLst/>
          </a:prstGeom>
        </p:spPr>
      </p:pic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C33201AA-A72A-42CB-BA87-C4E3F68D7C54}"/>
              </a:ext>
            </a:extLst>
          </p:cNvPr>
          <p:cNvSpPr>
            <a:spLocks noGrp="1"/>
          </p:cNvSpPr>
          <p:nvPr/>
        </p:nvSpPr>
        <p:spPr>
          <a:xfrm>
            <a:off x="334962" y="6564990"/>
            <a:ext cx="11522076" cy="0"/>
          </a:xfrm>
          <a:prstGeom prst="line">
            <a:avLst/>
          </a:prstGeom>
          <a:ln w="50800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318508C9-E08C-4A63-8DC5-682D5D25DC9D}"/>
              </a:ext>
            </a:extLst>
          </p:cNvPr>
          <p:cNvSpPr>
            <a:spLocks noGrp="1"/>
          </p:cNvSpPr>
          <p:nvPr/>
        </p:nvSpPr>
        <p:spPr>
          <a:xfrm>
            <a:off x="334963" y="1402294"/>
            <a:ext cx="11522075" cy="0"/>
          </a:xfrm>
          <a:prstGeom prst="line">
            <a:avLst/>
          </a:prstGeom>
          <a:noFill/>
          <a:ln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8FF3E6BE-823E-41AB-9EE5-04BCCFD4A87C}"/>
              </a:ext>
            </a:extLst>
          </p:cNvPr>
          <p:cNvSpPr>
            <a:spLocks noGrp="1"/>
          </p:cNvSpPr>
          <p:nvPr/>
        </p:nvSpPr>
        <p:spPr>
          <a:xfrm rot="10800000">
            <a:off x="2562" y="10535"/>
            <a:ext cx="4440577" cy="2998608"/>
          </a:xfrm>
          <a:custGeom>
            <a:avLst/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ahLst/>
            <a:cxnLst/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w="12700" cmpd="sng">
            <a:noFill/>
            <a:prstDash val="solid"/>
          </a:ln>
        </p:spPr>
        <p:txBody>
          <a:bodyPr wrap="square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1BD28AC6-1683-4006-BB10-0F7A4C13FDE0}"/>
              </a:ext>
            </a:extLst>
          </p:cNvPr>
          <p:cNvSpPr>
            <a:spLocks noGrp="1"/>
          </p:cNvSpPr>
          <p:nvPr/>
        </p:nvSpPr>
        <p:spPr>
          <a:xfrm>
            <a:off x="-79985" y="1085380"/>
            <a:ext cx="3262303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</a:p>
        </p:txBody>
      </p:sp>
      <p:pic>
        <p:nvPicPr>
          <p:cNvPr id="135" name="图片 124"/>
          <p:cNvPicPr>
            <a:picLocks noChangeAspect="1"/>
          </p:cNvPicPr>
          <p:nvPr/>
        </p:nvPicPr>
        <p:blipFill>
          <a:blip r:embed="rId2">
            <a:alphaModFix amt="70000"/>
          </a:blip>
          <a:srcRect b="58808"/>
          <a:stretch>
            <a:fillRect/>
          </a:stretch>
        </p:blipFill>
        <p:spPr>
          <a:xfrm>
            <a:off x="662962" y="3707963"/>
            <a:ext cx="3024288" cy="2020666"/>
          </a:xfrm>
          <a:prstGeom prst="rect">
            <a:avLst/>
          </a:prstGeom>
        </p:spPr>
      </p:pic>
      <p:sp>
        <p:nvSpPr>
          <p:cNvPr id="88" name="文本框 87">
            <a:extLst>
              <a:ext uri="{FF2B5EF4-FFF2-40B4-BE49-F238E27FC236}">
                <a16:creationId xmlns:a16="http://schemas.microsoft.com/office/drawing/2014/main" id="{A61A7C37-D891-4BA3-A964-5035F355B85B}"/>
              </a:ext>
            </a:extLst>
          </p:cNvPr>
          <p:cNvSpPr>
            <a:spLocks noGrp="1"/>
          </p:cNvSpPr>
          <p:nvPr/>
        </p:nvSpPr>
        <p:spPr>
          <a:xfrm>
            <a:off x="851667" y="1479325"/>
            <a:ext cx="264687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>
              <a:ext uri="{FF2B5EF4-FFF2-40B4-BE49-F238E27FC236}">
                <a16:creationId xmlns:a16="http://schemas.microsoft.com/office/drawing/2014/main" id="{25C8C45D-7CBB-4B9F-860A-0AD2A7965893}"/>
              </a:ext>
            </a:extLst>
          </p:cNvPr>
          <p:cNvSpPr>
            <a:spLocks noGrp="1"/>
          </p:cNvSpPr>
          <p:nvPr/>
        </p:nvSpPr>
        <p:spPr>
          <a:xfrm>
            <a:off x="8895335" y="4602588"/>
            <a:ext cx="3296666" cy="2255412"/>
          </a:xfrm>
          <a:custGeom>
            <a:avLst/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ahLst/>
            <a:cxnLst/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w="12700" cmpd="sng">
            <a:noFill/>
            <a:prstDash val="solid"/>
          </a:ln>
        </p:spPr>
        <p:txBody>
          <a:bodyPr wrap="square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494629-B2BD-4D20-9BE8-A348383E5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CFFA4A-116A-46C5-A2F8-3F07BD47C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E1F2C58-CD69-4C73-AF93-AEE85893F66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664EF93-C77E-4753-89A2-B42BC54E813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6CFF673-FA18-4DF9-A003-A42740ABB113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6BA5EFC-8B17-4E3A-963D-8B491CAC20C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49F442-F8B7-4971-BD4A-13BCD800E1F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92642B2-6F22-4B9B-82AD-D3B06406DB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D6529E-89F7-4F18-91FE-AF7BE991C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10D0125-25E2-4ABE-96A0-B7C76CE65F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B9997D-42C9-4983-A767-A637AEACB15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25489B-D304-43A8-BF8C-F0785C3ABA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0B0469B-7200-416A-8519-9A34B72696B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A4601A5-F3B0-4399-9527-C8006666D47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D499D1-62B7-4375-94B0-BE149AA674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162A2E-9955-4F6B-B7C2-492157C65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7410B8-7366-4009-A65C-B1C17B3E6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72A7BB3-FEFF-4145-A73C-8783DB1D45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CC7F14-C2B0-43C1-B6CC-E1F0AE2440E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703B2A-433F-4968-8C3C-29BC33BCD17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570E6A-2266-4B2E-A208-4304DCF2EA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4C00C0-1E1B-46DC-877B-6999AB72E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E0375EC-D403-474C-BDCD-B132997555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5140C5-2534-4D01-A054-8799B7EE14F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C7DBA3-D86D-49F2-9C7E-E2938054A22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67B2D7-B8CF-4FD9-B641-7A5799E77D6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0216AD-9FFB-43B0-9ABC-443132024F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20E21E-06F7-4579-9A72-57FA309B3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367E993-74FC-4441-AB5C-FD3475EC77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3AFDDC-B246-4BAC-B53B-FC8B767342D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447F40-7F16-4FFF-B022-C3AEDC40230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82E804-6DF3-4452-B271-5DEBCCCB06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3744352-F64F-4B8F-9586-65854C208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4EFCDB-0053-44F0-B075-A052FA3CB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46FA22-B463-4AD2-BF7D-5708AC9221B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32AA74-DB7E-448B-B9B2-35075A5FDAF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F0FDDA-4DAE-4539-9492-C374F102CA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6"/>
          <p:cNvPicPr>
            <a:picLocks noChangeAspect="1"/>
          </p:cNvPicPr>
          <p:nvPr/>
        </p:nvPicPr>
        <p:blipFill>
          <a:blip r:embed="rId2"/>
          <a:srcRect b="14645"/>
          <a:stretch>
            <a:fillRect/>
          </a:stretch>
        </p:blipFill>
        <p:spPr>
          <a:xfrm>
            <a:off x="0" y="584200"/>
            <a:ext cx="12192000" cy="804333"/>
          </a:xfrm>
          <a:prstGeom prst="rect">
            <a:avLst/>
          </a:prstGeom>
          <a:ln>
            <a:noFill/>
          </a:ln>
        </p:spPr>
      </p:pic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09E19A7D-2866-457A-BEAF-73A8399A6E5B}"/>
              </a:ext>
            </a:extLst>
          </p:cNvPr>
          <p:cNvSpPr>
            <a:spLocks noGrp="1"/>
          </p:cNvSpPr>
          <p:nvPr/>
        </p:nvSpPr>
        <p:spPr>
          <a:xfrm>
            <a:off x="0" y="1411819"/>
            <a:ext cx="12192000" cy="211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C83403-7610-4894-903F-C2CE1502F044}"/>
              </a:ext>
            </a:extLst>
          </p:cNvPr>
          <p:cNvSpPr>
            <a:spLocks noGrp="1"/>
          </p:cNvSpPr>
          <p:nvPr/>
        </p:nvSpPr>
        <p:spPr>
          <a:xfrm>
            <a:off x="821267" y="584200"/>
            <a:ext cx="8652933" cy="71120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>
              <a:ext uri="{FF2B5EF4-FFF2-40B4-BE49-F238E27FC236}">
                <a16:creationId xmlns:a16="http://schemas.microsoft.com/office/drawing/2014/main" id="{5B060BB9-701E-4619-A899-CCDFFD479B5F}"/>
              </a:ext>
            </a:extLst>
          </p:cNvPr>
          <p:cNvSpPr>
            <a:spLocks noGrp="1"/>
          </p:cNvSpPr>
          <p:nvPr/>
        </p:nvSpPr>
        <p:spPr>
          <a:xfrm>
            <a:off x="2393370" y="1413933"/>
            <a:ext cx="9798631" cy="101600"/>
          </a:xfrm>
          <a:custGeom>
            <a:avLst/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ahLst/>
            <a:cxnLst/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16" name="任意多边形 15">
            <a:extLst>
              <a:ext uri="{FF2B5EF4-FFF2-40B4-BE49-F238E27FC236}">
                <a16:creationId xmlns:a16="http://schemas.microsoft.com/office/drawing/2014/main" id="{6DC3910A-EC10-4F93-8646-30BBA9F2C728}"/>
              </a:ext>
            </a:extLst>
          </p:cNvPr>
          <p:cNvSpPr>
            <a:spLocks noGrp="1"/>
          </p:cNvSpPr>
          <p:nvPr/>
        </p:nvSpPr>
        <p:spPr>
          <a:xfrm>
            <a:off x="-2539" y="1414739"/>
            <a:ext cx="2395908" cy="100793"/>
          </a:xfrm>
          <a:custGeom>
            <a:avLst/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ahLst/>
            <a:cxnLst/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>
            <a:srgbClr val="F39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6"/>
          <p:cNvPicPr>
            <a:picLocks noChangeAspect="1"/>
          </p:cNvPicPr>
          <p:nvPr/>
        </p:nvPicPr>
        <p:blipFill>
          <a:blip r:embed="rId2"/>
          <a:srcRect b="14645"/>
          <a:stretch>
            <a:fillRect/>
          </a:stretch>
        </p:blipFill>
        <p:spPr>
          <a:xfrm>
            <a:off x="0" y="584200"/>
            <a:ext cx="12192000" cy="804333"/>
          </a:xfrm>
          <a:prstGeom prst="rect">
            <a:avLst/>
          </a:prstGeom>
          <a:ln>
            <a:noFill/>
          </a:ln>
        </p:spPr>
      </p:pic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9A0B4D86-B6A6-4319-9D74-77BBE9E5D6EA}"/>
              </a:ext>
            </a:extLst>
          </p:cNvPr>
          <p:cNvSpPr>
            <a:spLocks noGrp="1"/>
          </p:cNvSpPr>
          <p:nvPr/>
        </p:nvSpPr>
        <p:spPr>
          <a:xfrm>
            <a:off x="0" y="1411819"/>
            <a:ext cx="12192000" cy="211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73E1BE0-EAE1-483E-87A3-69C453C2936E}"/>
              </a:ext>
            </a:extLst>
          </p:cNvPr>
          <p:cNvSpPr>
            <a:spLocks noGrp="1"/>
          </p:cNvSpPr>
          <p:nvPr/>
        </p:nvSpPr>
        <p:spPr>
          <a:xfrm>
            <a:off x="821267" y="584200"/>
            <a:ext cx="8652933" cy="71120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>
              <a:ext uri="{FF2B5EF4-FFF2-40B4-BE49-F238E27FC236}">
                <a16:creationId xmlns:a16="http://schemas.microsoft.com/office/drawing/2014/main" id="{6809F24B-B5D1-48C5-A62B-0A9E1AD4D251}"/>
              </a:ext>
            </a:extLst>
          </p:cNvPr>
          <p:cNvSpPr>
            <a:spLocks noGrp="1"/>
          </p:cNvSpPr>
          <p:nvPr/>
        </p:nvSpPr>
        <p:spPr>
          <a:xfrm>
            <a:off x="2393370" y="1413933"/>
            <a:ext cx="9798631" cy="101600"/>
          </a:xfrm>
          <a:custGeom>
            <a:avLst/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ahLst/>
            <a:cxnLst/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16" name="任意多边形 15">
            <a:extLst>
              <a:ext uri="{FF2B5EF4-FFF2-40B4-BE49-F238E27FC236}">
                <a16:creationId xmlns:a16="http://schemas.microsoft.com/office/drawing/2014/main" id="{AA37E693-00A9-4A40-A608-1C6383C928CB}"/>
              </a:ext>
            </a:extLst>
          </p:cNvPr>
          <p:cNvSpPr>
            <a:spLocks noGrp="1"/>
          </p:cNvSpPr>
          <p:nvPr/>
        </p:nvSpPr>
        <p:spPr>
          <a:xfrm>
            <a:off x="-2539" y="1414739"/>
            <a:ext cx="2395908" cy="100793"/>
          </a:xfrm>
          <a:custGeom>
            <a:avLst/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ahLst/>
            <a:cxnLst/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>
            <a:srgbClr val="F39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3266A96-2003-4025-B2F8-B8F2F9ECB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983D7F-B2AC-4A42-9D2C-62EB1B677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914962-296F-427C-B8E8-7EDCE69C9B25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13DB23-E2DB-49F2-9F10-5147AE6EF39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432BD1-FB6C-40B0-9AA8-7ED1D01112C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占位符 1">
            <a:extLst>
              <a:ext uri="{FF2B5EF4-FFF2-40B4-BE49-F238E27FC236}">
                <a16:creationId xmlns:a16="http://schemas.microsoft.com/office/drawing/2014/main" id="{FFA7703D-0678-4454-B923-F3F7A0E09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186"/>
            <a:ext cx="10515600" cy="1325033"/>
          </a:xfrm>
          <a:prstGeom prst="rect">
            <a:avLst/>
          </a:prstGeom>
          <a:noFill/>
          <a:ln>
            <a:noFill/>
          </a:ln>
        </p:spPr>
        <p:txBody>
          <a:bodyPr vert="horz" wrap="square" lIns="65019" tIns="32509" rIns="65019" bIns="32509" anchor="ctr"/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>
              <a:ext uri="{FF2B5EF4-FFF2-40B4-BE49-F238E27FC236}">
                <a16:creationId xmlns:a16="http://schemas.microsoft.com/office/drawing/2014/main" id="{DF91456B-26C3-48E2-A393-7419A47BC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6685"/>
            <a:ext cx="10515600" cy="4351867"/>
          </a:xfrm>
          <a:prstGeom prst="rect">
            <a:avLst/>
          </a:prstGeom>
          <a:noFill/>
          <a:ln>
            <a:noFill/>
          </a:ln>
        </p:spPr>
        <p:txBody>
          <a:bodyPr vert="horz" wrap="square" lIns="65019" tIns="32509" rIns="65019" bIns="32509" anchor="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2558CF-41BB-4DD8-8273-786F324207D5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3"/>
            <a:ext cx="2743200" cy="364067"/>
          </a:xfrm>
          <a:prstGeom prst="rect">
            <a:avLst/>
          </a:prstGeom>
        </p:spPr>
        <p:txBody>
          <a:bodyPr vert="horz" lIns="65019" tIns="32509" rIns="65019" bIns="32509" anchor="ctr"/>
          <a:lstStyle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fld id="{292F71EF-02F8-4FDD-93F8-D030AB7FC83F}" type="datetimeFigureOut">
              <a:t>2026/9/28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75D491-3100-4AF4-B449-158D8E6C529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3"/>
            <a:ext cx="4114800" cy="364067"/>
          </a:xfrm>
          <a:prstGeom prst="rect">
            <a:avLst/>
          </a:prstGeom>
        </p:spPr>
        <p:txBody>
          <a:bodyPr vert="horz" lIns="65019" tIns="32509" rIns="65019" bIns="32509" anchor="ctr"/>
          <a:lstStyle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A0ED3A-25B1-4D00-AC74-A03166EB8C2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3"/>
            <a:ext cx="2743200" cy="364067"/>
          </a:xfrm>
          <a:prstGeom prst="rect">
            <a:avLst/>
          </a:prstGeom>
        </p:spPr>
        <p:txBody>
          <a:bodyPr vert="horz" wrap="square" lIns="65019" tIns="32509" rIns="65019" bIns="32509" anchor="ctr"/>
          <a:lstStyle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占位符 1">
            <a:extLst>
              <a:ext uri="{FF2B5EF4-FFF2-40B4-BE49-F238E27FC236}">
                <a16:creationId xmlns:a16="http://schemas.microsoft.com/office/drawing/2014/main" id="{2DD986D5-7C62-452D-8061-B302A09E4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186"/>
            <a:ext cx="10515600" cy="1325033"/>
          </a:xfrm>
          <a:prstGeom prst="rect">
            <a:avLst/>
          </a:prstGeom>
          <a:noFill/>
          <a:ln>
            <a:noFill/>
          </a:ln>
        </p:spPr>
        <p:txBody>
          <a:bodyPr vert="horz" wrap="square" lIns="65019" tIns="32509" rIns="65019" bIns="32509" anchor="ctr"/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>
              <a:ext uri="{FF2B5EF4-FFF2-40B4-BE49-F238E27FC236}">
                <a16:creationId xmlns:a16="http://schemas.microsoft.com/office/drawing/2014/main" id="{86233082-5315-4B8B-AE57-8EC41B5E3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6685"/>
            <a:ext cx="10515600" cy="4351867"/>
          </a:xfrm>
          <a:prstGeom prst="rect">
            <a:avLst/>
          </a:prstGeom>
          <a:noFill/>
          <a:ln>
            <a:noFill/>
          </a:ln>
        </p:spPr>
        <p:txBody>
          <a:bodyPr vert="horz" wrap="square" lIns="65019" tIns="32509" rIns="65019" bIns="32509" anchor="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159EDC-FC9C-46E9-9B21-874A8A61675B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3"/>
            <a:ext cx="2743200" cy="364067"/>
          </a:xfrm>
          <a:prstGeom prst="rect">
            <a:avLst/>
          </a:prstGeom>
        </p:spPr>
        <p:txBody>
          <a:bodyPr vert="horz" lIns="65019" tIns="32509" rIns="65019" bIns="32509" anchor="ctr"/>
          <a:lstStyle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fld id="{292F71EF-02F8-4FDD-93F8-D030AB7FC83F}" type="datetimeFigureOut">
              <a:t>2026/9/28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D6B1E0-9C14-4FFB-8B26-287FA97D068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3"/>
            <a:ext cx="4114800" cy="364067"/>
          </a:xfrm>
          <a:prstGeom prst="rect">
            <a:avLst/>
          </a:prstGeom>
        </p:spPr>
        <p:txBody>
          <a:bodyPr vert="horz" lIns="65019" tIns="32509" rIns="65019" bIns="32509" anchor="ctr"/>
          <a:lstStyle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171AD2-D63B-4944-8A4A-B20C7084E0B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3"/>
            <a:ext cx="2743200" cy="364067"/>
          </a:xfrm>
          <a:prstGeom prst="rect">
            <a:avLst/>
          </a:prstGeom>
        </p:spPr>
        <p:txBody>
          <a:bodyPr vert="horz" wrap="square" lIns="65019" tIns="32509" rIns="65019" bIns="32509" anchor="ctr"/>
          <a:lstStyle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txStyles>
    <p:titleStyle>
      <a:lvl1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>
            <a:extLst>
              <a:ext uri="{FF2B5EF4-FFF2-40B4-BE49-F238E27FC236}">
                <a16:creationId xmlns:a16="http://schemas.microsoft.com/office/drawing/2014/main" id="{2AFE1FA7-4B66-4A9F-984E-BB326964C74E}"/>
              </a:ext>
            </a:extLst>
          </p:cNvPr>
          <p:cNvSpPr>
            <a:spLocks noGrp="1"/>
          </p:cNvSpPr>
          <p:nvPr/>
        </p:nvSpPr>
        <p:spPr>
          <a:xfrm>
            <a:off x="0" y="1513114"/>
            <a:ext cx="12192000" cy="2376715"/>
          </a:xfrm>
          <a:prstGeom prst="rect">
            <a:avLst/>
          </a:prstGeom>
          <a:gradFill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12700" cmpd="sng">
            <a:noFill/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>
              <a:ext uri="{FF2B5EF4-FFF2-40B4-BE49-F238E27FC236}">
                <a16:creationId xmlns:a16="http://schemas.microsoft.com/office/drawing/2014/main" id="{453F7129-0504-4CA9-9BFA-E5B0C91D7760}"/>
              </a:ext>
            </a:extLst>
          </p:cNvPr>
          <p:cNvSpPr>
            <a:spLocks noGrp="1"/>
          </p:cNvSpPr>
          <p:nvPr/>
        </p:nvSpPr>
        <p:spPr>
          <a:xfrm>
            <a:off x="4514780" y="4695050"/>
            <a:ext cx="3283986" cy="624044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lnSpc>
                <a:spcPct val="110000"/>
              </a:lnSpc>
              <a:spcBef>
                <a:spcPts val="0"/>
              </a:spcBef>
              <a:buNone/>
            </a:pPr>
            <a:r>
              <a:rPr sz="24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>
              <a:ext uri="{FF2B5EF4-FFF2-40B4-BE49-F238E27FC236}">
                <a16:creationId xmlns:a16="http://schemas.microsoft.com/office/drawing/2014/main" id="{75A733F7-8760-4CC4-8DFD-EF4760B6CE4C}"/>
              </a:ext>
            </a:extLst>
          </p:cNvPr>
          <p:cNvSpPr>
            <a:spLocks noGrp="1"/>
          </p:cNvSpPr>
          <p:nvPr/>
        </p:nvSpPr>
        <p:spPr>
          <a:xfrm>
            <a:off x="4514780" y="5531496"/>
            <a:ext cx="3283986" cy="624044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sz="20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2026.09.28</a:t>
            </a:r>
          </a:p>
        </p:txBody>
      </p:sp>
      <p:sp>
        <p:nvSpPr>
          <p:cNvPr id="64" name="直接连接符 63">
            <a:extLst>
              <a:ext uri="{FF2B5EF4-FFF2-40B4-BE49-F238E27FC236}">
                <a16:creationId xmlns:a16="http://schemas.microsoft.com/office/drawing/2014/main" id="{AB104E52-D31B-4F84-930E-BB68DA292DA8}"/>
              </a:ext>
            </a:extLst>
          </p:cNvPr>
          <p:cNvSpPr>
            <a:spLocks noGrp="1"/>
          </p:cNvSpPr>
          <p:nvPr/>
        </p:nvSpPr>
        <p:spPr>
          <a:xfrm>
            <a:off x="0" y="4007644"/>
            <a:ext cx="12192000" cy="0"/>
          </a:xfrm>
          <a:prstGeom prst="line">
            <a:avLst/>
          </a:prstGeom>
          <a:noFill/>
          <a:ln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" name="标题 8">
            <a:extLst>
              <a:ext uri="{FF2B5EF4-FFF2-40B4-BE49-F238E27FC236}">
                <a16:creationId xmlns:a16="http://schemas.microsoft.com/office/drawing/2014/main" id="{C744971D-495E-438A-B8C9-359A6F079A77}"/>
              </a:ext>
            </a:extLst>
          </p:cNvPr>
          <p:cNvSpPr>
            <a:spLocks noGrp="1"/>
          </p:cNvSpPr>
          <p:nvPr/>
        </p:nvSpPr>
        <p:spPr>
          <a:xfrm>
            <a:off x="161706" y="1887437"/>
            <a:ext cx="11932078" cy="161355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 algn="ctr">
              <a:lnSpc>
                <a:spcPct val="125000"/>
              </a:lnSpc>
              <a:spcBef>
                <a:spcPts val="0"/>
              </a:spcBef>
              <a:buNone/>
              <a:defRPr sz="37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3600" i="0" u="none" cap="none" spc="0">
                <a:ln>
                  <a:noFill/>
                </a:ln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三参数 Weibull 参数估计方法</a:t>
            </a:r>
          </a:p>
          <a:p>
            <a:pPr lvl="0" algn="ctr">
              <a:lnSpc>
                <a:spcPct val="125000"/>
              </a:lnSpc>
              <a:spcBef>
                <a:spcPts val="0"/>
              </a:spcBef>
              <a:buNone/>
              <a:defRPr sz="37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360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的评价依据与建议</a:t>
            </a:r>
            <a:endParaRPr sz="3600" i="0" u="none" cap="none" spc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latin typeface="汉仪文润宋韵 U"/>
              <a:ea typeface="汉仪文润宋韵 U"/>
              <a:cs typeface="汉仪文润宋韵 U"/>
            </a:endParaRPr>
          </a:p>
        </p:txBody>
      </p:sp>
    </p:spTree>
    <p:extLst>
      <p:ext uri="{BB962C8B-B14F-4D97-AF65-F5344CB8AC3E}">
        <p14:creationId xmlns:p14="http://schemas.microsoft.com/office/powerpoint/2010/main" val="3064330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zh-CN" altLang="en-US" sz="2550" b="1" spc="-150" dirty="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明确完整样本</a:t>
            </a:r>
            <a:r>
              <a:rPr lang="en-US" altLang="zh-CN" sz="2550" b="1" spc="-150" dirty="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+</a:t>
            </a:r>
            <a:r>
              <a:rPr lang="zh-CN" altLang="en-US" sz="2550" b="1" spc="-150" dirty="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小样本条件下的三参数</a:t>
            </a:r>
            <a:r>
              <a:rPr lang="en-US" altLang="zh-CN" sz="2550" b="1" spc="-150" dirty="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Weibull</a:t>
            </a:r>
            <a:r>
              <a:rPr lang="zh-CN" altLang="en-US" sz="2550" b="1" spc="-150" dirty="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分布参数估计方法怎么评价“有效性”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研究问题与评价框架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研究目标">
            <a:extLst>
              <a:ext uri="{FF2B5EF4-FFF2-40B4-BE49-F238E27FC236}">
                <a16:creationId xmlns:a16="http://schemas.microsoft.com/office/drawing/2014/main" id="{08DABA51-670F-26F6-1412-71C5A9E15E19}"/>
              </a:ext>
            </a:extLst>
          </p:cNvPr>
          <p:cNvSpPr txBox="1"/>
          <p:nvPr/>
        </p:nvSpPr>
        <p:spPr>
          <a:xfrm>
            <a:off x="609599" y="1689100"/>
            <a:ext cx="2670495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方法需要证明有效性：</a:t>
            </a:r>
          </a:p>
        </p:txBody>
      </p:sp>
      <p:sp>
        <p:nvSpPr>
          <p:cNvPr id="17" name="目标内容">
            <a:extLst>
              <a:ext uri="{FF2B5EF4-FFF2-40B4-BE49-F238E27FC236}">
                <a16:creationId xmlns:a16="http://schemas.microsoft.com/office/drawing/2014/main" id="{462ABA51-9EE3-66EF-8409-A14F5DEAC889}"/>
              </a:ext>
            </a:extLst>
          </p:cNvPr>
          <p:cNvSpPr txBox="1"/>
          <p:nvPr/>
        </p:nvSpPr>
        <p:spPr>
          <a:xfrm>
            <a:off x="609599" y="2047836"/>
            <a:ext cx="10972800" cy="78880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dirty="0"/>
              <a:t>在目标样本条件下，相对于合理的比较对象，具有良好的参数估计精度、</a:t>
            </a:r>
            <a:r>
              <a:rPr lang="zh-CN" altLang="en-US" dirty="0"/>
              <a:t>估计</a:t>
            </a:r>
            <a:r>
              <a:rPr lang="zh-CN" altLang="zh-CN" dirty="0"/>
              <a:t>稳定性和有效求解能力；真实数据补充说明实际可用性</a:t>
            </a:r>
          </a:p>
        </p:txBody>
      </p:sp>
      <p:sp>
        <p:nvSpPr>
          <p:cNvPr id="28" name="Mermaid-A">
            <a:extLst>
              <a:ext uri="{FF2B5EF4-FFF2-40B4-BE49-F238E27FC236}">
                <a16:creationId xmlns:a16="http://schemas.microsoft.com/office/drawing/2014/main" id="{0DD011D5-D241-6155-0CB9-12F5875B9FFF}"/>
              </a:ext>
            </a:extLst>
          </p:cNvPr>
          <p:cNvSpPr/>
          <p:nvPr/>
        </p:nvSpPr>
        <p:spPr>
          <a:xfrm>
            <a:off x="609600" y="4249606"/>
            <a:ext cx="231140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研究问题：</a:t>
            </a:r>
          </a:p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新方法在目标条件下</a:t>
            </a:r>
          </a:p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是否有效</a:t>
            </a:r>
          </a:p>
        </p:txBody>
      </p:sp>
      <p:sp>
        <p:nvSpPr>
          <p:cNvPr id="29" name="Mermaid-B">
            <a:extLst>
              <a:ext uri="{FF2B5EF4-FFF2-40B4-BE49-F238E27FC236}">
                <a16:creationId xmlns:a16="http://schemas.microsoft.com/office/drawing/2014/main" id="{07EA1AC9-B6EB-E948-883C-A63B92B86EEC}"/>
              </a:ext>
            </a:extLst>
          </p:cNvPr>
          <p:cNvSpPr/>
          <p:nvPr/>
        </p:nvSpPr>
        <p:spPr>
          <a:xfrm>
            <a:off x="3390900" y="3576506"/>
            <a:ext cx="3543300" cy="7747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先确定对比方法</a:t>
            </a:r>
          </a:p>
        </p:txBody>
      </p:sp>
      <p:sp>
        <p:nvSpPr>
          <p:cNvPr id="30" name="Mermaid-C">
            <a:extLst>
              <a:ext uri="{FF2B5EF4-FFF2-40B4-BE49-F238E27FC236}">
                <a16:creationId xmlns:a16="http://schemas.microsoft.com/office/drawing/2014/main" id="{D076890E-B70C-749F-CF6C-92DC944885FE}"/>
              </a:ext>
            </a:extLst>
          </p:cNvPr>
          <p:cNvSpPr/>
          <p:nvPr/>
        </p:nvSpPr>
        <p:spPr>
          <a:xfrm>
            <a:off x="7467600" y="3576506"/>
            <a:ext cx="4114800" cy="6096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6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形成合理衡量标准</a:t>
            </a:r>
          </a:p>
        </p:txBody>
      </p:sp>
      <p:sp>
        <p:nvSpPr>
          <p:cNvPr id="31" name="Mermaid-D">
            <a:extLst>
              <a:ext uri="{FF2B5EF4-FFF2-40B4-BE49-F238E27FC236}">
                <a16:creationId xmlns:a16="http://schemas.microsoft.com/office/drawing/2014/main" id="{58E890BD-6675-FAF5-2C6A-D9F919531B9B}"/>
              </a:ext>
            </a:extLst>
          </p:cNvPr>
          <p:cNvSpPr/>
          <p:nvPr/>
        </p:nvSpPr>
        <p:spPr>
          <a:xfrm>
            <a:off x="7467600" y="4554406"/>
            <a:ext cx="4114800" cy="838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共同</a:t>
            </a:r>
            <a:r>
              <a:rPr lang="en-US" altLang="zh-CN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Monte Carlo</a:t>
            </a:r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</a:p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逐参数精度、估计稳定性、</a:t>
            </a:r>
          </a:p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有效求解率</a:t>
            </a:r>
          </a:p>
        </p:txBody>
      </p:sp>
      <p:sp>
        <p:nvSpPr>
          <p:cNvPr id="32" name="Mermaid-E">
            <a:extLst>
              <a:ext uri="{FF2B5EF4-FFF2-40B4-BE49-F238E27FC236}">
                <a16:creationId xmlns:a16="http://schemas.microsoft.com/office/drawing/2014/main" id="{4B65E912-EC16-8050-4851-35393A7AD4CE}"/>
              </a:ext>
            </a:extLst>
          </p:cNvPr>
          <p:cNvSpPr/>
          <p:nvPr/>
        </p:nvSpPr>
        <p:spPr>
          <a:xfrm>
            <a:off x="3390900" y="4656006"/>
            <a:ext cx="3543300" cy="7366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真实数据：</a:t>
            </a:r>
          </a:p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实际可用性、拟合</a:t>
            </a:r>
          </a:p>
        </p:txBody>
      </p:sp>
      <p:sp>
        <p:nvSpPr>
          <p:cNvPr id="33" name="Mermaid-F">
            <a:extLst>
              <a:ext uri="{FF2B5EF4-FFF2-40B4-BE49-F238E27FC236}">
                <a16:creationId xmlns:a16="http://schemas.microsoft.com/office/drawing/2014/main" id="{438E2490-C1CD-00BC-0A6F-ACE81C8CFC07}"/>
              </a:ext>
            </a:extLst>
          </p:cNvPr>
          <p:cNvSpPr/>
          <p:nvPr/>
        </p:nvSpPr>
        <p:spPr>
          <a:xfrm>
            <a:off x="3390900" y="5760906"/>
            <a:ext cx="8191500" cy="3810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6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综合判断</a:t>
            </a:r>
          </a:p>
        </p:txBody>
      </p:sp>
      <p:cxnSp>
        <p:nvCxnSpPr>
          <p:cNvPr id="34" name="Mermaid-AB-1">
            <a:extLst>
              <a:ext uri="{FF2B5EF4-FFF2-40B4-BE49-F238E27FC236}">
                <a16:creationId xmlns:a16="http://schemas.microsoft.com/office/drawing/2014/main" id="{871ECF2C-2A71-264E-3560-3B50BA688D93}"/>
              </a:ext>
            </a:extLst>
          </p:cNvPr>
          <p:cNvCxnSpPr/>
          <p:nvPr/>
        </p:nvCxnSpPr>
        <p:spPr>
          <a:xfrm>
            <a:off x="2921000" y="4490906"/>
            <a:ext cx="228600" cy="0"/>
          </a:xfrm>
          <a:prstGeom prst="line">
            <a:avLst/>
          </a:prstGeom>
          <a:ln w="19050">
            <a:solidFill>
              <a:srgbClr val="2F80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Mermaid-AB-2">
            <a:extLst>
              <a:ext uri="{FF2B5EF4-FFF2-40B4-BE49-F238E27FC236}">
                <a16:creationId xmlns:a16="http://schemas.microsoft.com/office/drawing/2014/main" id="{1BC0BA69-E3A7-99B0-716E-5A36175AFFA7}"/>
              </a:ext>
            </a:extLst>
          </p:cNvPr>
          <p:cNvCxnSpPr/>
          <p:nvPr/>
        </p:nvCxnSpPr>
        <p:spPr>
          <a:xfrm flipV="1">
            <a:off x="3149600" y="3963856"/>
            <a:ext cx="0" cy="527050"/>
          </a:xfrm>
          <a:prstGeom prst="line">
            <a:avLst/>
          </a:prstGeom>
          <a:ln w="19050">
            <a:solidFill>
              <a:srgbClr val="2F80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Mermaid-AB-3">
            <a:extLst>
              <a:ext uri="{FF2B5EF4-FFF2-40B4-BE49-F238E27FC236}">
                <a16:creationId xmlns:a16="http://schemas.microsoft.com/office/drawing/2014/main" id="{E485042C-D99D-1F94-7FCE-6A370D66C169}"/>
              </a:ext>
            </a:extLst>
          </p:cNvPr>
          <p:cNvCxnSpPr/>
          <p:nvPr/>
        </p:nvCxnSpPr>
        <p:spPr>
          <a:xfrm>
            <a:off x="3149600" y="3963856"/>
            <a:ext cx="241300" cy="0"/>
          </a:xfrm>
          <a:prstGeom prst="line">
            <a:avLst/>
          </a:prstGeom>
          <a:ln w="19050">
            <a:solidFill>
              <a:srgbClr val="2F8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Mermaid-BC">
            <a:extLst>
              <a:ext uri="{FF2B5EF4-FFF2-40B4-BE49-F238E27FC236}">
                <a16:creationId xmlns:a16="http://schemas.microsoft.com/office/drawing/2014/main" id="{73650BC9-F6D9-5779-EC0F-047B872E4F20}"/>
              </a:ext>
            </a:extLst>
          </p:cNvPr>
          <p:cNvCxnSpPr/>
          <p:nvPr/>
        </p:nvCxnSpPr>
        <p:spPr>
          <a:xfrm>
            <a:off x="6934200" y="3963856"/>
            <a:ext cx="533400" cy="0"/>
          </a:xfrm>
          <a:prstGeom prst="line">
            <a:avLst/>
          </a:prstGeom>
          <a:ln w="19050">
            <a:solidFill>
              <a:srgbClr val="2F8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Mermaid-CD">
            <a:extLst>
              <a:ext uri="{FF2B5EF4-FFF2-40B4-BE49-F238E27FC236}">
                <a16:creationId xmlns:a16="http://schemas.microsoft.com/office/drawing/2014/main" id="{811EA8E6-E5A1-A3DE-078F-19E4CE51EB18}"/>
              </a:ext>
            </a:extLst>
          </p:cNvPr>
          <p:cNvCxnSpPr/>
          <p:nvPr/>
        </p:nvCxnSpPr>
        <p:spPr>
          <a:xfrm>
            <a:off x="9525000" y="4186106"/>
            <a:ext cx="0" cy="368300"/>
          </a:xfrm>
          <a:prstGeom prst="line">
            <a:avLst/>
          </a:prstGeom>
          <a:ln w="19050">
            <a:solidFill>
              <a:srgbClr val="2F8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Mermaid-DF">
            <a:extLst>
              <a:ext uri="{FF2B5EF4-FFF2-40B4-BE49-F238E27FC236}">
                <a16:creationId xmlns:a16="http://schemas.microsoft.com/office/drawing/2014/main" id="{606084D3-31F5-A011-A6C5-955613580983}"/>
              </a:ext>
            </a:extLst>
          </p:cNvPr>
          <p:cNvCxnSpPr/>
          <p:nvPr/>
        </p:nvCxnSpPr>
        <p:spPr>
          <a:xfrm>
            <a:off x="9525000" y="5392606"/>
            <a:ext cx="0" cy="368300"/>
          </a:xfrm>
          <a:prstGeom prst="line">
            <a:avLst/>
          </a:prstGeom>
          <a:ln w="19050">
            <a:solidFill>
              <a:srgbClr val="2F8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Mermaid-AE-1">
            <a:extLst>
              <a:ext uri="{FF2B5EF4-FFF2-40B4-BE49-F238E27FC236}">
                <a16:creationId xmlns:a16="http://schemas.microsoft.com/office/drawing/2014/main" id="{6EF1C689-37AD-1F45-CF5F-67BFE5A15B23}"/>
              </a:ext>
            </a:extLst>
          </p:cNvPr>
          <p:cNvCxnSpPr/>
          <p:nvPr/>
        </p:nvCxnSpPr>
        <p:spPr>
          <a:xfrm>
            <a:off x="2921000" y="4935406"/>
            <a:ext cx="228600" cy="0"/>
          </a:xfrm>
          <a:prstGeom prst="line">
            <a:avLst/>
          </a:prstGeom>
          <a:ln w="19050">
            <a:solidFill>
              <a:srgbClr val="2F80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Mermaid-AE-2">
            <a:extLst>
              <a:ext uri="{FF2B5EF4-FFF2-40B4-BE49-F238E27FC236}">
                <a16:creationId xmlns:a16="http://schemas.microsoft.com/office/drawing/2014/main" id="{D22BBFCD-6D79-984B-A50C-DAA17EBE1BFD}"/>
              </a:ext>
            </a:extLst>
          </p:cNvPr>
          <p:cNvCxnSpPr/>
          <p:nvPr/>
        </p:nvCxnSpPr>
        <p:spPr>
          <a:xfrm>
            <a:off x="3149600" y="4935406"/>
            <a:ext cx="0" cy="88900"/>
          </a:xfrm>
          <a:prstGeom prst="line">
            <a:avLst/>
          </a:prstGeom>
          <a:ln w="19050">
            <a:solidFill>
              <a:srgbClr val="2F80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Mermaid-AE-3">
            <a:extLst>
              <a:ext uri="{FF2B5EF4-FFF2-40B4-BE49-F238E27FC236}">
                <a16:creationId xmlns:a16="http://schemas.microsoft.com/office/drawing/2014/main" id="{4FC5A968-BABB-A333-9357-AB8B4CF522DE}"/>
              </a:ext>
            </a:extLst>
          </p:cNvPr>
          <p:cNvCxnSpPr/>
          <p:nvPr/>
        </p:nvCxnSpPr>
        <p:spPr>
          <a:xfrm>
            <a:off x="3149600" y="5024306"/>
            <a:ext cx="241300" cy="0"/>
          </a:xfrm>
          <a:prstGeom prst="line">
            <a:avLst/>
          </a:prstGeom>
          <a:ln w="19050">
            <a:solidFill>
              <a:srgbClr val="2F8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Mermaid-EF">
            <a:extLst>
              <a:ext uri="{FF2B5EF4-FFF2-40B4-BE49-F238E27FC236}">
                <a16:creationId xmlns:a16="http://schemas.microsoft.com/office/drawing/2014/main" id="{7EF3BD25-8896-4F84-0EE7-A29D1D6C422E}"/>
              </a:ext>
            </a:extLst>
          </p:cNvPr>
          <p:cNvCxnSpPr/>
          <p:nvPr/>
        </p:nvCxnSpPr>
        <p:spPr>
          <a:xfrm>
            <a:off x="5162550" y="5392606"/>
            <a:ext cx="0" cy="368300"/>
          </a:xfrm>
          <a:prstGeom prst="line">
            <a:avLst/>
          </a:prstGeom>
          <a:ln w="19050">
            <a:solidFill>
              <a:srgbClr val="2F8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085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候选方法：按估计依据与构造分为A—D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候选估计方法及其关系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11F793F-B739-70D4-DC6E-BBDA191CB736}"/>
              </a:ext>
            </a:extLst>
          </p:cNvPr>
          <p:cNvSpPr>
            <a:spLocks noGrp="1"/>
          </p:cNvSpPr>
          <p:nvPr/>
        </p:nvSpPr>
        <p:spPr>
          <a:xfrm>
            <a:off x="622300" y="1676400"/>
            <a:ext cx="10922000" cy="5588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340"/>
              </a:lnSpc>
              <a:buNone/>
              <a:defRPr sz="18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本章建立候选池，随后用文献证据判断任务匹配性，最终建议集中在第六部分。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AD966A0-E2CD-641E-06AA-8AE5AFF0806E}"/>
              </a:ext>
            </a:extLst>
          </p:cNvPr>
          <p:cNvSpPr>
            <a:spLocks noGrp="1"/>
          </p:cNvSpPr>
          <p:nvPr/>
        </p:nvSpPr>
        <p:spPr>
          <a:xfrm>
            <a:off x="622300" y="5981700"/>
            <a:ext cx="10922000" cy="5080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  <a:defRPr sz="165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下页起依次介绍A</a:t>
            </a:r>
            <a:r>
              <a:rPr sz="1650" b="1" dirty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—</a:t>
            </a:r>
            <a:r>
              <a:rPr sz="1650" b="1" dirty="0" err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D；MDM属于C组的构造差异，组合与学习归入D组</a:t>
            </a:r>
            <a:r>
              <a:rPr sz="1650" b="1" dirty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graphicFrame>
        <p:nvGraphicFramePr>
          <p:cNvPr id="20" name="表格 13"/>
          <p:cNvGraphicFramePr/>
          <p:nvPr>
            <p:extLst>
              <p:ext uri="{D42A27DB-BD31-4B8C-83A1-F6EECF244321}">
                <p14:modId xmlns:p14="http://schemas.microsoft.com/office/powerpoint/2010/main" val="1091173849"/>
              </p:ext>
            </p:extLst>
          </p:nvPr>
        </p:nvGraphicFramePr>
        <p:xfrm>
          <a:off x="622300" y="2235200"/>
          <a:ext cx="10922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方法分组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代表方法与分支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主要思路与改进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似然路线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MLE、WMLE、MMLE、DMMLE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修正方程、改变似然或改善求解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概率图路线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LS、LRE相关构造（GLRA、相关系数法）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绘图分数、回归方向和位置构造不同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统计量、间距与构造差异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MM、PWM、L矩、MPS、MDM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匹配统计量、概率间距或尺度差异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 </a:t>
                      </a:r>
                      <a:r>
                        <a:rPr sz="1600" b="0" dirty="0" err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组合</a:t>
                      </a: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、变换</a:t>
                      </a:r>
                      <a:r>
                        <a:rPr sz="1600" b="0" dirty="0" err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与学习</a:t>
                      </a:r>
                      <a:endParaRPr sz="1600" b="0" dirty="0">
                        <a:solidFill>
                          <a:srgbClr val="0000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LSPF、SAM、PM、神经估计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 err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变换统计量、组合步骤或学习映射</a:t>
                      </a:r>
                      <a:endParaRPr sz="1600" b="0" dirty="0">
                        <a:solidFill>
                          <a:srgbClr val="0000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1413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A  似然路线：改统计构造，还是改求解过程？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候选估计方法及其关系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182E52D-4601-B1F3-0C0E-B00CE691318A}"/>
              </a:ext>
            </a:extLst>
          </p:cNvPr>
          <p:cNvSpPr>
            <a:spLocks noGrp="1"/>
          </p:cNvSpPr>
          <p:nvPr/>
        </p:nvSpPr>
        <p:spPr>
          <a:xfrm>
            <a:off x="622300" y="1638300"/>
            <a:ext cx="10922000" cy="406400"/>
          </a:xfrm>
          <a:prstGeom prst="rect">
            <a:avLst/>
          </a:prstGeom>
          <a:noFill/>
        </p:spPr>
        <p:txBody>
          <a:bodyPr vert="horz" wrap="square" lIns="38100" tIns="25400" rIns="38100" bIns="25400" anchor="t">
            <a:noAutofit/>
          </a:bodyPr>
          <a:lstStyle/>
          <a:p>
            <a:pPr>
              <a:lnSpc>
                <a:spcPts val="2006"/>
              </a:lnSpc>
              <a:buNone/>
            </a:pPr>
            <a:r>
              <a:rPr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共同起点是样本似然，后续工作分别处理偏差、边界和数值求解。</a:t>
            </a:r>
          </a:p>
        </p:txBody>
      </p:sp>
      <p:sp>
        <p:nvSpPr>
          <p:cNvPr id="19" name="fig1-mle">
            <a:extLst>
              <a:ext uri="{FF2B5EF4-FFF2-40B4-BE49-F238E27FC236}">
                <a16:creationId xmlns:a16="http://schemas.microsoft.com/office/drawing/2014/main" id="{3F549896-0F81-B81E-3E4D-D1F4CA76133E}"/>
              </a:ext>
            </a:extLst>
          </p:cNvPr>
          <p:cNvSpPr>
            <a:spLocks noGrp="1"/>
          </p:cNvSpPr>
          <p:nvPr/>
        </p:nvSpPr>
        <p:spPr>
          <a:xfrm>
            <a:off x="622300" y="3225800"/>
            <a:ext cx="1841500" cy="838200"/>
          </a:xfrm>
          <a:prstGeom prst="roundRect">
            <a:avLst>
              <a:gd name="adj" fmla="val 7000"/>
            </a:avLst>
          </a:prstGeom>
          <a:solidFill>
            <a:srgbClr val="EAF0F6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MLE 极大似然估计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Fisher · 1922</a:t>
            </a:r>
          </a:p>
        </p:txBody>
      </p:sp>
      <p:sp>
        <p:nvSpPr>
          <p:cNvPr id="20" name="fig1-wmle">
            <a:extLst>
              <a:ext uri="{FF2B5EF4-FFF2-40B4-BE49-F238E27FC236}">
                <a16:creationId xmlns:a16="http://schemas.microsoft.com/office/drawing/2014/main" id="{5416E38E-8E81-E443-7AE9-B716E959045E}"/>
              </a:ext>
            </a:extLst>
          </p:cNvPr>
          <p:cNvSpPr>
            <a:spLocks noGrp="1"/>
          </p:cNvSpPr>
          <p:nvPr/>
        </p:nvSpPr>
        <p:spPr>
          <a:xfrm>
            <a:off x="5003800" y="2209800"/>
            <a:ext cx="2679700" cy="736600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WMLE 加权极大似然估计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Cousineau · 2009</a:t>
            </a:r>
          </a:p>
        </p:txBody>
      </p:sp>
      <p:sp>
        <p:nvSpPr>
          <p:cNvPr id="21" name="fig1-mmle">
            <a:extLst>
              <a:ext uri="{FF2B5EF4-FFF2-40B4-BE49-F238E27FC236}">
                <a16:creationId xmlns:a16="http://schemas.microsoft.com/office/drawing/2014/main" id="{B3FB964F-6897-E78A-451B-97829A5DD69B}"/>
              </a:ext>
            </a:extLst>
          </p:cNvPr>
          <p:cNvSpPr>
            <a:spLocks noGrp="1"/>
          </p:cNvSpPr>
          <p:nvPr/>
        </p:nvSpPr>
        <p:spPr>
          <a:xfrm>
            <a:off x="5003800" y="3225800"/>
            <a:ext cx="2679700" cy="736600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MMLE 修改极大似然估计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Kundu &amp; Raqab · 2009</a:t>
            </a:r>
          </a:p>
        </p:txBody>
      </p:sp>
      <p:sp>
        <p:nvSpPr>
          <p:cNvPr id="22" name="fig1-solver">
            <a:extLst>
              <a:ext uri="{FF2B5EF4-FFF2-40B4-BE49-F238E27FC236}">
                <a16:creationId xmlns:a16="http://schemas.microsoft.com/office/drawing/2014/main" id="{116337BF-9C34-45F6-B739-96E1382ED323}"/>
              </a:ext>
            </a:extLst>
          </p:cNvPr>
          <p:cNvSpPr>
            <a:spLocks noGrp="1"/>
          </p:cNvSpPr>
          <p:nvPr/>
        </p:nvSpPr>
        <p:spPr>
          <a:xfrm>
            <a:off x="5003800" y="4241800"/>
            <a:ext cx="2679700" cy="736600"/>
          </a:xfrm>
          <a:prstGeom prst="roundRect">
            <a:avLst>
              <a:gd name="adj" fmla="val 7000"/>
            </a:avLst>
          </a:prstGeom>
          <a:solidFill>
            <a:srgbClr val="F4EEDC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ADGBO求解MLE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Wang等 · 2026</a:t>
            </a:r>
          </a:p>
        </p:txBody>
      </p:sp>
      <p:sp>
        <p:nvSpPr>
          <p:cNvPr id="23" name="fig1-firth">
            <a:extLst>
              <a:ext uri="{FF2B5EF4-FFF2-40B4-BE49-F238E27FC236}">
                <a16:creationId xmlns:a16="http://schemas.microsoft.com/office/drawing/2014/main" id="{516109D5-65F7-7C6F-6EB1-588D61EAE408}"/>
              </a:ext>
            </a:extLst>
          </p:cNvPr>
          <p:cNvSpPr>
            <a:spLocks noGrp="1"/>
          </p:cNvSpPr>
          <p:nvPr/>
        </p:nvSpPr>
        <p:spPr>
          <a:xfrm>
            <a:off x="9321800" y="2209800"/>
            <a:ext cx="2222500" cy="736600"/>
          </a:xfrm>
          <a:prstGeom prst="roundRect">
            <a:avLst>
              <a:gd name="adj" fmla="val 7000"/>
            </a:avLst>
          </a:prstGeom>
          <a:solidFill>
            <a:srgbClr val="EAF0F6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得分偏差修正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Firth · 1993</a:t>
            </a:r>
          </a:p>
        </p:txBody>
      </p:sp>
      <p:sp>
        <p:nvSpPr>
          <p:cNvPr id="24" name="fig1-dmmle">
            <a:extLst>
              <a:ext uri="{FF2B5EF4-FFF2-40B4-BE49-F238E27FC236}">
                <a16:creationId xmlns:a16="http://schemas.microsoft.com/office/drawing/2014/main" id="{2AC304CE-AA20-F1BD-CCDB-C472C745E2BA}"/>
              </a:ext>
            </a:extLst>
          </p:cNvPr>
          <p:cNvSpPr>
            <a:spLocks noGrp="1"/>
          </p:cNvSpPr>
          <p:nvPr/>
        </p:nvSpPr>
        <p:spPr>
          <a:xfrm>
            <a:off x="9321800" y="3225800"/>
            <a:ext cx="2222500" cy="889000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DMMLE 双重修改极大似然估计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da Silva等 · 2025</a:t>
            </a:r>
          </a:p>
        </p:txBody>
      </p:sp>
      <p:sp>
        <p:nvSpPr>
          <p:cNvPr id="25" name="fig1-text_edge1">
            <a:extLst>
              <a:ext uri="{FF2B5EF4-FFF2-40B4-BE49-F238E27FC236}">
                <a16:creationId xmlns:a16="http://schemas.microsoft.com/office/drawing/2014/main" id="{59737199-1D4A-7ABA-8568-245599796836}"/>
              </a:ext>
            </a:extLst>
          </p:cNvPr>
          <p:cNvSpPr>
            <a:spLocks noGrp="1"/>
          </p:cNvSpPr>
          <p:nvPr/>
        </p:nvSpPr>
        <p:spPr>
          <a:xfrm>
            <a:off x="2806700" y="2120900"/>
            <a:ext cx="2108200" cy="4445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减小小样本偏差</a:t>
            </a:r>
          </a:p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修正估计方程</a:t>
            </a:r>
          </a:p>
        </p:txBody>
      </p:sp>
      <p:sp>
        <p:nvSpPr>
          <p:cNvPr id="26" name="fig1-text_edge2">
            <a:extLst>
              <a:ext uri="{FF2B5EF4-FFF2-40B4-BE49-F238E27FC236}">
                <a16:creationId xmlns:a16="http://schemas.microsoft.com/office/drawing/2014/main" id="{2293B625-BEC5-3B2A-A86E-9386781AFB81}"/>
              </a:ext>
            </a:extLst>
          </p:cNvPr>
          <p:cNvSpPr>
            <a:spLocks noGrp="1"/>
          </p:cNvSpPr>
          <p:nvPr/>
        </p:nvSpPr>
        <p:spPr>
          <a:xfrm>
            <a:off x="2806700" y="3162300"/>
            <a:ext cx="2108200" cy="4445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处理边界奇异</a:t>
            </a:r>
          </a:p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改变似然构造</a:t>
            </a:r>
          </a:p>
        </p:txBody>
      </p:sp>
      <p:sp>
        <p:nvSpPr>
          <p:cNvPr id="27" name="fig1-text_edge5">
            <a:extLst>
              <a:ext uri="{FF2B5EF4-FFF2-40B4-BE49-F238E27FC236}">
                <a16:creationId xmlns:a16="http://schemas.microsoft.com/office/drawing/2014/main" id="{8060B0A7-DA03-DA54-5E73-A07FAB8713B8}"/>
              </a:ext>
            </a:extLst>
          </p:cNvPr>
          <p:cNvSpPr>
            <a:spLocks noGrp="1"/>
          </p:cNvSpPr>
          <p:nvPr/>
        </p:nvSpPr>
        <p:spPr>
          <a:xfrm>
            <a:off x="2806700" y="4152900"/>
            <a:ext cx="2108200" cy="4445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缓解初值敏感与局部停滞</a:t>
            </a:r>
          </a:p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改进搜索策略</a:t>
            </a:r>
          </a:p>
        </p:txBody>
      </p:sp>
      <p:sp>
        <p:nvSpPr>
          <p:cNvPr id="28" name="fig1-text_edge3">
            <a:extLst>
              <a:ext uri="{FF2B5EF4-FFF2-40B4-BE49-F238E27FC236}">
                <a16:creationId xmlns:a16="http://schemas.microsoft.com/office/drawing/2014/main" id="{1D92B7E6-D647-3717-6D68-A4243B1E4895}"/>
              </a:ext>
            </a:extLst>
          </p:cNvPr>
          <p:cNvSpPr>
            <a:spLocks noGrp="1"/>
          </p:cNvSpPr>
          <p:nvPr/>
        </p:nvSpPr>
        <p:spPr>
          <a:xfrm>
            <a:off x="7747000" y="3124200"/>
            <a:ext cx="1524000" cy="4445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剩余偏差</a:t>
            </a:r>
          </a:p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引入Firth修正</a:t>
            </a:r>
          </a:p>
        </p:txBody>
      </p:sp>
      <p:sp>
        <p:nvSpPr>
          <p:cNvPr id="29" name="fig1-text_edge4">
            <a:extLst>
              <a:ext uri="{FF2B5EF4-FFF2-40B4-BE49-F238E27FC236}">
                <a16:creationId xmlns:a16="http://schemas.microsoft.com/office/drawing/2014/main" id="{A7DDFAD8-0F92-FD68-9A8F-9D08F41C5B79}"/>
              </a:ext>
            </a:extLst>
          </p:cNvPr>
          <p:cNvSpPr>
            <a:spLocks noGrp="1"/>
          </p:cNvSpPr>
          <p:nvPr/>
        </p:nvSpPr>
        <p:spPr>
          <a:xfrm>
            <a:off x="10579100" y="2959100"/>
            <a:ext cx="927100" cy="2413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298"/>
              </a:lnSpc>
              <a:buNone/>
            </a:pPr>
            <a:r>
              <a:rPr sz="11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修正思想</a:t>
            </a:r>
          </a:p>
        </p:txBody>
      </p:sp>
      <p:sp>
        <p:nvSpPr>
          <p:cNvPr id="30" name="panel-description">
            <a:extLst>
              <a:ext uri="{FF2B5EF4-FFF2-40B4-BE49-F238E27FC236}">
                <a16:creationId xmlns:a16="http://schemas.microsoft.com/office/drawing/2014/main" id="{C52DB519-AB17-D781-A557-DC4D1405FE31}"/>
              </a:ext>
            </a:extLst>
          </p:cNvPr>
          <p:cNvSpPr>
            <a:spLocks noGrp="1"/>
          </p:cNvSpPr>
          <p:nvPr/>
        </p:nvSpPr>
        <p:spPr>
          <a:xfrm>
            <a:off x="622300" y="5384800"/>
            <a:ext cx="10922000" cy="609600"/>
          </a:xfrm>
          <a:prstGeom prst="rect">
            <a:avLst/>
          </a:prstGeom>
          <a:noFill/>
        </p:spPr>
        <p:txBody>
          <a:bodyPr vert="horz" wrap="square" lIns="38100" tIns="0" rIns="38100" bIns="0" anchor="t">
            <a:noAutofit/>
          </a:bodyPr>
          <a:lstStyle/>
          <a:p>
            <a:pPr>
              <a:lnSpc>
                <a:spcPts val="2006"/>
              </a:lnSpc>
              <a:buNone/>
            </a:pPr>
            <a:r>
              <a:rPr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WMLE修正有限样本估计方程，MMLE改变似然构造，DMMLE进一步修正得分偏差。</a:t>
            </a:r>
          </a:p>
          <a:p>
            <a:pPr>
              <a:lnSpc>
                <a:spcPts val="2006"/>
              </a:lnSpc>
              <a:buNone/>
            </a:pPr>
            <a:r>
              <a:rPr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PSO、ADGBO等若保持同一似然与约束，改进的是求解过程。</a:t>
            </a:r>
          </a:p>
        </p:txBody>
      </p:sp>
      <p:sp>
        <p:nvSpPr>
          <p:cNvPr id="31" name="panel-citations">
            <a:extLst>
              <a:ext uri="{FF2B5EF4-FFF2-40B4-BE49-F238E27FC236}">
                <a16:creationId xmlns:a16="http://schemas.microsoft.com/office/drawing/2014/main" id="{43D54EE6-3576-5B72-1D9F-150FD070BF80}"/>
              </a:ext>
            </a:extLst>
          </p:cNvPr>
          <p:cNvSpPr>
            <a:spLocks noGrp="1"/>
          </p:cNvSpPr>
          <p:nvPr/>
        </p:nvSpPr>
        <p:spPr>
          <a:xfrm>
            <a:off x="622300" y="6350000"/>
            <a:ext cx="10922000" cy="177800"/>
          </a:xfrm>
          <a:prstGeom prst="rect">
            <a:avLst/>
          </a:prstGeom>
          <a:noFill/>
        </p:spPr>
        <p:txBody>
          <a:bodyPr vert="horz" wrap="square" lIns="38100" tIns="0" rIns="38100" bIns="0" anchor="t">
            <a:noAutofit/>
          </a:bodyPr>
          <a:lstStyle/>
          <a:p>
            <a:pPr>
              <a:lnSpc>
                <a:spcPts val="1180"/>
              </a:lnSpc>
              <a:buNone/>
            </a:pPr>
            <a:r>
              <a:rPr sz="1000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WMLE [182-088]；DMMLE [182-111]；ADGBO [187-001]。Fisher（1922）标示通用似然原理来源。</a:t>
            </a:r>
          </a:p>
        </p:txBody>
      </p:sp>
      <p:sp>
        <p:nvSpPr>
          <p:cNvPr id="32" name="fig1-edge1-1">
            <a:extLst>
              <a:ext uri="{FF2B5EF4-FFF2-40B4-BE49-F238E27FC236}">
                <a16:creationId xmlns:a16="http://schemas.microsoft.com/office/drawing/2014/main" id="{6E92AD90-669A-49E5-901C-E4F838C25B57}"/>
              </a:ext>
            </a:extLst>
          </p:cNvPr>
          <p:cNvSpPr>
            <a:spLocks noGrp="1"/>
          </p:cNvSpPr>
          <p:nvPr/>
        </p:nvSpPr>
        <p:spPr>
          <a:xfrm>
            <a:off x="2463800" y="3378200"/>
            <a:ext cx="266700" cy="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3" name="fig1-edge1-2">
            <a:extLst>
              <a:ext uri="{FF2B5EF4-FFF2-40B4-BE49-F238E27FC236}">
                <a16:creationId xmlns:a16="http://schemas.microsoft.com/office/drawing/2014/main" id="{A3E25788-F79D-4275-9D97-514AE73D9FAB}"/>
              </a:ext>
            </a:extLst>
          </p:cNvPr>
          <p:cNvSpPr>
            <a:spLocks noGrp="1"/>
          </p:cNvSpPr>
          <p:nvPr/>
        </p:nvSpPr>
        <p:spPr>
          <a:xfrm flipV="1">
            <a:off x="2730500" y="2578100"/>
            <a:ext cx="0" cy="80010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4" name="fig1-edge1-3">
            <a:extLst>
              <a:ext uri="{FF2B5EF4-FFF2-40B4-BE49-F238E27FC236}">
                <a16:creationId xmlns:a16="http://schemas.microsoft.com/office/drawing/2014/main" id="{D56C5989-3BA1-4DA8-B603-2C65CBEFFF6C}"/>
              </a:ext>
            </a:extLst>
          </p:cNvPr>
          <p:cNvSpPr>
            <a:spLocks noGrp="1"/>
          </p:cNvSpPr>
          <p:nvPr/>
        </p:nvSpPr>
        <p:spPr>
          <a:xfrm>
            <a:off x="2730500" y="2578100"/>
            <a:ext cx="22733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5" name="fig1-edge2-1">
            <a:extLst>
              <a:ext uri="{FF2B5EF4-FFF2-40B4-BE49-F238E27FC236}">
                <a16:creationId xmlns:a16="http://schemas.microsoft.com/office/drawing/2014/main" id="{3B2C1C55-881A-4C6F-9AD2-DCF1EAF5B5EB}"/>
              </a:ext>
            </a:extLst>
          </p:cNvPr>
          <p:cNvSpPr>
            <a:spLocks noGrp="1"/>
          </p:cNvSpPr>
          <p:nvPr/>
        </p:nvSpPr>
        <p:spPr>
          <a:xfrm>
            <a:off x="2463800" y="3644900"/>
            <a:ext cx="25400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6" name="fig1-edge5-1">
            <a:extLst>
              <a:ext uri="{FF2B5EF4-FFF2-40B4-BE49-F238E27FC236}">
                <a16:creationId xmlns:a16="http://schemas.microsoft.com/office/drawing/2014/main" id="{2DA16478-21D8-4B29-9282-8BFE3E738370}"/>
              </a:ext>
            </a:extLst>
          </p:cNvPr>
          <p:cNvSpPr>
            <a:spLocks noGrp="1"/>
          </p:cNvSpPr>
          <p:nvPr/>
        </p:nvSpPr>
        <p:spPr>
          <a:xfrm>
            <a:off x="2463800" y="3911600"/>
            <a:ext cx="266700" cy="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7" name="fig1-edge5-2">
            <a:extLst>
              <a:ext uri="{FF2B5EF4-FFF2-40B4-BE49-F238E27FC236}">
                <a16:creationId xmlns:a16="http://schemas.microsoft.com/office/drawing/2014/main" id="{9F66D62E-AAD0-4433-8535-89EAA8D7FF91}"/>
              </a:ext>
            </a:extLst>
          </p:cNvPr>
          <p:cNvSpPr>
            <a:spLocks noGrp="1"/>
          </p:cNvSpPr>
          <p:nvPr/>
        </p:nvSpPr>
        <p:spPr>
          <a:xfrm>
            <a:off x="2730500" y="3911600"/>
            <a:ext cx="0" cy="69850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8" name="fig1-edge5-3">
            <a:extLst>
              <a:ext uri="{FF2B5EF4-FFF2-40B4-BE49-F238E27FC236}">
                <a16:creationId xmlns:a16="http://schemas.microsoft.com/office/drawing/2014/main" id="{569DA4BF-F3FF-48C1-A1E8-B5A7D2248511}"/>
              </a:ext>
            </a:extLst>
          </p:cNvPr>
          <p:cNvSpPr>
            <a:spLocks noGrp="1"/>
          </p:cNvSpPr>
          <p:nvPr/>
        </p:nvSpPr>
        <p:spPr>
          <a:xfrm>
            <a:off x="2730500" y="4610100"/>
            <a:ext cx="22733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9" name="fig1-edge3-1">
            <a:extLst>
              <a:ext uri="{FF2B5EF4-FFF2-40B4-BE49-F238E27FC236}">
                <a16:creationId xmlns:a16="http://schemas.microsoft.com/office/drawing/2014/main" id="{98BF49C1-30B1-4EA9-91B8-25052B2F7188}"/>
              </a:ext>
            </a:extLst>
          </p:cNvPr>
          <p:cNvSpPr>
            <a:spLocks noGrp="1"/>
          </p:cNvSpPr>
          <p:nvPr/>
        </p:nvSpPr>
        <p:spPr>
          <a:xfrm>
            <a:off x="7683500" y="3594100"/>
            <a:ext cx="16383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0" name="fig1-edge4-1">
            <a:extLst>
              <a:ext uri="{FF2B5EF4-FFF2-40B4-BE49-F238E27FC236}">
                <a16:creationId xmlns:a16="http://schemas.microsoft.com/office/drawing/2014/main" id="{1E2AD48F-43FA-489E-B128-DC45DDC8E022}"/>
              </a:ext>
            </a:extLst>
          </p:cNvPr>
          <p:cNvSpPr>
            <a:spLocks noGrp="1"/>
          </p:cNvSpPr>
          <p:nvPr/>
        </p:nvSpPr>
        <p:spPr>
          <a:xfrm>
            <a:off x="10433050" y="2946400"/>
            <a:ext cx="0" cy="27940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6457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B  概率图路线：如何处理未知位置？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候选估计方法及其关系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911FE70-E849-ED7F-BFB0-3FB730551685}"/>
              </a:ext>
            </a:extLst>
          </p:cNvPr>
          <p:cNvSpPr>
            <a:spLocks noGrp="1"/>
          </p:cNvSpPr>
          <p:nvPr/>
        </p:nvSpPr>
        <p:spPr>
          <a:xfrm>
            <a:off x="622300" y="1638300"/>
            <a:ext cx="10922000" cy="406400"/>
          </a:xfrm>
          <a:prstGeom prst="rect">
            <a:avLst/>
          </a:prstGeom>
          <a:noFill/>
        </p:spPr>
        <p:txBody>
          <a:bodyPr vert="horz" wrap="square" lIns="38100" tIns="25400" rIns="38100" bIns="25400" anchor="t">
            <a:noAutofit/>
          </a:bodyPr>
          <a:lstStyle/>
          <a:p>
            <a:pPr>
              <a:lnSpc>
                <a:spcPts val="2006"/>
              </a:lnSpc>
              <a:buNone/>
              <a:defRPr sz="1725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LS与LRE同属概率图路线，具体构造由分数、方向与位置规则决定。</a:t>
            </a:r>
          </a:p>
        </p:txBody>
      </p:sp>
      <p:sp>
        <p:nvSpPr>
          <p:cNvPr id="17" name="fig1-white">
            <a:extLst>
              <a:ext uri="{FF2B5EF4-FFF2-40B4-BE49-F238E27FC236}">
                <a16:creationId xmlns:a16="http://schemas.microsoft.com/office/drawing/2014/main" id="{6BAFF377-25AB-9762-2D70-2278810E5997}"/>
              </a:ext>
            </a:extLst>
          </p:cNvPr>
          <p:cNvSpPr>
            <a:spLocks noGrp="1"/>
          </p:cNvSpPr>
          <p:nvPr/>
        </p:nvSpPr>
        <p:spPr>
          <a:xfrm>
            <a:off x="622300" y="2190115"/>
            <a:ext cx="3302000" cy="560832"/>
          </a:xfrm>
          <a:prstGeom prst="roundRect">
            <a:avLst>
              <a:gd name="adj" fmla="val 7000"/>
            </a:avLst>
          </a:prstGeom>
          <a:solidFill>
            <a:srgbClr val="EAF0F6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0" rIns="38100" bIns="0" anchor="ctr">
            <a:noAutofit/>
          </a:bodyPr>
          <a:lstStyle/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LS 二参数概率图回归</a:t>
            </a:r>
          </a:p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White · 1969</a:t>
            </a:r>
          </a:p>
        </p:txBody>
      </p:sp>
      <p:sp>
        <p:nvSpPr>
          <p:cNvPr id="18" name="fig1-soman">
            <a:extLst>
              <a:ext uri="{FF2B5EF4-FFF2-40B4-BE49-F238E27FC236}">
                <a16:creationId xmlns:a16="http://schemas.microsoft.com/office/drawing/2014/main" id="{F83C78B6-253F-8ED2-FCDB-4716D21876E0}"/>
              </a:ext>
            </a:extLst>
          </p:cNvPr>
          <p:cNvSpPr>
            <a:spLocks noGrp="1"/>
          </p:cNvSpPr>
          <p:nvPr/>
        </p:nvSpPr>
        <p:spPr>
          <a:xfrm>
            <a:off x="7670800" y="2190115"/>
            <a:ext cx="3873500" cy="560832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0" rIns="38100" bIns="0" anchor="ctr">
            <a:noAutofit/>
          </a:bodyPr>
          <a:lstStyle/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LS 三参数最小二乘</a:t>
            </a:r>
          </a:p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Soman &amp; Misra · 1992</a:t>
            </a:r>
          </a:p>
        </p:txBody>
      </p:sp>
      <p:sp>
        <p:nvSpPr>
          <p:cNvPr id="19" name="fig1-plot">
            <a:extLst>
              <a:ext uri="{FF2B5EF4-FFF2-40B4-BE49-F238E27FC236}">
                <a16:creationId xmlns:a16="http://schemas.microsoft.com/office/drawing/2014/main" id="{65675938-9A67-E934-E6DF-F65962F514D0}"/>
              </a:ext>
            </a:extLst>
          </p:cNvPr>
          <p:cNvSpPr>
            <a:spLocks noGrp="1"/>
          </p:cNvSpPr>
          <p:nvPr/>
        </p:nvSpPr>
        <p:spPr>
          <a:xfrm>
            <a:off x="622300" y="3189097"/>
            <a:ext cx="3302000" cy="57835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63758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0" rIns="38100" bIns="0" anchor="ctr">
            <a:noAutofit/>
          </a:bodyPr>
          <a:lstStyle/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LRE相关构造</a:t>
            </a:r>
          </a:p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Weibull图线性化</a:t>
            </a:r>
          </a:p>
        </p:txBody>
      </p:sp>
      <p:sp>
        <p:nvSpPr>
          <p:cNvPr id="20" name="fig1-li">
            <a:extLst>
              <a:ext uri="{FF2B5EF4-FFF2-40B4-BE49-F238E27FC236}">
                <a16:creationId xmlns:a16="http://schemas.microsoft.com/office/drawing/2014/main" id="{3813DF7B-6E53-2F54-2674-A9944E5E53E2}"/>
              </a:ext>
            </a:extLst>
          </p:cNvPr>
          <p:cNvSpPr>
            <a:spLocks noGrp="1"/>
          </p:cNvSpPr>
          <p:nvPr/>
        </p:nvSpPr>
        <p:spPr>
          <a:xfrm>
            <a:off x="7670800" y="3005074"/>
            <a:ext cx="3873500" cy="560832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0" rIns="38100" bIns="0" anchor="ctr">
            <a:noAutofit/>
          </a:bodyPr>
          <a:lstStyle/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GLRA 广义线性回归</a:t>
            </a:r>
          </a:p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Li · 1994</a:t>
            </a:r>
          </a:p>
        </p:txBody>
      </p:sp>
      <p:sp>
        <p:nvSpPr>
          <p:cNvPr id="21" name="fig1-park">
            <a:extLst>
              <a:ext uri="{FF2B5EF4-FFF2-40B4-BE49-F238E27FC236}">
                <a16:creationId xmlns:a16="http://schemas.microsoft.com/office/drawing/2014/main" id="{2CDB9860-B1C3-AFF8-60E0-F026CE1F5EFF}"/>
              </a:ext>
            </a:extLst>
          </p:cNvPr>
          <p:cNvSpPr>
            <a:spLocks noGrp="1"/>
          </p:cNvSpPr>
          <p:nvPr/>
        </p:nvSpPr>
        <p:spPr>
          <a:xfrm>
            <a:off x="7670800" y="3986530"/>
            <a:ext cx="3873500" cy="578358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0" rIns="38100" bIns="0" anchor="ctr">
            <a:noAutofit/>
          </a:bodyPr>
          <a:lstStyle/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相关系数法（Plot分支）</a:t>
            </a:r>
          </a:p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Park · 2017</a:t>
            </a:r>
          </a:p>
        </p:txBody>
      </p:sp>
      <p:sp>
        <p:nvSpPr>
          <p:cNvPr id="22" name="fig1-text_edge6">
            <a:extLst>
              <a:ext uri="{FF2B5EF4-FFF2-40B4-BE49-F238E27FC236}">
                <a16:creationId xmlns:a16="http://schemas.microsoft.com/office/drawing/2014/main" id="{0C5A288D-71E8-CD1A-1D63-B92A6275E59E}"/>
              </a:ext>
            </a:extLst>
          </p:cNvPr>
          <p:cNvSpPr>
            <a:spLocks noGrp="1"/>
          </p:cNvSpPr>
          <p:nvPr/>
        </p:nvSpPr>
        <p:spPr>
          <a:xfrm>
            <a:off x="4686300" y="2076196"/>
            <a:ext cx="2222500" cy="385572"/>
          </a:xfrm>
          <a:prstGeom prst="rect">
            <a:avLst/>
          </a:prstGeom>
          <a:noFill/>
        </p:spPr>
        <p:txBody>
          <a:bodyPr vert="horz" wrap="square" lIns="38100" tIns="0" rIns="38100" bIns="0" anchor="ctr">
            <a:noAutofit/>
          </a:bodyPr>
          <a:lstStyle/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位置未知</a:t>
            </a:r>
          </a:p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扩展到三参数</a:t>
            </a:r>
          </a:p>
        </p:txBody>
      </p:sp>
      <p:sp>
        <p:nvSpPr>
          <p:cNvPr id="23" name="fig1-text_edge7">
            <a:extLst>
              <a:ext uri="{FF2B5EF4-FFF2-40B4-BE49-F238E27FC236}">
                <a16:creationId xmlns:a16="http://schemas.microsoft.com/office/drawing/2014/main" id="{117F3D43-7A7D-3E23-B704-0B144E79EF5A}"/>
              </a:ext>
            </a:extLst>
          </p:cNvPr>
          <p:cNvSpPr>
            <a:spLocks noGrp="1"/>
          </p:cNvSpPr>
          <p:nvPr/>
        </p:nvSpPr>
        <p:spPr>
          <a:xfrm>
            <a:off x="4406900" y="3013837"/>
            <a:ext cx="3111500" cy="227838"/>
          </a:xfrm>
          <a:prstGeom prst="rect">
            <a:avLst/>
          </a:prstGeom>
          <a:noFill/>
        </p:spPr>
        <p:txBody>
          <a:bodyPr vert="horz" wrap="square" lIns="38100" tIns="0" rIns="38100" bIns="0" anchor="ctr">
            <a:noAutofit/>
          </a:bodyPr>
          <a:lstStyle/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构造位置近似</a:t>
            </a:r>
          </a:p>
        </p:txBody>
      </p:sp>
      <p:sp>
        <p:nvSpPr>
          <p:cNvPr id="24" name="fig1-text_edge8">
            <a:extLst>
              <a:ext uri="{FF2B5EF4-FFF2-40B4-BE49-F238E27FC236}">
                <a16:creationId xmlns:a16="http://schemas.microsoft.com/office/drawing/2014/main" id="{8CA15B03-9C15-A8DF-20A2-CB58859DED9C}"/>
              </a:ext>
            </a:extLst>
          </p:cNvPr>
          <p:cNvSpPr>
            <a:spLocks noGrp="1"/>
          </p:cNvSpPr>
          <p:nvPr/>
        </p:nvSpPr>
        <p:spPr>
          <a:xfrm>
            <a:off x="5676900" y="3942715"/>
            <a:ext cx="1905000" cy="262890"/>
          </a:xfrm>
          <a:prstGeom prst="rect">
            <a:avLst/>
          </a:prstGeom>
          <a:noFill/>
        </p:spPr>
        <p:txBody>
          <a:bodyPr vert="horz" wrap="square" lIns="38100" tIns="0" rIns="38100" bIns="0" anchor="ctr">
            <a:noAutofit/>
          </a:bodyPr>
          <a:lstStyle/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以相关性选位置</a:t>
            </a:r>
          </a:p>
        </p:txBody>
      </p:sp>
      <p:sp>
        <p:nvSpPr>
          <p:cNvPr id="27" name="fig1-edge6-1">
            <a:extLst>
              <a:ext uri="{FF2B5EF4-FFF2-40B4-BE49-F238E27FC236}">
                <a16:creationId xmlns:a16="http://schemas.microsoft.com/office/drawing/2014/main" id="{EBE9FE6F-4DE9-40B7-854F-912F934B3E16}"/>
              </a:ext>
            </a:extLst>
          </p:cNvPr>
          <p:cNvSpPr>
            <a:spLocks noGrp="1"/>
          </p:cNvSpPr>
          <p:nvPr/>
        </p:nvSpPr>
        <p:spPr>
          <a:xfrm>
            <a:off x="3924300" y="2470531"/>
            <a:ext cx="37465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8" name="fig1-edge7-1">
            <a:extLst>
              <a:ext uri="{FF2B5EF4-FFF2-40B4-BE49-F238E27FC236}">
                <a16:creationId xmlns:a16="http://schemas.microsoft.com/office/drawing/2014/main" id="{842611E2-61E5-459B-990F-30A6B0A1898B}"/>
              </a:ext>
            </a:extLst>
          </p:cNvPr>
          <p:cNvSpPr>
            <a:spLocks noGrp="1"/>
          </p:cNvSpPr>
          <p:nvPr/>
        </p:nvSpPr>
        <p:spPr>
          <a:xfrm>
            <a:off x="3924300" y="3329305"/>
            <a:ext cx="1905000" cy="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9" name="fig1-edge7-2">
            <a:extLst>
              <a:ext uri="{FF2B5EF4-FFF2-40B4-BE49-F238E27FC236}">
                <a16:creationId xmlns:a16="http://schemas.microsoft.com/office/drawing/2014/main" id="{A7E8B7FB-8D99-41FD-B35B-234C749EC237}"/>
              </a:ext>
            </a:extLst>
          </p:cNvPr>
          <p:cNvSpPr>
            <a:spLocks noGrp="1"/>
          </p:cNvSpPr>
          <p:nvPr/>
        </p:nvSpPr>
        <p:spPr>
          <a:xfrm flipV="1">
            <a:off x="5829300" y="3285491"/>
            <a:ext cx="0" cy="43815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0" name="fig1-edge7-3">
            <a:extLst>
              <a:ext uri="{FF2B5EF4-FFF2-40B4-BE49-F238E27FC236}">
                <a16:creationId xmlns:a16="http://schemas.microsoft.com/office/drawing/2014/main" id="{4471CC2B-D35A-4E35-830F-BE1A7E629A92}"/>
              </a:ext>
            </a:extLst>
          </p:cNvPr>
          <p:cNvSpPr>
            <a:spLocks noGrp="1"/>
          </p:cNvSpPr>
          <p:nvPr/>
        </p:nvSpPr>
        <p:spPr>
          <a:xfrm>
            <a:off x="5829300" y="3285490"/>
            <a:ext cx="18415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1" name="fig1-edge8-1">
            <a:extLst>
              <a:ext uri="{FF2B5EF4-FFF2-40B4-BE49-F238E27FC236}">
                <a16:creationId xmlns:a16="http://schemas.microsoft.com/office/drawing/2014/main" id="{8DA49B01-0828-4EDF-97E9-FB40424C57B2}"/>
              </a:ext>
            </a:extLst>
          </p:cNvPr>
          <p:cNvSpPr>
            <a:spLocks noGrp="1"/>
          </p:cNvSpPr>
          <p:nvPr/>
        </p:nvSpPr>
        <p:spPr>
          <a:xfrm>
            <a:off x="3924300" y="3627247"/>
            <a:ext cx="1587500" cy="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2" name="fig1-edge8-2">
            <a:extLst>
              <a:ext uri="{FF2B5EF4-FFF2-40B4-BE49-F238E27FC236}">
                <a16:creationId xmlns:a16="http://schemas.microsoft.com/office/drawing/2014/main" id="{85200C02-FFD9-44E5-8F1D-5B069FCC20C5}"/>
              </a:ext>
            </a:extLst>
          </p:cNvPr>
          <p:cNvSpPr>
            <a:spLocks noGrp="1"/>
          </p:cNvSpPr>
          <p:nvPr/>
        </p:nvSpPr>
        <p:spPr>
          <a:xfrm>
            <a:off x="5511800" y="3627247"/>
            <a:ext cx="0" cy="648462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3" name="fig1-edge8-3">
            <a:extLst>
              <a:ext uri="{FF2B5EF4-FFF2-40B4-BE49-F238E27FC236}">
                <a16:creationId xmlns:a16="http://schemas.microsoft.com/office/drawing/2014/main" id="{45942E4E-3B68-46B4-BDB4-3EB12D846741}"/>
              </a:ext>
            </a:extLst>
          </p:cNvPr>
          <p:cNvSpPr>
            <a:spLocks noGrp="1"/>
          </p:cNvSpPr>
          <p:nvPr/>
        </p:nvSpPr>
        <p:spPr>
          <a:xfrm>
            <a:off x="5511800" y="4275709"/>
            <a:ext cx="21590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graphicFrame>
        <p:nvGraphicFramePr>
          <p:cNvPr id="58" name="表格 33"/>
          <p:cNvGraphicFramePr/>
          <p:nvPr/>
        </p:nvGraphicFramePr>
        <p:xfrm>
          <a:off x="622300" y="4686300"/>
          <a:ext cx="10922000" cy="1193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7933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文献版本示例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LS：White—Soman分支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Park 2017：Proposed+Plot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933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绘图分数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对数Weibull次序统计量期望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按n分段的绘图概率，经双对数变换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933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回归与形状恢复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 = a + bz，β̂ = 1/b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 = a + bx，β̂ = b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5" name="文本框 34">
            <a:extLst>
              <a:ext uri="{FF2B5EF4-FFF2-40B4-BE49-F238E27FC236}">
                <a16:creationId xmlns:a16="http://schemas.microsoft.com/office/drawing/2014/main" id="{F4F7D4B8-3B61-04B5-DD2E-2EC108C8B53D}"/>
              </a:ext>
            </a:extLst>
          </p:cNvPr>
          <p:cNvSpPr>
            <a:spLocks noGrp="1"/>
          </p:cNvSpPr>
          <p:nvPr/>
        </p:nvSpPr>
        <p:spPr>
          <a:xfrm>
            <a:off x="622300" y="5969000"/>
            <a:ext cx="10922000" cy="2540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3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x为对数寿命，z为绘图分数。同一分数与带截距OLS下，F比与相关系数平方单调等价。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F3EF18D-7F11-027F-6E7A-60212C24DFF2}"/>
              </a:ext>
            </a:extLst>
          </p:cNvPr>
          <p:cNvSpPr>
            <a:spLocks noGrp="1"/>
          </p:cNvSpPr>
          <p:nvPr/>
        </p:nvSpPr>
        <p:spPr>
          <a:xfrm>
            <a:off x="622300" y="6286500"/>
            <a:ext cx="10922000" cy="2286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buNone/>
              <a:defRPr sz="12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Park保留原绘图位置和非负位置域；Bernard分数是另一变体。公式见附录B第11节。</a:t>
            </a:r>
          </a:p>
        </p:txBody>
      </p:sp>
    </p:spTree>
    <p:extLst>
      <p:ext uri="{BB962C8B-B14F-4D97-AF65-F5344CB8AC3E}">
        <p14:creationId xmlns:p14="http://schemas.microsoft.com/office/powerpoint/2010/main" val="3587631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C  改用统计量、间距或构造差异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候选估计方法及其关系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5A7D3A0-D900-C788-4169-A5B9277F249C}"/>
              </a:ext>
            </a:extLst>
          </p:cNvPr>
          <p:cNvSpPr>
            <a:spLocks noGrp="1"/>
          </p:cNvSpPr>
          <p:nvPr/>
        </p:nvSpPr>
        <p:spPr>
          <a:xfrm>
            <a:off x="622300" y="1638300"/>
            <a:ext cx="10922000" cy="406400"/>
          </a:xfrm>
          <a:prstGeom prst="rect">
            <a:avLst/>
          </a:prstGeom>
          <a:noFill/>
        </p:spPr>
        <p:txBody>
          <a:bodyPr vert="horz" wrap="square" lIns="38100" tIns="25400" rIns="38100" bIns="25400" anchor="t">
            <a:noAutofit/>
          </a:bodyPr>
          <a:lstStyle/>
          <a:p>
            <a:pPr>
              <a:lnSpc>
                <a:spcPts val="2006"/>
              </a:lnSpc>
              <a:buNone/>
            </a:pPr>
            <a:r>
              <a:rPr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这三支分别采用统计量匹配、概率间距和尺度伪估计差异作为估计依据。</a:t>
            </a:r>
          </a:p>
        </p:txBody>
      </p:sp>
      <p:sp>
        <p:nvSpPr>
          <p:cNvPr id="10" name="fig1-pwm">
            <a:extLst>
              <a:ext uri="{FF2B5EF4-FFF2-40B4-BE49-F238E27FC236}">
                <a16:creationId xmlns:a16="http://schemas.microsoft.com/office/drawing/2014/main" id="{8F6A1F28-3F96-720B-92D4-29EDB54A21C1}"/>
              </a:ext>
            </a:extLst>
          </p:cNvPr>
          <p:cNvSpPr>
            <a:spLocks noGrp="1"/>
          </p:cNvSpPr>
          <p:nvPr/>
        </p:nvSpPr>
        <p:spPr>
          <a:xfrm>
            <a:off x="622300" y="2209800"/>
            <a:ext cx="3556000" cy="812800"/>
          </a:xfrm>
          <a:prstGeom prst="roundRect">
            <a:avLst>
              <a:gd name="adj" fmla="val 7000"/>
            </a:avLst>
          </a:prstGeom>
          <a:solidFill>
            <a:srgbClr val="EAF0F6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2006"/>
              </a:lnSpc>
              <a:buNone/>
            </a:pPr>
            <a:r>
              <a:rPr sz="17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PWM 概率加权矩</a:t>
            </a:r>
          </a:p>
          <a:p>
            <a:pPr algn="ctr">
              <a:lnSpc>
                <a:spcPts val="2006"/>
              </a:lnSpc>
              <a:buNone/>
            </a:pPr>
            <a:r>
              <a:rPr sz="17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Greenwood等 · 1979</a:t>
            </a:r>
          </a:p>
        </p:txBody>
      </p:sp>
      <p:sp>
        <p:nvSpPr>
          <p:cNvPr id="14" name="fig1-lm">
            <a:extLst>
              <a:ext uri="{FF2B5EF4-FFF2-40B4-BE49-F238E27FC236}">
                <a16:creationId xmlns:a16="http://schemas.microsoft.com/office/drawing/2014/main" id="{79657A67-AAA1-E8B8-BBAB-E8676A07F1B4}"/>
              </a:ext>
            </a:extLst>
          </p:cNvPr>
          <p:cNvSpPr>
            <a:spLocks noGrp="1"/>
          </p:cNvSpPr>
          <p:nvPr/>
        </p:nvSpPr>
        <p:spPr>
          <a:xfrm>
            <a:off x="7670800" y="2209800"/>
            <a:ext cx="3873500" cy="812800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2006"/>
              </a:lnSpc>
              <a:buNone/>
            </a:pPr>
            <a:r>
              <a:rPr sz="17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LM L矩估计</a:t>
            </a:r>
          </a:p>
          <a:p>
            <a:pPr algn="ctr">
              <a:lnSpc>
                <a:spcPts val="2006"/>
              </a:lnSpc>
              <a:buNone/>
            </a:pPr>
            <a:r>
              <a:rPr sz="17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Hosking · 1990</a:t>
            </a:r>
          </a:p>
        </p:txBody>
      </p:sp>
      <p:sp>
        <p:nvSpPr>
          <p:cNvPr id="15" name="fig1-boundary">
            <a:extLst>
              <a:ext uri="{FF2B5EF4-FFF2-40B4-BE49-F238E27FC236}">
                <a16:creationId xmlns:a16="http://schemas.microsoft.com/office/drawing/2014/main" id="{7068ACF1-1F3E-F83A-8143-3AE0A34E1B55}"/>
              </a:ext>
            </a:extLst>
          </p:cNvPr>
          <p:cNvSpPr>
            <a:spLocks noGrp="1"/>
          </p:cNvSpPr>
          <p:nvPr/>
        </p:nvSpPr>
        <p:spPr>
          <a:xfrm>
            <a:off x="622300" y="3378200"/>
            <a:ext cx="3556000" cy="812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63758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2006"/>
              </a:lnSpc>
              <a:buNone/>
            </a:pPr>
            <a:r>
              <a:rPr sz="17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原始似然的边界困难</a:t>
            </a:r>
          </a:p>
        </p:txBody>
      </p:sp>
      <p:sp>
        <p:nvSpPr>
          <p:cNvPr id="16" name="fig1-mps">
            <a:extLst>
              <a:ext uri="{FF2B5EF4-FFF2-40B4-BE49-F238E27FC236}">
                <a16:creationId xmlns:a16="http://schemas.microsoft.com/office/drawing/2014/main" id="{F9B87335-C6B8-E869-E904-C4FCC2939D7E}"/>
              </a:ext>
            </a:extLst>
          </p:cNvPr>
          <p:cNvSpPr>
            <a:spLocks noGrp="1"/>
          </p:cNvSpPr>
          <p:nvPr/>
        </p:nvSpPr>
        <p:spPr>
          <a:xfrm>
            <a:off x="7670800" y="3378200"/>
            <a:ext cx="3873500" cy="812800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2006"/>
              </a:lnSpc>
              <a:buNone/>
            </a:pPr>
            <a:r>
              <a:rPr sz="17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MPS 最大乘积间距估计</a:t>
            </a:r>
          </a:p>
          <a:p>
            <a:pPr algn="ctr">
              <a:lnSpc>
                <a:spcPts val="2006"/>
              </a:lnSpc>
              <a:buNone/>
            </a:pPr>
            <a:r>
              <a:rPr sz="17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Cheng &amp; Amin · 1983</a:t>
            </a:r>
          </a:p>
        </p:txBody>
      </p:sp>
      <p:sp>
        <p:nvSpPr>
          <p:cNvPr id="17" name="fig1-cdf">
            <a:extLst>
              <a:ext uri="{FF2B5EF4-FFF2-40B4-BE49-F238E27FC236}">
                <a16:creationId xmlns:a16="http://schemas.microsoft.com/office/drawing/2014/main" id="{76486402-F8C3-1669-77B5-09F0CAB966C1}"/>
              </a:ext>
            </a:extLst>
          </p:cNvPr>
          <p:cNvSpPr>
            <a:spLocks noGrp="1"/>
          </p:cNvSpPr>
          <p:nvPr/>
        </p:nvSpPr>
        <p:spPr>
          <a:xfrm>
            <a:off x="622300" y="4546600"/>
            <a:ext cx="3556000" cy="812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63758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2006"/>
              </a:lnSpc>
              <a:buNone/>
            </a:pPr>
            <a:r>
              <a:rPr sz="17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样本＋分布概率关系</a:t>
            </a:r>
          </a:p>
        </p:txBody>
      </p:sp>
      <p:sp>
        <p:nvSpPr>
          <p:cNvPr id="18" name="fig1-mdm">
            <a:extLst>
              <a:ext uri="{FF2B5EF4-FFF2-40B4-BE49-F238E27FC236}">
                <a16:creationId xmlns:a16="http://schemas.microsoft.com/office/drawing/2014/main" id="{A8026710-239E-5E15-6502-5B237C7F989E}"/>
              </a:ext>
            </a:extLst>
          </p:cNvPr>
          <p:cNvSpPr>
            <a:spLocks noGrp="1"/>
          </p:cNvSpPr>
          <p:nvPr/>
        </p:nvSpPr>
        <p:spPr>
          <a:xfrm>
            <a:off x="7670800" y="4546600"/>
            <a:ext cx="3873500" cy="812800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2006"/>
              </a:lnSpc>
              <a:buNone/>
            </a:pPr>
            <a:r>
              <a:rPr sz="17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MDM 最小差异法</a:t>
            </a:r>
          </a:p>
          <a:p>
            <a:pPr algn="ctr">
              <a:lnSpc>
                <a:spcPts val="2006"/>
              </a:lnSpc>
              <a:buNone/>
            </a:pPr>
            <a:r>
              <a:rPr sz="17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Xie等 · 2022/2023</a:t>
            </a:r>
          </a:p>
        </p:txBody>
      </p:sp>
      <p:sp>
        <p:nvSpPr>
          <p:cNvPr id="19" name="fig1-text_edge9">
            <a:extLst>
              <a:ext uri="{FF2B5EF4-FFF2-40B4-BE49-F238E27FC236}">
                <a16:creationId xmlns:a16="http://schemas.microsoft.com/office/drawing/2014/main" id="{2FE5EADD-ADFB-A8B8-0F8A-2B8E9D08ED75}"/>
              </a:ext>
            </a:extLst>
          </p:cNvPr>
          <p:cNvSpPr>
            <a:spLocks noGrp="1"/>
          </p:cNvSpPr>
          <p:nvPr/>
        </p:nvSpPr>
        <p:spPr>
          <a:xfrm>
            <a:off x="4597400" y="2057400"/>
            <a:ext cx="2730500" cy="5461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770"/>
              </a:lnSpc>
              <a:buNone/>
            </a:pPr>
            <a:r>
              <a:rPr sz="15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线性组合</a:t>
            </a:r>
          </a:p>
          <a:p>
            <a:pPr algn="ctr">
              <a:lnSpc>
                <a:spcPts val="1770"/>
              </a:lnSpc>
              <a:buNone/>
            </a:pPr>
            <a:r>
              <a:rPr sz="15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L矩匹配</a:t>
            </a:r>
          </a:p>
        </p:txBody>
      </p:sp>
      <p:sp>
        <p:nvSpPr>
          <p:cNvPr id="20" name="fig1-text_edge10">
            <a:extLst>
              <a:ext uri="{FF2B5EF4-FFF2-40B4-BE49-F238E27FC236}">
                <a16:creationId xmlns:a16="http://schemas.microsoft.com/office/drawing/2014/main" id="{21C0CC91-0314-A0B8-A849-4FA030309BE7}"/>
              </a:ext>
            </a:extLst>
          </p:cNvPr>
          <p:cNvSpPr>
            <a:spLocks noGrp="1"/>
          </p:cNvSpPr>
          <p:nvPr/>
        </p:nvSpPr>
        <p:spPr>
          <a:xfrm>
            <a:off x="4597400" y="3327400"/>
            <a:ext cx="2730500" cy="4445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770"/>
              </a:lnSpc>
              <a:buNone/>
            </a:pPr>
            <a:r>
              <a:rPr sz="15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改用间距乘积</a:t>
            </a:r>
          </a:p>
        </p:txBody>
      </p:sp>
      <p:sp>
        <p:nvSpPr>
          <p:cNvPr id="21" name="fig1-text_edge11">
            <a:extLst>
              <a:ext uri="{FF2B5EF4-FFF2-40B4-BE49-F238E27FC236}">
                <a16:creationId xmlns:a16="http://schemas.microsoft.com/office/drawing/2014/main" id="{7C4BB7F2-9BC5-7689-AFB0-B4C55F3E957D}"/>
              </a:ext>
            </a:extLst>
          </p:cNvPr>
          <p:cNvSpPr>
            <a:spLocks noGrp="1"/>
          </p:cNvSpPr>
          <p:nvPr/>
        </p:nvSpPr>
        <p:spPr>
          <a:xfrm>
            <a:off x="4597400" y="4394200"/>
            <a:ext cx="2730500" cy="5461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770"/>
              </a:lnSpc>
              <a:buNone/>
            </a:pPr>
            <a:r>
              <a:rPr sz="15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小样本估计</a:t>
            </a:r>
          </a:p>
          <a:p>
            <a:pPr algn="ctr">
              <a:lnSpc>
                <a:spcPts val="1770"/>
              </a:lnSpc>
              <a:buNone/>
            </a:pPr>
            <a:r>
              <a:rPr sz="15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构造一致性准则</a:t>
            </a:r>
          </a:p>
        </p:txBody>
      </p:sp>
      <p:sp>
        <p:nvSpPr>
          <p:cNvPr id="22" name="panel-description">
            <a:extLst>
              <a:ext uri="{FF2B5EF4-FFF2-40B4-BE49-F238E27FC236}">
                <a16:creationId xmlns:a16="http://schemas.microsoft.com/office/drawing/2014/main" id="{5F699454-EC62-E30A-ADE7-F8AE441FA17A}"/>
              </a:ext>
            </a:extLst>
          </p:cNvPr>
          <p:cNvSpPr>
            <a:spLocks noGrp="1"/>
          </p:cNvSpPr>
          <p:nvPr/>
        </p:nvSpPr>
        <p:spPr>
          <a:xfrm>
            <a:off x="622300" y="5524500"/>
            <a:ext cx="10922000" cy="609600"/>
          </a:xfrm>
          <a:prstGeom prst="rect">
            <a:avLst/>
          </a:prstGeom>
          <a:noFill/>
        </p:spPr>
        <p:txBody>
          <a:bodyPr vert="horz" wrap="square" lIns="38100" tIns="0" rIns="38100" bIns="0" anchor="t">
            <a:noAutofit/>
          </a:bodyPr>
          <a:lstStyle/>
          <a:p>
            <a:pPr>
              <a:lnSpc>
                <a:spcPts val="1888"/>
              </a:lnSpc>
              <a:buNone/>
            </a:pPr>
            <a:r>
              <a:rPr sz="16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PWM经线性组合形成L矩。MPS针对似然边界困难，转而使用概率间距。</a:t>
            </a:r>
          </a:p>
          <a:p>
            <a:pPr>
              <a:lnSpc>
                <a:spcPts val="1888"/>
              </a:lnSpc>
              <a:buNone/>
            </a:pPr>
            <a:r>
              <a:rPr sz="16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MDM使尺度伪估计尽量一致；现有来源未确认它直接继承MPS或某个LS版本。</a:t>
            </a:r>
          </a:p>
        </p:txBody>
      </p:sp>
      <p:sp>
        <p:nvSpPr>
          <p:cNvPr id="23" name="panel-citations">
            <a:extLst>
              <a:ext uri="{FF2B5EF4-FFF2-40B4-BE49-F238E27FC236}">
                <a16:creationId xmlns:a16="http://schemas.microsoft.com/office/drawing/2014/main" id="{3F542315-CAB6-4DC0-0C5C-79FDA95058C1}"/>
              </a:ext>
            </a:extLst>
          </p:cNvPr>
          <p:cNvSpPr>
            <a:spLocks noGrp="1"/>
          </p:cNvSpPr>
          <p:nvPr/>
        </p:nvSpPr>
        <p:spPr>
          <a:xfrm>
            <a:off x="622300" y="6350000"/>
            <a:ext cx="10922000" cy="177800"/>
          </a:xfrm>
          <a:prstGeom prst="rect">
            <a:avLst/>
          </a:prstGeom>
          <a:noFill/>
        </p:spPr>
        <p:txBody>
          <a:bodyPr vert="horz" wrap="square" lIns="38100" tIns="0" rIns="38100" bIns="0" anchor="t">
            <a:noAutofit/>
          </a:bodyPr>
          <a:lstStyle/>
          <a:p>
            <a:pPr>
              <a:lnSpc>
                <a:spcPts val="1180"/>
              </a:lnSpc>
              <a:buNone/>
              <a:defRPr sz="12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PWM与L矩见报告2.4；MPS [182-116]；MDM [182-030]。虚线表示替代方案，不表示直接继承。</a:t>
            </a:r>
          </a:p>
        </p:txBody>
      </p:sp>
      <p:sp>
        <p:nvSpPr>
          <p:cNvPr id="24" name="fig1-edge9-1">
            <a:extLst>
              <a:ext uri="{FF2B5EF4-FFF2-40B4-BE49-F238E27FC236}">
                <a16:creationId xmlns:a16="http://schemas.microsoft.com/office/drawing/2014/main" id="{3A1D4A6E-DEC2-43B0-A844-2B6135F6D750}"/>
              </a:ext>
            </a:extLst>
          </p:cNvPr>
          <p:cNvSpPr>
            <a:spLocks noGrp="1"/>
          </p:cNvSpPr>
          <p:nvPr/>
        </p:nvSpPr>
        <p:spPr>
          <a:xfrm>
            <a:off x="4178300" y="2616200"/>
            <a:ext cx="34925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5" name="fig1-edge10-1">
            <a:extLst>
              <a:ext uri="{FF2B5EF4-FFF2-40B4-BE49-F238E27FC236}">
                <a16:creationId xmlns:a16="http://schemas.microsoft.com/office/drawing/2014/main" id="{C890E6A3-D462-4ABC-BB2F-49D5091459B3}"/>
              </a:ext>
            </a:extLst>
          </p:cNvPr>
          <p:cNvSpPr>
            <a:spLocks noGrp="1"/>
          </p:cNvSpPr>
          <p:nvPr/>
        </p:nvSpPr>
        <p:spPr>
          <a:xfrm>
            <a:off x="4178300" y="3784600"/>
            <a:ext cx="3492500" cy="0"/>
          </a:xfrm>
          <a:prstGeom prst="line">
            <a:avLst/>
          </a:prstGeom>
          <a:ln w="16510">
            <a:solidFill>
              <a:srgbClr val="52677A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6" name="fig1-edge11-1">
            <a:extLst>
              <a:ext uri="{FF2B5EF4-FFF2-40B4-BE49-F238E27FC236}">
                <a16:creationId xmlns:a16="http://schemas.microsoft.com/office/drawing/2014/main" id="{A6F7E876-371F-4252-969E-F1A3011346F4}"/>
              </a:ext>
            </a:extLst>
          </p:cNvPr>
          <p:cNvSpPr>
            <a:spLocks noGrp="1"/>
          </p:cNvSpPr>
          <p:nvPr/>
        </p:nvSpPr>
        <p:spPr>
          <a:xfrm>
            <a:off x="4178300" y="4953000"/>
            <a:ext cx="34925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07810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D  组合与学习：统计量变换、步骤组合与直接映射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候选估计方法及其关系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0A9E155-D276-0264-E48F-FD2B097FE8C3}"/>
              </a:ext>
            </a:extLst>
          </p:cNvPr>
          <p:cNvSpPr>
            <a:spLocks noGrp="1"/>
          </p:cNvSpPr>
          <p:nvPr/>
        </p:nvSpPr>
        <p:spPr>
          <a:xfrm>
            <a:off x="622300" y="1638300"/>
            <a:ext cx="10922000" cy="406400"/>
          </a:xfrm>
          <a:prstGeom prst="rect">
            <a:avLst/>
          </a:prstGeom>
          <a:noFill/>
        </p:spPr>
        <p:txBody>
          <a:bodyPr vert="horz" wrap="square" lIns="38100" tIns="25400" rIns="38100" bIns="25400" anchor="t">
            <a:noAutofit/>
          </a:bodyPr>
          <a:lstStyle/>
          <a:p>
            <a:pPr>
              <a:lnSpc>
                <a:spcPts val="2006"/>
              </a:lnSpc>
              <a:buNone/>
            </a:pPr>
            <a:r>
              <a:rPr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组合已有统计关系、变换观测统计量，或直接学习参数映射，都形成了新的构造。</a:t>
            </a:r>
          </a:p>
        </p:txBody>
      </p:sp>
      <p:sp>
        <p:nvSpPr>
          <p:cNvPr id="18" name="fig1-min">
            <a:extLst>
              <a:ext uri="{FF2B5EF4-FFF2-40B4-BE49-F238E27FC236}">
                <a16:creationId xmlns:a16="http://schemas.microsoft.com/office/drawing/2014/main" id="{F4A32D05-D5F8-C7FA-7B79-CBBC460EAB28}"/>
              </a:ext>
            </a:extLst>
          </p:cNvPr>
          <p:cNvSpPr>
            <a:spLocks noGrp="1"/>
          </p:cNvSpPr>
          <p:nvPr/>
        </p:nvSpPr>
        <p:spPr>
          <a:xfrm>
            <a:off x="622300" y="2590800"/>
            <a:ext cx="3302000" cy="8509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63758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888"/>
              </a:lnSpc>
              <a:buNone/>
            </a:pPr>
            <a:r>
              <a:rPr sz="16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最小次序统计量与位置的关系</a:t>
            </a:r>
          </a:p>
        </p:txBody>
      </p:sp>
      <p:sp>
        <p:nvSpPr>
          <p:cNvPr id="19" name="fig1-sam23">
            <a:extLst>
              <a:ext uri="{FF2B5EF4-FFF2-40B4-BE49-F238E27FC236}">
                <a16:creationId xmlns:a16="http://schemas.microsoft.com/office/drawing/2014/main" id="{BE82563B-4C8F-E061-6E42-A8ABD30827F2}"/>
              </a:ext>
            </a:extLst>
          </p:cNvPr>
          <p:cNvSpPr>
            <a:spLocks noGrp="1"/>
          </p:cNvSpPr>
          <p:nvPr/>
        </p:nvSpPr>
        <p:spPr>
          <a:xfrm>
            <a:off x="7861300" y="2159000"/>
            <a:ext cx="3683000" cy="711200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888"/>
              </a:lnSpc>
              <a:buNone/>
            </a:pPr>
            <a:r>
              <a:rPr sz="16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SAM 逐次逼近法</a:t>
            </a:r>
          </a:p>
          <a:p>
            <a:pPr algn="ctr">
              <a:lnSpc>
                <a:spcPts val="1888"/>
              </a:lnSpc>
              <a:buNone/>
            </a:pPr>
            <a:r>
              <a:rPr sz="16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Guo等 · 2023</a:t>
            </a:r>
          </a:p>
        </p:txBody>
      </p:sp>
      <p:sp>
        <p:nvSpPr>
          <p:cNvPr id="20" name="fig1-sam24">
            <a:extLst>
              <a:ext uri="{FF2B5EF4-FFF2-40B4-BE49-F238E27FC236}">
                <a16:creationId xmlns:a16="http://schemas.microsoft.com/office/drawing/2014/main" id="{6BDEA08A-AC64-B334-F1A0-C09DDFD52B98}"/>
              </a:ext>
            </a:extLst>
          </p:cNvPr>
          <p:cNvSpPr>
            <a:spLocks noGrp="1"/>
          </p:cNvSpPr>
          <p:nvPr/>
        </p:nvSpPr>
        <p:spPr>
          <a:xfrm>
            <a:off x="7861300" y="3098800"/>
            <a:ext cx="3683000" cy="711200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888"/>
              </a:lnSpc>
              <a:buNone/>
            </a:pPr>
            <a:r>
              <a:rPr sz="16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PM 逐次逼近构造</a:t>
            </a:r>
          </a:p>
          <a:p>
            <a:pPr algn="ctr">
              <a:lnSpc>
                <a:spcPts val="1888"/>
              </a:lnSpc>
              <a:buNone/>
            </a:pPr>
            <a:r>
              <a:rPr sz="16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Guo等 · 2024</a:t>
            </a:r>
          </a:p>
        </p:txBody>
      </p:sp>
      <p:sp>
        <p:nvSpPr>
          <p:cNvPr id="21" name="fig1-nonregular">
            <a:extLst>
              <a:ext uri="{FF2B5EF4-FFF2-40B4-BE49-F238E27FC236}">
                <a16:creationId xmlns:a16="http://schemas.microsoft.com/office/drawing/2014/main" id="{560B9E70-1AC3-C43F-A90D-F5B4328F693A}"/>
              </a:ext>
            </a:extLst>
          </p:cNvPr>
          <p:cNvSpPr>
            <a:spLocks noGrp="1"/>
          </p:cNvSpPr>
          <p:nvPr/>
        </p:nvSpPr>
        <p:spPr>
          <a:xfrm>
            <a:off x="622300" y="4102100"/>
            <a:ext cx="3302000" cy="66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63758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888"/>
              </a:lnSpc>
              <a:buNone/>
            </a:pPr>
            <a:r>
              <a:rPr sz="16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未知位置导致非正规似然</a:t>
            </a:r>
          </a:p>
        </p:txBody>
      </p:sp>
      <p:sp>
        <p:nvSpPr>
          <p:cNvPr id="22" name="fig1-naga">
            <a:extLst>
              <a:ext uri="{FF2B5EF4-FFF2-40B4-BE49-F238E27FC236}">
                <a16:creationId xmlns:a16="http://schemas.microsoft.com/office/drawing/2014/main" id="{7E8E9B17-1FC5-F3DB-FBAE-F24B11FEC65F}"/>
              </a:ext>
            </a:extLst>
          </p:cNvPr>
          <p:cNvSpPr>
            <a:spLocks noGrp="1"/>
          </p:cNvSpPr>
          <p:nvPr/>
        </p:nvSpPr>
        <p:spPr>
          <a:xfrm>
            <a:off x="7861300" y="4102100"/>
            <a:ext cx="3683000" cy="660400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888"/>
              </a:lnSpc>
              <a:buNone/>
            </a:pPr>
            <a:r>
              <a:rPr sz="16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LSPF 变换统计量似然估计</a:t>
            </a:r>
          </a:p>
          <a:p>
            <a:pPr algn="ctr">
              <a:lnSpc>
                <a:spcPts val="1888"/>
              </a:lnSpc>
              <a:buNone/>
            </a:pPr>
            <a:r>
              <a:rPr sz="16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Nagatsuka等 · 2013</a:t>
            </a:r>
          </a:p>
        </p:txBody>
      </p:sp>
      <p:sp>
        <p:nvSpPr>
          <p:cNvPr id="23" name="fig1-training">
            <a:extLst>
              <a:ext uri="{FF2B5EF4-FFF2-40B4-BE49-F238E27FC236}">
                <a16:creationId xmlns:a16="http://schemas.microsoft.com/office/drawing/2014/main" id="{EBA49D2F-16EA-1703-B109-F4D4D139E299}"/>
              </a:ext>
            </a:extLst>
          </p:cNvPr>
          <p:cNvSpPr>
            <a:spLocks noGrp="1"/>
          </p:cNvSpPr>
          <p:nvPr/>
        </p:nvSpPr>
        <p:spPr>
          <a:xfrm>
            <a:off x="622300" y="5029200"/>
            <a:ext cx="3302000" cy="66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63758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888"/>
              </a:lnSpc>
              <a:buNone/>
            </a:pPr>
            <a:r>
              <a:rPr sz="16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模拟样本特征＋参数标签</a:t>
            </a:r>
          </a:p>
        </p:txBody>
      </p:sp>
      <p:sp>
        <p:nvSpPr>
          <p:cNvPr id="24" name="fig1-bpnn">
            <a:extLst>
              <a:ext uri="{FF2B5EF4-FFF2-40B4-BE49-F238E27FC236}">
                <a16:creationId xmlns:a16="http://schemas.microsoft.com/office/drawing/2014/main" id="{0B37021B-D1A8-75B7-B97F-ACE95A3AA458}"/>
              </a:ext>
            </a:extLst>
          </p:cNvPr>
          <p:cNvSpPr>
            <a:spLocks noGrp="1"/>
          </p:cNvSpPr>
          <p:nvPr/>
        </p:nvSpPr>
        <p:spPr>
          <a:xfrm>
            <a:off x="7861300" y="5029200"/>
            <a:ext cx="3683000" cy="660400"/>
          </a:xfrm>
          <a:prstGeom prst="roundRect">
            <a:avLst>
              <a:gd name="adj" fmla="val 7000"/>
            </a:avLst>
          </a:prstGeom>
          <a:solidFill>
            <a:srgbClr val="E5F1E3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888"/>
              </a:lnSpc>
              <a:buNone/>
            </a:pPr>
            <a:r>
              <a:rPr sz="16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BPNN 神经网络参数估计</a:t>
            </a:r>
          </a:p>
          <a:p>
            <a:pPr algn="ctr">
              <a:lnSpc>
                <a:spcPts val="1888"/>
              </a:lnSpc>
              <a:buNone/>
            </a:pPr>
            <a:r>
              <a:rPr sz="16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Yang等 · 2025</a:t>
            </a:r>
          </a:p>
        </p:txBody>
      </p:sp>
      <p:sp>
        <p:nvSpPr>
          <p:cNvPr id="25" name="fig1-text_edge12">
            <a:extLst>
              <a:ext uri="{FF2B5EF4-FFF2-40B4-BE49-F238E27FC236}">
                <a16:creationId xmlns:a16="http://schemas.microsoft.com/office/drawing/2014/main" id="{A39D4504-6D3C-4F45-604D-8FA9DCA9E3AE}"/>
              </a:ext>
            </a:extLst>
          </p:cNvPr>
          <p:cNvSpPr>
            <a:spLocks noGrp="1"/>
          </p:cNvSpPr>
          <p:nvPr/>
        </p:nvSpPr>
        <p:spPr>
          <a:xfrm>
            <a:off x="4508500" y="1968500"/>
            <a:ext cx="3136900" cy="5207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极小样本位置估计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期望修正与回归更新</a:t>
            </a:r>
          </a:p>
        </p:txBody>
      </p:sp>
      <p:sp>
        <p:nvSpPr>
          <p:cNvPr id="26" name="fig1-text_edge13">
            <a:extLst>
              <a:ext uri="{FF2B5EF4-FFF2-40B4-BE49-F238E27FC236}">
                <a16:creationId xmlns:a16="http://schemas.microsoft.com/office/drawing/2014/main" id="{9D252892-336F-E75F-64E6-39939F60DFA7}"/>
              </a:ext>
            </a:extLst>
          </p:cNvPr>
          <p:cNvSpPr>
            <a:spLocks noGrp="1"/>
          </p:cNvSpPr>
          <p:nvPr/>
        </p:nvSpPr>
        <p:spPr>
          <a:xfrm>
            <a:off x="4508500" y="2908300"/>
            <a:ext cx="3136900" cy="5207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位置与区间推断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分位数修正与似然更新</a:t>
            </a:r>
          </a:p>
        </p:txBody>
      </p:sp>
      <p:sp>
        <p:nvSpPr>
          <p:cNvPr id="27" name="fig1-text_edge14">
            <a:extLst>
              <a:ext uri="{FF2B5EF4-FFF2-40B4-BE49-F238E27FC236}">
                <a16:creationId xmlns:a16="http://schemas.microsoft.com/office/drawing/2014/main" id="{0413E637-A378-6B9B-23CC-3A26256D0E1E}"/>
              </a:ext>
            </a:extLst>
          </p:cNvPr>
          <p:cNvSpPr>
            <a:spLocks noGrp="1"/>
          </p:cNvSpPr>
          <p:nvPr/>
        </p:nvSpPr>
        <p:spPr>
          <a:xfrm>
            <a:off x="4508500" y="3886200"/>
            <a:ext cx="3136900" cy="5207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处理存在性与唯一性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变换后估计形状</a:t>
            </a:r>
          </a:p>
        </p:txBody>
      </p:sp>
      <p:sp>
        <p:nvSpPr>
          <p:cNvPr id="28" name="fig1-text_edge15">
            <a:extLst>
              <a:ext uri="{FF2B5EF4-FFF2-40B4-BE49-F238E27FC236}">
                <a16:creationId xmlns:a16="http://schemas.microsoft.com/office/drawing/2014/main" id="{BCDBD5C7-EF55-AAAB-F0B7-7791DE34D102}"/>
              </a:ext>
            </a:extLst>
          </p:cNvPr>
          <p:cNvSpPr>
            <a:spLocks noGrp="1"/>
          </p:cNvSpPr>
          <p:nvPr/>
        </p:nvSpPr>
        <p:spPr>
          <a:xfrm>
            <a:off x="4508500" y="4813300"/>
            <a:ext cx="3136900" cy="5207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小样本估计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学习特征到参数映射</a:t>
            </a:r>
          </a:p>
        </p:txBody>
      </p:sp>
      <p:sp>
        <p:nvSpPr>
          <p:cNvPr id="29" name="panel-description">
            <a:extLst>
              <a:ext uri="{FF2B5EF4-FFF2-40B4-BE49-F238E27FC236}">
                <a16:creationId xmlns:a16="http://schemas.microsoft.com/office/drawing/2014/main" id="{638B9803-B925-A14B-CFEE-AC8D91CE32BB}"/>
              </a:ext>
            </a:extLst>
          </p:cNvPr>
          <p:cNvSpPr>
            <a:spLocks noGrp="1"/>
          </p:cNvSpPr>
          <p:nvPr/>
        </p:nvSpPr>
        <p:spPr>
          <a:xfrm>
            <a:off x="622300" y="5880100"/>
            <a:ext cx="10922000" cy="609600"/>
          </a:xfrm>
          <a:prstGeom prst="rect">
            <a:avLst/>
          </a:prstGeom>
          <a:noFill/>
        </p:spPr>
        <p:txBody>
          <a:bodyPr vert="horz" wrap="square" lIns="38100" tIns="0" rIns="38100" bIns="0" anchor="t">
            <a:noAutofit/>
          </a:bodyPr>
          <a:lstStyle/>
          <a:p>
            <a:pPr>
              <a:lnSpc>
                <a:spcPts val="1652"/>
              </a:lnSpc>
              <a:buNone/>
            </a:pPr>
            <a:r>
              <a:rPr sz="14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SAM用最小值期望结合回归，PM用最小值中位数结合条件似然，未确认直接升级关系。</a:t>
            </a:r>
          </a:p>
          <a:p>
            <a:pPr>
              <a:lnSpc>
                <a:spcPts val="1652"/>
              </a:lnSpc>
              <a:buNone/>
            </a:pPr>
            <a:r>
              <a:rPr sz="14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LSPF通过变换统计量构造似然；BPNN直接学习样本特征到参数的映射。</a:t>
            </a:r>
          </a:p>
        </p:txBody>
      </p:sp>
      <p:sp>
        <p:nvSpPr>
          <p:cNvPr id="30" name="panel-citations">
            <a:extLst>
              <a:ext uri="{FF2B5EF4-FFF2-40B4-BE49-F238E27FC236}">
                <a16:creationId xmlns:a16="http://schemas.microsoft.com/office/drawing/2014/main" id="{FFF163E1-9DEA-A44C-8F7B-54741DC29B7F}"/>
              </a:ext>
            </a:extLst>
          </p:cNvPr>
          <p:cNvSpPr>
            <a:spLocks noGrp="1"/>
          </p:cNvSpPr>
          <p:nvPr/>
        </p:nvSpPr>
        <p:spPr>
          <a:xfrm>
            <a:off x="622300" y="6350000"/>
            <a:ext cx="10922000" cy="177800"/>
          </a:xfrm>
          <a:prstGeom prst="rect">
            <a:avLst/>
          </a:prstGeom>
          <a:noFill/>
        </p:spPr>
        <p:txBody>
          <a:bodyPr vert="horz" wrap="square" lIns="38100" tIns="0" rIns="38100" bIns="0" anchor="t">
            <a:noAutofit/>
          </a:bodyPr>
          <a:lstStyle/>
          <a:p>
            <a:pPr>
              <a:lnSpc>
                <a:spcPts val="1180"/>
              </a:lnSpc>
              <a:buNone/>
            </a:pPr>
            <a:r>
              <a:rPr sz="1000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SAM [185-005]；PM [182-117]；LSPF [182-113]；BPNN [184-009]。BPNN是近期实例，不是该路线起点。</a:t>
            </a:r>
          </a:p>
        </p:txBody>
      </p:sp>
      <p:sp>
        <p:nvSpPr>
          <p:cNvPr id="31" name="fig1-edge12-1">
            <a:extLst>
              <a:ext uri="{FF2B5EF4-FFF2-40B4-BE49-F238E27FC236}">
                <a16:creationId xmlns:a16="http://schemas.microsoft.com/office/drawing/2014/main" id="{452576A1-345E-4E2D-8C01-0CE15F07CCAE}"/>
              </a:ext>
            </a:extLst>
          </p:cNvPr>
          <p:cNvSpPr>
            <a:spLocks noGrp="1"/>
          </p:cNvSpPr>
          <p:nvPr/>
        </p:nvSpPr>
        <p:spPr>
          <a:xfrm>
            <a:off x="3924300" y="2806700"/>
            <a:ext cx="330200" cy="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2" name="fig1-edge12-2">
            <a:extLst>
              <a:ext uri="{FF2B5EF4-FFF2-40B4-BE49-F238E27FC236}">
                <a16:creationId xmlns:a16="http://schemas.microsoft.com/office/drawing/2014/main" id="{5407042D-DCF5-41D8-85E2-32F15755A26D}"/>
              </a:ext>
            </a:extLst>
          </p:cNvPr>
          <p:cNvSpPr>
            <a:spLocks noGrp="1"/>
          </p:cNvSpPr>
          <p:nvPr/>
        </p:nvSpPr>
        <p:spPr>
          <a:xfrm flipV="1">
            <a:off x="4254500" y="2514600"/>
            <a:ext cx="0" cy="29210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3" name="fig1-edge12-3">
            <a:extLst>
              <a:ext uri="{FF2B5EF4-FFF2-40B4-BE49-F238E27FC236}">
                <a16:creationId xmlns:a16="http://schemas.microsoft.com/office/drawing/2014/main" id="{202363D9-6939-4A49-81ED-D671F964A62E}"/>
              </a:ext>
            </a:extLst>
          </p:cNvPr>
          <p:cNvSpPr>
            <a:spLocks noGrp="1"/>
          </p:cNvSpPr>
          <p:nvPr/>
        </p:nvSpPr>
        <p:spPr>
          <a:xfrm>
            <a:off x="4254500" y="2514600"/>
            <a:ext cx="36068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4" name="fig1-edge13-1">
            <a:extLst>
              <a:ext uri="{FF2B5EF4-FFF2-40B4-BE49-F238E27FC236}">
                <a16:creationId xmlns:a16="http://schemas.microsoft.com/office/drawing/2014/main" id="{9FEB2136-BE5B-4931-BE33-74D86A178EE8}"/>
              </a:ext>
            </a:extLst>
          </p:cNvPr>
          <p:cNvSpPr>
            <a:spLocks noGrp="1"/>
          </p:cNvSpPr>
          <p:nvPr/>
        </p:nvSpPr>
        <p:spPr>
          <a:xfrm>
            <a:off x="3924300" y="3225800"/>
            <a:ext cx="330200" cy="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5" name="fig1-edge13-2">
            <a:extLst>
              <a:ext uri="{FF2B5EF4-FFF2-40B4-BE49-F238E27FC236}">
                <a16:creationId xmlns:a16="http://schemas.microsoft.com/office/drawing/2014/main" id="{A6FB6B0D-245C-42CB-92BA-F03998FF8565}"/>
              </a:ext>
            </a:extLst>
          </p:cNvPr>
          <p:cNvSpPr>
            <a:spLocks noGrp="1"/>
          </p:cNvSpPr>
          <p:nvPr/>
        </p:nvSpPr>
        <p:spPr>
          <a:xfrm>
            <a:off x="4254500" y="3225800"/>
            <a:ext cx="0" cy="22860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6" name="fig1-edge13-3">
            <a:extLst>
              <a:ext uri="{FF2B5EF4-FFF2-40B4-BE49-F238E27FC236}">
                <a16:creationId xmlns:a16="http://schemas.microsoft.com/office/drawing/2014/main" id="{3617336A-479E-4FFF-9C7D-F0059EB16568}"/>
              </a:ext>
            </a:extLst>
          </p:cNvPr>
          <p:cNvSpPr>
            <a:spLocks noGrp="1"/>
          </p:cNvSpPr>
          <p:nvPr/>
        </p:nvSpPr>
        <p:spPr>
          <a:xfrm>
            <a:off x="4254500" y="3454400"/>
            <a:ext cx="36068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7" name="fig1-edge14-1">
            <a:extLst>
              <a:ext uri="{FF2B5EF4-FFF2-40B4-BE49-F238E27FC236}">
                <a16:creationId xmlns:a16="http://schemas.microsoft.com/office/drawing/2014/main" id="{3FD4FDEA-8789-4E2E-8F00-569D1C5AAE1E}"/>
              </a:ext>
            </a:extLst>
          </p:cNvPr>
          <p:cNvSpPr>
            <a:spLocks noGrp="1"/>
          </p:cNvSpPr>
          <p:nvPr/>
        </p:nvSpPr>
        <p:spPr>
          <a:xfrm>
            <a:off x="3924300" y="4432300"/>
            <a:ext cx="3937000" cy="0"/>
          </a:xfrm>
          <a:prstGeom prst="line">
            <a:avLst/>
          </a:prstGeom>
          <a:ln w="16510">
            <a:solidFill>
              <a:srgbClr val="52677A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8" name="fig1-edge15-1">
            <a:extLst>
              <a:ext uri="{FF2B5EF4-FFF2-40B4-BE49-F238E27FC236}">
                <a16:creationId xmlns:a16="http://schemas.microsoft.com/office/drawing/2014/main" id="{C97E0014-B02C-43E1-A9F4-FD229655B7D5}"/>
              </a:ext>
            </a:extLst>
          </p:cNvPr>
          <p:cNvSpPr>
            <a:spLocks noGrp="1"/>
          </p:cNvSpPr>
          <p:nvPr/>
        </p:nvSpPr>
        <p:spPr>
          <a:xfrm>
            <a:off x="3924300" y="5359400"/>
            <a:ext cx="39370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7705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12篇论文实际选择了哪些对照</a:t>
            </a:r>
            <a:endParaRPr sz="24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文献中的实际比较依据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40E1FE6-BAAC-4857-A4E3-72F5E6C98FA8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MLE出现7篇，相关回归LRE出现4篇；采用频次说明比较实践，不代表性能排名。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609600" y="2371725"/>
          <a:ext cx="10972800" cy="3352804"/>
        </p:xfrm>
        <a:graphic>
          <a:graphicData uri="http://schemas.openxmlformats.org/drawingml/2006/table">
            <a:tbl>
              <a:tblPr/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论文／提出方法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MLE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LRE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MM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WMLE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PWM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MMLE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LS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CMLE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LM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MMoE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修正估计 1982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ANN 2008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WMLE 2009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比较研究 2009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LSPF 2013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综合比较 2014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迭代LS 2023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 2023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PM 2024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DMMLE 2025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BPNN 2025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ADGBO 2026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采用篇数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2D5B26DC-17BF-4468-8071-682D5CC62838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对照展示12篇；指标统计13篇（另含MDM论文）。同一审核主子集，范围不同。</a:t>
            </a:r>
          </a:p>
        </p:txBody>
      </p:sp>
    </p:spTree>
    <p:extLst>
      <p:ext uri="{BB962C8B-B14F-4D97-AF65-F5344CB8AC3E}">
        <p14:creationId xmlns:p14="http://schemas.microsoft.com/office/powerpoint/2010/main" val="4139458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近期工作：估计构造、观测条件与求解过程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文献中的实际比较依据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0FE6FF3-C7E8-DD81-6816-CD36888990A5}"/>
              </a:ext>
            </a:extLst>
          </p:cNvPr>
          <p:cNvSpPr>
            <a:spLocks noGrp="1"/>
          </p:cNvSpPr>
          <p:nvPr/>
        </p:nvSpPr>
        <p:spPr>
          <a:xfrm>
            <a:off x="622300" y="1676400"/>
            <a:ext cx="10922000" cy="5588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340"/>
              </a:lnSpc>
              <a:buNone/>
            </a:pPr>
            <a:r>
              <a:rPr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近10—20年的新工作，并不都在同一任务下竞争。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504D4E2-A117-82A7-4055-45AEF192AE6E}"/>
              </a:ext>
            </a:extLst>
          </p:cNvPr>
          <p:cNvSpPr>
            <a:spLocks noGrp="1"/>
          </p:cNvSpPr>
          <p:nvPr/>
        </p:nvSpPr>
        <p:spPr>
          <a:xfrm>
            <a:off x="622300" y="5981700"/>
            <a:ext cx="10922000" cy="5080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  <a:defRPr sz="1725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近期创新同时涉及估计构造、观测条件和求解过程，比较时先看是否解决同一问题。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4E31587-3EF2-3708-8EA4-E4AE09E814B6}"/>
              </a:ext>
            </a:extLst>
          </p:cNvPr>
          <p:cNvSpPr>
            <a:spLocks noGrp="1"/>
          </p:cNvSpPr>
          <p:nvPr/>
        </p:nvSpPr>
        <p:spPr>
          <a:xfrm>
            <a:off x="622300" y="2476500"/>
            <a:ext cx="2082800" cy="4445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860"/>
              </a:lnSpc>
              <a:buNone/>
            </a:pPr>
            <a:r>
              <a:rPr sz="22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改估计构造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0762B04-7DF6-2EE4-F31F-3DFCBE1C83B5}"/>
              </a:ext>
            </a:extLst>
          </p:cNvPr>
          <p:cNvSpPr>
            <a:spLocks noGrp="1"/>
          </p:cNvSpPr>
          <p:nvPr/>
        </p:nvSpPr>
        <p:spPr>
          <a:xfrm>
            <a:off x="2933700" y="2476500"/>
            <a:ext cx="8559800" cy="3937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</a:pPr>
            <a:r>
              <a:rPr sz="17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有限样本、位置和偏差：WMLE、Park、SAM/PM、DMMLE。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996BDCF-4100-5E60-3EB4-9312AA225023}"/>
              </a:ext>
            </a:extLst>
          </p:cNvPr>
          <p:cNvSpPr>
            <a:spLocks noGrp="1"/>
          </p:cNvSpPr>
          <p:nvPr/>
        </p:nvSpPr>
        <p:spPr>
          <a:xfrm>
            <a:off x="2933700" y="2933700"/>
            <a:ext cx="8559800" cy="3810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</a:pPr>
            <a:r>
              <a:rPr sz="17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直接学习映射也属相关构造，要核训练范围与损失。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32AAE2C-08DC-94CE-0A17-746F62F0AB28}"/>
              </a:ext>
            </a:extLst>
          </p:cNvPr>
          <p:cNvSpPr>
            <a:spLocks noGrp="1"/>
          </p:cNvSpPr>
          <p:nvPr/>
        </p:nvSpPr>
        <p:spPr>
          <a:xfrm>
            <a:off x="622300" y="3594100"/>
            <a:ext cx="2082800" cy="4445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860"/>
              </a:lnSpc>
              <a:buNone/>
            </a:pPr>
            <a:r>
              <a:rPr sz="22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改观测条件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5668768-2A2A-4E3B-2B78-A189DDC6BFB7}"/>
              </a:ext>
            </a:extLst>
          </p:cNvPr>
          <p:cNvSpPr>
            <a:spLocks noGrp="1"/>
          </p:cNvSpPr>
          <p:nvPr/>
        </p:nvSpPr>
        <p:spPr>
          <a:xfrm>
            <a:off x="2933700" y="3594100"/>
            <a:ext cx="8559800" cy="3937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</a:pPr>
            <a:r>
              <a:rPr sz="17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污染、删失等：PITE [182-003]、删失研究 [182-114]。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829A61D-CFD6-9AA8-0B9F-514C376D83C6}"/>
              </a:ext>
            </a:extLst>
          </p:cNvPr>
          <p:cNvSpPr>
            <a:spLocks noGrp="1"/>
          </p:cNvSpPr>
          <p:nvPr/>
        </p:nvSpPr>
        <p:spPr>
          <a:xfrm>
            <a:off x="2933700" y="4051300"/>
            <a:ext cx="8559800" cy="3810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</a:pPr>
            <a:r>
              <a:rPr sz="17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与完整样本任务不同，特殊情境中的排名不能直接移用。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D95A7F3-14D6-A065-D07F-43881FCB45B0}"/>
              </a:ext>
            </a:extLst>
          </p:cNvPr>
          <p:cNvSpPr>
            <a:spLocks noGrp="1"/>
          </p:cNvSpPr>
          <p:nvPr/>
        </p:nvSpPr>
        <p:spPr>
          <a:xfrm>
            <a:off x="622300" y="4711700"/>
            <a:ext cx="2082800" cy="4445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860"/>
              </a:lnSpc>
              <a:buNone/>
            </a:pPr>
            <a:r>
              <a:rPr sz="22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改求解过程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A457CEA-8DC3-A10C-8854-46FCE3CC0C15}"/>
              </a:ext>
            </a:extLst>
          </p:cNvPr>
          <p:cNvSpPr>
            <a:spLocks noGrp="1"/>
          </p:cNvSpPr>
          <p:nvPr/>
        </p:nvSpPr>
        <p:spPr>
          <a:xfrm>
            <a:off x="2933700" y="4711700"/>
            <a:ext cx="8559800" cy="3937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</a:pPr>
            <a:r>
              <a:rPr sz="17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保留统计目标，改善搜索：ADGBO [187-001]、PSO等。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264FA82-2916-7541-E4BD-51CCAEE83CA4}"/>
              </a:ext>
            </a:extLst>
          </p:cNvPr>
          <p:cNvSpPr>
            <a:spLocks noGrp="1"/>
          </p:cNvSpPr>
          <p:nvPr/>
        </p:nvSpPr>
        <p:spPr>
          <a:xfrm>
            <a:off x="2933700" y="5168900"/>
            <a:ext cx="8559800" cy="3810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</a:pPr>
            <a:r>
              <a:rPr sz="17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先核目标与约束，再判断是否属于MLE。</a:t>
            </a:r>
          </a:p>
        </p:txBody>
      </p:sp>
    </p:spTree>
    <p:extLst>
      <p:ext uri="{BB962C8B-B14F-4D97-AF65-F5344CB8AC3E}">
        <p14:creationId xmlns:p14="http://schemas.microsoft.com/office/powerpoint/2010/main" val="1829369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近期候选提供的比较证据与边界</a:t>
            </a:r>
            <a:endParaRPr sz="26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文献中的实际比较依据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A270D80-DB91-41EC-A17C-1B65588111B7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比较证据必须同时给出样本条件、评价指标和结论范围。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609600" y="2419350"/>
          <a:ext cx="10972800" cy="3333750"/>
        </p:xfrm>
        <a:graphic>
          <a:graphicData uri="http://schemas.openxmlformats.org/drawingml/2006/table">
            <a:tbl>
              <a:tblPr/>
              <a:tblGrid>
                <a:gridCol w="252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工作与条件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已有比较证据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不能直接外推的结论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WMLE／LSPF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n=8—32／10—500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WMLE有小样本修正证据；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LSPF作者按n提出不同建议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WMLE版本有差异；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可解性不等于RMSE最优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SAM／PM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n=5—20／另有n=5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SAM极小样本平均MAD较好；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PM比较LSE、MLE、PWM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SAM未检验β&lt;1；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两版尚无直接性能比较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BPNN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n=5—20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对CCM、MDM比较参数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及1%分位点SD、RMSE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训练域有界；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原输入和配置仍有缺口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DMMLE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n=50—1000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相对偏差改善，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RMSE总体接近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尚不能据原实验判断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n=5—20的表现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B9C808BA-CF7E-4FFD-8217-A0E0BFE50A3B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这些结果来自各篇内部比较，不构成跨论文统一排名。</a:t>
            </a:r>
          </a:p>
        </p:txBody>
      </p:sp>
    </p:spTree>
    <p:extLst>
      <p:ext uri="{BB962C8B-B14F-4D97-AF65-F5344CB8AC3E}">
        <p14:creationId xmlns:p14="http://schemas.microsoft.com/office/powerpoint/2010/main" val="3369819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对照选择原则：每个角色回答一个问题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文献中的实际比较依据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EB11EBC-B8DC-4358-8D0A-B31C760B6F51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在当前已核文献范围内，尚未确认通用固定组合；可按比较作用选择对手。</a:t>
            </a:r>
            <a:endParaRPr sz="1875" b="0">
              <a:solidFill>
                <a:srgbClr val="2F6096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14" name="表格 13"/>
          <p:cNvGraphicFramePr/>
          <p:nvPr/>
        </p:nvGraphicFramePr>
        <p:xfrm>
          <a:off x="609600" y="2400300"/>
          <a:ext cx="10972800" cy="3333750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6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对手角色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为什么需要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共同经典基准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与历史结果建立联系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有竞争力的有限样本方法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防止只战胜较弱基线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同任务近期方法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回答新方法相对于当前研究的表现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直接母方法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识别新增步骤本身带来的收益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特殊场景方法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仅在数据条件与相应主张匹配时纳入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95077C12-D1FE-4186-958A-344A846FA61C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同一方法可以兼任多个角色；第六部分给出选择顺序与候选实例。</a:t>
            </a:r>
            <a:endParaRPr sz="1500" b="1">
              <a:solidFill>
                <a:srgbClr val="2F6096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931503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Monte Carlo：精度、波动与有效求解率</a:t>
            </a:r>
            <a:endParaRPr sz="24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Monte Carlo评价依据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196DBA2-C84C-4647-9587-4D83BC4F7B5A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各方法处理同一批生成样本，分别报告β、η、γ，按样本量与参数条件展示。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609600" y="2419350"/>
          <a:ext cx="10972800" cy="3009902"/>
        </p:xfrm>
        <a:graphic>
          <a:graphicData uri="http://schemas.openxmlformats.org/drawingml/2006/table">
            <a:tbl>
              <a:tblPr/>
              <a:tblGrid>
                <a:gridCol w="300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5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评价问题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主指标或记录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怎样解释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4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估得准不准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Bias、RMSE（或MSE）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系统偏差与总体误差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4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抽样稳不稳定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重复抽样造成的波动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4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能否有效求解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有效率／失败率及原因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给定版本与计算预算下的表现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4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优势出现在哪里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真参数、n、重复次数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保留条件差异，不只报总体平均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9B4BC099-B7C6-4834-B2C5-C1E09FE990E5}"/>
              </a:ext>
            </a:extLst>
          </p:cNvPr>
          <p:cNvSpPr>
            <a:spLocks noGrp="1"/>
          </p:cNvSpPr>
          <p:nvPr/>
        </p:nvSpPr>
        <p:spPr>
          <a:xfrm>
            <a:off x="609600" y="55816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建议以n=5—30为重点，补n=50或100；每条件1000次起，按模拟精度增加。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5B5AF19-5148-480E-8BED-7649AD89702C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已核13篇：逐参数RMSE 7篇、SD 5篇、Bias 4篇；频次不是指标选择的唯一依据。</a:t>
            </a:r>
          </a:p>
        </p:txBody>
      </p:sp>
    </p:spTree>
    <p:extLst>
      <p:ext uri="{BB962C8B-B14F-4D97-AF65-F5344CB8AC3E}">
        <p14:creationId xmlns:p14="http://schemas.microsoft.com/office/powerpoint/2010/main" val="4133368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失败处理：精度必须连同有效率一起报告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Monte Carlo评价依据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C43A4D2-266F-4B41-031B-07FBAA0792B4}"/>
              </a:ext>
            </a:extLst>
          </p:cNvPr>
          <p:cNvSpPr>
            <a:spLocks noGrp="1"/>
          </p:cNvSpPr>
          <p:nvPr/>
        </p:nvSpPr>
        <p:spPr>
          <a:xfrm>
            <a:off x="622300" y="1676400"/>
            <a:ext cx="10922000" cy="5588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340"/>
              </a:lnSpc>
              <a:buNone/>
              <a:defRPr sz="18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无有限最大值、数值未收敛与越界输出分开记录；不把程序失败等同于理论无解。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7C56FF3-588F-AD51-73D3-B8671BC60424}"/>
              </a:ext>
            </a:extLst>
          </p:cNvPr>
          <p:cNvSpPr>
            <a:spLocks noGrp="1"/>
          </p:cNvSpPr>
          <p:nvPr/>
        </p:nvSpPr>
        <p:spPr>
          <a:xfrm>
            <a:off x="622300" y="5981700"/>
            <a:ext cx="10922000" cy="5080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  <a:defRPr sz="1575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误差按有效估计计算并标明数量；共同成功样本比较仍是条件结果，不能替代失败统计。</a:t>
            </a:r>
          </a:p>
        </p:txBody>
      </p:sp>
      <p:graphicFrame>
        <p:nvGraphicFramePr>
          <p:cNvPr id="15" name="表格 7"/>
          <p:cNvGraphicFramePr/>
          <p:nvPr/>
        </p:nvGraphicFramePr>
        <p:xfrm>
          <a:off x="622300" y="2413000"/>
          <a:ext cx="10922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原文处理实例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解释风险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本研究应怎样报告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仅比较收敛样本 [182-096]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成为筛样后的条件精度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给全部次数、有效数与失败原因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限制参数并报未得到估计数 [182-091]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约束与计算预算影响成功率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预先声明参数域、预算与接受规则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失败用零作图标记 [182-030]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零并非有效参数估计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不得把标记值代入RMSE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剔除极端输出 [182-101]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有效极端值也会改变尾部风险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披露筛选规则与统计分母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2791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真实数据：实际可用性、拟合与寿命量</a:t>
            </a:r>
            <a:endParaRPr sz="24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真实数据的作用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9994507-8E5F-46F1-B013-23E8B80D3186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通常没有参数真值；真实数据支持应用解释，不能直接证明参数估计更准确。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609600" y="2571750"/>
          <a:ext cx="10972800" cy="2686050"/>
        </p:xfrm>
        <a:graphic>
          <a:graphicData uri="http://schemas.openxmlformats.org/drawingml/2006/table">
            <a:tbl>
              <a:tblPr/>
              <a:tblGrid>
                <a:gridCol w="329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来源与真实样本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实际评价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支持的结论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BPNN：15点疲劳寿命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与CCM、MDM比较K-S、CDF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这组数据的应用与拟合表现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LSPF：10点、4点寿命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参数、变换似然及不收敛记录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困难样本上的可计算性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SAM：10点、4点寿命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K-S、CDF、MTTF与可靠寿命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应用差异；部分为历史参照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C38687B6-A49A-4AD6-8E6C-1AD8B0EDD8BA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可以比较多个方法，也可以只展示新方法应用；案例选择应服务于要说明的问题。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E48248-BEE3-46AD-B1F5-CD59D619E7F6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只有涉及稳定性、预测或区间主张时，再增加相应验证。</a:t>
            </a:r>
          </a:p>
        </p:txBody>
      </p:sp>
    </p:spTree>
    <p:extLst>
      <p:ext uri="{BB962C8B-B14F-4D97-AF65-F5344CB8AC3E}">
        <p14:creationId xmlns:p14="http://schemas.microsoft.com/office/powerpoint/2010/main" val="764279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Benchmark</a:t>
            </a:r>
            <a:r>
              <a:rPr lang="zh-CN" alt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应怎样选择</a:t>
            </a:r>
            <a:endParaRPr sz="255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综合建议：如何选择对照并评价新方法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DCD40E-FDDC-4FFC-B50A-DB2EF1DE384A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依次核查共同参照、同任务强对手、近期竞争者和直接母方法。</a:t>
            </a:r>
            <a:endParaRPr sz="1875" b="0">
              <a:solidFill>
                <a:srgbClr val="2F6096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14" name="表格 13"/>
          <p:cNvGraphicFramePr/>
          <p:nvPr>
            <p:extLst>
              <p:ext uri="{D42A27DB-BD31-4B8C-83A1-F6EECF244321}">
                <p14:modId xmlns:p14="http://schemas.microsoft.com/office/powerpoint/2010/main" val="1872700200"/>
              </p:ext>
            </p:extLst>
          </p:nvPr>
        </p:nvGraphicFramePr>
        <p:xfrm>
          <a:off x="609600" y="2457450"/>
          <a:ext cx="10972800" cy="3162302"/>
        </p:xfrm>
        <a:graphic>
          <a:graphicData uri="http://schemas.openxmlformats.org/drawingml/2006/table">
            <a:tbl>
              <a:tblPr/>
              <a:tblGrid>
                <a:gridCol w="425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2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lang="zh-CN" altLang="en-US"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选择顺序</a:t>
                      </a:r>
                      <a:endParaRPr sz="1725" b="1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核查重点</a:t>
                      </a:r>
                      <a:endParaRPr sz="1725" b="1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比较作用</a:t>
                      </a:r>
                      <a:endParaRPr sz="1725" b="1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1513">
                <a:tc>
                  <a:txBody>
                    <a:bodyPr/>
                    <a:lstStyle/>
                    <a:p>
                      <a:r>
                        <a:rPr lang="en-US" altLang="zh-CN"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</a:t>
                      </a:r>
                      <a:r>
                        <a:rPr lang="zh-CN" altLang="en-US"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共同参照</a:t>
                      </a:r>
                      <a:endParaRPr sz="1725" b="0">
                        <a:solidFill>
                          <a:srgbClr val="18253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定义明确、可以复现</a:t>
                      </a:r>
                      <a:endParaRPr sz="1725" b="0">
                        <a:solidFill>
                          <a:srgbClr val="18253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与既有研究建立联系</a:t>
                      </a:r>
                      <a:endParaRPr sz="1725" b="0">
                        <a:solidFill>
                          <a:srgbClr val="18253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1513">
                <a:tc>
                  <a:txBody>
                    <a:bodyPr/>
                    <a:lstStyle/>
                    <a:p>
                      <a:r>
                        <a:rPr lang="en-US" altLang="zh-CN"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</a:t>
                      </a:r>
                      <a:r>
                        <a:rPr lang="zh-CN" altLang="en-US"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同任务强对手</a:t>
                      </a:r>
                      <a:endParaRPr sz="1725" b="0">
                        <a:solidFill>
                          <a:srgbClr val="18253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目标样本量与参数域的证据</a:t>
                      </a:r>
                      <a:endParaRPr sz="1725" b="0">
                        <a:solidFill>
                          <a:srgbClr val="18253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避免只与较弱基线比较</a:t>
                      </a:r>
                      <a:endParaRPr sz="1725" b="0">
                        <a:solidFill>
                          <a:srgbClr val="18253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1513">
                <a:tc>
                  <a:txBody>
                    <a:bodyPr/>
                    <a:lstStyle/>
                    <a:p>
                      <a:r>
                        <a:rPr lang="en-US" altLang="zh-CN"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</a:t>
                      </a:r>
                      <a:r>
                        <a:rPr lang="zh-CN" altLang="en-US"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近期竞争者</a:t>
                      </a:r>
                      <a:endParaRPr sz="1725" b="0">
                        <a:solidFill>
                          <a:srgbClr val="18253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数据条件、目标是否一致</a:t>
                      </a:r>
                      <a:endParaRPr sz="1725" b="0">
                        <a:solidFill>
                          <a:srgbClr val="18253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回应当前同任务研究</a:t>
                      </a:r>
                      <a:endParaRPr sz="1725" b="0">
                        <a:solidFill>
                          <a:srgbClr val="18253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1513">
                <a:tc>
                  <a:txBody>
                    <a:bodyPr/>
                    <a:lstStyle/>
                    <a:p>
                      <a:r>
                        <a:rPr lang="en-US" altLang="zh-CN"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</a:t>
                      </a:r>
                      <a:r>
                        <a:rPr lang="zh-CN" altLang="en-US"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直接母方法（若适用）</a:t>
                      </a:r>
                      <a:endParaRPr sz="1725" b="0">
                        <a:solidFill>
                          <a:srgbClr val="18253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被改进或组合的具体版本</a:t>
                      </a:r>
                      <a:endParaRPr sz="1725" b="0">
                        <a:solidFill>
                          <a:srgbClr val="18253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识别新增步骤的收益</a:t>
                      </a:r>
                      <a:endParaRPr sz="1725" b="0">
                        <a:solidFill>
                          <a:srgbClr val="18253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C4C72E68-732B-4190-A389-3857F87D2F23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最终入选取决于任务匹配、比较作用与可复现性；同一方法可兼任多个角色。</a:t>
            </a:r>
            <a:endParaRPr sz="1500" b="1">
              <a:solidFill>
                <a:srgbClr val="2F6096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3069008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zh-CN" alt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根据研究主张确定具体对照</a:t>
            </a:r>
            <a:endParaRPr sz="26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综合建议：如何选择对照并评价新方法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3100E04-C5FA-4167-BE13-1C739F22BA81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下列方法是待核查的候选实例，具体选择由新方法要证明什么决定。</a:t>
            </a:r>
            <a:endParaRPr sz="1875" b="0">
              <a:solidFill>
                <a:srgbClr val="2F609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01F5804-D50B-4947-9783-6BA44BBB3916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候选无需全部纳入；先核查具体版本、适用域与复现完整程度，再确定最终对照。</a:t>
            </a:r>
            <a:endParaRPr sz="1500" b="1">
              <a:solidFill>
                <a:srgbClr val="2F6096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7" name="按研究主张选择对照">
            <a:extLst>
              <a:ext uri="{FF2B5EF4-FFF2-40B4-BE49-F238E27FC236}">
                <a16:creationId xmlns:a16="http://schemas.microsoft.com/office/drawing/2014/main" id="{362AAF87-21AA-38EF-4884-6F967CC0D9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131972"/>
              </p:ext>
            </p:extLst>
          </p:nvPr>
        </p:nvGraphicFramePr>
        <p:xfrm>
          <a:off x="609600" y="2349500"/>
          <a:ext cx="109728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1903390400"/>
                    </a:ext>
                  </a:extLst>
                </a:gridCol>
                <a:gridCol w="4127500">
                  <a:extLst>
                    <a:ext uri="{9D8B030D-6E8A-4147-A177-3AD203B41FA5}">
                      <a16:colId xmlns:a16="http://schemas.microsoft.com/office/drawing/2014/main" val="3022949253"/>
                    </a:ext>
                  </a:extLst>
                </a:gridCol>
                <a:gridCol w="4051300">
                  <a:extLst>
                    <a:ext uri="{9D8B030D-6E8A-4147-A177-3AD203B41FA5}">
                      <a16:colId xmlns:a16="http://schemas.microsoft.com/office/drawing/2014/main" val="1080147819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如果新方法主要声称</a:t>
                      </a:r>
                      <a:r>
                        <a:rPr lang="en-US" altLang="zh-CN" sz="14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……</a:t>
                      </a:r>
                      <a:endParaRPr lang="zh-CN" altLang="en-US" sz="145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优先核查的比较对象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比较作用／核查边界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065244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改善</a:t>
                      </a:r>
                      <a:r>
                        <a:rPr lang="en-US" altLang="zh-CN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LS</a:t>
                      </a: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／概率图估计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Soman–Misra</a:t>
                      </a: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Park</a:t>
                      </a:r>
                      <a:endParaRPr lang="zh-CN" altLang="en-US" sz="1450" b="0">
                        <a:solidFill>
                          <a:srgbClr val="182B3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与已有概率图构造比较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240437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改善位置参数估计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SAM</a:t>
                      </a: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PM</a:t>
                      </a: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等位置修正方法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比较解决同一困难的方法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79237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改善</a:t>
                      </a:r>
                      <a:r>
                        <a:rPr lang="en-US" altLang="zh-CN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MLE</a:t>
                      </a: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小样本偏差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WMLE</a:t>
                      </a: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DMMLE</a:t>
                      </a: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等似然修正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DMMLE</a:t>
                      </a: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原模拟从</a:t>
                      </a:r>
                      <a:r>
                        <a:rPr lang="en-US" altLang="zh-CN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n=50</a:t>
                      </a: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开始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608046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改善边界／可解性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MLE</a:t>
                      </a: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MPS</a:t>
                      </a: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LSPF</a:t>
                      </a: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等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同时评价精度与有效率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8654828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使用学习型估计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BPNN</a:t>
                      </a: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等＋统计方法参照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核清训练范围与原版配置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51998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改进已有方法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直接母方法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识别新增步骤的收益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1041497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强调极小样本性能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已有</a:t>
                      </a:r>
                      <a:r>
                        <a:rPr lang="en-US" altLang="zh-CN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n≈5—20</a:t>
                      </a: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证据的方法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逐项核对参数域与指标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396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128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zh-CN" alt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候选入选前：核查具体版本与实现边界</a:t>
            </a:r>
            <a:endParaRPr sz="255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综合建议：如何选择对照并评价新方法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2E4C33A-ADA3-4CFB-9460-46784DB72B2C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以下为版本核查实例；列为候选不等于完成复现，也不构成固定名单。</a:t>
            </a:r>
            <a:endParaRPr sz="1875" b="0">
              <a:solidFill>
                <a:srgbClr val="2F6096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14" name="表格 13"/>
          <p:cNvGraphicFramePr/>
          <p:nvPr/>
        </p:nvGraphicFramePr>
        <p:xfrm>
          <a:off x="609600" y="2400300"/>
          <a:ext cx="10972800" cy="3286126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3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2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需要固定的版本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当前需注意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MLE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局部／受限解，参数域与接受规则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不将无界全局目标当作一般收敛问题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WMLE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J权重、权重表及代入方式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Ng代入与其他更新版本分开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Park Proposed+Plot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原绘图概率、Plot恢复与非负位置域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Bernard分数是另一变体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 2023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形状未知分支、停止与边界重试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两个原文例已复现；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后期越域重试待澄清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191DC32C-238D-4E6F-BFD1-666B12AD13AE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原版与补救版分开命名；有效输出、回退流程和计算预算一起记录。</a:t>
            </a:r>
          </a:p>
        </p:txBody>
      </p:sp>
    </p:spTree>
    <p:extLst>
      <p:ext uri="{BB962C8B-B14F-4D97-AF65-F5344CB8AC3E}">
        <p14:creationId xmlns:p14="http://schemas.microsoft.com/office/powerpoint/2010/main" val="2237248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zh-CN" alt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本调研形成</a:t>
            </a:r>
            <a:r>
              <a:rPr lang="en-US" altLang="zh-CN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benchmark</a:t>
            </a:r>
            <a:r>
              <a:rPr lang="zh-CN" alt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选择与评价规则</a:t>
            </a:r>
            <a:endParaRPr sz="24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综合建议：如何选择对照并评价新方法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C605129-F54E-4AA0-88C7-37CB694799D0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当前已核文献尚未确认通用固定组合；对照由研究主张与目标条件决定。</a:t>
            </a:r>
            <a:endParaRPr sz="1875" b="0">
              <a:solidFill>
                <a:srgbClr val="2F609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F8F032A-1765-4F9D-86B3-3784D0C03E15}"/>
              </a:ext>
            </a:extLst>
          </p:cNvPr>
          <p:cNvSpPr>
            <a:spLocks noGrp="1"/>
          </p:cNvSpPr>
          <p:nvPr/>
        </p:nvSpPr>
        <p:spPr>
          <a:xfrm>
            <a:off x="609600" y="2457450"/>
            <a:ext cx="2952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25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rPr>
              <a:t>怎样选对照</a:t>
            </a:r>
            <a:endParaRPr sz="2025" b="1">
              <a:solidFill>
                <a:srgbClr val="BE5A1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3E60471-8E17-4730-97AC-B1AEA05DA493}"/>
              </a:ext>
            </a:extLst>
          </p:cNvPr>
          <p:cNvSpPr>
            <a:spLocks noGrp="1"/>
          </p:cNvSpPr>
          <p:nvPr/>
        </p:nvSpPr>
        <p:spPr>
          <a:xfrm>
            <a:off x="3648075" y="2428875"/>
            <a:ext cx="7858125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按比较作用核查候选，允许同一方法兼任多个角色；</a:t>
            </a:r>
          </a:p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结合样本条件、参数域、继承关系与可复现性确定。</a:t>
            </a:r>
            <a:endParaRPr sz="1800" b="0">
              <a:solidFill>
                <a:srgbClr val="18253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75D9C8A-2798-4E5E-AF0B-2D5EDCD5A54B}"/>
              </a:ext>
            </a:extLst>
          </p:cNvPr>
          <p:cNvSpPr>
            <a:spLocks noGrp="1"/>
          </p:cNvSpPr>
          <p:nvPr/>
        </p:nvSpPr>
        <p:spPr>
          <a:xfrm>
            <a:off x="609600" y="3305175"/>
            <a:ext cx="2952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rPr>
              <a:t>怎样比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958780B-E0E8-4EF7-83DF-4B66516B27C4}"/>
              </a:ext>
            </a:extLst>
          </p:cNvPr>
          <p:cNvSpPr>
            <a:spLocks noGrp="1"/>
          </p:cNvSpPr>
          <p:nvPr/>
        </p:nvSpPr>
        <p:spPr>
          <a:xfrm>
            <a:off x="3648075" y="3276600"/>
            <a:ext cx="7858125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共同Monte Carlo，逐参数Bias、RMSE、SD；</a:t>
            </a:r>
          </a:p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同时报告有效率、失败原因与成功样本数。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C8CE192-94AC-4072-A47B-D891E4C3A701}"/>
              </a:ext>
            </a:extLst>
          </p:cNvPr>
          <p:cNvSpPr>
            <a:spLocks noGrp="1"/>
          </p:cNvSpPr>
          <p:nvPr/>
        </p:nvSpPr>
        <p:spPr>
          <a:xfrm>
            <a:off x="609600" y="4152900"/>
            <a:ext cx="2952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rPr>
              <a:t>真实数据说明什么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26F538C-083F-4FBF-A6B6-4A69996A0F31}"/>
              </a:ext>
            </a:extLst>
          </p:cNvPr>
          <p:cNvSpPr>
            <a:spLocks noGrp="1"/>
          </p:cNvSpPr>
          <p:nvPr/>
        </p:nvSpPr>
        <p:spPr>
          <a:xfrm>
            <a:off x="3648075" y="4124325"/>
            <a:ext cx="7858125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展示可用性、拟合与寿命量；</a:t>
            </a:r>
          </a:p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不以同数据拟合较好代替参数精度证据。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F058099-3B78-4182-8B3D-D27FBA6305E2}"/>
              </a:ext>
            </a:extLst>
          </p:cNvPr>
          <p:cNvSpPr>
            <a:spLocks noGrp="1"/>
          </p:cNvSpPr>
          <p:nvPr/>
        </p:nvSpPr>
        <p:spPr>
          <a:xfrm>
            <a:off x="609600" y="5000625"/>
            <a:ext cx="2952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rPr>
              <a:t>最终怎样下结论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7D87CE4-D445-4DE8-8DC2-03DABE07CCF0}"/>
              </a:ext>
            </a:extLst>
          </p:cNvPr>
          <p:cNvSpPr>
            <a:spLocks noGrp="1"/>
          </p:cNvSpPr>
          <p:nvPr/>
        </p:nvSpPr>
        <p:spPr>
          <a:xfrm>
            <a:off x="3648075" y="4972050"/>
            <a:ext cx="7858125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明确相对哪些对手、在何种条件下改善哪些评价量；</a:t>
            </a:r>
          </a:p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同时说明波动、计算、失败与适用范围的代价。</a:t>
            </a:r>
            <a:endParaRPr sz="1800" b="0">
              <a:solidFill>
                <a:srgbClr val="18253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31EC082-8A54-4A24-B30E-55AA9087AD55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65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Monte Carlo</a:t>
            </a:r>
            <a:r>
              <a:rPr lang="zh-CN" altLang="en-US" sz="165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提供主要参数性能证据，真实数据补充应用证据，共同限定结论范围。</a:t>
            </a:r>
            <a:endParaRPr sz="1650" b="1">
              <a:solidFill>
                <a:srgbClr val="2F6096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940379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1044</TotalTime>
  <Words>2505</Words>
  <Application>Microsoft Office PowerPoint</Application>
  <DocSecurity>0</DocSecurity>
  <PresentationFormat>宽屏</PresentationFormat>
  <Paragraphs>442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18</vt:i4>
      </vt:variant>
    </vt:vector>
  </HeadingPairs>
  <TitlesOfParts>
    <vt:vector size="30" baseType="lpstr">
      <vt:lpstr>等线</vt:lpstr>
      <vt:lpstr>等线 Light</vt:lpstr>
      <vt:lpstr>汉仪粗宋简</vt:lpstr>
      <vt:lpstr>汉仪文润宋韵 U</vt:lpstr>
      <vt:lpstr>Microsoft YaHei</vt:lpstr>
      <vt:lpstr>Microsoft YaHei</vt:lpstr>
      <vt:lpstr>Arial</vt:lpstr>
      <vt:lpstr>Calibri</vt:lpstr>
      <vt:lpstr>Calibri Light</vt:lpstr>
      <vt:lpstr>Office 主题​​</vt:lpstr>
      <vt:lpstr>2_自定义设计方案</vt:lpstr>
      <vt:lpstr>3_自定义设计方案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H60655@365mak.com</cp:lastModifiedBy>
  <cp:revision>36</cp:revision>
  <dcterms:created xsi:type="dcterms:W3CDTF">2026-09-06T04:22:26Z</dcterms:created>
  <dcterms:modified xsi:type="dcterms:W3CDTF">2026-09-28T08:31:34Z</dcterms:modified>
</cp:coreProperties>
</file>