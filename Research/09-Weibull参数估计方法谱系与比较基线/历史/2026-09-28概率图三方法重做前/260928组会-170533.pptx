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1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3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老师，我今天汇报的是完整样本、尤其是小样本条件下，三参数</a:t>
            </a:r>
            <a:r>
              <a:rPr lang="en-US" altLang="zh-CN" sz="1800"/>
              <a:t>Weibull</a:t>
            </a:r>
            <a:r>
              <a:rPr lang="zh-CN" altLang="en-US" sz="1800"/>
              <a:t>参数估计方法应该怎样评价。这里既包括提出一个新方法以后怎样证明它有效，也包括怎样评价已有方法。下面先说明研究问题，再介绍主要估计思路，接着看文献实际怎样选对照、做模拟和分析真实数据。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老师，我想先明确一个问题：对于完整样本、小样本条件下的三参数</a:t>
            </a:r>
            <a:r>
              <a:rPr lang="en-US" altLang="zh-CN"/>
              <a:t>Weibull</a:t>
            </a:r>
            <a:r>
              <a:rPr lang="zh-CN" altLang="en-US"/>
              <a:t>分布，无论是新提出的方法还是已有方法，怎样评价它的有效性？这里的有效性，就是在目标样本条件下，相对于合理的比较对象，有良好的参数估计精度、估计稳定性和有效求解能力。真实数据再补充说明实际可用性。沿着这张图，可以分成两方面：一方面先确定对比方法和衡量标准，再用</a:t>
            </a:r>
            <a:r>
              <a:rPr lang="en-US" altLang="zh-CN"/>
              <a:t>Monte Carlo</a:t>
            </a:r>
            <a:r>
              <a:rPr lang="zh-CN" altLang="en-US"/>
              <a:t>在设定的参数空间反复抽样，看估计得准不准、稳不稳、能不能得到有效结果；另一方面用真实数据看能否实际使用、拟合怎样。最后综合这两方面来判断。</a:t>
            </a:r>
            <a:endParaRPr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先看目前有哪些估计思路。为了讲清楚，我把它们概括成四组。</a:t>
            </a:r>
            <a:r>
              <a:rPr lang="en-US" altLang="zh-CN" sz="1800"/>
              <a:t>A</a:t>
            </a:r>
            <a:r>
              <a:rPr lang="zh-CN" altLang="en-US" sz="1800"/>
              <a:t>类从似然出发，选择最能解释观测样本的参数；</a:t>
            </a:r>
            <a:r>
              <a:rPr lang="en-US" altLang="zh-CN" sz="1800"/>
              <a:t>B</a:t>
            </a:r>
            <a:r>
              <a:rPr lang="zh-CN" altLang="en-US" sz="1800"/>
              <a:t>类把</a:t>
            </a:r>
            <a:r>
              <a:rPr lang="en-US" altLang="zh-CN" sz="1800"/>
              <a:t>Weibull</a:t>
            </a:r>
            <a:r>
              <a:rPr lang="zh-CN" altLang="en-US" sz="1800"/>
              <a:t>分布变成直线关系，再用概率图和回归求参数；</a:t>
            </a:r>
            <a:r>
              <a:rPr lang="en-US" altLang="zh-CN" sz="1800"/>
              <a:t>C</a:t>
            </a:r>
            <a:r>
              <a:rPr lang="zh-CN" altLang="en-US" sz="1800"/>
              <a:t>类利用矩、概率间距或者专门构造的差异量来确定参数；</a:t>
            </a:r>
            <a:r>
              <a:rPr lang="en-US" altLang="zh-CN" sz="1800"/>
              <a:t>D</a:t>
            </a:r>
            <a:r>
              <a:rPr lang="zh-CN" altLang="en-US" sz="1800"/>
              <a:t>类把不同统计关系组合起来，或者用神经网络直接学习样本到参数的映射。下面重点讲每一类依据什么来估计，以及后来主要解决了什么问题。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似然路线的起点是极大似然估计，也就是把各观测值在给定参数下的密度相乘，寻找使似然较大的参数。对于三参数</a:t>
            </a:r>
            <a:r>
              <a:rPr lang="en-US" altLang="zh-CN" sz="1800"/>
              <a:t>Weibull</a:t>
            </a:r>
            <a:r>
              <a:rPr lang="zh-CN" altLang="en-US" sz="1800"/>
              <a:t>，位置参数也未知，小样本偏差和边界附近的求解问题就比较突出。沿着这些问题，一支是</a:t>
            </a:r>
            <a:r>
              <a:rPr lang="en-US" altLang="zh-CN" sz="1800"/>
              <a:t>WMLE</a:t>
            </a:r>
            <a:r>
              <a:rPr lang="zh-CN" altLang="en-US" sz="1800"/>
              <a:t>，通过有限样本权重修正估计方程；另一支是修改似然，再加入得分偏差修正，形成</a:t>
            </a:r>
            <a:r>
              <a:rPr lang="en-US" altLang="zh-CN" sz="1800"/>
              <a:t>DMMLE</a:t>
            </a:r>
            <a:r>
              <a:rPr lang="zh-CN" altLang="en-US" sz="1800"/>
              <a:t>。除此之外，还有大量研究把</a:t>
            </a:r>
            <a:r>
              <a:rPr lang="en-US" altLang="zh-CN" sz="1800"/>
              <a:t>Newton</a:t>
            </a:r>
            <a:r>
              <a:rPr lang="zh-CN" altLang="en-US" sz="1800"/>
              <a:t>等传统求解方式换成粒子群、差分进化或者这里的</a:t>
            </a:r>
            <a:r>
              <a:rPr lang="en-US" altLang="zh-CN" sz="1800"/>
              <a:t>ADGBO</a:t>
            </a:r>
            <a:r>
              <a:rPr lang="zh-CN" altLang="en-US" sz="1800"/>
              <a:t>，主要解决初值敏感、搜索停滞和计算效率问题。如果似然目标和参数约束都没变，这些工作改进的是</a:t>
            </a:r>
            <a:r>
              <a:rPr lang="en-US" altLang="zh-CN" sz="1800"/>
              <a:t>MLE</a:t>
            </a:r>
            <a:r>
              <a:rPr lang="zh-CN" altLang="en-US" sz="1800"/>
              <a:t>的计算过程。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概率图可以这样理解：先把寿命样本从小到大排序，给每个点分配一个累计概率。对于</a:t>
            </a:r>
            <a:r>
              <a:rPr lang="en-US" altLang="zh-CN" sz="1800"/>
              <a:t>Weibull</a:t>
            </a:r>
            <a:r>
              <a:rPr lang="zh-CN" altLang="en-US" sz="1800"/>
              <a:t>分布，把横轴变成</a:t>
            </a:r>
            <a:r>
              <a:rPr lang="en-US" altLang="zh-CN" sz="1800"/>
              <a:t>log(t</a:t>
            </a:r>
            <a:r>
              <a:rPr lang="zh-CN" altLang="en-US" sz="1800"/>
              <a:t>减位置参数</a:t>
            </a:r>
            <a:r>
              <a:rPr lang="en-US" altLang="zh-CN" sz="1800"/>
              <a:t>)</a:t>
            </a:r>
            <a:r>
              <a:rPr lang="zh-CN" altLang="en-US" sz="1800"/>
              <a:t>，纵轴变成累计概率的双对数变换，理论上就得到一条直线。直线斜率对应形状参数，截距与尺度参数有关。二参数情况下位置已知，画图和回归比较直接；三参数情况下，位置也要估计，所以关键变成怎样移动位置，才能把点变成合适的直线。</a:t>
            </a:r>
            <a:r>
              <a:rPr lang="en-US" altLang="zh-CN" sz="1800"/>
              <a:t>White</a:t>
            </a:r>
            <a:r>
              <a:rPr lang="zh-CN" altLang="en-US" sz="1800"/>
              <a:t>到</a:t>
            </a:r>
            <a:r>
              <a:rPr lang="en-US" altLang="zh-CN" sz="1800"/>
              <a:t>Soman</a:t>
            </a:r>
            <a:r>
              <a:rPr lang="zh-CN" altLang="en-US" sz="1800"/>
              <a:t>和</a:t>
            </a:r>
            <a:r>
              <a:rPr lang="en-US" altLang="zh-CN" sz="1800"/>
              <a:t>Misra</a:t>
            </a:r>
            <a:r>
              <a:rPr lang="zh-CN" altLang="en-US" sz="1800"/>
              <a:t>是一条从二参数回归扩展到三参数的路线；</a:t>
            </a:r>
            <a:r>
              <a:rPr lang="en-US" altLang="zh-CN" sz="1800"/>
              <a:t>Li</a:t>
            </a:r>
            <a:r>
              <a:rPr lang="zh-CN" altLang="en-US" sz="1800"/>
              <a:t>研究广义回归构造；</a:t>
            </a:r>
            <a:r>
              <a:rPr lang="en-US" altLang="zh-CN" sz="1800"/>
              <a:t>Park</a:t>
            </a:r>
            <a:r>
              <a:rPr lang="zh-CN" altLang="en-US" sz="1800"/>
              <a:t>则利用相关系数确定位置，再从概率图恢复其余参数。这些方法的区别首先是怎样选位置、怎样给点分配概率以及怎样做回归。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/>
              <a:t>C</a:t>
            </a:r>
            <a:r>
              <a:rPr lang="zh-CN" altLang="en-US" sz="1800"/>
              <a:t>类里几种方法的构造差别比较大，可以抓住一个问题：它们各自让什么量满足什么条件？矩方法让样本统计量接近理论统计量。概率加权矩和</a:t>
            </a:r>
            <a:r>
              <a:rPr lang="en-US" altLang="zh-CN" sz="1800"/>
              <a:t>L</a:t>
            </a:r>
            <a:r>
              <a:rPr lang="zh-CN" altLang="en-US" sz="1800"/>
              <a:t>矩也是用不同统计量来完成匹配。最大乘积间距法先把排序样本映射到累计概率上，再看相邻点之间的间隔，选择让这些间隔乘积最大的参数；这会惩罚特别接近零的间隔。最小差异法则由每个样本点和绘图概率反推出一个尺度伪估计，如果参数选得合适，这些尺度值应该比较一致，因此通过减小它们的差异来估计参数。它们分别依据统计量匹配、概率覆盖和尺度一致性来确定参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这一组先看郭等提出的两种逐次更新方法。小样本里，最小观测值往往高于分布真正的起点，也就是位置参数，所以不能直接把最小值当作位置。</a:t>
            </a:r>
            <a:r>
              <a:rPr lang="en-US" altLang="zh-CN" sz="1800"/>
              <a:t>2023</a:t>
            </a:r>
            <a:r>
              <a:rPr lang="zh-CN" altLang="en-US" sz="1800"/>
              <a:t>年的</a:t>
            </a:r>
            <a:r>
              <a:rPr lang="en-US" altLang="zh-CN" sz="1800"/>
              <a:t>SAM</a:t>
            </a:r>
            <a:r>
              <a:rPr lang="zh-CN" altLang="en-US" sz="1800"/>
              <a:t>利用样本最小值的期望关系修正位置，再通过回归更新形状和尺度，反复计算直到稳定。</a:t>
            </a:r>
            <a:r>
              <a:rPr lang="en-US" altLang="zh-CN" sz="1800"/>
              <a:t>2024</a:t>
            </a:r>
            <a:r>
              <a:rPr lang="zh-CN" altLang="en-US" sz="1800"/>
              <a:t>年的</a:t>
            </a:r>
            <a:r>
              <a:rPr lang="en-US" altLang="zh-CN" sz="1800"/>
              <a:t>PM</a:t>
            </a:r>
            <a:r>
              <a:rPr lang="zh-CN" altLang="en-US" sz="1800"/>
              <a:t>采用最小值的中位数关系，并结合条件似然更新。两者都在交替求位置与其余参数，但所用关系不同。除此之外，</a:t>
            </a:r>
            <a:r>
              <a:rPr lang="en-US" altLang="zh-CN" sz="1800"/>
              <a:t>LSPF</a:t>
            </a:r>
            <a:r>
              <a:rPr lang="zh-CN" altLang="en-US" sz="1800"/>
              <a:t>先把样本变换为不含位置和尺度的统计量，估计形状后再恢复其余参数；</a:t>
            </a:r>
            <a:r>
              <a:rPr lang="en-US" altLang="zh-CN" sz="1800"/>
              <a:t>BPNN</a:t>
            </a:r>
            <a:r>
              <a:rPr lang="zh-CN" altLang="en-US" sz="1800"/>
              <a:t>则用已知参数生成训练样本，让网络学会从样本特征输出参数。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这一页整理了十二篇论文实际采用的对照。左边写的是论文提出或研究的方法，以及年份；上面是它们比较的对手，有圆点就表示采用过。可以看到，</a:t>
            </a:r>
            <a:r>
              <a:rPr lang="en-US" altLang="zh-CN" sz="1800"/>
              <a:t>MLE</a:t>
            </a:r>
            <a:r>
              <a:rPr lang="zh-CN" altLang="en-US" sz="1800"/>
              <a:t>出现七次，相关回归路线出现四次，矩估计、加权似然和间距方法也反复出现。这里首先能看出，经典方法仍然经常作为共同参照。紧接着就有一个问题：近些年已经有这么多工作，为什么比较里仍然常见这些经典方法，近期方法去了哪里？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个问题需要把近期工作展开来看。第一部分确实在改估计构造，比如小样本修正、位置估计和神经估计。第二部分在改变数据条件，例如删失、截尾、离群污染和加速寿命试验。第三部分保留原有估计目标，重点改进计算过程，例如用粒子群或差分进化求解</a:t>
            </a:r>
            <a:r>
              <a:rPr lang="en-US" altLang="zh-CN" sz="1800"/>
              <a:t>MLE</a:t>
            </a:r>
            <a:r>
              <a:rPr lang="zh-CN" altLang="en-US" sz="1800"/>
              <a:t>。还有一些研究转向区间、预测或加入先验信息。因此，近期论文的数量，并不直接对应完整小样本三参数任务下新对照方法的数量。当然，同任务的新方法仍然存在，例如</a:t>
            </a:r>
            <a:r>
              <a:rPr lang="en-US" altLang="zh-CN" sz="1800"/>
              <a:t>SAM</a:t>
            </a:r>
            <a:r>
              <a:rPr lang="zh-CN" altLang="en-US" sz="1800"/>
              <a:t>、</a:t>
            </a:r>
            <a:r>
              <a:rPr lang="en-US" altLang="zh-CN" sz="1800"/>
              <a:t>PM</a:t>
            </a:r>
            <a:r>
              <a:rPr lang="zh-CN" altLang="en-US" sz="1800"/>
              <a:t>和</a:t>
            </a:r>
            <a:r>
              <a:rPr lang="en-US" altLang="zh-CN" sz="1800"/>
              <a:t>DMMLE</a:t>
            </a:r>
            <a:r>
              <a:rPr lang="zh-CN" altLang="en-US" sz="1800"/>
              <a:t>。经典方法被保留，是因为它们能提供共同参照，部分也有较强的既有比较结果；要理解具体选择，还得看作者在什么条件下想证明什么。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这里选四篇来看具体的比较安排。</a:t>
            </a:r>
            <a:r>
              <a:rPr lang="en-US" altLang="zh-CN"/>
              <a:t>LSPF</a:t>
            </a:r>
            <a:r>
              <a:rPr lang="zh-CN" altLang="en-US"/>
              <a:t>把</a:t>
            </a:r>
            <a:r>
              <a:rPr lang="en-US" altLang="zh-CN"/>
              <a:t>BL</a:t>
            </a:r>
            <a:r>
              <a:rPr lang="zh-CN" altLang="en-US"/>
              <a:t>和</a:t>
            </a:r>
            <a:r>
              <a:rPr lang="en-US" altLang="zh-CN"/>
              <a:t>WMLE</a:t>
            </a:r>
            <a:r>
              <a:rPr lang="zh-CN" altLang="en-US"/>
              <a:t>作为对手，理由是前面的研究已经报告过它们较有竞争力；它覆盖形状</a:t>
            </a:r>
            <a:r>
              <a:rPr lang="en-US" altLang="zh-CN"/>
              <a:t>0.5</a:t>
            </a:r>
            <a:r>
              <a:rPr lang="zh-CN" altLang="en-US"/>
              <a:t>到</a:t>
            </a:r>
            <a:r>
              <a:rPr lang="en-US" altLang="zh-CN"/>
              <a:t>5</a:t>
            </a:r>
            <a:r>
              <a:rPr lang="zh-CN" altLang="en-US"/>
              <a:t>、样本量</a:t>
            </a:r>
            <a:r>
              <a:rPr lang="en-US" altLang="zh-CN"/>
              <a:t>10</a:t>
            </a:r>
            <a:r>
              <a:rPr lang="zh-CN" altLang="en-US"/>
              <a:t>到</a:t>
            </a:r>
            <a:r>
              <a:rPr lang="en-US" altLang="zh-CN"/>
              <a:t>500</a:t>
            </a:r>
            <a:r>
              <a:rPr lang="zh-CN" altLang="en-US"/>
              <a:t>，考察不同条件下的精度和稳定性。</a:t>
            </a:r>
            <a:r>
              <a:rPr lang="en-US" altLang="zh-CN"/>
              <a:t>SAM</a:t>
            </a:r>
            <a:r>
              <a:rPr lang="zh-CN" altLang="en-US"/>
              <a:t>关注更小的样本，在形状</a:t>
            </a:r>
            <a:r>
              <a:rPr lang="en-US" altLang="zh-CN"/>
              <a:t>1.5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2.5</a:t>
            </a:r>
            <a:r>
              <a:rPr lang="zh-CN" altLang="en-US"/>
              <a:t>和样本量</a:t>
            </a:r>
            <a:r>
              <a:rPr lang="en-US" altLang="zh-CN"/>
              <a:t>5</a:t>
            </a:r>
            <a:r>
              <a:rPr lang="zh-CN" altLang="en-US"/>
              <a:t>到</a:t>
            </a:r>
            <a:r>
              <a:rPr lang="en-US" altLang="zh-CN"/>
              <a:t>20</a:t>
            </a:r>
            <a:r>
              <a:rPr lang="zh-CN" altLang="en-US"/>
              <a:t>下，与</a:t>
            </a:r>
            <a:r>
              <a:rPr lang="en-US" altLang="zh-CN"/>
              <a:t>MLE</a:t>
            </a:r>
            <a:r>
              <a:rPr lang="zh-CN" altLang="en-US"/>
              <a:t>、相关系数概率图方法和概率加权矩比较，重点看三参数平均误差与波动，结果显示样本较小时优势更明显。</a:t>
            </a:r>
            <a:r>
              <a:rPr lang="en-US" altLang="zh-CN"/>
              <a:t>DMMLE</a:t>
            </a:r>
            <a:r>
              <a:rPr lang="zh-CN" altLang="en-US"/>
              <a:t>则直接与相近的</a:t>
            </a:r>
            <a:r>
              <a:rPr lang="en-US" altLang="zh-CN"/>
              <a:t>MMLE</a:t>
            </a:r>
            <a:r>
              <a:rPr lang="zh-CN" altLang="en-US"/>
              <a:t>、</a:t>
            </a:r>
            <a:r>
              <a:rPr lang="en-US" altLang="zh-CN"/>
              <a:t>CMLE</a:t>
            </a:r>
            <a:r>
              <a:rPr lang="zh-CN" altLang="en-US"/>
              <a:t>比较，在三组参数、样本量</a:t>
            </a:r>
            <a:r>
              <a:rPr lang="en-US" altLang="zh-CN"/>
              <a:t>50</a:t>
            </a:r>
            <a:r>
              <a:rPr lang="zh-CN" altLang="en-US"/>
              <a:t>到</a:t>
            </a:r>
            <a:r>
              <a:rPr lang="en-US" altLang="zh-CN"/>
              <a:t>1000</a:t>
            </a:r>
            <a:r>
              <a:rPr lang="zh-CN" altLang="en-US"/>
              <a:t>的设置下，检验新增修正能否减少偏差；结果主要表现为偏差改善，</a:t>
            </a:r>
            <a:r>
              <a:rPr lang="en-US" altLang="zh-CN"/>
              <a:t>RMSE</a:t>
            </a:r>
            <a:r>
              <a:rPr lang="zh-CN" altLang="en-US"/>
              <a:t>接近。</a:t>
            </a:r>
            <a:r>
              <a:rPr lang="en-US" altLang="zh-CN"/>
              <a:t>BPNN</a:t>
            </a:r>
            <a:r>
              <a:rPr lang="zh-CN" altLang="en-US"/>
              <a:t>则在样本量五到二十的设置下，与</a:t>
            </a:r>
            <a:r>
              <a:rPr lang="en-US" altLang="zh-CN"/>
              <a:t>CCM</a:t>
            </a:r>
            <a:r>
              <a:rPr lang="zh-CN" altLang="en-US"/>
              <a:t>和</a:t>
            </a:r>
            <a:r>
              <a:rPr lang="en-US" altLang="zh-CN"/>
              <a:t>MDM</a:t>
            </a:r>
            <a:r>
              <a:rPr lang="zh-CN" altLang="en-US"/>
              <a:t>比较参数以及</a:t>
            </a:r>
            <a:r>
              <a:rPr lang="en-US" altLang="zh-CN"/>
              <a:t>1%</a:t>
            </a:r>
            <a:r>
              <a:rPr lang="zh-CN" altLang="en-US"/>
              <a:t>寿命分位点的</a:t>
            </a:r>
            <a:r>
              <a:rPr lang="en-US" altLang="zh-CN"/>
              <a:t>SD</a:t>
            </a:r>
            <a:r>
              <a:rPr lang="zh-CN" altLang="en-US"/>
              <a:t>、</a:t>
            </a:r>
            <a:r>
              <a:rPr lang="en-US" altLang="zh-CN"/>
              <a:t>RMSE</a:t>
            </a:r>
            <a:r>
              <a:rPr lang="zh-CN" altLang="en-US"/>
              <a:t>，考察学习估计的小样本表现。可以看到，对手和参数设置都跟作者想解决的问题联系在一起。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从这些实际做法，可以归纳出几条比较规律。第一，常保留</a:t>
            </a:r>
            <a:r>
              <a:rPr lang="en-US" altLang="zh-CN" sz="1800"/>
              <a:t>MLE</a:t>
            </a:r>
            <a:r>
              <a:rPr lang="zh-CN" altLang="en-US" sz="1800"/>
              <a:t>等经典方法，让读者能把结果和已有研究联系起来。第二，会选择已有结果显示较强的方法，例如</a:t>
            </a:r>
            <a:r>
              <a:rPr lang="en-US" altLang="zh-CN" sz="1800"/>
              <a:t>LSPF</a:t>
            </a:r>
            <a:r>
              <a:rPr lang="zh-CN" altLang="en-US" sz="1800"/>
              <a:t>选择</a:t>
            </a:r>
            <a:r>
              <a:rPr lang="en-US" altLang="zh-CN" sz="1800"/>
              <a:t>BL</a:t>
            </a:r>
            <a:r>
              <a:rPr lang="zh-CN" altLang="en-US" sz="1800"/>
              <a:t>和</a:t>
            </a:r>
            <a:r>
              <a:rPr lang="en-US" altLang="zh-CN" sz="1800"/>
              <a:t>WMLE</a:t>
            </a:r>
            <a:r>
              <a:rPr lang="zh-CN" altLang="en-US" sz="1800"/>
              <a:t>。第三，如果是改进一个已有构造，常与相同原理或直接相关的方法比较，例如</a:t>
            </a:r>
            <a:r>
              <a:rPr lang="en-US" altLang="zh-CN" sz="1800"/>
              <a:t>DMMLE</a:t>
            </a:r>
            <a:r>
              <a:rPr lang="zh-CN" altLang="en-US" sz="1800"/>
              <a:t>对比其他似然修正。第四，同任务的新方法也会与不同估计思路比较，例如</a:t>
            </a:r>
            <a:r>
              <a:rPr lang="en-US" altLang="zh-CN" sz="1800"/>
              <a:t>SAM</a:t>
            </a:r>
            <a:r>
              <a:rPr lang="zh-CN" altLang="en-US" sz="1800"/>
              <a:t>同时使用</a:t>
            </a:r>
            <a:r>
              <a:rPr lang="en-US" altLang="zh-CN" sz="1800"/>
              <a:t>MLE</a:t>
            </a:r>
            <a:r>
              <a:rPr lang="zh-CN" altLang="en-US" sz="1800"/>
              <a:t>、概率图和</a:t>
            </a:r>
            <a:r>
              <a:rPr lang="en-US" altLang="zh-CN" sz="1800"/>
              <a:t>PWM</a:t>
            </a:r>
            <a:r>
              <a:rPr lang="zh-CN" altLang="en-US" sz="1800"/>
              <a:t>。这里总结的是文献怎样选择对手：它们围绕要解决的问题组织比较，并没有形成所有研究都采用的同一份名单。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选好对比方法以后，接下来就是</a:t>
            </a:r>
            <a:r>
              <a:rPr lang="en-US" altLang="zh-CN" sz="1800"/>
              <a:t>Monte Carlo</a:t>
            </a:r>
            <a:r>
              <a:rPr lang="zh-CN" altLang="en-US" sz="1800"/>
              <a:t>怎样做。它的关键是参数真值已知：先设定一组形状、尺度和位置，再按给定样本量生成许多组样本，每一组都交给各个方法估计。重复以后，我们就能观察估计值距离真值有多远、不同样本之间波动多大。这里几篇论文的设置不完全相同：</a:t>
            </a:r>
            <a:r>
              <a:rPr lang="en-US" altLang="zh-CN" sz="1800"/>
              <a:t>LSPF</a:t>
            </a:r>
            <a:r>
              <a:rPr lang="zh-CN" altLang="en-US" sz="1800"/>
              <a:t>使用五种样本量，每个条件重复一千次；</a:t>
            </a:r>
            <a:r>
              <a:rPr lang="en-US" altLang="zh-CN" sz="1800"/>
              <a:t>SAM</a:t>
            </a:r>
            <a:r>
              <a:rPr lang="zh-CN" altLang="en-US" sz="1800"/>
              <a:t>重点看五到二十个样本，每个条件一万次；综合比较覆盖更宽的形状范围，重复五千次。它们共同的做法，是同时改变参数条件和样本量，再分别观察结果。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模拟结果主要回答三个问题。第一是准不准，</a:t>
            </a:r>
            <a:r>
              <a:rPr lang="en-US" altLang="zh-CN" sz="1800"/>
              <a:t>Bias</a:t>
            </a:r>
            <a:r>
              <a:rPr lang="zh-CN" altLang="en-US" sz="1800"/>
              <a:t>看平均估计偏向哪一边，</a:t>
            </a:r>
            <a:r>
              <a:rPr lang="en-US" altLang="zh-CN" sz="1800"/>
              <a:t>RMSE</a:t>
            </a:r>
            <a:r>
              <a:rPr lang="zh-CN" altLang="en-US" sz="1800"/>
              <a:t>看偏差和波动合在一起后的总误差。第二是稳不稳，</a:t>
            </a:r>
            <a:r>
              <a:rPr lang="en-US" altLang="zh-CN" sz="1800"/>
              <a:t>SD</a:t>
            </a:r>
            <a:r>
              <a:rPr lang="zh-CN" altLang="en-US" sz="1800"/>
              <a:t>看换一批样本后估计值有多大变化，这里称为估计稳定性。第三是能不能算出有效结果，就要看有效率和失败率。三个参数通常分别报告；如果论文关心可靠寿命，还会计算寿命分位点的误差。有的论文把三个参数的误差取平均，例如</a:t>
            </a:r>
            <a:r>
              <a:rPr lang="en-US" altLang="zh-CN" sz="1800"/>
              <a:t>SAM</a:t>
            </a:r>
            <a:r>
              <a:rPr lang="zh-CN" altLang="en-US" sz="1800"/>
              <a:t>的</a:t>
            </a:r>
            <a:r>
              <a:rPr lang="en-US" altLang="zh-CN" sz="1800"/>
              <a:t>MAD</a:t>
            </a:r>
            <a:r>
              <a:rPr lang="zh-CN" altLang="en-US" sz="1800"/>
              <a:t>和</a:t>
            </a:r>
            <a:r>
              <a:rPr lang="en-US" altLang="zh-CN" sz="1800"/>
              <a:t>MSD</a:t>
            </a:r>
            <a:r>
              <a:rPr lang="zh-CN" altLang="en-US" sz="1800"/>
              <a:t>，这时需要读清楚它具体怎样平均。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这里还要处理一种很实际的情况：有的方法在某些样本上算不出结果。比如</a:t>
            </a:r>
            <a:r>
              <a:rPr lang="en-US" altLang="zh-CN" sz="1800"/>
              <a:t>MDM</a:t>
            </a:r>
            <a:r>
              <a:rPr lang="zh-CN" altLang="en-US" sz="1800"/>
              <a:t>论文中，三十组样本有六组</a:t>
            </a:r>
            <a:r>
              <a:rPr lang="en-US" altLang="zh-CN" sz="1800"/>
              <a:t>MLE</a:t>
            </a:r>
            <a:r>
              <a:rPr lang="zh-CN" altLang="en-US" sz="1800"/>
              <a:t>没有得到解，原图用零做了标记。这个零只是标记，算误差时不能把它当作参数估计。其他论文有的只保留收敛样本，有的直接报告没有得到估计的次数。所以比较时应同时给出两部分：全部生成样本上的有效率，以及有效结果上的误差。假如一个方法成功时很准，但经常失败，这个事实也应当展示出来。还要分清数值没有收敛、输出越界和目标本身没有有限最优解，因为它们对应不同原因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再看真实数据。真实样本通常不知道参数真值，因此没办法像模拟那样直接计算参数估计误差。文献实际做的事情主要有三类：一是展示方法能够算出参数和寿命量；二是比较经验分布与拟合分布，用图或</a:t>
            </a:r>
            <a:r>
              <a:rPr lang="en-US" altLang="zh-CN" sz="1800"/>
              <a:t>K-S</a:t>
            </a:r>
            <a:r>
              <a:rPr lang="zh-CN" altLang="en-US" sz="1800"/>
              <a:t>、</a:t>
            </a:r>
            <a:r>
              <a:rPr lang="en-US" altLang="zh-CN" sz="1800"/>
              <a:t>AD</a:t>
            </a:r>
            <a:r>
              <a:rPr lang="zh-CN" altLang="en-US" sz="1800"/>
              <a:t>等统计量看拟合表现；三是看计算得到的寿命量能否用于具体问题。因此，真实数据中也可以比较方法，但比较的是这组数据上的拟合和应用表现。参数估计到底离真值多远，主要仍由前面的</a:t>
            </a:r>
            <a:r>
              <a:rPr lang="en-US" altLang="zh-CN" sz="1800"/>
              <a:t>Monte Carlo</a:t>
            </a:r>
            <a:r>
              <a:rPr lang="zh-CN" altLang="en-US" sz="1800"/>
              <a:t>来回答。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具体看三个真实数据案例。</a:t>
            </a:r>
            <a:r>
              <a:rPr lang="en-US" altLang="zh-CN"/>
              <a:t>BPNN</a:t>
            </a:r>
            <a:r>
              <a:rPr lang="zh-CN" altLang="en-US"/>
              <a:t>用十五个铝合金疲劳寿命，与相关系数法和</a:t>
            </a:r>
            <a:r>
              <a:rPr lang="en-US" altLang="zh-CN"/>
              <a:t>MDM</a:t>
            </a:r>
            <a:r>
              <a:rPr lang="zh-CN" altLang="en-US"/>
              <a:t>比较，给出参数、经验</a:t>
            </a:r>
            <a:r>
              <a:rPr lang="en-US" altLang="zh-CN"/>
              <a:t>CDF</a:t>
            </a:r>
            <a:r>
              <a:rPr lang="zh-CN" altLang="en-US"/>
              <a:t>、拟合曲线及</a:t>
            </a:r>
            <a:r>
              <a:rPr lang="en-US" altLang="zh-CN"/>
              <a:t>K-S</a:t>
            </a:r>
            <a:r>
              <a:rPr lang="zh-CN" altLang="en-US"/>
              <a:t>结果，这主要是在比较拟合。</a:t>
            </a:r>
            <a:r>
              <a:rPr lang="en-US" altLang="zh-CN"/>
              <a:t>LSPF</a:t>
            </a:r>
            <a:r>
              <a:rPr lang="zh-CN" altLang="en-US"/>
              <a:t>用十点轴承寿命和四点寿命数据，同时展示参数与不收敛情况，说明困难小样本上能否得到结果。</a:t>
            </a:r>
            <a:r>
              <a:rPr lang="en-US" altLang="zh-CN"/>
              <a:t>SAM</a:t>
            </a:r>
            <a:r>
              <a:rPr lang="zh-CN" altLang="en-US"/>
              <a:t>也分析了这两组常用寿命数据，并计算平均寿命和可靠度寿命，部分对手结果取自既有研究。可以看到，真实案例并不只有一种做法：有的重点比较拟合，有的重点展示可计算性，有的强调寿命量的实际解释。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回到最初的问题，评价一个参数估计方法，可以把这几部分连起来。先讲清它依据什么估计、要解决什么问题；再看文献中同类问题用了哪些对手，据此理解比较对象。参数精度和估计稳定性，用已知真值下的</a:t>
            </a:r>
            <a:r>
              <a:rPr lang="en-US" altLang="zh-CN" sz="1800"/>
              <a:t>Monte Carlo</a:t>
            </a:r>
            <a:r>
              <a:rPr lang="zh-CN" altLang="en-US" sz="1800"/>
              <a:t>来衡量，同时报告能否有效求解。真实数据再展示方法的可用性、拟合及寿命量。最终结论就落到具体条件：相对于哪些方法，在什么样本量和参数范围下，哪些量估计得更好，又有哪些计算或失败代价。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599" y="2047836"/>
            <a:ext cx="10972800" cy="7888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在目标样本条件下，相对于合理的比较对象，具有良好的参数估计精度、</a:t>
            </a:r>
            <a:r>
              <a:rPr lang="zh-CN" altLang="en-US" dirty="0"/>
              <a:t>估计</a:t>
            </a:r>
            <a:r>
              <a:rPr lang="zh-CN" altLang="zh-CN" dirty="0"/>
              <a:t>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逐参数精度、估计稳定性、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参数估计的四类主要思路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讲解-10">
            <a:extLst>
              <a:ext uri="{FF2B5EF4-FFF2-40B4-BE49-F238E27FC236}">
                <a16:creationId xmlns:a16="http://schemas.microsoft.com/office/drawing/2014/main" id="{17E62921-E1E5-E709-B231-14F0A3E31EA4}"/>
              </a:ext>
            </a:extLst>
          </p:cNvPr>
          <p:cNvSpPr txBox="1"/>
          <p:nvPr/>
        </p:nvSpPr>
        <p:spPr>
          <a:xfrm>
            <a:off x="609600" y="16764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同样估计形状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、尺度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和位置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，区别在于用什么关系确定参数。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18904ED-1F64-D5E5-4699-D410456C5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7037"/>
              </p:ext>
            </p:extLst>
          </p:nvPr>
        </p:nvGraphicFramePr>
        <p:xfrm>
          <a:off x="609600" y="2438400"/>
          <a:ext cx="10972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78726369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300862410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869927685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方法类别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估计依据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代表方法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8554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似然路线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让观测样本的似然较大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1086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概率图路线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将分布关系变成直线，再做回归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、相关系数法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17854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统计量与构造准则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匹配统计量，或优化间距、差异量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4515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组合与学习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组合统计关系，或学习样本到参数的映射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617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似然路线：从样本似然到偏差修正与求解改进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：把观测点的密度相乘，寻找最能解释这组样本的参数。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小样本偏差 → 权重或得分修正；位置边界困难 → 修改似然构造。</a:t>
            </a:r>
          </a:p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DE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ADGBO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等保持同一目标与约束时，改善的是搜索、收敛和计算效率。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概率图路线：把分布关系变成直线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讲解-48">
            <a:extLst>
              <a:ext uri="{FF2B5EF4-FFF2-40B4-BE49-F238E27FC236}">
                <a16:creationId xmlns:a16="http://schemas.microsoft.com/office/drawing/2014/main" id="{7D977056-E8D4-AB6A-8901-34AD022CC673}"/>
              </a:ext>
            </a:extLst>
          </p:cNvPr>
          <p:cNvSpPr txBox="1"/>
          <p:nvPr/>
        </p:nvSpPr>
        <p:spPr>
          <a:xfrm>
            <a:off x="609600" y="16510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样本排序 → 分配累计概率</a:t>
            </a:r>
            <a:r>
              <a:rPr lang="en-US" altLang="zh-CN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</a:t>
            </a:r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变换坐标 → 回归求参数</a:t>
            </a:r>
          </a:p>
        </p:txBody>
      </p:sp>
      <p:sp>
        <p:nvSpPr>
          <p:cNvPr id="49" name="讲解-49">
            <a:extLst>
              <a:ext uri="{FF2B5EF4-FFF2-40B4-BE49-F238E27FC236}">
                <a16:creationId xmlns:a16="http://schemas.microsoft.com/office/drawing/2014/main" id="{22C21FFA-E3B4-A258-3372-5C6A7ADF1BB6}"/>
              </a:ext>
            </a:extLst>
          </p:cNvPr>
          <p:cNvSpPr txBox="1"/>
          <p:nvPr/>
        </p:nvSpPr>
        <p:spPr>
          <a:xfrm>
            <a:off x="609600" y="2197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= ln(t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r>
              <a:rPr lang="zh-CN" altLang="el-GR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纵轴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ln[−ln(1 − p)]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；理论关系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29C23D0-D679-58BA-F0BC-5BAC7824E3C7}"/>
              </a:ext>
            </a:extLst>
          </p:cNvPr>
          <p:cNvCxnSpPr/>
          <p:nvPr/>
        </p:nvCxnSpPr>
        <p:spPr>
          <a:xfrm>
            <a:off x="977900" y="5549900"/>
            <a:ext cx="30988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B03B3BE-E3BE-78FD-145E-63C66F8A0034}"/>
              </a:ext>
            </a:extLst>
          </p:cNvPr>
          <p:cNvCxnSpPr/>
          <p:nvPr/>
        </p:nvCxnSpPr>
        <p:spPr>
          <a:xfrm flipV="1">
            <a:off x="977900" y="3009900"/>
            <a:ext cx="0" cy="254000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39467A6-EE47-522F-320F-CD69F2F177EC}"/>
              </a:ext>
            </a:extLst>
          </p:cNvPr>
          <p:cNvCxnSpPr/>
          <p:nvPr/>
        </p:nvCxnSpPr>
        <p:spPr>
          <a:xfrm flipV="1">
            <a:off x="1155700" y="3314700"/>
            <a:ext cx="2679700" cy="195580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38EED453-75A7-0A33-B61A-D86300C9E527}"/>
              </a:ext>
            </a:extLst>
          </p:cNvPr>
          <p:cNvSpPr/>
          <p:nvPr/>
        </p:nvSpPr>
        <p:spPr>
          <a:xfrm>
            <a:off x="1282700" y="505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95FA406-1C58-2883-8903-5EF287B5B101}"/>
              </a:ext>
            </a:extLst>
          </p:cNvPr>
          <p:cNvSpPr/>
          <p:nvPr/>
        </p:nvSpPr>
        <p:spPr>
          <a:xfrm>
            <a:off x="1600200" y="4927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99DD9A0-F3BF-FEA7-547D-BAB5A7F1CDF9}"/>
              </a:ext>
            </a:extLst>
          </p:cNvPr>
          <p:cNvSpPr/>
          <p:nvPr/>
        </p:nvSpPr>
        <p:spPr>
          <a:xfrm>
            <a:off x="2006600" y="4546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CA5137B7-18CE-1F0D-686C-7882991F2E1B}"/>
              </a:ext>
            </a:extLst>
          </p:cNvPr>
          <p:cNvSpPr/>
          <p:nvPr/>
        </p:nvSpPr>
        <p:spPr>
          <a:xfrm>
            <a:off x="2374900" y="43434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F5326DF5-957B-5534-5591-41FBAB753095}"/>
              </a:ext>
            </a:extLst>
          </p:cNvPr>
          <p:cNvSpPr/>
          <p:nvPr/>
        </p:nvSpPr>
        <p:spPr>
          <a:xfrm>
            <a:off x="2794000" y="3949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CBCAF7B-479D-D6A7-CE41-5F6F0773E03B}"/>
              </a:ext>
            </a:extLst>
          </p:cNvPr>
          <p:cNvSpPr/>
          <p:nvPr/>
        </p:nvSpPr>
        <p:spPr>
          <a:xfrm>
            <a:off x="3175000" y="378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F2B140C0-2C25-7154-643B-28F7E8884F81}"/>
              </a:ext>
            </a:extLst>
          </p:cNvPr>
          <p:cNvSpPr/>
          <p:nvPr/>
        </p:nvSpPr>
        <p:spPr>
          <a:xfrm>
            <a:off x="3556000" y="3441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讲解-61">
            <a:extLst>
              <a:ext uri="{FF2B5EF4-FFF2-40B4-BE49-F238E27FC236}">
                <a16:creationId xmlns:a16="http://schemas.microsoft.com/office/drawing/2014/main" id="{8B2C20A2-38CB-9446-2E44-A107E9530ECB}"/>
              </a:ext>
            </a:extLst>
          </p:cNvPr>
          <p:cNvSpPr txBox="1"/>
          <p:nvPr/>
        </p:nvSpPr>
        <p:spPr>
          <a:xfrm>
            <a:off x="1320800" y="27813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概率图示意</a:t>
            </a:r>
          </a:p>
        </p:txBody>
      </p:sp>
      <p:sp>
        <p:nvSpPr>
          <p:cNvPr id="62" name="讲解-62">
            <a:extLst>
              <a:ext uri="{FF2B5EF4-FFF2-40B4-BE49-F238E27FC236}">
                <a16:creationId xmlns:a16="http://schemas.microsoft.com/office/drawing/2014/main" id="{EFF42E6B-D551-B8AA-66DF-00010F72C9E6}"/>
              </a:ext>
            </a:extLst>
          </p:cNvPr>
          <p:cNvSpPr txBox="1"/>
          <p:nvPr/>
        </p:nvSpPr>
        <p:spPr>
          <a:xfrm>
            <a:off x="2400300" y="56515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ln(t − </a:t>
            </a:r>
            <a:r>
              <a:rPr lang="el-GR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讲解-63">
            <a:extLst>
              <a:ext uri="{FF2B5EF4-FFF2-40B4-BE49-F238E27FC236}">
                <a16:creationId xmlns:a16="http://schemas.microsoft.com/office/drawing/2014/main" id="{0281F39C-04FD-7394-ACD8-3D756F54653B}"/>
              </a:ext>
            </a:extLst>
          </p:cNvPr>
          <p:cNvSpPr txBox="1"/>
          <p:nvPr/>
        </p:nvSpPr>
        <p:spPr>
          <a:xfrm>
            <a:off x="609600" y="26289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ln[−ln(1−p)]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讲解-64">
            <a:extLst>
              <a:ext uri="{FF2B5EF4-FFF2-40B4-BE49-F238E27FC236}">
                <a16:creationId xmlns:a16="http://schemas.microsoft.com/office/drawing/2014/main" id="{E5F86C18-F333-0328-E9BA-7104879BD437}"/>
              </a:ext>
            </a:extLst>
          </p:cNvPr>
          <p:cNvSpPr txBox="1"/>
          <p:nvPr/>
        </p:nvSpPr>
        <p:spPr>
          <a:xfrm>
            <a:off x="609600" y="6045200"/>
            <a:ext cx="4000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斜率 → 形状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；截距 → 尺度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9BFCF8B-AF72-1F0D-69F5-AE8809C11A26}"/>
              </a:ext>
            </a:extLst>
          </p:cNvPr>
          <p:cNvSpPr/>
          <p:nvPr/>
        </p:nvSpPr>
        <p:spPr>
          <a:xfrm>
            <a:off x="4838700" y="2895600"/>
            <a:ext cx="26670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二参数概率图回归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White · 1969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3CAEA95-9E1D-AB44-F27A-0221B06C8611}"/>
              </a:ext>
            </a:extLst>
          </p:cNvPr>
          <p:cNvSpPr/>
          <p:nvPr/>
        </p:nvSpPr>
        <p:spPr>
          <a:xfrm>
            <a:off x="8724900" y="2895600"/>
            <a:ext cx="28575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三参数最小二乘（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Soman &amp; Misra · 1992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8714E1E-8756-A7F5-7CF0-136A708097D2}"/>
              </a:ext>
            </a:extLst>
          </p:cNvPr>
          <p:cNvCxnSpPr/>
          <p:nvPr/>
        </p:nvCxnSpPr>
        <p:spPr>
          <a:xfrm>
            <a:off x="7505700" y="3213100"/>
            <a:ext cx="12192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讲解-68">
            <a:extLst>
              <a:ext uri="{FF2B5EF4-FFF2-40B4-BE49-F238E27FC236}">
                <a16:creationId xmlns:a16="http://schemas.microsoft.com/office/drawing/2014/main" id="{02B023C7-A723-2D88-B806-AD84D701E0C8}"/>
              </a:ext>
            </a:extLst>
          </p:cNvPr>
          <p:cNvSpPr txBox="1"/>
          <p:nvPr/>
        </p:nvSpPr>
        <p:spPr>
          <a:xfrm>
            <a:off x="7632700" y="2832100"/>
            <a:ext cx="1054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位置未知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504EAA3-61F7-2F47-83DC-B4FAF88B695C}"/>
              </a:ext>
            </a:extLst>
          </p:cNvPr>
          <p:cNvSpPr/>
          <p:nvPr/>
        </p:nvSpPr>
        <p:spPr>
          <a:xfrm>
            <a:off x="4838700" y="40640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广义线性回归（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GLRA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 · 1994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讲解-70">
            <a:extLst>
              <a:ext uri="{FF2B5EF4-FFF2-40B4-BE49-F238E27FC236}">
                <a16:creationId xmlns:a16="http://schemas.microsoft.com/office/drawing/2014/main" id="{BC04B25F-F640-7D37-BAE9-B072BB303ED0}"/>
              </a:ext>
            </a:extLst>
          </p:cNvPr>
          <p:cNvSpPr txBox="1"/>
          <p:nvPr/>
        </p:nvSpPr>
        <p:spPr>
          <a:xfrm>
            <a:off x="4965700" y="47498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通过回归构造处理未知位置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43DC6F7-E1D1-1949-2CA4-E2D6F80A0F5B}"/>
              </a:ext>
            </a:extLst>
          </p:cNvPr>
          <p:cNvSpPr/>
          <p:nvPr/>
        </p:nvSpPr>
        <p:spPr>
          <a:xfrm>
            <a:off x="4838700" y="52705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相关系数法｜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 · 2017 / 2018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讲解-72">
            <a:extLst>
              <a:ext uri="{FF2B5EF4-FFF2-40B4-BE49-F238E27FC236}">
                <a16:creationId xmlns:a16="http://schemas.microsoft.com/office/drawing/2014/main" id="{1D08E48F-A1E7-A272-6CB6-E6818B17D09D}"/>
              </a:ext>
            </a:extLst>
          </p:cNvPr>
          <p:cNvSpPr txBox="1"/>
          <p:nvPr/>
        </p:nvSpPr>
        <p:spPr>
          <a:xfrm>
            <a:off x="4965700" y="59690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寻找相关性较强的位置，再恢复形状与尺度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统计量与构造准则：让什么量满足什么条件？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083F93-324F-4BD2-0D98-5E864C7BE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385255"/>
              </p:ext>
            </p:extLst>
          </p:nvPr>
        </p:nvGraphicFramePr>
        <p:xfrm>
          <a:off x="609600" y="1879600"/>
          <a:ext cx="1097280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122427032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46597449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1231782647"/>
                    </a:ext>
                  </a:extLst>
                </a:gridCol>
              </a:tblGrid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构造什么量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用什么条件确定参数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6199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矩／概率加权矩／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样本矩、概率加权矩或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样本统计量与理论值匹配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用统计特征约束参数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8297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最大乘积间距（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Cheng &amp; Amin · 1983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相邻排序观测在</a:t>
                      </a: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最大化各间隔的乘积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惩罚接近零的概率间隔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366738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最小差异法（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 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· 2022/2023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由每个观测和绘图概率反推的尺度值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最小化尺度伪估计的差异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使不同观测给出的尺度尽量一致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07294"/>
                  </a:ext>
                </a:extLst>
              </a:tr>
            </a:tbl>
          </a:graphicData>
        </a:graphic>
      </p:graphicFrame>
      <p:sp>
        <p:nvSpPr>
          <p:cNvPr id="11" name="讲解-11">
            <a:extLst>
              <a:ext uri="{FF2B5EF4-FFF2-40B4-BE49-F238E27FC236}">
                <a16:creationId xmlns:a16="http://schemas.microsoft.com/office/drawing/2014/main" id="{E903A833-96C3-48C9-B0F1-64956B1B4B4E}"/>
              </a:ext>
            </a:extLst>
          </p:cNvPr>
          <p:cNvSpPr txBox="1"/>
          <p:nvPr/>
        </p:nvSpPr>
        <p:spPr>
          <a:xfrm>
            <a:off x="609600" y="60198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三种依据：统计量匹配、概率间距、尺度一致性。</a:t>
            </a:r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组合与学习：交替更新参数，或学习参数映射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讲解-43">
            <a:extLst>
              <a:ext uri="{FF2B5EF4-FFF2-40B4-BE49-F238E27FC236}">
                <a16:creationId xmlns:a16="http://schemas.microsoft.com/office/drawing/2014/main" id="{20AF8012-D777-0AEE-7A0A-789A925436EB}"/>
              </a:ext>
            </a:extLst>
          </p:cNvPr>
          <p:cNvSpPr txBox="1"/>
          <p:nvPr/>
        </p:nvSpPr>
        <p:spPr>
          <a:xfrm>
            <a:off x="609600" y="1651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最小观测值通常高于分布起点：先修正位置，再更新形状和尺度。</a:t>
            </a:r>
          </a:p>
        </p:txBody>
      </p:sp>
      <p:sp>
        <p:nvSpPr>
          <p:cNvPr id="44" name="讲解-44">
            <a:extLst>
              <a:ext uri="{FF2B5EF4-FFF2-40B4-BE49-F238E27FC236}">
                <a16:creationId xmlns:a16="http://schemas.microsoft.com/office/drawing/2014/main" id="{C6CA318E-0F11-9BA1-4DDA-78DDB183C0DD}"/>
              </a:ext>
            </a:extLst>
          </p:cNvPr>
          <p:cNvSpPr txBox="1"/>
          <p:nvPr/>
        </p:nvSpPr>
        <p:spPr>
          <a:xfrm>
            <a:off x="609600" y="2260600"/>
            <a:ext cx="4635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逐次逼近（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700" b="1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D895765-A9E6-BD13-35B9-8BAAED07732A}"/>
              </a:ext>
            </a:extLst>
          </p:cNvPr>
          <p:cNvSpPr/>
          <p:nvPr/>
        </p:nvSpPr>
        <p:spPr>
          <a:xfrm>
            <a:off x="6096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最小值期望关系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A0DD4E6-6881-6067-8798-7FA18BAEF551}"/>
              </a:ext>
            </a:extLst>
          </p:cNvPr>
          <p:cNvSpPr/>
          <p:nvPr/>
        </p:nvSpPr>
        <p:spPr>
          <a:xfrm>
            <a:off x="45212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概率图回归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C34FC9-BCFA-FBB0-932A-BF6085F9470D}"/>
              </a:ext>
            </a:extLst>
          </p:cNvPr>
          <p:cNvSpPr/>
          <p:nvPr/>
        </p:nvSpPr>
        <p:spPr>
          <a:xfrm>
            <a:off x="8432800" y="27432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594C6DB-EB2E-0A34-21CB-484B3E0E1E65}"/>
              </a:ext>
            </a:extLst>
          </p:cNvPr>
          <p:cNvCxnSpPr/>
          <p:nvPr/>
        </p:nvCxnSpPr>
        <p:spPr>
          <a:xfrm>
            <a:off x="37211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137AAD1-1BFC-5C7D-380C-9B89F1126775}"/>
              </a:ext>
            </a:extLst>
          </p:cNvPr>
          <p:cNvCxnSpPr/>
          <p:nvPr/>
        </p:nvCxnSpPr>
        <p:spPr>
          <a:xfrm>
            <a:off x="76327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讲解-50">
            <a:extLst>
              <a:ext uri="{FF2B5EF4-FFF2-40B4-BE49-F238E27FC236}">
                <a16:creationId xmlns:a16="http://schemas.microsoft.com/office/drawing/2014/main" id="{666FAB35-34BF-ABD8-5543-D7273D9D535B}"/>
              </a:ext>
            </a:extLst>
          </p:cNvPr>
          <p:cNvSpPr txBox="1"/>
          <p:nvPr/>
        </p:nvSpPr>
        <p:spPr>
          <a:xfrm>
            <a:off x="609600" y="37084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位置修正逐次逼近（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700" b="1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E7D6D91-9B9C-F2EF-3FFA-A0B2D0877F4A}"/>
              </a:ext>
            </a:extLst>
          </p:cNvPr>
          <p:cNvSpPr/>
          <p:nvPr/>
        </p:nvSpPr>
        <p:spPr>
          <a:xfrm>
            <a:off x="6096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最小值中位数关系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33F958F-997A-F5F6-D96E-1B303955B98E}"/>
              </a:ext>
            </a:extLst>
          </p:cNvPr>
          <p:cNvSpPr/>
          <p:nvPr/>
        </p:nvSpPr>
        <p:spPr>
          <a:xfrm>
            <a:off x="45212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条件似然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5EB5BC8-3A76-5816-8653-A84C56DF9019}"/>
              </a:ext>
            </a:extLst>
          </p:cNvPr>
          <p:cNvSpPr/>
          <p:nvPr/>
        </p:nvSpPr>
        <p:spPr>
          <a:xfrm>
            <a:off x="8432800" y="41910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58DE0BE-E47E-DADC-39CB-2A9C825CE4D1}"/>
              </a:ext>
            </a:extLst>
          </p:cNvPr>
          <p:cNvCxnSpPr/>
          <p:nvPr/>
        </p:nvCxnSpPr>
        <p:spPr>
          <a:xfrm>
            <a:off x="37211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9FECA9C-EB4A-27CE-9B8A-E23C2DB2F1F1}"/>
              </a:ext>
            </a:extLst>
          </p:cNvPr>
          <p:cNvCxnSpPr/>
          <p:nvPr/>
        </p:nvCxnSpPr>
        <p:spPr>
          <a:xfrm>
            <a:off x="76327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讲解-56">
            <a:extLst>
              <a:ext uri="{FF2B5EF4-FFF2-40B4-BE49-F238E27FC236}">
                <a16:creationId xmlns:a16="http://schemas.microsoft.com/office/drawing/2014/main" id="{186C46B9-4F71-5CAC-7F76-2A94028C12FD}"/>
              </a:ext>
            </a:extLst>
          </p:cNvPr>
          <p:cNvSpPr txBox="1"/>
          <p:nvPr/>
        </p:nvSpPr>
        <p:spPr>
          <a:xfrm>
            <a:off x="609600" y="5372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：消除位置、尺度影响 → 估计形状 → 恢复其余参数</a:t>
            </a:r>
          </a:p>
        </p:txBody>
      </p:sp>
      <p:sp>
        <p:nvSpPr>
          <p:cNvPr id="57" name="讲解-57">
            <a:extLst>
              <a:ext uri="{FF2B5EF4-FFF2-40B4-BE49-F238E27FC236}">
                <a16:creationId xmlns:a16="http://schemas.microsoft.com/office/drawing/2014/main" id="{FD351DDB-474E-D16E-90CB-1DDE28507A63}"/>
              </a:ext>
            </a:extLst>
          </p:cNvPr>
          <p:cNvSpPr txBox="1"/>
          <p:nvPr/>
        </p:nvSpPr>
        <p:spPr>
          <a:xfrm>
            <a:off x="609600" y="5930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：模拟样本＋已知参数训练 → 从样本特征直接输出参数</a:t>
            </a:r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822FB5B6-7794-FA5F-1CAC-42E29B7CBBBB}"/>
              </a:ext>
            </a:extLst>
          </p:cNvPr>
          <p:cNvSpPr txBox="1"/>
          <p:nvPr/>
        </p:nvSpPr>
        <p:spPr>
          <a:xfrm>
            <a:off x="609600" y="1536700"/>
            <a:ext cx="10972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篇，相关回归路线出现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篇；经典方法仍是常见参照。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CB029EDA-F941-FD15-CD23-D6B79CADAA47}"/>
              </a:ext>
            </a:extLst>
          </p:cNvPr>
          <p:cNvSpPr/>
          <p:nvPr/>
        </p:nvSpPr>
        <p:spPr>
          <a:xfrm>
            <a:off x="4064000" y="203200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16DBA23C-045E-A585-AC76-C7C9F564C027}"/>
              </a:ext>
            </a:extLst>
          </p:cNvPr>
          <p:cNvSpPr/>
          <p:nvPr/>
        </p:nvSpPr>
        <p:spPr>
          <a:xfrm>
            <a:off x="4325408" y="21101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E2520C3E-BC14-5633-2A48-A48FFD0A2252}"/>
              </a:ext>
            </a:extLst>
          </p:cNvPr>
          <p:cNvSpPr/>
          <p:nvPr/>
        </p:nvSpPr>
        <p:spPr>
          <a:xfrm>
            <a:off x="5612342" y="21101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E4ED373D-75FE-2AC1-8BDB-43551BAC3FB3}"/>
              </a:ext>
            </a:extLst>
          </p:cNvPr>
          <p:cNvSpPr/>
          <p:nvPr/>
        </p:nvSpPr>
        <p:spPr>
          <a:xfrm>
            <a:off x="5612342" y="23869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5E73185-90AD-DF40-6C1F-D65E4A434BED}"/>
              </a:ext>
            </a:extLst>
          </p:cNvPr>
          <p:cNvSpPr/>
          <p:nvPr/>
        </p:nvSpPr>
        <p:spPr>
          <a:xfrm>
            <a:off x="4064000" y="258572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CC74500D-00B5-8CC8-9093-D47737855897}"/>
              </a:ext>
            </a:extLst>
          </p:cNvPr>
          <p:cNvSpPr/>
          <p:nvPr/>
        </p:nvSpPr>
        <p:spPr>
          <a:xfrm>
            <a:off x="4325408" y="26638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D7DFD2E1-526C-3E4A-3265-0BBBD322BADE}"/>
              </a:ext>
            </a:extLst>
          </p:cNvPr>
          <p:cNvSpPr/>
          <p:nvPr/>
        </p:nvSpPr>
        <p:spPr>
          <a:xfrm>
            <a:off x="4325408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707AF035-D6CD-A8D4-F086-1EA4DEC33A89}"/>
              </a:ext>
            </a:extLst>
          </p:cNvPr>
          <p:cNvSpPr/>
          <p:nvPr/>
        </p:nvSpPr>
        <p:spPr>
          <a:xfrm>
            <a:off x="6255808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706B65E9-EEDD-D83A-EB11-9BE663B9771F}"/>
              </a:ext>
            </a:extLst>
          </p:cNvPr>
          <p:cNvSpPr/>
          <p:nvPr/>
        </p:nvSpPr>
        <p:spPr>
          <a:xfrm>
            <a:off x="6899275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6DD88665-BD84-F470-6521-8032AF0B15BA}"/>
              </a:ext>
            </a:extLst>
          </p:cNvPr>
          <p:cNvSpPr/>
          <p:nvPr/>
        </p:nvSpPr>
        <p:spPr>
          <a:xfrm>
            <a:off x="4064000" y="313944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962F3799-5247-9765-F69F-6EE6E3980A7C}"/>
              </a:ext>
            </a:extLst>
          </p:cNvPr>
          <p:cNvSpPr/>
          <p:nvPr/>
        </p:nvSpPr>
        <p:spPr>
          <a:xfrm>
            <a:off x="6255808" y="32175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BF9F3B71-0E61-C444-2FB1-6B3D089F8483}"/>
              </a:ext>
            </a:extLst>
          </p:cNvPr>
          <p:cNvSpPr/>
          <p:nvPr/>
        </p:nvSpPr>
        <p:spPr>
          <a:xfrm>
            <a:off x="9473142" y="32175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BE3BA54D-BC1E-A196-3958-1A0B460FD554}"/>
              </a:ext>
            </a:extLst>
          </p:cNvPr>
          <p:cNvSpPr/>
          <p:nvPr/>
        </p:nvSpPr>
        <p:spPr>
          <a:xfrm>
            <a:off x="4325408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0D59097E-19FA-8201-D51B-890C61767E64}"/>
              </a:ext>
            </a:extLst>
          </p:cNvPr>
          <p:cNvSpPr/>
          <p:nvPr/>
        </p:nvSpPr>
        <p:spPr>
          <a:xfrm>
            <a:off x="5612342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4E0B3752-9864-BA82-98AF-9764EF3AA470}"/>
              </a:ext>
            </a:extLst>
          </p:cNvPr>
          <p:cNvSpPr/>
          <p:nvPr/>
        </p:nvSpPr>
        <p:spPr>
          <a:xfrm>
            <a:off x="6899275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1A01843F-4F2E-DBE0-509B-96DD6D43F3D6}"/>
              </a:ext>
            </a:extLst>
          </p:cNvPr>
          <p:cNvSpPr/>
          <p:nvPr/>
        </p:nvSpPr>
        <p:spPr>
          <a:xfrm>
            <a:off x="8186208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E7E06AFE-6A87-F2FD-AF6F-F0DD3E840D34}"/>
              </a:ext>
            </a:extLst>
          </p:cNvPr>
          <p:cNvSpPr/>
          <p:nvPr/>
        </p:nvSpPr>
        <p:spPr>
          <a:xfrm>
            <a:off x="10760075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9010D66-6365-CCFC-3B2C-90115BFC6412}"/>
              </a:ext>
            </a:extLst>
          </p:cNvPr>
          <p:cNvSpPr/>
          <p:nvPr/>
        </p:nvSpPr>
        <p:spPr>
          <a:xfrm>
            <a:off x="11403542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BE81BBCB-8D0D-EB58-6C40-4CC3E2339079}"/>
              </a:ext>
            </a:extLst>
          </p:cNvPr>
          <p:cNvSpPr/>
          <p:nvPr/>
        </p:nvSpPr>
        <p:spPr>
          <a:xfrm>
            <a:off x="4064000" y="369316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8ED90C36-940C-FEAC-12FE-BAC90874A2FA}"/>
              </a:ext>
            </a:extLst>
          </p:cNvPr>
          <p:cNvSpPr/>
          <p:nvPr/>
        </p:nvSpPr>
        <p:spPr>
          <a:xfrm>
            <a:off x="4968875" y="37712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CE2C2083-1B26-9BD6-DD79-023A1BE2C685}"/>
              </a:ext>
            </a:extLst>
          </p:cNvPr>
          <p:cNvSpPr/>
          <p:nvPr/>
        </p:nvSpPr>
        <p:spPr>
          <a:xfrm>
            <a:off x="4325408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8B38294D-67CC-B676-6353-21C770E55DC0}"/>
              </a:ext>
            </a:extLst>
          </p:cNvPr>
          <p:cNvSpPr/>
          <p:nvPr/>
        </p:nvSpPr>
        <p:spPr>
          <a:xfrm>
            <a:off x="4968875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D38A03CE-6964-4A54-746B-2863840FC087}"/>
              </a:ext>
            </a:extLst>
          </p:cNvPr>
          <p:cNvSpPr/>
          <p:nvPr/>
        </p:nvSpPr>
        <p:spPr>
          <a:xfrm>
            <a:off x="7542742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C416B1B-44E3-6422-3FDC-FDF9F8B61B14}"/>
              </a:ext>
            </a:extLst>
          </p:cNvPr>
          <p:cNvSpPr/>
          <p:nvPr/>
        </p:nvSpPr>
        <p:spPr>
          <a:xfrm>
            <a:off x="4064000" y="424688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20D19915-01CC-4716-AAC7-6A91FC524F9A}"/>
              </a:ext>
            </a:extLst>
          </p:cNvPr>
          <p:cNvSpPr/>
          <p:nvPr/>
        </p:nvSpPr>
        <p:spPr>
          <a:xfrm>
            <a:off x="4325408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46C98FE2-3DE4-FBA9-7CC5-1ED1FC33BA5A}"/>
              </a:ext>
            </a:extLst>
          </p:cNvPr>
          <p:cNvSpPr/>
          <p:nvPr/>
        </p:nvSpPr>
        <p:spPr>
          <a:xfrm>
            <a:off x="7542742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FDC363D7-4A0A-6636-0256-1D6C8D6A2A80}"/>
              </a:ext>
            </a:extLst>
          </p:cNvPr>
          <p:cNvSpPr/>
          <p:nvPr/>
        </p:nvSpPr>
        <p:spPr>
          <a:xfrm>
            <a:off x="8829675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5C11832D-0DA7-5572-4EE9-4500A243E046}"/>
              </a:ext>
            </a:extLst>
          </p:cNvPr>
          <p:cNvSpPr/>
          <p:nvPr/>
        </p:nvSpPr>
        <p:spPr>
          <a:xfrm>
            <a:off x="8186208" y="46018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A9F2D6F1-D98F-932D-F64B-FC5832805705}"/>
              </a:ext>
            </a:extLst>
          </p:cNvPr>
          <p:cNvSpPr/>
          <p:nvPr/>
        </p:nvSpPr>
        <p:spPr>
          <a:xfrm>
            <a:off x="10116608" y="46018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2FAEEF04-4DED-BF75-D5C9-E54240125B99}"/>
              </a:ext>
            </a:extLst>
          </p:cNvPr>
          <p:cNvSpPr/>
          <p:nvPr/>
        </p:nvSpPr>
        <p:spPr>
          <a:xfrm>
            <a:off x="4064000" y="480060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8351CF6-6D77-B2FB-4BD6-43D2E78280EB}"/>
              </a:ext>
            </a:extLst>
          </p:cNvPr>
          <p:cNvSpPr/>
          <p:nvPr/>
        </p:nvSpPr>
        <p:spPr>
          <a:xfrm>
            <a:off x="4968875" y="48787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E853D4E3-6802-ECAD-C388-DB381F8BD359}"/>
              </a:ext>
            </a:extLst>
          </p:cNvPr>
          <p:cNvSpPr/>
          <p:nvPr/>
        </p:nvSpPr>
        <p:spPr>
          <a:xfrm>
            <a:off x="4325408" y="51555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BC1660B1-2419-9740-52F6-6F55EFE2E5F1}"/>
              </a:ext>
            </a:extLst>
          </p:cNvPr>
          <p:cNvSpPr/>
          <p:nvPr/>
        </p:nvSpPr>
        <p:spPr>
          <a:xfrm>
            <a:off x="4968875" y="51555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479C20FA-27AC-9FB6-31E4-A8EB926DCF04}"/>
              </a:ext>
            </a:extLst>
          </p:cNvPr>
          <p:cNvCxnSpPr/>
          <p:nvPr/>
        </p:nvCxnSpPr>
        <p:spPr>
          <a:xfrm>
            <a:off x="43857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4EDA14EC-058D-42F9-20E2-6728C65B4345}"/>
              </a:ext>
            </a:extLst>
          </p:cNvPr>
          <p:cNvSpPr txBox="1"/>
          <p:nvPr/>
        </p:nvSpPr>
        <p:spPr>
          <a:xfrm>
            <a:off x="42333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8" name="对照标签-0">
            <a:extLst>
              <a:ext uri="{FF2B5EF4-FFF2-40B4-BE49-F238E27FC236}">
                <a16:creationId xmlns:a16="http://schemas.microsoft.com/office/drawing/2014/main" id="{54EA2EAF-4545-CF9E-A2BD-35C53CEB3170}"/>
              </a:ext>
            </a:extLst>
          </p:cNvPr>
          <p:cNvSpPr/>
          <p:nvPr/>
        </p:nvSpPr>
        <p:spPr>
          <a:xfrm>
            <a:off x="40640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极大似然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8A0756BF-8B6D-FE8E-B84A-3FA2660D863E}"/>
              </a:ext>
            </a:extLst>
          </p:cNvPr>
          <p:cNvCxnSpPr/>
          <p:nvPr/>
        </p:nvCxnSpPr>
        <p:spPr>
          <a:xfrm>
            <a:off x="50292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0831B46E-AAD0-E8C6-EE2A-4DD88F1D0DE3}"/>
              </a:ext>
            </a:extLst>
          </p:cNvPr>
          <p:cNvSpPr txBox="1"/>
          <p:nvPr/>
        </p:nvSpPr>
        <p:spPr>
          <a:xfrm>
            <a:off x="48768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2" name="对照标签-1">
            <a:extLst>
              <a:ext uri="{FF2B5EF4-FFF2-40B4-BE49-F238E27FC236}">
                <a16:creationId xmlns:a16="http://schemas.microsoft.com/office/drawing/2014/main" id="{37BF8C94-0461-4594-BAF2-CCB576D5391E}"/>
              </a:ext>
            </a:extLst>
          </p:cNvPr>
          <p:cNvSpPr/>
          <p:nvPr/>
        </p:nvSpPr>
        <p:spPr>
          <a:xfrm>
            <a:off x="47074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相关回归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LRE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2017</a:t>
            </a:r>
            <a:endParaRPr lang="zh-CN" altLang="en-US" sz="115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DFD087CC-17E7-68C8-A05D-7190AB3E3C0D}"/>
              </a:ext>
            </a:extLst>
          </p:cNvPr>
          <p:cNvCxnSpPr/>
          <p:nvPr/>
        </p:nvCxnSpPr>
        <p:spPr>
          <a:xfrm>
            <a:off x="56726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49B99DFF-A487-18B6-5EB3-43B4DC08F2E2}"/>
              </a:ext>
            </a:extLst>
          </p:cNvPr>
          <p:cNvSpPr txBox="1"/>
          <p:nvPr/>
        </p:nvSpPr>
        <p:spPr>
          <a:xfrm>
            <a:off x="55202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6" name="对照标签-2">
            <a:extLst>
              <a:ext uri="{FF2B5EF4-FFF2-40B4-BE49-F238E27FC236}">
                <a16:creationId xmlns:a16="http://schemas.microsoft.com/office/drawing/2014/main" id="{F233E0D0-E830-9F22-DA59-89746D286428}"/>
              </a:ext>
            </a:extLst>
          </p:cNvPr>
          <p:cNvSpPr/>
          <p:nvPr/>
        </p:nvSpPr>
        <p:spPr>
          <a:xfrm>
            <a:off x="53509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1988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76BE2FB3-A815-A2A4-746C-FCBD874DA60D}"/>
              </a:ext>
            </a:extLst>
          </p:cNvPr>
          <p:cNvCxnSpPr/>
          <p:nvPr/>
        </p:nvCxnSpPr>
        <p:spPr>
          <a:xfrm>
            <a:off x="63161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>
            <a:extLst>
              <a:ext uri="{FF2B5EF4-FFF2-40B4-BE49-F238E27FC236}">
                <a16:creationId xmlns:a16="http://schemas.microsoft.com/office/drawing/2014/main" id="{6B1F3F54-E0B2-F0FF-81F2-4004D255EC04}"/>
              </a:ext>
            </a:extLst>
          </p:cNvPr>
          <p:cNvSpPr txBox="1"/>
          <p:nvPr/>
        </p:nvSpPr>
        <p:spPr>
          <a:xfrm>
            <a:off x="61637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0" name="对照标签-3">
            <a:extLst>
              <a:ext uri="{FF2B5EF4-FFF2-40B4-BE49-F238E27FC236}">
                <a16:creationId xmlns:a16="http://schemas.microsoft.com/office/drawing/2014/main" id="{F5E80F2D-7CD5-BE29-80EF-B2F82F991CB8}"/>
              </a:ext>
            </a:extLst>
          </p:cNvPr>
          <p:cNvSpPr/>
          <p:nvPr/>
        </p:nvSpPr>
        <p:spPr>
          <a:xfrm>
            <a:off x="59944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加权极大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2009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2011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120C0BAA-F9A4-2009-A0A5-851987C8E1DC}"/>
              </a:ext>
            </a:extLst>
          </p:cNvPr>
          <p:cNvCxnSpPr/>
          <p:nvPr/>
        </p:nvCxnSpPr>
        <p:spPr>
          <a:xfrm>
            <a:off x="69596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文本框 251">
            <a:extLst>
              <a:ext uri="{FF2B5EF4-FFF2-40B4-BE49-F238E27FC236}">
                <a16:creationId xmlns:a16="http://schemas.microsoft.com/office/drawing/2014/main" id="{736818D7-12DD-7355-001F-5A613C958D67}"/>
              </a:ext>
            </a:extLst>
          </p:cNvPr>
          <p:cNvSpPr txBox="1"/>
          <p:nvPr/>
        </p:nvSpPr>
        <p:spPr>
          <a:xfrm>
            <a:off x="68072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4" name="对照标签-4">
            <a:extLst>
              <a:ext uri="{FF2B5EF4-FFF2-40B4-BE49-F238E27FC236}">
                <a16:creationId xmlns:a16="http://schemas.microsoft.com/office/drawing/2014/main" id="{D683CE74-3BF4-6E44-7E19-BBEE9AB34C53}"/>
              </a:ext>
            </a:extLst>
          </p:cNvPr>
          <p:cNvSpPr/>
          <p:nvPr/>
        </p:nvSpPr>
        <p:spPr>
          <a:xfrm>
            <a:off x="66378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最大乘积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间距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MPS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1983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04A025DE-023D-9A75-446C-D5644C991037}"/>
              </a:ext>
            </a:extLst>
          </p:cNvPr>
          <p:cNvCxnSpPr/>
          <p:nvPr/>
        </p:nvCxnSpPr>
        <p:spPr>
          <a:xfrm>
            <a:off x="76030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文本框 255">
            <a:extLst>
              <a:ext uri="{FF2B5EF4-FFF2-40B4-BE49-F238E27FC236}">
                <a16:creationId xmlns:a16="http://schemas.microsoft.com/office/drawing/2014/main" id="{109F9DB5-D8AC-C579-3275-59845BE70ADD}"/>
              </a:ext>
            </a:extLst>
          </p:cNvPr>
          <p:cNvSpPr txBox="1"/>
          <p:nvPr/>
        </p:nvSpPr>
        <p:spPr>
          <a:xfrm>
            <a:off x="74506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8" name="对照标签-5">
            <a:extLst>
              <a:ext uri="{FF2B5EF4-FFF2-40B4-BE49-F238E27FC236}">
                <a16:creationId xmlns:a16="http://schemas.microsoft.com/office/drawing/2014/main" id="{0FD55393-12E8-8876-909E-1E31B356E410}"/>
              </a:ext>
            </a:extLst>
          </p:cNvPr>
          <p:cNvSpPr/>
          <p:nvPr/>
        </p:nvSpPr>
        <p:spPr>
          <a:xfrm>
            <a:off x="72813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概率加权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1979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7B2A4493-B887-DA1E-F671-C8D008BF35EE}"/>
              </a:ext>
            </a:extLst>
          </p:cNvPr>
          <p:cNvCxnSpPr/>
          <p:nvPr/>
        </p:nvCxnSpPr>
        <p:spPr>
          <a:xfrm>
            <a:off x="82465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文本框 259">
            <a:extLst>
              <a:ext uri="{FF2B5EF4-FFF2-40B4-BE49-F238E27FC236}">
                <a16:creationId xmlns:a16="http://schemas.microsoft.com/office/drawing/2014/main" id="{26973175-FC3E-BE8E-CFF7-A5D834FDA81F}"/>
              </a:ext>
            </a:extLst>
          </p:cNvPr>
          <p:cNvSpPr txBox="1"/>
          <p:nvPr/>
        </p:nvSpPr>
        <p:spPr>
          <a:xfrm>
            <a:off x="80941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2" name="对照标签-6">
            <a:extLst>
              <a:ext uri="{FF2B5EF4-FFF2-40B4-BE49-F238E27FC236}">
                <a16:creationId xmlns:a16="http://schemas.microsoft.com/office/drawing/2014/main" id="{92CF060F-D79C-A2C3-A05B-E156D4A0E1EE}"/>
              </a:ext>
            </a:extLst>
          </p:cNvPr>
          <p:cNvSpPr/>
          <p:nvPr/>
        </p:nvSpPr>
        <p:spPr>
          <a:xfrm>
            <a:off x="79248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2009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B22B64EA-D763-A84E-D79D-24109C05E58E}"/>
              </a:ext>
            </a:extLst>
          </p:cNvPr>
          <p:cNvCxnSpPr/>
          <p:nvPr/>
        </p:nvCxnSpPr>
        <p:spPr>
          <a:xfrm>
            <a:off x="88900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文本框 263">
            <a:extLst>
              <a:ext uri="{FF2B5EF4-FFF2-40B4-BE49-F238E27FC236}">
                <a16:creationId xmlns:a16="http://schemas.microsoft.com/office/drawing/2014/main" id="{2AD13C08-53E2-839F-8ECB-DFFBA1805484}"/>
              </a:ext>
            </a:extLst>
          </p:cNvPr>
          <p:cNvSpPr txBox="1"/>
          <p:nvPr/>
        </p:nvSpPr>
        <p:spPr>
          <a:xfrm>
            <a:off x="87376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6" name="对照标签-7">
            <a:extLst>
              <a:ext uri="{FF2B5EF4-FFF2-40B4-BE49-F238E27FC236}">
                <a16:creationId xmlns:a16="http://schemas.microsoft.com/office/drawing/2014/main" id="{DA31E6E6-3BA7-93B6-0CC8-05C058CB6F56}"/>
              </a:ext>
            </a:extLst>
          </p:cNvPr>
          <p:cNvSpPr/>
          <p:nvPr/>
        </p:nvSpPr>
        <p:spPr>
          <a:xfrm>
            <a:off x="85682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</a:t>
            </a:r>
          </a:p>
        </p:txBody>
      </p: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6387A126-BBDF-360B-7D72-2CCDD49C717A}"/>
              </a:ext>
            </a:extLst>
          </p:cNvPr>
          <p:cNvCxnSpPr/>
          <p:nvPr/>
        </p:nvCxnSpPr>
        <p:spPr>
          <a:xfrm>
            <a:off x="95334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8D540813-2648-05F6-56DC-56957F98452F}"/>
              </a:ext>
            </a:extLst>
          </p:cNvPr>
          <p:cNvSpPr txBox="1"/>
          <p:nvPr/>
        </p:nvSpPr>
        <p:spPr>
          <a:xfrm>
            <a:off x="93810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0" name="对照标签-8">
            <a:extLst>
              <a:ext uri="{FF2B5EF4-FFF2-40B4-BE49-F238E27FC236}">
                <a16:creationId xmlns:a16="http://schemas.microsoft.com/office/drawing/2014/main" id="{AAF97828-F8D4-AB3C-5A0B-0D5CDE61DA4E}"/>
              </a:ext>
            </a:extLst>
          </p:cNvPr>
          <p:cNvSpPr/>
          <p:nvPr/>
        </p:nvSpPr>
        <p:spPr>
          <a:xfrm>
            <a:off x="92117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贝叶斯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2005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562D034B-2D2C-C07E-080D-40F630C8F3CF}"/>
              </a:ext>
            </a:extLst>
          </p:cNvPr>
          <p:cNvCxnSpPr/>
          <p:nvPr/>
        </p:nvCxnSpPr>
        <p:spPr>
          <a:xfrm>
            <a:off x="101769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934EB8B4-FE07-44BD-ED1A-7A43206AFFCE}"/>
              </a:ext>
            </a:extLst>
          </p:cNvPr>
          <p:cNvSpPr txBox="1"/>
          <p:nvPr/>
        </p:nvSpPr>
        <p:spPr>
          <a:xfrm>
            <a:off x="100245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4" name="对照标签-9">
            <a:extLst>
              <a:ext uri="{FF2B5EF4-FFF2-40B4-BE49-F238E27FC236}">
                <a16:creationId xmlns:a16="http://schemas.microsoft.com/office/drawing/2014/main" id="{20D349D9-B384-5956-A2CB-B58CB6C0D150}"/>
              </a:ext>
            </a:extLst>
          </p:cNvPr>
          <p:cNvSpPr/>
          <p:nvPr/>
        </p:nvSpPr>
        <p:spPr>
          <a:xfrm>
            <a:off x="98552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校正极大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1987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33D50641-7C71-F0E7-BB9D-08A37D402F82}"/>
              </a:ext>
            </a:extLst>
          </p:cNvPr>
          <p:cNvCxnSpPr/>
          <p:nvPr/>
        </p:nvCxnSpPr>
        <p:spPr>
          <a:xfrm>
            <a:off x="108204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文本框 275">
            <a:extLst>
              <a:ext uri="{FF2B5EF4-FFF2-40B4-BE49-F238E27FC236}">
                <a16:creationId xmlns:a16="http://schemas.microsoft.com/office/drawing/2014/main" id="{C7AABB17-258A-C673-5008-3244E0C8051D}"/>
              </a:ext>
            </a:extLst>
          </p:cNvPr>
          <p:cNvSpPr txBox="1"/>
          <p:nvPr/>
        </p:nvSpPr>
        <p:spPr>
          <a:xfrm>
            <a:off x="106680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8" name="对照标签-10">
            <a:extLst>
              <a:ext uri="{FF2B5EF4-FFF2-40B4-BE49-F238E27FC236}">
                <a16:creationId xmlns:a16="http://schemas.microsoft.com/office/drawing/2014/main" id="{63614651-B1F0-17AC-444E-56CDB8A7867F}"/>
              </a:ext>
            </a:extLst>
          </p:cNvPr>
          <p:cNvSpPr/>
          <p:nvPr/>
        </p:nvSpPr>
        <p:spPr>
          <a:xfrm>
            <a:off x="104986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LM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1990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9B41B28E-9B1A-7549-2B14-A8673192D3C1}"/>
              </a:ext>
            </a:extLst>
          </p:cNvPr>
          <p:cNvCxnSpPr/>
          <p:nvPr/>
        </p:nvCxnSpPr>
        <p:spPr>
          <a:xfrm>
            <a:off x="114638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文本框 279">
            <a:extLst>
              <a:ext uri="{FF2B5EF4-FFF2-40B4-BE49-F238E27FC236}">
                <a16:creationId xmlns:a16="http://schemas.microsoft.com/office/drawing/2014/main" id="{3321D238-915C-F877-472E-DB6933492C1E}"/>
              </a:ext>
            </a:extLst>
          </p:cNvPr>
          <p:cNvSpPr txBox="1"/>
          <p:nvPr/>
        </p:nvSpPr>
        <p:spPr>
          <a:xfrm>
            <a:off x="113114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2" name="对照标签-11">
            <a:extLst>
              <a:ext uri="{FF2B5EF4-FFF2-40B4-BE49-F238E27FC236}">
                <a16:creationId xmlns:a16="http://schemas.microsoft.com/office/drawing/2014/main" id="{4B3C5822-D9B2-AB44-867E-24178099D4AC}"/>
              </a:ext>
            </a:extLst>
          </p:cNvPr>
          <p:cNvSpPr/>
          <p:nvPr/>
        </p:nvSpPr>
        <p:spPr>
          <a:xfrm>
            <a:off x="111421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修正矩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MMoE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4" name="论文行标签-0">
            <a:extLst>
              <a:ext uri="{FF2B5EF4-FFF2-40B4-BE49-F238E27FC236}">
                <a16:creationId xmlns:a16="http://schemas.microsoft.com/office/drawing/2014/main" id="{EEE1A0ED-312C-991E-1266-36334B0CECDE}"/>
              </a:ext>
            </a:extLst>
          </p:cNvPr>
          <p:cNvSpPr/>
          <p:nvPr/>
        </p:nvSpPr>
        <p:spPr>
          <a:xfrm>
            <a:off x="152400" y="20320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修正似然与矩估计（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 / MMoE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1982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6" name="论文行标签-1">
            <a:extLst>
              <a:ext uri="{FF2B5EF4-FFF2-40B4-BE49-F238E27FC236}">
                <a16:creationId xmlns:a16="http://schemas.microsoft.com/office/drawing/2014/main" id="{4183919C-A975-30DE-1238-2F950AFEC486}"/>
              </a:ext>
            </a:extLst>
          </p:cNvPr>
          <p:cNvSpPr/>
          <p:nvPr/>
        </p:nvSpPr>
        <p:spPr>
          <a:xfrm>
            <a:off x="152400" y="23088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人工神经网络估计（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ANN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2008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8" name="论文行标签-2">
            <a:extLst>
              <a:ext uri="{FF2B5EF4-FFF2-40B4-BE49-F238E27FC236}">
                <a16:creationId xmlns:a16="http://schemas.microsoft.com/office/drawing/2014/main" id="{87400985-2EAD-7C97-28DB-EC6F8554F8C7}"/>
              </a:ext>
            </a:extLst>
          </p:cNvPr>
          <p:cNvSpPr/>
          <p:nvPr/>
        </p:nvSpPr>
        <p:spPr>
          <a:xfrm>
            <a:off x="152400" y="258572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加权极大似然估计（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2009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0" name="论文行标签-3">
            <a:extLst>
              <a:ext uri="{FF2B5EF4-FFF2-40B4-BE49-F238E27FC236}">
                <a16:creationId xmlns:a16="http://schemas.microsoft.com/office/drawing/2014/main" id="{CDD331B5-4733-BE73-316B-B401F76EC3AC}"/>
              </a:ext>
            </a:extLst>
          </p:cNvPr>
          <p:cNvSpPr/>
          <p:nvPr/>
        </p:nvSpPr>
        <p:spPr>
          <a:xfrm>
            <a:off x="152400" y="286258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估计方法比较研究 </a:t>
            </a:r>
            <a:r>
              <a:rPr lang="en-US" altLang="zh-CN" sz="122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2009</a:t>
            </a:r>
            <a:endParaRPr lang="zh-CN" altLang="en-US" sz="122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2" name="论文行标签-4">
            <a:extLst>
              <a:ext uri="{FF2B5EF4-FFF2-40B4-BE49-F238E27FC236}">
                <a16:creationId xmlns:a16="http://schemas.microsoft.com/office/drawing/2014/main" id="{7BAB0B3A-BC50-EC93-8048-3FBEB91E247E}"/>
              </a:ext>
            </a:extLst>
          </p:cNvPr>
          <p:cNvSpPr/>
          <p:nvPr/>
        </p:nvSpPr>
        <p:spPr>
          <a:xfrm>
            <a:off x="152400" y="313944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变换统计量似然估计（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4" name="论文行标签-5">
            <a:extLst>
              <a:ext uri="{FF2B5EF4-FFF2-40B4-BE49-F238E27FC236}">
                <a16:creationId xmlns:a16="http://schemas.microsoft.com/office/drawing/2014/main" id="{DAD1F639-4D87-981D-6A76-7C74D560CA0A}"/>
              </a:ext>
            </a:extLst>
          </p:cNvPr>
          <p:cNvSpPr/>
          <p:nvPr/>
        </p:nvSpPr>
        <p:spPr>
          <a:xfrm>
            <a:off x="152400" y="34163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估计方法综合比较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2014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6" name="论文行标签-6">
            <a:extLst>
              <a:ext uri="{FF2B5EF4-FFF2-40B4-BE49-F238E27FC236}">
                <a16:creationId xmlns:a16="http://schemas.microsoft.com/office/drawing/2014/main" id="{00B06239-69F7-E577-12DC-ADB1DF0E0D92}"/>
              </a:ext>
            </a:extLst>
          </p:cNvPr>
          <p:cNvSpPr/>
          <p:nvPr/>
        </p:nvSpPr>
        <p:spPr>
          <a:xfrm>
            <a:off x="152400" y="36931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最小二乘迭代估计（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迭代）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8" name="论文行标签-7">
            <a:extLst>
              <a:ext uri="{FF2B5EF4-FFF2-40B4-BE49-F238E27FC236}">
                <a16:creationId xmlns:a16="http://schemas.microsoft.com/office/drawing/2014/main" id="{C3A04C98-09EB-87E6-FA1C-816EE10BF06C}"/>
              </a:ext>
            </a:extLst>
          </p:cNvPr>
          <p:cNvSpPr/>
          <p:nvPr/>
        </p:nvSpPr>
        <p:spPr>
          <a:xfrm>
            <a:off x="152400" y="397002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0" name="论文行标签-8">
            <a:extLst>
              <a:ext uri="{FF2B5EF4-FFF2-40B4-BE49-F238E27FC236}">
                <a16:creationId xmlns:a16="http://schemas.microsoft.com/office/drawing/2014/main" id="{7E5049B8-21E2-FA99-F0FC-202727CF6829}"/>
              </a:ext>
            </a:extLst>
          </p:cNvPr>
          <p:cNvSpPr/>
          <p:nvPr/>
        </p:nvSpPr>
        <p:spPr>
          <a:xfrm>
            <a:off x="152400" y="424688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2" name="论文行标签-9">
            <a:extLst>
              <a:ext uri="{FF2B5EF4-FFF2-40B4-BE49-F238E27FC236}">
                <a16:creationId xmlns:a16="http://schemas.microsoft.com/office/drawing/2014/main" id="{5C403F15-A0CB-D870-87A0-33D5363D8ED1}"/>
              </a:ext>
            </a:extLst>
          </p:cNvPr>
          <p:cNvSpPr/>
          <p:nvPr/>
        </p:nvSpPr>
        <p:spPr>
          <a:xfrm>
            <a:off x="152400" y="452374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双重修正极大似然估计（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4" name="论文行标签-10">
            <a:extLst>
              <a:ext uri="{FF2B5EF4-FFF2-40B4-BE49-F238E27FC236}">
                <a16:creationId xmlns:a16="http://schemas.microsoft.com/office/drawing/2014/main" id="{DB2729F2-4B9A-D829-F6F0-66B5B7EC56C7}"/>
              </a:ext>
            </a:extLst>
          </p:cNvPr>
          <p:cNvSpPr/>
          <p:nvPr/>
        </p:nvSpPr>
        <p:spPr>
          <a:xfrm>
            <a:off x="152400" y="48006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反向传播神经网络估计（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6" name="论文行标签-11">
            <a:extLst>
              <a:ext uri="{FF2B5EF4-FFF2-40B4-BE49-F238E27FC236}">
                <a16:creationId xmlns:a16="http://schemas.microsoft.com/office/drawing/2014/main" id="{D0ACAB4C-B64C-3D83-8BBE-7F1A5B9BEA33}"/>
              </a:ext>
            </a:extLst>
          </p:cNvPr>
          <p:cNvSpPr/>
          <p:nvPr/>
        </p:nvSpPr>
        <p:spPr>
          <a:xfrm>
            <a:off x="152400" y="50774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自适应梯度优化（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ADGBO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为什么近期论文不少，比较中仍常见经典方法？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6D61CF-4800-F220-008C-5A4E484CB9E2}"/>
              </a:ext>
            </a:extLst>
          </p:cNvPr>
          <p:cNvSpPr/>
          <p:nvPr/>
        </p:nvSpPr>
        <p:spPr>
          <a:xfrm>
            <a:off x="609600" y="3556000"/>
            <a:ext cx="2489200" cy="787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近期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Weibull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估计研究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BAA30C0-1E9E-23A6-5E35-FDF07F4B5885}"/>
              </a:ext>
            </a:extLst>
          </p:cNvPr>
          <p:cNvCxnSpPr/>
          <p:nvPr/>
        </p:nvCxnSpPr>
        <p:spPr>
          <a:xfrm>
            <a:off x="3098800" y="3949700"/>
            <a:ext cx="393700" cy="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D64E2F5-1CF7-2336-BAF1-CB869D212AD2}"/>
              </a:ext>
            </a:extLst>
          </p:cNvPr>
          <p:cNvCxnSpPr/>
          <p:nvPr/>
        </p:nvCxnSpPr>
        <p:spPr>
          <a:xfrm>
            <a:off x="3492500" y="2286000"/>
            <a:ext cx="0" cy="342900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5064BB3-3175-4F8B-65F9-D4C506E7B493}"/>
              </a:ext>
            </a:extLst>
          </p:cNvPr>
          <p:cNvCxnSpPr/>
          <p:nvPr/>
        </p:nvCxnSpPr>
        <p:spPr>
          <a:xfrm>
            <a:off x="3492500" y="2286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32E14B8-64BA-E46E-2862-F4845236C7E3}"/>
              </a:ext>
            </a:extLst>
          </p:cNvPr>
          <p:cNvSpPr/>
          <p:nvPr/>
        </p:nvSpPr>
        <p:spPr>
          <a:xfrm>
            <a:off x="3937000" y="1841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改估计构造</a:t>
            </a:r>
          </a:p>
        </p:txBody>
      </p:sp>
      <p:sp>
        <p:nvSpPr>
          <p:cNvPr id="22" name="讲解-22">
            <a:extLst>
              <a:ext uri="{FF2B5EF4-FFF2-40B4-BE49-F238E27FC236}">
                <a16:creationId xmlns:a16="http://schemas.microsoft.com/office/drawing/2014/main" id="{222577AF-DE6E-3730-3196-C31745F7A984}"/>
              </a:ext>
            </a:extLst>
          </p:cNvPr>
          <p:cNvSpPr txBox="1"/>
          <p:nvPr/>
        </p:nvSpPr>
        <p:spPr>
          <a:xfrm>
            <a:off x="6248400" y="1943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小样本、位置与偏差修正：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学习估计：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95981E8-CBC1-6AC3-A087-0EF61A3CEBEC}"/>
              </a:ext>
            </a:extLst>
          </p:cNvPr>
          <p:cNvCxnSpPr/>
          <p:nvPr/>
        </p:nvCxnSpPr>
        <p:spPr>
          <a:xfrm>
            <a:off x="3492500" y="3429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A9E1E68-E458-3AFD-5FB8-F006CF69B13A}"/>
              </a:ext>
            </a:extLst>
          </p:cNvPr>
          <p:cNvSpPr/>
          <p:nvPr/>
        </p:nvSpPr>
        <p:spPr>
          <a:xfrm>
            <a:off x="3937000" y="2984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改观测与数据条件</a:t>
            </a:r>
          </a:p>
        </p:txBody>
      </p:sp>
      <p:sp>
        <p:nvSpPr>
          <p:cNvPr id="25" name="讲解-25">
            <a:extLst>
              <a:ext uri="{FF2B5EF4-FFF2-40B4-BE49-F238E27FC236}">
                <a16:creationId xmlns:a16="http://schemas.microsoft.com/office/drawing/2014/main" id="{D0F854A7-A467-CE04-8784-4CAAAB2A18CE}"/>
              </a:ext>
            </a:extLst>
          </p:cNvPr>
          <p:cNvSpPr txBox="1"/>
          <p:nvPr/>
        </p:nvSpPr>
        <p:spPr>
          <a:xfrm>
            <a:off x="6248400" y="3086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删失、截尾、离群污染、加速寿命试验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所用数据和假设发生变化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A3006B-DD13-77D6-DD8A-A00D92AE73CC}"/>
              </a:ext>
            </a:extLst>
          </p:cNvPr>
          <p:cNvCxnSpPr/>
          <p:nvPr/>
        </p:nvCxnSpPr>
        <p:spPr>
          <a:xfrm>
            <a:off x="3492500" y="4572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37B338E-ACF4-D64F-B459-ADE0E8567277}"/>
              </a:ext>
            </a:extLst>
          </p:cNvPr>
          <p:cNvSpPr/>
          <p:nvPr/>
        </p:nvSpPr>
        <p:spPr>
          <a:xfrm>
            <a:off x="3937000" y="4127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改计算过程</a:t>
            </a:r>
          </a:p>
        </p:txBody>
      </p:sp>
      <p:sp>
        <p:nvSpPr>
          <p:cNvPr id="28" name="讲解-28">
            <a:extLst>
              <a:ext uri="{FF2B5EF4-FFF2-40B4-BE49-F238E27FC236}">
                <a16:creationId xmlns:a16="http://schemas.microsoft.com/office/drawing/2014/main" id="{2073E926-3C6D-179D-BD85-290EC556704B}"/>
              </a:ext>
            </a:extLst>
          </p:cNvPr>
          <p:cNvSpPr txBox="1"/>
          <p:nvPr/>
        </p:nvSpPr>
        <p:spPr>
          <a:xfrm>
            <a:off x="6248400" y="4229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PSO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ADGBO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等求解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改善初值敏感、搜索停滞与计算效率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7BF3800-F8BE-33DA-DBAA-CCBD6BCA4A73}"/>
              </a:ext>
            </a:extLst>
          </p:cNvPr>
          <p:cNvCxnSpPr/>
          <p:nvPr/>
        </p:nvCxnSpPr>
        <p:spPr>
          <a:xfrm>
            <a:off x="3492500" y="5715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9D0386B-D623-A132-947B-1D2A79C0AB77}"/>
              </a:ext>
            </a:extLst>
          </p:cNvPr>
          <p:cNvSpPr/>
          <p:nvPr/>
        </p:nvSpPr>
        <p:spPr>
          <a:xfrm>
            <a:off x="3937000" y="5270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扩展推断目标</a:t>
            </a:r>
          </a:p>
        </p:txBody>
      </p:sp>
      <p:sp>
        <p:nvSpPr>
          <p:cNvPr id="31" name="讲解-31">
            <a:extLst>
              <a:ext uri="{FF2B5EF4-FFF2-40B4-BE49-F238E27FC236}">
                <a16:creationId xmlns:a16="http://schemas.microsoft.com/office/drawing/2014/main" id="{A96B4E68-5D7B-CC0F-7C2F-A84F2821EC2C}"/>
              </a:ext>
            </a:extLst>
          </p:cNvPr>
          <p:cNvSpPr txBox="1"/>
          <p:nvPr/>
        </p:nvSpPr>
        <p:spPr>
          <a:xfrm>
            <a:off x="6248400" y="5372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区间、预测、可靠度与贝叶斯推断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关注的不只是三个参数的点估计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近年的新方法，实际和谁比、在什么条件下比？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91B521-167D-FAF6-6A90-F88C0D89D5D3}"/>
              </a:ext>
            </a:extLst>
          </p:cNvPr>
          <p:cNvSpPr txBox="1"/>
          <p:nvPr/>
        </p:nvSpPr>
        <p:spPr>
          <a:xfrm>
            <a:off x="609600" y="18669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Nagatsuka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2013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046296C-D31A-8A40-3339-CCD22C0DBA39}"/>
              </a:ext>
            </a:extLst>
          </p:cNvPr>
          <p:cNvCxnSpPr/>
          <p:nvPr/>
        </p:nvCxnSpPr>
        <p:spPr>
          <a:xfrm>
            <a:off x="4127500" y="21590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301B443-D5FE-91A4-7A5F-D4F07BBEF766}"/>
              </a:ext>
            </a:extLst>
          </p:cNvPr>
          <p:cNvSpPr txBox="1"/>
          <p:nvPr/>
        </p:nvSpPr>
        <p:spPr>
          <a:xfrm>
            <a:off x="4597400" y="18669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β=0.5—5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η=1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γ=0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89209EB-BE79-A50F-1632-72A8EC015A0E}"/>
              </a:ext>
            </a:extLst>
          </p:cNvPr>
          <p:cNvCxnSpPr/>
          <p:nvPr/>
        </p:nvCxnSpPr>
        <p:spPr>
          <a:xfrm>
            <a:off x="7912100" y="21590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992FA58-F87B-DFD1-3EBC-4011432515D8}"/>
              </a:ext>
            </a:extLst>
          </p:cNvPr>
          <p:cNvSpPr txBox="1"/>
          <p:nvPr/>
        </p:nvSpPr>
        <p:spPr>
          <a:xfrm>
            <a:off x="8382000" y="18669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检验形状似然构造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结果随样本量与参数变化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C4FAD69-354D-B040-7C65-BF776891E95F}"/>
              </a:ext>
            </a:extLst>
          </p:cNvPr>
          <p:cNvCxnSpPr/>
          <p:nvPr/>
        </p:nvCxnSpPr>
        <p:spPr>
          <a:xfrm>
            <a:off x="609600" y="27305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6416F6F-071F-EBCA-D167-4B4166562E50}"/>
              </a:ext>
            </a:extLst>
          </p:cNvPr>
          <p:cNvSpPr txBox="1"/>
          <p:nvPr/>
        </p:nvSpPr>
        <p:spPr>
          <a:xfrm>
            <a:off x="609600" y="29210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CCWP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745676B-7D68-4EB1-B3ED-31017A018C25}"/>
              </a:ext>
            </a:extLst>
          </p:cNvPr>
          <p:cNvCxnSpPr/>
          <p:nvPr/>
        </p:nvCxnSpPr>
        <p:spPr>
          <a:xfrm>
            <a:off x="4127500" y="32131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E3D29A0-F6F3-1888-3198-78F2CE7E4C3D}"/>
              </a:ext>
            </a:extLst>
          </p:cNvPr>
          <p:cNvSpPr txBox="1"/>
          <p:nvPr/>
        </p:nvSpPr>
        <p:spPr>
          <a:xfrm>
            <a:off x="4597400" y="29210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β=1.5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γ=1</a:t>
            </a:r>
          </a:p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η=0.2—4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n=5—20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B0113C6-DD55-423A-8247-0D4BD0E5CDC6}"/>
              </a:ext>
            </a:extLst>
          </p:cNvPr>
          <p:cNvCxnSpPr/>
          <p:nvPr/>
        </p:nvCxnSpPr>
        <p:spPr>
          <a:xfrm>
            <a:off x="7912100" y="32131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3BE6D4B-1591-C2CC-3079-F7DFE60AEB52}"/>
              </a:ext>
            </a:extLst>
          </p:cNvPr>
          <p:cNvSpPr txBox="1"/>
          <p:nvPr/>
        </p:nvSpPr>
        <p:spPr>
          <a:xfrm>
            <a:off x="8382000" y="29210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检验极小样本的误差与波动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n≤10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时平均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优势明显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597063A-4C60-487F-E627-B7A815C7914A}"/>
              </a:ext>
            </a:extLst>
          </p:cNvPr>
          <p:cNvCxnSpPr/>
          <p:nvPr/>
        </p:nvCxnSpPr>
        <p:spPr>
          <a:xfrm>
            <a:off x="609600" y="37846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625C1C-A368-A9EE-27F0-1F20BDCFC978}"/>
              </a:ext>
            </a:extLst>
          </p:cNvPr>
          <p:cNvSpPr txBox="1"/>
          <p:nvPr/>
        </p:nvSpPr>
        <p:spPr>
          <a:xfrm>
            <a:off x="609600" y="39751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 Silva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CMLE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E613148-7A06-3BA7-CAF0-5D0397526120}"/>
              </a:ext>
            </a:extLst>
          </p:cNvPr>
          <p:cNvCxnSpPr/>
          <p:nvPr/>
        </p:nvCxnSpPr>
        <p:spPr>
          <a:xfrm>
            <a:off x="4127500" y="42672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F1B2B1B-63D5-2A55-0F53-26FB84211963}"/>
              </a:ext>
            </a:extLst>
          </p:cNvPr>
          <p:cNvSpPr txBox="1"/>
          <p:nvPr/>
        </p:nvSpPr>
        <p:spPr>
          <a:xfrm>
            <a:off x="4597400" y="39751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三组真参数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47DA388-81B4-C427-22E2-5702879C9F2E}"/>
              </a:ext>
            </a:extLst>
          </p:cNvPr>
          <p:cNvCxnSpPr/>
          <p:nvPr/>
        </p:nvCxnSpPr>
        <p:spPr>
          <a:xfrm>
            <a:off x="7912100" y="42672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4B18E2B-B2DE-8EAE-1EE4-D7F30B2C89BA}"/>
              </a:ext>
            </a:extLst>
          </p:cNvPr>
          <p:cNvSpPr txBox="1"/>
          <p:nvPr/>
        </p:nvSpPr>
        <p:spPr>
          <a:xfrm>
            <a:off x="8382000" y="39751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检验新增偏差修正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偏差改善，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总体接近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99F4187-AF97-2F05-1819-48EBD2421530}"/>
              </a:ext>
            </a:extLst>
          </p:cNvPr>
          <p:cNvCxnSpPr/>
          <p:nvPr/>
        </p:nvCxnSpPr>
        <p:spPr>
          <a:xfrm>
            <a:off x="609600" y="48387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887087D4-FD07-F5EE-3EBC-61FC66153514}"/>
              </a:ext>
            </a:extLst>
          </p:cNvPr>
          <p:cNvSpPr txBox="1"/>
          <p:nvPr/>
        </p:nvSpPr>
        <p:spPr>
          <a:xfrm>
            <a:off x="609600" y="50292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Yang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CCM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MDM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9EC1060-2904-269B-EC4C-8D43A4374904}"/>
              </a:ext>
            </a:extLst>
          </p:cNvPr>
          <p:cNvCxnSpPr/>
          <p:nvPr/>
        </p:nvCxnSpPr>
        <p:spPr>
          <a:xfrm>
            <a:off x="4127500" y="53213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DB59A06-E459-2E71-261B-F24AC9824989}"/>
              </a:ext>
            </a:extLst>
          </p:cNvPr>
          <p:cNvSpPr txBox="1"/>
          <p:nvPr/>
        </p:nvSpPr>
        <p:spPr>
          <a:xfrm>
            <a:off x="4597400" y="50292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给定训练与测试参数范围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864C6BE-89B3-615B-DF56-751E2E74966F}"/>
              </a:ext>
            </a:extLst>
          </p:cNvPr>
          <p:cNvCxnSpPr/>
          <p:nvPr/>
        </p:nvCxnSpPr>
        <p:spPr>
          <a:xfrm>
            <a:off x="7912100" y="53213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348E3D88-5757-9BF8-E885-C12B8617AE0B}"/>
              </a:ext>
            </a:extLst>
          </p:cNvPr>
          <p:cNvSpPr txBox="1"/>
          <p:nvPr/>
        </p:nvSpPr>
        <p:spPr>
          <a:xfrm>
            <a:off x="8382000" y="50292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检验学习型小样本估计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参数与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1%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分位点的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583503-B2E1-BA6C-D500-36E960A06AAA}"/>
              </a:ext>
            </a:extLst>
          </p:cNvPr>
          <p:cNvSpPr txBox="1"/>
          <p:nvPr/>
        </p:nvSpPr>
        <p:spPr>
          <a:xfrm>
            <a:off x="609600" y="6159500"/>
            <a:ext cx="10972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研究主张决定比较对象，也决定样本量、参数条件与评价指标。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从文献比较安排中，可以归纳出哪些规律？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A994C5B-6B4C-1C03-9881-63958D88D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812049"/>
              </p:ext>
            </p:extLst>
          </p:nvPr>
        </p:nvGraphicFramePr>
        <p:xfrm>
          <a:off x="609600" y="1917700"/>
          <a:ext cx="109728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4570367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96279024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137893772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常见比较思路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文献中的例子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比较作用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72524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保留共同经典参照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Cousineau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比较研究保留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联系已有研究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52121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选择已有较强方法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检验与有竞争力方法的差距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21419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与相近原理或母方法比较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识别新增修正的收益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8894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覆盖同任务的不同估计思路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、概率图、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观察新构造在同一任务中的表现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10740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68F358A1-B628-1DA7-2046-9072002BA0A3}"/>
              </a:ext>
            </a:extLst>
          </p:cNvPr>
          <p:cNvSpPr txBox="1"/>
          <p:nvPr/>
        </p:nvSpPr>
        <p:spPr>
          <a:xfrm>
            <a:off x="609600" y="60706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共同特点：围绕所解决的问题选择对手，具体组合随研究而变化。</a:t>
            </a: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怎样设置：已知真值，反复生成样本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5A36121D-6736-A585-2764-28EC939E0BB3}"/>
              </a:ext>
            </a:extLst>
          </p:cNvPr>
          <p:cNvSpPr txBox="1"/>
          <p:nvPr/>
        </p:nvSpPr>
        <p:spPr>
          <a:xfrm>
            <a:off x="609600" y="1638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设定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(β,η,γ)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与样本量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→ 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反复抽样 → 各方法估计 → 汇总误差与波动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889225E-B103-E8CD-0604-2DDC3EDAE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1119"/>
              </p:ext>
            </p:extLst>
          </p:nvPr>
        </p:nvGraphicFramePr>
        <p:xfrm>
          <a:off x="609600" y="2425700"/>
          <a:ext cx="1097280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1497350617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190208804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397422742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参数与样本量设置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每条件重复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82398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2013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β=0.5—5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η=1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0285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β=1.5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η=0.2—4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n=5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90143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Akram–Hayat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2014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β=0.5—9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η=100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γ=90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96277"/>
                  </a:ext>
                </a:extLst>
              </a:tr>
            </a:tbl>
          </a:graphicData>
        </a:graphic>
      </p:graphicFrame>
      <p:sp>
        <p:nvSpPr>
          <p:cNvPr id="11" name="讲解-11">
            <a:extLst>
              <a:ext uri="{FF2B5EF4-FFF2-40B4-BE49-F238E27FC236}">
                <a16:creationId xmlns:a16="http://schemas.microsoft.com/office/drawing/2014/main" id="{412202E9-FA3F-C500-6100-0E0BE068653B}"/>
              </a:ext>
            </a:extLst>
          </p:cNvPr>
          <p:cNvSpPr txBox="1"/>
          <p:nvPr/>
        </p:nvSpPr>
        <p:spPr>
          <a:xfrm>
            <a:off x="609600" y="6032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按参数条件和样本量分别看结果：优势出现在哪里，随样本增加怎样变化。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模拟结果主要看：准确性、估计稳定性与有效率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AF3FA49-E3F9-01DE-0B10-B119D0B59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38577"/>
              </p:ext>
            </p:extLst>
          </p:nvPr>
        </p:nvGraphicFramePr>
        <p:xfrm>
          <a:off x="609600" y="1955800"/>
          <a:ext cx="109728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0477252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22272364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390186091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评价问题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常用指标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指标回答什么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79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估得准不准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Bias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RMSE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MSE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平均偏向哪里；总体偏离真值多远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47522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估计稳不稳定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SD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换一批样本，估计值有多大变化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14975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能否得到有效结果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有效率／失败率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全部抽样中，有多少得到有效估计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47851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寿命量是否准确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分位点或可靠度寿命误差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参数误差如何传递到实际寿命量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337248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3FC65FFC-C68B-A5C8-380A-C7618095EBDD}"/>
              </a:ext>
            </a:extLst>
          </p:cNvPr>
          <p:cNvSpPr txBox="1"/>
          <p:nvPr/>
        </p:nvSpPr>
        <p:spPr>
          <a:xfrm>
            <a:off x="609600" y="5981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分别统计；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等也报告跨参数平均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MSD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遇到无解或不收敛的样本，论文怎样比较？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9B540FB-147B-FC4F-C270-1563D10BC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70590"/>
              </p:ext>
            </p:extLst>
          </p:nvPr>
        </p:nvGraphicFramePr>
        <p:xfrm>
          <a:off x="609600" y="1905000"/>
          <a:ext cx="109728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500">
                  <a:extLst>
                    <a:ext uri="{9D8B030D-6E8A-4147-A177-3AD203B41FA5}">
                      <a16:colId xmlns:a16="http://schemas.microsoft.com/office/drawing/2014/main" val="2449981795"/>
                    </a:ext>
                  </a:extLst>
                </a:gridCol>
                <a:gridCol w="5194300">
                  <a:extLst>
                    <a:ext uri="{9D8B030D-6E8A-4147-A177-3AD203B41FA5}">
                      <a16:colId xmlns:a16="http://schemas.microsoft.com/office/drawing/2014/main" val="2930267420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文献中的处理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结果实际说明什么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679206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仅保留收敛样本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Akram–Hayat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2014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得到的是成功样本上的误差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956255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限制搜索条件并报告未得到估计次数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比较研究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[182-091]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同时展示计算设置与有效求解情况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9475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组中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组未得到解，图中用零标记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[182-030]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零是失败标记，计算误差时应排除标记值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34039"/>
                  </a:ext>
                </a:extLst>
              </a:tr>
            </a:tbl>
          </a:graphicData>
        </a:graphic>
      </p:graphicFrame>
      <p:sp>
        <p:nvSpPr>
          <p:cNvPr id="10" name="讲解-10">
            <a:extLst>
              <a:ext uri="{FF2B5EF4-FFF2-40B4-BE49-F238E27FC236}">
                <a16:creationId xmlns:a16="http://schemas.microsoft.com/office/drawing/2014/main" id="{A87079F8-2F2E-6A61-43B9-5BFD4415A090}"/>
              </a:ext>
            </a:extLst>
          </p:cNvPr>
          <p:cNvSpPr txBox="1"/>
          <p:nvPr/>
        </p:nvSpPr>
        <p:spPr>
          <a:xfrm>
            <a:off x="609600" y="5600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比较时一起给出：全部次数、有效次数、失败率，以及有效估计的误差。</a:t>
            </a:r>
          </a:p>
        </p:txBody>
      </p:sp>
      <p:sp>
        <p:nvSpPr>
          <p:cNvPr id="11" name="讲解-11">
            <a:extLst>
              <a:ext uri="{FF2B5EF4-FFF2-40B4-BE49-F238E27FC236}">
                <a16:creationId xmlns:a16="http://schemas.microsoft.com/office/drawing/2014/main" id="{CF8E6861-DB52-F3CA-8460-74B5CE11F522}"/>
              </a:ext>
            </a:extLst>
          </p:cNvPr>
          <p:cNvSpPr txBox="1"/>
          <p:nvPr/>
        </p:nvSpPr>
        <p:spPr>
          <a:xfrm>
            <a:off x="609600" y="61087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原因分别记录：没有有限最优解、数值未收敛、输出超出允许范围。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真实数据没有参数真值，究竟评价什么？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真实数据怎样分析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05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D04D4AB-1661-9048-C3A2-9A2ECE345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03647"/>
              </p:ext>
            </p:extLst>
          </p:nvPr>
        </p:nvGraphicFramePr>
        <p:xfrm>
          <a:off x="609600" y="1981200"/>
          <a:ext cx="10972800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186964635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497979012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305030013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分析内容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文献怎样做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可以回答的问题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75479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实际可用性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给出参数估计、运行结果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这组数据能否得到有效结果？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24728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拟合表现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经验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与拟合曲线；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／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</a:t>
                      </a:r>
                      <a:endParaRPr lang="zh-CN" altLang="en-US" sz="18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模型与观测数据符合得怎样？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532246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寿命量及应用解释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平均寿命、可靠度寿命、分位点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估计结果怎样用于实际问题？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910784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C28CB002-DDB4-A316-2E23-48E7E6A8A434}"/>
              </a:ext>
            </a:extLst>
          </p:cNvPr>
          <p:cNvSpPr txBox="1"/>
          <p:nvPr/>
        </p:nvSpPr>
        <p:spPr>
          <a:xfrm>
            <a:off x="609600" y="5956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可以比较方法，也可以展示应用；参数真值未知，不能直接计算参数误差。</a:t>
            </a: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真实案例：有的比较拟合，有的展示能否算、怎样用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真实数据怎样分析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05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F02C61F-19F8-53CC-BD35-C58EBA52E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431598"/>
              </p:ext>
            </p:extLst>
          </p:nvPr>
        </p:nvGraphicFramePr>
        <p:xfrm>
          <a:off x="609600" y="1943100"/>
          <a:ext cx="109728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4205755636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3385929888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3030457455"/>
                    </a:ext>
                  </a:extLst>
                </a:gridCol>
              </a:tblGrid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论文与数据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实际分析内容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主要说明什么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63216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个铝合金疲劳寿命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CCM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比较参数、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统计量及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这组数据上的拟合表现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9625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2013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点轴承寿命、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参数结果、变换似然形状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同时记录不收敛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困难小样本上的可计算性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221959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点轴承寿命、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、平均寿命与可靠度寿命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部分对照采用历史结果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拟合与实际寿命量的解释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976285"/>
                  </a:ext>
                </a:extLst>
              </a:tr>
            </a:tbl>
          </a:graphicData>
        </a:graphic>
      </p:graphicFrame>
      <p:sp>
        <p:nvSpPr>
          <p:cNvPr id="10" name="讲解-10">
            <a:extLst>
              <a:ext uri="{FF2B5EF4-FFF2-40B4-BE49-F238E27FC236}">
                <a16:creationId xmlns:a16="http://schemas.microsoft.com/office/drawing/2014/main" id="{F0700ACF-5AA2-6EE9-32B2-E859E2B12F05}"/>
              </a:ext>
            </a:extLst>
          </p:cNvPr>
          <p:cNvSpPr txBox="1"/>
          <p:nvPr/>
        </p:nvSpPr>
        <p:spPr>
          <a:xfrm>
            <a:off x="609600" y="6057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真实案例提供应用证据；</a:t>
            </a:r>
            <a:r>
              <a:rPr lang="en-US" altLang="zh-CN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提供已知真值下的参数性能证据。</a:t>
            </a:r>
          </a:p>
        </p:txBody>
      </p:sp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回到研究问题：怎样评价一种参数估计方法？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总结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06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7E03810D-092F-80E2-E8B6-D815D00F94E4}"/>
              </a:ext>
            </a:extLst>
          </p:cNvPr>
          <p:cNvSpPr txBox="1"/>
          <p:nvPr/>
        </p:nvSpPr>
        <p:spPr>
          <a:xfrm>
            <a:off x="609600" y="19812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方法依据</a:t>
            </a:r>
          </a:p>
        </p:txBody>
      </p:sp>
      <p:sp>
        <p:nvSpPr>
          <p:cNvPr id="9" name="讲解-9">
            <a:extLst>
              <a:ext uri="{FF2B5EF4-FFF2-40B4-BE49-F238E27FC236}">
                <a16:creationId xmlns:a16="http://schemas.microsoft.com/office/drawing/2014/main" id="{07AAD46B-B5B4-B78B-64E1-346F9B576A66}"/>
              </a:ext>
            </a:extLst>
          </p:cNvPr>
          <p:cNvSpPr txBox="1"/>
          <p:nvPr/>
        </p:nvSpPr>
        <p:spPr>
          <a:xfrm>
            <a:off x="3200400" y="19812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它用什么关系估计参数，主要解决什么问题？</a:t>
            </a:r>
          </a:p>
        </p:txBody>
      </p:sp>
      <p:sp>
        <p:nvSpPr>
          <p:cNvPr id="10" name="讲解-10">
            <a:extLst>
              <a:ext uri="{FF2B5EF4-FFF2-40B4-BE49-F238E27FC236}">
                <a16:creationId xmlns:a16="http://schemas.microsoft.com/office/drawing/2014/main" id="{E96614E7-54BA-5AC3-D165-6F9CA5C55AA7}"/>
              </a:ext>
            </a:extLst>
          </p:cNvPr>
          <p:cNvSpPr txBox="1"/>
          <p:nvPr/>
        </p:nvSpPr>
        <p:spPr>
          <a:xfrm>
            <a:off x="609600" y="29464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对比对象</a:t>
            </a:r>
          </a:p>
        </p:txBody>
      </p:sp>
      <p:sp>
        <p:nvSpPr>
          <p:cNvPr id="11" name="讲解-11">
            <a:extLst>
              <a:ext uri="{FF2B5EF4-FFF2-40B4-BE49-F238E27FC236}">
                <a16:creationId xmlns:a16="http://schemas.microsoft.com/office/drawing/2014/main" id="{16C0F3E1-65C7-5B1A-BEB7-8F8CD2321252}"/>
              </a:ext>
            </a:extLst>
          </p:cNvPr>
          <p:cNvSpPr txBox="1"/>
          <p:nvPr/>
        </p:nvSpPr>
        <p:spPr>
          <a:xfrm>
            <a:off x="3200400" y="29464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文献中同类问题选择了谁，为什么这样比较？</a:t>
            </a:r>
          </a:p>
        </p:txBody>
      </p:sp>
      <p:sp>
        <p:nvSpPr>
          <p:cNvPr id="12" name="讲解-12">
            <a:extLst>
              <a:ext uri="{FF2B5EF4-FFF2-40B4-BE49-F238E27FC236}">
                <a16:creationId xmlns:a16="http://schemas.microsoft.com/office/drawing/2014/main" id="{1E7E0D4C-36FD-FF46-D3E1-20B029F03D3F}"/>
              </a:ext>
            </a:extLst>
          </p:cNvPr>
          <p:cNvSpPr txBox="1"/>
          <p:nvPr/>
        </p:nvSpPr>
        <p:spPr>
          <a:xfrm>
            <a:off x="609600" y="39116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endParaRPr lang="zh-CN" altLang="en-US" sz="22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讲解-13">
            <a:extLst>
              <a:ext uri="{FF2B5EF4-FFF2-40B4-BE49-F238E27FC236}">
                <a16:creationId xmlns:a16="http://schemas.microsoft.com/office/drawing/2014/main" id="{1EF8E9B1-6A91-4A57-F58A-5BD6DDA43DC4}"/>
              </a:ext>
            </a:extLst>
          </p:cNvPr>
          <p:cNvSpPr txBox="1"/>
          <p:nvPr/>
        </p:nvSpPr>
        <p:spPr>
          <a:xfrm>
            <a:off x="3200400" y="39116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在目标参数空间与样本量下，估得准不准、稳不稳、能否有效求解？</a:t>
            </a:r>
          </a:p>
        </p:txBody>
      </p:sp>
      <p:sp>
        <p:nvSpPr>
          <p:cNvPr id="15" name="讲解-15">
            <a:extLst>
              <a:ext uri="{FF2B5EF4-FFF2-40B4-BE49-F238E27FC236}">
                <a16:creationId xmlns:a16="http://schemas.microsoft.com/office/drawing/2014/main" id="{4BC0E6AB-153C-6699-D8E2-EBAA254E7EA0}"/>
              </a:ext>
            </a:extLst>
          </p:cNvPr>
          <p:cNvSpPr txBox="1"/>
          <p:nvPr/>
        </p:nvSpPr>
        <p:spPr>
          <a:xfrm>
            <a:off x="609600" y="48768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</a:t>
            </a:r>
          </a:p>
        </p:txBody>
      </p:sp>
      <p:sp>
        <p:nvSpPr>
          <p:cNvPr id="16" name="讲解-16">
            <a:extLst>
              <a:ext uri="{FF2B5EF4-FFF2-40B4-BE49-F238E27FC236}">
                <a16:creationId xmlns:a16="http://schemas.microsoft.com/office/drawing/2014/main" id="{88B593F1-8B9B-EF53-3384-CDCA0077A1B5}"/>
              </a:ext>
            </a:extLst>
          </p:cNvPr>
          <p:cNvSpPr txBox="1"/>
          <p:nvPr/>
        </p:nvSpPr>
        <p:spPr>
          <a:xfrm>
            <a:off x="3200400" y="48768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在实际样本上，能否使用、拟合怎样、寿命量如何解释？</a:t>
            </a:r>
          </a:p>
        </p:txBody>
      </p:sp>
      <p:sp>
        <p:nvSpPr>
          <p:cNvPr id="17" name="讲解-17">
            <a:extLst>
              <a:ext uri="{FF2B5EF4-FFF2-40B4-BE49-F238E27FC236}">
                <a16:creationId xmlns:a16="http://schemas.microsoft.com/office/drawing/2014/main" id="{25A3CD51-E859-40CC-D946-1C84A5434E93}"/>
              </a:ext>
            </a:extLst>
          </p:cNvPr>
          <p:cNvSpPr txBox="1"/>
          <p:nvPr/>
        </p:nvSpPr>
        <p:spPr>
          <a:xfrm>
            <a:off x="609600" y="60706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结论落到具体条件：相对于谁、改善什么、在哪些条件下成立。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4401</Words>
  <Application>Microsoft Office PowerPoint</Application>
  <DocSecurity>0</DocSecurity>
  <PresentationFormat>宽屏</PresentationFormat>
  <Paragraphs>387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52</cp:revision>
  <dcterms:created xsi:type="dcterms:W3CDTF">2026-09-06T04:22:26Z</dcterms:created>
  <dcterms:modified xsi:type="dcterms:W3CDTF">2026-09-28T09:05:33Z</dcterms:modified>
</cp:coreProperties>
</file>