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88" autoAdjust="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来源：研究报告</a:t>
            </a:r>
            <a:r>
              <a:rPr lang="en-US" altLang="zh-CN"/>
              <a:t>v2.3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章与第</a:t>
            </a:r>
            <a:r>
              <a:rPr lang="en-US" altLang="zh-CN"/>
              <a:t>6</a:t>
            </a:r>
            <a:r>
              <a:rPr lang="zh-CN" altLang="en-US"/>
              <a:t>章。先按候选方法与文献证据确定合理对手，再在共同</a:t>
            </a:r>
            <a:r>
              <a:rPr lang="en-US" altLang="zh-CN"/>
              <a:t>Monte Carlo</a:t>
            </a:r>
            <a:r>
              <a:rPr lang="zh-CN" altLang="en-US"/>
              <a:t>条件下比较逐参数误差、波动和有效求解率。真实数据补充可用性、拟合及寿命量解释，不承担参数真值精度证明。两类证据汇合为评价建议。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来源：研究报告v2.3（2026-09-28），Research09。§3.5。Cousineau182-101明示MLE为常用基线；Nagatsuka182-113依据前序比较选择BL/WMLE；DMMLE比较MMLE/CMLE识别修正收益。表为本报告归纳，不冒充每篇作者的完整原话。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来源：研究报告v2.3（2026-09-28），Research09。§6.1。MLE比较依据182-101/096，边界182-111；WMLE DOI10.1348/000711007X270843；Park DOI10.23055/ijietap.2017.24.4.2848；SAM DOI10.1007/s12206-023-1019-z。Park原非负位置域；SAM用形状未知分支，边界重试待澄清。最小组是报告建议，不是全部实现已完成。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6.2。LS182-104、PM182-117、MPS182-116、LSPF182-113、DMMLE182-111、BPNN184-009、MDM182-030及综合比较182-096。MDM作为新法直接母方法时必保留，归类仍为C组。BPNN尚缺作者输入/训练配置，不能用自有网络替代原版后宣称战胜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来源：研究报告v2.3（2026-09-28），Research09。§6.1、6.4及附录B。SAM原文两个示例吻合不等于所有样本可运行；后期越域是否重置迭代及重试预算待澄清。此页是现有核查状态，不设置无根据的研究完成门槛。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来源：研究报告v2.3（2026-09-28），Research09。§6结论。评价建议来自既有文献与版本核查；当前未运行这套新比较组的正式性能实验。所有优势应限制在对应样本与参数条件，不推出普遍最优。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600" y="1689100"/>
            <a:ext cx="139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600" y="2260600"/>
            <a:ext cx="10972800" cy="701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/>
              <a:t>在目标样本条件下，相对于合理的比较对象，具有良好的参数估计精度、抽样稳定性和有效求解能力；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zh-CN" sz="1600" dirty="0"/>
              <a:t>真实数据补充说明实际可用性</a:t>
            </a:r>
          </a:p>
        </p:txBody>
      </p:sp>
      <p:sp>
        <p:nvSpPr>
          <p:cNvPr id="18" name="研究问题">
            <a:extLst>
              <a:ext uri="{FF2B5EF4-FFF2-40B4-BE49-F238E27FC236}">
                <a16:creationId xmlns:a16="http://schemas.microsoft.com/office/drawing/2014/main" id="{F2DB6CF4-E44C-6BE3-0FCF-C77519321827}"/>
              </a:ext>
            </a:extLst>
          </p:cNvPr>
          <p:cNvSpPr txBox="1"/>
          <p:nvPr/>
        </p:nvSpPr>
        <p:spPr>
          <a:xfrm>
            <a:off x="609600" y="34290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研究问题流程</a:t>
            </a:r>
          </a:p>
        </p:txBody>
      </p:sp>
      <p:sp>
        <p:nvSpPr>
          <p:cNvPr id="19" name="问题1-比较对象">
            <a:extLst>
              <a:ext uri="{FF2B5EF4-FFF2-40B4-BE49-F238E27FC236}">
                <a16:creationId xmlns:a16="http://schemas.microsoft.com/office/drawing/2014/main" id="{A061F1FC-CCF1-211D-EA4A-265E32C0EBF7}"/>
              </a:ext>
            </a:extLst>
          </p:cNvPr>
          <p:cNvSpPr/>
          <p:nvPr/>
        </p:nvSpPr>
        <p:spPr>
          <a:xfrm>
            <a:off x="609600" y="4064000"/>
            <a:ext cx="3302000" cy="93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和谁比？</a:t>
            </a:r>
          </a:p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候选方法与文献比较依据</a:t>
            </a:r>
          </a:p>
        </p:txBody>
      </p:sp>
      <p:sp>
        <p:nvSpPr>
          <p:cNvPr id="20" name="问题2-模拟评价">
            <a:extLst>
              <a:ext uri="{FF2B5EF4-FFF2-40B4-BE49-F238E27FC236}">
                <a16:creationId xmlns:a16="http://schemas.microsoft.com/office/drawing/2014/main" id="{853CB48A-8246-4297-9510-8AD52B9D986C}"/>
              </a:ext>
            </a:extLst>
          </p:cNvPr>
          <p:cNvSpPr/>
          <p:nvPr/>
        </p:nvSpPr>
        <p:spPr>
          <a:xfrm>
            <a:off x="4343400" y="4064000"/>
            <a:ext cx="3619500" cy="93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altLang="zh-CN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怎样比？</a:t>
            </a:r>
          </a:p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参数误差、抽样波动与有效率</a:t>
            </a:r>
          </a:p>
        </p:txBody>
      </p:sp>
      <p:sp>
        <p:nvSpPr>
          <p:cNvPr id="21" name="问题3-真实数据">
            <a:extLst>
              <a:ext uri="{FF2B5EF4-FFF2-40B4-BE49-F238E27FC236}">
                <a16:creationId xmlns:a16="http://schemas.microsoft.com/office/drawing/2014/main" id="{34C8F8A0-5FB7-9B0A-DD0B-CD5DAA45CDF8}"/>
              </a:ext>
            </a:extLst>
          </p:cNvPr>
          <p:cNvSpPr/>
          <p:nvPr/>
        </p:nvSpPr>
        <p:spPr>
          <a:xfrm>
            <a:off x="8394700" y="4064000"/>
            <a:ext cx="3187700" cy="939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真实数据能证明什么？</a:t>
            </a:r>
          </a:p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实际可用性、拟合与寿命量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5CB4263-C0B2-3F95-7029-48D8E2029B4F}"/>
              </a:ext>
            </a:extLst>
          </p:cNvPr>
          <p:cNvCxnSpPr/>
          <p:nvPr/>
        </p:nvCxnSpPr>
        <p:spPr>
          <a:xfrm>
            <a:off x="3911600" y="4533900"/>
            <a:ext cx="4318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AAC5B49-EB97-0D6B-B559-87F00003A7CB}"/>
              </a:ext>
            </a:extLst>
          </p:cNvPr>
          <p:cNvCxnSpPr/>
          <p:nvPr/>
        </p:nvCxnSpPr>
        <p:spPr>
          <a:xfrm>
            <a:off x="6153150" y="5003800"/>
            <a:ext cx="0" cy="3937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265CA6D-6A6D-E03B-38F8-4477FD4022D9}"/>
              </a:ext>
            </a:extLst>
          </p:cNvPr>
          <p:cNvCxnSpPr/>
          <p:nvPr/>
        </p:nvCxnSpPr>
        <p:spPr>
          <a:xfrm>
            <a:off x="9988550" y="5003800"/>
            <a:ext cx="0" cy="3937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109F0B9-F479-7C6D-C000-6CDA348C4645}"/>
              </a:ext>
            </a:extLst>
          </p:cNvPr>
          <p:cNvCxnSpPr/>
          <p:nvPr/>
        </p:nvCxnSpPr>
        <p:spPr>
          <a:xfrm>
            <a:off x="6153150" y="5397500"/>
            <a:ext cx="38354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3830CD1-DBE3-FDFD-495A-965E3DEBCB36}"/>
              </a:ext>
            </a:extLst>
          </p:cNvPr>
          <p:cNvCxnSpPr/>
          <p:nvPr/>
        </p:nvCxnSpPr>
        <p:spPr>
          <a:xfrm>
            <a:off x="8070850" y="5397500"/>
            <a:ext cx="0" cy="3175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综合评价建议">
            <a:extLst>
              <a:ext uri="{FF2B5EF4-FFF2-40B4-BE49-F238E27FC236}">
                <a16:creationId xmlns:a16="http://schemas.microsoft.com/office/drawing/2014/main" id="{13771CA7-7EB5-6FEB-49C7-5A08EC7C1433}"/>
              </a:ext>
            </a:extLst>
          </p:cNvPr>
          <p:cNvSpPr/>
          <p:nvPr/>
        </p:nvSpPr>
        <p:spPr>
          <a:xfrm>
            <a:off x="4343400" y="5715000"/>
            <a:ext cx="72390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综合评价建议：比较对象、实验规则与结论边界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候选方法：按估计依据与构造分为A—D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F793F-B739-70D4-DC6E-BBDA191CB736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本章建立候选池，随后用文献证据判断任务匹配性，最终建议集中在第六部分。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966A0-E2CD-641E-06AA-8AE5AFF080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65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下页起依次介绍A—D；MDM属于C组的构造差异，组合与学习归入D组。</a:t>
            </a:r>
          </a:p>
        </p:txBody>
      </p:sp>
      <p:graphicFrame>
        <p:nvGraphicFramePr>
          <p:cNvPr id="20" name="表格 13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方法分组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代表方法与分支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主要思路与改进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似然路线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MLE、WMLE、MMLE、DMMLE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修正方程、改变似然或改善求解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概率图路线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LS、LRE相关构造（GLRA、相关系数法）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绘图分数、回归方向和位置构造不同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统计量、间距与构造差异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MM、PWM、L矩、MPS、MDM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匹配统计量、概率间距或尺度差异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组合与学习（含变换）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LSPF、SAM、PM、神经估计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变换统计量、组合步骤或学习映射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似然路线：改统计构造，还是改求解过程？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共同起点是样本似然，后续工作分别处理偏差、边界和数值求解。</a:t>
            </a: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WMLE修正有限样本估计方程，MMLE改变似然构造，DMMLE进一步修正得分偏差。</a:t>
            </a:r>
          </a:p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PSO、ADGBO等若保持同一似然与约束，改进的是求解过程。</a:t>
            </a:r>
          </a:p>
        </p:txBody>
      </p:sp>
      <p:sp>
        <p:nvSpPr>
          <p:cNvPr id="31" name="panel-citations">
            <a:extLst>
              <a:ext uri="{FF2B5EF4-FFF2-40B4-BE49-F238E27FC236}">
                <a16:creationId xmlns:a16="http://schemas.microsoft.com/office/drawing/2014/main" id="{43D54EE6-3576-5B72-1D9F-150FD070BF80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WMLE [182-088]；DMMLE [182-111]；ADGBO [187-001]。Fisher（1922）标示通用似然原理来源。</a:t>
            </a: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概率图路线：如何处理未知位置？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1FE70-E849-ED7F-BFB0-3FB730551685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LS与LRE同属概率图路线，具体构造由分数、方向与位置规则决定。</a:t>
            </a:r>
          </a:p>
        </p:txBody>
      </p:sp>
      <p:sp>
        <p:nvSpPr>
          <p:cNvPr id="17" name="fig1-white">
            <a:extLst>
              <a:ext uri="{FF2B5EF4-FFF2-40B4-BE49-F238E27FC236}">
                <a16:creationId xmlns:a16="http://schemas.microsoft.com/office/drawing/2014/main" id="{6BAFF377-25AB-9762-2D70-2278810E5997}"/>
              </a:ext>
            </a:extLst>
          </p:cNvPr>
          <p:cNvSpPr>
            <a:spLocks noGrp="1"/>
          </p:cNvSpPr>
          <p:nvPr/>
        </p:nvSpPr>
        <p:spPr>
          <a:xfrm>
            <a:off x="622300" y="2190115"/>
            <a:ext cx="3302000" cy="560832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二参数概率图回归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White · 1969</a:t>
            </a:r>
          </a:p>
        </p:txBody>
      </p:sp>
      <p:sp>
        <p:nvSpPr>
          <p:cNvPr id="18" name="fig1-soman">
            <a:extLst>
              <a:ext uri="{FF2B5EF4-FFF2-40B4-BE49-F238E27FC236}">
                <a16:creationId xmlns:a16="http://schemas.microsoft.com/office/drawing/2014/main" id="{F83C78B6-253F-8ED2-FCDB-4716D21876E0}"/>
              </a:ext>
            </a:extLst>
          </p:cNvPr>
          <p:cNvSpPr>
            <a:spLocks noGrp="1"/>
          </p:cNvSpPr>
          <p:nvPr/>
        </p:nvSpPr>
        <p:spPr>
          <a:xfrm>
            <a:off x="7670800" y="2190115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三参数最小二乘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Soman &amp; Misra · 1992</a:t>
            </a:r>
          </a:p>
        </p:txBody>
      </p:sp>
      <p:sp>
        <p:nvSpPr>
          <p:cNvPr id="19" name="fig1-plot">
            <a:extLst>
              <a:ext uri="{FF2B5EF4-FFF2-40B4-BE49-F238E27FC236}">
                <a16:creationId xmlns:a16="http://schemas.microsoft.com/office/drawing/2014/main" id="{65675938-9A67-E934-E6DF-F65962F514D0}"/>
              </a:ext>
            </a:extLst>
          </p:cNvPr>
          <p:cNvSpPr>
            <a:spLocks noGrp="1"/>
          </p:cNvSpPr>
          <p:nvPr/>
        </p:nvSpPr>
        <p:spPr>
          <a:xfrm>
            <a:off x="622300" y="3189097"/>
            <a:ext cx="3302000" cy="5783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LRE相关构造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Weibull图线性化</a:t>
            </a:r>
          </a:p>
        </p:txBody>
      </p:sp>
      <p:sp>
        <p:nvSpPr>
          <p:cNvPr id="20" name="fig1-li">
            <a:extLst>
              <a:ext uri="{FF2B5EF4-FFF2-40B4-BE49-F238E27FC236}">
                <a16:creationId xmlns:a16="http://schemas.microsoft.com/office/drawing/2014/main" id="{3813DF7B-6E53-2F54-2674-A9944E5E53E2}"/>
              </a:ext>
            </a:extLst>
          </p:cNvPr>
          <p:cNvSpPr>
            <a:spLocks noGrp="1"/>
          </p:cNvSpPr>
          <p:nvPr/>
        </p:nvSpPr>
        <p:spPr>
          <a:xfrm>
            <a:off x="7670800" y="3005074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GLRA 广义线性回归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Li · 1994</a:t>
            </a:r>
          </a:p>
        </p:txBody>
      </p:sp>
      <p:sp>
        <p:nvSpPr>
          <p:cNvPr id="21" name="fig1-park">
            <a:extLst>
              <a:ext uri="{FF2B5EF4-FFF2-40B4-BE49-F238E27FC236}">
                <a16:creationId xmlns:a16="http://schemas.microsoft.com/office/drawing/2014/main" id="{2CDB9860-B1C3-AFF8-60E0-F026CE1F5EFF}"/>
              </a:ext>
            </a:extLst>
          </p:cNvPr>
          <p:cNvSpPr>
            <a:spLocks noGrp="1"/>
          </p:cNvSpPr>
          <p:nvPr/>
        </p:nvSpPr>
        <p:spPr>
          <a:xfrm>
            <a:off x="7670800" y="3986530"/>
            <a:ext cx="3873500" cy="578358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相关系数法（Plot分支）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Park · 2017</a:t>
            </a:r>
          </a:p>
        </p:txBody>
      </p:sp>
      <p:sp>
        <p:nvSpPr>
          <p:cNvPr id="22" name="fig1-text_edge6">
            <a:extLst>
              <a:ext uri="{FF2B5EF4-FFF2-40B4-BE49-F238E27FC236}">
                <a16:creationId xmlns:a16="http://schemas.microsoft.com/office/drawing/2014/main" id="{0C5A288D-71E8-CD1A-1D63-B92A6275E59E}"/>
              </a:ext>
            </a:extLst>
          </p:cNvPr>
          <p:cNvSpPr>
            <a:spLocks noGrp="1"/>
          </p:cNvSpPr>
          <p:nvPr/>
        </p:nvSpPr>
        <p:spPr>
          <a:xfrm>
            <a:off x="4686300" y="2076196"/>
            <a:ext cx="2222500" cy="385572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位置未知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扩展到三参数</a:t>
            </a:r>
          </a:p>
        </p:txBody>
      </p:sp>
      <p:sp>
        <p:nvSpPr>
          <p:cNvPr id="23" name="fig1-text_edge7">
            <a:extLst>
              <a:ext uri="{FF2B5EF4-FFF2-40B4-BE49-F238E27FC236}">
                <a16:creationId xmlns:a16="http://schemas.microsoft.com/office/drawing/2014/main" id="{117F3D43-7A7D-3E23-B704-0B144E79EF5A}"/>
              </a:ext>
            </a:extLst>
          </p:cNvPr>
          <p:cNvSpPr>
            <a:spLocks noGrp="1"/>
          </p:cNvSpPr>
          <p:nvPr/>
        </p:nvSpPr>
        <p:spPr>
          <a:xfrm>
            <a:off x="4406900" y="3013837"/>
            <a:ext cx="3111500" cy="227838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构造位置近似</a:t>
            </a:r>
          </a:p>
        </p:txBody>
      </p:sp>
      <p:sp>
        <p:nvSpPr>
          <p:cNvPr id="24" name="fig1-text_edge8">
            <a:extLst>
              <a:ext uri="{FF2B5EF4-FFF2-40B4-BE49-F238E27FC236}">
                <a16:creationId xmlns:a16="http://schemas.microsoft.com/office/drawing/2014/main" id="{8CA15B03-9C15-A8DF-20A2-CB58859DED9C}"/>
              </a:ext>
            </a:extLst>
          </p:cNvPr>
          <p:cNvSpPr>
            <a:spLocks noGrp="1"/>
          </p:cNvSpPr>
          <p:nvPr/>
        </p:nvSpPr>
        <p:spPr>
          <a:xfrm>
            <a:off x="5676900" y="3942715"/>
            <a:ext cx="1905000" cy="262890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以相关性选位置</a:t>
            </a:r>
          </a:p>
        </p:txBody>
      </p:sp>
      <p:sp>
        <p:nvSpPr>
          <p:cNvPr id="27" name="fig1-edge6-1">
            <a:extLst>
              <a:ext uri="{FF2B5EF4-FFF2-40B4-BE49-F238E27FC236}">
                <a16:creationId xmlns:a16="http://schemas.microsoft.com/office/drawing/2014/main" id="{EBE9FE6F-4DE9-40B7-854F-912F934B3E16}"/>
              </a:ext>
            </a:extLst>
          </p:cNvPr>
          <p:cNvSpPr>
            <a:spLocks noGrp="1"/>
          </p:cNvSpPr>
          <p:nvPr/>
        </p:nvSpPr>
        <p:spPr>
          <a:xfrm>
            <a:off x="3924300" y="2470531"/>
            <a:ext cx="3746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fig1-edge7-1">
            <a:extLst>
              <a:ext uri="{FF2B5EF4-FFF2-40B4-BE49-F238E27FC236}">
                <a16:creationId xmlns:a16="http://schemas.microsoft.com/office/drawing/2014/main" id="{842611E2-61E5-459B-990F-30A6B0A1898B}"/>
              </a:ext>
            </a:extLst>
          </p:cNvPr>
          <p:cNvSpPr>
            <a:spLocks noGrp="1"/>
          </p:cNvSpPr>
          <p:nvPr/>
        </p:nvSpPr>
        <p:spPr>
          <a:xfrm>
            <a:off x="3924300" y="3329305"/>
            <a:ext cx="19050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9" name="fig1-edge7-2">
            <a:extLst>
              <a:ext uri="{FF2B5EF4-FFF2-40B4-BE49-F238E27FC236}">
                <a16:creationId xmlns:a16="http://schemas.microsoft.com/office/drawing/2014/main" id="{A7E8B7FB-8D99-41FD-B35B-234C749EC237}"/>
              </a:ext>
            </a:extLst>
          </p:cNvPr>
          <p:cNvSpPr>
            <a:spLocks noGrp="1"/>
          </p:cNvSpPr>
          <p:nvPr/>
        </p:nvSpPr>
        <p:spPr>
          <a:xfrm flipV="1">
            <a:off x="5829300" y="3285491"/>
            <a:ext cx="0" cy="43815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0" name="fig1-edge7-3">
            <a:extLst>
              <a:ext uri="{FF2B5EF4-FFF2-40B4-BE49-F238E27FC236}">
                <a16:creationId xmlns:a16="http://schemas.microsoft.com/office/drawing/2014/main" id="{4471CC2B-D35A-4E35-830F-BE1A7E629A92}"/>
              </a:ext>
            </a:extLst>
          </p:cNvPr>
          <p:cNvSpPr>
            <a:spLocks noGrp="1"/>
          </p:cNvSpPr>
          <p:nvPr/>
        </p:nvSpPr>
        <p:spPr>
          <a:xfrm>
            <a:off x="5829300" y="3285490"/>
            <a:ext cx="1841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1" name="fig1-edge8-1">
            <a:extLst>
              <a:ext uri="{FF2B5EF4-FFF2-40B4-BE49-F238E27FC236}">
                <a16:creationId xmlns:a16="http://schemas.microsoft.com/office/drawing/2014/main" id="{8DA49B01-0828-4EDF-97E9-FB40424C57B2}"/>
              </a:ext>
            </a:extLst>
          </p:cNvPr>
          <p:cNvSpPr>
            <a:spLocks noGrp="1"/>
          </p:cNvSpPr>
          <p:nvPr/>
        </p:nvSpPr>
        <p:spPr>
          <a:xfrm>
            <a:off x="3924300" y="3627247"/>
            <a:ext cx="15875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8-2">
            <a:extLst>
              <a:ext uri="{FF2B5EF4-FFF2-40B4-BE49-F238E27FC236}">
                <a16:creationId xmlns:a16="http://schemas.microsoft.com/office/drawing/2014/main" id="{85200C02-FFD9-44E5-8F1D-5B069FCC20C5}"/>
              </a:ext>
            </a:extLst>
          </p:cNvPr>
          <p:cNvSpPr>
            <a:spLocks noGrp="1"/>
          </p:cNvSpPr>
          <p:nvPr/>
        </p:nvSpPr>
        <p:spPr>
          <a:xfrm>
            <a:off x="5511800" y="3627247"/>
            <a:ext cx="0" cy="648462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8-3">
            <a:extLst>
              <a:ext uri="{FF2B5EF4-FFF2-40B4-BE49-F238E27FC236}">
                <a16:creationId xmlns:a16="http://schemas.microsoft.com/office/drawing/2014/main" id="{45942E4E-3B68-46B4-BDB4-3EB12D846741}"/>
              </a:ext>
            </a:extLst>
          </p:cNvPr>
          <p:cNvSpPr>
            <a:spLocks noGrp="1"/>
          </p:cNvSpPr>
          <p:nvPr/>
        </p:nvSpPr>
        <p:spPr>
          <a:xfrm>
            <a:off x="5511800" y="4275709"/>
            <a:ext cx="2159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58" name="表格 33"/>
          <p:cNvGraphicFramePr/>
          <p:nvPr/>
        </p:nvGraphicFramePr>
        <p:xfrm>
          <a:off x="622300" y="4686300"/>
          <a:ext cx="10922000" cy="119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文献版本示例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LS：White—Soman分支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对数Weibull次序统计量期望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按n分段的绘图概率，经双对数变换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回归与形状恢复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 = a + bz，β̂ = 1/b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 = a + bx，β̂ = 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F4F7D4B8-3B61-04B5-DD2E-2EC108C8B53D}"/>
              </a:ext>
            </a:extLst>
          </p:cNvPr>
          <p:cNvSpPr>
            <a:spLocks noGrp="1"/>
          </p:cNvSpPr>
          <p:nvPr/>
        </p:nvSpPr>
        <p:spPr>
          <a:xfrm>
            <a:off x="622300" y="59690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x为对数寿命，z为绘图分数。同一分数与带截距OLS下，F比与相关系数平方单调等价。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3EF18D-7F11-027F-6E7A-60212C24DFF2}"/>
              </a:ext>
            </a:extLst>
          </p:cNvPr>
          <p:cNvSpPr>
            <a:spLocks noGrp="1"/>
          </p:cNvSpPr>
          <p:nvPr/>
        </p:nvSpPr>
        <p:spPr>
          <a:xfrm>
            <a:off x="622300" y="6286500"/>
            <a:ext cx="10922000" cy="228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Park保留原绘图位置和非负位置域；Bernard分数是另一变体。公式见附录B第11节。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改用统计量、间距或构造差异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A7D3A0-D900-C788-4169-A5B9277F249C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这三支分别采用统计量匹配、概率间距和尺度伪估计差异作为估计依据。</a:t>
            </a:r>
          </a:p>
        </p:txBody>
      </p:sp>
      <p:sp>
        <p:nvSpPr>
          <p:cNvPr id="10" name="fig1-pwm">
            <a:extLst>
              <a:ext uri="{FF2B5EF4-FFF2-40B4-BE49-F238E27FC236}">
                <a16:creationId xmlns:a16="http://schemas.microsoft.com/office/drawing/2014/main" id="{8F6A1F28-3F96-720B-92D4-29EDB54A21C1}"/>
              </a:ext>
            </a:extLst>
          </p:cNvPr>
          <p:cNvSpPr>
            <a:spLocks noGrp="1"/>
          </p:cNvSpPr>
          <p:nvPr/>
        </p:nvSpPr>
        <p:spPr>
          <a:xfrm>
            <a:off x="622300" y="22098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PWM 概率加权矩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Greenwood等 · 1979</a:t>
            </a:r>
          </a:p>
        </p:txBody>
      </p:sp>
      <p:sp>
        <p:nvSpPr>
          <p:cNvPr id="14" name="fig1-lm">
            <a:extLst>
              <a:ext uri="{FF2B5EF4-FFF2-40B4-BE49-F238E27FC236}">
                <a16:creationId xmlns:a16="http://schemas.microsoft.com/office/drawing/2014/main" id="{79657A67-AAA1-E8B8-BBAB-E8676A07F1B4}"/>
              </a:ext>
            </a:extLst>
          </p:cNvPr>
          <p:cNvSpPr>
            <a:spLocks noGrp="1"/>
          </p:cNvSpPr>
          <p:nvPr/>
        </p:nvSpPr>
        <p:spPr>
          <a:xfrm>
            <a:off x="7670800" y="22098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LM L矩估计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Hosking · 1990</a:t>
            </a:r>
          </a:p>
        </p:txBody>
      </p:sp>
      <p:sp>
        <p:nvSpPr>
          <p:cNvPr id="15" name="fig1-boundary">
            <a:extLst>
              <a:ext uri="{FF2B5EF4-FFF2-40B4-BE49-F238E27FC236}">
                <a16:creationId xmlns:a16="http://schemas.microsoft.com/office/drawing/2014/main" id="{7068ACF1-1F3E-F83A-8143-3AE0A34E1B55}"/>
              </a:ext>
            </a:extLst>
          </p:cNvPr>
          <p:cNvSpPr>
            <a:spLocks noGrp="1"/>
          </p:cNvSpPr>
          <p:nvPr/>
        </p:nvSpPr>
        <p:spPr>
          <a:xfrm>
            <a:off x="622300" y="33782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原始似然的边界困难</a:t>
            </a:r>
          </a:p>
        </p:txBody>
      </p:sp>
      <p:sp>
        <p:nvSpPr>
          <p:cNvPr id="16" name="fig1-mps">
            <a:extLst>
              <a:ext uri="{FF2B5EF4-FFF2-40B4-BE49-F238E27FC236}">
                <a16:creationId xmlns:a16="http://schemas.microsoft.com/office/drawing/2014/main" id="{F9B87335-C6B8-E869-E904-C4FCC2939D7E}"/>
              </a:ext>
            </a:extLst>
          </p:cNvPr>
          <p:cNvSpPr>
            <a:spLocks noGrp="1"/>
          </p:cNvSpPr>
          <p:nvPr/>
        </p:nvSpPr>
        <p:spPr>
          <a:xfrm>
            <a:off x="7670800" y="33782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MPS 最大乘积间距估计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Cheng &amp; Amin · 1983</a:t>
            </a:r>
          </a:p>
        </p:txBody>
      </p:sp>
      <p:sp>
        <p:nvSpPr>
          <p:cNvPr id="17" name="fig1-cdf">
            <a:extLst>
              <a:ext uri="{FF2B5EF4-FFF2-40B4-BE49-F238E27FC236}">
                <a16:creationId xmlns:a16="http://schemas.microsoft.com/office/drawing/2014/main" id="{76486402-F8C3-1669-77B5-09F0CAB966C1}"/>
              </a:ext>
            </a:extLst>
          </p:cNvPr>
          <p:cNvSpPr>
            <a:spLocks noGrp="1"/>
          </p:cNvSpPr>
          <p:nvPr/>
        </p:nvSpPr>
        <p:spPr>
          <a:xfrm>
            <a:off x="622300" y="45466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样本＋分布概率关系</a:t>
            </a:r>
          </a:p>
        </p:txBody>
      </p:sp>
      <p:sp>
        <p:nvSpPr>
          <p:cNvPr id="18" name="fig1-mdm">
            <a:extLst>
              <a:ext uri="{FF2B5EF4-FFF2-40B4-BE49-F238E27FC236}">
                <a16:creationId xmlns:a16="http://schemas.microsoft.com/office/drawing/2014/main" id="{A8026710-239E-5E15-6502-5B237C7F989E}"/>
              </a:ext>
            </a:extLst>
          </p:cNvPr>
          <p:cNvSpPr>
            <a:spLocks noGrp="1"/>
          </p:cNvSpPr>
          <p:nvPr/>
        </p:nvSpPr>
        <p:spPr>
          <a:xfrm>
            <a:off x="7670800" y="45466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MDM 最小差异法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Xie等 · 2022/2023</a:t>
            </a:r>
          </a:p>
        </p:txBody>
      </p:sp>
      <p:sp>
        <p:nvSpPr>
          <p:cNvPr id="19" name="fig1-text_edge9">
            <a:extLst>
              <a:ext uri="{FF2B5EF4-FFF2-40B4-BE49-F238E27FC236}">
                <a16:creationId xmlns:a16="http://schemas.microsoft.com/office/drawing/2014/main" id="{2FE5EADD-ADFB-A8B8-0F8A-2B8E9D08ED75}"/>
              </a:ext>
            </a:extLst>
          </p:cNvPr>
          <p:cNvSpPr>
            <a:spLocks noGrp="1"/>
          </p:cNvSpPr>
          <p:nvPr/>
        </p:nvSpPr>
        <p:spPr>
          <a:xfrm>
            <a:off x="4597400" y="20574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线性组合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L矩匹配</a:t>
            </a:r>
          </a:p>
        </p:txBody>
      </p:sp>
      <p:sp>
        <p:nvSpPr>
          <p:cNvPr id="20" name="fig1-text_edge10">
            <a:extLst>
              <a:ext uri="{FF2B5EF4-FFF2-40B4-BE49-F238E27FC236}">
                <a16:creationId xmlns:a16="http://schemas.microsoft.com/office/drawing/2014/main" id="{21C0CC91-0314-A0B8-A849-4FA030309BE7}"/>
              </a:ext>
            </a:extLst>
          </p:cNvPr>
          <p:cNvSpPr>
            <a:spLocks noGrp="1"/>
          </p:cNvSpPr>
          <p:nvPr/>
        </p:nvSpPr>
        <p:spPr>
          <a:xfrm>
            <a:off x="4597400" y="3327400"/>
            <a:ext cx="27305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改用间距乘积</a:t>
            </a:r>
          </a:p>
        </p:txBody>
      </p:sp>
      <p:sp>
        <p:nvSpPr>
          <p:cNvPr id="21" name="fig1-text_edge11">
            <a:extLst>
              <a:ext uri="{FF2B5EF4-FFF2-40B4-BE49-F238E27FC236}">
                <a16:creationId xmlns:a16="http://schemas.microsoft.com/office/drawing/2014/main" id="{7C4BB7F2-9BC5-7689-AFB0-B4C55F3E957D}"/>
              </a:ext>
            </a:extLst>
          </p:cNvPr>
          <p:cNvSpPr>
            <a:spLocks noGrp="1"/>
          </p:cNvSpPr>
          <p:nvPr/>
        </p:nvSpPr>
        <p:spPr>
          <a:xfrm>
            <a:off x="4597400" y="43942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构造一致性准则</a:t>
            </a:r>
          </a:p>
        </p:txBody>
      </p:sp>
      <p:sp>
        <p:nvSpPr>
          <p:cNvPr id="22" name="panel-description">
            <a:extLst>
              <a:ext uri="{FF2B5EF4-FFF2-40B4-BE49-F238E27FC236}">
                <a16:creationId xmlns:a16="http://schemas.microsoft.com/office/drawing/2014/main" id="{5F699454-EC62-E30A-ADE7-F8AE441FA17A}"/>
              </a:ext>
            </a:extLst>
          </p:cNvPr>
          <p:cNvSpPr>
            <a:spLocks noGrp="1"/>
          </p:cNvSpPr>
          <p:nvPr/>
        </p:nvSpPr>
        <p:spPr>
          <a:xfrm>
            <a:off x="622300" y="55245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PWM经线性组合形成L矩。MPS针对似然边界困难，转而使用概率间距。</a:t>
            </a:r>
          </a:p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MDM使尺度伪估计尽量一致；现有来源未确认它直接继承MPS或某个LS版本。</a:t>
            </a:r>
          </a:p>
        </p:txBody>
      </p:sp>
      <p:sp>
        <p:nvSpPr>
          <p:cNvPr id="23" name="panel-citations">
            <a:extLst>
              <a:ext uri="{FF2B5EF4-FFF2-40B4-BE49-F238E27FC236}">
                <a16:creationId xmlns:a16="http://schemas.microsoft.com/office/drawing/2014/main" id="{3F542315-CAB6-4DC0-0C5C-79FDA95058C1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PWM与L矩见报告2.4；MPS [182-116]；MDM [182-030]。虚线表示替代方案，不表示直接继承。</a:t>
            </a:r>
          </a:p>
        </p:txBody>
      </p:sp>
      <p:sp>
        <p:nvSpPr>
          <p:cNvPr id="24" name="fig1-edge9-1">
            <a:extLst>
              <a:ext uri="{FF2B5EF4-FFF2-40B4-BE49-F238E27FC236}">
                <a16:creationId xmlns:a16="http://schemas.microsoft.com/office/drawing/2014/main" id="{3A1D4A6E-DEC2-43B0-A844-2B6135F6D750}"/>
              </a:ext>
            </a:extLst>
          </p:cNvPr>
          <p:cNvSpPr>
            <a:spLocks noGrp="1"/>
          </p:cNvSpPr>
          <p:nvPr/>
        </p:nvSpPr>
        <p:spPr>
          <a:xfrm>
            <a:off x="4178300" y="26162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5" name="fig1-edge10-1">
            <a:extLst>
              <a:ext uri="{FF2B5EF4-FFF2-40B4-BE49-F238E27FC236}">
                <a16:creationId xmlns:a16="http://schemas.microsoft.com/office/drawing/2014/main" id="{C890E6A3-D462-4ABC-BB2F-49D5091459B3}"/>
              </a:ext>
            </a:extLst>
          </p:cNvPr>
          <p:cNvSpPr>
            <a:spLocks noGrp="1"/>
          </p:cNvSpPr>
          <p:nvPr/>
        </p:nvSpPr>
        <p:spPr>
          <a:xfrm>
            <a:off x="4178300" y="37846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fig1-edge11-1">
            <a:extLst>
              <a:ext uri="{FF2B5EF4-FFF2-40B4-BE49-F238E27FC236}">
                <a16:creationId xmlns:a16="http://schemas.microsoft.com/office/drawing/2014/main" id="{A6F7E876-371F-4252-969E-F1A3011346F4}"/>
              </a:ext>
            </a:extLst>
          </p:cNvPr>
          <p:cNvSpPr>
            <a:spLocks noGrp="1"/>
          </p:cNvSpPr>
          <p:nvPr/>
        </p:nvSpPr>
        <p:spPr>
          <a:xfrm>
            <a:off x="4178300" y="49530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组合与学习：统计量变换、步骤组合与直接映射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A9E155-D276-0264-E48F-FD2B097FE8C3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组合已有统计关系、变换观测统计量，或直接学习参数映射，都形成了新的构造。</a:t>
            </a:r>
          </a:p>
        </p:txBody>
      </p:sp>
      <p:sp>
        <p:nvSpPr>
          <p:cNvPr id="18" name="fig1-min">
            <a:extLst>
              <a:ext uri="{FF2B5EF4-FFF2-40B4-BE49-F238E27FC236}">
                <a16:creationId xmlns:a16="http://schemas.microsoft.com/office/drawing/2014/main" id="{F4A32D05-D5F8-C7FA-7B79-CBBC460EAB28}"/>
              </a:ext>
            </a:extLst>
          </p:cNvPr>
          <p:cNvSpPr>
            <a:spLocks noGrp="1"/>
          </p:cNvSpPr>
          <p:nvPr/>
        </p:nvSpPr>
        <p:spPr>
          <a:xfrm>
            <a:off x="622300" y="2590800"/>
            <a:ext cx="3302000" cy="850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最小次序统计量与位置的关系</a:t>
            </a:r>
          </a:p>
        </p:txBody>
      </p:sp>
      <p:sp>
        <p:nvSpPr>
          <p:cNvPr id="19" name="fig1-sam23">
            <a:extLst>
              <a:ext uri="{FF2B5EF4-FFF2-40B4-BE49-F238E27FC236}">
                <a16:creationId xmlns:a16="http://schemas.microsoft.com/office/drawing/2014/main" id="{BE82563B-4C8F-E061-6E42-A8ABD30827F2}"/>
              </a:ext>
            </a:extLst>
          </p:cNvPr>
          <p:cNvSpPr>
            <a:spLocks noGrp="1"/>
          </p:cNvSpPr>
          <p:nvPr/>
        </p:nvSpPr>
        <p:spPr>
          <a:xfrm>
            <a:off x="7861300" y="21590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SAM 逐次逼近法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2023</a:t>
            </a:r>
          </a:p>
        </p:txBody>
      </p:sp>
      <p:sp>
        <p:nvSpPr>
          <p:cNvPr id="20" name="fig1-sam24">
            <a:extLst>
              <a:ext uri="{FF2B5EF4-FFF2-40B4-BE49-F238E27FC236}">
                <a16:creationId xmlns:a16="http://schemas.microsoft.com/office/drawing/2014/main" id="{6BDEA08A-AC64-B334-F1A0-C09DDFD52B98}"/>
              </a:ext>
            </a:extLst>
          </p:cNvPr>
          <p:cNvSpPr>
            <a:spLocks noGrp="1"/>
          </p:cNvSpPr>
          <p:nvPr/>
        </p:nvSpPr>
        <p:spPr>
          <a:xfrm>
            <a:off x="7861300" y="30988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PM 逐次逼近构造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2024</a:t>
            </a:r>
          </a:p>
        </p:txBody>
      </p:sp>
      <p:sp>
        <p:nvSpPr>
          <p:cNvPr id="21" name="fig1-nonregular">
            <a:extLst>
              <a:ext uri="{FF2B5EF4-FFF2-40B4-BE49-F238E27FC236}">
                <a16:creationId xmlns:a16="http://schemas.microsoft.com/office/drawing/2014/main" id="{560B9E70-1AC3-C43F-A90D-F5B4328F693A}"/>
              </a:ext>
            </a:extLst>
          </p:cNvPr>
          <p:cNvSpPr>
            <a:spLocks noGrp="1"/>
          </p:cNvSpPr>
          <p:nvPr/>
        </p:nvSpPr>
        <p:spPr>
          <a:xfrm>
            <a:off x="622300" y="41021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未知位置导致非正规似然</a:t>
            </a:r>
          </a:p>
        </p:txBody>
      </p:sp>
      <p:sp>
        <p:nvSpPr>
          <p:cNvPr id="22" name="fig1-naga">
            <a:extLst>
              <a:ext uri="{FF2B5EF4-FFF2-40B4-BE49-F238E27FC236}">
                <a16:creationId xmlns:a16="http://schemas.microsoft.com/office/drawing/2014/main" id="{7E8E9B17-1FC5-F3DB-FBAE-F24B11FEC65F}"/>
              </a:ext>
            </a:extLst>
          </p:cNvPr>
          <p:cNvSpPr>
            <a:spLocks noGrp="1"/>
          </p:cNvSpPr>
          <p:nvPr/>
        </p:nvSpPr>
        <p:spPr>
          <a:xfrm>
            <a:off x="7861300" y="41021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LSPF 变换统计量似然估计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Nagatsuka等 · 2013</a:t>
            </a:r>
          </a:p>
        </p:txBody>
      </p:sp>
      <p:sp>
        <p:nvSpPr>
          <p:cNvPr id="23" name="fig1-training">
            <a:extLst>
              <a:ext uri="{FF2B5EF4-FFF2-40B4-BE49-F238E27FC236}">
                <a16:creationId xmlns:a16="http://schemas.microsoft.com/office/drawing/2014/main" id="{EBA49D2F-16EA-1703-B109-F4D4D139E299}"/>
              </a:ext>
            </a:extLst>
          </p:cNvPr>
          <p:cNvSpPr>
            <a:spLocks noGrp="1"/>
          </p:cNvSpPr>
          <p:nvPr/>
        </p:nvSpPr>
        <p:spPr>
          <a:xfrm>
            <a:off x="622300" y="50292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模拟样本特征＋参数标签</a:t>
            </a:r>
          </a:p>
        </p:txBody>
      </p:sp>
      <p:sp>
        <p:nvSpPr>
          <p:cNvPr id="24" name="fig1-bpnn">
            <a:extLst>
              <a:ext uri="{FF2B5EF4-FFF2-40B4-BE49-F238E27FC236}">
                <a16:creationId xmlns:a16="http://schemas.microsoft.com/office/drawing/2014/main" id="{0B37021B-D1A8-75B7-B97F-ACE95A3AA458}"/>
              </a:ext>
            </a:extLst>
          </p:cNvPr>
          <p:cNvSpPr>
            <a:spLocks noGrp="1"/>
          </p:cNvSpPr>
          <p:nvPr/>
        </p:nvSpPr>
        <p:spPr>
          <a:xfrm>
            <a:off x="7861300" y="50292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5F1E3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BPNN 神经网络参数估计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Yang等 · 2025</a:t>
            </a:r>
          </a:p>
        </p:txBody>
      </p:sp>
      <p:sp>
        <p:nvSpPr>
          <p:cNvPr id="25" name="fig1-text_edge12">
            <a:extLst>
              <a:ext uri="{FF2B5EF4-FFF2-40B4-BE49-F238E27FC236}">
                <a16:creationId xmlns:a16="http://schemas.microsoft.com/office/drawing/2014/main" id="{A39D4504-6D3C-4F45-604D-8FA9DCA9E3AE}"/>
              </a:ext>
            </a:extLst>
          </p:cNvPr>
          <p:cNvSpPr>
            <a:spLocks noGrp="1"/>
          </p:cNvSpPr>
          <p:nvPr/>
        </p:nvSpPr>
        <p:spPr>
          <a:xfrm>
            <a:off x="4508500" y="19685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极小样本位置估计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期望修正与回归更新</a:t>
            </a:r>
          </a:p>
        </p:txBody>
      </p:sp>
      <p:sp>
        <p:nvSpPr>
          <p:cNvPr id="26" name="fig1-text_edge13">
            <a:extLst>
              <a:ext uri="{FF2B5EF4-FFF2-40B4-BE49-F238E27FC236}">
                <a16:creationId xmlns:a16="http://schemas.microsoft.com/office/drawing/2014/main" id="{9D252892-336F-E75F-64E6-39939F60DFA7}"/>
              </a:ext>
            </a:extLst>
          </p:cNvPr>
          <p:cNvSpPr>
            <a:spLocks noGrp="1"/>
          </p:cNvSpPr>
          <p:nvPr/>
        </p:nvSpPr>
        <p:spPr>
          <a:xfrm>
            <a:off x="4508500" y="2908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位置与区间推断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分位数修正与似然更新</a:t>
            </a:r>
          </a:p>
        </p:txBody>
      </p:sp>
      <p:sp>
        <p:nvSpPr>
          <p:cNvPr id="27" name="fig1-text_edge14">
            <a:extLst>
              <a:ext uri="{FF2B5EF4-FFF2-40B4-BE49-F238E27FC236}">
                <a16:creationId xmlns:a16="http://schemas.microsoft.com/office/drawing/2014/main" id="{0413E637-A378-6B9B-23CC-3A26256D0E1E}"/>
              </a:ext>
            </a:extLst>
          </p:cNvPr>
          <p:cNvSpPr>
            <a:spLocks noGrp="1"/>
          </p:cNvSpPr>
          <p:nvPr/>
        </p:nvSpPr>
        <p:spPr>
          <a:xfrm>
            <a:off x="4508500" y="38862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处理存在性与唯一性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变换后估计形状</a:t>
            </a:r>
          </a:p>
        </p:txBody>
      </p:sp>
      <p:sp>
        <p:nvSpPr>
          <p:cNvPr id="28" name="fig1-text_edge15">
            <a:extLst>
              <a:ext uri="{FF2B5EF4-FFF2-40B4-BE49-F238E27FC236}">
                <a16:creationId xmlns:a16="http://schemas.microsoft.com/office/drawing/2014/main" id="{BCDBD5C7-EF55-AAAB-F0B7-7791DE34D102}"/>
              </a:ext>
            </a:extLst>
          </p:cNvPr>
          <p:cNvSpPr>
            <a:spLocks noGrp="1"/>
          </p:cNvSpPr>
          <p:nvPr/>
        </p:nvSpPr>
        <p:spPr>
          <a:xfrm>
            <a:off x="4508500" y="4813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学习特征到参数映射</a:t>
            </a:r>
          </a:p>
        </p:txBody>
      </p:sp>
      <p:sp>
        <p:nvSpPr>
          <p:cNvPr id="29" name="panel-description">
            <a:extLst>
              <a:ext uri="{FF2B5EF4-FFF2-40B4-BE49-F238E27FC236}">
                <a16:creationId xmlns:a16="http://schemas.microsoft.com/office/drawing/2014/main" id="{638B9803-B925-A14B-CFEE-AC8D91CE32BB}"/>
              </a:ext>
            </a:extLst>
          </p:cNvPr>
          <p:cNvSpPr>
            <a:spLocks noGrp="1"/>
          </p:cNvSpPr>
          <p:nvPr/>
        </p:nvSpPr>
        <p:spPr>
          <a:xfrm>
            <a:off x="622300" y="58801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SAM用最小值期望结合回归，PM用最小值中位数结合条件似然，未确认直接升级关系。</a:t>
            </a:r>
          </a:p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LSPF通过变换统计量构造似然；BPNN直接学习样本特征到参数的映射。</a:t>
            </a:r>
          </a:p>
        </p:txBody>
      </p:sp>
      <p:sp>
        <p:nvSpPr>
          <p:cNvPr id="30" name="panel-citations">
            <a:extLst>
              <a:ext uri="{FF2B5EF4-FFF2-40B4-BE49-F238E27FC236}">
                <a16:creationId xmlns:a16="http://schemas.microsoft.com/office/drawing/2014/main" id="{FFF163E1-9DEA-A44C-8F7B-54741DC29B7F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SAM [185-005]；PM [182-117]；LSPF [182-113]；BPNN [184-009]。BPNN是近期实例，不是该路线起点。</a:t>
            </a:r>
          </a:p>
        </p:txBody>
      </p:sp>
      <p:sp>
        <p:nvSpPr>
          <p:cNvPr id="31" name="fig1-edge12-1">
            <a:extLst>
              <a:ext uri="{FF2B5EF4-FFF2-40B4-BE49-F238E27FC236}">
                <a16:creationId xmlns:a16="http://schemas.microsoft.com/office/drawing/2014/main" id="{452576A1-345E-4E2D-8C01-0CE15F07CCAE}"/>
              </a:ext>
            </a:extLst>
          </p:cNvPr>
          <p:cNvSpPr>
            <a:spLocks noGrp="1"/>
          </p:cNvSpPr>
          <p:nvPr/>
        </p:nvSpPr>
        <p:spPr>
          <a:xfrm>
            <a:off x="3924300" y="28067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12-2">
            <a:extLst>
              <a:ext uri="{FF2B5EF4-FFF2-40B4-BE49-F238E27FC236}">
                <a16:creationId xmlns:a16="http://schemas.microsoft.com/office/drawing/2014/main" id="{5407042D-DCF5-41D8-85E2-32F15755A26D}"/>
              </a:ext>
            </a:extLst>
          </p:cNvPr>
          <p:cNvSpPr>
            <a:spLocks noGrp="1"/>
          </p:cNvSpPr>
          <p:nvPr/>
        </p:nvSpPr>
        <p:spPr>
          <a:xfrm flipV="1">
            <a:off x="4254500" y="2514600"/>
            <a:ext cx="0" cy="292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2-3">
            <a:extLst>
              <a:ext uri="{FF2B5EF4-FFF2-40B4-BE49-F238E27FC236}">
                <a16:creationId xmlns:a16="http://schemas.microsoft.com/office/drawing/2014/main" id="{202363D9-6939-4A49-81ED-D671F964A62E}"/>
              </a:ext>
            </a:extLst>
          </p:cNvPr>
          <p:cNvSpPr>
            <a:spLocks noGrp="1"/>
          </p:cNvSpPr>
          <p:nvPr/>
        </p:nvSpPr>
        <p:spPr>
          <a:xfrm>
            <a:off x="4254500" y="25146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3-1">
            <a:extLst>
              <a:ext uri="{FF2B5EF4-FFF2-40B4-BE49-F238E27FC236}">
                <a16:creationId xmlns:a16="http://schemas.microsoft.com/office/drawing/2014/main" id="{9FEB2136-BE5B-4931-BE33-74D86A178EE8}"/>
              </a:ext>
            </a:extLst>
          </p:cNvPr>
          <p:cNvSpPr>
            <a:spLocks noGrp="1"/>
          </p:cNvSpPr>
          <p:nvPr/>
        </p:nvSpPr>
        <p:spPr>
          <a:xfrm>
            <a:off x="3924300" y="32258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13-2">
            <a:extLst>
              <a:ext uri="{FF2B5EF4-FFF2-40B4-BE49-F238E27FC236}">
                <a16:creationId xmlns:a16="http://schemas.microsoft.com/office/drawing/2014/main" id="{A6FB6B0D-245C-42CB-92BA-F03998FF8565}"/>
              </a:ext>
            </a:extLst>
          </p:cNvPr>
          <p:cNvSpPr>
            <a:spLocks noGrp="1"/>
          </p:cNvSpPr>
          <p:nvPr/>
        </p:nvSpPr>
        <p:spPr>
          <a:xfrm>
            <a:off x="4254500" y="3225800"/>
            <a:ext cx="0" cy="2286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13-3">
            <a:extLst>
              <a:ext uri="{FF2B5EF4-FFF2-40B4-BE49-F238E27FC236}">
                <a16:creationId xmlns:a16="http://schemas.microsoft.com/office/drawing/2014/main" id="{3617336A-479E-4FFF-9C7D-F0059EB16568}"/>
              </a:ext>
            </a:extLst>
          </p:cNvPr>
          <p:cNvSpPr>
            <a:spLocks noGrp="1"/>
          </p:cNvSpPr>
          <p:nvPr/>
        </p:nvSpPr>
        <p:spPr>
          <a:xfrm>
            <a:off x="4254500" y="34544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14-1">
            <a:extLst>
              <a:ext uri="{FF2B5EF4-FFF2-40B4-BE49-F238E27FC236}">
                <a16:creationId xmlns:a16="http://schemas.microsoft.com/office/drawing/2014/main" id="{3FD4FDEA-8789-4E2E-8F00-569D1C5AAE1E}"/>
              </a:ext>
            </a:extLst>
          </p:cNvPr>
          <p:cNvSpPr>
            <a:spLocks noGrp="1"/>
          </p:cNvSpPr>
          <p:nvPr/>
        </p:nvSpPr>
        <p:spPr>
          <a:xfrm>
            <a:off x="3924300" y="44323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15-1">
            <a:extLst>
              <a:ext uri="{FF2B5EF4-FFF2-40B4-BE49-F238E27FC236}">
                <a16:creationId xmlns:a16="http://schemas.microsoft.com/office/drawing/2014/main" id="{C97E0014-B02C-43E1-A9F4-FD229655B7D5}"/>
              </a:ext>
            </a:extLst>
          </p:cNvPr>
          <p:cNvSpPr>
            <a:spLocks noGrp="1"/>
          </p:cNvSpPr>
          <p:nvPr/>
        </p:nvSpPr>
        <p:spPr>
          <a:xfrm>
            <a:off x="3924300" y="53594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0E1FE6-BAAC-4857-A4E3-72F5E6C98FA8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MLE出现7篇，相关回归LRE出现4篇；采用频次说明比较实践，不代表性能排名。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3528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论文／提出方法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MMoE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修正估计 1982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ANN 2008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比较研究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 2013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综合比较 2014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迭代LS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 2024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ADGBO 2026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采用篇数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D5B26DC-17BF-4468-8071-682D5CC6283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对照展示12篇；指标统计13篇（另含MDM论文）。同一审核主子集，范围不同。</a:t>
            </a: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已核文献尚未形成统一固定组合，但可以归纳出按比较作用选对手的原则。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同一方法可以兼任多个角色；具体推荐在明确评价规则后给出。</a:t>
            </a: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最小推荐比较组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 + WMLE + Park Proposed+Plot + SAM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57450"/>
          <a:ext cx="10972800" cy="3162300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方法与具体版本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MLE：明确局部或受限实现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常见基线，联系既有结果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WMLE：Cousineau J类权重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有限样本修正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小样本权重构造与后续采用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不同估计依据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相关系数定位与概率图恢复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2023：形状由样本估计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近期同任务竞争者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原文直接覆盖n=5—20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这是面向共同适用域的推荐组，不是文献统一组合；入选理由不预判性能排序。</a:t>
            </a: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根据新方法的改进目标追加对手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如果新方法改进某个已有估计器，直接母方法必须保留。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47662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需要检验的主张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回归构造或位置修正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Soman–Misra LS；PM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区分绘图、回归及位置更新的收益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低形状、可解性或不同准则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MPS；LSPF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检验间距或变换统计量构造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似然偏差修正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比较近期得分修正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对比同任务学习构造，先补齐配置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改进已有方法／扩展路线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直接母方法；PWM／L矩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识别新增步骤，或补充矩类参照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按研究主张增补；超出原适用域时，单列扩展条件并说明版本变化。</a:t>
            </a:r>
          </a:p>
        </p:txBody>
      </p:sp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正式比较前需明确的版本与实现边界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方法名称要对应具体构造；推荐纳入不等于已经完成复现。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有效性判断需要形成完整证据链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先明确对手与评价条件，再据统计结果和应用表现限定结论。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和谁比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最小组：MLE、WMLE、Park Proposed+Plot、SAM；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再按主张追加相关对手，保留直接母方法。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指出优势出现的样本量、参数条件和评价量，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同时说明波动、失败或适用范围方面的代价。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结论应回答：相对于谁、在哪些条件下、改善什么，以及仍有哪些局限。</a:t>
            </a: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2082</Words>
  <Application>Microsoft Office PowerPoint</Application>
  <DocSecurity>0</DocSecurity>
  <PresentationFormat>宽屏</PresentationFormat>
  <Paragraphs>434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31</cp:revision>
  <dcterms:created xsi:type="dcterms:W3CDTF">2026-09-06T04:22:26Z</dcterms:created>
  <dcterms:modified xsi:type="dcterms:W3CDTF">2026-09-28T07:42:53Z</dcterms:modified>
</cp:coreProperties>
</file>