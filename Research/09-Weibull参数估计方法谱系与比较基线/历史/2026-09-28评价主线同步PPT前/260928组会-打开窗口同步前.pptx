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63" r:id="rId3"/>
  </p:sldMasterIdLst>
  <p:notesMasterIdLst>
    <p:notesMasterId r:id="rId22"/>
  </p:notesMasterIdLst>
  <p:sldIdLst>
    <p:sldId id="277" r:id="rId4"/>
    <p:sldId id="257" r:id="rId5"/>
    <p:sldId id="278" r:id="rId6"/>
    <p:sldId id="279" r:id="rId7"/>
    <p:sldId id="260" r:id="rId8"/>
    <p:sldId id="261" r:id="rId9"/>
    <p:sldId id="262" r:id="rId10"/>
    <p:sldId id="280" r:id="rId11"/>
    <p:sldId id="281" r:id="rId12"/>
    <p:sldId id="283" r:id="rId13"/>
    <p:sldId id="284" r:id="rId14"/>
    <p:sldId id="285" r:id="rId15"/>
    <p:sldId id="286" r:id="rId16"/>
    <p:sldId id="287" r:id="rId17"/>
    <p:sldId id="288" r:id="rId18"/>
    <p:sldId id="289" r:id="rId19"/>
    <p:sldId id="290" r:id="rId20"/>
    <p:sldId id="291"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E3753D0-92AB-4620-8DB3-57A31C4D162D}" styleName="表样式 1 25">
    <a:wholeTbl>
      <a:tcTxStyle>
        <a:fontRef idx="none">
          <a:schemeClr val="tx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bg1">
              <a:alpha val="0"/>
            </a:schemeClr>
          </a:solidFill>
        </a:fill>
      </a:tcStyle>
    </a:wholeTbl>
    <a:band2H>
      <a:tcTxStyle/>
      <a:tcStyle>
        <a:tcBdr/>
        <a:fill>
          <a:solidFill>
            <a:schemeClr val="accent1">
              <a:alpha val="25000"/>
              <a:lumMod val="40000"/>
              <a:lumOff val="60000"/>
            </a:schemeClr>
          </a:solidFill>
        </a:fill>
      </a:tcStyle>
    </a:band2H>
    <a:band1V>
      <a:tcTxStyle/>
      <a:tcStyle>
        <a:tcBdr/>
        <a:fill>
          <a:solidFill>
            <a:schemeClr val="accent1">
              <a:alpha val="25000"/>
              <a:lumMod val="40000"/>
              <a:lumOff val="60000"/>
            </a:schemeClr>
          </a:solidFill>
        </a:fill>
      </a:tcStyle>
    </a:band1V>
    <a:band2V>
      <a:tcTxStyle/>
      <a:tcStyle>
        <a:tcBdr/>
        <a:fill>
          <a:solidFill>
            <a:schemeClr val="bg1">
              <a:alpha val="0"/>
            </a:schemeClr>
          </a:solidFill>
        </a:fill>
      </a:tcStyle>
    </a:band2V>
    <a:lastCol>
      <a:tcTxStyle b="on">
        <a:fontRef idx="none">
          <a:schemeClr val="tx1"/>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lastCol>
    <a:firstCol>
      <a:tcTxStyle b="on">
        <a:fontRef idx="none">
          <a:schemeClr val="tx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lastRow>
    <a:seCell>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eCell>
    <a:swCell>
      <a:tcTxStyle b="on">
        <a:fontRef idx="none">
          <a:schemeClr val="accent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neCell>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lumMod val="40000"/>
                  <a:lumOff val="60000"/>
                </a:schemeClr>
              </a:solidFill>
              <a:prstDash val="solid"/>
            </a:ln>
          </a:bottom>
          <a:insideH>
            <a:ln>
              <a:noFill/>
            </a:ln>
          </a:insideH>
          <a:insideV>
            <a:ln>
              <a:noFill/>
            </a:ln>
          </a:insideV>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588" autoAdjust="0"/>
  </p:normalViewPr>
  <p:slideViewPr>
    <p:cSldViewPr snapToGrid="0">
      <p:cViewPr varScale="1">
        <p:scale>
          <a:sx n="76" d="100"/>
          <a:sy n="76" d="100"/>
        </p:scale>
        <p:origin x="82" y="38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a:t>老师晚上好，本次汇报一下最近围绕威布尔分布参数估计和小样本估计做的一些工作，主要是神经网络在 </a:t>
            </a:r>
            <a:r>
              <a:rPr lang="en-US" altLang="zh-CN" sz="1800"/>
              <a:t>MDM </a:t>
            </a:r>
            <a:r>
              <a:rPr lang="zh-CN" altLang="en-US" sz="1800"/>
              <a:t>方法和直接参数估计中的应用。下面分三个部分来讲。</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9691933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184141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a:t>与报告</a:t>
            </a:r>
            <a:r>
              <a:rPr lang="en-US" altLang="zh-CN" sz="1800"/>
              <a:t>1.1</a:t>
            </a:r>
            <a:r>
              <a:rPr lang="zh-CN" altLang="en-US" sz="1800"/>
              <a:t>及图</a:t>
            </a:r>
            <a:r>
              <a:rPr lang="en-US" altLang="zh-CN" sz="1800"/>
              <a:t>1</a:t>
            </a:r>
            <a:r>
              <a:rPr lang="zh-CN" altLang="en-US" sz="1800"/>
              <a:t>统一为</a:t>
            </a:r>
            <a:r>
              <a:rPr lang="en-US" altLang="zh-CN" sz="1800"/>
              <a:t>A/B/C/D</a:t>
            </a:r>
            <a:r>
              <a:rPr lang="zh-CN" altLang="en-US" sz="1800"/>
              <a:t>四组。不是互斥穷尽的数学分类。项目</a:t>
            </a:r>
            <a:r>
              <a:rPr lang="en-US" altLang="zh-CN" sz="1800"/>
              <a:t>LS</a:t>
            </a:r>
            <a:r>
              <a:rPr lang="zh-CN" altLang="en-US" sz="1800"/>
              <a:t>和</a:t>
            </a:r>
            <a:r>
              <a:rPr lang="en-US" altLang="zh-CN" sz="1800"/>
              <a:t>LRE</a:t>
            </a:r>
            <a:r>
              <a:rPr lang="zh-CN" altLang="en-US" sz="1800"/>
              <a:t>均可用最小二乘回归，主要差异是分数和回归方向。</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392668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a:t>来源：报告图</a:t>
            </a:r>
            <a:r>
              <a:rPr lang="en-US" altLang="zh-CN" sz="1800"/>
              <a:t>1</a:t>
            </a:r>
            <a:r>
              <a:rPr lang="zh-CN" altLang="en-US" sz="1800"/>
              <a:t>原有的</a:t>
            </a:r>
            <a:r>
              <a:rPr lang="en-US" altLang="zh-CN" sz="1800"/>
              <a:t>A</a:t>
            </a:r>
            <a:r>
              <a:rPr lang="zh-CN" altLang="en-US" sz="1800"/>
              <a:t>部分。节点、作者年份和连线关系沿用原图，按</a:t>
            </a:r>
            <a:r>
              <a:rPr lang="en-US" altLang="zh-CN" sz="1800"/>
              <a:t>PPT</a:t>
            </a:r>
            <a:r>
              <a:rPr lang="zh-CN" altLang="en-US" sz="1800"/>
              <a:t>版面重排。</a:t>
            </a:r>
          </a:p>
          <a:p>
            <a:r>
              <a:rPr lang="zh-CN" altLang="en-US" sz="1800"/>
              <a:t>共同起点是样本似然，后续工作分别处理偏差、边界和数值求解。</a:t>
            </a:r>
          </a:p>
          <a:p>
            <a:r>
              <a:rPr lang="en-US" altLang="zh-CN" sz="1800"/>
              <a:t>WMLE</a:t>
            </a:r>
            <a:r>
              <a:rPr lang="zh-CN" altLang="en-US" sz="1800"/>
              <a:t>修正有限样本估计方程，</a:t>
            </a:r>
            <a:r>
              <a:rPr lang="en-US" altLang="zh-CN" sz="1800"/>
              <a:t>MMLE</a:t>
            </a:r>
            <a:r>
              <a:rPr lang="zh-CN" altLang="en-US" sz="1800"/>
              <a:t>改变似然构造，</a:t>
            </a:r>
            <a:r>
              <a:rPr lang="en-US" altLang="zh-CN" sz="1800"/>
              <a:t>DMMLE</a:t>
            </a:r>
            <a:r>
              <a:rPr lang="zh-CN" altLang="en-US" sz="1800"/>
              <a:t>进一步修正得分偏差。</a:t>
            </a:r>
          </a:p>
          <a:p>
            <a:r>
              <a:rPr lang="en-US" altLang="zh-CN" sz="1800"/>
              <a:t>PSO</a:t>
            </a:r>
            <a:r>
              <a:rPr lang="zh-CN" altLang="en-US" sz="1800"/>
              <a:t>、</a:t>
            </a:r>
            <a:r>
              <a:rPr lang="en-US" altLang="zh-CN" sz="1800"/>
              <a:t>ADGBO</a:t>
            </a:r>
            <a:r>
              <a:rPr lang="zh-CN" altLang="en-US" sz="1800"/>
              <a:t>等若保持同一似然与约束，改进的是求解过程。</a:t>
            </a:r>
          </a:p>
          <a:p>
            <a:r>
              <a:rPr lang="en-US" altLang="zh-CN" sz="1800"/>
              <a:t>WMLE [182-088]</a:t>
            </a:r>
            <a:r>
              <a:rPr lang="zh-CN" altLang="en-US" sz="1800"/>
              <a:t>；</a:t>
            </a:r>
            <a:r>
              <a:rPr lang="en-US" altLang="zh-CN" sz="1800"/>
              <a:t>DMMLE [182-111]</a:t>
            </a:r>
            <a:r>
              <a:rPr lang="zh-CN" altLang="en-US" sz="1800"/>
              <a:t>；</a:t>
            </a:r>
            <a:r>
              <a:rPr lang="en-US" altLang="zh-CN" sz="1800"/>
              <a:t>ADGBO [187-001]</a:t>
            </a:r>
            <a:r>
              <a:rPr lang="zh-CN" altLang="en-US" sz="1800"/>
              <a:t>。</a:t>
            </a:r>
            <a:r>
              <a:rPr lang="en-US" altLang="zh-CN" sz="1800"/>
              <a:t>Fisher</a:t>
            </a:r>
            <a:r>
              <a:rPr lang="zh-CN" altLang="en-US" sz="1800"/>
              <a:t>（</a:t>
            </a:r>
            <a:r>
              <a:rPr lang="en-US" altLang="zh-CN" sz="1800"/>
              <a:t>1922</a:t>
            </a:r>
            <a:r>
              <a:rPr lang="zh-CN" altLang="en-US" sz="1800"/>
              <a:t>）标示通用似然原理来源。</a:t>
            </a:r>
          </a:p>
          <a:p>
            <a:r>
              <a:rPr lang="en-US" altLang="zh-CN" sz="1800"/>
              <a:t>WMLE</a:t>
            </a:r>
            <a:r>
              <a:rPr lang="zh-CN" altLang="en-US" sz="1800"/>
              <a:t>承接</a:t>
            </a:r>
            <a:r>
              <a:rPr lang="en-US" altLang="zh-CN" sz="1800"/>
              <a:t>Jacquelin</a:t>
            </a:r>
            <a:r>
              <a:rPr lang="zh-CN" altLang="en-US" sz="1800"/>
              <a:t>（</a:t>
            </a:r>
            <a:r>
              <a:rPr lang="en-US" altLang="zh-CN" sz="1800"/>
              <a:t>1993</a:t>
            </a:r>
            <a:r>
              <a:rPr lang="zh-CN" altLang="en-US" sz="1800"/>
              <a:t>）的二参数构造。</a:t>
            </a:r>
            <a:r>
              <a:rPr lang="en-US" altLang="zh-CN" sz="1800"/>
              <a:t>Fisher</a:t>
            </a:r>
            <a:r>
              <a:rPr lang="zh-CN" altLang="en-US" sz="1800"/>
              <a:t>（</a:t>
            </a:r>
            <a:r>
              <a:rPr lang="en-US" altLang="zh-CN" sz="1800"/>
              <a:t>1922</a:t>
            </a:r>
            <a:r>
              <a:rPr lang="zh-CN" altLang="en-US" sz="1800"/>
              <a:t>）为通用似然原理来源，非三参数</a:t>
            </a:r>
            <a:r>
              <a:rPr lang="en-US" altLang="zh-CN" sz="1800"/>
              <a:t>Weibull</a:t>
            </a:r>
            <a:r>
              <a:rPr lang="zh-CN" altLang="en-US" sz="1800"/>
              <a:t>方法提出年份。蓝为已有依据，紫为统计构造改变，黄为数值求解。</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6612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a:t>报告</a:t>
            </a:r>
            <a:r>
              <a:rPr lang="en-US" altLang="zh-CN" sz="1800"/>
              <a:t>1.3</a:t>
            </a:r>
            <a:r>
              <a:rPr lang="zh-CN" altLang="en-US" sz="1800"/>
              <a:t>及附录</a:t>
            </a:r>
            <a:r>
              <a:rPr lang="en-US" sz="1800"/>
              <a:t>B</a:t>
            </a:r>
            <a:r>
              <a:rPr lang="zh-CN" altLang="en-US" sz="1800"/>
              <a:t>第</a:t>
            </a:r>
            <a:r>
              <a:rPr lang="en-US" altLang="zh-CN" sz="1800"/>
              <a:t>2—4</a:t>
            </a:r>
            <a:r>
              <a:rPr lang="zh-CN" altLang="en-US" sz="1800"/>
              <a:t>节。</a:t>
            </a:r>
            <a:r>
              <a:rPr lang="en-US" sz="1800"/>
              <a:t>LS=least squares，LRE=linear regression estimation，</a:t>
            </a:r>
            <a:r>
              <a:rPr lang="zh-CN" altLang="en-US" sz="1800"/>
              <a:t>图中</a:t>
            </a:r>
            <a:r>
              <a:rPr lang="en-US" sz="1800"/>
              <a:t>LRE</a:t>
            </a:r>
            <a:r>
              <a:rPr lang="zh-CN" altLang="en-US" sz="1800"/>
              <a:t>为路线</a:t>
            </a:r>
            <a:r>
              <a:rPr lang="en-US" altLang="zh-CN" sz="1800"/>
              <a:t>/</a:t>
            </a:r>
            <a:r>
              <a:rPr lang="zh-CN" altLang="en-US" sz="1800"/>
              <a:t>项目标签。</a:t>
            </a:r>
            <a:r>
              <a:rPr lang="en-US" sz="1800"/>
              <a:t>Li</a:t>
            </a:r>
            <a:r>
              <a:rPr lang="zh-CN" altLang="en-US" sz="1800"/>
              <a:t>原文用</a:t>
            </a:r>
            <a:r>
              <a:rPr lang="en-US" sz="1800"/>
              <a:t>GLRA/GLLS；Park</a:t>
            </a:r>
            <a:r>
              <a:rPr lang="zh-CN" altLang="en-US" sz="1800"/>
              <a:t>回归恢复分支称</a:t>
            </a:r>
            <a:r>
              <a:rPr lang="en-US" sz="1800"/>
              <a:t>Proposed+Plot。</a:t>
            </a:r>
            <a:r>
              <a:rPr lang="zh-CN" altLang="en-US" sz="1800"/>
              <a:t>项目</a:t>
            </a:r>
            <a:r>
              <a:rPr lang="en-US" sz="1800"/>
              <a:t>LS</a:t>
            </a:r>
            <a:r>
              <a:rPr lang="zh-CN" altLang="en-US" sz="1800"/>
              <a:t>使用期望分数，回归</a:t>
            </a:r>
            <a:r>
              <a:rPr lang="en-US" sz="1800"/>
              <a:t>x</a:t>
            </a:r>
            <a:r>
              <a:rPr lang="zh-CN" altLang="en-US" sz="1800"/>
              <a:t>对</a:t>
            </a:r>
            <a:r>
              <a:rPr lang="en-US" sz="1800"/>
              <a:t>z；</a:t>
            </a:r>
            <a:r>
              <a:rPr lang="zh-CN" altLang="en-US" sz="1800"/>
              <a:t>项目</a:t>
            </a:r>
            <a:r>
              <a:rPr lang="en-US" sz="1800"/>
              <a:t>LRE</a:t>
            </a:r>
            <a:r>
              <a:rPr lang="zh-CN" altLang="en-US" sz="1800"/>
              <a:t>用</a:t>
            </a:r>
            <a:r>
              <a:rPr lang="en-US" sz="1800"/>
              <a:t>Bernard</a:t>
            </a:r>
            <a:r>
              <a:rPr lang="zh-CN" altLang="en-US" sz="1800"/>
              <a:t>分数，回归</a:t>
            </a:r>
            <a:r>
              <a:rPr lang="en-US" sz="1800"/>
              <a:t>z</a:t>
            </a:r>
            <a:r>
              <a:rPr lang="zh-CN" altLang="en-US" sz="1800"/>
              <a:t>对</a:t>
            </a:r>
            <a:r>
              <a:rPr lang="en-US" sz="1800"/>
              <a:t>x，</a:t>
            </a:r>
            <a:r>
              <a:rPr lang="zh-CN" altLang="en-US" sz="1800"/>
              <a:t>位置最大化</a:t>
            </a:r>
            <a:r>
              <a:rPr lang="en-US" sz="1800"/>
              <a:t>r²。</a:t>
            </a:r>
            <a:r>
              <a:rPr lang="zh-CN" altLang="en-US" sz="1800"/>
              <a:t>相同分数、同一位置与带截距</a:t>
            </a:r>
            <a:r>
              <a:rPr lang="en-US" sz="1800"/>
              <a:t>OLS</a:t>
            </a:r>
            <a:r>
              <a:rPr lang="zh-CN" altLang="en-US" sz="1800"/>
              <a:t>下，</a:t>
            </a:r>
            <a:r>
              <a:rPr lang="en-US" sz="1800"/>
              <a:t>F=(n-2)/[(n-1)(1-r²)]，</a:t>
            </a:r>
            <a:r>
              <a:rPr lang="zh-CN" altLang="en-US" sz="1800"/>
              <a:t>位置目标单调等价。实际分数不同，故不能说位置估计一定相同。当前</a:t>
            </a:r>
            <a:r>
              <a:rPr lang="en-US" sz="1800"/>
              <a:t>LRE</a:t>
            </a:r>
            <a:r>
              <a:rPr lang="zh-CN" altLang="en-US" sz="1800"/>
              <a:t>并非</a:t>
            </a:r>
            <a:r>
              <a:rPr lang="en-US" sz="1800"/>
              <a:t>Li</a:t>
            </a:r>
            <a:r>
              <a:rPr lang="zh-CN" altLang="en-US" sz="1800"/>
              <a:t>或</a:t>
            </a:r>
            <a:r>
              <a:rPr lang="en-US" sz="1800"/>
              <a:t>Park</a:t>
            </a:r>
            <a:r>
              <a:rPr lang="zh-CN" altLang="en-US" sz="1800"/>
              <a:t>原版完整复现。</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6168968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a:t>来源：报告图</a:t>
            </a:r>
            <a:r>
              <a:rPr lang="en-US" altLang="zh-CN" sz="1800"/>
              <a:t>1</a:t>
            </a:r>
            <a:r>
              <a:rPr lang="zh-CN" altLang="en-US" sz="1800"/>
              <a:t>原有的</a:t>
            </a:r>
            <a:r>
              <a:rPr lang="en-US" altLang="zh-CN" sz="1800"/>
              <a:t>C</a:t>
            </a:r>
            <a:r>
              <a:rPr lang="zh-CN" altLang="en-US" sz="1800"/>
              <a:t>部分。节点、作者年份和连线关系沿用原图，按</a:t>
            </a:r>
            <a:r>
              <a:rPr lang="en-US" altLang="zh-CN" sz="1800"/>
              <a:t>PPT</a:t>
            </a:r>
            <a:r>
              <a:rPr lang="zh-CN" altLang="en-US" sz="1800"/>
              <a:t>版面重排。</a:t>
            </a:r>
          </a:p>
          <a:p>
            <a:r>
              <a:rPr lang="zh-CN" altLang="en-US" sz="1800"/>
              <a:t>这三支分别采用统计量匹配、概率间距和尺度伪估计差异作为估计依据。</a:t>
            </a:r>
          </a:p>
          <a:p>
            <a:r>
              <a:rPr lang="en-US" altLang="zh-CN" sz="1800"/>
              <a:t>PWM</a:t>
            </a:r>
            <a:r>
              <a:rPr lang="zh-CN" altLang="en-US" sz="1800"/>
              <a:t>经线性组合形成</a:t>
            </a:r>
            <a:r>
              <a:rPr lang="en-US" altLang="zh-CN" sz="1800"/>
              <a:t>L</a:t>
            </a:r>
            <a:r>
              <a:rPr lang="zh-CN" altLang="en-US" sz="1800"/>
              <a:t>矩。</a:t>
            </a:r>
            <a:r>
              <a:rPr lang="en-US" altLang="zh-CN" sz="1800"/>
              <a:t>MPS</a:t>
            </a:r>
            <a:r>
              <a:rPr lang="zh-CN" altLang="en-US" sz="1800"/>
              <a:t>针对似然边界困难，转而使用概率间距。</a:t>
            </a:r>
          </a:p>
          <a:p>
            <a:r>
              <a:rPr lang="en-US" altLang="zh-CN" sz="1800"/>
              <a:t>MDM</a:t>
            </a:r>
            <a:r>
              <a:rPr lang="zh-CN" altLang="en-US" sz="1800"/>
              <a:t>使尺度伪估计尽量一致；现有来源未确认它直接继承</a:t>
            </a:r>
            <a:r>
              <a:rPr lang="en-US" altLang="zh-CN" sz="1800"/>
              <a:t>MPS</a:t>
            </a:r>
            <a:r>
              <a:rPr lang="zh-CN" altLang="en-US" sz="1800"/>
              <a:t>或某个</a:t>
            </a:r>
            <a:r>
              <a:rPr lang="en-US" altLang="zh-CN" sz="1800"/>
              <a:t>LS</a:t>
            </a:r>
            <a:r>
              <a:rPr lang="zh-CN" altLang="en-US" sz="1800"/>
              <a:t>版本。</a:t>
            </a:r>
          </a:p>
          <a:p>
            <a:r>
              <a:rPr lang="en-US" altLang="zh-CN" sz="1800"/>
              <a:t>PWM</a:t>
            </a:r>
            <a:r>
              <a:rPr lang="zh-CN" altLang="en-US" sz="1800"/>
              <a:t>与</a:t>
            </a:r>
            <a:r>
              <a:rPr lang="en-US" altLang="zh-CN" sz="1800"/>
              <a:t>L</a:t>
            </a:r>
            <a:r>
              <a:rPr lang="zh-CN" altLang="en-US" sz="1800"/>
              <a:t>矩来源见报告</a:t>
            </a:r>
            <a:r>
              <a:rPr lang="en-US" altLang="zh-CN" sz="1800"/>
              <a:t>1.4</a:t>
            </a:r>
            <a:r>
              <a:rPr lang="zh-CN" altLang="en-US" sz="1800"/>
              <a:t>；</a:t>
            </a:r>
            <a:r>
              <a:rPr lang="en-US" altLang="zh-CN" sz="1800"/>
              <a:t>MPS [182-116]</a:t>
            </a:r>
            <a:r>
              <a:rPr lang="zh-CN" altLang="en-US" sz="1800"/>
              <a:t>；</a:t>
            </a:r>
            <a:r>
              <a:rPr lang="en-US" altLang="zh-CN" sz="1800"/>
              <a:t>MDM [182-030]</a:t>
            </a:r>
            <a:r>
              <a:rPr lang="zh-CN" altLang="en-US" sz="1800"/>
              <a:t>。虚线表示替代方案，不表示直接继承。</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714692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a:t>来源：报告图</a:t>
            </a:r>
            <a:r>
              <a:rPr lang="en-US" altLang="zh-CN" sz="1800"/>
              <a:t>1</a:t>
            </a:r>
            <a:r>
              <a:rPr lang="zh-CN" altLang="en-US" sz="1800"/>
              <a:t>原有的</a:t>
            </a:r>
            <a:r>
              <a:rPr lang="en-US" altLang="zh-CN" sz="1800"/>
              <a:t>D</a:t>
            </a:r>
            <a:r>
              <a:rPr lang="zh-CN" altLang="en-US" sz="1800"/>
              <a:t>部分。节点、作者年份和连线关系沿用原图，按</a:t>
            </a:r>
            <a:r>
              <a:rPr lang="en-US" altLang="zh-CN" sz="1800"/>
              <a:t>PPT</a:t>
            </a:r>
            <a:r>
              <a:rPr lang="zh-CN" altLang="en-US" sz="1800"/>
              <a:t>版面重排。</a:t>
            </a:r>
          </a:p>
          <a:p>
            <a:r>
              <a:rPr lang="zh-CN" altLang="en-US" sz="1800"/>
              <a:t>组合已有统计关系、变换观测统计量，或直接学习参数映射，都形成了新的构造。</a:t>
            </a:r>
          </a:p>
          <a:p>
            <a:r>
              <a:rPr lang="en-US" altLang="zh-CN" sz="1800"/>
              <a:t>SAM</a:t>
            </a:r>
            <a:r>
              <a:rPr lang="zh-CN" altLang="en-US" sz="1800"/>
              <a:t>用最小值期望结合回归，</a:t>
            </a:r>
            <a:r>
              <a:rPr lang="en-US" altLang="zh-CN" sz="1800"/>
              <a:t>PM</a:t>
            </a:r>
            <a:r>
              <a:rPr lang="zh-CN" altLang="en-US" sz="1800"/>
              <a:t>用最小值中位数结合条件似然，未确认直接升级关系。</a:t>
            </a:r>
          </a:p>
          <a:p>
            <a:r>
              <a:rPr lang="en-US" altLang="zh-CN" sz="1800"/>
              <a:t>LSPF</a:t>
            </a:r>
            <a:r>
              <a:rPr lang="zh-CN" altLang="en-US" sz="1800"/>
              <a:t>通过变换统计量构造似然；</a:t>
            </a:r>
            <a:r>
              <a:rPr lang="en-US" altLang="zh-CN" sz="1800"/>
              <a:t>BPNN</a:t>
            </a:r>
            <a:r>
              <a:rPr lang="zh-CN" altLang="en-US" sz="1800"/>
              <a:t>直接学习样本特征到参数的映射。</a:t>
            </a:r>
          </a:p>
          <a:p>
            <a:r>
              <a:rPr lang="en-US" altLang="zh-CN" sz="1800"/>
              <a:t>SAM [185-005]</a:t>
            </a:r>
            <a:r>
              <a:rPr lang="zh-CN" altLang="en-US" sz="1800"/>
              <a:t>；</a:t>
            </a:r>
            <a:r>
              <a:rPr lang="en-US" altLang="zh-CN" sz="1800"/>
              <a:t>PM [182-117]</a:t>
            </a:r>
            <a:r>
              <a:rPr lang="zh-CN" altLang="en-US" sz="1800"/>
              <a:t>；</a:t>
            </a:r>
            <a:r>
              <a:rPr lang="en-US" altLang="zh-CN" sz="1800"/>
              <a:t>LSPF [182-113]</a:t>
            </a:r>
            <a:r>
              <a:rPr lang="zh-CN" altLang="en-US" sz="1800"/>
              <a:t>；</a:t>
            </a:r>
            <a:r>
              <a:rPr lang="en-US" altLang="zh-CN" sz="1800"/>
              <a:t>BPNN [184-009]</a:t>
            </a:r>
            <a:r>
              <a:rPr lang="zh-CN" altLang="en-US" sz="1800"/>
              <a:t>。</a:t>
            </a:r>
            <a:r>
              <a:rPr lang="en-US" altLang="zh-CN" sz="1800"/>
              <a:t>BPNN</a:t>
            </a:r>
            <a:r>
              <a:rPr lang="zh-CN" altLang="en-US" sz="1800"/>
              <a:t>是近期实例，不是该路线起点。</a:t>
            </a:r>
          </a:p>
          <a:p>
            <a:r>
              <a:rPr lang="en-US" altLang="zh-CN" sz="1800"/>
              <a:t>LSPF</a:t>
            </a:r>
            <a:r>
              <a:rPr lang="zh-CN" altLang="en-US" sz="1800"/>
              <a:t>虚线表示针对同一困难的替代构造。直接三参数</a:t>
            </a:r>
            <a:r>
              <a:rPr lang="en-US" altLang="zh-CN" sz="1800"/>
              <a:t>ANN</a:t>
            </a:r>
            <a:r>
              <a:rPr lang="zh-CN" altLang="en-US" sz="1800"/>
              <a:t>早见</a:t>
            </a:r>
            <a:r>
              <a:rPr lang="en-US" altLang="zh-CN" sz="1800"/>
              <a:t>Abbasi</a:t>
            </a:r>
            <a:r>
              <a:rPr lang="zh-CN" altLang="en-US" sz="1800"/>
              <a:t>等（</a:t>
            </a:r>
            <a:r>
              <a:rPr lang="en-US" altLang="zh-CN" sz="1800"/>
              <a:t>2008</a:t>
            </a:r>
            <a:r>
              <a:rPr lang="zh-CN" altLang="en-US" sz="1800"/>
              <a:t>）</a:t>
            </a:r>
            <a:r>
              <a:rPr lang="en-US" altLang="zh-CN" sz="1800"/>
              <a:t>[183-020]</a:t>
            </a:r>
            <a:r>
              <a:rPr lang="zh-CN" altLang="en-US" sz="1800"/>
              <a:t>，不能以</a:t>
            </a:r>
            <a:r>
              <a:rPr lang="en-US" altLang="zh-CN" sz="1800"/>
              <a:t>BPNN</a:t>
            </a:r>
            <a:r>
              <a:rPr lang="zh-CN" altLang="en-US" sz="1800"/>
              <a:t>（</a:t>
            </a:r>
            <a:r>
              <a:rPr lang="en-US" altLang="zh-CN" sz="1800"/>
              <a:t>2025</a:t>
            </a:r>
            <a:r>
              <a:rPr lang="zh-CN" altLang="en-US" sz="1800"/>
              <a:t>）为神经估计起点。</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889073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a:t>资料</a:t>
            </a:r>
            <a:r>
              <a:rPr lang="en-US" altLang="zh-CN" sz="1800"/>
              <a:t>/</a:t>
            </a:r>
            <a:r>
              <a:rPr lang="zh-CN" altLang="en-US" sz="1800"/>
              <a:t>近期文献范围核查</a:t>
            </a:r>
            <a:r>
              <a:rPr lang="en-US" altLang="zh-CN" sz="1800"/>
              <a:t>.md</a:t>
            </a:r>
            <a:r>
              <a:rPr lang="zh-CN" altLang="en-US" sz="1800"/>
              <a:t>：</a:t>
            </a:r>
            <a:r>
              <a:rPr lang="en-US" altLang="zh-CN" sz="1800"/>
              <a:t>63</a:t>
            </a:r>
            <a:r>
              <a:rPr lang="zh-CN" altLang="en-US" sz="1800"/>
              <a:t>条定向编码，</a:t>
            </a:r>
            <a:r>
              <a:rPr lang="en-US" altLang="zh-CN" sz="1800"/>
              <a:t>51</a:t>
            </a:r>
            <a:r>
              <a:rPr lang="zh-CN" altLang="en-US" sz="1800"/>
              <a:t>条</a:t>
            </a:r>
            <a:r>
              <a:rPr lang="en-US" altLang="zh-CN" sz="1800"/>
              <a:t>2006</a:t>
            </a:r>
            <a:r>
              <a:rPr lang="zh-CN" altLang="en-US" sz="1800"/>
              <a:t>年以来、</a:t>
            </a:r>
            <a:r>
              <a:rPr lang="en-US" altLang="zh-CN" sz="1800"/>
              <a:t>35</a:t>
            </a:r>
            <a:r>
              <a:rPr lang="zh-CN" altLang="en-US" sz="1800"/>
              <a:t>条</a:t>
            </a:r>
            <a:r>
              <a:rPr lang="en-US" altLang="zh-CN" sz="1800"/>
              <a:t>2016</a:t>
            </a:r>
            <a:r>
              <a:rPr lang="zh-CN" altLang="en-US" sz="1800"/>
              <a:t>年以来；标签重叠，样本选择有偏，不作领域占比。</a:t>
            </a:r>
            <a:r>
              <a:rPr lang="en-US" altLang="zh-CN" sz="1800"/>
              <a:t>HGLM2024</a:t>
            </a:r>
            <a:r>
              <a:rPr lang="zh-CN" altLang="en-US" sz="1800"/>
              <a:t>与</a:t>
            </a:r>
            <a:r>
              <a:rPr lang="en-US" altLang="zh-CN" sz="1800"/>
              <a:t>AIMGC-PSO2026</a:t>
            </a:r>
            <a:r>
              <a:rPr lang="zh-CN" altLang="en-US" sz="1800"/>
              <a:t>仅题录</a:t>
            </a:r>
            <a:r>
              <a:rPr lang="en-US" altLang="zh-CN" sz="1800"/>
              <a:t>/</a:t>
            </a:r>
            <a:r>
              <a:rPr lang="zh-CN" altLang="en-US" sz="1800"/>
              <a:t>摘要，待全文。</a:t>
            </a:r>
          </a:p>
          <a:p>
            <a:r>
              <a:rPr lang="zh-CN" altLang="en-US" sz="1800"/>
              <a:t>备查说明：</a:t>
            </a:r>
            <a:r>
              <a:rPr lang="en-US" altLang="zh-CN" sz="1800"/>
              <a:t>63</a:t>
            </a:r>
            <a:r>
              <a:rPr lang="zh-CN" altLang="en-US" sz="1800"/>
              <a:t>条定向核查材料显示多种路线并存，尚不能据此判断全领域重心转移。。详细来源、统计口径及作者关系见附录</a:t>
            </a:r>
            <a:r>
              <a:rPr lang="en-US" altLang="zh-CN" sz="1800"/>
              <a:t>A</a:t>
            </a:r>
            <a:r>
              <a:rPr lang="zh-CN" altLang="en-US" sz="1800"/>
              <a:t>和比较习惯核查。</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24844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a:t>原方法来源见报告</a:t>
            </a:r>
            <a:r>
              <a:rPr lang="en-US" altLang="zh-CN" sz="1800"/>
              <a:t>§2.2</a:t>
            </a:r>
            <a:r>
              <a:rPr lang="zh-CN" altLang="en-US" sz="1800"/>
              <a:t>；新增</a:t>
            </a:r>
            <a:r>
              <a:rPr lang="en-US" altLang="zh-CN" sz="1800"/>
              <a:t>HGLM DOI10.1007/s12206-024-0911-5</a:t>
            </a:r>
            <a:r>
              <a:rPr lang="zh-CN" altLang="en-US" sz="1800"/>
              <a:t>；</a:t>
            </a:r>
            <a:r>
              <a:rPr lang="en-US" altLang="zh-CN" sz="1800"/>
              <a:t>AIMGC-PSO DOI10.1016/j.probengmech.2026.103978</a:t>
            </a:r>
            <a:r>
              <a:rPr lang="zh-CN" altLang="en-US" sz="1800"/>
              <a:t>。仅题录</a:t>
            </a:r>
            <a:r>
              <a:rPr lang="en-US" altLang="zh-CN" sz="1800"/>
              <a:t>/</a:t>
            </a:r>
            <a:r>
              <a:rPr lang="zh-CN" altLang="en-US" sz="1800"/>
              <a:t>摘要，不作性能判断。</a:t>
            </a:r>
          </a:p>
          <a:p>
            <a:r>
              <a:rPr lang="zh-CN" altLang="en-US" sz="1800"/>
              <a:t>备查说明：</a:t>
            </a:r>
            <a:r>
              <a:rPr lang="en-US" altLang="zh-CN" sz="1800"/>
              <a:t>MDM</a:t>
            </a:r>
            <a:r>
              <a:rPr lang="zh-CN" altLang="en-US" sz="1800"/>
              <a:t>已见第一章。</a:t>
            </a:r>
            <a:r>
              <a:rPr lang="en-US" altLang="zh-CN" sz="1800"/>
              <a:t>HGLM 2024</a:t>
            </a:r>
            <a:r>
              <a:rPr lang="zh-CN" altLang="en-US" sz="1800"/>
              <a:t>、</a:t>
            </a:r>
            <a:r>
              <a:rPr lang="en-US" altLang="zh-CN" sz="1800"/>
              <a:t>AIMGC-PSO 2026</a:t>
            </a:r>
            <a:r>
              <a:rPr lang="zh-CN" altLang="en-US" sz="1800"/>
              <a:t>仅核摘要，尚待全文。。详细来源、统计口径及作者关系见附录</a:t>
            </a:r>
            <a:r>
              <a:rPr lang="en-US" altLang="zh-CN" sz="1800"/>
              <a:t>A</a:t>
            </a:r>
            <a:r>
              <a:rPr lang="zh-CN" altLang="en-US" sz="1800"/>
              <a:t>和比较习惯核查。</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072835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Akram–Hayat2014 DOI10.1080/15598608.2014.847771</a:t>
            </a:r>
            <a:r>
              <a:rPr lang="zh-CN" altLang="en-US"/>
              <a:t>，</a:t>
            </a:r>
            <a:r>
              <a:rPr lang="en-US" altLang="zh-CN"/>
              <a:t>§4.1 L365–415</a:t>
            </a:r>
            <a:r>
              <a:rPr lang="zh-CN" altLang="en-US"/>
              <a:t>：</a:t>
            </a:r>
            <a:r>
              <a:rPr lang="en-US" altLang="zh-CN"/>
              <a:t>η100</a:t>
            </a:r>
            <a:r>
              <a:rPr lang="zh-CN" altLang="en-US"/>
              <a:t>、</a:t>
            </a:r>
            <a:r>
              <a:rPr lang="en-US" altLang="zh-CN"/>
              <a:t>γ90</a:t>
            </a:r>
            <a:r>
              <a:rPr lang="zh-CN" altLang="en-US"/>
              <a:t>，每格</a:t>
            </a:r>
            <a:r>
              <a:rPr lang="en-US" altLang="zh-CN"/>
              <a:t>5000</a:t>
            </a:r>
            <a:r>
              <a:rPr lang="zh-CN" altLang="en-US"/>
              <a:t>，保留</a:t>
            </a:r>
            <a:r>
              <a:rPr lang="en-US" altLang="zh-CN"/>
              <a:t>ML</a:t>
            </a:r>
            <a:r>
              <a:rPr lang="zh-CN" altLang="en-US"/>
              <a:t>收敛且</a:t>
            </a:r>
            <a:r>
              <a:rPr lang="en-US" altLang="zh-CN"/>
              <a:t>L</a:t>
            </a:r>
            <a:r>
              <a:rPr lang="zh-CN" altLang="en-US"/>
              <a:t>偏度≥−</a:t>
            </a:r>
            <a:r>
              <a:rPr lang="en-US" altLang="zh-CN"/>
              <a:t>.1699</a:t>
            </a:r>
            <a:r>
              <a:rPr lang="zh-CN" altLang="en-US"/>
              <a:t>；</a:t>
            </a:r>
            <a:r>
              <a:rPr lang="en-US" altLang="zh-CN"/>
              <a:t>β&lt;1</a:t>
            </a:r>
            <a:r>
              <a:rPr lang="zh-CN" altLang="en-US"/>
              <a:t>省略</a:t>
            </a:r>
            <a:r>
              <a:rPr lang="en-US" altLang="zh-CN"/>
              <a:t>ML</a:t>
            </a:r>
            <a:r>
              <a:rPr lang="zh-CN" altLang="en-US"/>
              <a:t>。</a:t>
            </a:r>
            <a:r>
              <a:rPr lang="en-US" altLang="zh-CN"/>
              <a:t>Nagatsuka2013 DOI10.1016/j.csda.2012.09.005</a:t>
            </a:r>
            <a:r>
              <a:rPr lang="zh-CN" altLang="en-US"/>
              <a:t>，</a:t>
            </a:r>
            <a:r>
              <a:rPr lang="en-US" altLang="zh-CN"/>
              <a:t>§3 L173–238</a:t>
            </a:r>
            <a:r>
              <a:rPr lang="zh-CN" altLang="en-US"/>
              <a:t>，</a:t>
            </a:r>
            <a:r>
              <a:rPr lang="en-US" altLang="zh-CN"/>
              <a:t>1000</a:t>
            </a:r>
            <a:r>
              <a:rPr lang="zh-CN" altLang="en-US"/>
              <a:t>次，具体比较对象</a:t>
            </a:r>
            <a:r>
              <a:rPr lang="en-US" altLang="zh-CN"/>
              <a:t>BL</a:t>
            </a:r>
            <a:r>
              <a:rPr lang="zh-CN" altLang="en-US"/>
              <a:t>及</a:t>
            </a:r>
            <a:r>
              <a:rPr lang="en-US" altLang="zh-CN"/>
              <a:t>Ng</a:t>
            </a:r>
            <a:r>
              <a:rPr lang="zh-CN" altLang="en-US"/>
              <a:t>式</a:t>
            </a:r>
            <a:r>
              <a:rPr lang="en-US" altLang="zh-CN"/>
              <a:t>WMLE</a:t>
            </a:r>
            <a:r>
              <a:rPr lang="zh-CN" altLang="en-US"/>
              <a:t>。原文的总体建议有参数和指标例外，详见报告</a:t>
            </a:r>
            <a:r>
              <a:rPr lang="en-US" altLang="zh-CN"/>
              <a:t>§2.3</a:t>
            </a:r>
            <a:r>
              <a:rPr lang="zh-CN" altLang="en-US"/>
              <a:t>，不能当作本研究选法规则。</a:t>
            </a:r>
          </a:p>
          <a:p>
            <a:r>
              <a:rPr lang="zh-CN" altLang="en-US"/>
              <a:t>备查说明：同一论文也会得到不同排序，方法较新或有理论性质都不足以决定胜负。详细来源、统计口径及作者关系见附录</a:t>
            </a:r>
            <a:r>
              <a:rPr lang="en-US" altLang="zh-CN"/>
              <a:t>A</a:t>
            </a:r>
            <a:r>
              <a:rPr lang="zh-CN" altLang="en-US"/>
              <a:t>和比较习惯核查。</a:t>
            </a:r>
          </a:p>
          <a:p>
            <a:r>
              <a:rPr lang="zh-CN" altLang="en-US"/>
              <a:t>备查说明：这些是各篇内部的条件结果，不能拼接为跨论文统一排名。。详细来源、统计口径及作者关系见附录</a:t>
            </a:r>
            <a:r>
              <a:rPr lang="en-US" altLang="zh-CN"/>
              <a:t>A</a:t>
            </a:r>
            <a:r>
              <a:rPr lang="zh-CN" altLang="en-US"/>
              <a:t>和比较习惯核查。</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026049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SAM DOI10.1007/s12206-023-1019-z</a:t>
            </a:r>
            <a:r>
              <a:rPr lang="zh-CN" altLang="en-US"/>
              <a:t>，</a:t>
            </a:r>
            <a:r>
              <a:rPr lang="en-US" altLang="zh-CN"/>
              <a:t>L381–498</a:t>
            </a:r>
            <a:r>
              <a:rPr lang="zh-CN" altLang="en-US"/>
              <a:t>：</a:t>
            </a:r>
            <a:r>
              <a:rPr lang="en-US" altLang="zh-CN"/>
              <a:t>γ1</a:t>
            </a:r>
            <a:r>
              <a:rPr lang="zh-CN" altLang="en-US"/>
              <a:t>、</a:t>
            </a:r>
            <a:r>
              <a:rPr lang="en-US" altLang="zh-CN"/>
              <a:t>η8</a:t>
            </a:r>
            <a:r>
              <a:rPr lang="zh-CN" altLang="en-US"/>
              <a:t>个值</a:t>
            </a:r>
            <a:r>
              <a:rPr lang="en-US" altLang="zh-CN"/>
              <a:t>.2</a:t>
            </a:r>
            <a:r>
              <a:rPr lang="zh-CN" altLang="en-US"/>
              <a:t>至</a:t>
            </a:r>
            <a:r>
              <a:rPr lang="en-US" altLang="zh-CN"/>
              <a:t>4</a:t>
            </a:r>
            <a:r>
              <a:rPr lang="zh-CN" altLang="en-US"/>
              <a:t>、</a:t>
            </a:r>
            <a:r>
              <a:rPr lang="en-US" altLang="zh-CN"/>
              <a:t>10000</a:t>
            </a:r>
            <a:r>
              <a:rPr lang="zh-CN" altLang="en-US"/>
              <a:t>重复，</a:t>
            </a:r>
            <a:r>
              <a:rPr lang="en-US" altLang="zh-CN"/>
              <a:t>MAD</a:t>
            </a:r>
            <a:r>
              <a:rPr lang="zh-CN" altLang="en-US"/>
              <a:t>为三参数绝对误差直接平均；</a:t>
            </a:r>
            <a:r>
              <a:rPr lang="en-US" altLang="zh-CN"/>
              <a:t>n15/20</a:t>
            </a:r>
            <a:r>
              <a:rPr lang="zh-CN" altLang="en-US"/>
              <a:t>对</a:t>
            </a:r>
            <a:r>
              <a:rPr lang="en-US" altLang="zh-CN"/>
              <a:t>MLE</a:t>
            </a:r>
            <a:r>
              <a:rPr lang="zh-CN" altLang="en-US"/>
              <a:t>占优的参数配置比例</a:t>
            </a:r>
            <a:r>
              <a:rPr lang="en-US" altLang="zh-CN"/>
              <a:t>87.5%/79.2%</a:t>
            </a:r>
            <a:r>
              <a:rPr lang="zh-CN" altLang="en-US"/>
              <a:t>，非单次样本胜率。</a:t>
            </a:r>
            <a:r>
              <a:rPr lang="en-US" altLang="zh-CN"/>
              <a:t>DMMLE DOI10.3390/e27050485</a:t>
            </a:r>
            <a:r>
              <a:rPr lang="zh-CN" altLang="en-US"/>
              <a:t>，</a:t>
            </a:r>
            <a:r>
              <a:rPr lang="en-US" altLang="zh-CN"/>
              <a:t>L218–230</a:t>
            </a:r>
            <a:r>
              <a:rPr lang="zh-CN" altLang="en-US"/>
              <a:t>，原参数</a:t>
            </a:r>
            <a:r>
              <a:rPr lang="en-US" altLang="zh-CN"/>
              <a:t>(μ,α,σ)=(1,1,1),(1,.5,2),(1,1.5,2)</a:t>
            </a:r>
            <a:r>
              <a:rPr lang="zh-CN" altLang="en-US"/>
              <a:t>，</a:t>
            </a:r>
            <a:r>
              <a:rPr lang="en-US" altLang="zh-CN"/>
              <a:t>σ=η^β</a:t>
            </a:r>
            <a:r>
              <a:rPr lang="zh-CN" altLang="en-US"/>
              <a:t>，</a:t>
            </a:r>
            <a:r>
              <a:rPr lang="en-US" altLang="zh-CN"/>
              <a:t>1000</a:t>
            </a:r>
            <a:r>
              <a:rPr lang="zh-CN" altLang="en-US"/>
              <a:t>重复。报告</a:t>
            </a:r>
            <a:r>
              <a:rPr lang="en-US" altLang="zh-CN"/>
              <a:t>§2.3</a:t>
            </a:r>
            <a:r>
              <a:rPr lang="zh-CN" altLang="en-US"/>
              <a:t>与</a:t>
            </a:r>
            <a:r>
              <a:rPr lang="en-US" altLang="zh-CN"/>
              <a:t>literature_performance_boundaries.json</a:t>
            </a:r>
            <a:r>
              <a:rPr lang="zh-CN" altLang="en-US"/>
              <a:t>。</a:t>
            </a:r>
          </a:p>
          <a:p>
            <a:r>
              <a:rPr lang="zh-CN" altLang="en-US"/>
              <a:t>备查说明：仍不能推断。详细来源、统计口径及作者关系见附录</a:t>
            </a:r>
            <a:r>
              <a:rPr lang="en-US" altLang="zh-CN"/>
              <a:t>A</a:t>
            </a:r>
            <a:r>
              <a:rPr lang="zh-CN" altLang="en-US"/>
              <a:t>和比较习惯核查。</a:t>
            </a:r>
          </a:p>
          <a:p>
            <a:r>
              <a:rPr lang="zh-CN" altLang="en-US"/>
              <a:t>备查说明：近期对手依据任务匹配与已核结果选择，结论限定到对应指标和条件。。详细来源、统计口径及作者关系见附录</a:t>
            </a:r>
            <a:r>
              <a:rPr lang="en-US" altLang="zh-CN"/>
              <a:t>A</a:t>
            </a:r>
            <a:r>
              <a:rPr lang="zh-CN" altLang="en-US"/>
              <a:t>和比较习惯核查。</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592426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800"/>
              <a:t>benchmark_comparison_audit.json</a:t>
            </a:r>
            <a:r>
              <a:rPr lang="zh-CN" altLang="en-US" sz="1800"/>
              <a:t>。</a:t>
            </a:r>
            <a:r>
              <a:rPr lang="en-US" altLang="zh-CN" sz="1800"/>
              <a:t>13</a:t>
            </a:r>
            <a:r>
              <a:rPr lang="zh-CN" altLang="en-US" sz="1800"/>
              <a:t>篇</a:t>
            </a:r>
            <a:r>
              <a:rPr lang="en-US" altLang="zh-CN" sz="1800"/>
              <a:t>ID</a:t>
            </a:r>
            <a:r>
              <a:rPr lang="zh-CN" altLang="en-US" sz="1800"/>
              <a:t>依次与</a:t>
            </a:r>
            <a:r>
              <a:rPr lang="en-US" altLang="zh-CN" sz="1800"/>
              <a:t>names</a:t>
            </a:r>
            <a:r>
              <a:rPr lang="zh-CN" altLang="en-US" sz="1800"/>
              <a:t>映射；</a:t>
            </a:r>
            <a:r>
              <a:rPr lang="en-US" altLang="zh-CN" sz="1800"/>
              <a:t>2006+12</a:t>
            </a:r>
            <a:r>
              <a:rPr lang="zh-CN" altLang="en-US" sz="1800"/>
              <a:t>篇、</a:t>
            </a:r>
            <a:r>
              <a:rPr lang="en-US" altLang="zh-CN" sz="1800"/>
              <a:t>2016+7</a:t>
            </a:r>
            <a:r>
              <a:rPr lang="zh-CN" altLang="en-US" sz="1800"/>
              <a:t>篇、含</a:t>
            </a:r>
            <a:r>
              <a:rPr lang="en-US" altLang="zh-CN" sz="1800"/>
              <a:t>n≤30</a:t>
            </a:r>
            <a:r>
              <a:rPr lang="zh-CN" altLang="en-US" sz="1800"/>
              <a:t>为</a:t>
            </a:r>
            <a:r>
              <a:rPr lang="en-US" altLang="zh-CN" sz="1800"/>
              <a:t>11</a:t>
            </a:r>
            <a:r>
              <a:rPr lang="zh-CN" altLang="en-US" sz="1800"/>
              <a:t>篇。综合比较</a:t>
            </a:r>
            <a:r>
              <a:rPr lang="en-US" altLang="zh-CN" sz="1800"/>
              <a:t>182-096</a:t>
            </a:r>
            <a:r>
              <a:rPr lang="zh-CN" altLang="en-US" sz="1800"/>
              <a:t>计参与方法，剔除它后</a:t>
            </a:r>
            <a:r>
              <a:rPr lang="en-US" altLang="zh-CN" sz="1800"/>
              <a:t>MLE7/12</a:t>
            </a:r>
            <a:r>
              <a:rPr lang="zh-CN" altLang="en-US" sz="1800"/>
              <a:t>、</a:t>
            </a:r>
            <a:r>
              <a:rPr lang="en-US" altLang="zh-CN" sz="1800"/>
              <a:t>CC5/12</a:t>
            </a:r>
            <a:r>
              <a:rPr lang="zh-CN" altLang="en-US" sz="1800"/>
              <a:t>。</a:t>
            </a:r>
            <a:r>
              <a:rPr lang="en-US" altLang="zh-CN" sz="1800"/>
              <a:t>MM</a:t>
            </a:r>
            <a:r>
              <a:rPr lang="zh-CN" altLang="en-US" sz="1800"/>
              <a:t>包含传统矩版本，</a:t>
            </a:r>
            <a:r>
              <a:rPr lang="en-US" altLang="zh-CN" sz="1800"/>
              <a:t>LM/PWM</a:t>
            </a:r>
            <a:r>
              <a:rPr lang="zh-CN" altLang="en-US" sz="1800"/>
              <a:t>分列，</a:t>
            </a:r>
            <a:r>
              <a:rPr lang="en-US" altLang="zh-CN" sz="1800"/>
              <a:t>MMoE</a:t>
            </a:r>
            <a:r>
              <a:rPr lang="zh-CN" altLang="en-US" sz="1800"/>
              <a:t>为修正矩。</a:t>
            </a:r>
            <a:r>
              <a:rPr lang="en-US" altLang="zh-CN" sz="1800"/>
              <a:t>182-050</a:t>
            </a:r>
            <a:r>
              <a:rPr lang="zh-CN" altLang="en-US" sz="1800"/>
              <a:t>同名构造有误不合并。</a:t>
            </a:r>
            <a:r>
              <a:rPr lang="en-US" altLang="zh-CN" sz="1800"/>
              <a:t>3</a:t>
            </a:r>
            <a:r>
              <a:rPr lang="zh-CN" altLang="en-US" sz="1800"/>
              <a:t>篇</a:t>
            </a:r>
            <a:r>
              <a:rPr lang="en-US" altLang="zh-CN" sz="1800"/>
              <a:t>MLE+CC</a:t>
            </a:r>
            <a:r>
              <a:rPr lang="zh-CN" altLang="en-US" sz="1800"/>
              <a:t>共现。数据频次不是性能。</a:t>
            </a:r>
          </a:p>
          <a:p>
            <a:r>
              <a:rPr lang="zh-CN" altLang="en-US" sz="1800"/>
              <a:t>备查说明：已核</a:t>
            </a:r>
            <a:r>
              <a:rPr lang="en-US" altLang="zh-CN" sz="1800"/>
              <a:t>13</a:t>
            </a:r>
            <a:r>
              <a:rPr lang="zh-CN" altLang="en-US" sz="1800"/>
              <a:t>篇文献的实际比较对象。详细来源、统计口径及作者关系见附录</a:t>
            </a:r>
            <a:r>
              <a:rPr lang="en-US" altLang="zh-CN" sz="1800"/>
              <a:t>A</a:t>
            </a:r>
            <a:r>
              <a:rPr lang="zh-CN" altLang="en-US" sz="1800"/>
              <a:t>和比较习惯核查。</a:t>
            </a:r>
          </a:p>
          <a:p>
            <a:r>
              <a:rPr lang="zh-CN" altLang="en-US" sz="1800"/>
              <a:t>备查说明：完整三参数重复模拟，同篇同类计一次，提出方法不计为自身对手。详细来源、统计口径及作者关系见附录</a:t>
            </a:r>
            <a:r>
              <a:rPr lang="en-US" altLang="zh-CN" sz="1800"/>
              <a:t>A</a:t>
            </a:r>
            <a:r>
              <a:rPr lang="zh-CN" altLang="en-US" sz="1800"/>
              <a:t>和比较习惯核查。</a:t>
            </a:r>
          </a:p>
          <a:p>
            <a:r>
              <a:rPr lang="zh-CN" altLang="en-US" sz="1800"/>
              <a:t>备查说明：</a:t>
            </a:r>
            <a:r>
              <a:rPr lang="en-US" altLang="zh-CN" sz="1800"/>
              <a:t>MLE 8</a:t>
            </a:r>
            <a:r>
              <a:rPr lang="zh-CN" altLang="en-US" sz="1800"/>
              <a:t>篇、</a:t>
            </a:r>
            <a:r>
              <a:rPr lang="en-US" altLang="zh-CN" sz="1800"/>
              <a:t>CC 5</a:t>
            </a:r>
            <a:r>
              <a:rPr lang="zh-CN" altLang="en-US" sz="1800"/>
              <a:t>篇。近期</a:t>
            </a:r>
            <a:r>
              <a:rPr lang="en-US" altLang="zh-CN" sz="1800"/>
              <a:t>7</a:t>
            </a:r>
            <a:r>
              <a:rPr lang="zh-CN" altLang="en-US" sz="1800"/>
              <a:t>篇中</a:t>
            </a:r>
            <a:r>
              <a:rPr lang="en-US" altLang="zh-CN" sz="1800"/>
              <a:t>6</a:t>
            </a:r>
            <a:r>
              <a:rPr lang="zh-CN" altLang="en-US" sz="1800"/>
              <a:t>篇作者网络重合，频次只说明这组文献的实践。。详细来源、统计口径及作者关系见附录</a:t>
            </a:r>
            <a:r>
              <a:rPr lang="en-US" altLang="zh-CN" sz="1800"/>
              <a:t>A</a:t>
            </a:r>
            <a:r>
              <a:rPr lang="zh-CN" altLang="en-US" sz="1800"/>
              <a:t>和比较习惯核查。</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12249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a:t>报告</a:t>
            </a:r>
            <a:r>
              <a:rPr lang="en-US" altLang="zh-CN" sz="1800"/>
              <a:t>§3.2</a:t>
            </a:r>
            <a:r>
              <a:rPr lang="zh-CN" altLang="en-US" sz="1800"/>
              <a:t>。</a:t>
            </a:r>
            <a:r>
              <a:rPr lang="en-US" altLang="zh-CN" sz="1800"/>
              <a:t>MLE</a:t>
            </a:r>
            <a:r>
              <a:rPr lang="zh-CN" altLang="en-US" sz="1800"/>
              <a:t>是通行参照；</a:t>
            </a:r>
            <a:r>
              <a:rPr lang="en-US" altLang="zh-CN" sz="1800"/>
              <a:t>WMLE</a:t>
            </a:r>
            <a:r>
              <a:rPr lang="zh-CN" altLang="en-US" sz="1800"/>
              <a:t>有有限样本修正及跨作者采用；概率图有重复使用和不同构造；</a:t>
            </a:r>
            <a:r>
              <a:rPr lang="en-US" altLang="zh-CN" sz="1800"/>
              <a:t>SAM</a:t>
            </a:r>
            <a:r>
              <a:rPr lang="zh-CN" altLang="en-US" sz="1800"/>
              <a:t>小样本任务匹配，但三参数平均</a:t>
            </a:r>
            <a:r>
              <a:rPr lang="en-US" altLang="zh-CN" sz="1800"/>
              <a:t>MAD</a:t>
            </a:r>
            <a:r>
              <a:rPr lang="zh-CN" altLang="en-US" sz="1800"/>
              <a:t>有尺度限制。</a:t>
            </a:r>
            <a:r>
              <a:rPr lang="en-US" altLang="zh-CN" sz="1800"/>
              <a:t>PM n5</a:t>
            </a:r>
            <a:r>
              <a:rPr lang="zh-CN" altLang="en-US" sz="1800"/>
              <a:t>比较非直接统一</a:t>
            </a:r>
            <a:r>
              <a:rPr lang="en-US" altLang="zh-CN" sz="1800"/>
              <a:t>RMSE</a:t>
            </a:r>
            <a:r>
              <a:rPr lang="zh-CN" altLang="en-US" sz="1800"/>
              <a:t>。此处为有条件起始建议，不是固定四法或文献共识。</a:t>
            </a:r>
            <a:r>
              <a:rPr lang="en-US" altLang="zh-CN" sz="1800"/>
              <a:t>LSPF2013</a:t>
            </a:r>
            <a:r>
              <a:rPr lang="zh-CN" altLang="en-US" sz="1800"/>
              <a:t>自身作者小</a:t>
            </a:r>
            <a:r>
              <a:rPr lang="en-US" altLang="zh-CN" sz="1800"/>
              <a:t>n</a:t>
            </a:r>
            <a:r>
              <a:rPr lang="zh-CN" altLang="en-US" sz="1800"/>
              <a:t>总体建议</a:t>
            </a:r>
            <a:r>
              <a:rPr lang="en-US" altLang="zh-CN" sz="1800"/>
              <a:t>WMLE</a:t>
            </a:r>
            <a:r>
              <a:rPr lang="zh-CN" altLang="en-US" sz="1800"/>
              <a:t>，故不能仅凭存在性作为小</a:t>
            </a:r>
            <a:r>
              <a:rPr lang="en-US" altLang="zh-CN" sz="1800"/>
              <a:t>n</a:t>
            </a:r>
            <a:r>
              <a:rPr lang="zh-CN" altLang="en-US" sz="1800"/>
              <a:t>必选。</a:t>
            </a:r>
          </a:p>
          <a:p>
            <a:r>
              <a:rPr lang="zh-CN" altLang="en-US" sz="1800"/>
              <a:t>备查说明：完整样本、小样本的起始选择建议，由文献比较习惯和条件结果共同支持。。详细来源、统计口径及作者关系见附录</a:t>
            </a:r>
            <a:r>
              <a:rPr lang="en-US" altLang="zh-CN" sz="1800"/>
              <a:t>A</a:t>
            </a:r>
            <a:r>
              <a:rPr lang="zh-CN" altLang="en-US" sz="1800"/>
              <a:t>和比较习惯核查。</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0070559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a:t>报告</a:t>
            </a:r>
            <a:r>
              <a:rPr lang="en-US" altLang="zh-CN" sz="1800"/>
              <a:t>§3.3</a:t>
            </a:r>
            <a:r>
              <a:rPr lang="zh-CN" altLang="en-US" sz="1800"/>
              <a:t>各构造论文。</a:t>
            </a:r>
            <a:r>
              <a:rPr lang="en-US" altLang="zh-CN" sz="1800"/>
              <a:t>MLE</a:t>
            </a:r>
            <a:r>
              <a:rPr lang="zh-CN" altLang="en-US" sz="1800"/>
              <a:t>局部</a:t>
            </a:r>
            <a:r>
              <a:rPr lang="en-US" altLang="zh-CN" sz="1800"/>
              <a:t>/</a:t>
            </a:r>
            <a:r>
              <a:rPr lang="zh-CN" altLang="en-US" sz="1800"/>
              <a:t>剖面似然为实现说明，不另立</a:t>
            </a:r>
            <a:r>
              <a:rPr lang="en-US" altLang="zh-CN" sz="1800"/>
              <a:t>Local-ML</a:t>
            </a:r>
            <a:r>
              <a:rPr lang="zh-CN" altLang="en-US" sz="1800"/>
              <a:t>新方法。</a:t>
            </a:r>
            <a:r>
              <a:rPr lang="en-US" altLang="zh-CN" sz="1800"/>
              <a:t>WMLE J</a:t>
            </a:r>
            <a:r>
              <a:rPr lang="zh-CN" altLang="en-US" sz="1800"/>
              <a:t>权重与</a:t>
            </a:r>
            <a:r>
              <a:rPr lang="en-US" altLang="zh-CN" sz="1800"/>
              <a:t>LSPF</a:t>
            </a:r>
            <a:r>
              <a:rPr lang="zh-CN" altLang="en-US" sz="1800"/>
              <a:t>比较中的</a:t>
            </a:r>
            <a:r>
              <a:rPr lang="en-US" altLang="zh-CN" sz="1800"/>
              <a:t>Ng</a:t>
            </a:r>
            <a:r>
              <a:rPr lang="zh-CN" altLang="en-US" sz="1800"/>
              <a:t>式代入不能混同。</a:t>
            </a:r>
            <a:r>
              <a:rPr lang="en-US" altLang="zh-CN" sz="1800"/>
              <a:t>LS</a:t>
            </a:r>
            <a:r>
              <a:rPr lang="zh-CN" altLang="en-US" sz="1800"/>
              <a:t>为</a:t>
            </a:r>
            <a:r>
              <a:rPr lang="en-US" altLang="zh-CN" sz="1800"/>
              <a:t>Soman–Misra</a:t>
            </a:r>
            <a:r>
              <a:rPr lang="zh-CN" altLang="en-US" sz="1800"/>
              <a:t>的</a:t>
            </a:r>
            <a:r>
              <a:rPr lang="en-US" altLang="zh-CN" sz="1800"/>
              <a:t>White</a:t>
            </a:r>
            <a:r>
              <a:rPr lang="zh-CN" altLang="en-US" sz="1800"/>
              <a:t>扩展分支。所有变体应披露。</a:t>
            </a:r>
          </a:p>
          <a:p>
            <a:r>
              <a:rPr lang="zh-CN" altLang="en-US" sz="1800"/>
              <a:t>备查说明：回归版本选型示例：若采用</a:t>
            </a:r>
            <a:r>
              <a:rPr lang="en-US" altLang="zh-CN" sz="1800"/>
              <a:t>Park</a:t>
            </a:r>
            <a:r>
              <a:rPr lang="zh-CN" altLang="en-US" sz="1800"/>
              <a:t>原版，就不能沿用</a:t>
            </a:r>
            <a:r>
              <a:rPr lang="en-US" altLang="zh-CN" sz="1800"/>
              <a:t>Bernard</a:t>
            </a:r>
            <a:r>
              <a:rPr lang="zh-CN" altLang="en-US" sz="1800"/>
              <a:t>分数结果称作复现。。详细来源、统计口径及作者关系见附录</a:t>
            </a:r>
            <a:r>
              <a:rPr lang="en-US" altLang="zh-CN" sz="1800"/>
              <a:t>A</a:t>
            </a:r>
            <a:r>
              <a:rPr lang="zh-CN" altLang="en-US" sz="1800"/>
              <a:t>和比较习惯核查。</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722728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a:t>报告</a:t>
            </a:r>
            <a:r>
              <a:rPr lang="en-US" altLang="zh-CN" sz="1800"/>
              <a:t>§3.4</a:t>
            </a:r>
            <a:r>
              <a:rPr lang="zh-CN" altLang="en-US" sz="1800"/>
              <a:t>，比较习惯核查</a:t>
            </a:r>
            <a:r>
              <a:rPr lang="en-US" altLang="zh-CN" sz="1800"/>
              <a:t>metric_summary</a:t>
            </a:r>
            <a:r>
              <a:rPr lang="zh-CN" altLang="en-US" sz="1800"/>
              <a:t>同</a:t>
            </a:r>
            <a:r>
              <a:rPr lang="en-US" altLang="zh-CN" sz="1800"/>
              <a:t>13</a:t>
            </a:r>
            <a:r>
              <a:rPr lang="zh-CN" altLang="en-US" sz="1800"/>
              <a:t>篇，相对</a:t>
            </a:r>
            <a:r>
              <a:rPr lang="en-US" altLang="zh-CN" sz="1800"/>
              <a:t>Bias</a:t>
            </a:r>
            <a:r>
              <a:rPr lang="zh-CN" altLang="en-US" sz="1800"/>
              <a:t>、联合指标单列。</a:t>
            </a:r>
            <a:r>
              <a:rPr lang="en-US" altLang="zh-CN" sz="1800"/>
              <a:t>n5—20</a:t>
            </a:r>
            <a:r>
              <a:rPr lang="zh-CN" altLang="en-US" sz="1800"/>
              <a:t>可追溯</a:t>
            </a:r>
            <a:r>
              <a:rPr lang="en-US" altLang="zh-CN" sz="1800"/>
              <a:t>SAM/BPNN</a:t>
            </a:r>
            <a:r>
              <a:rPr lang="zh-CN" altLang="en-US" sz="1800"/>
              <a:t>，</a:t>
            </a:r>
            <a:r>
              <a:rPr lang="en-US" altLang="zh-CN" sz="1800"/>
              <a:t>n10—30</a:t>
            </a:r>
            <a:r>
              <a:rPr lang="zh-CN" altLang="en-US" sz="1800"/>
              <a:t>迭代</a:t>
            </a:r>
            <a:r>
              <a:rPr lang="en-US" altLang="zh-CN" sz="1800"/>
              <a:t>LS</a:t>
            </a:r>
            <a:r>
              <a:rPr lang="zh-CN" altLang="en-US" sz="1800"/>
              <a:t>，较大</a:t>
            </a:r>
            <a:r>
              <a:rPr lang="en-US" altLang="zh-CN" sz="1800"/>
              <a:t>n LSPF/</a:t>
            </a:r>
            <a:r>
              <a:rPr lang="zh-CN" altLang="en-US" sz="1800"/>
              <a:t>综合比较。这里提供有文献依据的评价原则，不冻结参数网格或重复次数。</a:t>
            </a:r>
          </a:p>
          <a:p>
            <a:r>
              <a:rPr lang="zh-CN" altLang="en-US" sz="1800"/>
              <a:t>备查说明：共同生成样本，逐参数报告</a:t>
            </a:r>
            <a:r>
              <a:rPr lang="en-US" altLang="zh-CN" sz="1800"/>
              <a:t>Bias</a:t>
            </a:r>
            <a:r>
              <a:rPr lang="zh-CN" altLang="en-US" sz="1800"/>
              <a:t>、</a:t>
            </a:r>
            <a:r>
              <a:rPr lang="en-US" altLang="zh-CN" sz="1800"/>
              <a:t>RMSE</a:t>
            </a:r>
            <a:r>
              <a:rPr lang="zh-CN" altLang="en-US" sz="1800"/>
              <a:t>、</a:t>
            </a:r>
            <a:r>
              <a:rPr lang="en-US" altLang="zh-CN" sz="1800"/>
              <a:t>SD</a:t>
            </a:r>
            <a:r>
              <a:rPr lang="zh-CN" altLang="en-US" sz="1800"/>
              <a:t>。
</a:t>
            </a:r>
            <a:r>
              <a:rPr lang="en-US" altLang="zh-CN" sz="1800"/>
              <a:t>13</a:t>
            </a:r>
            <a:r>
              <a:rPr lang="zh-CN" altLang="en-US" sz="1800"/>
              <a:t>篇主子集分别核到</a:t>
            </a:r>
            <a:r>
              <a:rPr lang="en-US" altLang="zh-CN" sz="1800"/>
              <a:t>4</a:t>
            </a:r>
            <a:r>
              <a:rPr lang="zh-CN" altLang="en-US" sz="1800"/>
              <a:t>、</a:t>
            </a:r>
            <a:r>
              <a:rPr lang="en-US" altLang="zh-CN" sz="1800"/>
              <a:t>7</a:t>
            </a:r>
            <a:r>
              <a:rPr lang="zh-CN" altLang="en-US" sz="1800"/>
              <a:t>、</a:t>
            </a:r>
            <a:r>
              <a:rPr lang="en-US" altLang="zh-CN" sz="1800"/>
              <a:t>5</a:t>
            </a:r>
            <a:r>
              <a:rPr lang="zh-CN" altLang="en-US" sz="1800"/>
              <a:t>篇。
同时报告有效率与失败分母。。详细来源、统计口径及作者关系见附录</a:t>
            </a:r>
            <a:r>
              <a:rPr lang="en-US" altLang="zh-CN" sz="1800"/>
              <a:t>A</a:t>
            </a:r>
            <a:r>
              <a:rPr lang="zh-CN" altLang="en-US" sz="1800"/>
              <a:t>和比较习惯核查。</a:t>
            </a:r>
          </a:p>
          <a:p>
            <a:r>
              <a:rPr lang="zh-CN" altLang="en-US" sz="1800"/>
              <a:t>备查说明：三参数结果保留分别评价，联合指标说明归一化；真实数据不替代模拟精度证据。。详细来源、统计口径及作者关系见附录</a:t>
            </a:r>
            <a:r>
              <a:rPr lang="en-US" altLang="zh-CN" sz="1800"/>
              <a:t>A</a:t>
            </a:r>
            <a:r>
              <a:rPr lang="zh-CN" altLang="en-US" sz="1800"/>
              <a:t>和比较习惯核查。</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2143997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a:t>报告</a:t>
            </a:r>
            <a:r>
              <a:rPr lang="en-US" altLang="zh-CN" sz="1800"/>
              <a:t>§3.4</a:t>
            </a:r>
            <a:r>
              <a:rPr lang="zh-CN" altLang="en-US" sz="1800"/>
              <a:t>。</a:t>
            </a:r>
            <a:r>
              <a:rPr lang="en-US" altLang="zh-CN" sz="1800"/>
              <a:t>BPNN184-009</a:t>
            </a:r>
            <a:r>
              <a:rPr lang="zh-CN" altLang="en-US" sz="1800"/>
              <a:t>，</a:t>
            </a:r>
            <a:r>
              <a:rPr lang="en-US" altLang="zh-CN" sz="1800"/>
              <a:t>LSPF182-113</a:t>
            </a:r>
            <a:r>
              <a:rPr lang="zh-CN" altLang="en-US" sz="1800"/>
              <a:t>，</a:t>
            </a:r>
            <a:r>
              <a:rPr lang="en-US" altLang="zh-CN" sz="1800"/>
              <a:t>SAM185-005</a:t>
            </a:r>
            <a:r>
              <a:rPr lang="zh-CN" altLang="en-US" sz="1800"/>
              <a:t>。</a:t>
            </a:r>
            <a:r>
              <a:rPr lang="en-US" altLang="zh-CN" sz="1800"/>
              <a:t>10</a:t>
            </a:r>
            <a:r>
              <a:rPr lang="zh-CN" altLang="en-US" sz="1800"/>
              <a:t>点</a:t>
            </a:r>
            <a:r>
              <a:rPr lang="en-US" altLang="zh-CN" sz="1800"/>
              <a:t>/4</a:t>
            </a:r>
            <a:r>
              <a:rPr lang="zh-CN" altLang="en-US" sz="1800"/>
              <a:t>点寿命数据被多篇重复使用，非独立数据集数。参数</a:t>
            </a:r>
            <a:r>
              <a:rPr lang="en-US" altLang="zh-CN" sz="1800"/>
              <a:t>bootstrap</a:t>
            </a:r>
            <a:r>
              <a:rPr lang="zh-CN" altLang="en-US" sz="1800"/>
              <a:t>来自拟合模型；非参数</a:t>
            </a:r>
            <a:r>
              <a:rPr lang="en-US" altLang="zh-CN" sz="1800"/>
              <a:t>bootstrap</a:t>
            </a:r>
            <a:r>
              <a:rPr lang="zh-CN" altLang="en-US" sz="1800"/>
              <a:t>有重复值</a:t>
            </a:r>
            <a:r>
              <a:rPr lang="en-US" altLang="zh-CN" sz="1800"/>
              <a:t>/MPS</a:t>
            </a:r>
            <a:r>
              <a:rPr lang="zh-CN" altLang="en-US" sz="1800"/>
              <a:t>零间距问题，端点非正则模型的有效性不可默认。可选评价设计不写成所有论文通行惯例。</a:t>
            </a:r>
          </a:p>
          <a:p>
            <a:r>
              <a:rPr lang="zh-CN" altLang="en-US" sz="1800"/>
              <a:t>备查说明：同一寿命数据可检验拟合与可计算性，反复使用不增加独立证据。详细来源、统计口径及作者关系见附录</a:t>
            </a:r>
            <a:r>
              <a:rPr lang="en-US" altLang="zh-CN" sz="1800"/>
              <a:t>A</a:t>
            </a:r>
            <a:r>
              <a:rPr lang="zh-CN" altLang="en-US" sz="1800"/>
              <a:t>和比较习惯核查。</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334729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a:t>报告</a:t>
            </a:r>
            <a:r>
              <a:rPr lang="en-US" altLang="zh-CN" sz="1800"/>
              <a:t>§3.5</a:t>
            </a:r>
            <a:r>
              <a:rPr lang="zh-CN" altLang="en-US" sz="1800"/>
              <a:t>：</a:t>
            </a:r>
            <a:r>
              <a:rPr lang="en-US" altLang="zh-CN" sz="1800"/>
              <a:t>182-096</a:t>
            </a:r>
            <a:r>
              <a:rPr lang="zh-CN" altLang="en-US" sz="1800"/>
              <a:t>筛</a:t>
            </a:r>
            <a:r>
              <a:rPr lang="en-US" altLang="zh-CN" sz="1800"/>
              <a:t>ML</a:t>
            </a:r>
            <a:r>
              <a:rPr lang="zh-CN" altLang="en-US" sz="1800"/>
              <a:t>收敛</a:t>
            </a:r>
            <a:r>
              <a:rPr lang="en-US" altLang="zh-CN" sz="1800"/>
              <a:t>/L</a:t>
            </a:r>
            <a:r>
              <a:rPr lang="zh-CN" altLang="en-US" sz="1800"/>
              <a:t>偏度样本；</a:t>
            </a:r>
            <a:r>
              <a:rPr lang="en-US" altLang="zh-CN" sz="1800"/>
              <a:t>182-091</a:t>
            </a:r>
            <a:r>
              <a:rPr lang="zh-CN" altLang="en-US" sz="1800"/>
              <a:t>限制形状与</a:t>
            </a:r>
            <a:r>
              <a:rPr lang="en-US" altLang="zh-CN" sz="1800"/>
              <a:t>50</a:t>
            </a:r>
            <a:r>
              <a:rPr lang="zh-CN" altLang="en-US" sz="1800"/>
              <a:t>次求解，报告未得估计次数；</a:t>
            </a:r>
            <a:r>
              <a:rPr lang="en-US" altLang="zh-CN" sz="1800"/>
              <a:t>182-030 MLE</a:t>
            </a:r>
            <a:r>
              <a:rPr lang="zh-CN" altLang="en-US" sz="1800"/>
              <a:t>失败标零仅绘图；</a:t>
            </a:r>
            <a:r>
              <a:rPr lang="en-US" altLang="zh-CN" sz="1800"/>
              <a:t>182-101</a:t>
            </a:r>
            <a:r>
              <a:rPr lang="zh-CN" altLang="en-US" sz="1800"/>
              <a:t>剔除形状</a:t>
            </a:r>
            <a:r>
              <a:rPr lang="en-US" altLang="zh-CN" sz="1800"/>
              <a:t>&gt;5</a:t>
            </a:r>
            <a:r>
              <a:rPr lang="zh-CN" altLang="en-US" sz="1800"/>
              <a:t>。</a:t>
            </a:r>
            <a:r>
              <a:rPr lang="en-US" altLang="zh-CN" sz="1800"/>
              <a:t>MLE</a:t>
            </a:r>
            <a:r>
              <a:rPr lang="zh-CN" altLang="en-US" sz="1800"/>
              <a:t>不受限似然因</a:t>
            </a:r>
            <a:r>
              <a:rPr lang="en-US" altLang="zh-CN" sz="1800"/>
              <a:t>β&lt;1</a:t>
            </a:r>
            <a:r>
              <a:rPr lang="zh-CN" altLang="en-US" sz="1800"/>
              <a:t>及</a:t>
            </a:r>
            <a:r>
              <a:rPr lang="en-US" altLang="zh-CN" sz="1800"/>
              <a:t>γ</a:t>
            </a:r>
            <a:r>
              <a:rPr lang="zh-CN" altLang="en-US" sz="1800"/>
              <a:t>逼近样本最小值的路径无界，与真实</a:t>
            </a:r>
            <a:r>
              <a:rPr lang="en-US" altLang="zh-CN" sz="1800"/>
              <a:t>β</a:t>
            </a:r>
            <a:r>
              <a:rPr lang="zh-CN" altLang="en-US" sz="1800"/>
              <a:t>是否</a:t>
            </a:r>
            <a:r>
              <a:rPr lang="en-US" altLang="zh-CN" sz="1800"/>
              <a:t>&lt;1</a:t>
            </a:r>
            <a:r>
              <a:rPr lang="zh-CN" altLang="en-US" sz="1800"/>
              <a:t>不是同一个判断。有效极端值、边界与数值失败分开；各自与共同有效子集皆条件结果。</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1202488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a:t>研究报告</a:t>
            </a:r>
            <a:r>
              <a:rPr lang="en-US" altLang="zh-CN" sz="1800"/>
              <a:t>v2.1</a:t>
            </a:r>
            <a:r>
              <a:rPr lang="zh-CN" altLang="en-US" sz="1800"/>
              <a:t>总结。报告的边界是文献支持的</a:t>
            </a:r>
            <a:r>
              <a:rPr lang="en-US" altLang="zh-CN" sz="1800"/>
              <a:t>benchmark</a:t>
            </a:r>
            <a:r>
              <a:rPr lang="zh-CN" altLang="en-US" sz="1800"/>
              <a:t>选择和评价建议，未运行新性能实验。经典基线、近期相关构造与母方法承担不同作用，不按年份或频次推出性能排名。</a:t>
            </a:r>
          </a:p>
          <a:p>
            <a:r>
              <a:rPr lang="zh-CN" altLang="en-US" sz="1800"/>
              <a:t>备查说明：这是有条件的选型与评价建议；近期候选全文、部分性能条件和失败分母仍需补核。。详细来源、统计口径及作者关系见附录</a:t>
            </a:r>
            <a:r>
              <a:rPr lang="en-US" altLang="zh-CN" sz="1800"/>
              <a:t>A</a:t>
            </a:r>
            <a:r>
              <a:rPr lang="zh-CN" altLang="en-US" sz="1800"/>
              <a:t>和比较习惯核查。</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589452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4" name="图片 21"/>
          <p:cNvPicPr>
            <a:picLocks noChangeAspect="1"/>
          </p:cNvPicPr>
          <p:nvPr/>
        </p:nvPicPr>
        <p:blipFill>
          <a:blip r:embed="rId2">
            <a:alphaModFix amt="20000"/>
            <a:clrChange>
              <a:clrFrom>
                <a:srgbClr val="FFFFFF"/>
              </a:clrFrom>
              <a:clrTo>
                <a:srgbClr val="FFFFFF">
                  <a:alpha val="0"/>
                </a:srgbClr>
              </a:clrTo>
            </a:clrChange>
            <a:duotone>
              <a:schemeClr val="bg2">
                <a:shade val="45000"/>
                <a:satMod val="135000"/>
              </a:schemeClr>
              <a:prstClr val="white"/>
            </a:duotone>
          </a:blip>
          <a:srcRect l="-375" t="36417" r="375" b="17715"/>
          <a:stretch>
            <a:fillRect/>
          </a:stretch>
        </p:blipFill>
        <p:spPr>
          <a:xfrm>
            <a:off x="-188953" y="3125718"/>
            <a:ext cx="12697941" cy="4114800"/>
          </a:xfrm>
          <a:prstGeom prst="rect">
            <a:avLst/>
          </a:prstGeom>
        </p:spPr>
      </p:pic>
      <p:pic>
        <p:nvPicPr>
          <p:cNvPr id="5" name="图片 24"/>
          <p:cNvPicPr>
            <a:picLocks noChangeAspect="1"/>
          </p:cNvPicPr>
          <p:nvPr/>
        </p:nvPicPr>
        <p:blipFill>
          <a:blip r:embed="rId3"/>
          <a:srcRect b="60826"/>
          <a:stretch>
            <a:fillRect/>
          </a:stretch>
        </p:blipFill>
        <p:spPr>
          <a:xfrm>
            <a:off x="133584" y="72497"/>
            <a:ext cx="3337845" cy="708895"/>
          </a:xfrm>
          <a:prstGeom prst="rect">
            <a:avLst/>
          </a:prstGeom>
        </p:spPr>
      </p:pic>
      <p:pic>
        <p:nvPicPr>
          <p:cNvPr id="6" name="图片 1"/>
          <p:cNvPicPr>
            <a:picLocks noChangeAspect="1"/>
          </p:cNvPicPr>
          <p:nvPr/>
        </p:nvPicPr>
        <p:blipFill>
          <a:blip r:embed="rId4"/>
          <a:stretch>
            <a:fillRect/>
          </a:stretch>
        </p:blipFill>
        <p:spPr>
          <a:xfrm>
            <a:off x="7089206" y="72497"/>
            <a:ext cx="5102794" cy="91447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333" name="矩形 332">
            <a:extLst>
              <a:ext uri="{FF2B5EF4-FFF2-40B4-BE49-F238E27FC236}">
                <a16:creationId xmlns:a16="http://schemas.microsoft.com/office/drawing/2014/main" id="{25D00A80-15F0-4C3D-BA1C-D2B8DF5713B7}"/>
              </a:ext>
            </a:extLst>
          </p:cNvPr>
          <p:cNvSpPr>
            <a:spLocks noGrp="1"/>
          </p:cNvSpPr>
          <p:nvPr/>
        </p:nvSpPr>
        <p:spPr>
          <a:xfrm>
            <a:off x="334962" y="833952"/>
            <a:ext cx="11522073" cy="499299"/>
          </a:xfrm>
          <a:prstGeom prst="rect">
            <a:avLst/>
          </a:prstGeom>
          <a:gradFill>
            <a:gsLst>
              <a:gs pos="17500">
                <a:srgbClr val="3E84EC"/>
              </a:gs>
              <a:gs pos="100000">
                <a:schemeClr val="accent1">
                  <a:lumMod val="75000"/>
                </a:schemeClr>
              </a:gs>
              <a:gs pos="0">
                <a:srgbClr val="0268FE">
                  <a:lumMod val="75000"/>
                  <a:lumOff val="25000"/>
                  <a:alpha val="69000"/>
                </a:srgbClr>
              </a:gs>
            </a:gsLst>
            <a:path path="circle">
              <a:fillToRect l="100000" b="100000"/>
            </a:path>
          </a:gradFill>
          <a:ln w="12700" cmpd="sng">
            <a:noFill/>
            <a:prstDash val="solid"/>
          </a:ln>
        </p:spPr>
        <p:txBody>
          <a:bodyPr anchor="ct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pic>
        <p:nvPicPr>
          <p:cNvPr id="336" name="图片 16"/>
          <p:cNvPicPr>
            <a:picLocks noChangeAspect="1"/>
          </p:cNvPicPr>
          <p:nvPr/>
        </p:nvPicPr>
        <p:blipFill>
          <a:blip r:embed="rId2"/>
          <a:srcRect b="59104"/>
          <a:stretch>
            <a:fillRect/>
          </a:stretch>
        </p:blipFill>
        <p:spPr>
          <a:xfrm>
            <a:off x="9374637" y="198304"/>
            <a:ext cx="2675956" cy="593304"/>
          </a:xfrm>
          <a:prstGeom prst="rect">
            <a:avLst/>
          </a:prstGeom>
        </p:spPr>
      </p:pic>
      <p:sp>
        <p:nvSpPr>
          <p:cNvPr id="11" name="直接连接符 10">
            <a:extLst>
              <a:ext uri="{FF2B5EF4-FFF2-40B4-BE49-F238E27FC236}">
                <a16:creationId xmlns:a16="http://schemas.microsoft.com/office/drawing/2014/main" id="{C33201AA-A72A-42CB-BA87-C4E3F68D7C54}"/>
              </a:ext>
            </a:extLst>
          </p:cNvPr>
          <p:cNvSpPr>
            <a:spLocks noGrp="1"/>
          </p:cNvSpPr>
          <p:nvPr/>
        </p:nvSpPr>
        <p:spPr>
          <a:xfrm>
            <a:off x="334962" y="6564990"/>
            <a:ext cx="11522076" cy="0"/>
          </a:xfrm>
          <a:prstGeom prst="line">
            <a:avLst/>
          </a:prstGeom>
          <a:ln w="50800">
            <a:solidFill>
              <a:schemeClr val="accent1"/>
            </a:solidFill>
            <a:prstDash val="solid"/>
          </a:ln>
        </p:spPr>
        <p:style>
          <a:lnRef idx="1">
            <a:schemeClr val="accent1"/>
          </a:lnRef>
          <a:fillRef idx="0">
            <a:schemeClr val="accent1"/>
          </a:fillRef>
          <a:effectRef idx="0">
            <a:schemeClr val="accent1"/>
          </a:effectRef>
          <a:fontRef idx="minor">
            <a:schemeClr val="tx1"/>
          </a:fontRef>
        </p:style>
      </p:sp>
      <p:sp>
        <p:nvSpPr>
          <p:cNvPr id="10" name="直接连接符 9">
            <a:extLst>
              <a:ext uri="{FF2B5EF4-FFF2-40B4-BE49-F238E27FC236}">
                <a16:creationId xmlns:a16="http://schemas.microsoft.com/office/drawing/2014/main" id="{318508C9-E08C-4A63-8DC5-682D5D25DC9D}"/>
              </a:ext>
            </a:extLst>
          </p:cNvPr>
          <p:cNvSpPr>
            <a:spLocks noGrp="1"/>
          </p:cNvSpPr>
          <p:nvPr/>
        </p:nvSpPr>
        <p:spPr>
          <a:xfrm>
            <a:off x="334963" y="1402294"/>
            <a:ext cx="11522075" cy="0"/>
          </a:xfrm>
          <a:prstGeom prst="line">
            <a:avLst/>
          </a:prstGeom>
          <a:noFill/>
          <a:ln w="25400">
            <a:gradFill rotWithShape="1">
              <a:gsLst>
                <a:gs pos="100000">
                  <a:schemeClr val="accent1">
                    <a:lumMod val="97000"/>
                  </a:schemeClr>
                </a:gs>
                <a:gs pos="0">
                  <a:schemeClr val="accent1">
                    <a:alpha val="0"/>
                  </a:schemeClr>
                </a:gs>
              </a:gsLst>
              <a:lin ang="10800000" scaled="1"/>
              <a:tileRect/>
            </a:gradFill>
            <a:tailEnd type="none" w="med" len="sm"/>
          </a:ln>
          <a:effectLst>
            <a:outerShdw blurRad="63500" dist="50800" dir="4800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7" name="任意多边形: 形状 86">
            <a:extLst>
              <a:ext uri="{FF2B5EF4-FFF2-40B4-BE49-F238E27FC236}">
                <a16:creationId xmlns:a16="http://schemas.microsoft.com/office/drawing/2014/main" id="{8FF3E6BE-823E-41AB-9EE5-04BCCFD4A87C}"/>
              </a:ext>
            </a:extLst>
          </p:cNvPr>
          <p:cNvSpPr>
            <a:spLocks noGrp="1"/>
          </p:cNvSpPr>
          <p:nvPr/>
        </p:nvSpPr>
        <p:spPr>
          <a:xfrm rot="10800000">
            <a:off x="2562" y="10535"/>
            <a:ext cx="4440577" cy="2998608"/>
          </a:xfrm>
          <a:custGeom>
            <a:avLst/>
            <a:gdLst>
              <a:gd name="connsiteX0" fmla="*/ 2893248 w 4163705"/>
              <a:gd name="connsiteY0" fmla="*/ 0 h 2398711"/>
              <a:gd name="connsiteX1" fmla="*/ 4039971 w 4163705"/>
              <a:gd name="connsiteY1" fmla="*/ 231513 h 2398711"/>
              <a:gd name="connsiteX2" fmla="*/ 4163705 w 4163705"/>
              <a:gd name="connsiteY2" fmla="*/ 291119 h 2398711"/>
              <a:gd name="connsiteX3" fmla="*/ 4163705 w 4163705"/>
              <a:gd name="connsiteY3" fmla="*/ 2398711 h 2398711"/>
              <a:gd name="connsiteX4" fmla="*/ 0 w 4163705"/>
              <a:gd name="connsiteY4" fmla="*/ 2398711 h 2398711"/>
              <a:gd name="connsiteX5" fmla="*/ 7085 w 4163705"/>
              <a:gd name="connsiteY5" fmla="*/ 2352291 h 2398711"/>
              <a:gd name="connsiteX6" fmla="*/ 2893248 w 4163705"/>
              <a:gd name="connsiteY6" fmla="*/ 0 h 2398711"/>
            </a:gdLst>
            <a:ahLst/>
            <a:cxnLst/>
            <a:rect l="l" t="t" r="r" b="b"/>
            <a:pathLst>
              <a:path w="4163705" h="2398711">
                <a:moveTo>
                  <a:pt x="2893248" y="0"/>
                </a:moveTo>
                <a:cubicBezTo>
                  <a:pt x="3300008" y="0"/>
                  <a:pt x="3687514" y="82436"/>
                  <a:pt x="4039971" y="231513"/>
                </a:cubicBezTo>
                <a:lnTo>
                  <a:pt x="4163705" y="291119"/>
                </a:lnTo>
                <a:lnTo>
                  <a:pt x="4163705" y="2398711"/>
                </a:lnTo>
                <a:lnTo>
                  <a:pt x="0" y="2398711"/>
                </a:lnTo>
                <a:lnTo>
                  <a:pt x="7085" y="2352291"/>
                </a:lnTo>
                <a:cubicBezTo>
                  <a:pt x="281790" y="1009841"/>
                  <a:pt x="1469588" y="0"/>
                  <a:pt x="2893248" y="0"/>
                </a:cubicBezTo>
                <a:close/>
              </a:path>
            </a:pathLst>
          </a:custGeom>
          <a:gradFill>
            <a:gsLst>
              <a:gs pos="100000">
                <a:srgbClr val="0268FE">
                  <a:lumMod val="9000"/>
                  <a:lumOff val="91000"/>
                </a:srgbClr>
              </a:gs>
              <a:gs pos="0">
                <a:srgbClr val="0268FE">
                  <a:lumMod val="4000"/>
                  <a:lumOff val="96000"/>
                </a:srgbClr>
              </a:gs>
            </a:gsLst>
            <a:lin ang="5400000" scaled="1"/>
          </a:gradFill>
          <a:ln w="12700" cmpd="sng">
            <a:noFill/>
            <a:prstDash val="solid"/>
          </a:ln>
        </p:spPr>
        <p:txBody>
          <a:bodyPr wrap="square" anchor="ctr">
            <a:noAutofit/>
          </a:bodyP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sp>
        <p:nvSpPr>
          <p:cNvPr id="89" name="文本框 88">
            <a:extLst>
              <a:ext uri="{FF2B5EF4-FFF2-40B4-BE49-F238E27FC236}">
                <a16:creationId xmlns:a16="http://schemas.microsoft.com/office/drawing/2014/main" id="{1BD28AC6-1683-4006-BB10-0F7A4C13FDE0}"/>
              </a:ext>
            </a:extLst>
          </p:cNvPr>
          <p:cNvSpPr>
            <a:spLocks noGrp="1"/>
          </p:cNvSpPr>
          <p:nvPr/>
        </p:nvSpPr>
        <p:spPr>
          <a:xfrm>
            <a:off x="-79985" y="1085380"/>
            <a:ext cx="3262303" cy="830997"/>
          </a:xfrm>
          <a:prstGeom prst="rect">
            <a:avLst/>
          </a:prstGeom>
          <a:noFill/>
        </p:spPr>
        <p:txBody>
          <a:bodyPr wrap="none">
            <a:spAutoFit/>
          </a:bodyPr>
          <a:lstStyle/>
          <a:p>
            <a:r>
              <a:rPr sz="4800" b="1">
                <a:solidFill>
                  <a:srgbClr val="FFFFFF"/>
                </a:solidFill>
                <a:latin typeface="微软雅黑"/>
                <a:ea typeface="微软雅黑"/>
                <a:cs typeface="微软雅黑"/>
              </a:rPr>
              <a:t>CONTENT</a:t>
            </a:r>
          </a:p>
        </p:txBody>
      </p:sp>
      <p:pic>
        <p:nvPicPr>
          <p:cNvPr id="135" name="图片 124"/>
          <p:cNvPicPr>
            <a:picLocks noChangeAspect="1"/>
          </p:cNvPicPr>
          <p:nvPr/>
        </p:nvPicPr>
        <p:blipFill>
          <a:blip r:embed="rId2">
            <a:alphaModFix amt="70000"/>
          </a:blip>
          <a:srcRect b="58808"/>
          <a:stretch>
            <a:fillRect/>
          </a:stretch>
        </p:blipFill>
        <p:spPr>
          <a:xfrm>
            <a:off x="662962" y="3707963"/>
            <a:ext cx="3024288" cy="2020666"/>
          </a:xfrm>
          <a:prstGeom prst="rect">
            <a:avLst/>
          </a:prstGeom>
        </p:spPr>
      </p:pic>
      <p:sp>
        <p:nvSpPr>
          <p:cNvPr id="88" name="文本框 87">
            <a:extLst>
              <a:ext uri="{FF2B5EF4-FFF2-40B4-BE49-F238E27FC236}">
                <a16:creationId xmlns:a16="http://schemas.microsoft.com/office/drawing/2014/main" id="{A61A7C37-D891-4BA3-A964-5035F355B85B}"/>
              </a:ext>
            </a:extLst>
          </p:cNvPr>
          <p:cNvSpPr>
            <a:spLocks noGrp="1"/>
          </p:cNvSpPr>
          <p:nvPr/>
        </p:nvSpPr>
        <p:spPr>
          <a:xfrm>
            <a:off x="851667" y="1479325"/>
            <a:ext cx="2646878" cy="830997"/>
          </a:xfrm>
          <a:prstGeom prst="rect">
            <a:avLst/>
          </a:prstGeom>
          <a:noFill/>
        </p:spPr>
        <p:txBody>
          <a:bodyPr wrap="none">
            <a:spAutoFit/>
          </a:bodyPr>
          <a:lstStyle>
            <a:lvl1pPr>
              <a:buNone/>
              <a:defRPr sz="7200">
                <a:gradFill flip="none" rotWithShape="1">
                  <a:gsLst>
                    <a:gs pos="0">
                      <a:schemeClr val="accent1">
                        <a:lumMod val="80000"/>
                        <a:lumOff val="20000"/>
                      </a:schemeClr>
                    </a:gs>
                    <a:gs pos="100000">
                      <a:schemeClr val="accent1"/>
                    </a:gs>
                  </a:gsLst>
                  <a:lin ang="5400000" scaled="1"/>
                  <a:tileRect/>
                </a:gradFill>
                <a:latin typeface="思源宋体 CN Heavy"/>
                <a:ea typeface="思源宋体 CN Heavy"/>
                <a:cs typeface="思源宋体 CN Heavy"/>
              </a:defRPr>
            </a:lvl1pPr>
          </a:lstStyle>
          <a:p>
            <a:pPr marL="0" marR="0" lvl="0" indent="0" defTabSz="914400">
              <a:lnSpc>
                <a:spcPct val="100000"/>
              </a:lnSpc>
              <a:spcBef>
                <a:spcPts val="0"/>
              </a:spcBef>
              <a:spcAft>
                <a:spcPts val="0"/>
              </a:spcAft>
              <a:buClrTx/>
              <a:buSzTx/>
              <a:buFontTx/>
              <a:buNone/>
            </a:pPr>
            <a:r>
              <a:rPr sz="4800" b="0" i="0" u="none" cap="none" spc="0">
                <a:ln>
                  <a:noFill/>
                </a:ln>
                <a:gradFill rotWithShape="1">
                  <a:gsLst>
                    <a:gs pos="0">
                      <a:srgbClr val="0268FE">
                        <a:lumMod val="80000"/>
                        <a:lumOff val="20000"/>
                      </a:srgbClr>
                    </a:gs>
                    <a:gs pos="100000">
                      <a:srgbClr val="0268FE"/>
                    </a:gs>
                  </a:gsLst>
                  <a:lin ang="5400000" scaled="1"/>
                  <a:tileRect/>
                </a:gradFill>
                <a:latin typeface="汉仪粗宋简"/>
                <a:ea typeface="汉仪粗宋简"/>
                <a:cs typeface="汉仪粗宋简"/>
              </a:rPr>
              <a:t>汇报提纲</a:t>
            </a:r>
          </a:p>
        </p:txBody>
      </p:sp>
      <p:sp>
        <p:nvSpPr>
          <p:cNvPr id="131" name="任意多边形: 形状 130">
            <a:extLst>
              <a:ext uri="{FF2B5EF4-FFF2-40B4-BE49-F238E27FC236}">
                <a16:creationId xmlns:a16="http://schemas.microsoft.com/office/drawing/2014/main" id="{25C8C45D-7CBB-4B9F-860A-0AD2A7965893}"/>
              </a:ext>
            </a:extLst>
          </p:cNvPr>
          <p:cNvSpPr>
            <a:spLocks noGrp="1"/>
          </p:cNvSpPr>
          <p:nvPr/>
        </p:nvSpPr>
        <p:spPr>
          <a:xfrm>
            <a:off x="8895335" y="4602588"/>
            <a:ext cx="3296666" cy="2255412"/>
          </a:xfrm>
          <a:custGeom>
            <a:avLst/>
            <a:gdLst>
              <a:gd name="connsiteX0" fmla="*/ 2893248 w 4163705"/>
              <a:gd name="connsiteY0" fmla="*/ 0 h 2398711"/>
              <a:gd name="connsiteX1" fmla="*/ 4039971 w 4163705"/>
              <a:gd name="connsiteY1" fmla="*/ 231513 h 2398711"/>
              <a:gd name="connsiteX2" fmla="*/ 4163705 w 4163705"/>
              <a:gd name="connsiteY2" fmla="*/ 291119 h 2398711"/>
              <a:gd name="connsiteX3" fmla="*/ 4163705 w 4163705"/>
              <a:gd name="connsiteY3" fmla="*/ 2398711 h 2398711"/>
              <a:gd name="connsiteX4" fmla="*/ 0 w 4163705"/>
              <a:gd name="connsiteY4" fmla="*/ 2398711 h 2398711"/>
              <a:gd name="connsiteX5" fmla="*/ 7085 w 4163705"/>
              <a:gd name="connsiteY5" fmla="*/ 2352291 h 2398711"/>
              <a:gd name="connsiteX6" fmla="*/ 2893248 w 4163705"/>
              <a:gd name="connsiteY6" fmla="*/ 0 h 2398711"/>
            </a:gdLst>
            <a:ahLst/>
            <a:cxnLst/>
            <a:rect l="l" t="t" r="r" b="b"/>
            <a:pathLst>
              <a:path w="4163705" h="2398711">
                <a:moveTo>
                  <a:pt x="2893248" y="0"/>
                </a:moveTo>
                <a:cubicBezTo>
                  <a:pt x="3300008" y="0"/>
                  <a:pt x="3687514" y="82436"/>
                  <a:pt x="4039971" y="231513"/>
                </a:cubicBezTo>
                <a:lnTo>
                  <a:pt x="4163705" y="291119"/>
                </a:lnTo>
                <a:lnTo>
                  <a:pt x="4163705" y="2398711"/>
                </a:lnTo>
                <a:lnTo>
                  <a:pt x="0" y="2398711"/>
                </a:lnTo>
                <a:lnTo>
                  <a:pt x="7085" y="2352291"/>
                </a:lnTo>
                <a:cubicBezTo>
                  <a:pt x="281790" y="1009841"/>
                  <a:pt x="1469588" y="0"/>
                  <a:pt x="2893248" y="0"/>
                </a:cubicBezTo>
                <a:close/>
              </a:path>
            </a:pathLst>
          </a:custGeom>
          <a:gradFill>
            <a:gsLst>
              <a:gs pos="100000">
                <a:srgbClr val="0268FE">
                  <a:lumMod val="9000"/>
                  <a:lumOff val="91000"/>
                </a:srgbClr>
              </a:gs>
              <a:gs pos="0">
                <a:srgbClr val="0268FE">
                  <a:lumMod val="4000"/>
                  <a:lumOff val="96000"/>
                </a:srgbClr>
              </a:gs>
            </a:gsLst>
            <a:lin ang="5400000" scaled="1"/>
          </a:gradFill>
          <a:ln w="12700" cmpd="sng">
            <a:noFill/>
            <a:prstDash val="solid"/>
          </a:ln>
        </p:spPr>
        <p:txBody>
          <a:bodyPr wrap="square" anchor="ctr">
            <a:noAutofit/>
          </a:bodyP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494629-B2BD-4D20-9BE8-A348383E5695}"/>
              </a:ext>
            </a:extLst>
          </p:cNvPr>
          <p:cNvSpPr>
            <a:spLocks noGrp="1"/>
          </p:cNvSpPr>
          <p:nvPr>
            <p:ph type="title"/>
          </p:nvPr>
        </p:nvSpPr>
        <p:spPr>
          <a:xfrm>
            <a:off x="839788" y="365125"/>
            <a:ext cx="10515600" cy="1325563"/>
          </a:xfrm>
        </p:spPr>
        <p:txBody>
          <a:bodyPr/>
          <a:lstStyle/>
          <a:p>
            <a:r>
              <a:t>单击此处编辑母版标题样式</a:t>
            </a:r>
          </a:p>
        </p:txBody>
      </p:sp>
      <p:sp>
        <p:nvSpPr>
          <p:cNvPr id="3" name="文本占位符 2">
            <a:extLst>
              <a:ext uri="{FF2B5EF4-FFF2-40B4-BE49-F238E27FC236}">
                <a16:creationId xmlns:a16="http://schemas.microsoft.com/office/drawing/2014/main" id="{DACFFA4A-116A-46C5-A2F8-3F07BD47CA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4" name="内容占位符 3">
            <a:extLst>
              <a:ext uri="{FF2B5EF4-FFF2-40B4-BE49-F238E27FC236}">
                <a16:creationId xmlns:a16="http://schemas.microsoft.com/office/drawing/2014/main" id="{4E1F2C58-CD69-4C73-AF93-AEE85893F66B}"/>
              </a:ext>
            </a:extLst>
          </p:cNvPr>
          <p:cNvSpPr>
            <a:spLocks noGrp="1"/>
          </p:cNvSpPr>
          <p:nvPr>
            <p:ph idx="2"/>
          </p:nvPr>
        </p:nvSpPr>
        <p:spPr>
          <a:xfrm>
            <a:off x="839788" y="2505075"/>
            <a:ext cx="5157787"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5" name="文本占位符 4">
            <a:extLst>
              <a:ext uri="{FF2B5EF4-FFF2-40B4-BE49-F238E27FC236}">
                <a16:creationId xmlns:a16="http://schemas.microsoft.com/office/drawing/2014/main" id="{6664EF93-C77E-4753-89A2-B42BC54E813B}"/>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6" name="内容占位符 5">
            <a:extLst>
              <a:ext uri="{FF2B5EF4-FFF2-40B4-BE49-F238E27FC236}">
                <a16:creationId xmlns:a16="http://schemas.microsoft.com/office/drawing/2014/main" id="{66CFF673-FA18-4DF9-A003-A42740ABB113}"/>
              </a:ext>
            </a:extLst>
          </p:cNvPr>
          <p:cNvSpPr>
            <a:spLocks noGrp="1"/>
          </p:cNvSpPr>
          <p:nvPr>
            <p:ph idx="4"/>
          </p:nvPr>
        </p:nvSpPr>
        <p:spPr>
          <a:xfrm>
            <a:off x="6172200" y="2505075"/>
            <a:ext cx="5183188"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7" name="日期占位符 6">
            <a:extLst>
              <a:ext uri="{FF2B5EF4-FFF2-40B4-BE49-F238E27FC236}">
                <a16:creationId xmlns:a16="http://schemas.microsoft.com/office/drawing/2014/main" id="{E6BA5EFC-8B17-4E3A-963D-8B491CAC20CD}"/>
              </a:ext>
            </a:extLst>
          </p:cNvPr>
          <p:cNvSpPr>
            <a:spLocks noGrp="1"/>
          </p:cNvSpPr>
          <p:nvPr>
            <p:ph type="dt" idx="10"/>
          </p:nvPr>
        </p:nvSpPr>
        <p:spPr/>
        <p:txBody>
          <a:bodyPr/>
          <a:lstStyle/>
          <a:p>
            <a:fld id="{9F4852F6-D0EE-43FF-9758-4449F4064C7C}" type="datetimeFigureOut">
              <a:t>2026/9/28</a:t>
            </a:fld>
            <a:endParaRPr/>
          </a:p>
        </p:txBody>
      </p:sp>
      <p:sp>
        <p:nvSpPr>
          <p:cNvPr id="8" name="页脚占位符 7">
            <a:extLst>
              <a:ext uri="{FF2B5EF4-FFF2-40B4-BE49-F238E27FC236}">
                <a16:creationId xmlns:a16="http://schemas.microsoft.com/office/drawing/2014/main" id="{A049F442-F8B7-4971-BD4A-13BCD800E1F8}"/>
              </a:ext>
            </a:extLst>
          </p:cNvPr>
          <p:cNvSpPr>
            <a:spLocks noGrp="1"/>
          </p:cNvSpPr>
          <p:nvPr>
            <p:ph type="ftr" idx="11"/>
          </p:nvPr>
        </p:nvSpPr>
        <p:spPr/>
        <p:txBody>
          <a:bodyPr/>
          <a:lstStyle/>
          <a:p>
            <a:endParaRPr/>
          </a:p>
        </p:txBody>
      </p:sp>
      <p:sp>
        <p:nvSpPr>
          <p:cNvPr id="9" name="灯片编号占位符 8">
            <a:extLst>
              <a:ext uri="{FF2B5EF4-FFF2-40B4-BE49-F238E27FC236}">
                <a16:creationId xmlns:a16="http://schemas.microsoft.com/office/drawing/2014/main" id="{192642B2-6F22-4B9B-82AD-D3B06406DB50}"/>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D6529E-89F7-4F18-91FE-AF7BE991C016}"/>
              </a:ext>
            </a:extLst>
          </p:cNvPr>
          <p:cNvSpPr>
            <a:spLocks noGrp="1"/>
          </p:cNvSpPr>
          <p:nvPr>
            <p:ph type="title"/>
          </p:nvPr>
        </p:nvSpPr>
        <p:spPr/>
        <p:txBody>
          <a:bodyPr/>
          <a:lstStyle/>
          <a:p>
            <a:r>
              <a:t>单击此处编辑母版标题样式</a:t>
            </a:r>
          </a:p>
        </p:txBody>
      </p:sp>
      <p:sp>
        <p:nvSpPr>
          <p:cNvPr id="3" name="日期占位符 2">
            <a:extLst>
              <a:ext uri="{FF2B5EF4-FFF2-40B4-BE49-F238E27FC236}">
                <a16:creationId xmlns:a16="http://schemas.microsoft.com/office/drawing/2014/main" id="{510D0125-25E2-4ABE-96A0-B7C76CE65F16}"/>
              </a:ext>
            </a:extLst>
          </p:cNvPr>
          <p:cNvSpPr>
            <a:spLocks noGrp="1"/>
          </p:cNvSpPr>
          <p:nvPr>
            <p:ph type="dt" idx="10"/>
          </p:nvPr>
        </p:nvSpPr>
        <p:spPr/>
        <p:txBody>
          <a:bodyPr/>
          <a:lstStyle/>
          <a:p>
            <a:fld id="{9F4852F6-D0EE-43FF-9758-4449F4064C7C}" type="datetimeFigureOut">
              <a:t>2026/9/28</a:t>
            </a:fld>
            <a:endParaRPr/>
          </a:p>
        </p:txBody>
      </p:sp>
      <p:sp>
        <p:nvSpPr>
          <p:cNvPr id="4" name="页脚占位符 3">
            <a:extLst>
              <a:ext uri="{FF2B5EF4-FFF2-40B4-BE49-F238E27FC236}">
                <a16:creationId xmlns:a16="http://schemas.microsoft.com/office/drawing/2014/main" id="{FEB9997D-42C9-4983-A767-A637AEACB156}"/>
              </a:ext>
            </a:extLst>
          </p:cNvPr>
          <p:cNvSpPr>
            <a:spLocks noGrp="1"/>
          </p:cNvSpPr>
          <p:nvPr>
            <p:ph type="ftr" idx="11"/>
          </p:nvPr>
        </p:nvSpPr>
        <p:spPr/>
        <p:txBody>
          <a:bodyPr/>
          <a:lstStyle/>
          <a:p>
            <a:endParaRPr/>
          </a:p>
        </p:txBody>
      </p:sp>
      <p:sp>
        <p:nvSpPr>
          <p:cNvPr id="5" name="灯片编号占位符 4">
            <a:extLst>
              <a:ext uri="{FF2B5EF4-FFF2-40B4-BE49-F238E27FC236}">
                <a16:creationId xmlns:a16="http://schemas.microsoft.com/office/drawing/2014/main" id="{4525489B-D304-43A8-BF8C-F0785C3ABA52}"/>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0B0469B-7200-416A-8519-9A34B72696B9}"/>
              </a:ext>
            </a:extLst>
          </p:cNvPr>
          <p:cNvSpPr>
            <a:spLocks noGrp="1"/>
          </p:cNvSpPr>
          <p:nvPr>
            <p:ph type="dt" idx="10"/>
          </p:nvPr>
        </p:nvSpPr>
        <p:spPr/>
        <p:txBody>
          <a:bodyPr/>
          <a:lstStyle/>
          <a:p>
            <a:fld id="{9F4852F6-D0EE-43FF-9758-4449F4064C7C}" type="datetimeFigureOut">
              <a:t>2026/9/28</a:t>
            </a:fld>
            <a:endParaRPr/>
          </a:p>
        </p:txBody>
      </p:sp>
      <p:sp>
        <p:nvSpPr>
          <p:cNvPr id="3" name="页脚占位符 2">
            <a:extLst>
              <a:ext uri="{FF2B5EF4-FFF2-40B4-BE49-F238E27FC236}">
                <a16:creationId xmlns:a16="http://schemas.microsoft.com/office/drawing/2014/main" id="{3A4601A5-F3B0-4399-9527-C8006666D477}"/>
              </a:ext>
            </a:extLst>
          </p:cNvPr>
          <p:cNvSpPr>
            <a:spLocks noGrp="1"/>
          </p:cNvSpPr>
          <p:nvPr>
            <p:ph type="ftr" idx="11"/>
          </p:nvPr>
        </p:nvSpPr>
        <p:spPr/>
        <p:txBody>
          <a:bodyPr/>
          <a:lstStyle/>
          <a:p>
            <a:endParaRPr/>
          </a:p>
        </p:txBody>
      </p:sp>
      <p:sp>
        <p:nvSpPr>
          <p:cNvPr id="4" name="灯片编号占位符 3">
            <a:extLst>
              <a:ext uri="{FF2B5EF4-FFF2-40B4-BE49-F238E27FC236}">
                <a16:creationId xmlns:a16="http://schemas.microsoft.com/office/drawing/2014/main" id="{35D499D1-62B7-4375-94B0-BE149AA67435}"/>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162A2E-9955-4F6B-B7C2-492157C6591A}"/>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内容占位符 2">
            <a:extLst>
              <a:ext uri="{FF2B5EF4-FFF2-40B4-BE49-F238E27FC236}">
                <a16:creationId xmlns:a16="http://schemas.microsoft.com/office/drawing/2014/main" id="{3F7410B8-7366-4009-A65C-B1C17B3E600E}"/>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文本占位符 3">
            <a:extLst>
              <a:ext uri="{FF2B5EF4-FFF2-40B4-BE49-F238E27FC236}">
                <a16:creationId xmlns:a16="http://schemas.microsoft.com/office/drawing/2014/main" id="{A72A7BB3-FEFF-4145-A73C-8783DB1D45B3}"/>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a:extLst>
              <a:ext uri="{FF2B5EF4-FFF2-40B4-BE49-F238E27FC236}">
                <a16:creationId xmlns:a16="http://schemas.microsoft.com/office/drawing/2014/main" id="{49CC7F14-C2B0-43C1-B6CC-E1F0AE2440EA}"/>
              </a:ext>
            </a:extLst>
          </p:cNvPr>
          <p:cNvSpPr>
            <a:spLocks noGrp="1"/>
          </p:cNvSpPr>
          <p:nvPr>
            <p:ph type="dt" idx="10"/>
          </p:nvPr>
        </p:nvSpPr>
        <p:spPr/>
        <p:txBody>
          <a:bodyPr/>
          <a:lstStyle/>
          <a:p>
            <a:fld id="{9F4852F6-D0EE-43FF-9758-4449F4064C7C}" type="datetimeFigureOut">
              <a:t>2026/9/28</a:t>
            </a:fld>
            <a:endParaRPr/>
          </a:p>
        </p:txBody>
      </p:sp>
      <p:sp>
        <p:nvSpPr>
          <p:cNvPr id="6" name="页脚占位符 5">
            <a:extLst>
              <a:ext uri="{FF2B5EF4-FFF2-40B4-BE49-F238E27FC236}">
                <a16:creationId xmlns:a16="http://schemas.microsoft.com/office/drawing/2014/main" id="{8A703B2A-433F-4968-8C3C-29BC33BCD17B}"/>
              </a:ext>
            </a:extLst>
          </p:cNvPr>
          <p:cNvSpPr>
            <a:spLocks noGrp="1"/>
          </p:cNvSpPr>
          <p:nvPr>
            <p:ph type="ftr" idx="11"/>
          </p:nvPr>
        </p:nvSpPr>
        <p:spPr/>
        <p:txBody>
          <a:bodyPr/>
          <a:lstStyle/>
          <a:p>
            <a:endParaRPr/>
          </a:p>
        </p:txBody>
      </p:sp>
      <p:sp>
        <p:nvSpPr>
          <p:cNvPr id="7" name="灯片编号占位符 6">
            <a:extLst>
              <a:ext uri="{FF2B5EF4-FFF2-40B4-BE49-F238E27FC236}">
                <a16:creationId xmlns:a16="http://schemas.microsoft.com/office/drawing/2014/main" id="{C0570E6A-2266-4B2E-A208-4304DCF2EA4E}"/>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4C00C0-1E1B-46DC-877B-6999AB72EED7}"/>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图片占位符 2">
            <a:extLst>
              <a:ext uri="{FF2B5EF4-FFF2-40B4-BE49-F238E27FC236}">
                <a16:creationId xmlns:a16="http://schemas.microsoft.com/office/drawing/2014/main" id="{0E0375EC-D403-474C-BDCD-B132997555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文本占位符 3">
            <a:extLst>
              <a:ext uri="{FF2B5EF4-FFF2-40B4-BE49-F238E27FC236}">
                <a16:creationId xmlns:a16="http://schemas.microsoft.com/office/drawing/2014/main" id="{A85140C5-2534-4D01-A054-8799B7EE14F4}"/>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a:extLst>
              <a:ext uri="{FF2B5EF4-FFF2-40B4-BE49-F238E27FC236}">
                <a16:creationId xmlns:a16="http://schemas.microsoft.com/office/drawing/2014/main" id="{D3C7DBA3-D86D-49F2-9C7E-E2938054A22D}"/>
              </a:ext>
            </a:extLst>
          </p:cNvPr>
          <p:cNvSpPr>
            <a:spLocks noGrp="1"/>
          </p:cNvSpPr>
          <p:nvPr>
            <p:ph type="dt" idx="10"/>
          </p:nvPr>
        </p:nvSpPr>
        <p:spPr/>
        <p:txBody>
          <a:bodyPr/>
          <a:lstStyle/>
          <a:p>
            <a:fld id="{9F4852F6-D0EE-43FF-9758-4449F4064C7C}" type="datetimeFigureOut">
              <a:t>2026/9/28</a:t>
            </a:fld>
            <a:endParaRPr/>
          </a:p>
        </p:txBody>
      </p:sp>
      <p:sp>
        <p:nvSpPr>
          <p:cNvPr id="6" name="页脚占位符 5">
            <a:extLst>
              <a:ext uri="{FF2B5EF4-FFF2-40B4-BE49-F238E27FC236}">
                <a16:creationId xmlns:a16="http://schemas.microsoft.com/office/drawing/2014/main" id="{6067B2D7-B8CF-4FD9-B641-7A5799E77D62}"/>
              </a:ext>
            </a:extLst>
          </p:cNvPr>
          <p:cNvSpPr>
            <a:spLocks noGrp="1"/>
          </p:cNvSpPr>
          <p:nvPr>
            <p:ph type="ftr" idx="11"/>
          </p:nvPr>
        </p:nvSpPr>
        <p:spPr/>
        <p:txBody>
          <a:bodyPr/>
          <a:lstStyle/>
          <a:p>
            <a:endParaRPr/>
          </a:p>
        </p:txBody>
      </p:sp>
      <p:sp>
        <p:nvSpPr>
          <p:cNvPr id="7" name="灯片编号占位符 6">
            <a:extLst>
              <a:ext uri="{FF2B5EF4-FFF2-40B4-BE49-F238E27FC236}">
                <a16:creationId xmlns:a16="http://schemas.microsoft.com/office/drawing/2014/main" id="{870216AD-9FFB-43B0-9ABC-443132024F4E}"/>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20E21E-06F7-4579-9A72-57FA309B3859}"/>
              </a:ext>
            </a:extLst>
          </p:cNvPr>
          <p:cNvSpPr>
            <a:spLocks noGrp="1"/>
          </p:cNvSpPr>
          <p:nvPr>
            <p:ph type="title"/>
          </p:nvPr>
        </p:nvSpPr>
        <p:spPr/>
        <p:txBody>
          <a:bodyPr/>
          <a:lstStyle/>
          <a:p>
            <a:r>
              <a:t>单击此处编辑母版标题样式</a:t>
            </a:r>
          </a:p>
        </p:txBody>
      </p:sp>
      <p:sp>
        <p:nvSpPr>
          <p:cNvPr id="3" name="竖排文字占位符 2">
            <a:extLst>
              <a:ext uri="{FF2B5EF4-FFF2-40B4-BE49-F238E27FC236}">
                <a16:creationId xmlns:a16="http://schemas.microsoft.com/office/drawing/2014/main" id="{A367E993-74FC-4441-AB5C-FD3475EC7723}"/>
              </a:ext>
            </a:extLst>
          </p:cNvPr>
          <p:cNvSpPr>
            <a:spLocks noGrp="1"/>
          </p:cNvSpPr>
          <p:nvPr>
            <p:ph type="body" idx="1"/>
          </p:nvPr>
        </p:nvSpPr>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F33AFDDC-B246-4BAC-B53B-FC8B767342D1}"/>
              </a:ext>
            </a:extLst>
          </p:cNvPr>
          <p:cNvSpPr>
            <a:spLocks noGrp="1"/>
          </p:cNvSpPr>
          <p:nvPr>
            <p:ph type="dt" idx="10"/>
          </p:nvPr>
        </p:nvSpPr>
        <p:spPr/>
        <p:txBody>
          <a:bodyPr/>
          <a:lstStyle/>
          <a:p>
            <a:fld id="{9F4852F6-D0EE-43FF-9758-4449F4064C7C}" type="datetimeFigureOut">
              <a:t>2026/9/28</a:t>
            </a:fld>
            <a:endParaRPr/>
          </a:p>
        </p:txBody>
      </p:sp>
      <p:sp>
        <p:nvSpPr>
          <p:cNvPr id="5" name="页脚占位符 4">
            <a:extLst>
              <a:ext uri="{FF2B5EF4-FFF2-40B4-BE49-F238E27FC236}">
                <a16:creationId xmlns:a16="http://schemas.microsoft.com/office/drawing/2014/main" id="{6F447F40-7F16-4FFF-B022-C3AEDC402306}"/>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B282E804-6DF3-4452-B271-5DEBCCCB06F4}"/>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3744352-F64F-4B8F-9586-65854C208820}"/>
              </a:ext>
            </a:extLst>
          </p:cNvPr>
          <p:cNvSpPr>
            <a:spLocks noGrp="1"/>
          </p:cNvSpPr>
          <p:nvPr>
            <p:ph type="title"/>
          </p:nvPr>
        </p:nvSpPr>
        <p:spPr>
          <a:xfrm>
            <a:off x="8724900" y="365125"/>
            <a:ext cx="2628900" cy="5811838"/>
          </a:xfrm>
        </p:spPr>
        <p:txBody>
          <a:bodyPr vert="eaVert"/>
          <a:lstStyle/>
          <a:p>
            <a:r>
              <a:t>单击此处编辑母版标题样式</a:t>
            </a:r>
          </a:p>
        </p:txBody>
      </p:sp>
      <p:sp>
        <p:nvSpPr>
          <p:cNvPr id="3" name="竖排文字占位符 2">
            <a:extLst>
              <a:ext uri="{FF2B5EF4-FFF2-40B4-BE49-F238E27FC236}">
                <a16:creationId xmlns:a16="http://schemas.microsoft.com/office/drawing/2014/main" id="{994EFCDB-0053-44F0-B075-A052FA3CBCE2}"/>
              </a:ext>
            </a:extLst>
          </p:cNvPr>
          <p:cNvSpPr>
            <a:spLocks noGrp="1"/>
          </p:cNvSpPr>
          <p:nvPr>
            <p:ph type="body" idx="1"/>
          </p:nvPr>
        </p:nvSpPr>
        <p:spPr>
          <a:xfrm>
            <a:off x="838200" y="365125"/>
            <a:ext cx="7734300" cy="5811838"/>
          </a:xfrm>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6846FA22-B463-4AD2-BF7D-5708AC9221BA}"/>
              </a:ext>
            </a:extLst>
          </p:cNvPr>
          <p:cNvSpPr>
            <a:spLocks noGrp="1"/>
          </p:cNvSpPr>
          <p:nvPr>
            <p:ph type="dt" idx="10"/>
          </p:nvPr>
        </p:nvSpPr>
        <p:spPr/>
        <p:txBody>
          <a:bodyPr/>
          <a:lstStyle/>
          <a:p>
            <a:fld id="{9F4852F6-D0EE-43FF-9758-4449F4064C7C}" type="datetimeFigureOut">
              <a:t>2026/9/28</a:t>
            </a:fld>
            <a:endParaRPr/>
          </a:p>
        </p:txBody>
      </p:sp>
      <p:sp>
        <p:nvSpPr>
          <p:cNvPr id="5" name="页脚占位符 4">
            <a:extLst>
              <a:ext uri="{FF2B5EF4-FFF2-40B4-BE49-F238E27FC236}">
                <a16:creationId xmlns:a16="http://schemas.microsoft.com/office/drawing/2014/main" id="{7C32AA74-DB7E-448B-B9B2-35075A5FDAFE}"/>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85F0FDDA-4DAE-4539-9492-C374F102CA1D}"/>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18" name="Picture 6"/>
          <p:cNvPicPr>
            <a:picLocks noChangeAspect="1"/>
          </p:cNvPicPr>
          <p:nvPr/>
        </p:nvPicPr>
        <p:blipFill>
          <a:blip r:embed="rId2"/>
          <a:srcRect b="14645"/>
          <a:stretch>
            <a:fillRect/>
          </a:stretch>
        </p:blipFill>
        <p:spPr>
          <a:xfrm>
            <a:off x="0" y="584200"/>
            <a:ext cx="12192000" cy="804333"/>
          </a:xfrm>
          <a:prstGeom prst="rect">
            <a:avLst/>
          </a:prstGeom>
          <a:ln>
            <a:noFill/>
          </a:ln>
        </p:spPr>
      </p:pic>
      <p:sp>
        <p:nvSpPr>
          <p:cNvPr id="10" name="直接连接符 9">
            <a:extLst>
              <a:ext uri="{FF2B5EF4-FFF2-40B4-BE49-F238E27FC236}">
                <a16:creationId xmlns:a16="http://schemas.microsoft.com/office/drawing/2014/main" id="{09E19A7D-2866-457A-BEAF-73A8399A6E5B}"/>
              </a:ext>
            </a:extLst>
          </p:cNvPr>
          <p:cNvSpPr>
            <a:spLocks noGrp="1"/>
          </p:cNvSpPr>
          <p:nvPr/>
        </p:nvSpPr>
        <p:spPr>
          <a:xfrm>
            <a:off x="0" y="1411819"/>
            <a:ext cx="12192000" cy="211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sp>
      <p:sp>
        <p:nvSpPr>
          <p:cNvPr id="7" name="矩形 6">
            <a:extLst>
              <a:ext uri="{FF2B5EF4-FFF2-40B4-BE49-F238E27FC236}">
                <a16:creationId xmlns:a16="http://schemas.microsoft.com/office/drawing/2014/main" id="{66C83403-7610-4894-903F-C2CE1502F044}"/>
              </a:ext>
            </a:extLst>
          </p:cNvPr>
          <p:cNvSpPr>
            <a:spLocks noGrp="1"/>
          </p:cNvSpPr>
          <p:nvPr/>
        </p:nvSpPr>
        <p:spPr>
          <a:xfrm>
            <a:off x="821267" y="584200"/>
            <a:ext cx="8652933" cy="711200"/>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3200" b="1">
              <a:solidFill>
                <a:prstClr val="white"/>
              </a:solidFill>
            </a:endParaRPr>
          </a:p>
        </p:txBody>
      </p:sp>
      <p:sp>
        <p:nvSpPr>
          <p:cNvPr id="11" name="任意多边形 10">
            <a:extLst>
              <a:ext uri="{FF2B5EF4-FFF2-40B4-BE49-F238E27FC236}">
                <a16:creationId xmlns:a16="http://schemas.microsoft.com/office/drawing/2014/main" id="{5B060BB9-701E-4619-A899-CCDFFD479B5F}"/>
              </a:ext>
            </a:extLst>
          </p:cNvPr>
          <p:cNvSpPr>
            <a:spLocks noGrp="1"/>
          </p:cNvSpPr>
          <p:nvPr/>
        </p:nvSpPr>
        <p:spPr>
          <a:xfrm>
            <a:off x="2393370" y="1413933"/>
            <a:ext cx="9798631" cy="101600"/>
          </a:xfrm>
          <a:custGeom>
            <a:avLst/>
            <a:gdLst>
              <a:gd name="connsiteX0" fmla="*/ 68 w 11394"/>
              <a:gd name="connsiteY0" fmla="*/ 0 h 126"/>
              <a:gd name="connsiteX1" fmla="*/ 11394 w 11394"/>
              <a:gd name="connsiteY1" fmla="*/ 6 h 126"/>
              <a:gd name="connsiteX2" fmla="*/ 11394 w 11394"/>
              <a:gd name="connsiteY2" fmla="*/ 126 h 126"/>
              <a:gd name="connsiteX3" fmla="*/ 0 w 11394"/>
              <a:gd name="connsiteY3" fmla="*/ 126 h 126"/>
              <a:gd name="connsiteX4" fmla="*/ 68 w 11394"/>
              <a:gd name="connsiteY4" fmla="*/ 0 h 126"/>
            </a:gdLst>
            <a:ahLst/>
            <a:cxnLst/>
            <a:rect l="l" t="t" r="r" b="b"/>
            <a:pathLst>
              <a:path w="11394" h="126">
                <a:moveTo>
                  <a:pt x="68" y="0"/>
                </a:moveTo>
                <a:lnTo>
                  <a:pt x="11394" y="6"/>
                </a:lnTo>
                <a:lnTo>
                  <a:pt x="11394" y="126"/>
                </a:lnTo>
                <a:lnTo>
                  <a:pt x="0" y="126"/>
                </a:lnTo>
                <a:lnTo>
                  <a:pt x="68" y="0"/>
                </a:ln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
        <p:nvSpPr>
          <p:cNvPr id="16" name="任意多边形 15">
            <a:extLst>
              <a:ext uri="{FF2B5EF4-FFF2-40B4-BE49-F238E27FC236}">
                <a16:creationId xmlns:a16="http://schemas.microsoft.com/office/drawing/2014/main" id="{6DC3910A-EC10-4F93-8646-30BBA9F2C728}"/>
              </a:ext>
            </a:extLst>
          </p:cNvPr>
          <p:cNvSpPr>
            <a:spLocks noGrp="1"/>
          </p:cNvSpPr>
          <p:nvPr/>
        </p:nvSpPr>
        <p:spPr>
          <a:xfrm>
            <a:off x="-2539" y="1414739"/>
            <a:ext cx="2395908" cy="100793"/>
          </a:xfrm>
          <a:custGeom>
            <a:avLst/>
            <a:gdLst>
              <a:gd name="connsiteX0" fmla="*/ 0 w 2693"/>
              <a:gd name="connsiteY0" fmla="*/ 0 h 119"/>
              <a:gd name="connsiteX1" fmla="*/ 2693 w 2693"/>
              <a:gd name="connsiteY1" fmla="*/ 0 h 119"/>
              <a:gd name="connsiteX2" fmla="*/ 2629 w 2693"/>
              <a:gd name="connsiteY2" fmla="*/ 119 h 119"/>
              <a:gd name="connsiteX3" fmla="*/ 0 w 2693"/>
              <a:gd name="connsiteY3" fmla="*/ 119 h 119"/>
              <a:gd name="connsiteX4" fmla="*/ 0 w 2693"/>
              <a:gd name="connsiteY4" fmla="*/ 0 h 119"/>
            </a:gdLst>
            <a:ahLst/>
            <a:cxnLst/>
            <a:rect l="l" t="t" r="r" b="b"/>
            <a:pathLst>
              <a:path w="2693" h="119">
                <a:moveTo>
                  <a:pt x="0" y="0"/>
                </a:moveTo>
                <a:lnTo>
                  <a:pt x="2693" y="0"/>
                </a:lnTo>
                <a:lnTo>
                  <a:pt x="2629" y="119"/>
                </a:lnTo>
                <a:lnTo>
                  <a:pt x="0" y="119"/>
                </a:lnTo>
                <a:lnTo>
                  <a:pt x="0" y="0"/>
                </a:lnTo>
                <a:close/>
              </a:path>
            </a:pathLst>
          </a:custGeom>
          <a:solidFill>
            <a:srgbClr val="F39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18" name="Picture 6"/>
          <p:cNvPicPr>
            <a:picLocks noChangeAspect="1"/>
          </p:cNvPicPr>
          <p:nvPr/>
        </p:nvPicPr>
        <p:blipFill>
          <a:blip r:embed="rId2"/>
          <a:srcRect b="14645"/>
          <a:stretch>
            <a:fillRect/>
          </a:stretch>
        </p:blipFill>
        <p:spPr>
          <a:xfrm>
            <a:off x="0" y="584200"/>
            <a:ext cx="12192000" cy="804333"/>
          </a:xfrm>
          <a:prstGeom prst="rect">
            <a:avLst/>
          </a:prstGeom>
          <a:ln>
            <a:noFill/>
          </a:ln>
        </p:spPr>
      </p:pic>
      <p:sp>
        <p:nvSpPr>
          <p:cNvPr id="10" name="直接连接符 9">
            <a:extLst>
              <a:ext uri="{FF2B5EF4-FFF2-40B4-BE49-F238E27FC236}">
                <a16:creationId xmlns:a16="http://schemas.microsoft.com/office/drawing/2014/main" id="{9A0B4D86-B6A6-4319-9D74-77BBE9E5D6EA}"/>
              </a:ext>
            </a:extLst>
          </p:cNvPr>
          <p:cNvSpPr>
            <a:spLocks noGrp="1"/>
          </p:cNvSpPr>
          <p:nvPr/>
        </p:nvSpPr>
        <p:spPr>
          <a:xfrm>
            <a:off x="0" y="1411819"/>
            <a:ext cx="12192000" cy="211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sp>
      <p:sp>
        <p:nvSpPr>
          <p:cNvPr id="7" name="矩形 6">
            <a:extLst>
              <a:ext uri="{FF2B5EF4-FFF2-40B4-BE49-F238E27FC236}">
                <a16:creationId xmlns:a16="http://schemas.microsoft.com/office/drawing/2014/main" id="{073E1BE0-EAE1-483E-87A3-69C453C2936E}"/>
              </a:ext>
            </a:extLst>
          </p:cNvPr>
          <p:cNvSpPr>
            <a:spLocks noGrp="1"/>
          </p:cNvSpPr>
          <p:nvPr/>
        </p:nvSpPr>
        <p:spPr>
          <a:xfrm>
            <a:off x="821267" y="584200"/>
            <a:ext cx="8652933" cy="711200"/>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3200" b="1">
              <a:solidFill>
                <a:prstClr val="white"/>
              </a:solidFill>
            </a:endParaRPr>
          </a:p>
        </p:txBody>
      </p:sp>
      <p:sp>
        <p:nvSpPr>
          <p:cNvPr id="11" name="任意多边形 10">
            <a:extLst>
              <a:ext uri="{FF2B5EF4-FFF2-40B4-BE49-F238E27FC236}">
                <a16:creationId xmlns:a16="http://schemas.microsoft.com/office/drawing/2014/main" id="{6809F24B-B5D1-48C5-A62B-0A9E1AD4D251}"/>
              </a:ext>
            </a:extLst>
          </p:cNvPr>
          <p:cNvSpPr>
            <a:spLocks noGrp="1"/>
          </p:cNvSpPr>
          <p:nvPr/>
        </p:nvSpPr>
        <p:spPr>
          <a:xfrm>
            <a:off x="2393370" y="1413933"/>
            <a:ext cx="9798631" cy="101600"/>
          </a:xfrm>
          <a:custGeom>
            <a:avLst/>
            <a:gdLst>
              <a:gd name="connsiteX0" fmla="*/ 68 w 11394"/>
              <a:gd name="connsiteY0" fmla="*/ 0 h 126"/>
              <a:gd name="connsiteX1" fmla="*/ 11394 w 11394"/>
              <a:gd name="connsiteY1" fmla="*/ 6 h 126"/>
              <a:gd name="connsiteX2" fmla="*/ 11394 w 11394"/>
              <a:gd name="connsiteY2" fmla="*/ 126 h 126"/>
              <a:gd name="connsiteX3" fmla="*/ 0 w 11394"/>
              <a:gd name="connsiteY3" fmla="*/ 126 h 126"/>
              <a:gd name="connsiteX4" fmla="*/ 68 w 11394"/>
              <a:gd name="connsiteY4" fmla="*/ 0 h 126"/>
            </a:gdLst>
            <a:ahLst/>
            <a:cxnLst/>
            <a:rect l="l" t="t" r="r" b="b"/>
            <a:pathLst>
              <a:path w="11394" h="126">
                <a:moveTo>
                  <a:pt x="68" y="0"/>
                </a:moveTo>
                <a:lnTo>
                  <a:pt x="11394" y="6"/>
                </a:lnTo>
                <a:lnTo>
                  <a:pt x="11394" y="126"/>
                </a:lnTo>
                <a:lnTo>
                  <a:pt x="0" y="126"/>
                </a:lnTo>
                <a:lnTo>
                  <a:pt x="68" y="0"/>
                </a:ln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
        <p:nvSpPr>
          <p:cNvPr id="16" name="任意多边形 15">
            <a:extLst>
              <a:ext uri="{FF2B5EF4-FFF2-40B4-BE49-F238E27FC236}">
                <a16:creationId xmlns:a16="http://schemas.microsoft.com/office/drawing/2014/main" id="{AA37E693-00A9-4A40-A608-1C6383C928CB}"/>
              </a:ext>
            </a:extLst>
          </p:cNvPr>
          <p:cNvSpPr>
            <a:spLocks noGrp="1"/>
          </p:cNvSpPr>
          <p:nvPr/>
        </p:nvSpPr>
        <p:spPr>
          <a:xfrm>
            <a:off x="-2539" y="1414739"/>
            <a:ext cx="2395908" cy="100793"/>
          </a:xfrm>
          <a:custGeom>
            <a:avLst/>
            <a:gdLst>
              <a:gd name="connsiteX0" fmla="*/ 0 w 2693"/>
              <a:gd name="connsiteY0" fmla="*/ 0 h 119"/>
              <a:gd name="connsiteX1" fmla="*/ 2693 w 2693"/>
              <a:gd name="connsiteY1" fmla="*/ 0 h 119"/>
              <a:gd name="connsiteX2" fmla="*/ 2629 w 2693"/>
              <a:gd name="connsiteY2" fmla="*/ 119 h 119"/>
              <a:gd name="connsiteX3" fmla="*/ 0 w 2693"/>
              <a:gd name="connsiteY3" fmla="*/ 119 h 119"/>
              <a:gd name="connsiteX4" fmla="*/ 0 w 2693"/>
              <a:gd name="connsiteY4" fmla="*/ 0 h 119"/>
            </a:gdLst>
            <a:ahLst/>
            <a:cxnLst/>
            <a:rect l="l" t="t" r="r" b="b"/>
            <a:pathLst>
              <a:path w="2693" h="119">
                <a:moveTo>
                  <a:pt x="0" y="0"/>
                </a:moveTo>
                <a:lnTo>
                  <a:pt x="2693" y="0"/>
                </a:lnTo>
                <a:lnTo>
                  <a:pt x="2629" y="119"/>
                </a:lnTo>
                <a:lnTo>
                  <a:pt x="0" y="119"/>
                </a:lnTo>
                <a:lnTo>
                  <a:pt x="0" y="0"/>
                </a:lnTo>
                <a:close/>
              </a:path>
            </a:pathLst>
          </a:custGeom>
          <a:solidFill>
            <a:srgbClr val="F39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3266A96-2003-4025-B2F8-B8F2F9ECB834}"/>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a:extLst>
              <a:ext uri="{FF2B5EF4-FFF2-40B4-BE49-F238E27FC236}">
                <a16:creationId xmlns:a16="http://schemas.microsoft.com/office/drawing/2014/main" id="{04983D7F-B2AC-4A42-9D2C-62EB1B677ECF}"/>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39914962-296F-427C-B8E8-7EDCE69C9B25}"/>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9F4852F6-D0EE-43FF-9758-4449F4064C7C}" type="datetimeFigureOut">
              <a:t>2026/9/28</a:t>
            </a:fld>
            <a:endParaRPr/>
          </a:p>
        </p:txBody>
      </p:sp>
      <p:sp>
        <p:nvSpPr>
          <p:cNvPr id="5" name="页脚占位符 4">
            <a:extLst>
              <a:ext uri="{FF2B5EF4-FFF2-40B4-BE49-F238E27FC236}">
                <a16:creationId xmlns:a16="http://schemas.microsoft.com/office/drawing/2014/main" id="{6E13DB23-E2DB-49F2-9F10-5147AE6EF39D}"/>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灯片编号占位符 5">
            <a:extLst>
              <a:ext uri="{FF2B5EF4-FFF2-40B4-BE49-F238E27FC236}">
                <a16:creationId xmlns:a16="http://schemas.microsoft.com/office/drawing/2014/main" id="{57432BD1-FB6C-40B0-9AA8-7ED1D01112C0}"/>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F60DD7EF-E908-4723-98EB-3DEAFF871F36}"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标题占位符 1">
            <a:extLst>
              <a:ext uri="{FF2B5EF4-FFF2-40B4-BE49-F238E27FC236}">
                <a16:creationId xmlns:a16="http://schemas.microsoft.com/office/drawing/2014/main" id="{FFA7703D-0678-4454-B923-F3F7A0E09E47}"/>
              </a:ext>
            </a:extLst>
          </p:cNvPr>
          <p:cNvSpPr>
            <a:spLocks noGrp="1"/>
          </p:cNvSpPr>
          <p:nvPr>
            <p:ph type="title"/>
          </p:nvPr>
        </p:nvSpPr>
        <p:spPr>
          <a:xfrm>
            <a:off x="838200" y="366186"/>
            <a:ext cx="10515600" cy="1325033"/>
          </a:xfrm>
          <a:prstGeom prst="rect">
            <a:avLst/>
          </a:prstGeom>
          <a:noFill/>
          <a:ln>
            <a:noFill/>
          </a:ln>
        </p:spPr>
        <p:txBody>
          <a:bodyPr vert="horz" wrap="square" lIns="65019" tIns="32509" rIns="65019" bIns="32509" anchor="ctr"/>
          <a:lstStyle/>
          <a:p>
            <a:pPr lvl="0">
              <a:buNone/>
            </a:pPr>
            <a:r>
              <a:t>单击此处编辑母版标题样式</a:t>
            </a:r>
          </a:p>
        </p:txBody>
      </p:sp>
      <p:sp>
        <p:nvSpPr>
          <p:cNvPr id="4099" name="文本占位符 2">
            <a:extLst>
              <a:ext uri="{FF2B5EF4-FFF2-40B4-BE49-F238E27FC236}">
                <a16:creationId xmlns:a16="http://schemas.microsoft.com/office/drawing/2014/main" id="{DF91456B-26C3-48E2-A393-7419A47BC1AB}"/>
              </a:ext>
            </a:extLst>
          </p:cNvPr>
          <p:cNvSpPr>
            <a:spLocks noGrp="1"/>
          </p:cNvSpPr>
          <p:nvPr>
            <p:ph type="body" idx="1"/>
          </p:nvPr>
        </p:nvSpPr>
        <p:spPr>
          <a:xfrm>
            <a:off x="838200" y="1826685"/>
            <a:ext cx="10515600" cy="4351867"/>
          </a:xfrm>
          <a:prstGeom prst="rect">
            <a:avLst/>
          </a:prstGeom>
          <a:noFill/>
          <a:ln>
            <a:noFill/>
          </a:ln>
        </p:spPr>
        <p:txBody>
          <a:bodyPr vert="horz" wrap="square" lIns="65019" tIns="32509" rIns="65019" bIns="32509" anchor="t"/>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a:extLst>
              <a:ext uri="{FF2B5EF4-FFF2-40B4-BE49-F238E27FC236}">
                <a16:creationId xmlns:a16="http://schemas.microsoft.com/office/drawing/2014/main" id="{712558CF-41BB-4DD8-8273-786F324207D5}"/>
              </a:ext>
            </a:extLst>
          </p:cNvPr>
          <p:cNvSpPr>
            <a:spLocks noGrp="1"/>
          </p:cNvSpPr>
          <p:nvPr>
            <p:ph type="dt" idx="2"/>
          </p:nvPr>
        </p:nvSpPr>
        <p:spPr>
          <a:xfrm>
            <a:off x="838200" y="6356353"/>
            <a:ext cx="2743200" cy="364067"/>
          </a:xfrm>
          <a:prstGeom prst="rect">
            <a:avLst/>
          </a:prstGeom>
        </p:spPr>
        <p:txBody>
          <a:bodyPr vert="horz" lIns="65019" tIns="32509" rIns="65019" bIns="32509" anchor="ctr"/>
          <a:lstStyle>
            <a:lvl1pPr algn="l" defTabSz="1218565">
              <a:buNone/>
              <a:defRPr sz="1200">
                <a:solidFill>
                  <a:prstClr val="black">
                    <a:tint val="75000"/>
                  </a:prstClr>
                </a:solidFill>
                <a:latin typeface="+mn-lt"/>
                <a:ea typeface="+mn-lt"/>
                <a:cs typeface="+mn-lt"/>
              </a:defRPr>
            </a:lvl1pPr>
          </a:lstStyle>
          <a:p>
            <a:pPr>
              <a:buNone/>
            </a:pPr>
            <a:fld id="{292F71EF-02F8-4FDD-93F8-D030AB7FC83F}" type="datetimeFigureOut">
              <a:t>2026/9/28</a:t>
            </a:fld>
            <a:endParaRPr/>
          </a:p>
        </p:txBody>
      </p:sp>
      <p:sp>
        <p:nvSpPr>
          <p:cNvPr id="5" name="页脚占位符 4">
            <a:extLst>
              <a:ext uri="{FF2B5EF4-FFF2-40B4-BE49-F238E27FC236}">
                <a16:creationId xmlns:a16="http://schemas.microsoft.com/office/drawing/2014/main" id="{9375D491-3100-4AF4-B449-158D8E6C5293}"/>
              </a:ext>
            </a:extLst>
          </p:cNvPr>
          <p:cNvSpPr>
            <a:spLocks noGrp="1"/>
          </p:cNvSpPr>
          <p:nvPr>
            <p:ph type="ftr" idx="3"/>
          </p:nvPr>
        </p:nvSpPr>
        <p:spPr>
          <a:xfrm>
            <a:off x="4038600" y="6356353"/>
            <a:ext cx="4114800" cy="364067"/>
          </a:xfrm>
          <a:prstGeom prst="rect">
            <a:avLst/>
          </a:prstGeom>
        </p:spPr>
        <p:txBody>
          <a:bodyPr vert="horz" lIns="65019" tIns="32509" rIns="65019" bIns="32509" anchor="ctr"/>
          <a:lstStyle>
            <a:lvl1pPr algn="ctr" defTabSz="1218565">
              <a:buNone/>
              <a:defRPr sz="1200">
                <a:solidFill>
                  <a:prstClr val="black">
                    <a:tint val="75000"/>
                  </a:prstClr>
                </a:solidFill>
                <a:latin typeface="+mn-lt"/>
                <a:ea typeface="+mn-lt"/>
                <a:cs typeface="+mn-lt"/>
              </a:defRPr>
            </a:lvl1pPr>
          </a:lstStyle>
          <a:p>
            <a:pPr>
              <a:buNone/>
            </a:pPr>
            <a:endParaRPr/>
          </a:p>
        </p:txBody>
      </p:sp>
      <p:sp>
        <p:nvSpPr>
          <p:cNvPr id="6" name="灯片编号占位符 5">
            <a:extLst>
              <a:ext uri="{FF2B5EF4-FFF2-40B4-BE49-F238E27FC236}">
                <a16:creationId xmlns:a16="http://schemas.microsoft.com/office/drawing/2014/main" id="{E3A0ED3A-25B1-4D00-AC74-A03166EB8C26}"/>
              </a:ext>
            </a:extLst>
          </p:cNvPr>
          <p:cNvSpPr>
            <a:spLocks noGrp="1"/>
          </p:cNvSpPr>
          <p:nvPr>
            <p:ph type="sldNum" idx="4"/>
          </p:nvPr>
        </p:nvSpPr>
        <p:spPr>
          <a:xfrm>
            <a:off x="8610600" y="6356353"/>
            <a:ext cx="2743200" cy="364067"/>
          </a:xfrm>
          <a:prstGeom prst="rect">
            <a:avLst/>
          </a:prstGeom>
        </p:spPr>
        <p:txBody>
          <a:bodyPr vert="horz" wrap="square" lIns="65019" tIns="32509" rIns="65019" bIns="32509" anchor="ctr"/>
          <a:lstStyle>
            <a:lvl1pPr algn="r" defTabSz="1216660">
              <a:buNone/>
              <a:defRPr sz="1200">
                <a:solidFill>
                  <a:srgbClr val="898989"/>
                </a:solidFill>
              </a:defRPr>
            </a:lvl1pPr>
          </a:lstStyle>
          <a:p>
            <a:pPr>
              <a:buNone/>
            </a:pPr>
            <a:fld id="{D728AC88-674E-4151-AFDC-B7C47BAC839D}"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865505">
        <a:lnSpc>
          <a:spcPct val="90000"/>
        </a:lnSpc>
        <a:spcBef>
          <a:spcPct val="0"/>
        </a:spcBef>
        <a:spcAft>
          <a:spcPct val="0"/>
        </a:spcAft>
        <a:buNone/>
        <a:defRPr sz="4135" kern="1200">
          <a:solidFill>
            <a:schemeClr val="tx1"/>
          </a:solidFill>
          <a:latin typeface="Calibri"/>
          <a:ea typeface="Calibri"/>
          <a:cs typeface="Calibri"/>
        </a:defRPr>
      </a:lvl1pPr>
      <a:lvl2pPr algn="l" defTabSz="865505">
        <a:lnSpc>
          <a:spcPct val="90000"/>
        </a:lnSpc>
        <a:spcBef>
          <a:spcPct val="0"/>
        </a:spcBef>
        <a:spcAft>
          <a:spcPct val="0"/>
        </a:spcAft>
        <a:buNone/>
        <a:defRPr sz="4135">
          <a:solidFill>
            <a:schemeClr val="tx1"/>
          </a:solidFill>
          <a:latin typeface="Calibri Light"/>
          <a:ea typeface="Calibri Light"/>
          <a:cs typeface="Calibri Light"/>
        </a:defRPr>
      </a:lvl2pPr>
      <a:lvl3pPr algn="l" defTabSz="865505">
        <a:lnSpc>
          <a:spcPct val="90000"/>
        </a:lnSpc>
        <a:spcBef>
          <a:spcPct val="0"/>
        </a:spcBef>
        <a:spcAft>
          <a:spcPct val="0"/>
        </a:spcAft>
        <a:buNone/>
        <a:defRPr sz="4135">
          <a:solidFill>
            <a:schemeClr val="tx1"/>
          </a:solidFill>
          <a:latin typeface="Calibri Light"/>
          <a:ea typeface="Calibri Light"/>
          <a:cs typeface="Calibri Light"/>
        </a:defRPr>
      </a:lvl3pPr>
      <a:lvl4pPr algn="l" defTabSz="865505">
        <a:lnSpc>
          <a:spcPct val="90000"/>
        </a:lnSpc>
        <a:spcBef>
          <a:spcPct val="0"/>
        </a:spcBef>
        <a:spcAft>
          <a:spcPct val="0"/>
        </a:spcAft>
        <a:buNone/>
        <a:defRPr sz="4135">
          <a:solidFill>
            <a:schemeClr val="tx1"/>
          </a:solidFill>
          <a:latin typeface="Calibri Light"/>
          <a:ea typeface="Calibri Light"/>
          <a:cs typeface="Calibri Light"/>
        </a:defRPr>
      </a:lvl4pPr>
      <a:lvl5pPr algn="l" defTabSz="865505">
        <a:lnSpc>
          <a:spcPct val="90000"/>
        </a:lnSpc>
        <a:spcBef>
          <a:spcPct val="0"/>
        </a:spcBef>
        <a:spcAft>
          <a:spcPct val="0"/>
        </a:spcAft>
        <a:buNone/>
        <a:defRPr sz="4135">
          <a:solidFill>
            <a:schemeClr val="tx1"/>
          </a:solidFill>
          <a:latin typeface="Calibri Light"/>
          <a:ea typeface="Calibri Light"/>
          <a:cs typeface="Calibri Light"/>
        </a:defRPr>
      </a:lvl5pPr>
      <a:lvl6pPr marL="609600" algn="l" defTabSz="865505">
        <a:lnSpc>
          <a:spcPct val="90000"/>
        </a:lnSpc>
        <a:spcBef>
          <a:spcPct val="0"/>
        </a:spcBef>
        <a:spcAft>
          <a:spcPct val="0"/>
        </a:spcAft>
        <a:buNone/>
        <a:defRPr sz="4135">
          <a:solidFill>
            <a:schemeClr val="tx1"/>
          </a:solidFill>
          <a:latin typeface="Calibri Light"/>
          <a:ea typeface="Calibri Light"/>
          <a:cs typeface="Calibri Light"/>
        </a:defRPr>
      </a:lvl6pPr>
      <a:lvl7pPr marL="1219200" algn="l" defTabSz="865505">
        <a:lnSpc>
          <a:spcPct val="90000"/>
        </a:lnSpc>
        <a:spcBef>
          <a:spcPct val="0"/>
        </a:spcBef>
        <a:spcAft>
          <a:spcPct val="0"/>
        </a:spcAft>
        <a:buNone/>
        <a:defRPr sz="4135">
          <a:solidFill>
            <a:schemeClr val="tx1"/>
          </a:solidFill>
          <a:latin typeface="Calibri Light"/>
          <a:ea typeface="Calibri Light"/>
          <a:cs typeface="Calibri Light"/>
        </a:defRPr>
      </a:lvl7pPr>
      <a:lvl8pPr marL="1828800" algn="l" defTabSz="865505">
        <a:lnSpc>
          <a:spcPct val="90000"/>
        </a:lnSpc>
        <a:spcBef>
          <a:spcPct val="0"/>
        </a:spcBef>
        <a:spcAft>
          <a:spcPct val="0"/>
        </a:spcAft>
        <a:buNone/>
        <a:defRPr sz="4135">
          <a:solidFill>
            <a:schemeClr val="tx1"/>
          </a:solidFill>
          <a:latin typeface="Calibri Light"/>
          <a:ea typeface="Calibri Light"/>
          <a:cs typeface="Calibri Light"/>
        </a:defRPr>
      </a:lvl8pPr>
      <a:lvl9pPr marL="2438400" algn="l" defTabSz="865505">
        <a:lnSpc>
          <a:spcPct val="90000"/>
        </a:lnSpc>
        <a:spcBef>
          <a:spcPct val="0"/>
        </a:spcBef>
        <a:spcAft>
          <a:spcPct val="0"/>
        </a:spcAft>
        <a:buNone/>
        <a:defRPr sz="4135">
          <a:solidFill>
            <a:schemeClr val="tx1"/>
          </a:solidFill>
          <a:latin typeface="Calibri Light"/>
          <a:ea typeface="Calibri Light"/>
          <a:cs typeface="Calibri Light"/>
        </a:defRPr>
      </a:lvl9pPr>
    </p:titleStyle>
    <p:bodyStyle>
      <a:lvl1pPr marL="215900" indent="-215900" algn="l" defTabSz="865505">
        <a:lnSpc>
          <a:spcPct val="90000"/>
        </a:lnSpc>
        <a:spcBef>
          <a:spcPts val="955"/>
        </a:spcBef>
        <a:spcAft>
          <a:spcPct val="0"/>
        </a:spcAft>
        <a:buFont typeface="Arial"/>
        <a:buChar char="•"/>
        <a:defRPr sz="2665" kern="1200">
          <a:solidFill>
            <a:schemeClr val="tx1"/>
          </a:solidFill>
          <a:latin typeface="+mn-lt"/>
          <a:ea typeface="+mn-lt"/>
          <a:cs typeface="+mn-lt"/>
        </a:defRPr>
      </a:lvl1pPr>
      <a:lvl2pPr marL="650240" indent="-215900" algn="l" defTabSz="865505">
        <a:lnSpc>
          <a:spcPct val="90000"/>
        </a:lnSpc>
        <a:spcBef>
          <a:spcPts val="465"/>
        </a:spcBef>
        <a:spcAft>
          <a:spcPct val="0"/>
        </a:spcAft>
        <a:buFont typeface="Arial"/>
        <a:buChar char="•"/>
        <a:defRPr sz="2265" kern="1200">
          <a:solidFill>
            <a:schemeClr val="tx1"/>
          </a:solidFill>
          <a:latin typeface="+mn-lt"/>
          <a:ea typeface="+mn-lt"/>
          <a:cs typeface="+mn-lt"/>
        </a:defRPr>
      </a:lvl2pPr>
      <a:lvl3pPr marL="1082040" indent="-215900" algn="l" defTabSz="865505">
        <a:lnSpc>
          <a:spcPct val="90000"/>
        </a:lnSpc>
        <a:spcBef>
          <a:spcPts val="465"/>
        </a:spcBef>
        <a:spcAft>
          <a:spcPct val="0"/>
        </a:spcAft>
        <a:buFont typeface="Arial"/>
        <a:buChar char="•"/>
        <a:defRPr sz="1865" kern="1200">
          <a:solidFill>
            <a:schemeClr val="tx1"/>
          </a:solidFill>
          <a:latin typeface="+mn-lt"/>
          <a:ea typeface="+mn-lt"/>
          <a:cs typeface="+mn-lt"/>
        </a:defRPr>
      </a:lvl3pPr>
      <a:lvl4pPr marL="1515745" indent="-215900" algn="l" defTabSz="865505">
        <a:lnSpc>
          <a:spcPct val="90000"/>
        </a:lnSpc>
        <a:spcBef>
          <a:spcPts val="465"/>
        </a:spcBef>
        <a:spcAft>
          <a:spcPct val="0"/>
        </a:spcAft>
        <a:buFont typeface="Arial"/>
        <a:buChar char="•"/>
        <a:defRPr sz="1735" kern="1200">
          <a:solidFill>
            <a:schemeClr val="tx1"/>
          </a:solidFill>
          <a:latin typeface="+mn-lt"/>
          <a:ea typeface="+mn-lt"/>
          <a:cs typeface="+mn-lt"/>
        </a:defRPr>
      </a:lvl4pPr>
      <a:lvl5pPr marL="1950085" indent="-215900" algn="l" defTabSz="865505">
        <a:lnSpc>
          <a:spcPct val="90000"/>
        </a:lnSpc>
        <a:spcBef>
          <a:spcPts val="465"/>
        </a:spcBef>
        <a:spcAft>
          <a:spcPct val="0"/>
        </a:spcAft>
        <a:buFont typeface="Arial"/>
        <a:buChar char="•"/>
        <a:defRPr sz="1735" kern="1200">
          <a:solidFill>
            <a:schemeClr val="tx1"/>
          </a:solidFill>
          <a:latin typeface="+mn-lt"/>
          <a:ea typeface="+mn-lt"/>
          <a:cs typeface="+mn-lt"/>
        </a:defRPr>
      </a:lvl5pPr>
      <a:lvl6pPr marL="2384425" indent="-216535" algn="l" defTabSz="866140">
        <a:lnSpc>
          <a:spcPct val="90000"/>
        </a:lnSpc>
        <a:spcBef>
          <a:spcPts val="475"/>
        </a:spcBef>
        <a:buFont typeface="Arial"/>
        <a:buChar char="•"/>
        <a:defRPr sz="1735" kern="1200">
          <a:solidFill>
            <a:schemeClr val="tx1"/>
          </a:solidFill>
          <a:latin typeface="+mn-lt"/>
          <a:ea typeface="+mn-lt"/>
          <a:cs typeface="+mn-lt"/>
        </a:defRPr>
      </a:lvl6pPr>
      <a:lvl7pPr marL="2817495" indent="-216535" algn="l" defTabSz="866140">
        <a:lnSpc>
          <a:spcPct val="90000"/>
        </a:lnSpc>
        <a:spcBef>
          <a:spcPts val="475"/>
        </a:spcBef>
        <a:buFont typeface="Arial"/>
        <a:buChar char="•"/>
        <a:defRPr sz="1735" kern="1200">
          <a:solidFill>
            <a:schemeClr val="tx1"/>
          </a:solidFill>
          <a:latin typeface="+mn-lt"/>
          <a:ea typeface="+mn-lt"/>
          <a:cs typeface="+mn-lt"/>
        </a:defRPr>
      </a:lvl7pPr>
      <a:lvl8pPr marL="3251200" indent="-216535" algn="l" defTabSz="866140">
        <a:lnSpc>
          <a:spcPct val="90000"/>
        </a:lnSpc>
        <a:spcBef>
          <a:spcPts val="475"/>
        </a:spcBef>
        <a:buFont typeface="Arial"/>
        <a:buChar char="•"/>
        <a:defRPr sz="1735" kern="1200">
          <a:solidFill>
            <a:schemeClr val="tx1"/>
          </a:solidFill>
          <a:latin typeface="+mn-lt"/>
          <a:ea typeface="+mn-lt"/>
          <a:cs typeface="+mn-lt"/>
        </a:defRPr>
      </a:lvl8pPr>
      <a:lvl9pPr marL="3684905" indent="-216535" algn="l" defTabSz="866140">
        <a:lnSpc>
          <a:spcPct val="90000"/>
        </a:lnSpc>
        <a:spcBef>
          <a:spcPts val="475"/>
        </a:spcBef>
        <a:buFont typeface="Arial"/>
        <a:buChar char="•"/>
        <a:defRPr sz="1735" kern="1200">
          <a:solidFill>
            <a:schemeClr val="tx1"/>
          </a:solidFill>
          <a:latin typeface="+mn-lt"/>
          <a:ea typeface="+mn-lt"/>
          <a:cs typeface="+mn-lt"/>
        </a:defRPr>
      </a:lvl9pPr>
    </p:bodyStyle>
    <p:otherStyle>
      <a:lvl1pPr marL="0" algn="l" defTabSz="866140">
        <a:buNone/>
        <a:defRPr sz="1735" kern="1200">
          <a:solidFill>
            <a:schemeClr val="tx1"/>
          </a:solidFill>
          <a:latin typeface="+mn-lt"/>
          <a:ea typeface="+mn-lt"/>
          <a:cs typeface="+mn-lt"/>
        </a:defRPr>
      </a:lvl1pPr>
      <a:lvl2pPr marL="433705" algn="l" defTabSz="866140">
        <a:buNone/>
        <a:defRPr sz="1735" kern="1200">
          <a:solidFill>
            <a:schemeClr val="tx1"/>
          </a:solidFill>
          <a:latin typeface="+mn-lt"/>
          <a:ea typeface="+mn-lt"/>
          <a:cs typeface="+mn-lt"/>
        </a:defRPr>
      </a:lvl2pPr>
      <a:lvl3pPr marL="866775" algn="l" defTabSz="866140">
        <a:buNone/>
        <a:defRPr sz="1735" kern="1200">
          <a:solidFill>
            <a:schemeClr val="tx1"/>
          </a:solidFill>
          <a:latin typeface="+mn-lt"/>
          <a:ea typeface="+mn-lt"/>
          <a:cs typeface="+mn-lt"/>
        </a:defRPr>
      </a:lvl3pPr>
      <a:lvl4pPr marL="1300480" algn="l" defTabSz="866140">
        <a:buNone/>
        <a:defRPr sz="1735" kern="1200">
          <a:solidFill>
            <a:schemeClr val="tx1"/>
          </a:solidFill>
          <a:latin typeface="+mn-lt"/>
          <a:ea typeface="+mn-lt"/>
          <a:cs typeface="+mn-lt"/>
        </a:defRPr>
      </a:lvl4pPr>
      <a:lvl5pPr marL="1734185" algn="l" defTabSz="866140">
        <a:buNone/>
        <a:defRPr sz="1735" kern="1200">
          <a:solidFill>
            <a:schemeClr val="tx1"/>
          </a:solidFill>
          <a:latin typeface="+mn-lt"/>
          <a:ea typeface="+mn-lt"/>
          <a:cs typeface="+mn-lt"/>
        </a:defRPr>
      </a:lvl5pPr>
      <a:lvl6pPr marL="2167255" algn="l" defTabSz="866140">
        <a:buNone/>
        <a:defRPr sz="1735" kern="1200">
          <a:solidFill>
            <a:schemeClr val="tx1"/>
          </a:solidFill>
          <a:latin typeface="+mn-lt"/>
          <a:ea typeface="+mn-lt"/>
          <a:cs typeface="+mn-lt"/>
        </a:defRPr>
      </a:lvl6pPr>
      <a:lvl7pPr marL="2600960" algn="l" defTabSz="866140">
        <a:buNone/>
        <a:defRPr sz="1735" kern="1200">
          <a:solidFill>
            <a:schemeClr val="tx1"/>
          </a:solidFill>
          <a:latin typeface="+mn-lt"/>
          <a:ea typeface="+mn-lt"/>
          <a:cs typeface="+mn-lt"/>
        </a:defRPr>
      </a:lvl7pPr>
      <a:lvl8pPr marL="3034665" algn="l" defTabSz="866140">
        <a:buNone/>
        <a:defRPr sz="1735" kern="1200">
          <a:solidFill>
            <a:schemeClr val="tx1"/>
          </a:solidFill>
          <a:latin typeface="+mn-lt"/>
          <a:ea typeface="+mn-lt"/>
          <a:cs typeface="+mn-lt"/>
        </a:defRPr>
      </a:lvl8pPr>
      <a:lvl9pPr marL="3467735" algn="l" defTabSz="866140">
        <a:buNone/>
        <a:defRPr sz="1735" kern="1200">
          <a:solidFill>
            <a:schemeClr val="tx1"/>
          </a:solidFill>
          <a:latin typeface="+mn-lt"/>
          <a:ea typeface="+mn-lt"/>
          <a:cs typeface="+mn-l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标题占位符 1">
            <a:extLst>
              <a:ext uri="{FF2B5EF4-FFF2-40B4-BE49-F238E27FC236}">
                <a16:creationId xmlns:a16="http://schemas.microsoft.com/office/drawing/2014/main" id="{2DD986D5-7C62-452D-8061-B302A09E428C}"/>
              </a:ext>
            </a:extLst>
          </p:cNvPr>
          <p:cNvSpPr>
            <a:spLocks noGrp="1"/>
          </p:cNvSpPr>
          <p:nvPr>
            <p:ph type="title"/>
          </p:nvPr>
        </p:nvSpPr>
        <p:spPr>
          <a:xfrm>
            <a:off x="838200" y="366186"/>
            <a:ext cx="10515600" cy="1325033"/>
          </a:xfrm>
          <a:prstGeom prst="rect">
            <a:avLst/>
          </a:prstGeom>
          <a:noFill/>
          <a:ln>
            <a:noFill/>
          </a:ln>
        </p:spPr>
        <p:txBody>
          <a:bodyPr vert="horz" wrap="square" lIns="65019" tIns="32509" rIns="65019" bIns="32509" anchor="ctr"/>
          <a:lstStyle/>
          <a:p>
            <a:pPr lvl="0">
              <a:buNone/>
            </a:pPr>
            <a:r>
              <a:t>单击此处编辑母版标题样式</a:t>
            </a:r>
          </a:p>
        </p:txBody>
      </p:sp>
      <p:sp>
        <p:nvSpPr>
          <p:cNvPr id="4099" name="文本占位符 2">
            <a:extLst>
              <a:ext uri="{FF2B5EF4-FFF2-40B4-BE49-F238E27FC236}">
                <a16:creationId xmlns:a16="http://schemas.microsoft.com/office/drawing/2014/main" id="{86233082-5315-4B8B-AE57-8EC41B5E3B25}"/>
              </a:ext>
            </a:extLst>
          </p:cNvPr>
          <p:cNvSpPr>
            <a:spLocks noGrp="1"/>
          </p:cNvSpPr>
          <p:nvPr>
            <p:ph type="body" idx="1"/>
          </p:nvPr>
        </p:nvSpPr>
        <p:spPr>
          <a:xfrm>
            <a:off x="838200" y="1826685"/>
            <a:ext cx="10515600" cy="4351867"/>
          </a:xfrm>
          <a:prstGeom prst="rect">
            <a:avLst/>
          </a:prstGeom>
          <a:noFill/>
          <a:ln>
            <a:noFill/>
          </a:ln>
        </p:spPr>
        <p:txBody>
          <a:bodyPr vert="horz" wrap="square" lIns="65019" tIns="32509" rIns="65019" bIns="32509" anchor="t"/>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a:extLst>
              <a:ext uri="{FF2B5EF4-FFF2-40B4-BE49-F238E27FC236}">
                <a16:creationId xmlns:a16="http://schemas.microsoft.com/office/drawing/2014/main" id="{00159EDC-FC9C-46E9-9B21-874A8A61675B}"/>
              </a:ext>
            </a:extLst>
          </p:cNvPr>
          <p:cNvSpPr>
            <a:spLocks noGrp="1"/>
          </p:cNvSpPr>
          <p:nvPr>
            <p:ph type="dt" idx="2"/>
          </p:nvPr>
        </p:nvSpPr>
        <p:spPr>
          <a:xfrm>
            <a:off x="838200" y="6356353"/>
            <a:ext cx="2743200" cy="364067"/>
          </a:xfrm>
          <a:prstGeom prst="rect">
            <a:avLst/>
          </a:prstGeom>
        </p:spPr>
        <p:txBody>
          <a:bodyPr vert="horz" lIns="65019" tIns="32509" rIns="65019" bIns="32509" anchor="ctr"/>
          <a:lstStyle>
            <a:lvl1pPr algn="l" defTabSz="1218323">
              <a:buNone/>
              <a:defRPr sz="1200">
                <a:solidFill>
                  <a:prstClr val="black">
                    <a:tint val="75000"/>
                  </a:prstClr>
                </a:solidFill>
                <a:latin typeface="+mn-lt"/>
                <a:ea typeface="+mn-lt"/>
                <a:cs typeface="+mn-lt"/>
              </a:defRPr>
            </a:lvl1pPr>
          </a:lstStyle>
          <a:p>
            <a:pPr>
              <a:buNone/>
            </a:pPr>
            <a:fld id="{292F71EF-02F8-4FDD-93F8-D030AB7FC83F}" type="datetimeFigureOut">
              <a:t>2026/9/28</a:t>
            </a:fld>
            <a:endParaRPr/>
          </a:p>
        </p:txBody>
      </p:sp>
      <p:sp>
        <p:nvSpPr>
          <p:cNvPr id="5" name="页脚占位符 4">
            <a:extLst>
              <a:ext uri="{FF2B5EF4-FFF2-40B4-BE49-F238E27FC236}">
                <a16:creationId xmlns:a16="http://schemas.microsoft.com/office/drawing/2014/main" id="{F7D6B1E0-9C14-4FFB-8B26-287FA97D068D}"/>
              </a:ext>
            </a:extLst>
          </p:cNvPr>
          <p:cNvSpPr>
            <a:spLocks noGrp="1"/>
          </p:cNvSpPr>
          <p:nvPr>
            <p:ph type="ftr" idx="3"/>
          </p:nvPr>
        </p:nvSpPr>
        <p:spPr>
          <a:xfrm>
            <a:off x="4038600" y="6356353"/>
            <a:ext cx="4114800" cy="364067"/>
          </a:xfrm>
          <a:prstGeom prst="rect">
            <a:avLst/>
          </a:prstGeom>
        </p:spPr>
        <p:txBody>
          <a:bodyPr vert="horz" lIns="65019" tIns="32509" rIns="65019" bIns="32509" anchor="ctr"/>
          <a:lstStyle>
            <a:lvl1pPr algn="ctr" defTabSz="1218323">
              <a:buNone/>
              <a:defRPr sz="1200">
                <a:solidFill>
                  <a:prstClr val="black">
                    <a:tint val="75000"/>
                  </a:prstClr>
                </a:solidFill>
                <a:latin typeface="+mn-lt"/>
                <a:ea typeface="+mn-lt"/>
                <a:cs typeface="+mn-lt"/>
              </a:defRPr>
            </a:lvl1pPr>
          </a:lstStyle>
          <a:p>
            <a:pPr>
              <a:buNone/>
            </a:pPr>
            <a:endParaRPr/>
          </a:p>
        </p:txBody>
      </p:sp>
      <p:sp>
        <p:nvSpPr>
          <p:cNvPr id="6" name="灯片编号占位符 5">
            <a:extLst>
              <a:ext uri="{FF2B5EF4-FFF2-40B4-BE49-F238E27FC236}">
                <a16:creationId xmlns:a16="http://schemas.microsoft.com/office/drawing/2014/main" id="{96171AD2-D63B-4944-8A4A-B20C7084E0B5}"/>
              </a:ext>
            </a:extLst>
          </p:cNvPr>
          <p:cNvSpPr>
            <a:spLocks noGrp="1"/>
          </p:cNvSpPr>
          <p:nvPr>
            <p:ph type="sldNum" idx="4"/>
          </p:nvPr>
        </p:nvSpPr>
        <p:spPr>
          <a:xfrm>
            <a:off x="8610600" y="6356353"/>
            <a:ext cx="2743200" cy="364067"/>
          </a:xfrm>
          <a:prstGeom prst="rect">
            <a:avLst/>
          </a:prstGeom>
        </p:spPr>
        <p:txBody>
          <a:bodyPr vert="horz" wrap="square" lIns="65019" tIns="32509" rIns="65019" bIns="32509" anchor="ctr"/>
          <a:lstStyle>
            <a:lvl1pPr algn="r" defTabSz="1216630">
              <a:buNone/>
              <a:defRPr sz="1200">
                <a:solidFill>
                  <a:srgbClr val="898989"/>
                </a:solidFill>
              </a:defRPr>
            </a:lvl1pPr>
          </a:lstStyle>
          <a:p>
            <a:pPr>
              <a:buNone/>
            </a:pPr>
            <a:fld id="{D728AC88-674E-4151-AFDC-B7C47BAC839D}" type="slidenum">
              <a:t>‹#›</a:t>
            </a:fld>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Lst>
  <p:txStyles>
    <p:titleStyle>
      <a:lvl1pPr algn="l" defTabSz="865272">
        <a:lnSpc>
          <a:spcPct val="90000"/>
        </a:lnSpc>
        <a:spcBef>
          <a:spcPct val="0"/>
        </a:spcBef>
        <a:spcAft>
          <a:spcPct val="0"/>
        </a:spcAft>
        <a:buNone/>
        <a:defRPr sz="4133" kern="1200">
          <a:solidFill>
            <a:schemeClr val="tx1"/>
          </a:solidFill>
          <a:latin typeface="Calibri"/>
          <a:ea typeface="Calibri"/>
          <a:cs typeface="Calibri"/>
        </a:defRPr>
      </a:lvl1pPr>
      <a:lvl2pPr algn="l" defTabSz="865272">
        <a:lnSpc>
          <a:spcPct val="90000"/>
        </a:lnSpc>
        <a:spcBef>
          <a:spcPct val="0"/>
        </a:spcBef>
        <a:spcAft>
          <a:spcPct val="0"/>
        </a:spcAft>
        <a:buNone/>
        <a:defRPr sz="4133">
          <a:solidFill>
            <a:schemeClr val="tx1"/>
          </a:solidFill>
          <a:latin typeface="Calibri Light"/>
          <a:ea typeface="Calibri Light"/>
          <a:cs typeface="Calibri Light"/>
        </a:defRPr>
      </a:lvl2pPr>
      <a:lvl3pPr algn="l" defTabSz="865272">
        <a:lnSpc>
          <a:spcPct val="90000"/>
        </a:lnSpc>
        <a:spcBef>
          <a:spcPct val="0"/>
        </a:spcBef>
        <a:spcAft>
          <a:spcPct val="0"/>
        </a:spcAft>
        <a:buNone/>
        <a:defRPr sz="4133">
          <a:solidFill>
            <a:schemeClr val="tx1"/>
          </a:solidFill>
          <a:latin typeface="Calibri Light"/>
          <a:ea typeface="Calibri Light"/>
          <a:cs typeface="Calibri Light"/>
        </a:defRPr>
      </a:lvl3pPr>
      <a:lvl4pPr algn="l" defTabSz="865272">
        <a:lnSpc>
          <a:spcPct val="90000"/>
        </a:lnSpc>
        <a:spcBef>
          <a:spcPct val="0"/>
        </a:spcBef>
        <a:spcAft>
          <a:spcPct val="0"/>
        </a:spcAft>
        <a:buNone/>
        <a:defRPr sz="4133">
          <a:solidFill>
            <a:schemeClr val="tx1"/>
          </a:solidFill>
          <a:latin typeface="Calibri Light"/>
          <a:ea typeface="Calibri Light"/>
          <a:cs typeface="Calibri Light"/>
        </a:defRPr>
      </a:lvl4pPr>
      <a:lvl5pPr algn="l" defTabSz="865272">
        <a:lnSpc>
          <a:spcPct val="90000"/>
        </a:lnSpc>
        <a:spcBef>
          <a:spcPct val="0"/>
        </a:spcBef>
        <a:spcAft>
          <a:spcPct val="0"/>
        </a:spcAft>
        <a:buNone/>
        <a:defRPr sz="4133">
          <a:solidFill>
            <a:schemeClr val="tx1"/>
          </a:solidFill>
          <a:latin typeface="Calibri Light"/>
          <a:ea typeface="Calibri Light"/>
          <a:cs typeface="Calibri Light"/>
        </a:defRPr>
      </a:lvl5pPr>
      <a:lvl6pPr marL="609585" algn="l" defTabSz="865272">
        <a:lnSpc>
          <a:spcPct val="90000"/>
        </a:lnSpc>
        <a:spcBef>
          <a:spcPct val="0"/>
        </a:spcBef>
        <a:spcAft>
          <a:spcPct val="0"/>
        </a:spcAft>
        <a:buNone/>
        <a:defRPr sz="4133">
          <a:solidFill>
            <a:schemeClr val="tx1"/>
          </a:solidFill>
          <a:latin typeface="Calibri Light"/>
          <a:ea typeface="Calibri Light"/>
          <a:cs typeface="Calibri Light"/>
        </a:defRPr>
      </a:lvl6pPr>
      <a:lvl7pPr marL="1219170" algn="l" defTabSz="865272">
        <a:lnSpc>
          <a:spcPct val="90000"/>
        </a:lnSpc>
        <a:spcBef>
          <a:spcPct val="0"/>
        </a:spcBef>
        <a:spcAft>
          <a:spcPct val="0"/>
        </a:spcAft>
        <a:buNone/>
        <a:defRPr sz="4133">
          <a:solidFill>
            <a:schemeClr val="tx1"/>
          </a:solidFill>
          <a:latin typeface="Calibri Light"/>
          <a:ea typeface="Calibri Light"/>
          <a:cs typeface="Calibri Light"/>
        </a:defRPr>
      </a:lvl7pPr>
      <a:lvl8pPr marL="1828754" algn="l" defTabSz="865272">
        <a:lnSpc>
          <a:spcPct val="90000"/>
        </a:lnSpc>
        <a:spcBef>
          <a:spcPct val="0"/>
        </a:spcBef>
        <a:spcAft>
          <a:spcPct val="0"/>
        </a:spcAft>
        <a:buNone/>
        <a:defRPr sz="4133">
          <a:solidFill>
            <a:schemeClr val="tx1"/>
          </a:solidFill>
          <a:latin typeface="Calibri Light"/>
          <a:ea typeface="Calibri Light"/>
          <a:cs typeface="Calibri Light"/>
        </a:defRPr>
      </a:lvl8pPr>
      <a:lvl9pPr marL="2438339" algn="l" defTabSz="865272">
        <a:lnSpc>
          <a:spcPct val="90000"/>
        </a:lnSpc>
        <a:spcBef>
          <a:spcPct val="0"/>
        </a:spcBef>
        <a:spcAft>
          <a:spcPct val="0"/>
        </a:spcAft>
        <a:buNone/>
        <a:defRPr sz="4133">
          <a:solidFill>
            <a:schemeClr val="tx1"/>
          </a:solidFill>
          <a:latin typeface="Calibri Light"/>
          <a:ea typeface="Calibri Light"/>
          <a:cs typeface="Calibri Light"/>
        </a:defRPr>
      </a:lvl9pPr>
    </p:titleStyle>
    <p:bodyStyle>
      <a:lvl1pPr marL="215895" indent="-215895" algn="l" defTabSz="865272">
        <a:lnSpc>
          <a:spcPct val="90000"/>
        </a:lnSpc>
        <a:spcBef>
          <a:spcPts val="953"/>
        </a:spcBef>
        <a:spcAft>
          <a:spcPct val="0"/>
        </a:spcAft>
        <a:buFont typeface="Arial"/>
        <a:buChar char="•"/>
        <a:defRPr sz="2667" kern="1200">
          <a:solidFill>
            <a:schemeClr val="tx1"/>
          </a:solidFill>
          <a:latin typeface="+mn-lt"/>
          <a:ea typeface="+mn-lt"/>
          <a:cs typeface="+mn-lt"/>
        </a:defRPr>
      </a:lvl1pPr>
      <a:lvl2pPr marL="650224" indent="-215895" algn="l" defTabSz="865272">
        <a:lnSpc>
          <a:spcPct val="90000"/>
        </a:lnSpc>
        <a:spcBef>
          <a:spcPts val="467"/>
        </a:spcBef>
        <a:spcAft>
          <a:spcPct val="0"/>
        </a:spcAft>
        <a:buFont typeface="Arial"/>
        <a:buChar char="•"/>
        <a:defRPr sz="2267" kern="1200">
          <a:solidFill>
            <a:schemeClr val="tx1"/>
          </a:solidFill>
          <a:latin typeface="+mn-lt"/>
          <a:ea typeface="+mn-lt"/>
          <a:cs typeface="+mn-lt"/>
        </a:defRPr>
      </a:lvl2pPr>
      <a:lvl3pPr marL="1082013" indent="-215895" algn="l" defTabSz="865272">
        <a:lnSpc>
          <a:spcPct val="90000"/>
        </a:lnSpc>
        <a:spcBef>
          <a:spcPts val="467"/>
        </a:spcBef>
        <a:spcAft>
          <a:spcPct val="0"/>
        </a:spcAft>
        <a:buFont typeface="Arial"/>
        <a:buChar char="•"/>
        <a:defRPr sz="1867" kern="1200">
          <a:solidFill>
            <a:schemeClr val="tx1"/>
          </a:solidFill>
          <a:latin typeface="+mn-lt"/>
          <a:ea typeface="+mn-lt"/>
          <a:cs typeface="+mn-lt"/>
        </a:defRPr>
      </a:lvl3pPr>
      <a:lvl4pPr marL="1515495" indent="-215895" algn="l" defTabSz="865272">
        <a:lnSpc>
          <a:spcPct val="90000"/>
        </a:lnSpc>
        <a:spcBef>
          <a:spcPts val="467"/>
        </a:spcBef>
        <a:spcAft>
          <a:spcPct val="0"/>
        </a:spcAft>
        <a:buFont typeface="Arial"/>
        <a:buChar char="•"/>
        <a:defRPr sz="1733" kern="1200">
          <a:solidFill>
            <a:schemeClr val="tx1"/>
          </a:solidFill>
          <a:latin typeface="+mn-lt"/>
          <a:ea typeface="+mn-lt"/>
          <a:cs typeface="+mn-lt"/>
        </a:defRPr>
      </a:lvl4pPr>
      <a:lvl5pPr marL="1949825" indent="-215895" algn="l" defTabSz="865272">
        <a:lnSpc>
          <a:spcPct val="90000"/>
        </a:lnSpc>
        <a:spcBef>
          <a:spcPts val="467"/>
        </a:spcBef>
        <a:spcAft>
          <a:spcPct val="0"/>
        </a:spcAft>
        <a:buFont typeface="Arial"/>
        <a:buChar char="•"/>
        <a:defRPr sz="1733" kern="1200">
          <a:solidFill>
            <a:schemeClr val="tx1"/>
          </a:solidFill>
          <a:latin typeface="+mn-lt"/>
          <a:ea typeface="+mn-lt"/>
          <a:cs typeface="+mn-lt"/>
        </a:defRPr>
      </a:lvl5pPr>
      <a:lvl6pPr marL="2384154" indent="-216741" algn="l" defTabSz="866118">
        <a:lnSpc>
          <a:spcPct val="90000"/>
        </a:lnSpc>
        <a:spcBef>
          <a:spcPts val="473"/>
        </a:spcBef>
        <a:buFont typeface="Arial"/>
        <a:buChar char="•"/>
        <a:defRPr sz="1733" kern="1200">
          <a:solidFill>
            <a:schemeClr val="tx1"/>
          </a:solidFill>
          <a:latin typeface="+mn-lt"/>
          <a:ea typeface="+mn-lt"/>
          <a:cs typeface="+mn-lt"/>
        </a:defRPr>
      </a:lvl6pPr>
      <a:lvl7pPr marL="2817636" indent="-216741" algn="l" defTabSz="866118">
        <a:lnSpc>
          <a:spcPct val="90000"/>
        </a:lnSpc>
        <a:spcBef>
          <a:spcPts val="473"/>
        </a:spcBef>
        <a:buFont typeface="Arial"/>
        <a:buChar char="•"/>
        <a:defRPr sz="1733" kern="1200">
          <a:solidFill>
            <a:schemeClr val="tx1"/>
          </a:solidFill>
          <a:latin typeface="+mn-lt"/>
          <a:ea typeface="+mn-lt"/>
          <a:cs typeface="+mn-lt"/>
        </a:defRPr>
      </a:lvl7pPr>
      <a:lvl8pPr marL="3251119" indent="-216741" algn="l" defTabSz="866118">
        <a:lnSpc>
          <a:spcPct val="90000"/>
        </a:lnSpc>
        <a:spcBef>
          <a:spcPts val="473"/>
        </a:spcBef>
        <a:buFont typeface="Arial"/>
        <a:buChar char="•"/>
        <a:defRPr sz="1733" kern="1200">
          <a:solidFill>
            <a:schemeClr val="tx1"/>
          </a:solidFill>
          <a:latin typeface="+mn-lt"/>
          <a:ea typeface="+mn-lt"/>
          <a:cs typeface="+mn-lt"/>
        </a:defRPr>
      </a:lvl8pPr>
      <a:lvl9pPr marL="3684601" indent="-216741" algn="l" defTabSz="866118">
        <a:lnSpc>
          <a:spcPct val="90000"/>
        </a:lnSpc>
        <a:spcBef>
          <a:spcPts val="473"/>
        </a:spcBef>
        <a:buFont typeface="Arial"/>
        <a:buChar char="•"/>
        <a:defRPr sz="1733" kern="1200">
          <a:solidFill>
            <a:schemeClr val="tx1"/>
          </a:solidFill>
          <a:latin typeface="+mn-lt"/>
          <a:ea typeface="+mn-lt"/>
          <a:cs typeface="+mn-lt"/>
        </a:defRPr>
      </a:lvl9pPr>
    </p:bodyStyle>
    <p:otherStyle>
      <a:lvl1pPr marL="0" algn="l" defTabSz="866118">
        <a:buNone/>
        <a:defRPr sz="1733" kern="1200">
          <a:solidFill>
            <a:schemeClr val="tx1"/>
          </a:solidFill>
          <a:latin typeface="+mn-lt"/>
          <a:ea typeface="+mn-lt"/>
          <a:cs typeface="+mn-lt"/>
        </a:defRPr>
      </a:lvl1pPr>
      <a:lvl2pPr marL="433482" algn="l" defTabSz="866118">
        <a:buNone/>
        <a:defRPr sz="1733" kern="1200">
          <a:solidFill>
            <a:schemeClr val="tx1"/>
          </a:solidFill>
          <a:latin typeface="+mn-lt"/>
          <a:ea typeface="+mn-lt"/>
          <a:cs typeface="+mn-lt"/>
        </a:defRPr>
      </a:lvl2pPr>
      <a:lvl3pPr marL="866965" algn="l" defTabSz="866118">
        <a:buNone/>
        <a:defRPr sz="1733" kern="1200">
          <a:solidFill>
            <a:schemeClr val="tx1"/>
          </a:solidFill>
          <a:latin typeface="+mn-lt"/>
          <a:ea typeface="+mn-lt"/>
          <a:cs typeface="+mn-lt"/>
        </a:defRPr>
      </a:lvl3pPr>
      <a:lvl4pPr marL="1300447" algn="l" defTabSz="866118">
        <a:buNone/>
        <a:defRPr sz="1733" kern="1200">
          <a:solidFill>
            <a:schemeClr val="tx1"/>
          </a:solidFill>
          <a:latin typeface="+mn-lt"/>
          <a:ea typeface="+mn-lt"/>
          <a:cs typeface="+mn-lt"/>
        </a:defRPr>
      </a:lvl4pPr>
      <a:lvl5pPr marL="1733930" algn="l" defTabSz="866118">
        <a:buNone/>
        <a:defRPr sz="1733" kern="1200">
          <a:solidFill>
            <a:schemeClr val="tx1"/>
          </a:solidFill>
          <a:latin typeface="+mn-lt"/>
          <a:ea typeface="+mn-lt"/>
          <a:cs typeface="+mn-lt"/>
        </a:defRPr>
      </a:lvl5pPr>
      <a:lvl6pPr marL="2167412" algn="l" defTabSz="866118">
        <a:buNone/>
        <a:defRPr sz="1733" kern="1200">
          <a:solidFill>
            <a:schemeClr val="tx1"/>
          </a:solidFill>
          <a:latin typeface="+mn-lt"/>
          <a:ea typeface="+mn-lt"/>
          <a:cs typeface="+mn-lt"/>
        </a:defRPr>
      </a:lvl6pPr>
      <a:lvl7pPr marL="2600895" algn="l" defTabSz="866118">
        <a:buNone/>
        <a:defRPr sz="1733" kern="1200">
          <a:solidFill>
            <a:schemeClr val="tx1"/>
          </a:solidFill>
          <a:latin typeface="+mn-lt"/>
          <a:ea typeface="+mn-lt"/>
          <a:cs typeface="+mn-lt"/>
        </a:defRPr>
      </a:lvl7pPr>
      <a:lvl8pPr marL="3034377" algn="l" defTabSz="866118">
        <a:buNone/>
        <a:defRPr sz="1733" kern="1200">
          <a:solidFill>
            <a:schemeClr val="tx1"/>
          </a:solidFill>
          <a:latin typeface="+mn-lt"/>
          <a:ea typeface="+mn-lt"/>
          <a:cs typeface="+mn-lt"/>
        </a:defRPr>
      </a:lvl8pPr>
      <a:lvl9pPr marL="3467860" algn="l" defTabSz="866118">
        <a:buNone/>
        <a:defRPr sz="1733"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矩形 62">
            <a:extLst>
              <a:ext uri="{FF2B5EF4-FFF2-40B4-BE49-F238E27FC236}">
                <a16:creationId xmlns:a16="http://schemas.microsoft.com/office/drawing/2014/main" id="{2AFE1FA7-4B66-4A9F-984E-BB326964C74E}"/>
              </a:ext>
            </a:extLst>
          </p:cNvPr>
          <p:cNvSpPr>
            <a:spLocks noGrp="1"/>
          </p:cNvSpPr>
          <p:nvPr/>
        </p:nvSpPr>
        <p:spPr>
          <a:xfrm>
            <a:off x="0" y="1513114"/>
            <a:ext cx="12192000" cy="2376715"/>
          </a:xfrm>
          <a:prstGeom prst="rect">
            <a:avLst/>
          </a:prstGeom>
          <a:gradFill rotWithShape="1">
            <a:gsLst>
              <a:gs pos="91000">
                <a:schemeClr val="accent1">
                  <a:lumMod val="75000"/>
                </a:schemeClr>
              </a:gs>
              <a:gs pos="25000">
                <a:srgbClr val="376DC2"/>
              </a:gs>
              <a:gs pos="0">
                <a:srgbClr val="0268FE">
                  <a:lumMod val="75000"/>
                  <a:lumOff val="25000"/>
                </a:srgbClr>
              </a:gs>
            </a:gsLst>
            <a:path path="circle">
              <a:fillToRect l="100000" b="100000"/>
            </a:path>
            <a:tileRect t="-100000" r="-100000"/>
          </a:gradFill>
          <a:ln w="12700" cmpd="sng">
            <a:noFill/>
            <a:prstDash val="solid"/>
          </a:ln>
          <a:effectLst>
            <a:outerShdw blurRad="50800" dist="38100" dir="8100000" algn="tr" rotWithShape="0">
              <a:prstClr val="black">
                <a:alpha val="40000"/>
              </a:prstClr>
            </a:outerShdw>
          </a:effectLst>
        </p:spPr>
        <p:txBody>
          <a:bodyPr anchor="ctr"/>
          <a:lstStyle/>
          <a:p>
            <a:pPr algn="ctr">
              <a:buNone/>
            </a:pPr>
            <a:endParaRPr kern="0">
              <a:solidFill>
                <a:srgbClr val="FFFFFF"/>
              </a:solidFill>
              <a:latin typeface="等线"/>
              <a:ea typeface="等线"/>
              <a:cs typeface="等线"/>
            </a:endParaRPr>
          </a:p>
        </p:txBody>
      </p:sp>
      <p:sp>
        <p:nvSpPr>
          <p:cNvPr id="15" name="标题 8">
            <a:extLst>
              <a:ext uri="{FF2B5EF4-FFF2-40B4-BE49-F238E27FC236}">
                <a16:creationId xmlns:a16="http://schemas.microsoft.com/office/drawing/2014/main" id="{453F7129-0504-4CA9-9BFA-E5B0C91D7760}"/>
              </a:ext>
            </a:extLst>
          </p:cNvPr>
          <p:cNvSpPr>
            <a:spLocks noGrp="1"/>
          </p:cNvSpPr>
          <p:nvPr/>
        </p:nvSpPr>
        <p:spPr>
          <a:xfrm>
            <a:off x="4514780" y="4695050"/>
            <a:ext cx="3283986" cy="624044"/>
          </a:xfrm>
          <a:prstGeom prst="rect">
            <a:avLst/>
          </a:prstGeom>
        </p:spPr>
        <p:txBody>
          <a:bodyPr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lvl="0">
              <a:lnSpc>
                <a:spcPct val="110000"/>
              </a:lnSpc>
              <a:spcBef>
                <a:spcPts val="0"/>
              </a:spcBef>
              <a:buNone/>
            </a:pPr>
            <a:r>
              <a:rPr sz="2400" i="0" u="none" cap="none">
                <a:ln>
                  <a:noFill/>
                </a:ln>
                <a:solidFill>
                  <a:schemeClr val="tx1"/>
                </a:solidFill>
                <a:latin typeface="汉仪文润宋韵 U"/>
                <a:ea typeface="汉仪文润宋韵 U"/>
                <a:cs typeface="汉仪文润宋韵 U"/>
              </a:rPr>
              <a:t>汇报人：魏鹏宇</a:t>
            </a:r>
          </a:p>
        </p:txBody>
      </p:sp>
      <p:sp>
        <p:nvSpPr>
          <p:cNvPr id="17" name="标题 8">
            <a:extLst>
              <a:ext uri="{FF2B5EF4-FFF2-40B4-BE49-F238E27FC236}">
                <a16:creationId xmlns:a16="http://schemas.microsoft.com/office/drawing/2014/main" id="{75A733F7-8760-4CC4-8DFD-EF4760B6CE4C}"/>
              </a:ext>
            </a:extLst>
          </p:cNvPr>
          <p:cNvSpPr>
            <a:spLocks noGrp="1"/>
          </p:cNvSpPr>
          <p:nvPr/>
        </p:nvSpPr>
        <p:spPr>
          <a:xfrm>
            <a:off x="4514780" y="5531496"/>
            <a:ext cx="3283986" cy="624044"/>
          </a:xfrm>
          <a:prstGeom prst="rect">
            <a:avLst/>
          </a:prstGeom>
        </p:spPr>
        <p:txBody>
          <a:bodyPr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a:lnSpc>
                <a:spcPct val="110000"/>
              </a:lnSpc>
              <a:spcBef>
                <a:spcPts val="0"/>
              </a:spcBef>
              <a:buNone/>
            </a:pPr>
            <a:r>
              <a:rPr sz="2000" spc="300">
                <a:solidFill>
                  <a:schemeClr val="tx1"/>
                </a:solidFill>
                <a:latin typeface="汉仪文润宋韵 U"/>
                <a:ea typeface="汉仪文润宋韵 U"/>
                <a:cs typeface="汉仪文润宋韵 U"/>
              </a:rPr>
              <a:t>2026.09.28</a:t>
            </a:r>
          </a:p>
        </p:txBody>
      </p:sp>
      <p:sp>
        <p:nvSpPr>
          <p:cNvPr id="64" name="直接连接符 63">
            <a:extLst>
              <a:ext uri="{FF2B5EF4-FFF2-40B4-BE49-F238E27FC236}">
                <a16:creationId xmlns:a16="http://schemas.microsoft.com/office/drawing/2014/main" id="{AB104E52-D31B-4F84-930E-BB68DA292DA8}"/>
              </a:ext>
            </a:extLst>
          </p:cNvPr>
          <p:cNvSpPr>
            <a:spLocks noGrp="1"/>
          </p:cNvSpPr>
          <p:nvPr/>
        </p:nvSpPr>
        <p:spPr>
          <a:xfrm>
            <a:off x="0" y="4007644"/>
            <a:ext cx="12192000" cy="0"/>
          </a:xfrm>
          <a:prstGeom prst="line">
            <a:avLst/>
          </a:prstGeom>
          <a:noFill/>
          <a:ln w="25400">
            <a:gradFill rotWithShape="1">
              <a:gsLst>
                <a:gs pos="100000">
                  <a:schemeClr val="accent1">
                    <a:lumMod val="97000"/>
                  </a:schemeClr>
                </a:gs>
                <a:gs pos="0">
                  <a:schemeClr val="accent1">
                    <a:alpha val="0"/>
                  </a:schemeClr>
                </a:gs>
              </a:gsLst>
              <a:lin ang="10800000" scaled="1"/>
              <a:tileRect/>
            </a:gradFill>
            <a:tailEnd type="none" w="med" len="sm"/>
          </a:ln>
          <a:effectLst>
            <a:outerShdw blurRad="63500" dist="50800" dir="4800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a:p>
        </p:txBody>
      </p:sp>
      <p:sp>
        <p:nvSpPr>
          <p:cNvPr id="2" name="标题 8">
            <a:extLst>
              <a:ext uri="{FF2B5EF4-FFF2-40B4-BE49-F238E27FC236}">
                <a16:creationId xmlns:a16="http://schemas.microsoft.com/office/drawing/2014/main" id="{C744971D-495E-438A-B8C9-359A6F079A77}"/>
              </a:ext>
            </a:extLst>
          </p:cNvPr>
          <p:cNvSpPr>
            <a:spLocks noGrp="1"/>
          </p:cNvSpPr>
          <p:nvPr/>
        </p:nvSpPr>
        <p:spPr>
          <a:xfrm>
            <a:off x="161706" y="1887437"/>
            <a:ext cx="11932078" cy="1613551"/>
          </a:xfrm>
          <a:prstGeom prst="rect">
            <a:avLst/>
          </a:prstGeom>
        </p:spPr>
        <p:txBody>
          <a:bodyPr wrap="square"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lvl="0" algn="ctr">
              <a:lnSpc>
                <a:spcPct val="125000"/>
              </a:lnSpc>
              <a:spcBef>
                <a:spcPts val="0"/>
              </a:spcBef>
              <a:buNone/>
              <a:defRPr sz="3750" b="1">
                <a:solidFill>
                  <a:srgbClr val="FFFFFF"/>
                </a:solidFill>
                <a:latin typeface="汉仪文润宋韵 U"/>
                <a:ea typeface="汉仪文润宋韵 U"/>
                <a:cs typeface="汉仪文润宋韵 U"/>
              </a:defRPr>
            </a:pPr>
            <a:r>
              <a:rPr sz="3600" i="0" u="none" cap="none" spc="0">
                <a:ln>
                  <a:noFill/>
                </a:ln>
                <a:solidFill>
                  <a:srgbClr val="FFFFFF"/>
                </a:solidFill>
                <a:latin typeface="汉仪文润宋韵 U"/>
                <a:ea typeface="汉仪文润宋韵 U"/>
                <a:cs typeface="汉仪文润宋韵 U"/>
              </a:rPr>
              <a:t>三参数 Weibull参数估计方法</a:t>
            </a:r>
          </a:p>
          <a:p>
            <a:pPr lvl="0" algn="ctr">
              <a:lnSpc>
                <a:spcPct val="125000"/>
              </a:lnSpc>
              <a:spcBef>
                <a:spcPts val="0"/>
              </a:spcBef>
              <a:buNone/>
              <a:defRPr sz="3750" b="1">
                <a:solidFill>
                  <a:srgbClr val="FFFFFF"/>
                </a:solidFill>
                <a:latin typeface="汉仪文润宋韵 U"/>
                <a:ea typeface="汉仪文润宋韵 U"/>
                <a:cs typeface="汉仪文润宋韵 U"/>
              </a:defRPr>
            </a:pPr>
            <a:r>
              <a:rPr sz="3600">
                <a:solidFill>
                  <a:srgbClr val="FFFFFF"/>
                </a:solidFill>
                <a:latin typeface="汉仪文润宋韵 U"/>
                <a:ea typeface="汉仪文润宋韵 U"/>
                <a:cs typeface="汉仪文润宋韵 U"/>
              </a:rPr>
              <a:t>的</a:t>
            </a:r>
            <a:r>
              <a:rPr sz="3600">
                <a:solidFill>
                  <a:schemeClr val="accent6">
                    <a:lumMod val="20000"/>
                    <a:lumOff val="80000"/>
                  </a:schemeClr>
                </a:solidFill>
                <a:latin typeface="汉仪文润宋韵 U"/>
                <a:ea typeface="汉仪文润宋韵 U"/>
                <a:cs typeface="汉仪文润宋韵 U"/>
              </a:rPr>
              <a:t>比较对象选择</a:t>
            </a:r>
            <a:endParaRPr sz="3600" i="0" u="none" cap="none" spc="0">
              <a:ln>
                <a:noFill/>
              </a:ln>
              <a:solidFill>
                <a:schemeClr val="accent6">
                  <a:lumMod val="20000"/>
                  <a:lumOff val="80000"/>
                </a:schemeClr>
              </a:solidFill>
              <a:latin typeface="汉仪文润宋韵 U"/>
              <a:ea typeface="汉仪文润宋韵 U"/>
              <a:cs typeface="汉仪文润宋韵 U"/>
            </a:endParaRPr>
          </a:p>
        </p:txBody>
      </p:sp>
    </p:spTree>
    <p:extLst>
      <p:ext uri="{BB962C8B-B14F-4D97-AF65-F5344CB8AC3E}">
        <p14:creationId xmlns:p14="http://schemas.microsoft.com/office/powerpoint/2010/main" val="898627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研究动机与调研问题</a:t>
            </a: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参数估计方法调研</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00</a:t>
            </a:r>
          </a:p>
        </p:txBody>
      </p:sp>
      <p:sp>
        <p:nvSpPr>
          <p:cNvPr id="25" name="文本框 24">
            <a:extLst>
              <a:ext uri="{FF2B5EF4-FFF2-40B4-BE49-F238E27FC236}">
                <a16:creationId xmlns:a16="http://schemas.microsoft.com/office/drawing/2014/main" id="{7A6D4C79-2127-CEDB-F0C3-D36F22026B6E}"/>
              </a:ext>
            </a:extLst>
          </p:cNvPr>
          <p:cNvSpPr>
            <a:spLocks noGrp="1"/>
          </p:cNvSpPr>
          <p:nvPr/>
        </p:nvSpPr>
        <p:spPr>
          <a:xfrm>
            <a:off x="622300" y="4013200"/>
            <a:ext cx="10922000" cy="2451100"/>
          </a:xfrm>
          <a:prstGeom prst="rect">
            <a:avLst/>
          </a:prstGeom>
          <a:noFill/>
        </p:spPr>
        <p:txBody>
          <a:bodyPr wrap="square" lIns="0" tIns="0" rIns="0" bIns="0">
            <a:noAutofit/>
          </a:bodyPr>
          <a:lstStyle/>
          <a:p>
            <a:pPr>
              <a:lnSpc>
                <a:spcPts val="2500"/>
              </a:lnSpc>
              <a:spcAft>
                <a:spcPts val="1300"/>
              </a:spcAft>
              <a:buNone/>
            </a:pPr>
            <a:r>
              <a:rPr sz="2000" b="1">
                <a:solidFill>
                  <a:srgbClr val="2F6096"/>
                </a:solidFill>
                <a:latin typeface="Microsoft YaHei"/>
                <a:ea typeface="Microsoft YaHei"/>
                <a:cs typeface="Microsoft YaHei"/>
              </a:rPr>
              <a:t>调研要回答的问题</a:t>
            </a:r>
          </a:p>
          <a:p>
            <a:pPr>
              <a:lnSpc>
                <a:spcPts val="2500"/>
              </a:lnSpc>
              <a:spcAft>
                <a:spcPts val="600"/>
              </a:spcAft>
              <a:buNone/>
            </a:pPr>
            <a:r>
              <a:rPr sz="1900">
                <a:solidFill>
                  <a:srgbClr val="000000"/>
                </a:solidFill>
                <a:latin typeface="Microsoft YaHei"/>
                <a:ea typeface="Microsoft YaHei"/>
                <a:cs typeface="Microsoft YaHei"/>
              </a:rPr>
              <a:t>1. 经典方法有哪些，主要区别是什么？</a:t>
            </a:r>
          </a:p>
          <a:p>
            <a:pPr>
              <a:lnSpc>
                <a:spcPts val="2500"/>
              </a:lnSpc>
              <a:spcAft>
                <a:spcPts val="600"/>
              </a:spcAft>
              <a:buNone/>
            </a:pPr>
            <a:r>
              <a:rPr sz="1900">
                <a:solidFill>
                  <a:srgbClr val="000000"/>
                </a:solidFill>
                <a:latin typeface="Microsoft YaHei"/>
                <a:ea typeface="Microsoft YaHei"/>
                <a:cs typeface="Microsoft YaHei"/>
              </a:rPr>
              <a:t>2. 谁提出、谁改进？改进针对什么问题？</a:t>
            </a:r>
          </a:p>
          <a:p>
            <a:pPr>
              <a:lnSpc>
                <a:spcPts val="2500"/>
              </a:lnSpc>
              <a:spcAft>
                <a:spcPts val="600"/>
              </a:spcAft>
              <a:buNone/>
            </a:pPr>
            <a:r>
              <a:rPr sz="1900">
                <a:solidFill>
                  <a:srgbClr val="000000"/>
                </a:solidFill>
                <a:latin typeface="Microsoft YaHei"/>
                <a:ea typeface="Microsoft YaHei"/>
                <a:cs typeface="Microsoft YaHei"/>
              </a:rPr>
              <a:t>3. 近10—20年有哪些值得纳入比较的新方法？</a:t>
            </a:r>
          </a:p>
          <a:p>
            <a:pPr>
              <a:lnSpc>
                <a:spcPts val="2500"/>
              </a:lnSpc>
              <a:spcAft>
                <a:spcPts val="600"/>
              </a:spcAft>
              <a:buNone/>
            </a:pPr>
            <a:r>
              <a:rPr sz="1900">
                <a:solidFill>
                  <a:srgbClr val="000000"/>
                </a:solidFill>
                <a:latin typeface="Microsoft YaHei"/>
                <a:ea typeface="Microsoft YaHei"/>
                <a:cs typeface="Microsoft YaHei"/>
              </a:rPr>
              <a:t>4. 已有研究与谁比较，用什么数据和指标评价？</a:t>
            </a:r>
          </a:p>
          <a:p>
            <a:pPr>
              <a:lnSpc>
                <a:spcPts val="2500"/>
              </a:lnSpc>
              <a:spcAft>
                <a:spcPts val="600"/>
              </a:spcAft>
              <a:buNone/>
            </a:pPr>
            <a:r>
              <a:rPr sz="1900">
                <a:solidFill>
                  <a:srgbClr val="000000"/>
                </a:solidFill>
                <a:latin typeface="Microsoft YaHei"/>
                <a:ea typeface="Microsoft YaHei"/>
                <a:cs typeface="Microsoft YaHei"/>
              </a:rPr>
              <a:t>5. 应选哪些对照、采用哪个版本，如何在论文中引用？</a:t>
            </a:r>
          </a:p>
        </p:txBody>
      </p:sp>
      <p:sp>
        <p:nvSpPr>
          <p:cNvPr id="26" name="箭头: 上 41">
            <a:extLst>
              <a:ext uri="{FF2B5EF4-FFF2-40B4-BE49-F238E27FC236}">
                <a16:creationId xmlns:a16="http://schemas.microsoft.com/office/drawing/2014/main" id="{CF1CF523-BC6A-C3B3-5CA1-09425B8690A1}"/>
              </a:ext>
            </a:extLst>
          </p:cNvPr>
          <p:cNvSpPr>
            <a:spLocks noGrp="1"/>
          </p:cNvSpPr>
          <p:nvPr/>
        </p:nvSpPr>
        <p:spPr>
          <a:xfrm rot="10800000">
            <a:off x="316329" y="3110081"/>
            <a:ext cx="1559360" cy="748606"/>
          </a:xfrm>
          <a:custGeom>
            <a:avLst/>
            <a:gdLst>
              <a:gd name="connsiteX0" fmla="*/ 0 w 1981200"/>
              <a:gd name="connsiteY0" fmla="*/ 1203955 h 4363121"/>
              <a:gd name="connsiteX1" fmla="*/ 990600 w 1981200"/>
              <a:gd name="connsiteY1" fmla="*/ 0 h 4363121"/>
              <a:gd name="connsiteX2" fmla="*/ 1981200 w 1981200"/>
              <a:gd name="connsiteY2" fmla="*/ 1203955 h 4363121"/>
              <a:gd name="connsiteX3" fmla="*/ 1485900 w 1981200"/>
              <a:gd name="connsiteY3" fmla="*/ 1203955 h 4363121"/>
              <a:gd name="connsiteX4" fmla="*/ 1485900 w 1981200"/>
              <a:gd name="connsiteY4" fmla="*/ 4363121 h 4363121"/>
              <a:gd name="connsiteX5" fmla="*/ 495300 w 1981200"/>
              <a:gd name="connsiteY5" fmla="*/ 4363121 h 4363121"/>
              <a:gd name="connsiteX6" fmla="*/ 495300 w 1981200"/>
              <a:gd name="connsiteY6" fmla="*/ 1203955 h 4363121"/>
              <a:gd name="connsiteX7" fmla="*/ 0 w 1981200"/>
              <a:gd name="connsiteY7" fmla="*/ 1203955 h 4363121"/>
              <a:gd name="connsiteX0-1" fmla="*/ 586740 w 2567940"/>
              <a:gd name="connsiteY0-2" fmla="*/ 1203955 h 4363121"/>
              <a:gd name="connsiteX1-3" fmla="*/ 1577340 w 2567940"/>
              <a:gd name="connsiteY1-4" fmla="*/ 0 h 4363121"/>
              <a:gd name="connsiteX2-5" fmla="*/ 2567940 w 2567940"/>
              <a:gd name="connsiteY2-6" fmla="*/ 1203955 h 4363121"/>
              <a:gd name="connsiteX3-7" fmla="*/ 2072640 w 2567940"/>
              <a:gd name="connsiteY3-8" fmla="*/ 1203955 h 4363121"/>
              <a:gd name="connsiteX4-9" fmla="*/ 2072640 w 2567940"/>
              <a:gd name="connsiteY4-10" fmla="*/ 4363121 h 4363121"/>
              <a:gd name="connsiteX5-11" fmla="*/ 0 w 2567940"/>
              <a:gd name="connsiteY5-12" fmla="*/ 4347881 h 4363121"/>
              <a:gd name="connsiteX6-13" fmla="*/ 1082040 w 2567940"/>
              <a:gd name="connsiteY6-14" fmla="*/ 1203955 h 4363121"/>
              <a:gd name="connsiteX7-15" fmla="*/ 586740 w 2567940"/>
              <a:gd name="connsiteY7-16" fmla="*/ 1203955 h 4363121"/>
              <a:gd name="connsiteX0-17" fmla="*/ 586740 w 2865120"/>
              <a:gd name="connsiteY0-18" fmla="*/ 1203955 h 4347881"/>
              <a:gd name="connsiteX1-19" fmla="*/ 1577340 w 2865120"/>
              <a:gd name="connsiteY1-20" fmla="*/ 0 h 4347881"/>
              <a:gd name="connsiteX2-21" fmla="*/ 2567940 w 2865120"/>
              <a:gd name="connsiteY2-22" fmla="*/ 1203955 h 4347881"/>
              <a:gd name="connsiteX3-23" fmla="*/ 2072640 w 2865120"/>
              <a:gd name="connsiteY3-24" fmla="*/ 1203955 h 4347881"/>
              <a:gd name="connsiteX4-25" fmla="*/ 2865120 w 2865120"/>
              <a:gd name="connsiteY4-26" fmla="*/ 4332641 h 4347881"/>
              <a:gd name="connsiteX5-27" fmla="*/ 0 w 2865120"/>
              <a:gd name="connsiteY5-28" fmla="*/ 4347881 h 4347881"/>
              <a:gd name="connsiteX6-29" fmla="*/ 1082040 w 2865120"/>
              <a:gd name="connsiteY6-30" fmla="*/ 1203955 h 4347881"/>
              <a:gd name="connsiteX7-31" fmla="*/ 586740 w 2865120"/>
              <a:gd name="connsiteY7-32" fmla="*/ 1203955 h 4347881"/>
              <a:gd name="connsiteX0-33" fmla="*/ 586740 w 3017520"/>
              <a:gd name="connsiteY0-34" fmla="*/ 1203955 h 4347881"/>
              <a:gd name="connsiteX1-35" fmla="*/ 1577340 w 3017520"/>
              <a:gd name="connsiteY1-36" fmla="*/ 0 h 4347881"/>
              <a:gd name="connsiteX2-37" fmla="*/ 2567940 w 3017520"/>
              <a:gd name="connsiteY2-38" fmla="*/ 1203955 h 4347881"/>
              <a:gd name="connsiteX3-39" fmla="*/ 2072640 w 3017520"/>
              <a:gd name="connsiteY3-40" fmla="*/ 1203955 h 4347881"/>
              <a:gd name="connsiteX4-41" fmla="*/ 3017520 w 3017520"/>
              <a:gd name="connsiteY4-42" fmla="*/ 4347881 h 4347881"/>
              <a:gd name="connsiteX5-43" fmla="*/ 0 w 3017520"/>
              <a:gd name="connsiteY5-44" fmla="*/ 4347881 h 4347881"/>
              <a:gd name="connsiteX6-45" fmla="*/ 1082040 w 3017520"/>
              <a:gd name="connsiteY6-46" fmla="*/ 1203955 h 4347881"/>
              <a:gd name="connsiteX7-47" fmla="*/ 586740 w 3017520"/>
              <a:gd name="connsiteY7-48" fmla="*/ 1203955 h 4347881"/>
              <a:gd name="connsiteX0-49" fmla="*/ 586740 w 3056849"/>
              <a:gd name="connsiteY0-50" fmla="*/ 1203955 h 4357713"/>
              <a:gd name="connsiteX1-51" fmla="*/ 1577340 w 3056849"/>
              <a:gd name="connsiteY1-52" fmla="*/ 0 h 4357713"/>
              <a:gd name="connsiteX2-53" fmla="*/ 2567940 w 3056849"/>
              <a:gd name="connsiteY2-54" fmla="*/ 1203955 h 4357713"/>
              <a:gd name="connsiteX3-55" fmla="*/ 2072640 w 3056849"/>
              <a:gd name="connsiteY3-56" fmla="*/ 1203955 h 4357713"/>
              <a:gd name="connsiteX4-57" fmla="*/ 3056849 w 3056849"/>
              <a:gd name="connsiteY4-58" fmla="*/ 4357713 h 4357713"/>
              <a:gd name="connsiteX5-59" fmla="*/ 0 w 3056849"/>
              <a:gd name="connsiteY5-60" fmla="*/ 4347881 h 4357713"/>
              <a:gd name="connsiteX6-61" fmla="*/ 1082040 w 3056849"/>
              <a:gd name="connsiteY6-62" fmla="*/ 1203955 h 4357713"/>
              <a:gd name="connsiteX7-63" fmla="*/ 586740 w 3056849"/>
              <a:gd name="connsiteY7-64" fmla="*/ 1203955 h 4357713"/>
              <a:gd name="connsiteX0-65" fmla="*/ 586740 w 3047017"/>
              <a:gd name="connsiteY0-66" fmla="*/ 1203955 h 4347881"/>
              <a:gd name="connsiteX1-67" fmla="*/ 1577340 w 3047017"/>
              <a:gd name="connsiteY1-68" fmla="*/ 0 h 4347881"/>
              <a:gd name="connsiteX2-69" fmla="*/ 2567940 w 3047017"/>
              <a:gd name="connsiteY2-70" fmla="*/ 1203955 h 4347881"/>
              <a:gd name="connsiteX3-71" fmla="*/ 2072640 w 3047017"/>
              <a:gd name="connsiteY3-72" fmla="*/ 1203955 h 4347881"/>
              <a:gd name="connsiteX4-73" fmla="*/ 3047017 w 3047017"/>
              <a:gd name="connsiteY4-74" fmla="*/ 4328216 h 4347881"/>
              <a:gd name="connsiteX5-75" fmla="*/ 0 w 3047017"/>
              <a:gd name="connsiteY5-76" fmla="*/ 4347881 h 4347881"/>
              <a:gd name="connsiteX6-77" fmla="*/ 1082040 w 3047017"/>
              <a:gd name="connsiteY6-78" fmla="*/ 1203955 h 4347881"/>
              <a:gd name="connsiteX7-79" fmla="*/ 586740 w 3047017"/>
              <a:gd name="connsiteY7-80" fmla="*/ 1203955 h 4347881"/>
              <a:gd name="connsiteX0-81" fmla="*/ 586740 w 3086346"/>
              <a:gd name="connsiteY0-82" fmla="*/ 1203955 h 4367545"/>
              <a:gd name="connsiteX1-83" fmla="*/ 1577340 w 3086346"/>
              <a:gd name="connsiteY1-84" fmla="*/ 0 h 4367545"/>
              <a:gd name="connsiteX2-85" fmla="*/ 2567940 w 3086346"/>
              <a:gd name="connsiteY2-86" fmla="*/ 1203955 h 4367545"/>
              <a:gd name="connsiteX3-87" fmla="*/ 2072640 w 3086346"/>
              <a:gd name="connsiteY3-88" fmla="*/ 1203955 h 4367545"/>
              <a:gd name="connsiteX4-89" fmla="*/ 3086346 w 3086346"/>
              <a:gd name="connsiteY4-90" fmla="*/ 4367545 h 4367545"/>
              <a:gd name="connsiteX5-91" fmla="*/ 0 w 3086346"/>
              <a:gd name="connsiteY5-92" fmla="*/ 4347881 h 4367545"/>
              <a:gd name="connsiteX6-93" fmla="*/ 1082040 w 3086346"/>
              <a:gd name="connsiteY6-94" fmla="*/ 1203955 h 4367545"/>
              <a:gd name="connsiteX7-95" fmla="*/ 586740 w 3086346"/>
              <a:gd name="connsiteY7-96" fmla="*/ 1203955 h 4367545"/>
              <a:gd name="connsiteX0-97" fmla="*/ 586740 w 3096179"/>
              <a:gd name="connsiteY0-98" fmla="*/ 1203955 h 4347881"/>
              <a:gd name="connsiteX1-99" fmla="*/ 1577340 w 3096179"/>
              <a:gd name="connsiteY1-100" fmla="*/ 0 h 4347881"/>
              <a:gd name="connsiteX2-101" fmla="*/ 2567940 w 3096179"/>
              <a:gd name="connsiteY2-102" fmla="*/ 1203955 h 4347881"/>
              <a:gd name="connsiteX3-103" fmla="*/ 2072640 w 3096179"/>
              <a:gd name="connsiteY3-104" fmla="*/ 1203955 h 4347881"/>
              <a:gd name="connsiteX4-105" fmla="*/ 3096179 w 3096179"/>
              <a:gd name="connsiteY4-106" fmla="*/ 4308552 h 4347881"/>
              <a:gd name="connsiteX5-107" fmla="*/ 0 w 3096179"/>
              <a:gd name="connsiteY5-108" fmla="*/ 4347881 h 4347881"/>
              <a:gd name="connsiteX6-109" fmla="*/ 1082040 w 3096179"/>
              <a:gd name="connsiteY6-110" fmla="*/ 1203955 h 4347881"/>
              <a:gd name="connsiteX7-111" fmla="*/ 586740 w 3096179"/>
              <a:gd name="connsiteY7-112" fmla="*/ 1203955 h 4347881"/>
              <a:gd name="connsiteX0-113" fmla="*/ 586740 w 3096179"/>
              <a:gd name="connsiteY0-114" fmla="*/ 1203955 h 4367545"/>
              <a:gd name="connsiteX1-115" fmla="*/ 1577340 w 3096179"/>
              <a:gd name="connsiteY1-116" fmla="*/ 0 h 4367545"/>
              <a:gd name="connsiteX2-117" fmla="*/ 2567940 w 3096179"/>
              <a:gd name="connsiteY2-118" fmla="*/ 1203955 h 4367545"/>
              <a:gd name="connsiteX3-119" fmla="*/ 2072640 w 3096179"/>
              <a:gd name="connsiteY3-120" fmla="*/ 1203955 h 4367545"/>
              <a:gd name="connsiteX4-121" fmla="*/ 3096179 w 3096179"/>
              <a:gd name="connsiteY4-122" fmla="*/ 4367545 h 4367545"/>
              <a:gd name="connsiteX5-123" fmla="*/ 0 w 3096179"/>
              <a:gd name="connsiteY5-124" fmla="*/ 4347881 h 4367545"/>
              <a:gd name="connsiteX6-125" fmla="*/ 1082040 w 3096179"/>
              <a:gd name="connsiteY6-126" fmla="*/ 1203955 h 4367545"/>
              <a:gd name="connsiteX7-127" fmla="*/ 586740 w 3096179"/>
              <a:gd name="connsiteY7-128" fmla="*/ 1203955 h 4367545"/>
              <a:gd name="connsiteX0-129" fmla="*/ 586740 w 3096179"/>
              <a:gd name="connsiteY0-130" fmla="*/ 1203955 h 4347881"/>
              <a:gd name="connsiteX1-131" fmla="*/ 1577340 w 3096179"/>
              <a:gd name="connsiteY1-132" fmla="*/ 0 h 4347881"/>
              <a:gd name="connsiteX2-133" fmla="*/ 2567940 w 3096179"/>
              <a:gd name="connsiteY2-134" fmla="*/ 1203955 h 4347881"/>
              <a:gd name="connsiteX3-135" fmla="*/ 2072640 w 3096179"/>
              <a:gd name="connsiteY3-136" fmla="*/ 1203955 h 4347881"/>
              <a:gd name="connsiteX4-137" fmla="*/ 3096179 w 3096179"/>
              <a:gd name="connsiteY4-138" fmla="*/ 4338049 h 4347881"/>
              <a:gd name="connsiteX5-139" fmla="*/ 0 w 3096179"/>
              <a:gd name="connsiteY5-140" fmla="*/ 4347881 h 4347881"/>
              <a:gd name="connsiteX6-141" fmla="*/ 1082040 w 3096179"/>
              <a:gd name="connsiteY6-142" fmla="*/ 1203955 h 4347881"/>
              <a:gd name="connsiteX7-143" fmla="*/ 586740 w 3096179"/>
              <a:gd name="connsiteY7-144" fmla="*/ 1203955 h 4347881"/>
              <a:gd name="connsiteX0-145" fmla="*/ 586740 w 3096179"/>
              <a:gd name="connsiteY0-146" fmla="*/ 1203955 h 4367545"/>
              <a:gd name="connsiteX1-147" fmla="*/ 1577340 w 3096179"/>
              <a:gd name="connsiteY1-148" fmla="*/ 0 h 4367545"/>
              <a:gd name="connsiteX2-149" fmla="*/ 2567940 w 3096179"/>
              <a:gd name="connsiteY2-150" fmla="*/ 1203955 h 4367545"/>
              <a:gd name="connsiteX3-151" fmla="*/ 2072640 w 3096179"/>
              <a:gd name="connsiteY3-152" fmla="*/ 1203955 h 4367545"/>
              <a:gd name="connsiteX4-153" fmla="*/ 3096179 w 3096179"/>
              <a:gd name="connsiteY4-154" fmla="*/ 4367545 h 4367545"/>
              <a:gd name="connsiteX5-155" fmla="*/ 0 w 3096179"/>
              <a:gd name="connsiteY5-156" fmla="*/ 4347881 h 4367545"/>
              <a:gd name="connsiteX6-157" fmla="*/ 1082040 w 3096179"/>
              <a:gd name="connsiteY6-158" fmla="*/ 1203955 h 4367545"/>
              <a:gd name="connsiteX7-159" fmla="*/ 586740 w 3096179"/>
              <a:gd name="connsiteY7-160" fmla="*/ 1203955 h 4367545"/>
              <a:gd name="connsiteX0-161" fmla="*/ 2720340 w 5229779"/>
              <a:gd name="connsiteY0-162" fmla="*/ 1203955 h 4367545"/>
              <a:gd name="connsiteX1-163" fmla="*/ 3710940 w 5229779"/>
              <a:gd name="connsiteY1-164" fmla="*/ 0 h 4367545"/>
              <a:gd name="connsiteX2-165" fmla="*/ 4701540 w 5229779"/>
              <a:gd name="connsiteY2-166" fmla="*/ 1203955 h 4367545"/>
              <a:gd name="connsiteX3-167" fmla="*/ 4206240 w 5229779"/>
              <a:gd name="connsiteY3-168" fmla="*/ 1203955 h 4367545"/>
              <a:gd name="connsiteX4-169" fmla="*/ 5229779 w 5229779"/>
              <a:gd name="connsiteY4-170" fmla="*/ 4367545 h 4367545"/>
              <a:gd name="connsiteX5-171" fmla="*/ 0 w 5229779"/>
              <a:gd name="connsiteY5-172" fmla="*/ 4073561 h 4367545"/>
              <a:gd name="connsiteX6-173" fmla="*/ 3215640 w 5229779"/>
              <a:gd name="connsiteY6-174" fmla="*/ 1203955 h 4367545"/>
              <a:gd name="connsiteX7-175" fmla="*/ 2720340 w 5229779"/>
              <a:gd name="connsiteY7-176" fmla="*/ 1203955 h 4367545"/>
              <a:gd name="connsiteX0-177" fmla="*/ 2720340 w 7561499"/>
              <a:gd name="connsiteY0-178" fmla="*/ 1203955 h 4073561"/>
              <a:gd name="connsiteX1-179" fmla="*/ 3710940 w 7561499"/>
              <a:gd name="connsiteY1-180" fmla="*/ 0 h 4073561"/>
              <a:gd name="connsiteX2-181" fmla="*/ 4701540 w 7561499"/>
              <a:gd name="connsiteY2-182" fmla="*/ 1203955 h 4073561"/>
              <a:gd name="connsiteX3-183" fmla="*/ 4206240 w 7561499"/>
              <a:gd name="connsiteY3-184" fmla="*/ 1203955 h 4073561"/>
              <a:gd name="connsiteX4-185" fmla="*/ 7561499 w 7561499"/>
              <a:gd name="connsiteY4-186" fmla="*/ 4032265 h 4073561"/>
              <a:gd name="connsiteX5-187" fmla="*/ 0 w 7561499"/>
              <a:gd name="connsiteY5-188" fmla="*/ 4073561 h 4073561"/>
              <a:gd name="connsiteX6-189" fmla="*/ 3215640 w 7561499"/>
              <a:gd name="connsiteY6-190" fmla="*/ 1203955 h 4073561"/>
              <a:gd name="connsiteX7-191" fmla="*/ 2720340 w 7561499"/>
              <a:gd name="connsiteY7-192" fmla="*/ 1203955 h 4073561"/>
              <a:gd name="connsiteX0-193" fmla="*/ 2887980 w 7729139"/>
              <a:gd name="connsiteY0-194" fmla="*/ 1203955 h 4032265"/>
              <a:gd name="connsiteX1-195" fmla="*/ 3878580 w 7729139"/>
              <a:gd name="connsiteY1-196" fmla="*/ 0 h 4032265"/>
              <a:gd name="connsiteX2-197" fmla="*/ 4869180 w 7729139"/>
              <a:gd name="connsiteY2-198" fmla="*/ 1203955 h 4032265"/>
              <a:gd name="connsiteX3-199" fmla="*/ 4373880 w 7729139"/>
              <a:gd name="connsiteY3-200" fmla="*/ 1203955 h 4032265"/>
              <a:gd name="connsiteX4-201" fmla="*/ 7729139 w 7729139"/>
              <a:gd name="connsiteY4-202" fmla="*/ 4032265 h 4032265"/>
              <a:gd name="connsiteX5-203" fmla="*/ 0 w 7729139"/>
              <a:gd name="connsiteY5-204" fmla="*/ 4027841 h 4032265"/>
              <a:gd name="connsiteX6-205" fmla="*/ 3383280 w 7729139"/>
              <a:gd name="connsiteY6-206" fmla="*/ 1203955 h 4032265"/>
              <a:gd name="connsiteX7-207" fmla="*/ 2887980 w 7729139"/>
              <a:gd name="connsiteY7-208" fmla="*/ 1203955 h 4032265"/>
              <a:gd name="connsiteX0-209" fmla="*/ 2887980 w 7729139"/>
              <a:gd name="connsiteY0-210" fmla="*/ 1203955 h 4032265"/>
              <a:gd name="connsiteX1-211" fmla="*/ 3878580 w 7729139"/>
              <a:gd name="connsiteY1-212" fmla="*/ 0 h 4032265"/>
              <a:gd name="connsiteX2-213" fmla="*/ 4869180 w 7729139"/>
              <a:gd name="connsiteY2-214" fmla="*/ 1203955 h 4032265"/>
              <a:gd name="connsiteX3-215" fmla="*/ 4373880 w 7729139"/>
              <a:gd name="connsiteY3-216" fmla="*/ 1203955 h 4032265"/>
              <a:gd name="connsiteX4-217" fmla="*/ 7729139 w 7729139"/>
              <a:gd name="connsiteY4-218" fmla="*/ 4032265 h 4032265"/>
              <a:gd name="connsiteX5-219" fmla="*/ 0 w 7729139"/>
              <a:gd name="connsiteY5-220" fmla="*/ 4027841 h 4032265"/>
              <a:gd name="connsiteX6-221" fmla="*/ 3383280 w 7729139"/>
              <a:gd name="connsiteY6-222" fmla="*/ 1203955 h 4032265"/>
              <a:gd name="connsiteX7-223" fmla="*/ 2887980 w 7729139"/>
              <a:gd name="connsiteY7-224" fmla="*/ 1203955 h 4032265"/>
              <a:gd name="connsiteX0-225" fmla="*/ 2887980 w 7729139"/>
              <a:gd name="connsiteY0-226" fmla="*/ 1203955 h 4032265"/>
              <a:gd name="connsiteX1-227" fmla="*/ 3878580 w 7729139"/>
              <a:gd name="connsiteY1-228" fmla="*/ 0 h 4032265"/>
              <a:gd name="connsiteX2-229" fmla="*/ 4869180 w 7729139"/>
              <a:gd name="connsiteY2-230" fmla="*/ 1203955 h 4032265"/>
              <a:gd name="connsiteX3-231" fmla="*/ 4373880 w 7729139"/>
              <a:gd name="connsiteY3-232" fmla="*/ 1203955 h 4032265"/>
              <a:gd name="connsiteX4-233" fmla="*/ 7729139 w 7729139"/>
              <a:gd name="connsiteY4-234" fmla="*/ 4032265 h 4032265"/>
              <a:gd name="connsiteX5-235" fmla="*/ 0 w 7729139"/>
              <a:gd name="connsiteY5-236" fmla="*/ 4027841 h 4032265"/>
              <a:gd name="connsiteX6-237" fmla="*/ 3383280 w 7729139"/>
              <a:gd name="connsiteY6-238" fmla="*/ 1203955 h 4032265"/>
              <a:gd name="connsiteX7-239" fmla="*/ 2887980 w 7729139"/>
              <a:gd name="connsiteY7-240" fmla="*/ 1203955 h 4032265"/>
              <a:gd name="connsiteX0-241" fmla="*/ 2887980 w 7729139"/>
              <a:gd name="connsiteY0-242" fmla="*/ 1203955 h 4032265"/>
              <a:gd name="connsiteX1-243" fmla="*/ 3878580 w 7729139"/>
              <a:gd name="connsiteY1-244" fmla="*/ 0 h 4032265"/>
              <a:gd name="connsiteX2-245" fmla="*/ 4869180 w 7729139"/>
              <a:gd name="connsiteY2-246" fmla="*/ 1203955 h 4032265"/>
              <a:gd name="connsiteX3-247" fmla="*/ 4373880 w 7729139"/>
              <a:gd name="connsiteY3-248" fmla="*/ 1203955 h 4032265"/>
              <a:gd name="connsiteX4-249" fmla="*/ 7729139 w 7729139"/>
              <a:gd name="connsiteY4-250" fmla="*/ 4032265 h 4032265"/>
              <a:gd name="connsiteX5-251" fmla="*/ 0 w 7729139"/>
              <a:gd name="connsiteY5-252" fmla="*/ 4027841 h 4032265"/>
              <a:gd name="connsiteX6-253" fmla="*/ 3383280 w 7729139"/>
              <a:gd name="connsiteY6-254" fmla="*/ 1203955 h 4032265"/>
              <a:gd name="connsiteX7-255" fmla="*/ 2887980 w 7729139"/>
              <a:gd name="connsiteY7-256" fmla="*/ 1203955 h 4032265"/>
              <a:gd name="connsiteX0-257" fmla="*/ 2887980 w 7729139"/>
              <a:gd name="connsiteY0-258" fmla="*/ 1203955 h 4032265"/>
              <a:gd name="connsiteX1-259" fmla="*/ 3878580 w 7729139"/>
              <a:gd name="connsiteY1-260" fmla="*/ 0 h 4032265"/>
              <a:gd name="connsiteX2-261" fmla="*/ 4869180 w 7729139"/>
              <a:gd name="connsiteY2-262" fmla="*/ 1203955 h 4032265"/>
              <a:gd name="connsiteX3-263" fmla="*/ 4373880 w 7729139"/>
              <a:gd name="connsiteY3-264" fmla="*/ 1203955 h 4032265"/>
              <a:gd name="connsiteX4-265" fmla="*/ 7729139 w 7729139"/>
              <a:gd name="connsiteY4-266" fmla="*/ 4032265 h 4032265"/>
              <a:gd name="connsiteX5-267" fmla="*/ 0 w 7729139"/>
              <a:gd name="connsiteY5-268" fmla="*/ 4027841 h 4032265"/>
              <a:gd name="connsiteX6-269" fmla="*/ 3383280 w 7729139"/>
              <a:gd name="connsiteY6-270" fmla="*/ 1203955 h 4032265"/>
              <a:gd name="connsiteX7-271" fmla="*/ 2887980 w 7729139"/>
              <a:gd name="connsiteY7-272" fmla="*/ 1203955 h 4032265"/>
              <a:gd name="connsiteX0-273" fmla="*/ 2887980 w 7729139"/>
              <a:gd name="connsiteY0-274" fmla="*/ 1203955 h 4032265"/>
              <a:gd name="connsiteX1-275" fmla="*/ 3878580 w 7729139"/>
              <a:gd name="connsiteY1-276" fmla="*/ 0 h 4032265"/>
              <a:gd name="connsiteX2-277" fmla="*/ 4869180 w 7729139"/>
              <a:gd name="connsiteY2-278" fmla="*/ 1203955 h 4032265"/>
              <a:gd name="connsiteX3-279" fmla="*/ 4373880 w 7729139"/>
              <a:gd name="connsiteY3-280" fmla="*/ 1203955 h 4032265"/>
              <a:gd name="connsiteX4-281" fmla="*/ 7729139 w 7729139"/>
              <a:gd name="connsiteY4-282" fmla="*/ 4032265 h 4032265"/>
              <a:gd name="connsiteX5-283" fmla="*/ 0 w 7729139"/>
              <a:gd name="connsiteY5-284" fmla="*/ 4027841 h 4032265"/>
              <a:gd name="connsiteX6-285" fmla="*/ 3383280 w 7729139"/>
              <a:gd name="connsiteY6-286" fmla="*/ 1203955 h 4032265"/>
              <a:gd name="connsiteX7-287" fmla="*/ 2887980 w 7729139"/>
              <a:gd name="connsiteY7-288" fmla="*/ 1203955 h 4032265"/>
              <a:gd name="connsiteX0-289" fmla="*/ 2887980 w 7729139"/>
              <a:gd name="connsiteY0-290" fmla="*/ 1203955 h 4032265"/>
              <a:gd name="connsiteX1-291" fmla="*/ 3878580 w 7729139"/>
              <a:gd name="connsiteY1-292" fmla="*/ 0 h 4032265"/>
              <a:gd name="connsiteX2-293" fmla="*/ 4869180 w 7729139"/>
              <a:gd name="connsiteY2-294" fmla="*/ 1203955 h 4032265"/>
              <a:gd name="connsiteX3-295" fmla="*/ 4373880 w 7729139"/>
              <a:gd name="connsiteY3-296" fmla="*/ 1203955 h 4032265"/>
              <a:gd name="connsiteX4-297" fmla="*/ 7729139 w 7729139"/>
              <a:gd name="connsiteY4-298" fmla="*/ 4032265 h 4032265"/>
              <a:gd name="connsiteX5-299" fmla="*/ 0 w 7729139"/>
              <a:gd name="connsiteY5-300" fmla="*/ 4027841 h 4032265"/>
              <a:gd name="connsiteX6-301" fmla="*/ 3383280 w 7729139"/>
              <a:gd name="connsiteY6-302" fmla="*/ 1203955 h 4032265"/>
              <a:gd name="connsiteX7-303" fmla="*/ 2887980 w 7729139"/>
              <a:gd name="connsiteY7-304" fmla="*/ 1203955 h 4032265"/>
              <a:gd name="connsiteX0-305" fmla="*/ 2887980 w 7729139"/>
              <a:gd name="connsiteY0-306" fmla="*/ 1203955 h 4032265"/>
              <a:gd name="connsiteX1-307" fmla="*/ 3878580 w 7729139"/>
              <a:gd name="connsiteY1-308" fmla="*/ 0 h 4032265"/>
              <a:gd name="connsiteX2-309" fmla="*/ 4869180 w 7729139"/>
              <a:gd name="connsiteY2-310" fmla="*/ 1203955 h 4032265"/>
              <a:gd name="connsiteX3-311" fmla="*/ 4373880 w 7729139"/>
              <a:gd name="connsiteY3-312" fmla="*/ 1203955 h 4032265"/>
              <a:gd name="connsiteX4-313" fmla="*/ 7729139 w 7729139"/>
              <a:gd name="connsiteY4-314" fmla="*/ 4032265 h 4032265"/>
              <a:gd name="connsiteX5-315" fmla="*/ 0 w 7729139"/>
              <a:gd name="connsiteY5-316" fmla="*/ 4027841 h 4032265"/>
              <a:gd name="connsiteX6-317" fmla="*/ 3383280 w 7729139"/>
              <a:gd name="connsiteY6-318" fmla="*/ 1203955 h 4032265"/>
              <a:gd name="connsiteX7-319" fmla="*/ 2887980 w 7729139"/>
              <a:gd name="connsiteY7-320" fmla="*/ 1203955 h 4032265"/>
              <a:gd name="connsiteX0-321" fmla="*/ 2887980 w 7729139"/>
              <a:gd name="connsiteY0-322" fmla="*/ 1203955 h 4032265"/>
              <a:gd name="connsiteX1-323" fmla="*/ 3878580 w 7729139"/>
              <a:gd name="connsiteY1-324" fmla="*/ 0 h 4032265"/>
              <a:gd name="connsiteX2-325" fmla="*/ 4869180 w 7729139"/>
              <a:gd name="connsiteY2-326" fmla="*/ 1203955 h 4032265"/>
              <a:gd name="connsiteX3-327" fmla="*/ 4373880 w 7729139"/>
              <a:gd name="connsiteY3-328" fmla="*/ 1203955 h 4032265"/>
              <a:gd name="connsiteX4-329" fmla="*/ 7729139 w 7729139"/>
              <a:gd name="connsiteY4-330" fmla="*/ 4032265 h 4032265"/>
              <a:gd name="connsiteX5-331" fmla="*/ 0 w 7729139"/>
              <a:gd name="connsiteY5-332" fmla="*/ 4027841 h 4032265"/>
              <a:gd name="connsiteX6-333" fmla="*/ 3383280 w 7729139"/>
              <a:gd name="connsiteY6-334" fmla="*/ 1203955 h 4032265"/>
              <a:gd name="connsiteX7-335" fmla="*/ 2887980 w 7729139"/>
              <a:gd name="connsiteY7-336" fmla="*/ 1203955 h 4032265"/>
              <a:gd name="connsiteX0-337" fmla="*/ 2887980 w 7729139"/>
              <a:gd name="connsiteY0-338" fmla="*/ 1203955 h 4032265"/>
              <a:gd name="connsiteX1-339" fmla="*/ 3878580 w 7729139"/>
              <a:gd name="connsiteY1-340" fmla="*/ 0 h 4032265"/>
              <a:gd name="connsiteX2-341" fmla="*/ 4869180 w 7729139"/>
              <a:gd name="connsiteY2-342" fmla="*/ 1203955 h 4032265"/>
              <a:gd name="connsiteX3-343" fmla="*/ 4373880 w 7729139"/>
              <a:gd name="connsiteY3-344" fmla="*/ 1203955 h 4032265"/>
              <a:gd name="connsiteX4-345" fmla="*/ 7729139 w 7729139"/>
              <a:gd name="connsiteY4-346" fmla="*/ 4032265 h 4032265"/>
              <a:gd name="connsiteX5-347" fmla="*/ 0 w 7729139"/>
              <a:gd name="connsiteY5-348" fmla="*/ 4027841 h 4032265"/>
              <a:gd name="connsiteX6-349" fmla="*/ 3383280 w 7729139"/>
              <a:gd name="connsiteY6-350" fmla="*/ 1203955 h 4032265"/>
              <a:gd name="connsiteX7-351" fmla="*/ 2887980 w 7729139"/>
              <a:gd name="connsiteY7-352" fmla="*/ 1203955 h 4032265"/>
              <a:gd name="connsiteX0-353" fmla="*/ 2887980 w 7729139"/>
              <a:gd name="connsiteY0-354" fmla="*/ 1203955 h 4032265"/>
              <a:gd name="connsiteX1-355" fmla="*/ 3878580 w 7729139"/>
              <a:gd name="connsiteY1-356" fmla="*/ 0 h 4032265"/>
              <a:gd name="connsiteX2-357" fmla="*/ 4869180 w 7729139"/>
              <a:gd name="connsiteY2-358" fmla="*/ 1203955 h 4032265"/>
              <a:gd name="connsiteX3-359" fmla="*/ 4373880 w 7729139"/>
              <a:gd name="connsiteY3-360" fmla="*/ 1203955 h 4032265"/>
              <a:gd name="connsiteX4-361" fmla="*/ 7729139 w 7729139"/>
              <a:gd name="connsiteY4-362" fmla="*/ 4032265 h 4032265"/>
              <a:gd name="connsiteX5-363" fmla="*/ 0 w 7729139"/>
              <a:gd name="connsiteY5-364" fmla="*/ 4027841 h 4032265"/>
              <a:gd name="connsiteX6-365" fmla="*/ 3383280 w 7729139"/>
              <a:gd name="connsiteY6-366" fmla="*/ 1203955 h 4032265"/>
              <a:gd name="connsiteX7-367" fmla="*/ 2887980 w 7729139"/>
              <a:gd name="connsiteY7-368" fmla="*/ 1203955 h 4032265"/>
              <a:gd name="connsiteX0-369" fmla="*/ 2887980 w 7729139"/>
              <a:gd name="connsiteY0-370" fmla="*/ 1203955 h 4032265"/>
              <a:gd name="connsiteX1-371" fmla="*/ 3878580 w 7729139"/>
              <a:gd name="connsiteY1-372" fmla="*/ 0 h 4032265"/>
              <a:gd name="connsiteX2-373" fmla="*/ 4869180 w 7729139"/>
              <a:gd name="connsiteY2-374" fmla="*/ 1203955 h 4032265"/>
              <a:gd name="connsiteX3-375" fmla="*/ 4373880 w 7729139"/>
              <a:gd name="connsiteY3-376" fmla="*/ 1203955 h 4032265"/>
              <a:gd name="connsiteX4-377" fmla="*/ 7729139 w 7729139"/>
              <a:gd name="connsiteY4-378" fmla="*/ 4032265 h 4032265"/>
              <a:gd name="connsiteX5-379" fmla="*/ 0 w 7729139"/>
              <a:gd name="connsiteY5-380" fmla="*/ 4027841 h 4032265"/>
              <a:gd name="connsiteX6-381" fmla="*/ 3383280 w 7729139"/>
              <a:gd name="connsiteY6-382" fmla="*/ 1203955 h 4032265"/>
              <a:gd name="connsiteX7-383" fmla="*/ 2887980 w 7729139"/>
              <a:gd name="connsiteY7-384" fmla="*/ 1203955 h 4032265"/>
            </a:gdLst>
            <a:ahLst/>
            <a:cxnLst/>
            <a:rect l="l" t="t" r="r" b="b"/>
            <a:pathLst>
              <a:path w="7729139" h="4032265">
                <a:moveTo>
                  <a:pt x="2887980" y="1203955"/>
                </a:moveTo>
                <a:lnTo>
                  <a:pt x="3878580" y="0"/>
                </a:lnTo>
                <a:lnTo>
                  <a:pt x="4869180" y="1203955"/>
                </a:lnTo>
                <a:lnTo>
                  <a:pt x="4373880" y="1203955"/>
                </a:lnTo>
                <a:cubicBezTo>
                  <a:pt x="4425500" y="2512485"/>
                  <a:pt x="5772519" y="3394295"/>
                  <a:pt x="7729139" y="4032265"/>
                </a:cubicBezTo>
                <a:lnTo>
                  <a:pt x="0" y="4027841"/>
                </a:lnTo>
                <a:cubicBezTo>
                  <a:pt x="2118360" y="3376106"/>
                  <a:pt x="3368040" y="2511010"/>
                  <a:pt x="3383280" y="1203955"/>
                </a:cubicBezTo>
                <a:lnTo>
                  <a:pt x="2887980" y="1203955"/>
                </a:lnTo>
                <a:close/>
              </a:path>
            </a:pathLst>
          </a:custGeom>
          <a:gradFill rotWithShape="1">
            <a:gsLst>
              <a:gs pos="100000">
                <a:srgbClr val="0268FE"/>
              </a:gs>
              <a:gs pos="0">
                <a:srgbClr val="0268FE">
                  <a:lumMod val="75000"/>
                  <a:lumOff val="25000"/>
                  <a:alpha val="0"/>
                </a:srgbClr>
              </a:gs>
            </a:gsLst>
            <a:lin ang="16200000" scaled="1"/>
            <a:tileRect/>
          </a:gradFill>
          <a:ln w="12700" cmpd="sng">
            <a:noFill/>
            <a:prstDash val="solid"/>
          </a:ln>
        </p:spPr>
        <p:txBody>
          <a:bodyPr anchor="ct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sp>
        <p:nvSpPr>
          <p:cNvPr id="27" name="矩形: 圆角 26">
            <a:extLst>
              <a:ext uri="{FF2B5EF4-FFF2-40B4-BE49-F238E27FC236}">
                <a16:creationId xmlns:a16="http://schemas.microsoft.com/office/drawing/2014/main" id="{D453C340-D019-8EBA-9EBC-807B365F9505}"/>
              </a:ext>
            </a:extLst>
          </p:cNvPr>
          <p:cNvSpPr>
            <a:spLocks noGrp="1"/>
          </p:cNvSpPr>
          <p:nvPr/>
        </p:nvSpPr>
        <p:spPr>
          <a:xfrm>
            <a:off x="339090" y="1789430"/>
            <a:ext cx="11513820" cy="1320800"/>
          </a:xfrm>
          <a:prstGeom prst="roundRect">
            <a:avLst>
              <a:gd name="adj" fmla="val 2873"/>
            </a:avLst>
          </a:prstGeom>
          <a:noFill/>
          <a:ln w="12700" cmpd="sng">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ln>
        </p:spPr>
        <p:txBody>
          <a:bodyPr anchor="ctr"/>
          <a:lstStyle/>
          <a:p>
            <a:pPr marL="0" marR="0" lvl="0" indent="0" algn="ctr" defTabSz="457200">
              <a:lnSpc>
                <a:spcPct val="100000"/>
              </a:lnSpc>
              <a:spcBef>
                <a:spcPts val="0"/>
              </a:spcBef>
              <a:spcAft>
                <a:spcPts val="0"/>
              </a:spcAft>
              <a:buClrTx/>
              <a:buSzTx/>
              <a:buFontTx/>
              <a:buNone/>
            </a:pPr>
            <a:endParaRPr sz="1800" b="0" i="0" u="none" kern="0" cap="none" spc="0" baseline="0">
              <a:ln>
                <a:noFill/>
              </a:ln>
              <a:solidFill>
                <a:prstClr val="white"/>
              </a:solidFill>
              <a:latin typeface="Calibri"/>
              <a:ea typeface="Calibri"/>
              <a:cs typeface="Calibri"/>
            </a:endParaRPr>
          </a:p>
        </p:txBody>
      </p:sp>
      <p:sp>
        <p:nvSpPr>
          <p:cNvPr id="28" name="矩形 27">
            <a:extLst>
              <a:ext uri="{FF2B5EF4-FFF2-40B4-BE49-F238E27FC236}">
                <a16:creationId xmlns:a16="http://schemas.microsoft.com/office/drawing/2014/main" id="{60EC403A-613F-66FE-1396-EA1AA85F1EBA}"/>
              </a:ext>
            </a:extLst>
          </p:cNvPr>
          <p:cNvSpPr>
            <a:spLocks noGrp="1"/>
          </p:cNvSpPr>
          <p:nvPr/>
        </p:nvSpPr>
        <p:spPr>
          <a:xfrm>
            <a:off x="523239" y="1541780"/>
            <a:ext cx="1701800" cy="444500"/>
          </a:xfrm>
          <a:prstGeom prst="rect">
            <a:avLst/>
          </a:prstGeom>
          <a:solidFill>
            <a:sysClr val="window" lastClr="FFFFFF"/>
          </a:solidFill>
          <a:ln w="12700" cmpd="sng">
            <a:noFill/>
            <a:prstDash val="solid"/>
          </a:ln>
        </p:spPr>
        <p:txBody>
          <a:bodyPr anchor="ctr"/>
          <a:lstStyle/>
          <a:p>
            <a:pPr marL="0" marR="0" lvl="0" indent="0" algn="ctr" defTabSz="457200">
              <a:lnSpc>
                <a:spcPct val="100000"/>
              </a:lnSpc>
              <a:spcBef>
                <a:spcPts val="0"/>
              </a:spcBef>
              <a:spcAft>
                <a:spcPts val="0"/>
              </a:spcAft>
              <a:buClrTx/>
              <a:buSzTx/>
              <a:buFontTx/>
              <a:buNone/>
            </a:pPr>
            <a:endParaRPr sz="1800" b="0" i="0" u="none" kern="0" cap="none" spc="0" baseline="0">
              <a:ln>
                <a:noFill/>
              </a:ln>
              <a:solidFill>
                <a:prstClr val="white"/>
              </a:solidFill>
              <a:latin typeface="Calibri"/>
              <a:ea typeface="Calibri"/>
              <a:cs typeface="Calibri"/>
            </a:endParaRPr>
          </a:p>
        </p:txBody>
      </p:sp>
      <p:sp>
        <p:nvSpPr>
          <p:cNvPr id="30" name="文本框 29">
            <a:extLst>
              <a:ext uri="{FF2B5EF4-FFF2-40B4-BE49-F238E27FC236}">
                <a16:creationId xmlns:a16="http://schemas.microsoft.com/office/drawing/2014/main" id="{11210E5E-2553-3656-E261-862D791F7F31}"/>
              </a:ext>
            </a:extLst>
          </p:cNvPr>
          <p:cNvSpPr>
            <a:spLocks noGrp="1"/>
          </p:cNvSpPr>
          <p:nvPr/>
        </p:nvSpPr>
        <p:spPr>
          <a:xfrm>
            <a:off x="478790" y="1545590"/>
            <a:ext cx="1968500" cy="369570"/>
          </a:xfrm>
          <a:prstGeom prst="rect">
            <a:avLst/>
          </a:prstGeom>
          <a:noFill/>
        </p:spPr>
        <p:txBody>
          <a:bodyPr wrap="square">
            <a:spAutoFit/>
          </a:bodyPr>
          <a:lstStyle/>
          <a:p>
            <a:pPr defTabSz="457200">
              <a:spcBef>
                <a:spcPts val="0"/>
              </a:spcBef>
              <a:spcAft>
                <a:spcPts val="0"/>
              </a:spcAft>
              <a:buNone/>
            </a:pPr>
            <a:r>
              <a:rPr sz="1800" b="0">
                <a:solidFill>
                  <a:srgbClr val="ED7D31">
                    <a:lumMod val="75000"/>
                  </a:srgbClr>
                </a:solidFill>
                <a:latin typeface="汉仪粗宋简"/>
                <a:ea typeface="汉仪粗宋简"/>
                <a:cs typeface="汉仪粗宋简"/>
              </a:rPr>
              <a:t>动机</a:t>
            </a:r>
            <a:endParaRPr b="0">
              <a:solidFill>
                <a:srgbClr val="ED7D31">
                  <a:lumMod val="75000"/>
                </a:srgbClr>
              </a:solidFill>
              <a:latin typeface="汉仪粗宋简"/>
              <a:ea typeface="汉仪粗宋简"/>
              <a:cs typeface="汉仪粗宋简"/>
            </a:endParaRPr>
          </a:p>
        </p:txBody>
      </p:sp>
      <p:sp>
        <p:nvSpPr>
          <p:cNvPr id="31" name="文本框 30">
            <a:extLst>
              <a:ext uri="{FF2B5EF4-FFF2-40B4-BE49-F238E27FC236}">
                <a16:creationId xmlns:a16="http://schemas.microsoft.com/office/drawing/2014/main" id="{D5D6AABF-6E09-9FC5-4E13-DDAEC4A6DEAA}"/>
              </a:ext>
            </a:extLst>
          </p:cNvPr>
          <p:cNvSpPr>
            <a:spLocks noGrp="1"/>
          </p:cNvSpPr>
          <p:nvPr/>
        </p:nvSpPr>
        <p:spPr>
          <a:xfrm>
            <a:off x="622300" y="2146300"/>
            <a:ext cx="10922000" cy="276999"/>
          </a:xfrm>
          <a:prstGeom prst="rect">
            <a:avLst/>
          </a:prstGeom>
          <a:noFill/>
        </p:spPr>
        <p:txBody>
          <a:bodyPr vert="horz" wrap="square" lIns="0" tIns="0" rIns="0" bIns="0">
            <a:noAutofit/>
          </a:bodyPr>
          <a:lstStyle/>
          <a:p>
            <a:pPr>
              <a:defRPr sz="1800">
                <a:solidFill>
                  <a:srgbClr val="2F6096"/>
                </a:solidFill>
                <a:latin typeface="Microsoft YaHei"/>
                <a:ea typeface="Microsoft YaHei"/>
                <a:cs typeface="Microsoft YaHei"/>
              </a:defRPr>
            </a:pPr>
            <a:r>
              <a:rPr sz="1800">
                <a:solidFill>
                  <a:srgbClr val="2F6096"/>
                </a:solidFill>
                <a:latin typeface="Microsoft YaHei"/>
                <a:ea typeface="Microsoft YaHei"/>
                <a:cs typeface="Microsoft YaHei"/>
              </a:rPr>
              <a:t>完整样本、小样本、三参数估计：只与老方法比较是否充分？</a:t>
            </a:r>
            <a:endParaRPr>
              <a:solidFill>
                <a:srgbClr val="000000"/>
              </a:solidFill>
              <a:latin typeface="等线"/>
              <a:ea typeface="等线"/>
              <a:cs typeface="等线"/>
            </a:endParaRPr>
          </a:p>
        </p:txBody>
      </p:sp>
      <p:sp>
        <p:nvSpPr>
          <p:cNvPr id="32" name="文本框 31">
            <a:extLst>
              <a:ext uri="{FF2B5EF4-FFF2-40B4-BE49-F238E27FC236}">
                <a16:creationId xmlns:a16="http://schemas.microsoft.com/office/drawing/2014/main" id="{A9951AA7-569E-0C9E-F246-0DADC39A6FC1}"/>
              </a:ext>
            </a:extLst>
          </p:cNvPr>
          <p:cNvSpPr>
            <a:spLocks noGrp="1"/>
          </p:cNvSpPr>
          <p:nvPr/>
        </p:nvSpPr>
        <p:spPr>
          <a:xfrm>
            <a:off x="622300" y="2654300"/>
            <a:ext cx="10922000" cy="276999"/>
          </a:xfrm>
          <a:prstGeom prst="rect">
            <a:avLst/>
          </a:prstGeom>
          <a:noFill/>
        </p:spPr>
        <p:txBody>
          <a:bodyPr vert="horz" wrap="square" lIns="0" tIns="0" rIns="0" bIns="0">
            <a:noAutofit/>
          </a:bodyPr>
          <a:lstStyle/>
          <a:p>
            <a:pPr>
              <a:defRPr sz="1800">
                <a:solidFill>
                  <a:srgbClr val="2F6096"/>
                </a:solidFill>
                <a:latin typeface="Microsoft YaHei"/>
                <a:ea typeface="Microsoft YaHei"/>
                <a:cs typeface="Microsoft YaHei"/>
              </a:defRPr>
            </a:pPr>
            <a:r>
              <a:rPr sz="1800">
                <a:solidFill>
                  <a:srgbClr val="2F6096"/>
                </a:solidFill>
                <a:latin typeface="Microsoft YaHei"/>
                <a:ea typeface="Microsoft YaHei"/>
                <a:cs typeface="Microsoft YaHei"/>
              </a:rPr>
              <a:t>新方法应与谁比，近年有什么进展，如何形成有依据的比较？</a:t>
            </a:r>
            <a:endParaRPr>
              <a:solidFill>
                <a:srgbClr val="2F5597"/>
              </a:solidFill>
              <a:latin typeface="等线"/>
              <a:ea typeface="等线"/>
              <a:cs typeface="等线"/>
            </a:endParaRPr>
          </a:p>
        </p:txBody>
      </p:sp>
    </p:spTree>
    <p:extLst>
      <p:ext uri="{BB962C8B-B14F-4D97-AF65-F5344CB8AC3E}">
        <p14:creationId xmlns:p14="http://schemas.microsoft.com/office/powerpoint/2010/main" val="2823527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400" b="1" spc="-150">
                <a:solidFill>
                  <a:srgbClr val="FFFFFF"/>
                </a:solidFill>
                <a:latin typeface="汉仪文润宋韵 U"/>
                <a:ea typeface="汉仪文润宋韵 U"/>
                <a:cs typeface="汉仪文润宋韵 U"/>
              </a:rPr>
              <a:t>方法体系：先分清估计依据</a:t>
            </a: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已有方法及其发展关系</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01</a:t>
            </a:r>
          </a:p>
        </p:txBody>
      </p:sp>
      <p:sp>
        <p:nvSpPr>
          <p:cNvPr id="11" name="文本框 10">
            <a:extLst>
              <a:ext uri="{FF2B5EF4-FFF2-40B4-BE49-F238E27FC236}">
                <a16:creationId xmlns:a16="http://schemas.microsoft.com/office/drawing/2014/main" id="{311F793F-B739-70D4-DC6E-BBDA191CB736}"/>
              </a:ext>
            </a:extLst>
          </p:cNvPr>
          <p:cNvSpPr>
            <a:spLocks noGrp="1"/>
          </p:cNvSpPr>
          <p:nvPr/>
        </p:nvSpPr>
        <p:spPr>
          <a:xfrm>
            <a:off x="622300" y="1676400"/>
            <a:ext cx="10922000" cy="558800"/>
          </a:xfrm>
          <a:prstGeom prst="rect">
            <a:avLst/>
          </a:prstGeom>
          <a:noFill/>
        </p:spPr>
        <p:txBody>
          <a:bodyPr vert="horz" wrap="square" lIns="0" tIns="0" rIns="0" bIns="0">
            <a:noAutofit/>
          </a:bodyPr>
          <a:lstStyle/>
          <a:p>
            <a:pPr>
              <a:lnSpc>
                <a:spcPts val="2340"/>
              </a:lnSpc>
              <a:buNone/>
            </a:pPr>
            <a:r>
              <a:rPr>
                <a:solidFill>
                  <a:srgbClr val="2F6096"/>
                </a:solidFill>
                <a:latin typeface="Microsoft YaHei"/>
                <a:ea typeface="Microsoft YaHei"/>
                <a:cs typeface="Microsoft YaHei"/>
              </a:rPr>
              <a:t>按图1的四组介绍方法与沿革，具体方法再按构造区分。</a:t>
            </a:r>
          </a:p>
        </p:txBody>
      </p:sp>
      <p:sp>
        <p:nvSpPr>
          <p:cNvPr id="12" name="文本框 11">
            <a:extLst>
              <a:ext uri="{FF2B5EF4-FFF2-40B4-BE49-F238E27FC236}">
                <a16:creationId xmlns:a16="http://schemas.microsoft.com/office/drawing/2014/main" id="{2AD966A0-E2CD-641E-06AA-8AE5AFF0806E}"/>
              </a:ext>
            </a:extLst>
          </p:cNvPr>
          <p:cNvSpPr>
            <a:spLocks noGrp="1"/>
          </p:cNvSpPr>
          <p:nvPr/>
        </p:nvSpPr>
        <p:spPr>
          <a:xfrm>
            <a:off x="622300" y="5981700"/>
            <a:ext cx="10922000" cy="508000"/>
          </a:xfrm>
          <a:prstGeom prst="rect">
            <a:avLst/>
          </a:prstGeom>
          <a:noFill/>
        </p:spPr>
        <p:txBody>
          <a:bodyPr vert="horz" wrap="square" lIns="0" tIns="0" rIns="0" bIns="0">
            <a:noAutofit/>
          </a:bodyPr>
          <a:lstStyle/>
          <a:p>
            <a:pPr>
              <a:lnSpc>
                <a:spcPts val="2210"/>
              </a:lnSpc>
              <a:buNone/>
            </a:pPr>
            <a:r>
              <a:rPr sz="1700" b="1">
                <a:solidFill>
                  <a:srgbClr val="2F6096"/>
                </a:solidFill>
                <a:latin typeface="Microsoft YaHei"/>
                <a:ea typeface="Microsoft YaHei"/>
                <a:cs typeface="Microsoft YaHei"/>
              </a:rPr>
              <a:t>A—D与图1对应，是沿革介绍分组；各组可以共享似然或回归步骤。</a:t>
            </a:r>
          </a:p>
        </p:txBody>
      </p:sp>
      <p:graphicFrame>
        <p:nvGraphicFramePr>
          <p:cNvPr id="20" name="表格 13"/>
          <p:cNvGraphicFramePr/>
          <p:nvPr/>
        </p:nvGraphicFramePr>
        <p:xfrm>
          <a:off x="622300" y="2413000"/>
          <a:ext cx="10922000" cy="3302000"/>
        </p:xfrm>
        <a:graphic>
          <a:graphicData uri="http://schemas.openxmlformats.org/drawingml/2006/table">
            <a:tbl>
              <a:tblPr firstRow="1" bandRow="1">
                <a:tableStyleId>{5C22544A-7EE6-4342-B048-85BDC9FD1C3A}</a:tableStyleId>
              </a:tblPr>
              <a:tblGrid>
                <a:gridCol w="2730500">
                  <a:extLst>
                    <a:ext uri="{9D8B030D-6E8A-4147-A177-3AD203B41FA5}">
                      <a16:colId xmlns:a16="http://schemas.microsoft.com/office/drawing/2014/main" val="20000"/>
                    </a:ext>
                  </a:extLst>
                </a:gridCol>
                <a:gridCol w="3937000">
                  <a:extLst>
                    <a:ext uri="{9D8B030D-6E8A-4147-A177-3AD203B41FA5}">
                      <a16:colId xmlns:a16="http://schemas.microsoft.com/office/drawing/2014/main" val="20001"/>
                    </a:ext>
                  </a:extLst>
                </a:gridCol>
                <a:gridCol w="4254500">
                  <a:extLst>
                    <a:ext uri="{9D8B030D-6E8A-4147-A177-3AD203B41FA5}">
                      <a16:colId xmlns:a16="http://schemas.microsoft.com/office/drawing/2014/main" val="20002"/>
                    </a:ext>
                  </a:extLst>
                </a:gridCol>
              </a:tblGrid>
              <a:tr h="660400">
                <a:tc>
                  <a:txBody>
                    <a:bodyPr/>
                    <a:lstStyle/>
                    <a:p>
                      <a:r>
                        <a:rPr sz="1600" b="1">
                          <a:solidFill>
                            <a:srgbClr val="FFFFFF"/>
                          </a:solidFill>
                          <a:latin typeface="Microsoft YaHei"/>
                          <a:ea typeface="Microsoft YaHei"/>
                          <a:cs typeface="Microsoft YaHei"/>
                        </a:rPr>
                        <a:t>图1分组</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r>
                        <a:rPr sz="1600" b="1">
                          <a:solidFill>
                            <a:srgbClr val="FFFFFF"/>
                          </a:solidFill>
                          <a:latin typeface="Microsoft YaHei"/>
                          <a:ea typeface="Microsoft YaHei"/>
                          <a:cs typeface="Microsoft YaHei"/>
                        </a:rPr>
                        <a:t>代表方法与分支</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r>
                        <a:rPr sz="1600" b="1">
                          <a:solidFill>
                            <a:srgbClr val="FFFFFF"/>
                          </a:solidFill>
                          <a:latin typeface="Microsoft YaHei"/>
                          <a:ea typeface="Microsoft YaHei"/>
                          <a:cs typeface="Microsoft YaHei"/>
                        </a:rPr>
                        <a:t>主要思路与改进</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10000"/>
                  </a:ext>
                </a:extLst>
              </a:tr>
              <a:tr h="660400">
                <a:tc>
                  <a:txBody>
                    <a:bodyPr/>
                    <a:lstStyle/>
                    <a:p>
                      <a:r>
                        <a:rPr sz="1600" b="0">
                          <a:solidFill>
                            <a:srgbClr val="000000"/>
                          </a:solidFill>
                          <a:latin typeface="Microsoft YaHei"/>
                          <a:ea typeface="Microsoft YaHei"/>
                          <a:cs typeface="Microsoft YaHei"/>
                        </a:rPr>
                        <a:t>A 似然路线</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600" b="0">
                          <a:solidFill>
                            <a:srgbClr val="000000"/>
                          </a:solidFill>
                          <a:latin typeface="Microsoft YaHei"/>
                          <a:ea typeface="Microsoft YaHei"/>
                          <a:cs typeface="Microsoft YaHei"/>
                        </a:rPr>
                        <a:t>MLE、WMLE、MMLE、DMMLE</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600" b="0">
                          <a:solidFill>
                            <a:srgbClr val="000000"/>
                          </a:solidFill>
                          <a:latin typeface="Microsoft YaHei"/>
                          <a:ea typeface="Microsoft YaHei"/>
                          <a:cs typeface="Microsoft YaHei"/>
                        </a:rPr>
                        <a:t>修正方程、改变似然或改善求解</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1"/>
                  </a:ext>
                </a:extLst>
              </a:tr>
              <a:tr h="660400">
                <a:tc>
                  <a:txBody>
                    <a:bodyPr/>
                    <a:lstStyle/>
                    <a:p>
                      <a:r>
                        <a:rPr sz="1600" b="0">
                          <a:solidFill>
                            <a:srgbClr val="000000"/>
                          </a:solidFill>
                          <a:latin typeface="Microsoft YaHei"/>
                          <a:ea typeface="Microsoft YaHei"/>
                          <a:cs typeface="Microsoft YaHei"/>
                        </a:rPr>
                        <a:t>B 概率图路线</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600" b="0">
                          <a:solidFill>
                            <a:srgbClr val="000000"/>
                          </a:solidFill>
                          <a:latin typeface="Microsoft YaHei"/>
                          <a:ea typeface="Microsoft YaHei"/>
                          <a:cs typeface="Microsoft YaHei"/>
                        </a:rPr>
                        <a:t>LS、LRE相关构造（GLRA、相关系数法）</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600" b="0">
                          <a:solidFill>
                            <a:srgbClr val="000000"/>
                          </a:solidFill>
                          <a:latin typeface="Microsoft YaHei"/>
                          <a:ea typeface="Microsoft YaHei"/>
                          <a:cs typeface="Microsoft YaHei"/>
                        </a:rPr>
                        <a:t>绘图分数、回归方向和位置构造不同</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2"/>
                  </a:ext>
                </a:extLst>
              </a:tr>
              <a:tr h="660400">
                <a:tc>
                  <a:txBody>
                    <a:bodyPr/>
                    <a:lstStyle/>
                    <a:p>
                      <a:r>
                        <a:rPr sz="1600" b="0">
                          <a:solidFill>
                            <a:srgbClr val="000000"/>
                          </a:solidFill>
                          <a:latin typeface="Microsoft YaHei"/>
                          <a:ea typeface="Microsoft YaHei"/>
                          <a:cs typeface="Microsoft YaHei"/>
                        </a:rPr>
                        <a:t>C 统计量、间距与构造差异</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600" b="0">
                          <a:solidFill>
                            <a:srgbClr val="000000"/>
                          </a:solidFill>
                          <a:latin typeface="Microsoft YaHei"/>
                          <a:ea typeface="Microsoft YaHei"/>
                          <a:cs typeface="Microsoft YaHei"/>
                        </a:rPr>
                        <a:t>MM、PWM、L矩、MPS、MDM</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600" b="0">
                          <a:solidFill>
                            <a:srgbClr val="000000"/>
                          </a:solidFill>
                          <a:latin typeface="Microsoft YaHei"/>
                          <a:ea typeface="Microsoft YaHei"/>
                          <a:cs typeface="Microsoft YaHei"/>
                        </a:rPr>
                        <a:t>匹配统计量、概率间距或尺度差异</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3"/>
                  </a:ext>
                </a:extLst>
              </a:tr>
              <a:tr h="660400">
                <a:tc>
                  <a:txBody>
                    <a:bodyPr/>
                    <a:lstStyle/>
                    <a:p>
                      <a:r>
                        <a:rPr sz="1600" b="0">
                          <a:solidFill>
                            <a:srgbClr val="000000"/>
                          </a:solidFill>
                          <a:latin typeface="Microsoft YaHei"/>
                          <a:ea typeface="Microsoft YaHei"/>
                          <a:cs typeface="Microsoft YaHei"/>
                        </a:rPr>
                        <a:t>D 组合与学习</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600" b="0">
                          <a:solidFill>
                            <a:srgbClr val="000000"/>
                          </a:solidFill>
                          <a:latin typeface="Microsoft YaHei"/>
                          <a:ea typeface="Microsoft YaHei"/>
                          <a:cs typeface="Microsoft YaHei"/>
                        </a:rPr>
                        <a:t>LSPF、SAM、PM、神经估计</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600" b="0">
                          <a:solidFill>
                            <a:srgbClr val="000000"/>
                          </a:solidFill>
                          <a:latin typeface="Microsoft YaHei"/>
                          <a:ea typeface="Microsoft YaHei"/>
                          <a:cs typeface="Microsoft YaHei"/>
                        </a:rPr>
                        <a:t>变换统计量、组合步骤或学习映射</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26332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400" b="1" spc="-150">
                <a:solidFill>
                  <a:srgbClr val="FFFFFF"/>
                </a:solidFill>
                <a:latin typeface="汉仪文润宋韵 U"/>
                <a:ea typeface="汉仪文润宋韵 U"/>
                <a:cs typeface="汉仪文润宋韵 U"/>
              </a:rPr>
              <a:t>A  似然路线：改统计构造，还是改求解过程？</a:t>
            </a: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已有方法及其发展关系</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01</a:t>
            </a:r>
          </a:p>
        </p:txBody>
      </p:sp>
      <p:sp>
        <p:nvSpPr>
          <p:cNvPr id="6" name="文本框 5">
            <a:extLst>
              <a:ext uri="{FF2B5EF4-FFF2-40B4-BE49-F238E27FC236}">
                <a16:creationId xmlns:a16="http://schemas.microsoft.com/office/drawing/2014/main" id="{5182E52D-4601-B1F3-0C0E-B00CE691318A}"/>
              </a:ext>
            </a:extLst>
          </p:cNvPr>
          <p:cNvSpPr>
            <a:spLocks noGrp="1"/>
          </p:cNvSpPr>
          <p:nvPr/>
        </p:nvSpPr>
        <p:spPr>
          <a:xfrm>
            <a:off x="622300" y="1638300"/>
            <a:ext cx="10922000" cy="406400"/>
          </a:xfrm>
          <a:prstGeom prst="rect">
            <a:avLst/>
          </a:prstGeom>
          <a:noFill/>
        </p:spPr>
        <p:txBody>
          <a:bodyPr vert="horz" wrap="square" lIns="38100" tIns="25400" rIns="38100" bIns="25400" anchor="t">
            <a:noAutofit/>
          </a:bodyPr>
          <a:lstStyle/>
          <a:p>
            <a:pPr>
              <a:lnSpc>
                <a:spcPts val="2006"/>
              </a:lnSpc>
              <a:buNone/>
            </a:pPr>
            <a:r>
              <a:rPr sz="1700">
                <a:solidFill>
                  <a:srgbClr val="2F6096"/>
                </a:solidFill>
                <a:latin typeface="Microsoft YaHei"/>
                <a:ea typeface="Microsoft YaHei"/>
                <a:cs typeface="Microsoft YaHei"/>
              </a:rPr>
              <a:t>共同起点是样本似然，后续工作分别处理偏差、边界和数值求解。</a:t>
            </a:r>
          </a:p>
        </p:txBody>
      </p:sp>
      <p:sp>
        <p:nvSpPr>
          <p:cNvPr id="19" name="fig1-mle">
            <a:extLst>
              <a:ext uri="{FF2B5EF4-FFF2-40B4-BE49-F238E27FC236}">
                <a16:creationId xmlns:a16="http://schemas.microsoft.com/office/drawing/2014/main" id="{3F549896-0F81-B81E-3E4D-D1F4CA76133E}"/>
              </a:ext>
            </a:extLst>
          </p:cNvPr>
          <p:cNvSpPr>
            <a:spLocks noGrp="1"/>
          </p:cNvSpPr>
          <p:nvPr/>
        </p:nvSpPr>
        <p:spPr>
          <a:xfrm>
            <a:off x="622300" y="3225800"/>
            <a:ext cx="1841500" cy="838200"/>
          </a:xfrm>
          <a:prstGeom prst="roundRect">
            <a:avLst>
              <a:gd name="adj" fmla="val 7000"/>
            </a:avLst>
          </a:prstGeom>
          <a:solidFill>
            <a:srgbClr val="EAF0F6"/>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1652"/>
              </a:lnSpc>
              <a:buNone/>
            </a:pPr>
            <a:r>
              <a:rPr sz="1400">
                <a:solidFill>
                  <a:srgbClr val="203040"/>
                </a:solidFill>
                <a:latin typeface="Microsoft YaHei"/>
                <a:ea typeface="Microsoft YaHei"/>
                <a:cs typeface="Microsoft YaHei"/>
              </a:rPr>
              <a:t>MLE 极大似然估计</a:t>
            </a:r>
          </a:p>
          <a:p>
            <a:pPr algn="ctr">
              <a:lnSpc>
                <a:spcPts val="1652"/>
              </a:lnSpc>
              <a:buNone/>
            </a:pPr>
            <a:r>
              <a:rPr sz="1400">
                <a:solidFill>
                  <a:srgbClr val="203040"/>
                </a:solidFill>
                <a:latin typeface="Microsoft YaHei"/>
                <a:ea typeface="Microsoft YaHei"/>
                <a:cs typeface="Microsoft YaHei"/>
              </a:rPr>
              <a:t>Fisher · 1922</a:t>
            </a:r>
          </a:p>
        </p:txBody>
      </p:sp>
      <p:sp>
        <p:nvSpPr>
          <p:cNvPr id="20" name="fig1-wmle">
            <a:extLst>
              <a:ext uri="{FF2B5EF4-FFF2-40B4-BE49-F238E27FC236}">
                <a16:creationId xmlns:a16="http://schemas.microsoft.com/office/drawing/2014/main" id="{5416E38E-8E81-E443-7AE9-B716E959045E}"/>
              </a:ext>
            </a:extLst>
          </p:cNvPr>
          <p:cNvSpPr>
            <a:spLocks noGrp="1"/>
          </p:cNvSpPr>
          <p:nvPr/>
        </p:nvSpPr>
        <p:spPr>
          <a:xfrm>
            <a:off x="5003800" y="2209800"/>
            <a:ext cx="2679700" cy="7366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1652"/>
              </a:lnSpc>
              <a:buNone/>
            </a:pPr>
            <a:r>
              <a:rPr sz="1400">
                <a:solidFill>
                  <a:srgbClr val="203040"/>
                </a:solidFill>
                <a:latin typeface="Microsoft YaHei"/>
                <a:ea typeface="Microsoft YaHei"/>
                <a:cs typeface="Microsoft YaHei"/>
              </a:rPr>
              <a:t>WMLE 加权极大似然估计</a:t>
            </a:r>
          </a:p>
          <a:p>
            <a:pPr algn="ctr">
              <a:lnSpc>
                <a:spcPts val="1652"/>
              </a:lnSpc>
              <a:buNone/>
            </a:pPr>
            <a:r>
              <a:rPr sz="1400">
                <a:solidFill>
                  <a:srgbClr val="203040"/>
                </a:solidFill>
                <a:latin typeface="Microsoft YaHei"/>
                <a:ea typeface="Microsoft YaHei"/>
                <a:cs typeface="Microsoft YaHei"/>
              </a:rPr>
              <a:t>Cousineau · 2009</a:t>
            </a:r>
          </a:p>
        </p:txBody>
      </p:sp>
      <p:sp>
        <p:nvSpPr>
          <p:cNvPr id="21" name="fig1-mmle">
            <a:extLst>
              <a:ext uri="{FF2B5EF4-FFF2-40B4-BE49-F238E27FC236}">
                <a16:creationId xmlns:a16="http://schemas.microsoft.com/office/drawing/2014/main" id="{B3FB964F-6897-E78A-451B-97829A5DD69B}"/>
              </a:ext>
            </a:extLst>
          </p:cNvPr>
          <p:cNvSpPr>
            <a:spLocks noGrp="1"/>
          </p:cNvSpPr>
          <p:nvPr/>
        </p:nvSpPr>
        <p:spPr>
          <a:xfrm>
            <a:off x="5003800" y="3225800"/>
            <a:ext cx="2679700" cy="7366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1652"/>
              </a:lnSpc>
              <a:buNone/>
            </a:pPr>
            <a:r>
              <a:rPr sz="1400">
                <a:solidFill>
                  <a:srgbClr val="203040"/>
                </a:solidFill>
                <a:latin typeface="Microsoft YaHei"/>
                <a:ea typeface="Microsoft YaHei"/>
                <a:cs typeface="Microsoft YaHei"/>
              </a:rPr>
              <a:t>MMLE 修改极大似然估计</a:t>
            </a:r>
          </a:p>
          <a:p>
            <a:pPr algn="ctr">
              <a:lnSpc>
                <a:spcPts val="1652"/>
              </a:lnSpc>
              <a:buNone/>
            </a:pPr>
            <a:r>
              <a:rPr sz="1400">
                <a:solidFill>
                  <a:srgbClr val="203040"/>
                </a:solidFill>
                <a:latin typeface="Microsoft YaHei"/>
                <a:ea typeface="Microsoft YaHei"/>
                <a:cs typeface="Microsoft YaHei"/>
              </a:rPr>
              <a:t>Kundu &amp; Raqab · 2009</a:t>
            </a:r>
          </a:p>
        </p:txBody>
      </p:sp>
      <p:sp>
        <p:nvSpPr>
          <p:cNvPr id="22" name="fig1-solver">
            <a:extLst>
              <a:ext uri="{FF2B5EF4-FFF2-40B4-BE49-F238E27FC236}">
                <a16:creationId xmlns:a16="http://schemas.microsoft.com/office/drawing/2014/main" id="{116337BF-9C34-45F6-B739-96E1382ED323}"/>
              </a:ext>
            </a:extLst>
          </p:cNvPr>
          <p:cNvSpPr>
            <a:spLocks noGrp="1"/>
          </p:cNvSpPr>
          <p:nvPr/>
        </p:nvSpPr>
        <p:spPr>
          <a:xfrm>
            <a:off x="5003800" y="4241800"/>
            <a:ext cx="2679700" cy="736600"/>
          </a:xfrm>
          <a:prstGeom prst="roundRect">
            <a:avLst>
              <a:gd name="adj" fmla="val 7000"/>
            </a:avLst>
          </a:prstGeom>
          <a:solidFill>
            <a:srgbClr val="F4EEDC"/>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1652"/>
              </a:lnSpc>
              <a:buNone/>
            </a:pPr>
            <a:r>
              <a:rPr sz="1400">
                <a:solidFill>
                  <a:srgbClr val="203040"/>
                </a:solidFill>
                <a:latin typeface="Microsoft YaHei"/>
                <a:ea typeface="Microsoft YaHei"/>
                <a:cs typeface="Microsoft YaHei"/>
              </a:rPr>
              <a:t>ADGBO求解MLE</a:t>
            </a:r>
          </a:p>
          <a:p>
            <a:pPr algn="ctr">
              <a:lnSpc>
                <a:spcPts val="1652"/>
              </a:lnSpc>
              <a:buNone/>
            </a:pPr>
            <a:r>
              <a:rPr sz="1400">
                <a:solidFill>
                  <a:srgbClr val="203040"/>
                </a:solidFill>
                <a:latin typeface="Microsoft YaHei"/>
                <a:ea typeface="Microsoft YaHei"/>
                <a:cs typeface="Microsoft YaHei"/>
              </a:rPr>
              <a:t>Wang等 · 2026</a:t>
            </a:r>
          </a:p>
        </p:txBody>
      </p:sp>
      <p:sp>
        <p:nvSpPr>
          <p:cNvPr id="23" name="fig1-firth">
            <a:extLst>
              <a:ext uri="{FF2B5EF4-FFF2-40B4-BE49-F238E27FC236}">
                <a16:creationId xmlns:a16="http://schemas.microsoft.com/office/drawing/2014/main" id="{516109D5-65F7-7C6F-6EB1-588D61EAE408}"/>
              </a:ext>
            </a:extLst>
          </p:cNvPr>
          <p:cNvSpPr>
            <a:spLocks noGrp="1"/>
          </p:cNvSpPr>
          <p:nvPr/>
        </p:nvSpPr>
        <p:spPr>
          <a:xfrm>
            <a:off x="9321800" y="2209800"/>
            <a:ext cx="2222500" cy="736600"/>
          </a:xfrm>
          <a:prstGeom prst="roundRect">
            <a:avLst>
              <a:gd name="adj" fmla="val 7000"/>
            </a:avLst>
          </a:prstGeom>
          <a:solidFill>
            <a:srgbClr val="EAF0F6"/>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1652"/>
              </a:lnSpc>
              <a:buNone/>
            </a:pPr>
            <a:r>
              <a:rPr sz="1400">
                <a:solidFill>
                  <a:srgbClr val="203040"/>
                </a:solidFill>
                <a:latin typeface="Microsoft YaHei"/>
                <a:ea typeface="Microsoft YaHei"/>
                <a:cs typeface="Microsoft YaHei"/>
              </a:rPr>
              <a:t>得分偏差修正</a:t>
            </a:r>
          </a:p>
          <a:p>
            <a:pPr algn="ctr">
              <a:lnSpc>
                <a:spcPts val="1652"/>
              </a:lnSpc>
              <a:buNone/>
            </a:pPr>
            <a:r>
              <a:rPr sz="1400">
                <a:solidFill>
                  <a:srgbClr val="203040"/>
                </a:solidFill>
                <a:latin typeface="Microsoft YaHei"/>
                <a:ea typeface="Microsoft YaHei"/>
                <a:cs typeface="Microsoft YaHei"/>
              </a:rPr>
              <a:t>Firth · 1993</a:t>
            </a:r>
          </a:p>
        </p:txBody>
      </p:sp>
      <p:sp>
        <p:nvSpPr>
          <p:cNvPr id="24" name="fig1-dmmle">
            <a:extLst>
              <a:ext uri="{FF2B5EF4-FFF2-40B4-BE49-F238E27FC236}">
                <a16:creationId xmlns:a16="http://schemas.microsoft.com/office/drawing/2014/main" id="{2AC304CE-AA20-F1BD-CCDB-C472C745E2BA}"/>
              </a:ext>
            </a:extLst>
          </p:cNvPr>
          <p:cNvSpPr>
            <a:spLocks noGrp="1"/>
          </p:cNvSpPr>
          <p:nvPr/>
        </p:nvSpPr>
        <p:spPr>
          <a:xfrm>
            <a:off x="9321800" y="3225800"/>
            <a:ext cx="2222500" cy="8890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1652"/>
              </a:lnSpc>
              <a:buNone/>
            </a:pPr>
            <a:r>
              <a:rPr sz="1400">
                <a:solidFill>
                  <a:srgbClr val="203040"/>
                </a:solidFill>
                <a:latin typeface="Microsoft YaHei"/>
                <a:ea typeface="Microsoft YaHei"/>
                <a:cs typeface="Microsoft YaHei"/>
              </a:rPr>
              <a:t>DMMLE 双重修改极大似然估计</a:t>
            </a:r>
          </a:p>
          <a:p>
            <a:pPr algn="ctr">
              <a:lnSpc>
                <a:spcPts val="1652"/>
              </a:lnSpc>
              <a:buNone/>
            </a:pPr>
            <a:r>
              <a:rPr sz="1400">
                <a:solidFill>
                  <a:srgbClr val="203040"/>
                </a:solidFill>
                <a:latin typeface="Microsoft YaHei"/>
                <a:ea typeface="Microsoft YaHei"/>
                <a:cs typeface="Microsoft YaHei"/>
              </a:rPr>
              <a:t>da Silva等 · 2025</a:t>
            </a:r>
          </a:p>
        </p:txBody>
      </p:sp>
      <p:sp>
        <p:nvSpPr>
          <p:cNvPr id="25" name="fig1-text_edge1">
            <a:extLst>
              <a:ext uri="{FF2B5EF4-FFF2-40B4-BE49-F238E27FC236}">
                <a16:creationId xmlns:a16="http://schemas.microsoft.com/office/drawing/2014/main" id="{59737199-1D4A-7ABA-8568-245599796836}"/>
              </a:ext>
            </a:extLst>
          </p:cNvPr>
          <p:cNvSpPr>
            <a:spLocks noGrp="1"/>
          </p:cNvSpPr>
          <p:nvPr/>
        </p:nvSpPr>
        <p:spPr>
          <a:xfrm>
            <a:off x="2806700" y="2120900"/>
            <a:ext cx="2108200" cy="444500"/>
          </a:xfrm>
          <a:prstGeom prst="rect">
            <a:avLst/>
          </a:prstGeom>
          <a:noFill/>
        </p:spPr>
        <p:txBody>
          <a:bodyPr vert="horz" wrap="square" lIns="38100" tIns="25400" rIns="38100" bIns="25400" anchor="ctr">
            <a:noAutofit/>
          </a:bodyPr>
          <a:lstStyle/>
          <a:p>
            <a:pPr algn="ctr">
              <a:lnSpc>
                <a:spcPts val="1416"/>
              </a:lnSpc>
              <a:buNone/>
            </a:pPr>
            <a:r>
              <a:rPr sz="1200">
                <a:solidFill>
                  <a:srgbClr val="304559"/>
                </a:solidFill>
                <a:latin typeface="Microsoft YaHei"/>
                <a:ea typeface="Microsoft YaHei"/>
                <a:cs typeface="Microsoft YaHei"/>
              </a:rPr>
              <a:t>减小小样本偏差</a:t>
            </a:r>
          </a:p>
          <a:p>
            <a:pPr algn="ctr">
              <a:lnSpc>
                <a:spcPts val="1416"/>
              </a:lnSpc>
              <a:buNone/>
            </a:pPr>
            <a:r>
              <a:rPr sz="1200">
                <a:solidFill>
                  <a:srgbClr val="304559"/>
                </a:solidFill>
                <a:latin typeface="Microsoft YaHei"/>
                <a:ea typeface="Microsoft YaHei"/>
                <a:cs typeface="Microsoft YaHei"/>
              </a:rPr>
              <a:t>修正估计方程</a:t>
            </a:r>
          </a:p>
        </p:txBody>
      </p:sp>
      <p:sp>
        <p:nvSpPr>
          <p:cNvPr id="26" name="fig1-text_edge2">
            <a:extLst>
              <a:ext uri="{FF2B5EF4-FFF2-40B4-BE49-F238E27FC236}">
                <a16:creationId xmlns:a16="http://schemas.microsoft.com/office/drawing/2014/main" id="{2293B625-BEC5-3B2A-A86E-9386781AFB81}"/>
              </a:ext>
            </a:extLst>
          </p:cNvPr>
          <p:cNvSpPr>
            <a:spLocks noGrp="1"/>
          </p:cNvSpPr>
          <p:nvPr/>
        </p:nvSpPr>
        <p:spPr>
          <a:xfrm>
            <a:off x="2806700" y="3162300"/>
            <a:ext cx="2108200" cy="444500"/>
          </a:xfrm>
          <a:prstGeom prst="rect">
            <a:avLst/>
          </a:prstGeom>
          <a:noFill/>
        </p:spPr>
        <p:txBody>
          <a:bodyPr vert="horz" wrap="square" lIns="38100" tIns="25400" rIns="38100" bIns="25400" anchor="ctr">
            <a:noAutofit/>
          </a:bodyPr>
          <a:lstStyle/>
          <a:p>
            <a:pPr algn="ctr">
              <a:lnSpc>
                <a:spcPts val="1416"/>
              </a:lnSpc>
              <a:buNone/>
            </a:pPr>
            <a:r>
              <a:rPr sz="1200">
                <a:solidFill>
                  <a:srgbClr val="304559"/>
                </a:solidFill>
                <a:latin typeface="Microsoft YaHei"/>
                <a:ea typeface="Microsoft YaHei"/>
                <a:cs typeface="Microsoft YaHei"/>
              </a:rPr>
              <a:t>处理边界奇异</a:t>
            </a:r>
          </a:p>
          <a:p>
            <a:pPr algn="ctr">
              <a:lnSpc>
                <a:spcPts val="1416"/>
              </a:lnSpc>
              <a:buNone/>
            </a:pPr>
            <a:r>
              <a:rPr sz="1200">
                <a:solidFill>
                  <a:srgbClr val="304559"/>
                </a:solidFill>
                <a:latin typeface="Microsoft YaHei"/>
                <a:ea typeface="Microsoft YaHei"/>
                <a:cs typeface="Microsoft YaHei"/>
              </a:rPr>
              <a:t>改变似然构造</a:t>
            </a:r>
          </a:p>
        </p:txBody>
      </p:sp>
      <p:sp>
        <p:nvSpPr>
          <p:cNvPr id="27" name="fig1-text_edge5">
            <a:extLst>
              <a:ext uri="{FF2B5EF4-FFF2-40B4-BE49-F238E27FC236}">
                <a16:creationId xmlns:a16="http://schemas.microsoft.com/office/drawing/2014/main" id="{8060B0A7-DA03-DA54-5E73-A07FAB8713B8}"/>
              </a:ext>
            </a:extLst>
          </p:cNvPr>
          <p:cNvSpPr>
            <a:spLocks noGrp="1"/>
          </p:cNvSpPr>
          <p:nvPr/>
        </p:nvSpPr>
        <p:spPr>
          <a:xfrm>
            <a:off x="2806700" y="4152900"/>
            <a:ext cx="2108200" cy="444500"/>
          </a:xfrm>
          <a:prstGeom prst="rect">
            <a:avLst/>
          </a:prstGeom>
          <a:noFill/>
        </p:spPr>
        <p:txBody>
          <a:bodyPr vert="horz" wrap="square" lIns="38100" tIns="25400" rIns="38100" bIns="25400" anchor="ctr">
            <a:noAutofit/>
          </a:bodyPr>
          <a:lstStyle/>
          <a:p>
            <a:pPr algn="ctr">
              <a:lnSpc>
                <a:spcPts val="1416"/>
              </a:lnSpc>
              <a:buNone/>
            </a:pPr>
            <a:r>
              <a:rPr sz="1200">
                <a:solidFill>
                  <a:srgbClr val="304559"/>
                </a:solidFill>
                <a:latin typeface="Microsoft YaHei"/>
                <a:ea typeface="Microsoft YaHei"/>
                <a:cs typeface="Microsoft YaHei"/>
              </a:rPr>
              <a:t>缓解初值敏感与局部停滞</a:t>
            </a:r>
          </a:p>
          <a:p>
            <a:pPr algn="ctr">
              <a:lnSpc>
                <a:spcPts val="1416"/>
              </a:lnSpc>
              <a:buNone/>
            </a:pPr>
            <a:r>
              <a:rPr sz="1200">
                <a:solidFill>
                  <a:srgbClr val="304559"/>
                </a:solidFill>
                <a:latin typeface="Microsoft YaHei"/>
                <a:ea typeface="Microsoft YaHei"/>
                <a:cs typeface="Microsoft YaHei"/>
              </a:rPr>
              <a:t>改进搜索策略</a:t>
            </a:r>
          </a:p>
        </p:txBody>
      </p:sp>
      <p:sp>
        <p:nvSpPr>
          <p:cNvPr id="28" name="fig1-text_edge3">
            <a:extLst>
              <a:ext uri="{FF2B5EF4-FFF2-40B4-BE49-F238E27FC236}">
                <a16:creationId xmlns:a16="http://schemas.microsoft.com/office/drawing/2014/main" id="{1D92B7E6-D647-3717-6D68-A4243B1E4895}"/>
              </a:ext>
            </a:extLst>
          </p:cNvPr>
          <p:cNvSpPr>
            <a:spLocks noGrp="1"/>
          </p:cNvSpPr>
          <p:nvPr/>
        </p:nvSpPr>
        <p:spPr>
          <a:xfrm>
            <a:off x="7747000" y="3124200"/>
            <a:ext cx="1524000" cy="444500"/>
          </a:xfrm>
          <a:prstGeom prst="rect">
            <a:avLst/>
          </a:prstGeom>
          <a:noFill/>
        </p:spPr>
        <p:txBody>
          <a:bodyPr vert="horz" wrap="square" lIns="38100" tIns="25400" rIns="38100" bIns="25400" anchor="ctr">
            <a:noAutofit/>
          </a:bodyPr>
          <a:lstStyle/>
          <a:p>
            <a:pPr algn="ctr">
              <a:lnSpc>
                <a:spcPts val="1416"/>
              </a:lnSpc>
              <a:buNone/>
            </a:pPr>
            <a:r>
              <a:rPr sz="1200">
                <a:solidFill>
                  <a:srgbClr val="304559"/>
                </a:solidFill>
                <a:latin typeface="Microsoft YaHei"/>
                <a:ea typeface="Microsoft YaHei"/>
                <a:cs typeface="Microsoft YaHei"/>
              </a:rPr>
              <a:t>剩余偏差</a:t>
            </a:r>
          </a:p>
          <a:p>
            <a:pPr algn="ctr">
              <a:lnSpc>
                <a:spcPts val="1416"/>
              </a:lnSpc>
              <a:buNone/>
            </a:pPr>
            <a:r>
              <a:rPr sz="1200">
                <a:solidFill>
                  <a:srgbClr val="304559"/>
                </a:solidFill>
                <a:latin typeface="Microsoft YaHei"/>
                <a:ea typeface="Microsoft YaHei"/>
                <a:cs typeface="Microsoft YaHei"/>
              </a:rPr>
              <a:t>引入Firth修正</a:t>
            </a:r>
          </a:p>
        </p:txBody>
      </p:sp>
      <p:sp>
        <p:nvSpPr>
          <p:cNvPr id="29" name="fig1-text_edge4">
            <a:extLst>
              <a:ext uri="{FF2B5EF4-FFF2-40B4-BE49-F238E27FC236}">
                <a16:creationId xmlns:a16="http://schemas.microsoft.com/office/drawing/2014/main" id="{A7DDFAD8-0F92-FD68-9A8F-9D08F41C5B79}"/>
              </a:ext>
            </a:extLst>
          </p:cNvPr>
          <p:cNvSpPr>
            <a:spLocks noGrp="1"/>
          </p:cNvSpPr>
          <p:nvPr/>
        </p:nvSpPr>
        <p:spPr>
          <a:xfrm>
            <a:off x="10579100" y="2959100"/>
            <a:ext cx="927100" cy="241300"/>
          </a:xfrm>
          <a:prstGeom prst="rect">
            <a:avLst/>
          </a:prstGeom>
          <a:noFill/>
        </p:spPr>
        <p:txBody>
          <a:bodyPr vert="horz" wrap="square" lIns="38100" tIns="25400" rIns="38100" bIns="25400" anchor="ctr">
            <a:noAutofit/>
          </a:bodyPr>
          <a:lstStyle/>
          <a:p>
            <a:pPr algn="ctr">
              <a:lnSpc>
                <a:spcPts val="1298"/>
              </a:lnSpc>
              <a:buNone/>
            </a:pPr>
            <a:r>
              <a:rPr sz="1100">
                <a:solidFill>
                  <a:srgbClr val="304559"/>
                </a:solidFill>
                <a:latin typeface="Microsoft YaHei"/>
                <a:ea typeface="Microsoft YaHei"/>
                <a:cs typeface="Microsoft YaHei"/>
              </a:rPr>
              <a:t>修正思想</a:t>
            </a:r>
          </a:p>
        </p:txBody>
      </p:sp>
      <p:sp>
        <p:nvSpPr>
          <p:cNvPr id="30" name="panel-description">
            <a:extLst>
              <a:ext uri="{FF2B5EF4-FFF2-40B4-BE49-F238E27FC236}">
                <a16:creationId xmlns:a16="http://schemas.microsoft.com/office/drawing/2014/main" id="{C52DB519-AB17-D781-A557-DC4D1405FE31}"/>
              </a:ext>
            </a:extLst>
          </p:cNvPr>
          <p:cNvSpPr>
            <a:spLocks noGrp="1"/>
          </p:cNvSpPr>
          <p:nvPr/>
        </p:nvSpPr>
        <p:spPr>
          <a:xfrm>
            <a:off x="622300" y="5384800"/>
            <a:ext cx="10922000" cy="609600"/>
          </a:xfrm>
          <a:prstGeom prst="rect">
            <a:avLst/>
          </a:prstGeom>
          <a:noFill/>
        </p:spPr>
        <p:txBody>
          <a:bodyPr vert="horz" wrap="square" lIns="38100" tIns="0" rIns="38100" bIns="0" anchor="t">
            <a:noAutofit/>
          </a:bodyPr>
          <a:lstStyle/>
          <a:p>
            <a:pPr>
              <a:lnSpc>
                <a:spcPts val="2006"/>
              </a:lnSpc>
              <a:buNone/>
            </a:pPr>
            <a:r>
              <a:rPr sz="1700">
                <a:solidFill>
                  <a:srgbClr val="2F6096"/>
                </a:solidFill>
                <a:latin typeface="Microsoft YaHei"/>
                <a:ea typeface="Microsoft YaHei"/>
                <a:cs typeface="Microsoft YaHei"/>
              </a:rPr>
              <a:t>WMLE修正有限样本估计方程，MMLE改变似然构造，DMMLE进一步修正得分偏差。</a:t>
            </a:r>
          </a:p>
          <a:p>
            <a:pPr>
              <a:lnSpc>
                <a:spcPts val="2006"/>
              </a:lnSpc>
              <a:buNone/>
            </a:pPr>
            <a:r>
              <a:rPr sz="1700">
                <a:solidFill>
                  <a:srgbClr val="2F6096"/>
                </a:solidFill>
                <a:latin typeface="Microsoft YaHei"/>
                <a:ea typeface="Microsoft YaHei"/>
                <a:cs typeface="Microsoft YaHei"/>
              </a:rPr>
              <a:t>PSO、ADGBO等若保持同一似然与约束，改进的是求解过程。</a:t>
            </a:r>
          </a:p>
        </p:txBody>
      </p:sp>
      <p:sp>
        <p:nvSpPr>
          <p:cNvPr id="31" name="panel-citations">
            <a:extLst>
              <a:ext uri="{FF2B5EF4-FFF2-40B4-BE49-F238E27FC236}">
                <a16:creationId xmlns:a16="http://schemas.microsoft.com/office/drawing/2014/main" id="{43D54EE6-3576-5B72-1D9F-150FD070BF80}"/>
              </a:ext>
            </a:extLst>
          </p:cNvPr>
          <p:cNvSpPr>
            <a:spLocks noGrp="1"/>
          </p:cNvSpPr>
          <p:nvPr/>
        </p:nvSpPr>
        <p:spPr>
          <a:xfrm>
            <a:off x="622300" y="6350000"/>
            <a:ext cx="10922000" cy="177800"/>
          </a:xfrm>
          <a:prstGeom prst="rect">
            <a:avLst/>
          </a:prstGeom>
          <a:noFill/>
        </p:spPr>
        <p:txBody>
          <a:bodyPr vert="horz" wrap="square" lIns="38100" tIns="0" rIns="38100" bIns="0" anchor="t">
            <a:noAutofit/>
          </a:bodyPr>
          <a:lstStyle/>
          <a:p>
            <a:pPr>
              <a:lnSpc>
                <a:spcPts val="1180"/>
              </a:lnSpc>
              <a:buNone/>
            </a:pPr>
            <a:r>
              <a:rPr sz="1000">
                <a:solidFill>
                  <a:srgbClr val="787878"/>
                </a:solidFill>
                <a:latin typeface="Microsoft YaHei"/>
                <a:ea typeface="Microsoft YaHei"/>
                <a:cs typeface="Microsoft YaHei"/>
              </a:rPr>
              <a:t>WMLE [182-088]；DMMLE [182-111]；ADGBO [187-001]。Fisher（1922）标示通用似然原理来源。</a:t>
            </a:r>
          </a:p>
        </p:txBody>
      </p:sp>
      <p:sp>
        <p:nvSpPr>
          <p:cNvPr id="32" name="fig1-edge1-1">
            <a:extLst>
              <a:ext uri="{FF2B5EF4-FFF2-40B4-BE49-F238E27FC236}">
                <a16:creationId xmlns:a16="http://schemas.microsoft.com/office/drawing/2014/main" id="{6E92AD90-669A-49E5-901C-E4F838C25B57}"/>
              </a:ext>
            </a:extLst>
          </p:cNvPr>
          <p:cNvSpPr>
            <a:spLocks noGrp="1"/>
          </p:cNvSpPr>
          <p:nvPr/>
        </p:nvSpPr>
        <p:spPr>
          <a:xfrm>
            <a:off x="2463800" y="3378200"/>
            <a:ext cx="266700" cy="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3" name="fig1-edge1-2">
            <a:extLst>
              <a:ext uri="{FF2B5EF4-FFF2-40B4-BE49-F238E27FC236}">
                <a16:creationId xmlns:a16="http://schemas.microsoft.com/office/drawing/2014/main" id="{A3E25788-F79D-4275-9D97-514AE73D9FAB}"/>
              </a:ext>
            </a:extLst>
          </p:cNvPr>
          <p:cNvSpPr>
            <a:spLocks noGrp="1"/>
          </p:cNvSpPr>
          <p:nvPr/>
        </p:nvSpPr>
        <p:spPr>
          <a:xfrm flipV="1">
            <a:off x="2730500" y="2578100"/>
            <a:ext cx="0" cy="80010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4" name="fig1-edge1-3">
            <a:extLst>
              <a:ext uri="{FF2B5EF4-FFF2-40B4-BE49-F238E27FC236}">
                <a16:creationId xmlns:a16="http://schemas.microsoft.com/office/drawing/2014/main" id="{D56C5989-3BA1-4DA8-B603-2C65CBEFFF6C}"/>
              </a:ext>
            </a:extLst>
          </p:cNvPr>
          <p:cNvSpPr>
            <a:spLocks noGrp="1"/>
          </p:cNvSpPr>
          <p:nvPr/>
        </p:nvSpPr>
        <p:spPr>
          <a:xfrm>
            <a:off x="2730500" y="2578100"/>
            <a:ext cx="22733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5" name="fig1-edge2-1">
            <a:extLst>
              <a:ext uri="{FF2B5EF4-FFF2-40B4-BE49-F238E27FC236}">
                <a16:creationId xmlns:a16="http://schemas.microsoft.com/office/drawing/2014/main" id="{3B2C1C55-881A-4C6F-9AD2-DCF1EAF5B5EB}"/>
              </a:ext>
            </a:extLst>
          </p:cNvPr>
          <p:cNvSpPr>
            <a:spLocks noGrp="1"/>
          </p:cNvSpPr>
          <p:nvPr/>
        </p:nvSpPr>
        <p:spPr>
          <a:xfrm>
            <a:off x="2463800" y="3644900"/>
            <a:ext cx="25400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6" name="fig1-edge5-1">
            <a:extLst>
              <a:ext uri="{FF2B5EF4-FFF2-40B4-BE49-F238E27FC236}">
                <a16:creationId xmlns:a16="http://schemas.microsoft.com/office/drawing/2014/main" id="{2DA16478-21D8-4B29-9282-8BFE3E738370}"/>
              </a:ext>
            </a:extLst>
          </p:cNvPr>
          <p:cNvSpPr>
            <a:spLocks noGrp="1"/>
          </p:cNvSpPr>
          <p:nvPr/>
        </p:nvSpPr>
        <p:spPr>
          <a:xfrm>
            <a:off x="2463800" y="3911600"/>
            <a:ext cx="266700" cy="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7" name="fig1-edge5-2">
            <a:extLst>
              <a:ext uri="{FF2B5EF4-FFF2-40B4-BE49-F238E27FC236}">
                <a16:creationId xmlns:a16="http://schemas.microsoft.com/office/drawing/2014/main" id="{9F66D62E-AAD0-4433-8535-89EAA8D7FF91}"/>
              </a:ext>
            </a:extLst>
          </p:cNvPr>
          <p:cNvSpPr>
            <a:spLocks noGrp="1"/>
          </p:cNvSpPr>
          <p:nvPr/>
        </p:nvSpPr>
        <p:spPr>
          <a:xfrm>
            <a:off x="2730500" y="3911600"/>
            <a:ext cx="0" cy="69850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8" name="fig1-edge5-3">
            <a:extLst>
              <a:ext uri="{FF2B5EF4-FFF2-40B4-BE49-F238E27FC236}">
                <a16:creationId xmlns:a16="http://schemas.microsoft.com/office/drawing/2014/main" id="{569DA4BF-F3FF-48C1-A1E8-B5A7D2248511}"/>
              </a:ext>
            </a:extLst>
          </p:cNvPr>
          <p:cNvSpPr>
            <a:spLocks noGrp="1"/>
          </p:cNvSpPr>
          <p:nvPr/>
        </p:nvSpPr>
        <p:spPr>
          <a:xfrm>
            <a:off x="2730500" y="4610100"/>
            <a:ext cx="22733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9" name="fig1-edge3-1">
            <a:extLst>
              <a:ext uri="{FF2B5EF4-FFF2-40B4-BE49-F238E27FC236}">
                <a16:creationId xmlns:a16="http://schemas.microsoft.com/office/drawing/2014/main" id="{98BF49C1-30B1-4EA9-91B8-25052B2F7188}"/>
              </a:ext>
            </a:extLst>
          </p:cNvPr>
          <p:cNvSpPr>
            <a:spLocks noGrp="1"/>
          </p:cNvSpPr>
          <p:nvPr/>
        </p:nvSpPr>
        <p:spPr>
          <a:xfrm>
            <a:off x="7683500" y="3594100"/>
            <a:ext cx="16383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0" name="fig1-edge4-1">
            <a:extLst>
              <a:ext uri="{FF2B5EF4-FFF2-40B4-BE49-F238E27FC236}">
                <a16:creationId xmlns:a16="http://schemas.microsoft.com/office/drawing/2014/main" id="{1E2AD48F-43FA-489E-B128-DC45DDC8E022}"/>
              </a:ext>
            </a:extLst>
          </p:cNvPr>
          <p:cNvSpPr>
            <a:spLocks noGrp="1"/>
          </p:cNvSpPr>
          <p:nvPr/>
        </p:nvSpPr>
        <p:spPr>
          <a:xfrm>
            <a:off x="10433050" y="2946400"/>
            <a:ext cx="0" cy="27940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Tree>
    <p:extLst>
      <p:ext uri="{BB962C8B-B14F-4D97-AF65-F5344CB8AC3E}">
        <p14:creationId xmlns:p14="http://schemas.microsoft.com/office/powerpoint/2010/main" val="22046050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400" b="1" spc="-150">
                <a:solidFill>
                  <a:srgbClr val="FFFFFF"/>
                </a:solidFill>
                <a:latin typeface="汉仪文润宋韵 U"/>
                <a:ea typeface="汉仪文润宋韵 U"/>
                <a:cs typeface="汉仪文润宋韵 U"/>
              </a:rPr>
              <a:t>B  概率图路线：如何处理未知位置？</a:t>
            </a: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已有方法及其发展关系</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01</a:t>
            </a:r>
          </a:p>
        </p:txBody>
      </p:sp>
      <p:sp>
        <p:nvSpPr>
          <p:cNvPr id="6" name="文本框 5">
            <a:extLst>
              <a:ext uri="{FF2B5EF4-FFF2-40B4-BE49-F238E27FC236}">
                <a16:creationId xmlns:a16="http://schemas.microsoft.com/office/drawing/2014/main" id="{2911FE70-E849-ED7F-BFB0-3FB730551685}"/>
              </a:ext>
            </a:extLst>
          </p:cNvPr>
          <p:cNvSpPr>
            <a:spLocks noGrp="1"/>
          </p:cNvSpPr>
          <p:nvPr/>
        </p:nvSpPr>
        <p:spPr>
          <a:xfrm>
            <a:off x="622300" y="1638300"/>
            <a:ext cx="10922000" cy="406400"/>
          </a:xfrm>
          <a:prstGeom prst="rect">
            <a:avLst/>
          </a:prstGeom>
          <a:noFill/>
        </p:spPr>
        <p:txBody>
          <a:bodyPr vert="horz" wrap="square" lIns="38100" tIns="25400" rIns="38100" bIns="25400" anchor="t">
            <a:noAutofit/>
          </a:bodyPr>
          <a:lstStyle/>
          <a:p>
            <a:pPr>
              <a:lnSpc>
                <a:spcPts val="2006"/>
              </a:lnSpc>
              <a:buNone/>
              <a:defRPr sz="1725">
                <a:solidFill>
                  <a:srgbClr val="2F6096"/>
                </a:solidFill>
                <a:latin typeface="Microsoft YaHei"/>
                <a:ea typeface="Microsoft YaHei"/>
                <a:cs typeface="Microsoft YaHei"/>
              </a:defRPr>
            </a:pPr>
            <a:r>
              <a:rPr sz="1725">
                <a:solidFill>
                  <a:srgbClr val="2F6096"/>
                </a:solidFill>
                <a:latin typeface="Microsoft YaHei"/>
                <a:ea typeface="Microsoft YaHei"/>
                <a:cs typeface="Microsoft YaHei"/>
              </a:rPr>
              <a:t>LS与LRE同属概率图路线，具体构造由分数、方向与位置规则决定。</a:t>
            </a:r>
          </a:p>
        </p:txBody>
      </p:sp>
      <p:sp>
        <p:nvSpPr>
          <p:cNvPr id="17" name="fig1-white">
            <a:extLst>
              <a:ext uri="{FF2B5EF4-FFF2-40B4-BE49-F238E27FC236}">
                <a16:creationId xmlns:a16="http://schemas.microsoft.com/office/drawing/2014/main" id="{6BAFF377-25AB-9762-2D70-2278810E5997}"/>
              </a:ext>
            </a:extLst>
          </p:cNvPr>
          <p:cNvSpPr>
            <a:spLocks noGrp="1"/>
          </p:cNvSpPr>
          <p:nvPr/>
        </p:nvSpPr>
        <p:spPr>
          <a:xfrm>
            <a:off x="622300" y="2190115"/>
            <a:ext cx="3302000" cy="560832"/>
          </a:xfrm>
          <a:prstGeom prst="roundRect">
            <a:avLst>
              <a:gd name="adj" fmla="val 7000"/>
            </a:avLst>
          </a:prstGeom>
          <a:solidFill>
            <a:srgbClr val="EAF0F6"/>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0" rIns="38100" bIns="0" anchor="ctr">
            <a:noAutofit/>
          </a:bodyPr>
          <a:lstStyle/>
          <a:p>
            <a:pPr algn="ctr">
              <a:lnSpc>
                <a:spcPts val="1650"/>
              </a:lnSpc>
              <a:buNone/>
            </a:pPr>
            <a:r>
              <a:rPr sz="1400">
                <a:solidFill>
                  <a:srgbClr val="203040"/>
                </a:solidFill>
                <a:latin typeface="Microsoft YaHei"/>
                <a:ea typeface="Microsoft YaHei"/>
                <a:cs typeface="Microsoft YaHei"/>
              </a:rPr>
              <a:t>LS 二参数概率图回归</a:t>
            </a:r>
          </a:p>
          <a:p>
            <a:pPr algn="ctr">
              <a:lnSpc>
                <a:spcPts val="1650"/>
              </a:lnSpc>
              <a:buNone/>
            </a:pPr>
            <a:r>
              <a:rPr sz="1400">
                <a:solidFill>
                  <a:srgbClr val="203040"/>
                </a:solidFill>
                <a:latin typeface="Microsoft YaHei"/>
                <a:ea typeface="Microsoft YaHei"/>
                <a:cs typeface="Microsoft YaHei"/>
              </a:rPr>
              <a:t>White · 1969</a:t>
            </a:r>
          </a:p>
        </p:txBody>
      </p:sp>
      <p:sp>
        <p:nvSpPr>
          <p:cNvPr id="18" name="fig1-soman">
            <a:extLst>
              <a:ext uri="{FF2B5EF4-FFF2-40B4-BE49-F238E27FC236}">
                <a16:creationId xmlns:a16="http://schemas.microsoft.com/office/drawing/2014/main" id="{F83C78B6-253F-8ED2-FCDB-4716D21876E0}"/>
              </a:ext>
            </a:extLst>
          </p:cNvPr>
          <p:cNvSpPr>
            <a:spLocks noGrp="1"/>
          </p:cNvSpPr>
          <p:nvPr/>
        </p:nvSpPr>
        <p:spPr>
          <a:xfrm>
            <a:off x="7670800" y="2190115"/>
            <a:ext cx="3873500" cy="560832"/>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0" rIns="38100" bIns="0" anchor="ctr">
            <a:noAutofit/>
          </a:bodyPr>
          <a:lstStyle/>
          <a:p>
            <a:pPr algn="ctr">
              <a:lnSpc>
                <a:spcPts val="1650"/>
              </a:lnSpc>
              <a:buNone/>
            </a:pPr>
            <a:r>
              <a:rPr sz="1400">
                <a:solidFill>
                  <a:srgbClr val="203040"/>
                </a:solidFill>
                <a:latin typeface="Microsoft YaHei"/>
                <a:ea typeface="Microsoft YaHei"/>
                <a:cs typeface="Microsoft YaHei"/>
              </a:rPr>
              <a:t>LS 三参数最小二乘</a:t>
            </a:r>
          </a:p>
          <a:p>
            <a:pPr algn="ctr">
              <a:lnSpc>
                <a:spcPts val="1650"/>
              </a:lnSpc>
              <a:buNone/>
            </a:pPr>
            <a:r>
              <a:rPr sz="1400">
                <a:solidFill>
                  <a:srgbClr val="203040"/>
                </a:solidFill>
                <a:latin typeface="Microsoft YaHei"/>
                <a:ea typeface="Microsoft YaHei"/>
                <a:cs typeface="Microsoft YaHei"/>
              </a:rPr>
              <a:t>Soman &amp; Misra · 1992</a:t>
            </a:r>
          </a:p>
        </p:txBody>
      </p:sp>
      <p:sp>
        <p:nvSpPr>
          <p:cNvPr id="19" name="fig1-plot">
            <a:extLst>
              <a:ext uri="{FF2B5EF4-FFF2-40B4-BE49-F238E27FC236}">
                <a16:creationId xmlns:a16="http://schemas.microsoft.com/office/drawing/2014/main" id="{65675938-9A67-E934-E6DF-F65962F514D0}"/>
              </a:ext>
            </a:extLst>
          </p:cNvPr>
          <p:cNvSpPr>
            <a:spLocks noGrp="1"/>
          </p:cNvSpPr>
          <p:nvPr/>
        </p:nvSpPr>
        <p:spPr>
          <a:xfrm>
            <a:off x="622300" y="3189097"/>
            <a:ext cx="3302000" cy="578358"/>
          </a:xfrm>
          <a:prstGeom prst="roundRect">
            <a:avLst>
              <a:gd name="adj" fmla="val 7000"/>
            </a:avLst>
          </a:prstGeom>
          <a:solidFill>
            <a:srgbClr val="FFFFFF"/>
          </a:solidFill>
          <a:ln w="12700">
            <a:solidFill>
              <a:srgbClr val="63758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38100" tIns="0" rIns="38100" bIns="0" anchor="ctr">
            <a:noAutofit/>
          </a:bodyPr>
          <a:lstStyle/>
          <a:p>
            <a:pPr algn="ctr">
              <a:lnSpc>
                <a:spcPts val="1650"/>
              </a:lnSpc>
              <a:buNone/>
            </a:pPr>
            <a:r>
              <a:rPr sz="1400">
                <a:solidFill>
                  <a:srgbClr val="203040"/>
                </a:solidFill>
                <a:latin typeface="Microsoft YaHei"/>
                <a:ea typeface="Microsoft YaHei"/>
                <a:cs typeface="Microsoft YaHei"/>
              </a:rPr>
              <a:t>LRE相关构造</a:t>
            </a:r>
          </a:p>
          <a:p>
            <a:pPr algn="ctr">
              <a:lnSpc>
                <a:spcPts val="1650"/>
              </a:lnSpc>
              <a:buNone/>
            </a:pPr>
            <a:r>
              <a:rPr sz="1400">
                <a:solidFill>
                  <a:srgbClr val="203040"/>
                </a:solidFill>
                <a:latin typeface="Microsoft YaHei"/>
                <a:ea typeface="Microsoft YaHei"/>
                <a:cs typeface="Microsoft YaHei"/>
              </a:rPr>
              <a:t>Weibull图线性化</a:t>
            </a:r>
          </a:p>
        </p:txBody>
      </p:sp>
      <p:sp>
        <p:nvSpPr>
          <p:cNvPr id="20" name="fig1-li">
            <a:extLst>
              <a:ext uri="{FF2B5EF4-FFF2-40B4-BE49-F238E27FC236}">
                <a16:creationId xmlns:a16="http://schemas.microsoft.com/office/drawing/2014/main" id="{3813DF7B-6E53-2F54-2674-A9944E5E53E2}"/>
              </a:ext>
            </a:extLst>
          </p:cNvPr>
          <p:cNvSpPr>
            <a:spLocks noGrp="1"/>
          </p:cNvSpPr>
          <p:nvPr/>
        </p:nvSpPr>
        <p:spPr>
          <a:xfrm>
            <a:off x="7670800" y="3005074"/>
            <a:ext cx="3873500" cy="560832"/>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0" rIns="38100" bIns="0" anchor="ctr">
            <a:noAutofit/>
          </a:bodyPr>
          <a:lstStyle/>
          <a:p>
            <a:pPr algn="ctr">
              <a:lnSpc>
                <a:spcPts val="1650"/>
              </a:lnSpc>
              <a:buNone/>
            </a:pPr>
            <a:r>
              <a:rPr sz="1400">
                <a:solidFill>
                  <a:srgbClr val="203040"/>
                </a:solidFill>
                <a:latin typeface="Microsoft YaHei"/>
                <a:ea typeface="Microsoft YaHei"/>
                <a:cs typeface="Microsoft YaHei"/>
              </a:rPr>
              <a:t>GLRA 广义线性回归</a:t>
            </a:r>
          </a:p>
          <a:p>
            <a:pPr algn="ctr">
              <a:lnSpc>
                <a:spcPts val="1650"/>
              </a:lnSpc>
              <a:buNone/>
            </a:pPr>
            <a:r>
              <a:rPr sz="1400">
                <a:solidFill>
                  <a:srgbClr val="203040"/>
                </a:solidFill>
                <a:latin typeface="Microsoft YaHei"/>
                <a:ea typeface="Microsoft YaHei"/>
                <a:cs typeface="Microsoft YaHei"/>
              </a:rPr>
              <a:t>Li · 1994</a:t>
            </a:r>
          </a:p>
        </p:txBody>
      </p:sp>
      <p:sp>
        <p:nvSpPr>
          <p:cNvPr id="21" name="fig1-park">
            <a:extLst>
              <a:ext uri="{FF2B5EF4-FFF2-40B4-BE49-F238E27FC236}">
                <a16:creationId xmlns:a16="http://schemas.microsoft.com/office/drawing/2014/main" id="{2CDB9860-B1C3-AFF8-60E0-F026CE1F5EFF}"/>
              </a:ext>
            </a:extLst>
          </p:cNvPr>
          <p:cNvSpPr>
            <a:spLocks noGrp="1"/>
          </p:cNvSpPr>
          <p:nvPr/>
        </p:nvSpPr>
        <p:spPr>
          <a:xfrm>
            <a:off x="7670800" y="3986530"/>
            <a:ext cx="3873500" cy="578358"/>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0" rIns="38100" bIns="0" anchor="ctr">
            <a:noAutofit/>
          </a:bodyPr>
          <a:lstStyle/>
          <a:p>
            <a:pPr algn="ctr">
              <a:lnSpc>
                <a:spcPts val="1650"/>
              </a:lnSpc>
              <a:buNone/>
            </a:pPr>
            <a:r>
              <a:rPr sz="1400">
                <a:solidFill>
                  <a:srgbClr val="203040"/>
                </a:solidFill>
                <a:latin typeface="Microsoft YaHei"/>
                <a:ea typeface="Microsoft YaHei"/>
                <a:cs typeface="Microsoft YaHei"/>
              </a:rPr>
              <a:t>相关系数法（Plot分支）</a:t>
            </a:r>
          </a:p>
          <a:p>
            <a:pPr algn="ctr">
              <a:lnSpc>
                <a:spcPts val="1650"/>
              </a:lnSpc>
              <a:buNone/>
            </a:pPr>
            <a:r>
              <a:rPr sz="1400">
                <a:solidFill>
                  <a:srgbClr val="203040"/>
                </a:solidFill>
                <a:latin typeface="Microsoft YaHei"/>
                <a:ea typeface="Microsoft YaHei"/>
                <a:cs typeface="Microsoft YaHei"/>
              </a:rPr>
              <a:t>Park · 2017</a:t>
            </a:r>
          </a:p>
        </p:txBody>
      </p:sp>
      <p:sp>
        <p:nvSpPr>
          <p:cNvPr id="22" name="fig1-text_edge6">
            <a:extLst>
              <a:ext uri="{FF2B5EF4-FFF2-40B4-BE49-F238E27FC236}">
                <a16:creationId xmlns:a16="http://schemas.microsoft.com/office/drawing/2014/main" id="{0C5A288D-71E8-CD1A-1D63-B92A6275E59E}"/>
              </a:ext>
            </a:extLst>
          </p:cNvPr>
          <p:cNvSpPr>
            <a:spLocks noGrp="1"/>
          </p:cNvSpPr>
          <p:nvPr/>
        </p:nvSpPr>
        <p:spPr>
          <a:xfrm>
            <a:off x="4686300" y="2076196"/>
            <a:ext cx="2222500" cy="385572"/>
          </a:xfrm>
          <a:prstGeom prst="rect">
            <a:avLst/>
          </a:prstGeom>
          <a:noFill/>
        </p:spPr>
        <p:txBody>
          <a:bodyPr vert="horz" wrap="square" lIns="38100" tIns="0" rIns="38100" bIns="0" anchor="ctr">
            <a:noAutofit/>
          </a:bodyPr>
          <a:lstStyle/>
          <a:p>
            <a:pPr algn="ctr">
              <a:lnSpc>
                <a:spcPts val="1650"/>
              </a:lnSpc>
              <a:buNone/>
            </a:pPr>
            <a:r>
              <a:rPr sz="1400">
                <a:solidFill>
                  <a:srgbClr val="304559"/>
                </a:solidFill>
                <a:latin typeface="Microsoft YaHei"/>
                <a:ea typeface="Microsoft YaHei"/>
                <a:cs typeface="Microsoft YaHei"/>
              </a:rPr>
              <a:t>位置未知</a:t>
            </a:r>
          </a:p>
          <a:p>
            <a:pPr algn="ctr">
              <a:lnSpc>
                <a:spcPts val="1650"/>
              </a:lnSpc>
              <a:buNone/>
            </a:pPr>
            <a:r>
              <a:rPr sz="1400">
                <a:solidFill>
                  <a:srgbClr val="304559"/>
                </a:solidFill>
                <a:latin typeface="Microsoft YaHei"/>
                <a:ea typeface="Microsoft YaHei"/>
                <a:cs typeface="Microsoft YaHei"/>
              </a:rPr>
              <a:t>扩展到三参数</a:t>
            </a:r>
          </a:p>
        </p:txBody>
      </p:sp>
      <p:sp>
        <p:nvSpPr>
          <p:cNvPr id="23" name="fig1-text_edge7">
            <a:extLst>
              <a:ext uri="{FF2B5EF4-FFF2-40B4-BE49-F238E27FC236}">
                <a16:creationId xmlns:a16="http://schemas.microsoft.com/office/drawing/2014/main" id="{117F3D43-7A7D-3E23-B704-0B144E79EF5A}"/>
              </a:ext>
            </a:extLst>
          </p:cNvPr>
          <p:cNvSpPr>
            <a:spLocks noGrp="1"/>
          </p:cNvSpPr>
          <p:nvPr/>
        </p:nvSpPr>
        <p:spPr>
          <a:xfrm>
            <a:off x="4406900" y="3013837"/>
            <a:ext cx="3111500" cy="227838"/>
          </a:xfrm>
          <a:prstGeom prst="rect">
            <a:avLst/>
          </a:prstGeom>
          <a:noFill/>
        </p:spPr>
        <p:txBody>
          <a:bodyPr vert="horz" wrap="square" lIns="38100" tIns="0" rIns="38100" bIns="0" anchor="ctr">
            <a:noAutofit/>
          </a:bodyPr>
          <a:lstStyle/>
          <a:p>
            <a:pPr algn="ctr">
              <a:lnSpc>
                <a:spcPts val="1650"/>
              </a:lnSpc>
              <a:buNone/>
            </a:pPr>
            <a:r>
              <a:rPr sz="1400">
                <a:solidFill>
                  <a:srgbClr val="304559"/>
                </a:solidFill>
                <a:latin typeface="Microsoft YaHei"/>
                <a:ea typeface="Microsoft YaHei"/>
                <a:cs typeface="Microsoft YaHei"/>
              </a:rPr>
              <a:t>构造位置近似</a:t>
            </a:r>
          </a:p>
        </p:txBody>
      </p:sp>
      <p:sp>
        <p:nvSpPr>
          <p:cNvPr id="24" name="fig1-text_edge8">
            <a:extLst>
              <a:ext uri="{FF2B5EF4-FFF2-40B4-BE49-F238E27FC236}">
                <a16:creationId xmlns:a16="http://schemas.microsoft.com/office/drawing/2014/main" id="{8CA15B03-9C15-A8DF-20A2-CB58859DED9C}"/>
              </a:ext>
            </a:extLst>
          </p:cNvPr>
          <p:cNvSpPr>
            <a:spLocks noGrp="1"/>
          </p:cNvSpPr>
          <p:nvPr/>
        </p:nvSpPr>
        <p:spPr>
          <a:xfrm>
            <a:off x="5676900" y="3942715"/>
            <a:ext cx="1905000" cy="262890"/>
          </a:xfrm>
          <a:prstGeom prst="rect">
            <a:avLst/>
          </a:prstGeom>
          <a:noFill/>
        </p:spPr>
        <p:txBody>
          <a:bodyPr vert="horz" wrap="square" lIns="38100" tIns="0" rIns="38100" bIns="0" anchor="ctr">
            <a:noAutofit/>
          </a:bodyPr>
          <a:lstStyle/>
          <a:p>
            <a:pPr algn="ctr">
              <a:lnSpc>
                <a:spcPts val="1650"/>
              </a:lnSpc>
              <a:buNone/>
            </a:pPr>
            <a:r>
              <a:rPr sz="1400">
                <a:solidFill>
                  <a:srgbClr val="304559"/>
                </a:solidFill>
                <a:latin typeface="Microsoft YaHei"/>
                <a:ea typeface="Microsoft YaHei"/>
                <a:cs typeface="Microsoft YaHei"/>
              </a:rPr>
              <a:t>以相关性选位置</a:t>
            </a:r>
          </a:p>
        </p:txBody>
      </p:sp>
      <p:sp>
        <p:nvSpPr>
          <p:cNvPr id="27" name="fig1-edge6-1">
            <a:extLst>
              <a:ext uri="{FF2B5EF4-FFF2-40B4-BE49-F238E27FC236}">
                <a16:creationId xmlns:a16="http://schemas.microsoft.com/office/drawing/2014/main" id="{EBE9FE6F-4DE9-40B7-854F-912F934B3E16}"/>
              </a:ext>
            </a:extLst>
          </p:cNvPr>
          <p:cNvSpPr>
            <a:spLocks noGrp="1"/>
          </p:cNvSpPr>
          <p:nvPr/>
        </p:nvSpPr>
        <p:spPr>
          <a:xfrm>
            <a:off x="3924300" y="2470531"/>
            <a:ext cx="37465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8" name="fig1-edge7-1">
            <a:extLst>
              <a:ext uri="{FF2B5EF4-FFF2-40B4-BE49-F238E27FC236}">
                <a16:creationId xmlns:a16="http://schemas.microsoft.com/office/drawing/2014/main" id="{842611E2-61E5-459B-990F-30A6B0A1898B}"/>
              </a:ext>
            </a:extLst>
          </p:cNvPr>
          <p:cNvSpPr>
            <a:spLocks noGrp="1"/>
          </p:cNvSpPr>
          <p:nvPr/>
        </p:nvSpPr>
        <p:spPr>
          <a:xfrm>
            <a:off x="3924300" y="3329305"/>
            <a:ext cx="1905000" cy="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9" name="fig1-edge7-2">
            <a:extLst>
              <a:ext uri="{FF2B5EF4-FFF2-40B4-BE49-F238E27FC236}">
                <a16:creationId xmlns:a16="http://schemas.microsoft.com/office/drawing/2014/main" id="{A7E8B7FB-8D99-41FD-B35B-234C749EC237}"/>
              </a:ext>
            </a:extLst>
          </p:cNvPr>
          <p:cNvSpPr>
            <a:spLocks noGrp="1"/>
          </p:cNvSpPr>
          <p:nvPr/>
        </p:nvSpPr>
        <p:spPr>
          <a:xfrm flipV="1">
            <a:off x="5829300" y="3285491"/>
            <a:ext cx="0" cy="43815"/>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0" name="fig1-edge7-3">
            <a:extLst>
              <a:ext uri="{FF2B5EF4-FFF2-40B4-BE49-F238E27FC236}">
                <a16:creationId xmlns:a16="http://schemas.microsoft.com/office/drawing/2014/main" id="{4471CC2B-D35A-4E35-830F-BE1A7E629A92}"/>
              </a:ext>
            </a:extLst>
          </p:cNvPr>
          <p:cNvSpPr>
            <a:spLocks noGrp="1"/>
          </p:cNvSpPr>
          <p:nvPr/>
        </p:nvSpPr>
        <p:spPr>
          <a:xfrm>
            <a:off x="5829300" y="3285490"/>
            <a:ext cx="18415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1" name="fig1-edge8-1">
            <a:extLst>
              <a:ext uri="{FF2B5EF4-FFF2-40B4-BE49-F238E27FC236}">
                <a16:creationId xmlns:a16="http://schemas.microsoft.com/office/drawing/2014/main" id="{8DA49B01-0828-4EDF-97E9-FB40424C57B2}"/>
              </a:ext>
            </a:extLst>
          </p:cNvPr>
          <p:cNvSpPr>
            <a:spLocks noGrp="1"/>
          </p:cNvSpPr>
          <p:nvPr/>
        </p:nvSpPr>
        <p:spPr>
          <a:xfrm>
            <a:off x="3924300" y="3627247"/>
            <a:ext cx="1587500" cy="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2" name="fig1-edge8-2">
            <a:extLst>
              <a:ext uri="{FF2B5EF4-FFF2-40B4-BE49-F238E27FC236}">
                <a16:creationId xmlns:a16="http://schemas.microsoft.com/office/drawing/2014/main" id="{85200C02-FFD9-44E5-8F1D-5B069FCC20C5}"/>
              </a:ext>
            </a:extLst>
          </p:cNvPr>
          <p:cNvSpPr>
            <a:spLocks noGrp="1"/>
          </p:cNvSpPr>
          <p:nvPr/>
        </p:nvSpPr>
        <p:spPr>
          <a:xfrm>
            <a:off x="5511800" y="3627247"/>
            <a:ext cx="0" cy="648462"/>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3" name="fig1-edge8-3">
            <a:extLst>
              <a:ext uri="{FF2B5EF4-FFF2-40B4-BE49-F238E27FC236}">
                <a16:creationId xmlns:a16="http://schemas.microsoft.com/office/drawing/2014/main" id="{45942E4E-3B68-46B4-BDB4-3EB12D846741}"/>
              </a:ext>
            </a:extLst>
          </p:cNvPr>
          <p:cNvSpPr>
            <a:spLocks noGrp="1"/>
          </p:cNvSpPr>
          <p:nvPr/>
        </p:nvSpPr>
        <p:spPr>
          <a:xfrm>
            <a:off x="5511800" y="4275709"/>
            <a:ext cx="21590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graphicFrame>
        <p:nvGraphicFramePr>
          <p:cNvPr id="58" name="表格 33"/>
          <p:cNvGraphicFramePr/>
          <p:nvPr/>
        </p:nvGraphicFramePr>
        <p:xfrm>
          <a:off x="622300" y="4686300"/>
          <a:ext cx="10922000" cy="1193799"/>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4318000">
                  <a:extLst>
                    <a:ext uri="{9D8B030D-6E8A-4147-A177-3AD203B41FA5}">
                      <a16:colId xmlns:a16="http://schemas.microsoft.com/office/drawing/2014/main" val="20002"/>
                    </a:ext>
                  </a:extLst>
                </a:gridCol>
              </a:tblGrid>
              <a:tr h="397933">
                <a:tc>
                  <a:txBody>
                    <a:bodyPr/>
                    <a:lstStyle/>
                    <a:p>
                      <a:r>
                        <a:rPr sz="1400" b="1">
                          <a:solidFill>
                            <a:srgbClr val="FFFFFF"/>
                          </a:solidFill>
                          <a:latin typeface="Microsoft YaHei"/>
                          <a:ea typeface="Microsoft YaHei"/>
                          <a:cs typeface="Microsoft YaHei"/>
                        </a:rPr>
                        <a:t>文献版本示例</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r>
                        <a:rPr sz="1400" b="1">
                          <a:solidFill>
                            <a:srgbClr val="FFFFFF"/>
                          </a:solidFill>
                          <a:latin typeface="Microsoft YaHei"/>
                          <a:ea typeface="Microsoft YaHei"/>
                          <a:cs typeface="Microsoft YaHei"/>
                        </a:rPr>
                        <a:t>LS：White—Soman分支</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r>
                        <a:rPr sz="1400" b="1">
                          <a:solidFill>
                            <a:srgbClr val="FFFFFF"/>
                          </a:solidFill>
                          <a:latin typeface="Microsoft YaHei"/>
                          <a:ea typeface="Microsoft YaHei"/>
                          <a:cs typeface="Microsoft YaHei"/>
                        </a:rPr>
                        <a:t>Park 2017：Proposed+Plot</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10000"/>
                  </a:ext>
                </a:extLst>
              </a:tr>
              <a:tr h="397933">
                <a:tc>
                  <a:txBody>
                    <a:bodyPr/>
                    <a:lstStyle/>
                    <a:p>
                      <a:r>
                        <a:rPr sz="1400" b="0">
                          <a:solidFill>
                            <a:srgbClr val="000000"/>
                          </a:solidFill>
                          <a:latin typeface="Microsoft YaHei"/>
                          <a:ea typeface="Microsoft YaHei"/>
                          <a:cs typeface="Microsoft YaHei"/>
                        </a:rPr>
                        <a:t>绘图分数</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400" b="0">
                          <a:solidFill>
                            <a:srgbClr val="000000"/>
                          </a:solidFill>
                          <a:latin typeface="Microsoft YaHei"/>
                          <a:ea typeface="Microsoft YaHei"/>
                          <a:cs typeface="Microsoft YaHei"/>
                        </a:rPr>
                        <a:t>对数Weibull次序统计量期望</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400" b="0">
                          <a:solidFill>
                            <a:srgbClr val="000000"/>
                          </a:solidFill>
                          <a:latin typeface="Microsoft YaHei"/>
                          <a:ea typeface="Microsoft YaHei"/>
                          <a:cs typeface="Microsoft YaHei"/>
                        </a:rPr>
                        <a:t>按n分段的绘图概率，经双对数变换</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1"/>
                  </a:ext>
                </a:extLst>
              </a:tr>
              <a:tr h="397933">
                <a:tc>
                  <a:txBody>
                    <a:bodyPr/>
                    <a:lstStyle/>
                    <a:p>
                      <a:r>
                        <a:rPr sz="1400" b="0">
                          <a:solidFill>
                            <a:srgbClr val="000000"/>
                          </a:solidFill>
                          <a:latin typeface="Microsoft YaHei"/>
                          <a:ea typeface="Microsoft YaHei"/>
                          <a:cs typeface="Microsoft YaHei"/>
                        </a:rPr>
                        <a:t>回归与形状恢复</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400" b="0">
                          <a:solidFill>
                            <a:srgbClr val="000000"/>
                          </a:solidFill>
                          <a:latin typeface="Microsoft YaHei"/>
                          <a:ea typeface="Microsoft YaHei"/>
                          <a:cs typeface="Microsoft YaHei"/>
                        </a:rPr>
                        <a:t>x = a + bz，β̂ = 1/b</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400" b="0">
                          <a:solidFill>
                            <a:srgbClr val="000000"/>
                          </a:solidFill>
                          <a:latin typeface="Microsoft YaHei"/>
                          <a:ea typeface="Microsoft YaHei"/>
                          <a:cs typeface="Microsoft YaHei"/>
                        </a:rPr>
                        <a:t>z = a + bx，β̂ = b</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2"/>
                  </a:ext>
                </a:extLst>
              </a:tr>
            </a:tbl>
          </a:graphicData>
        </a:graphic>
      </p:graphicFrame>
      <p:sp>
        <p:nvSpPr>
          <p:cNvPr id="35" name="文本框 34">
            <a:extLst>
              <a:ext uri="{FF2B5EF4-FFF2-40B4-BE49-F238E27FC236}">
                <a16:creationId xmlns:a16="http://schemas.microsoft.com/office/drawing/2014/main" id="{F4F7D4B8-3B61-04B5-DD2E-2EC108C8B53D}"/>
              </a:ext>
            </a:extLst>
          </p:cNvPr>
          <p:cNvSpPr>
            <a:spLocks noGrp="1"/>
          </p:cNvSpPr>
          <p:nvPr/>
        </p:nvSpPr>
        <p:spPr>
          <a:xfrm>
            <a:off x="622300" y="5969000"/>
            <a:ext cx="10922000" cy="254000"/>
          </a:xfrm>
          <a:prstGeom prst="rect">
            <a:avLst/>
          </a:prstGeom>
          <a:noFill/>
        </p:spPr>
        <p:txBody>
          <a:bodyPr vert="horz" wrap="square" lIns="0" tIns="0" rIns="0" bIns="0">
            <a:noAutofit/>
          </a:bodyPr>
          <a:lstStyle/>
          <a:p>
            <a:r>
              <a:rPr sz="1300">
                <a:solidFill>
                  <a:srgbClr val="2F6096"/>
                </a:solidFill>
                <a:latin typeface="Microsoft YaHei"/>
                <a:ea typeface="Microsoft YaHei"/>
                <a:cs typeface="Microsoft YaHei"/>
              </a:rPr>
              <a:t>x为对数寿命，z为绘图分数。同一分数与带截距OLS下，F比与相关系数平方单调等价。</a:t>
            </a:r>
          </a:p>
        </p:txBody>
      </p:sp>
      <p:sp>
        <p:nvSpPr>
          <p:cNvPr id="36" name="文本框 35">
            <a:extLst>
              <a:ext uri="{FF2B5EF4-FFF2-40B4-BE49-F238E27FC236}">
                <a16:creationId xmlns:a16="http://schemas.microsoft.com/office/drawing/2014/main" id="{9F3EF18D-7F11-027F-6E7A-60212C24DFF2}"/>
              </a:ext>
            </a:extLst>
          </p:cNvPr>
          <p:cNvSpPr>
            <a:spLocks noGrp="1"/>
          </p:cNvSpPr>
          <p:nvPr/>
        </p:nvSpPr>
        <p:spPr>
          <a:xfrm>
            <a:off x="622300" y="6286500"/>
            <a:ext cx="10922000" cy="228600"/>
          </a:xfrm>
          <a:prstGeom prst="rect">
            <a:avLst/>
          </a:prstGeom>
          <a:noFill/>
        </p:spPr>
        <p:txBody>
          <a:bodyPr vert="horz" wrap="square" lIns="0" tIns="0" rIns="0" bIns="0">
            <a:noAutofit/>
          </a:bodyPr>
          <a:lstStyle/>
          <a:p>
            <a:pPr>
              <a:defRPr sz="1200">
                <a:solidFill>
                  <a:srgbClr val="2F6096"/>
                </a:solidFill>
                <a:latin typeface="Microsoft YaHei"/>
                <a:ea typeface="Microsoft YaHei"/>
                <a:cs typeface="Microsoft YaHei"/>
              </a:defRPr>
            </a:pPr>
            <a:r>
              <a:rPr sz="1200">
                <a:solidFill>
                  <a:srgbClr val="2F6096"/>
                </a:solidFill>
                <a:latin typeface="Microsoft YaHei"/>
                <a:ea typeface="Microsoft YaHei"/>
                <a:cs typeface="Microsoft YaHei"/>
              </a:rPr>
              <a:t>Park保留原绘图位置和位置域；Bernard分数是另一个变体。来源见报告§1.3。</a:t>
            </a:r>
          </a:p>
        </p:txBody>
      </p:sp>
    </p:spTree>
    <p:extLst>
      <p:ext uri="{BB962C8B-B14F-4D97-AF65-F5344CB8AC3E}">
        <p14:creationId xmlns:p14="http://schemas.microsoft.com/office/powerpoint/2010/main" val="3706979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400" b="1" spc="-150">
                <a:solidFill>
                  <a:srgbClr val="FFFFFF"/>
                </a:solidFill>
                <a:latin typeface="汉仪文润宋韵 U"/>
                <a:ea typeface="汉仪文润宋韵 U"/>
                <a:cs typeface="汉仪文润宋韵 U"/>
              </a:rPr>
              <a:t>C  改用统计量、间距或构造差异</a:t>
            </a: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已有方法及其发展关系</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01</a:t>
            </a:r>
          </a:p>
        </p:txBody>
      </p:sp>
      <p:sp>
        <p:nvSpPr>
          <p:cNvPr id="6" name="文本框 5">
            <a:extLst>
              <a:ext uri="{FF2B5EF4-FFF2-40B4-BE49-F238E27FC236}">
                <a16:creationId xmlns:a16="http://schemas.microsoft.com/office/drawing/2014/main" id="{15A7D3A0-D900-C788-4169-A5B9277F249C}"/>
              </a:ext>
            </a:extLst>
          </p:cNvPr>
          <p:cNvSpPr>
            <a:spLocks noGrp="1"/>
          </p:cNvSpPr>
          <p:nvPr/>
        </p:nvSpPr>
        <p:spPr>
          <a:xfrm>
            <a:off x="622300" y="1638300"/>
            <a:ext cx="10922000" cy="406400"/>
          </a:xfrm>
          <a:prstGeom prst="rect">
            <a:avLst/>
          </a:prstGeom>
          <a:noFill/>
        </p:spPr>
        <p:txBody>
          <a:bodyPr vert="horz" wrap="square" lIns="38100" tIns="25400" rIns="38100" bIns="25400" anchor="t">
            <a:noAutofit/>
          </a:bodyPr>
          <a:lstStyle/>
          <a:p>
            <a:pPr>
              <a:lnSpc>
                <a:spcPts val="2006"/>
              </a:lnSpc>
              <a:buNone/>
            </a:pPr>
            <a:r>
              <a:rPr sz="1700">
                <a:solidFill>
                  <a:srgbClr val="2F6096"/>
                </a:solidFill>
                <a:latin typeface="Microsoft YaHei"/>
                <a:ea typeface="Microsoft YaHei"/>
                <a:cs typeface="Microsoft YaHei"/>
              </a:rPr>
              <a:t>这三支分别采用统计量匹配、概率间距和尺度伪估计差异作为估计依据。</a:t>
            </a:r>
          </a:p>
        </p:txBody>
      </p:sp>
      <p:sp>
        <p:nvSpPr>
          <p:cNvPr id="10" name="fig1-pwm">
            <a:extLst>
              <a:ext uri="{FF2B5EF4-FFF2-40B4-BE49-F238E27FC236}">
                <a16:creationId xmlns:a16="http://schemas.microsoft.com/office/drawing/2014/main" id="{8F6A1F28-3F96-720B-92D4-29EDB54A21C1}"/>
              </a:ext>
            </a:extLst>
          </p:cNvPr>
          <p:cNvSpPr>
            <a:spLocks noGrp="1"/>
          </p:cNvSpPr>
          <p:nvPr/>
        </p:nvSpPr>
        <p:spPr>
          <a:xfrm>
            <a:off x="622300" y="2209800"/>
            <a:ext cx="3556000" cy="812800"/>
          </a:xfrm>
          <a:prstGeom prst="roundRect">
            <a:avLst>
              <a:gd name="adj" fmla="val 7000"/>
            </a:avLst>
          </a:prstGeom>
          <a:solidFill>
            <a:srgbClr val="EAF0F6"/>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2006"/>
              </a:lnSpc>
              <a:buNone/>
            </a:pPr>
            <a:r>
              <a:rPr sz="1700">
                <a:solidFill>
                  <a:srgbClr val="203040"/>
                </a:solidFill>
                <a:latin typeface="Microsoft YaHei"/>
                <a:ea typeface="Microsoft YaHei"/>
                <a:cs typeface="Microsoft YaHei"/>
              </a:rPr>
              <a:t>PWM 概率加权矩</a:t>
            </a:r>
          </a:p>
          <a:p>
            <a:pPr algn="ctr">
              <a:lnSpc>
                <a:spcPts val="2006"/>
              </a:lnSpc>
              <a:buNone/>
            </a:pPr>
            <a:r>
              <a:rPr sz="1700">
                <a:solidFill>
                  <a:srgbClr val="203040"/>
                </a:solidFill>
                <a:latin typeface="Microsoft YaHei"/>
                <a:ea typeface="Microsoft YaHei"/>
                <a:cs typeface="Microsoft YaHei"/>
              </a:rPr>
              <a:t>Greenwood等 · 1979</a:t>
            </a:r>
          </a:p>
        </p:txBody>
      </p:sp>
      <p:sp>
        <p:nvSpPr>
          <p:cNvPr id="14" name="fig1-lm">
            <a:extLst>
              <a:ext uri="{FF2B5EF4-FFF2-40B4-BE49-F238E27FC236}">
                <a16:creationId xmlns:a16="http://schemas.microsoft.com/office/drawing/2014/main" id="{79657A67-AAA1-E8B8-BBAB-E8676A07F1B4}"/>
              </a:ext>
            </a:extLst>
          </p:cNvPr>
          <p:cNvSpPr>
            <a:spLocks noGrp="1"/>
          </p:cNvSpPr>
          <p:nvPr/>
        </p:nvSpPr>
        <p:spPr>
          <a:xfrm>
            <a:off x="7670800" y="2209800"/>
            <a:ext cx="3873500" cy="8128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2006"/>
              </a:lnSpc>
              <a:buNone/>
            </a:pPr>
            <a:r>
              <a:rPr sz="1700">
                <a:solidFill>
                  <a:srgbClr val="203040"/>
                </a:solidFill>
                <a:latin typeface="Microsoft YaHei"/>
                <a:ea typeface="Microsoft YaHei"/>
                <a:cs typeface="Microsoft YaHei"/>
              </a:rPr>
              <a:t>LM L矩估计</a:t>
            </a:r>
          </a:p>
          <a:p>
            <a:pPr algn="ctr">
              <a:lnSpc>
                <a:spcPts val="2006"/>
              </a:lnSpc>
              <a:buNone/>
            </a:pPr>
            <a:r>
              <a:rPr sz="1700">
                <a:solidFill>
                  <a:srgbClr val="203040"/>
                </a:solidFill>
                <a:latin typeface="Microsoft YaHei"/>
                <a:ea typeface="Microsoft YaHei"/>
                <a:cs typeface="Microsoft YaHei"/>
              </a:rPr>
              <a:t>Hosking · 1990</a:t>
            </a:r>
          </a:p>
        </p:txBody>
      </p:sp>
      <p:sp>
        <p:nvSpPr>
          <p:cNvPr id="15" name="fig1-boundary">
            <a:extLst>
              <a:ext uri="{FF2B5EF4-FFF2-40B4-BE49-F238E27FC236}">
                <a16:creationId xmlns:a16="http://schemas.microsoft.com/office/drawing/2014/main" id="{7068ACF1-1F3E-F83A-8143-3AE0A34E1B55}"/>
              </a:ext>
            </a:extLst>
          </p:cNvPr>
          <p:cNvSpPr>
            <a:spLocks noGrp="1"/>
          </p:cNvSpPr>
          <p:nvPr/>
        </p:nvSpPr>
        <p:spPr>
          <a:xfrm>
            <a:off x="622300" y="3378200"/>
            <a:ext cx="3556000" cy="812800"/>
          </a:xfrm>
          <a:prstGeom prst="roundRect">
            <a:avLst>
              <a:gd name="adj" fmla="val 7000"/>
            </a:avLst>
          </a:prstGeom>
          <a:solidFill>
            <a:srgbClr val="FFFFFF"/>
          </a:solidFill>
          <a:ln w="12700">
            <a:solidFill>
              <a:srgbClr val="63758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2006"/>
              </a:lnSpc>
              <a:buNone/>
            </a:pPr>
            <a:r>
              <a:rPr sz="1700">
                <a:solidFill>
                  <a:srgbClr val="203040"/>
                </a:solidFill>
                <a:latin typeface="Microsoft YaHei"/>
                <a:ea typeface="Microsoft YaHei"/>
                <a:cs typeface="Microsoft YaHei"/>
              </a:rPr>
              <a:t>原始似然的边界困难</a:t>
            </a:r>
          </a:p>
        </p:txBody>
      </p:sp>
      <p:sp>
        <p:nvSpPr>
          <p:cNvPr id="16" name="fig1-mps">
            <a:extLst>
              <a:ext uri="{FF2B5EF4-FFF2-40B4-BE49-F238E27FC236}">
                <a16:creationId xmlns:a16="http://schemas.microsoft.com/office/drawing/2014/main" id="{F9B87335-C6B8-E869-E904-C4FCC2939D7E}"/>
              </a:ext>
            </a:extLst>
          </p:cNvPr>
          <p:cNvSpPr>
            <a:spLocks noGrp="1"/>
          </p:cNvSpPr>
          <p:nvPr/>
        </p:nvSpPr>
        <p:spPr>
          <a:xfrm>
            <a:off x="7670800" y="3378200"/>
            <a:ext cx="3873500" cy="8128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2006"/>
              </a:lnSpc>
              <a:buNone/>
            </a:pPr>
            <a:r>
              <a:rPr sz="1700">
                <a:solidFill>
                  <a:srgbClr val="203040"/>
                </a:solidFill>
                <a:latin typeface="Microsoft YaHei"/>
                <a:ea typeface="Microsoft YaHei"/>
                <a:cs typeface="Microsoft YaHei"/>
              </a:rPr>
              <a:t>MPS 最大乘积间距估计</a:t>
            </a:r>
          </a:p>
          <a:p>
            <a:pPr algn="ctr">
              <a:lnSpc>
                <a:spcPts val="2006"/>
              </a:lnSpc>
              <a:buNone/>
            </a:pPr>
            <a:r>
              <a:rPr sz="1700">
                <a:solidFill>
                  <a:srgbClr val="203040"/>
                </a:solidFill>
                <a:latin typeface="Microsoft YaHei"/>
                <a:ea typeface="Microsoft YaHei"/>
                <a:cs typeface="Microsoft YaHei"/>
              </a:rPr>
              <a:t>Cheng &amp; Amin · 1983</a:t>
            </a:r>
          </a:p>
        </p:txBody>
      </p:sp>
      <p:sp>
        <p:nvSpPr>
          <p:cNvPr id="17" name="fig1-cdf">
            <a:extLst>
              <a:ext uri="{FF2B5EF4-FFF2-40B4-BE49-F238E27FC236}">
                <a16:creationId xmlns:a16="http://schemas.microsoft.com/office/drawing/2014/main" id="{76486402-F8C3-1669-77B5-09F0CAB966C1}"/>
              </a:ext>
            </a:extLst>
          </p:cNvPr>
          <p:cNvSpPr>
            <a:spLocks noGrp="1"/>
          </p:cNvSpPr>
          <p:nvPr/>
        </p:nvSpPr>
        <p:spPr>
          <a:xfrm>
            <a:off x="622300" y="4546600"/>
            <a:ext cx="3556000" cy="812800"/>
          </a:xfrm>
          <a:prstGeom prst="roundRect">
            <a:avLst>
              <a:gd name="adj" fmla="val 7000"/>
            </a:avLst>
          </a:prstGeom>
          <a:solidFill>
            <a:srgbClr val="FFFFFF"/>
          </a:solidFill>
          <a:ln w="12700">
            <a:solidFill>
              <a:srgbClr val="63758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2006"/>
              </a:lnSpc>
              <a:buNone/>
            </a:pPr>
            <a:r>
              <a:rPr sz="1700">
                <a:solidFill>
                  <a:srgbClr val="203040"/>
                </a:solidFill>
                <a:latin typeface="Microsoft YaHei"/>
                <a:ea typeface="Microsoft YaHei"/>
                <a:cs typeface="Microsoft YaHei"/>
              </a:rPr>
              <a:t>样本＋分布概率关系</a:t>
            </a:r>
          </a:p>
        </p:txBody>
      </p:sp>
      <p:sp>
        <p:nvSpPr>
          <p:cNvPr id="18" name="fig1-mdm">
            <a:extLst>
              <a:ext uri="{FF2B5EF4-FFF2-40B4-BE49-F238E27FC236}">
                <a16:creationId xmlns:a16="http://schemas.microsoft.com/office/drawing/2014/main" id="{A8026710-239E-5E15-6502-5B237C7F989E}"/>
              </a:ext>
            </a:extLst>
          </p:cNvPr>
          <p:cNvSpPr>
            <a:spLocks noGrp="1"/>
          </p:cNvSpPr>
          <p:nvPr/>
        </p:nvSpPr>
        <p:spPr>
          <a:xfrm>
            <a:off x="7670800" y="4546600"/>
            <a:ext cx="3873500" cy="8128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2006"/>
              </a:lnSpc>
              <a:buNone/>
            </a:pPr>
            <a:r>
              <a:rPr sz="1700">
                <a:solidFill>
                  <a:srgbClr val="203040"/>
                </a:solidFill>
                <a:latin typeface="Microsoft YaHei"/>
                <a:ea typeface="Microsoft YaHei"/>
                <a:cs typeface="Microsoft YaHei"/>
              </a:rPr>
              <a:t>MDM 最小差异法</a:t>
            </a:r>
          </a:p>
          <a:p>
            <a:pPr algn="ctr">
              <a:lnSpc>
                <a:spcPts val="2006"/>
              </a:lnSpc>
              <a:buNone/>
            </a:pPr>
            <a:r>
              <a:rPr sz="1700">
                <a:solidFill>
                  <a:srgbClr val="203040"/>
                </a:solidFill>
                <a:latin typeface="Microsoft YaHei"/>
                <a:ea typeface="Microsoft YaHei"/>
                <a:cs typeface="Microsoft YaHei"/>
              </a:rPr>
              <a:t>Xie等 · 2022/2023</a:t>
            </a:r>
          </a:p>
        </p:txBody>
      </p:sp>
      <p:sp>
        <p:nvSpPr>
          <p:cNvPr id="19" name="fig1-text_edge9">
            <a:extLst>
              <a:ext uri="{FF2B5EF4-FFF2-40B4-BE49-F238E27FC236}">
                <a16:creationId xmlns:a16="http://schemas.microsoft.com/office/drawing/2014/main" id="{2FE5EADD-ADFB-A8B8-0F8A-2B8E9D08ED75}"/>
              </a:ext>
            </a:extLst>
          </p:cNvPr>
          <p:cNvSpPr>
            <a:spLocks noGrp="1"/>
          </p:cNvSpPr>
          <p:nvPr/>
        </p:nvSpPr>
        <p:spPr>
          <a:xfrm>
            <a:off x="4597400" y="2057400"/>
            <a:ext cx="2730500" cy="546100"/>
          </a:xfrm>
          <a:prstGeom prst="rect">
            <a:avLst/>
          </a:prstGeom>
          <a:noFill/>
        </p:spPr>
        <p:txBody>
          <a:bodyPr vert="horz" wrap="square" lIns="38100" tIns="25400" rIns="38100" bIns="25400" anchor="ctr">
            <a:noAutofit/>
          </a:bodyPr>
          <a:lstStyle/>
          <a:p>
            <a:pPr algn="ctr">
              <a:lnSpc>
                <a:spcPts val="1770"/>
              </a:lnSpc>
              <a:buNone/>
            </a:pPr>
            <a:r>
              <a:rPr sz="1500">
                <a:solidFill>
                  <a:srgbClr val="304559"/>
                </a:solidFill>
                <a:latin typeface="Microsoft YaHei"/>
                <a:ea typeface="Microsoft YaHei"/>
                <a:cs typeface="Microsoft YaHei"/>
              </a:rPr>
              <a:t>线性组合</a:t>
            </a:r>
          </a:p>
          <a:p>
            <a:pPr algn="ctr">
              <a:lnSpc>
                <a:spcPts val="1770"/>
              </a:lnSpc>
              <a:buNone/>
            </a:pPr>
            <a:r>
              <a:rPr sz="1500">
                <a:solidFill>
                  <a:srgbClr val="304559"/>
                </a:solidFill>
                <a:latin typeface="Microsoft YaHei"/>
                <a:ea typeface="Microsoft YaHei"/>
                <a:cs typeface="Microsoft YaHei"/>
              </a:rPr>
              <a:t>L矩匹配</a:t>
            </a:r>
          </a:p>
        </p:txBody>
      </p:sp>
      <p:sp>
        <p:nvSpPr>
          <p:cNvPr id="20" name="fig1-text_edge10">
            <a:extLst>
              <a:ext uri="{FF2B5EF4-FFF2-40B4-BE49-F238E27FC236}">
                <a16:creationId xmlns:a16="http://schemas.microsoft.com/office/drawing/2014/main" id="{21C0CC91-0314-A0B8-A849-4FA030309BE7}"/>
              </a:ext>
            </a:extLst>
          </p:cNvPr>
          <p:cNvSpPr>
            <a:spLocks noGrp="1"/>
          </p:cNvSpPr>
          <p:nvPr/>
        </p:nvSpPr>
        <p:spPr>
          <a:xfrm>
            <a:off x="4597400" y="3327400"/>
            <a:ext cx="2730500" cy="444500"/>
          </a:xfrm>
          <a:prstGeom prst="rect">
            <a:avLst/>
          </a:prstGeom>
          <a:noFill/>
        </p:spPr>
        <p:txBody>
          <a:bodyPr vert="horz" wrap="square" lIns="38100" tIns="25400" rIns="38100" bIns="25400" anchor="ctr">
            <a:noAutofit/>
          </a:bodyPr>
          <a:lstStyle/>
          <a:p>
            <a:pPr algn="ctr">
              <a:lnSpc>
                <a:spcPts val="1770"/>
              </a:lnSpc>
              <a:buNone/>
            </a:pPr>
            <a:r>
              <a:rPr sz="1500">
                <a:solidFill>
                  <a:srgbClr val="304559"/>
                </a:solidFill>
                <a:latin typeface="Microsoft YaHei"/>
                <a:ea typeface="Microsoft YaHei"/>
                <a:cs typeface="Microsoft YaHei"/>
              </a:rPr>
              <a:t>改用间距乘积</a:t>
            </a:r>
          </a:p>
        </p:txBody>
      </p:sp>
      <p:sp>
        <p:nvSpPr>
          <p:cNvPr id="21" name="fig1-text_edge11">
            <a:extLst>
              <a:ext uri="{FF2B5EF4-FFF2-40B4-BE49-F238E27FC236}">
                <a16:creationId xmlns:a16="http://schemas.microsoft.com/office/drawing/2014/main" id="{7C4BB7F2-9BC5-7689-AFB0-B4C55F3E957D}"/>
              </a:ext>
            </a:extLst>
          </p:cNvPr>
          <p:cNvSpPr>
            <a:spLocks noGrp="1"/>
          </p:cNvSpPr>
          <p:nvPr/>
        </p:nvSpPr>
        <p:spPr>
          <a:xfrm>
            <a:off x="4597400" y="4394200"/>
            <a:ext cx="2730500" cy="546100"/>
          </a:xfrm>
          <a:prstGeom prst="rect">
            <a:avLst/>
          </a:prstGeom>
          <a:noFill/>
        </p:spPr>
        <p:txBody>
          <a:bodyPr vert="horz" wrap="square" lIns="38100" tIns="25400" rIns="38100" bIns="25400" anchor="ctr">
            <a:noAutofit/>
          </a:bodyPr>
          <a:lstStyle/>
          <a:p>
            <a:pPr algn="ctr">
              <a:lnSpc>
                <a:spcPts val="1770"/>
              </a:lnSpc>
              <a:buNone/>
            </a:pPr>
            <a:r>
              <a:rPr sz="1500">
                <a:solidFill>
                  <a:srgbClr val="304559"/>
                </a:solidFill>
                <a:latin typeface="Microsoft YaHei"/>
                <a:ea typeface="Microsoft YaHei"/>
                <a:cs typeface="Microsoft YaHei"/>
              </a:rPr>
              <a:t>小样本估计</a:t>
            </a:r>
          </a:p>
          <a:p>
            <a:pPr algn="ctr">
              <a:lnSpc>
                <a:spcPts val="1770"/>
              </a:lnSpc>
              <a:buNone/>
            </a:pPr>
            <a:r>
              <a:rPr sz="1500">
                <a:solidFill>
                  <a:srgbClr val="304559"/>
                </a:solidFill>
                <a:latin typeface="Microsoft YaHei"/>
                <a:ea typeface="Microsoft YaHei"/>
                <a:cs typeface="Microsoft YaHei"/>
              </a:rPr>
              <a:t>构造一致性准则</a:t>
            </a:r>
          </a:p>
        </p:txBody>
      </p:sp>
      <p:sp>
        <p:nvSpPr>
          <p:cNvPr id="22" name="panel-description">
            <a:extLst>
              <a:ext uri="{FF2B5EF4-FFF2-40B4-BE49-F238E27FC236}">
                <a16:creationId xmlns:a16="http://schemas.microsoft.com/office/drawing/2014/main" id="{5F699454-EC62-E30A-ADE7-F8AE441FA17A}"/>
              </a:ext>
            </a:extLst>
          </p:cNvPr>
          <p:cNvSpPr>
            <a:spLocks noGrp="1"/>
          </p:cNvSpPr>
          <p:nvPr/>
        </p:nvSpPr>
        <p:spPr>
          <a:xfrm>
            <a:off x="622300" y="5524500"/>
            <a:ext cx="10922000" cy="609600"/>
          </a:xfrm>
          <a:prstGeom prst="rect">
            <a:avLst/>
          </a:prstGeom>
          <a:noFill/>
        </p:spPr>
        <p:txBody>
          <a:bodyPr vert="horz" wrap="square" lIns="38100" tIns="0" rIns="38100" bIns="0" anchor="t">
            <a:noAutofit/>
          </a:bodyPr>
          <a:lstStyle/>
          <a:p>
            <a:pPr>
              <a:lnSpc>
                <a:spcPts val="1888"/>
              </a:lnSpc>
              <a:buNone/>
            </a:pPr>
            <a:r>
              <a:rPr sz="1600">
                <a:solidFill>
                  <a:srgbClr val="2F6096"/>
                </a:solidFill>
                <a:latin typeface="Microsoft YaHei"/>
                <a:ea typeface="Microsoft YaHei"/>
                <a:cs typeface="Microsoft YaHei"/>
              </a:rPr>
              <a:t>PWM经线性组合形成L矩。MPS针对似然边界困难，转而使用概率间距。</a:t>
            </a:r>
          </a:p>
          <a:p>
            <a:pPr>
              <a:lnSpc>
                <a:spcPts val="1888"/>
              </a:lnSpc>
              <a:buNone/>
            </a:pPr>
            <a:r>
              <a:rPr sz="1600">
                <a:solidFill>
                  <a:srgbClr val="2F6096"/>
                </a:solidFill>
                <a:latin typeface="Microsoft YaHei"/>
                <a:ea typeface="Microsoft YaHei"/>
                <a:cs typeface="Microsoft YaHei"/>
              </a:rPr>
              <a:t>MDM使尺度伪估计尽量一致；现有来源未确认它直接继承MPS或某个LS版本。</a:t>
            </a:r>
          </a:p>
        </p:txBody>
      </p:sp>
      <p:sp>
        <p:nvSpPr>
          <p:cNvPr id="23" name="panel-citations">
            <a:extLst>
              <a:ext uri="{FF2B5EF4-FFF2-40B4-BE49-F238E27FC236}">
                <a16:creationId xmlns:a16="http://schemas.microsoft.com/office/drawing/2014/main" id="{3F542315-CAB6-4DC0-0C5C-79FDA95058C1}"/>
              </a:ext>
            </a:extLst>
          </p:cNvPr>
          <p:cNvSpPr>
            <a:spLocks noGrp="1"/>
          </p:cNvSpPr>
          <p:nvPr/>
        </p:nvSpPr>
        <p:spPr>
          <a:xfrm>
            <a:off x="622300" y="6350000"/>
            <a:ext cx="10922000" cy="177800"/>
          </a:xfrm>
          <a:prstGeom prst="rect">
            <a:avLst/>
          </a:prstGeom>
          <a:noFill/>
        </p:spPr>
        <p:txBody>
          <a:bodyPr vert="horz" wrap="square" lIns="38100" tIns="0" rIns="38100" bIns="0" anchor="t">
            <a:noAutofit/>
          </a:bodyPr>
          <a:lstStyle/>
          <a:p>
            <a:pPr>
              <a:lnSpc>
                <a:spcPts val="1180"/>
              </a:lnSpc>
              <a:buNone/>
            </a:pPr>
            <a:r>
              <a:rPr sz="1000">
                <a:solidFill>
                  <a:srgbClr val="787878"/>
                </a:solidFill>
                <a:latin typeface="Microsoft YaHei"/>
                <a:ea typeface="Microsoft YaHei"/>
                <a:cs typeface="Microsoft YaHei"/>
              </a:rPr>
              <a:t>PWM与L矩来源见报告1.4；MPS [182-116]；MDM [182-030]。虚线表示替代方案，不表示直接继承。</a:t>
            </a:r>
          </a:p>
        </p:txBody>
      </p:sp>
      <p:sp>
        <p:nvSpPr>
          <p:cNvPr id="24" name="fig1-edge9-1">
            <a:extLst>
              <a:ext uri="{FF2B5EF4-FFF2-40B4-BE49-F238E27FC236}">
                <a16:creationId xmlns:a16="http://schemas.microsoft.com/office/drawing/2014/main" id="{3A1D4A6E-DEC2-43B0-A844-2B6135F6D750}"/>
              </a:ext>
            </a:extLst>
          </p:cNvPr>
          <p:cNvSpPr>
            <a:spLocks noGrp="1"/>
          </p:cNvSpPr>
          <p:nvPr/>
        </p:nvSpPr>
        <p:spPr>
          <a:xfrm>
            <a:off x="4178300" y="2616200"/>
            <a:ext cx="34925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5" name="fig1-edge10-1">
            <a:extLst>
              <a:ext uri="{FF2B5EF4-FFF2-40B4-BE49-F238E27FC236}">
                <a16:creationId xmlns:a16="http://schemas.microsoft.com/office/drawing/2014/main" id="{C890E6A3-D462-4ABC-BB2F-49D5091459B3}"/>
              </a:ext>
            </a:extLst>
          </p:cNvPr>
          <p:cNvSpPr>
            <a:spLocks noGrp="1"/>
          </p:cNvSpPr>
          <p:nvPr/>
        </p:nvSpPr>
        <p:spPr>
          <a:xfrm>
            <a:off x="4178300" y="3784600"/>
            <a:ext cx="3492500" cy="0"/>
          </a:xfrm>
          <a:prstGeom prst="line">
            <a:avLst/>
          </a:prstGeom>
          <a:ln w="16510">
            <a:solidFill>
              <a:srgbClr val="52677A"/>
            </a:solidFill>
            <a:prstDash val="dash"/>
            <a:tailEnd type="arrow"/>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6" name="fig1-edge11-1">
            <a:extLst>
              <a:ext uri="{FF2B5EF4-FFF2-40B4-BE49-F238E27FC236}">
                <a16:creationId xmlns:a16="http://schemas.microsoft.com/office/drawing/2014/main" id="{A6F7E876-371F-4252-969E-F1A3011346F4}"/>
              </a:ext>
            </a:extLst>
          </p:cNvPr>
          <p:cNvSpPr>
            <a:spLocks noGrp="1"/>
          </p:cNvSpPr>
          <p:nvPr/>
        </p:nvSpPr>
        <p:spPr>
          <a:xfrm>
            <a:off x="4178300" y="4953000"/>
            <a:ext cx="34925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Tree>
    <p:extLst>
      <p:ext uri="{BB962C8B-B14F-4D97-AF65-F5344CB8AC3E}">
        <p14:creationId xmlns:p14="http://schemas.microsoft.com/office/powerpoint/2010/main" val="451301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400" b="1" spc="-150">
                <a:solidFill>
                  <a:srgbClr val="FFFFFF"/>
                </a:solidFill>
                <a:latin typeface="汉仪文润宋韵 U"/>
                <a:ea typeface="汉仪文润宋韵 U"/>
                <a:cs typeface="汉仪文润宋韵 U"/>
              </a:rPr>
              <a:t>D  组合与学习：相同困难，也可以采用不同构造</a:t>
            </a: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已有方法及其发展关系</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01</a:t>
            </a:r>
          </a:p>
        </p:txBody>
      </p:sp>
      <p:sp>
        <p:nvSpPr>
          <p:cNvPr id="6" name="文本框 5">
            <a:extLst>
              <a:ext uri="{FF2B5EF4-FFF2-40B4-BE49-F238E27FC236}">
                <a16:creationId xmlns:a16="http://schemas.microsoft.com/office/drawing/2014/main" id="{E0A9E155-D276-0264-E48F-FD2B097FE8C3}"/>
              </a:ext>
            </a:extLst>
          </p:cNvPr>
          <p:cNvSpPr>
            <a:spLocks noGrp="1"/>
          </p:cNvSpPr>
          <p:nvPr/>
        </p:nvSpPr>
        <p:spPr>
          <a:xfrm>
            <a:off x="622300" y="1638300"/>
            <a:ext cx="10922000" cy="406400"/>
          </a:xfrm>
          <a:prstGeom prst="rect">
            <a:avLst/>
          </a:prstGeom>
          <a:noFill/>
        </p:spPr>
        <p:txBody>
          <a:bodyPr vert="horz" wrap="square" lIns="38100" tIns="25400" rIns="38100" bIns="25400" anchor="t">
            <a:noAutofit/>
          </a:bodyPr>
          <a:lstStyle/>
          <a:p>
            <a:pPr>
              <a:lnSpc>
                <a:spcPts val="2006"/>
              </a:lnSpc>
              <a:buNone/>
            </a:pPr>
            <a:r>
              <a:rPr sz="1700">
                <a:solidFill>
                  <a:srgbClr val="2F6096"/>
                </a:solidFill>
                <a:latin typeface="Microsoft YaHei"/>
                <a:ea typeface="Microsoft YaHei"/>
                <a:cs typeface="Microsoft YaHei"/>
              </a:rPr>
              <a:t>组合已有统计关系、变换观测统计量，或直接学习参数映射，都形成了新的构造。</a:t>
            </a:r>
          </a:p>
        </p:txBody>
      </p:sp>
      <p:sp>
        <p:nvSpPr>
          <p:cNvPr id="18" name="fig1-min">
            <a:extLst>
              <a:ext uri="{FF2B5EF4-FFF2-40B4-BE49-F238E27FC236}">
                <a16:creationId xmlns:a16="http://schemas.microsoft.com/office/drawing/2014/main" id="{F4A32D05-D5F8-C7FA-7B79-CBBC460EAB28}"/>
              </a:ext>
            </a:extLst>
          </p:cNvPr>
          <p:cNvSpPr>
            <a:spLocks noGrp="1"/>
          </p:cNvSpPr>
          <p:nvPr/>
        </p:nvSpPr>
        <p:spPr>
          <a:xfrm>
            <a:off x="622300" y="2590800"/>
            <a:ext cx="3302000" cy="850900"/>
          </a:xfrm>
          <a:prstGeom prst="roundRect">
            <a:avLst>
              <a:gd name="adj" fmla="val 7000"/>
            </a:avLst>
          </a:prstGeom>
          <a:solidFill>
            <a:srgbClr val="FFFFFF"/>
          </a:solidFill>
          <a:ln w="12700">
            <a:solidFill>
              <a:srgbClr val="63758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1888"/>
              </a:lnSpc>
              <a:buNone/>
            </a:pPr>
            <a:r>
              <a:rPr sz="1600">
                <a:solidFill>
                  <a:srgbClr val="203040"/>
                </a:solidFill>
                <a:latin typeface="Microsoft YaHei"/>
                <a:ea typeface="Microsoft YaHei"/>
                <a:cs typeface="Microsoft YaHei"/>
              </a:rPr>
              <a:t>最小次序统计量与位置的关系</a:t>
            </a:r>
          </a:p>
        </p:txBody>
      </p:sp>
      <p:sp>
        <p:nvSpPr>
          <p:cNvPr id="19" name="fig1-sam23">
            <a:extLst>
              <a:ext uri="{FF2B5EF4-FFF2-40B4-BE49-F238E27FC236}">
                <a16:creationId xmlns:a16="http://schemas.microsoft.com/office/drawing/2014/main" id="{BE82563B-4C8F-E061-6E42-A8ABD30827F2}"/>
              </a:ext>
            </a:extLst>
          </p:cNvPr>
          <p:cNvSpPr>
            <a:spLocks noGrp="1"/>
          </p:cNvSpPr>
          <p:nvPr/>
        </p:nvSpPr>
        <p:spPr>
          <a:xfrm>
            <a:off x="7861300" y="2159000"/>
            <a:ext cx="3683000" cy="7112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1888"/>
              </a:lnSpc>
              <a:buNone/>
            </a:pPr>
            <a:r>
              <a:rPr sz="1600">
                <a:solidFill>
                  <a:srgbClr val="203040"/>
                </a:solidFill>
                <a:latin typeface="Microsoft YaHei"/>
                <a:ea typeface="Microsoft YaHei"/>
                <a:cs typeface="Microsoft YaHei"/>
              </a:rPr>
              <a:t>SAM 逐次逼近法</a:t>
            </a:r>
          </a:p>
          <a:p>
            <a:pPr algn="ctr">
              <a:lnSpc>
                <a:spcPts val="1888"/>
              </a:lnSpc>
              <a:buNone/>
            </a:pPr>
            <a:r>
              <a:rPr sz="1600">
                <a:solidFill>
                  <a:srgbClr val="203040"/>
                </a:solidFill>
                <a:latin typeface="Microsoft YaHei"/>
                <a:ea typeface="Microsoft YaHei"/>
                <a:cs typeface="Microsoft YaHei"/>
              </a:rPr>
              <a:t>Guo等 · 2023</a:t>
            </a:r>
          </a:p>
        </p:txBody>
      </p:sp>
      <p:sp>
        <p:nvSpPr>
          <p:cNvPr id="20" name="fig1-sam24">
            <a:extLst>
              <a:ext uri="{FF2B5EF4-FFF2-40B4-BE49-F238E27FC236}">
                <a16:creationId xmlns:a16="http://schemas.microsoft.com/office/drawing/2014/main" id="{6BDEA08A-AC64-B334-F1A0-C09DDFD52B98}"/>
              </a:ext>
            </a:extLst>
          </p:cNvPr>
          <p:cNvSpPr>
            <a:spLocks noGrp="1"/>
          </p:cNvSpPr>
          <p:nvPr/>
        </p:nvSpPr>
        <p:spPr>
          <a:xfrm>
            <a:off x="7861300" y="3098800"/>
            <a:ext cx="3683000" cy="7112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1888"/>
              </a:lnSpc>
              <a:buNone/>
            </a:pPr>
            <a:r>
              <a:rPr sz="1600">
                <a:solidFill>
                  <a:srgbClr val="203040"/>
                </a:solidFill>
                <a:latin typeface="Microsoft YaHei"/>
                <a:ea typeface="Microsoft YaHei"/>
                <a:cs typeface="Microsoft YaHei"/>
              </a:rPr>
              <a:t>PM 逐次逼近构造</a:t>
            </a:r>
          </a:p>
          <a:p>
            <a:pPr algn="ctr">
              <a:lnSpc>
                <a:spcPts val="1888"/>
              </a:lnSpc>
              <a:buNone/>
            </a:pPr>
            <a:r>
              <a:rPr sz="1600">
                <a:solidFill>
                  <a:srgbClr val="203040"/>
                </a:solidFill>
                <a:latin typeface="Microsoft YaHei"/>
                <a:ea typeface="Microsoft YaHei"/>
                <a:cs typeface="Microsoft YaHei"/>
              </a:rPr>
              <a:t>Guo等 · 2024</a:t>
            </a:r>
          </a:p>
        </p:txBody>
      </p:sp>
      <p:sp>
        <p:nvSpPr>
          <p:cNvPr id="21" name="fig1-nonregular">
            <a:extLst>
              <a:ext uri="{FF2B5EF4-FFF2-40B4-BE49-F238E27FC236}">
                <a16:creationId xmlns:a16="http://schemas.microsoft.com/office/drawing/2014/main" id="{560B9E70-1AC3-C43F-A90D-F5B4328F693A}"/>
              </a:ext>
            </a:extLst>
          </p:cNvPr>
          <p:cNvSpPr>
            <a:spLocks noGrp="1"/>
          </p:cNvSpPr>
          <p:nvPr/>
        </p:nvSpPr>
        <p:spPr>
          <a:xfrm>
            <a:off x="622300" y="4102100"/>
            <a:ext cx="3302000" cy="660400"/>
          </a:xfrm>
          <a:prstGeom prst="roundRect">
            <a:avLst>
              <a:gd name="adj" fmla="val 7000"/>
            </a:avLst>
          </a:prstGeom>
          <a:solidFill>
            <a:srgbClr val="FFFFFF"/>
          </a:solidFill>
          <a:ln w="12700">
            <a:solidFill>
              <a:srgbClr val="63758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1888"/>
              </a:lnSpc>
              <a:buNone/>
            </a:pPr>
            <a:r>
              <a:rPr sz="1600">
                <a:solidFill>
                  <a:srgbClr val="203040"/>
                </a:solidFill>
                <a:latin typeface="Microsoft YaHei"/>
                <a:ea typeface="Microsoft YaHei"/>
                <a:cs typeface="Microsoft YaHei"/>
              </a:rPr>
              <a:t>未知位置导致非正规似然</a:t>
            </a:r>
          </a:p>
        </p:txBody>
      </p:sp>
      <p:sp>
        <p:nvSpPr>
          <p:cNvPr id="22" name="fig1-naga">
            <a:extLst>
              <a:ext uri="{FF2B5EF4-FFF2-40B4-BE49-F238E27FC236}">
                <a16:creationId xmlns:a16="http://schemas.microsoft.com/office/drawing/2014/main" id="{7E8E9B17-1FC5-F3DB-FBAE-F24B11FEC65F}"/>
              </a:ext>
            </a:extLst>
          </p:cNvPr>
          <p:cNvSpPr>
            <a:spLocks noGrp="1"/>
          </p:cNvSpPr>
          <p:nvPr/>
        </p:nvSpPr>
        <p:spPr>
          <a:xfrm>
            <a:off x="7861300" y="4102100"/>
            <a:ext cx="3683000" cy="6604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1888"/>
              </a:lnSpc>
              <a:buNone/>
            </a:pPr>
            <a:r>
              <a:rPr sz="1600">
                <a:solidFill>
                  <a:srgbClr val="203040"/>
                </a:solidFill>
                <a:latin typeface="Microsoft YaHei"/>
                <a:ea typeface="Microsoft YaHei"/>
                <a:cs typeface="Microsoft YaHei"/>
              </a:rPr>
              <a:t>LSPF 变换统计量似然估计</a:t>
            </a:r>
          </a:p>
          <a:p>
            <a:pPr algn="ctr">
              <a:lnSpc>
                <a:spcPts val="1888"/>
              </a:lnSpc>
              <a:buNone/>
            </a:pPr>
            <a:r>
              <a:rPr sz="1600">
                <a:solidFill>
                  <a:srgbClr val="203040"/>
                </a:solidFill>
                <a:latin typeface="Microsoft YaHei"/>
                <a:ea typeface="Microsoft YaHei"/>
                <a:cs typeface="Microsoft YaHei"/>
              </a:rPr>
              <a:t>Nagatsuka等 · 2013</a:t>
            </a:r>
          </a:p>
        </p:txBody>
      </p:sp>
      <p:sp>
        <p:nvSpPr>
          <p:cNvPr id="23" name="fig1-training">
            <a:extLst>
              <a:ext uri="{FF2B5EF4-FFF2-40B4-BE49-F238E27FC236}">
                <a16:creationId xmlns:a16="http://schemas.microsoft.com/office/drawing/2014/main" id="{EBA49D2F-16EA-1703-B109-F4D4D139E299}"/>
              </a:ext>
            </a:extLst>
          </p:cNvPr>
          <p:cNvSpPr>
            <a:spLocks noGrp="1"/>
          </p:cNvSpPr>
          <p:nvPr/>
        </p:nvSpPr>
        <p:spPr>
          <a:xfrm>
            <a:off x="622300" y="5029200"/>
            <a:ext cx="3302000" cy="660400"/>
          </a:xfrm>
          <a:prstGeom prst="roundRect">
            <a:avLst>
              <a:gd name="adj" fmla="val 7000"/>
            </a:avLst>
          </a:prstGeom>
          <a:solidFill>
            <a:srgbClr val="FFFFFF"/>
          </a:solidFill>
          <a:ln w="12700">
            <a:solidFill>
              <a:srgbClr val="63758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1888"/>
              </a:lnSpc>
              <a:buNone/>
            </a:pPr>
            <a:r>
              <a:rPr sz="1600">
                <a:solidFill>
                  <a:srgbClr val="203040"/>
                </a:solidFill>
                <a:latin typeface="Microsoft YaHei"/>
                <a:ea typeface="Microsoft YaHei"/>
                <a:cs typeface="Microsoft YaHei"/>
              </a:rPr>
              <a:t>模拟样本特征＋参数标签</a:t>
            </a:r>
          </a:p>
        </p:txBody>
      </p:sp>
      <p:sp>
        <p:nvSpPr>
          <p:cNvPr id="24" name="fig1-bpnn">
            <a:extLst>
              <a:ext uri="{FF2B5EF4-FFF2-40B4-BE49-F238E27FC236}">
                <a16:creationId xmlns:a16="http://schemas.microsoft.com/office/drawing/2014/main" id="{0B37021B-D1A8-75B7-B97F-ACE95A3AA458}"/>
              </a:ext>
            </a:extLst>
          </p:cNvPr>
          <p:cNvSpPr>
            <a:spLocks noGrp="1"/>
          </p:cNvSpPr>
          <p:nvPr/>
        </p:nvSpPr>
        <p:spPr>
          <a:xfrm>
            <a:off x="7861300" y="5029200"/>
            <a:ext cx="3683000" cy="660400"/>
          </a:xfrm>
          <a:prstGeom prst="roundRect">
            <a:avLst>
              <a:gd name="adj" fmla="val 7000"/>
            </a:avLst>
          </a:prstGeom>
          <a:solidFill>
            <a:srgbClr val="E5F1E3"/>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1888"/>
              </a:lnSpc>
              <a:buNone/>
            </a:pPr>
            <a:r>
              <a:rPr sz="1600">
                <a:solidFill>
                  <a:srgbClr val="203040"/>
                </a:solidFill>
                <a:latin typeface="Microsoft YaHei"/>
                <a:ea typeface="Microsoft YaHei"/>
                <a:cs typeface="Microsoft YaHei"/>
              </a:rPr>
              <a:t>BPNN 神经网络参数估计</a:t>
            </a:r>
          </a:p>
          <a:p>
            <a:pPr algn="ctr">
              <a:lnSpc>
                <a:spcPts val="1888"/>
              </a:lnSpc>
              <a:buNone/>
            </a:pPr>
            <a:r>
              <a:rPr sz="1600">
                <a:solidFill>
                  <a:srgbClr val="203040"/>
                </a:solidFill>
                <a:latin typeface="Microsoft YaHei"/>
                <a:ea typeface="Microsoft YaHei"/>
                <a:cs typeface="Microsoft YaHei"/>
              </a:rPr>
              <a:t>Yang等 · 2025</a:t>
            </a:r>
          </a:p>
        </p:txBody>
      </p:sp>
      <p:sp>
        <p:nvSpPr>
          <p:cNvPr id="25" name="fig1-text_edge12">
            <a:extLst>
              <a:ext uri="{FF2B5EF4-FFF2-40B4-BE49-F238E27FC236}">
                <a16:creationId xmlns:a16="http://schemas.microsoft.com/office/drawing/2014/main" id="{A39D4504-6D3C-4F45-604D-8FA9DCA9E3AE}"/>
              </a:ext>
            </a:extLst>
          </p:cNvPr>
          <p:cNvSpPr>
            <a:spLocks noGrp="1"/>
          </p:cNvSpPr>
          <p:nvPr/>
        </p:nvSpPr>
        <p:spPr>
          <a:xfrm>
            <a:off x="4508500" y="1968500"/>
            <a:ext cx="3136900" cy="520700"/>
          </a:xfrm>
          <a:prstGeom prst="rect">
            <a:avLst/>
          </a:prstGeom>
          <a:noFill/>
        </p:spPr>
        <p:txBody>
          <a:bodyPr vert="horz" wrap="square" lIns="38100" tIns="25400" rIns="38100" bIns="25400" anchor="ctr">
            <a:noAutofit/>
          </a:bodyPr>
          <a:lstStyle/>
          <a:p>
            <a:pPr algn="ctr">
              <a:lnSpc>
                <a:spcPts val="1652"/>
              </a:lnSpc>
              <a:buNone/>
            </a:pPr>
            <a:r>
              <a:rPr sz="1400">
                <a:solidFill>
                  <a:srgbClr val="304559"/>
                </a:solidFill>
                <a:latin typeface="Microsoft YaHei"/>
                <a:ea typeface="Microsoft YaHei"/>
                <a:cs typeface="Microsoft YaHei"/>
              </a:rPr>
              <a:t>极小样本位置估计</a:t>
            </a:r>
          </a:p>
          <a:p>
            <a:pPr algn="ctr">
              <a:lnSpc>
                <a:spcPts val="1652"/>
              </a:lnSpc>
              <a:buNone/>
            </a:pPr>
            <a:r>
              <a:rPr sz="1400">
                <a:solidFill>
                  <a:srgbClr val="304559"/>
                </a:solidFill>
                <a:latin typeface="Microsoft YaHei"/>
                <a:ea typeface="Microsoft YaHei"/>
                <a:cs typeface="Microsoft YaHei"/>
              </a:rPr>
              <a:t>期望修正与回归更新</a:t>
            </a:r>
          </a:p>
        </p:txBody>
      </p:sp>
      <p:sp>
        <p:nvSpPr>
          <p:cNvPr id="26" name="fig1-text_edge13">
            <a:extLst>
              <a:ext uri="{FF2B5EF4-FFF2-40B4-BE49-F238E27FC236}">
                <a16:creationId xmlns:a16="http://schemas.microsoft.com/office/drawing/2014/main" id="{9D252892-336F-E75F-64E6-39939F60DFA7}"/>
              </a:ext>
            </a:extLst>
          </p:cNvPr>
          <p:cNvSpPr>
            <a:spLocks noGrp="1"/>
          </p:cNvSpPr>
          <p:nvPr/>
        </p:nvSpPr>
        <p:spPr>
          <a:xfrm>
            <a:off x="4508500" y="2908300"/>
            <a:ext cx="3136900" cy="520700"/>
          </a:xfrm>
          <a:prstGeom prst="rect">
            <a:avLst/>
          </a:prstGeom>
          <a:noFill/>
        </p:spPr>
        <p:txBody>
          <a:bodyPr vert="horz" wrap="square" lIns="38100" tIns="25400" rIns="38100" bIns="25400" anchor="ctr">
            <a:noAutofit/>
          </a:bodyPr>
          <a:lstStyle/>
          <a:p>
            <a:pPr algn="ctr">
              <a:lnSpc>
                <a:spcPts val="1652"/>
              </a:lnSpc>
              <a:buNone/>
            </a:pPr>
            <a:r>
              <a:rPr sz="1400">
                <a:solidFill>
                  <a:srgbClr val="304559"/>
                </a:solidFill>
                <a:latin typeface="Microsoft YaHei"/>
                <a:ea typeface="Microsoft YaHei"/>
                <a:cs typeface="Microsoft YaHei"/>
              </a:rPr>
              <a:t>位置与区间推断</a:t>
            </a:r>
          </a:p>
          <a:p>
            <a:pPr algn="ctr">
              <a:lnSpc>
                <a:spcPts val="1652"/>
              </a:lnSpc>
              <a:buNone/>
            </a:pPr>
            <a:r>
              <a:rPr sz="1400">
                <a:solidFill>
                  <a:srgbClr val="304559"/>
                </a:solidFill>
                <a:latin typeface="Microsoft YaHei"/>
                <a:ea typeface="Microsoft YaHei"/>
                <a:cs typeface="Microsoft YaHei"/>
              </a:rPr>
              <a:t>分位数修正与似然更新</a:t>
            </a:r>
          </a:p>
        </p:txBody>
      </p:sp>
      <p:sp>
        <p:nvSpPr>
          <p:cNvPr id="27" name="fig1-text_edge14">
            <a:extLst>
              <a:ext uri="{FF2B5EF4-FFF2-40B4-BE49-F238E27FC236}">
                <a16:creationId xmlns:a16="http://schemas.microsoft.com/office/drawing/2014/main" id="{0413E637-A378-6B9B-23CC-3A26256D0E1E}"/>
              </a:ext>
            </a:extLst>
          </p:cNvPr>
          <p:cNvSpPr>
            <a:spLocks noGrp="1"/>
          </p:cNvSpPr>
          <p:nvPr/>
        </p:nvSpPr>
        <p:spPr>
          <a:xfrm>
            <a:off x="4508500" y="3886200"/>
            <a:ext cx="3136900" cy="520700"/>
          </a:xfrm>
          <a:prstGeom prst="rect">
            <a:avLst/>
          </a:prstGeom>
          <a:noFill/>
        </p:spPr>
        <p:txBody>
          <a:bodyPr vert="horz" wrap="square" lIns="38100" tIns="25400" rIns="38100" bIns="25400" anchor="ctr">
            <a:noAutofit/>
          </a:bodyPr>
          <a:lstStyle/>
          <a:p>
            <a:pPr algn="ctr">
              <a:lnSpc>
                <a:spcPts val="1652"/>
              </a:lnSpc>
              <a:buNone/>
            </a:pPr>
            <a:r>
              <a:rPr sz="1400">
                <a:solidFill>
                  <a:srgbClr val="304559"/>
                </a:solidFill>
                <a:latin typeface="Microsoft YaHei"/>
                <a:ea typeface="Microsoft YaHei"/>
                <a:cs typeface="Microsoft YaHei"/>
              </a:rPr>
              <a:t>处理存在性与唯一性</a:t>
            </a:r>
          </a:p>
          <a:p>
            <a:pPr algn="ctr">
              <a:lnSpc>
                <a:spcPts val="1652"/>
              </a:lnSpc>
              <a:buNone/>
            </a:pPr>
            <a:r>
              <a:rPr sz="1400">
                <a:solidFill>
                  <a:srgbClr val="304559"/>
                </a:solidFill>
                <a:latin typeface="Microsoft YaHei"/>
                <a:ea typeface="Microsoft YaHei"/>
                <a:cs typeface="Microsoft YaHei"/>
              </a:rPr>
              <a:t>变换后估计形状</a:t>
            </a:r>
          </a:p>
        </p:txBody>
      </p:sp>
      <p:sp>
        <p:nvSpPr>
          <p:cNvPr id="28" name="fig1-text_edge15">
            <a:extLst>
              <a:ext uri="{FF2B5EF4-FFF2-40B4-BE49-F238E27FC236}">
                <a16:creationId xmlns:a16="http://schemas.microsoft.com/office/drawing/2014/main" id="{BCDBD5C7-EF55-AAAB-F0B7-7791DE34D102}"/>
              </a:ext>
            </a:extLst>
          </p:cNvPr>
          <p:cNvSpPr>
            <a:spLocks noGrp="1"/>
          </p:cNvSpPr>
          <p:nvPr/>
        </p:nvSpPr>
        <p:spPr>
          <a:xfrm>
            <a:off x="4508500" y="4813300"/>
            <a:ext cx="3136900" cy="520700"/>
          </a:xfrm>
          <a:prstGeom prst="rect">
            <a:avLst/>
          </a:prstGeom>
          <a:noFill/>
        </p:spPr>
        <p:txBody>
          <a:bodyPr vert="horz" wrap="square" lIns="38100" tIns="25400" rIns="38100" bIns="25400" anchor="ctr">
            <a:noAutofit/>
          </a:bodyPr>
          <a:lstStyle/>
          <a:p>
            <a:pPr algn="ctr">
              <a:lnSpc>
                <a:spcPts val="1652"/>
              </a:lnSpc>
              <a:buNone/>
            </a:pPr>
            <a:r>
              <a:rPr sz="1400">
                <a:solidFill>
                  <a:srgbClr val="304559"/>
                </a:solidFill>
                <a:latin typeface="Microsoft YaHei"/>
                <a:ea typeface="Microsoft YaHei"/>
                <a:cs typeface="Microsoft YaHei"/>
              </a:rPr>
              <a:t>小样本估计</a:t>
            </a:r>
          </a:p>
          <a:p>
            <a:pPr algn="ctr">
              <a:lnSpc>
                <a:spcPts val="1652"/>
              </a:lnSpc>
              <a:buNone/>
            </a:pPr>
            <a:r>
              <a:rPr sz="1400">
                <a:solidFill>
                  <a:srgbClr val="304559"/>
                </a:solidFill>
                <a:latin typeface="Microsoft YaHei"/>
                <a:ea typeface="Microsoft YaHei"/>
                <a:cs typeface="Microsoft YaHei"/>
              </a:rPr>
              <a:t>学习特征到参数映射</a:t>
            </a:r>
          </a:p>
        </p:txBody>
      </p:sp>
      <p:sp>
        <p:nvSpPr>
          <p:cNvPr id="29" name="panel-description">
            <a:extLst>
              <a:ext uri="{FF2B5EF4-FFF2-40B4-BE49-F238E27FC236}">
                <a16:creationId xmlns:a16="http://schemas.microsoft.com/office/drawing/2014/main" id="{638B9803-B925-A14B-CFEE-AC8D91CE32BB}"/>
              </a:ext>
            </a:extLst>
          </p:cNvPr>
          <p:cNvSpPr>
            <a:spLocks noGrp="1"/>
          </p:cNvSpPr>
          <p:nvPr/>
        </p:nvSpPr>
        <p:spPr>
          <a:xfrm>
            <a:off x="622300" y="5880100"/>
            <a:ext cx="10922000" cy="609600"/>
          </a:xfrm>
          <a:prstGeom prst="rect">
            <a:avLst/>
          </a:prstGeom>
          <a:noFill/>
        </p:spPr>
        <p:txBody>
          <a:bodyPr vert="horz" wrap="square" lIns="38100" tIns="0" rIns="38100" bIns="0" anchor="t">
            <a:noAutofit/>
          </a:bodyPr>
          <a:lstStyle/>
          <a:p>
            <a:pPr>
              <a:lnSpc>
                <a:spcPts val="1652"/>
              </a:lnSpc>
              <a:buNone/>
            </a:pPr>
            <a:r>
              <a:rPr sz="1400">
                <a:solidFill>
                  <a:srgbClr val="2F6096"/>
                </a:solidFill>
                <a:latin typeface="Microsoft YaHei"/>
                <a:ea typeface="Microsoft YaHei"/>
                <a:cs typeface="Microsoft YaHei"/>
              </a:rPr>
              <a:t>SAM用最小值期望结合回归，PM用最小值中位数结合条件似然，未确认直接升级关系。</a:t>
            </a:r>
          </a:p>
          <a:p>
            <a:pPr>
              <a:lnSpc>
                <a:spcPts val="1652"/>
              </a:lnSpc>
              <a:buNone/>
            </a:pPr>
            <a:r>
              <a:rPr sz="1400">
                <a:solidFill>
                  <a:srgbClr val="2F6096"/>
                </a:solidFill>
                <a:latin typeface="Microsoft YaHei"/>
                <a:ea typeface="Microsoft YaHei"/>
                <a:cs typeface="Microsoft YaHei"/>
              </a:rPr>
              <a:t>LSPF通过变换统计量构造似然；BPNN直接学习样本特征到参数的映射。</a:t>
            </a:r>
          </a:p>
        </p:txBody>
      </p:sp>
      <p:sp>
        <p:nvSpPr>
          <p:cNvPr id="30" name="panel-citations">
            <a:extLst>
              <a:ext uri="{FF2B5EF4-FFF2-40B4-BE49-F238E27FC236}">
                <a16:creationId xmlns:a16="http://schemas.microsoft.com/office/drawing/2014/main" id="{FFF163E1-9DEA-A44C-8F7B-54741DC29B7F}"/>
              </a:ext>
            </a:extLst>
          </p:cNvPr>
          <p:cNvSpPr>
            <a:spLocks noGrp="1"/>
          </p:cNvSpPr>
          <p:nvPr/>
        </p:nvSpPr>
        <p:spPr>
          <a:xfrm>
            <a:off x="622300" y="6350000"/>
            <a:ext cx="10922000" cy="177800"/>
          </a:xfrm>
          <a:prstGeom prst="rect">
            <a:avLst/>
          </a:prstGeom>
          <a:noFill/>
        </p:spPr>
        <p:txBody>
          <a:bodyPr vert="horz" wrap="square" lIns="38100" tIns="0" rIns="38100" bIns="0" anchor="t">
            <a:noAutofit/>
          </a:bodyPr>
          <a:lstStyle/>
          <a:p>
            <a:pPr>
              <a:lnSpc>
                <a:spcPts val="1180"/>
              </a:lnSpc>
              <a:buNone/>
            </a:pPr>
            <a:r>
              <a:rPr sz="1000">
                <a:solidFill>
                  <a:srgbClr val="787878"/>
                </a:solidFill>
                <a:latin typeface="Microsoft YaHei"/>
                <a:ea typeface="Microsoft YaHei"/>
                <a:cs typeface="Microsoft YaHei"/>
              </a:rPr>
              <a:t>SAM [185-005]；PM [182-117]；LSPF [182-113]；BPNN [184-009]。BPNN是近期实例，不是该路线起点。</a:t>
            </a:r>
          </a:p>
        </p:txBody>
      </p:sp>
      <p:sp>
        <p:nvSpPr>
          <p:cNvPr id="31" name="fig1-edge12-1">
            <a:extLst>
              <a:ext uri="{FF2B5EF4-FFF2-40B4-BE49-F238E27FC236}">
                <a16:creationId xmlns:a16="http://schemas.microsoft.com/office/drawing/2014/main" id="{452576A1-345E-4E2D-8C01-0CE15F07CCAE}"/>
              </a:ext>
            </a:extLst>
          </p:cNvPr>
          <p:cNvSpPr>
            <a:spLocks noGrp="1"/>
          </p:cNvSpPr>
          <p:nvPr/>
        </p:nvSpPr>
        <p:spPr>
          <a:xfrm>
            <a:off x="3924300" y="2806700"/>
            <a:ext cx="330200" cy="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2" name="fig1-edge12-2">
            <a:extLst>
              <a:ext uri="{FF2B5EF4-FFF2-40B4-BE49-F238E27FC236}">
                <a16:creationId xmlns:a16="http://schemas.microsoft.com/office/drawing/2014/main" id="{5407042D-DCF5-41D8-85E2-32F15755A26D}"/>
              </a:ext>
            </a:extLst>
          </p:cNvPr>
          <p:cNvSpPr>
            <a:spLocks noGrp="1"/>
          </p:cNvSpPr>
          <p:nvPr/>
        </p:nvSpPr>
        <p:spPr>
          <a:xfrm flipV="1">
            <a:off x="4254500" y="2514600"/>
            <a:ext cx="0" cy="29210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3" name="fig1-edge12-3">
            <a:extLst>
              <a:ext uri="{FF2B5EF4-FFF2-40B4-BE49-F238E27FC236}">
                <a16:creationId xmlns:a16="http://schemas.microsoft.com/office/drawing/2014/main" id="{202363D9-6939-4A49-81ED-D671F964A62E}"/>
              </a:ext>
            </a:extLst>
          </p:cNvPr>
          <p:cNvSpPr>
            <a:spLocks noGrp="1"/>
          </p:cNvSpPr>
          <p:nvPr/>
        </p:nvSpPr>
        <p:spPr>
          <a:xfrm>
            <a:off x="4254500" y="2514600"/>
            <a:ext cx="36068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4" name="fig1-edge13-1">
            <a:extLst>
              <a:ext uri="{FF2B5EF4-FFF2-40B4-BE49-F238E27FC236}">
                <a16:creationId xmlns:a16="http://schemas.microsoft.com/office/drawing/2014/main" id="{9FEB2136-BE5B-4931-BE33-74D86A178EE8}"/>
              </a:ext>
            </a:extLst>
          </p:cNvPr>
          <p:cNvSpPr>
            <a:spLocks noGrp="1"/>
          </p:cNvSpPr>
          <p:nvPr/>
        </p:nvSpPr>
        <p:spPr>
          <a:xfrm>
            <a:off x="3924300" y="3225800"/>
            <a:ext cx="330200" cy="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5" name="fig1-edge13-2">
            <a:extLst>
              <a:ext uri="{FF2B5EF4-FFF2-40B4-BE49-F238E27FC236}">
                <a16:creationId xmlns:a16="http://schemas.microsoft.com/office/drawing/2014/main" id="{A6FB6B0D-245C-42CB-92BA-F03998FF8565}"/>
              </a:ext>
            </a:extLst>
          </p:cNvPr>
          <p:cNvSpPr>
            <a:spLocks noGrp="1"/>
          </p:cNvSpPr>
          <p:nvPr/>
        </p:nvSpPr>
        <p:spPr>
          <a:xfrm>
            <a:off x="4254500" y="3225800"/>
            <a:ext cx="0" cy="22860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6" name="fig1-edge13-3">
            <a:extLst>
              <a:ext uri="{FF2B5EF4-FFF2-40B4-BE49-F238E27FC236}">
                <a16:creationId xmlns:a16="http://schemas.microsoft.com/office/drawing/2014/main" id="{3617336A-479E-4FFF-9C7D-F0059EB16568}"/>
              </a:ext>
            </a:extLst>
          </p:cNvPr>
          <p:cNvSpPr>
            <a:spLocks noGrp="1"/>
          </p:cNvSpPr>
          <p:nvPr/>
        </p:nvSpPr>
        <p:spPr>
          <a:xfrm>
            <a:off x="4254500" y="3454400"/>
            <a:ext cx="36068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7" name="fig1-edge14-1">
            <a:extLst>
              <a:ext uri="{FF2B5EF4-FFF2-40B4-BE49-F238E27FC236}">
                <a16:creationId xmlns:a16="http://schemas.microsoft.com/office/drawing/2014/main" id="{3FD4FDEA-8789-4E2E-8F00-569D1C5AAE1E}"/>
              </a:ext>
            </a:extLst>
          </p:cNvPr>
          <p:cNvSpPr>
            <a:spLocks noGrp="1"/>
          </p:cNvSpPr>
          <p:nvPr/>
        </p:nvSpPr>
        <p:spPr>
          <a:xfrm>
            <a:off x="3924300" y="4432300"/>
            <a:ext cx="3937000" cy="0"/>
          </a:xfrm>
          <a:prstGeom prst="line">
            <a:avLst/>
          </a:prstGeom>
          <a:ln w="16510">
            <a:solidFill>
              <a:srgbClr val="52677A"/>
            </a:solidFill>
            <a:prstDash val="dash"/>
            <a:tailEnd type="arrow"/>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8" name="fig1-edge15-1">
            <a:extLst>
              <a:ext uri="{FF2B5EF4-FFF2-40B4-BE49-F238E27FC236}">
                <a16:creationId xmlns:a16="http://schemas.microsoft.com/office/drawing/2014/main" id="{C97E0014-B02C-43E1-A9F4-FD229655B7D5}"/>
              </a:ext>
            </a:extLst>
          </p:cNvPr>
          <p:cNvSpPr>
            <a:spLocks noGrp="1"/>
          </p:cNvSpPr>
          <p:nvPr/>
        </p:nvSpPr>
        <p:spPr>
          <a:xfrm>
            <a:off x="3924300" y="5359400"/>
            <a:ext cx="39370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Tree>
    <p:extLst>
      <p:ext uri="{BB962C8B-B14F-4D97-AF65-F5344CB8AC3E}">
        <p14:creationId xmlns:p14="http://schemas.microsoft.com/office/powerpoint/2010/main" val="2798749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400" b="1" spc="-150">
                <a:solidFill>
                  <a:srgbClr val="FFFFFF"/>
                </a:solidFill>
                <a:latin typeface="汉仪文润宋韵 U"/>
                <a:ea typeface="汉仪文润宋韵 U"/>
                <a:cs typeface="汉仪文润宋韵 U"/>
              </a:rPr>
              <a:t>近期工作：改进层次与研究条件不同</a:t>
            </a: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近期进展及其检验证据</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02</a:t>
            </a:r>
          </a:p>
        </p:txBody>
      </p:sp>
      <p:sp>
        <p:nvSpPr>
          <p:cNvPr id="6" name="文本框 5">
            <a:extLst>
              <a:ext uri="{FF2B5EF4-FFF2-40B4-BE49-F238E27FC236}">
                <a16:creationId xmlns:a16="http://schemas.microsoft.com/office/drawing/2014/main" id="{70FE6FF3-C7E8-DD81-6816-CD36888990A5}"/>
              </a:ext>
            </a:extLst>
          </p:cNvPr>
          <p:cNvSpPr>
            <a:spLocks noGrp="1"/>
          </p:cNvSpPr>
          <p:nvPr/>
        </p:nvSpPr>
        <p:spPr>
          <a:xfrm>
            <a:off x="622300" y="1676400"/>
            <a:ext cx="10922000" cy="558800"/>
          </a:xfrm>
          <a:prstGeom prst="rect">
            <a:avLst/>
          </a:prstGeom>
          <a:noFill/>
        </p:spPr>
        <p:txBody>
          <a:bodyPr vert="horz" wrap="square" lIns="0" tIns="0" rIns="0" bIns="0">
            <a:noAutofit/>
          </a:bodyPr>
          <a:lstStyle/>
          <a:p>
            <a:pPr>
              <a:lnSpc>
                <a:spcPts val="2340"/>
              </a:lnSpc>
              <a:buNone/>
            </a:pPr>
            <a:r>
              <a:rPr>
                <a:solidFill>
                  <a:srgbClr val="2F6096"/>
                </a:solidFill>
                <a:latin typeface="Microsoft YaHei"/>
                <a:ea typeface="Microsoft YaHei"/>
                <a:cs typeface="Microsoft YaHei"/>
              </a:rPr>
              <a:t>近10—20年的新工作，并不都在同一任务下竞争。</a:t>
            </a:r>
          </a:p>
        </p:txBody>
      </p:sp>
      <p:sp>
        <p:nvSpPr>
          <p:cNvPr id="7" name="文本框 6">
            <a:extLst>
              <a:ext uri="{FF2B5EF4-FFF2-40B4-BE49-F238E27FC236}">
                <a16:creationId xmlns:a16="http://schemas.microsoft.com/office/drawing/2014/main" id="{1504D4E2-A117-82A7-4055-45AEF192AE6E}"/>
              </a:ext>
            </a:extLst>
          </p:cNvPr>
          <p:cNvSpPr>
            <a:spLocks noGrp="1"/>
          </p:cNvSpPr>
          <p:nvPr/>
        </p:nvSpPr>
        <p:spPr>
          <a:xfrm>
            <a:off x="622300" y="5981700"/>
            <a:ext cx="10922000" cy="508000"/>
          </a:xfrm>
          <a:prstGeom prst="rect">
            <a:avLst/>
          </a:prstGeom>
          <a:noFill/>
        </p:spPr>
        <p:txBody>
          <a:bodyPr vert="horz" wrap="square" lIns="0" tIns="0" rIns="0" bIns="0">
            <a:noAutofit/>
          </a:bodyPr>
          <a:lstStyle/>
          <a:p>
            <a:pPr>
              <a:lnSpc>
                <a:spcPts val="2210"/>
              </a:lnSpc>
              <a:buNone/>
              <a:defRPr sz="1725">
                <a:solidFill>
                  <a:srgbClr val="2F6096"/>
                </a:solidFill>
                <a:latin typeface="Microsoft YaHei"/>
                <a:ea typeface="Microsoft YaHei"/>
                <a:cs typeface="Microsoft YaHei"/>
              </a:defRPr>
            </a:pPr>
            <a:r>
              <a:rPr lang="zh-CN" altLang="en-US" sz="1725" b="1">
                <a:solidFill>
                  <a:srgbClr val="2F6096"/>
                </a:solidFill>
                <a:latin typeface="Microsoft YaHei"/>
                <a:ea typeface="Microsoft YaHei"/>
                <a:cs typeface="Microsoft YaHei"/>
              </a:rPr>
              <a:t>近期创新同时涉及估计构造、观测条件和求解过程，比较时先看是否解决同一问题。</a:t>
            </a:r>
            <a:endParaRPr sz="1725" b="1">
              <a:solidFill>
                <a:srgbClr val="2F6096"/>
              </a:solidFill>
              <a:latin typeface="Microsoft YaHei"/>
              <a:ea typeface="Microsoft YaHei"/>
              <a:cs typeface="Microsoft YaHei"/>
            </a:endParaRPr>
          </a:p>
        </p:txBody>
      </p:sp>
      <p:sp>
        <p:nvSpPr>
          <p:cNvPr id="9" name="文本框 8">
            <a:extLst>
              <a:ext uri="{FF2B5EF4-FFF2-40B4-BE49-F238E27FC236}">
                <a16:creationId xmlns:a16="http://schemas.microsoft.com/office/drawing/2014/main" id="{54E31587-3EF2-3708-8EA4-E4AE09E814B6}"/>
              </a:ext>
            </a:extLst>
          </p:cNvPr>
          <p:cNvSpPr>
            <a:spLocks noGrp="1"/>
          </p:cNvSpPr>
          <p:nvPr/>
        </p:nvSpPr>
        <p:spPr>
          <a:xfrm>
            <a:off x="622300" y="2476500"/>
            <a:ext cx="2082800" cy="444500"/>
          </a:xfrm>
          <a:prstGeom prst="rect">
            <a:avLst/>
          </a:prstGeom>
          <a:noFill/>
        </p:spPr>
        <p:txBody>
          <a:bodyPr vert="horz" wrap="square" lIns="0" tIns="0" rIns="0" bIns="0">
            <a:noAutofit/>
          </a:bodyPr>
          <a:lstStyle/>
          <a:p>
            <a:pPr>
              <a:lnSpc>
                <a:spcPts val="2860"/>
              </a:lnSpc>
              <a:buNone/>
            </a:pPr>
            <a:r>
              <a:rPr sz="2200" b="1">
                <a:solidFill>
                  <a:srgbClr val="C55A11"/>
                </a:solidFill>
                <a:latin typeface="Microsoft YaHei"/>
                <a:ea typeface="Microsoft YaHei"/>
                <a:cs typeface="Microsoft YaHei"/>
              </a:rPr>
              <a:t>改估计构造</a:t>
            </a:r>
          </a:p>
        </p:txBody>
      </p:sp>
      <p:sp>
        <p:nvSpPr>
          <p:cNvPr id="10" name="文本框 9">
            <a:extLst>
              <a:ext uri="{FF2B5EF4-FFF2-40B4-BE49-F238E27FC236}">
                <a16:creationId xmlns:a16="http://schemas.microsoft.com/office/drawing/2014/main" id="{30762B04-7DF6-2EE4-F31F-3DFCBE1C83B5}"/>
              </a:ext>
            </a:extLst>
          </p:cNvPr>
          <p:cNvSpPr>
            <a:spLocks noGrp="1"/>
          </p:cNvSpPr>
          <p:nvPr/>
        </p:nvSpPr>
        <p:spPr>
          <a:xfrm>
            <a:off x="2933700" y="2476500"/>
            <a:ext cx="8559800" cy="393700"/>
          </a:xfrm>
          <a:prstGeom prst="rect">
            <a:avLst/>
          </a:prstGeom>
          <a:noFill/>
        </p:spPr>
        <p:txBody>
          <a:bodyPr vert="horz" wrap="square" lIns="0" tIns="0" rIns="0" bIns="0">
            <a:noAutofit/>
          </a:bodyPr>
          <a:lstStyle/>
          <a:p>
            <a:pPr>
              <a:lnSpc>
                <a:spcPts val="2210"/>
              </a:lnSpc>
              <a:buNone/>
            </a:pPr>
            <a:r>
              <a:rPr sz="1700" b="1">
                <a:solidFill>
                  <a:srgbClr val="2F6096"/>
                </a:solidFill>
                <a:latin typeface="Microsoft YaHei"/>
                <a:ea typeface="Microsoft YaHei"/>
                <a:cs typeface="Microsoft YaHei"/>
              </a:rPr>
              <a:t>有限样本、位置和偏差：WMLE、Park、SAM/PM、DMMLE。</a:t>
            </a:r>
          </a:p>
        </p:txBody>
      </p:sp>
      <p:sp>
        <p:nvSpPr>
          <p:cNvPr id="14" name="文本框 13">
            <a:extLst>
              <a:ext uri="{FF2B5EF4-FFF2-40B4-BE49-F238E27FC236}">
                <a16:creationId xmlns:a16="http://schemas.microsoft.com/office/drawing/2014/main" id="{A996BDCF-4100-5E60-3EB4-9312AA225023}"/>
              </a:ext>
            </a:extLst>
          </p:cNvPr>
          <p:cNvSpPr>
            <a:spLocks noGrp="1"/>
          </p:cNvSpPr>
          <p:nvPr/>
        </p:nvSpPr>
        <p:spPr>
          <a:xfrm>
            <a:off x="2933700" y="2933700"/>
            <a:ext cx="8559800" cy="381000"/>
          </a:xfrm>
          <a:prstGeom prst="rect">
            <a:avLst/>
          </a:prstGeom>
          <a:noFill/>
        </p:spPr>
        <p:txBody>
          <a:bodyPr vert="horz" wrap="square" lIns="0" tIns="0" rIns="0" bIns="0">
            <a:noAutofit/>
          </a:bodyPr>
          <a:lstStyle/>
          <a:p>
            <a:pPr>
              <a:lnSpc>
                <a:spcPts val="2210"/>
              </a:lnSpc>
              <a:buNone/>
            </a:pPr>
            <a:r>
              <a:rPr sz="1700">
                <a:solidFill>
                  <a:srgbClr val="000000"/>
                </a:solidFill>
                <a:latin typeface="Microsoft YaHei"/>
                <a:ea typeface="Microsoft YaHei"/>
                <a:cs typeface="Microsoft YaHei"/>
              </a:rPr>
              <a:t>直接学习映射也属相关构造，要核训练范围与损失。</a:t>
            </a:r>
          </a:p>
        </p:txBody>
      </p:sp>
      <p:sp>
        <p:nvSpPr>
          <p:cNvPr id="15" name="文本框 14">
            <a:extLst>
              <a:ext uri="{FF2B5EF4-FFF2-40B4-BE49-F238E27FC236}">
                <a16:creationId xmlns:a16="http://schemas.microsoft.com/office/drawing/2014/main" id="{032AAE2C-08DC-94CE-0A17-746F62F0AB28}"/>
              </a:ext>
            </a:extLst>
          </p:cNvPr>
          <p:cNvSpPr>
            <a:spLocks noGrp="1"/>
          </p:cNvSpPr>
          <p:nvPr/>
        </p:nvSpPr>
        <p:spPr>
          <a:xfrm>
            <a:off x="622300" y="3594100"/>
            <a:ext cx="2082800" cy="444500"/>
          </a:xfrm>
          <a:prstGeom prst="rect">
            <a:avLst/>
          </a:prstGeom>
          <a:noFill/>
        </p:spPr>
        <p:txBody>
          <a:bodyPr vert="horz" wrap="square" lIns="0" tIns="0" rIns="0" bIns="0">
            <a:noAutofit/>
          </a:bodyPr>
          <a:lstStyle/>
          <a:p>
            <a:pPr>
              <a:lnSpc>
                <a:spcPts val="2860"/>
              </a:lnSpc>
              <a:buNone/>
            </a:pPr>
            <a:r>
              <a:rPr sz="2200" b="1">
                <a:solidFill>
                  <a:srgbClr val="C55A11"/>
                </a:solidFill>
                <a:latin typeface="Microsoft YaHei"/>
                <a:ea typeface="Microsoft YaHei"/>
                <a:cs typeface="Microsoft YaHei"/>
              </a:rPr>
              <a:t>改观测条件</a:t>
            </a:r>
          </a:p>
        </p:txBody>
      </p:sp>
      <p:sp>
        <p:nvSpPr>
          <p:cNvPr id="16" name="文本框 15">
            <a:extLst>
              <a:ext uri="{FF2B5EF4-FFF2-40B4-BE49-F238E27FC236}">
                <a16:creationId xmlns:a16="http://schemas.microsoft.com/office/drawing/2014/main" id="{05668768-2A2A-4E3B-2B78-A189DDC6BFB7}"/>
              </a:ext>
            </a:extLst>
          </p:cNvPr>
          <p:cNvSpPr>
            <a:spLocks noGrp="1"/>
          </p:cNvSpPr>
          <p:nvPr/>
        </p:nvSpPr>
        <p:spPr>
          <a:xfrm>
            <a:off x="2933700" y="3594100"/>
            <a:ext cx="8559800" cy="393700"/>
          </a:xfrm>
          <a:prstGeom prst="rect">
            <a:avLst/>
          </a:prstGeom>
          <a:noFill/>
        </p:spPr>
        <p:txBody>
          <a:bodyPr vert="horz" wrap="square" lIns="0" tIns="0" rIns="0" bIns="0">
            <a:noAutofit/>
          </a:bodyPr>
          <a:lstStyle/>
          <a:p>
            <a:pPr>
              <a:lnSpc>
                <a:spcPts val="2210"/>
              </a:lnSpc>
              <a:buNone/>
            </a:pPr>
            <a:r>
              <a:rPr sz="1700" b="1">
                <a:solidFill>
                  <a:srgbClr val="2F6096"/>
                </a:solidFill>
                <a:latin typeface="Microsoft YaHei"/>
                <a:ea typeface="Microsoft YaHei"/>
                <a:cs typeface="Microsoft YaHei"/>
              </a:rPr>
              <a:t>污染、删失等：PITE [182-003]、删失研究 [182-114]。</a:t>
            </a:r>
          </a:p>
        </p:txBody>
      </p:sp>
      <p:sp>
        <p:nvSpPr>
          <p:cNvPr id="17" name="文本框 16">
            <a:extLst>
              <a:ext uri="{FF2B5EF4-FFF2-40B4-BE49-F238E27FC236}">
                <a16:creationId xmlns:a16="http://schemas.microsoft.com/office/drawing/2014/main" id="{D829A61D-CFD6-9AA8-0B9F-514C376D83C6}"/>
              </a:ext>
            </a:extLst>
          </p:cNvPr>
          <p:cNvSpPr>
            <a:spLocks noGrp="1"/>
          </p:cNvSpPr>
          <p:nvPr/>
        </p:nvSpPr>
        <p:spPr>
          <a:xfrm>
            <a:off x="2933700" y="4051300"/>
            <a:ext cx="8559800" cy="381000"/>
          </a:xfrm>
          <a:prstGeom prst="rect">
            <a:avLst/>
          </a:prstGeom>
          <a:noFill/>
        </p:spPr>
        <p:txBody>
          <a:bodyPr vert="horz" wrap="square" lIns="0" tIns="0" rIns="0" bIns="0">
            <a:noAutofit/>
          </a:bodyPr>
          <a:lstStyle/>
          <a:p>
            <a:pPr>
              <a:lnSpc>
                <a:spcPts val="2210"/>
              </a:lnSpc>
              <a:buNone/>
            </a:pPr>
            <a:r>
              <a:rPr sz="1700">
                <a:solidFill>
                  <a:srgbClr val="000000"/>
                </a:solidFill>
                <a:latin typeface="Microsoft YaHei"/>
                <a:ea typeface="Microsoft YaHei"/>
                <a:cs typeface="Microsoft YaHei"/>
              </a:rPr>
              <a:t>与完整样本任务不同，特殊情境中的排名不能直接移用。</a:t>
            </a:r>
          </a:p>
        </p:txBody>
      </p:sp>
      <p:sp>
        <p:nvSpPr>
          <p:cNvPr id="18" name="文本框 17">
            <a:extLst>
              <a:ext uri="{FF2B5EF4-FFF2-40B4-BE49-F238E27FC236}">
                <a16:creationId xmlns:a16="http://schemas.microsoft.com/office/drawing/2014/main" id="{8D95A7F3-14D6-A065-D07F-43881FCB45B0}"/>
              </a:ext>
            </a:extLst>
          </p:cNvPr>
          <p:cNvSpPr>
            <a:spLocks noGrp="1"/>
          </p:cNvSpPr>
          <p:nvPr/>
        </p:nvSpPr>
        <p:spPr>
          <a:xfrm>
            <a:off x="622300" y="4711700"/>
            <a:ext cx="2082800" cy="444500"/>
          </a:xfrm>
          <a:prstGeom prst="rect">
            <a:avLst/>
          </a:prstGeom>
          <a:noFill/>
        </p:spPr>
        <p:txBody>
          <a:bodyPr vert="horz" wrap="square" lIns="0" tIns="0" rIns="0" bIns="0">
            <a:noAutofit/>
          </a:bodyPr>
          <a:lstStyle/>
          <a:p>
            <a:pPr>
              <a:lnSpc>
                <a:spcPts val="2860"/>
              </a:lnSpc>
              <a:buNone/>
            </a:pPr>
            <a:r>
              <a:rPr sz="2200" b="1">
                <a:solidFill>
                  <a:srgbClr val="C55A11"/>
                </a:solidFill>
                <a:latin typeface="Microsoft YaHei"/>
                <a:ea typeface="Microsoft YaHei"/>
                <a:cs typeface="Microsoft YaHei"/>
              </a:rPr>
              <a:t>改求解过程</a:t>
            </a:r>
          </a:p>
        </p:txBody>
      </p:sp>
      <p:sp>
        <p:nvSpPr>
          <p:cNvPr id="19" name="文本框 18">
            <a:extLst>
              <a:ext uri="{FF2B5EF4-FFF2-40B4-BE49-F238E27FC236}">
                <a16:creationId xmlns:a16="http://schemas.microsoft.com/office/drawing/2014/main" id="{5A457CEA-8DC3-A10C-8854-46FCE3CC0C15}"/>
              </a:ext>
            </a:extLst>
          </p:cNvPr>
          <p:cNvSpPr>
            <a:spLocks noGrp="1"/>
          </p:cNvSpPr>
          <p:nvPr/>
        </p:nvSpPr>
        <p:spPr>
          <a:xfrm>
            <a:off x="2933700" y="4711700"/>
            <a:ext cx="8559800" cy="393700"/>
          </a:xfrm>
          <a:prstGeom prst="rect">
            <a:avLst/>
          </a:prstGeom>
          <a:noFill/>
        </p:spPr>
        <p:txBody>
          <a:bodyPr vert="horz" wrap="square" lIns="0" tIns="0" rIns="0" bIns="0">
            <a:noAutofit/>
          </a:bodyPr>
          <a:lstStyle/>
          <a:p>
            <a:pPr>
              <a:lnSpc>
                <a:spcPts val="2210"/>
              </a:lnSpc>
              <a:buNone/>
            </a:pPr>
            <a:r>
              <a:rPr sz="1700" b="1">
                <a:solidFill>
                  <a:srgbClr val="2F6096"/>
                </a:solidFill>
                <a:latin typeface="Microsoft YaHei"/>
                <a:ea typeface="Microsoft YaHei"/>
                <a:cs typeface="Microsoft YaHei"/>
              </a:rPr>
              <a:t>保留统计目标，改善搜索：ADGBO [187-001]、PSO等。</a:t>
            </a:r>
          </a:p>
        </p:txBody>
      </p:sp>
      <p:sp>
        <p:nvSpPr>
          <p:cNvPr id="20" name="文本框 19">
            <a:extLst>
              <a:ext uri="{FF2B5EF4-FFF2-40B4-BE49-F238E27FC236}">
                <a16:creationId xmlns:a16="http://schemas.microsoft.com/office/drawing/2014/main" id="{A264FA82-2916-7541-E4BD-51CCAEE83CA4}"/>
              </a:ext>
            </a:extLst>
          </p:cNvPr>
          <p:cNvSpPr>
            <a:spLocks noGrp="1"/>
          </p:cNvSpPr>
          <p:nvPr/>
        </p:nvSpPr>
        <p:spPr>
          <a:xfrm>
            <a:off x="2933700" y="5168900"/>
            <a:ext cx="8559800" cy="381000"/>
          </a:xfrm>
          <a:prstGeom prst="rect">
            <a:avLst/>
          </a:prstGeom>
          <a:noFill/>
        </p:spPr>
        <p:txBody>
          <a:bodyPr vert="horz" wrap="square" lIns="0" tIns="0" rIns="0" bIns="0">
            <a:noAutofit/>
          </a:bodyPr>
          <a:lstStyle/>
          <a:p>
            <a:pPr>
              <a:lnSpc>
                <a:spcPts val="2210"/>
              </a:lnSpc>
              <a:buNone/>
            </a:pPr>
            <a:r>
              <a:rPr sz="1700">
                <a:solidFill>
                  <a:srgbClr val="000000"/>
                </a:solidFill>
                <a:latin typeface="Microsoft YaHei"/>
                <a:ea typeface="Microsoft YaHei"/>
                <a:cs typeface="Microsoft YaHei"/>
              </a:rPr>
              <a:t>先核目标与约束，再判断是否属于MLE。</a:t>
            </a:r>
          </a:p>
        </p:txBody>
      </p:sp>
    </p:spTree>
    <p:extLst>
      <p:ext uri="{BB962C8B-B14F-4D97-AF65-F5344CB8AC3E}">
        <p14:creationId xmlns:p14="http://schemas.microsoft.com/office/powerpoint/2010/main" val="706429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400" b="1" spc="-150">
                <a:solidFill>
                  <a:srgbClr val="FFFFFF"/>
                </a:solidFill>
                <a:latin typeface="汉仪文润宋韵 U"/>
                <a:ea typeface="汉仪文润宋韵 U"/>
                <a:cs typeface="汉仪文润宋韵 U"/>
              </a:rPr>
              <a:t>近20年已有针对完整三参数估计的改进方法</a:t>
            </a: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近期进展及其检验证据</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02</a:t>
            </a:r>
          </a:p>
        </p:txBody>
      </p:sp>
      <p:sp>
        <p:nvSpPr>
          <p:cNvPr id="6" name="文本框 5">
            <a:extLst>
              <a:ext uri="{FF2B5EF4-FFF2-40B4-BE49-F238E27FC236}">
                <a16:creationId xmlns:a16="http://schemas.microsoft.com/office/drawing/2014/main" id="{9BFDC1C8-AD64-77FF-B03A-016B42044838}"/>
              </a:ext>
            </a:extLst>
          </p:cNvPr>
          <p:cNvSpPr>
            <a:spLocks noGrp="1"/>
          </p:cNvSpPr>
          <p:nvPr/>
        </p:nvSpPr>
        <p:spPr>
          <a:xfrm>
            <a:off x="622300" y="1676400"/>
            <a:ext cx="10922000" cy="558800"/>
          </a:xfrm>
          <a:prstGeom prst="rect">
            <a:avLst/>
          </a:prstGeom>
          <a:noFill/>
        </p:spPr>
        <p:txBody>
          <a:bodyPr vert="horz" wrap="square" lIns="0" tIns="0" rIns="0" bIns="0">
            <a:noAutofit/>
          </a:bodyPr>
          <a:lstStyle/>
          <a:p>
            <a:pPr>
              <a:lnSpc>
                <a:spcPts val="2340"/>
              </a:lnSpc>
              <a:buNone/>
            </a:pPr>
            <a:r>
              <a:rPr>
                <a:solidFill>
                  <a:srgbClr val="2F6096"/>
                </a:solidFill>
                <a:latin typeface="Microsoft YaHei"/>
                <a:ea typeface="Microsoft YaHei"/>
                <a:cs typeface="Microsoft YaHei"/>
              </a:rPr>
              <a:t>候选范围应覆盖经典改进和近期构造，再看是否符合论文主张。</a:t>
            </a:r>
          </a:p>
        </p:txBody>
      </p:sp>
      <p:sp>
        <p:nvSpPr>
          <p:cNvPr id="7" name="文本框 6">
            <a:extLst>
              <a:ext uri="{FF2B5EF4-FFF2-40B4-BE49-F238E27FC236}">
                <a16:creationId xmlns:a16="http://schemas.microsoft.com/office/drawing/2014/main" id="{474448B6-AF41-2F1C-5EC2-84985A61FEEA}"/>
              </a:ext>
            </a:extLst>
          </p:cNvPr>
          <p:cNvSpPr>
            <a:spLocks noGrp="1"/>
          </p:cNvSpPr>
          <p:nvPr/>
        </p:nvSpPr>
        <p:spPr>
          <a:xfrm>
            <a:off x="622300" y="5981700"/>
            <a:ext cx="10922000" cy="508000"/>
          </a:xfrm>
          <a:prstGeom prst="rect">
            <a:avLst/>
          </a:prstGeom>
          <a:noFill/>
        </p:spPr>
        <p:txBody>
          <a:bodyPr vert="horz" wrap="square" lIns="0" tIns="0" rIns="0" bIns="0">
            <a:noAutofit/>
          </a:bodyPr>
          <a:lstStyle/>
          <a:p>
            <a:pPr>
              <a:lnSpc>
                <a:spcPts val="2210"/>
              </a:lnSpc>
              <a:buNone/>
              <a:defRPr sz="1650">
                <a:solidFill>
                  <a:srgbClr val="2F6096"/>
                </a:solidFill>
                <a:latin typeface="Microsoft YaHei"/>
                <a:ea typeface="Microsoft YaHei"/>
                <a:cs typeface="Microsoft YaHei"/>
              </a:defRPr>
            </a:pPr>
            <a:r>
              <a:rPr lang="zh-CN" altLang="en-US" sz="1650" b="1">
                <a:solidFill>
                  <a:srgbClr val="2F6096"/>
                </a:solidFill>
                <a:latin typeface="Microsoft YaHei"/>
                <a:ea typeface="Microsoft YaHei"/>
                <a:cs typeface="Microsoft YaHei"/>
              </a:rPr>
              <a:t>近期比较可重点关注</a:t>
            </a:r>
            <a:r>
              <a:rPr lang="en-US" altLang="zh-CN" sz="1650" b="1">
                <a:solidFill>
                  <a:srgbClr val="2F6096"/>
                </a:solidFill>
                <a:latin typeface="Microsoft YaHei"/>
                <a:ea typeface="Microsoft YaHei"/>
                <a:cs typeface="Microsoft YaHei"/>
              </a:rPr>
              <a:t>WMLE</a:t>
            </a:r>
            <a:r>
              <a:rPr lang="zh-CN" altLang="en-US" sz="1650" b="1">
                <a:solidFill>
                  <a:srgbClr val="2F6096"/>
                </a:solidFill>
                <a:latin typeface="Microsoft YaHei"/>
                <a:ea typeface="Microsoft YaHei"/>
                <a:cs typeface="Microsoft YaHei"/>
              </a:rPr>
              <a:t>、</a:t>
            </a:r>
            <a:r>
              <a:rPr lang="en-US" altLang="zh-CN" sz="1650" b="1">
                <a:solidFill>
                  <a:srgbClr val="2F6096"/>
                </a:solidFill>
                <a:latin typeface="Microsoft YaHei"/>
                <a:ea typeface="Microsoft YaHei"/>
                <a:cs typeface="Microsoft YaHei"/>
              </a:rPr>
              <a:t>Park</a:t>
            </a:r>
            <a:r>
              <a:rPr lang="zh-CN" altLang="en-US" sz="1650" b="1">
                <a:solidFill>
                  <a:srgbClr val="2F6096"/>
                </a:solidFill>
                <a:latin typeface="Microsoft YaHei"/>
                <a:ea typeface="Microsoft YaHei"/>
                <a:cs typeface="Microsoft YaHei"/>
              </a:rPr>
              <a:t>、</a:t>
            </a:r>
            <a:r>
              <a:rPr lang="en-US" altLang="zh-CN" sz="1650" b="1">
                <a:solidFill>
                  <a:srgbClr val="2F6096"/>
                </a:solidFill>
                <a:latin typeface="Microsoft YaHei"/>
                <a:ea typeface="Microsoft YaHei"/>
                <a:cs typeface="Microsoft YaHei"/>
              </a:rPr>
              <a:t>SAM</a:t>
            </a:r>
            <a:r>
              <a:rPr lang="zh-CN" altLang="en-US" sz="1650" b="1">
                <a:solidFill>
                  <a:srgbClr val="2F6096"/>
                </a:solidFill>
                <a:latin typeface="Microsoft YaHei"/>
                <a:ea typeface="Microsoft YaHei"/>
                <a:cs typeface="Microsoft YaHei"/>
              </a:rPr>
              <a:t>／</a:t>
            </a:r>
            <a:r>
              <a:rPr lang="en-US" altLang="zh-CN" sz="1650" b="1">
                <a:solidFill>
                  <a:srgbClr val="2F6096"/>
                </a:solidFill>
                <a:latin typeface="Microsoft YaHei"/>
                <a:ea typeface="Microsoft YaHei"/>
                <a:cs typeface="Microsoft YaHei"/>
              </a:rPr>
              <a:t>PM</a:t>
            </a:r>
            <a:r>
              <a:rPr lang="zh-CN" altLang="en-US" sz="1650" b="1">
                <a:solidFill>
                  <a:srgbClr val="2F6096"/>
                </a:solidFill>
                <a:latin typeface="Microsoft YaHei"/>
                <a:ea typeface="Microsoft YaHei"/>
                <a:cs typeface="Microsoft YaHei"/>
              </a:rPr>
              <a:t>、</a:t>
            </a:r>
            <a:r>
              <a:rPr lang="en-US" altLang="zh-CN" sz="1650" b="1">
                <a:solidFill>
                  <a:srgbClr val="2F6096"/>
                </a:solidFill>
                <a:latin typeface="Microsoft YaHei"/>
                <a:ea typeface="Microsoft YaHei"/>
                <a:cs typeface="Microsoft YaHei"/>
              </a:rPr>
              <a:t>MDM</a:t>
            </a:r>
            <a:r>
              <a:rPr lang="zh-CN" altLang="en-US" sz="1650" b="1">
                <a:solidFill>
                  <a:srgbClr val="2F6096"/>
                </a:solidFill>
                <a:latin typeface="Microsoft YaHei"/>
                <a:ea typeface="Microsoft YaHei"/>
                <a:cs typeface="Microsoft YaHei"/>
              </a:rPr>
              <a:t>及</a:t>
            </a:r>
            <a:r>
              <a:rPr lang="en-US" altLang="zh-CN" sz="1650" b="1">
                <a:solidFill>
                  <a:srgbClr val="2F6096"/>
                </a:solidFill>
                <a:latin typeface="Microsoft YaHei"/>
                <a:ea typeface="Microsoft YaHei"/>
                <a:cs typeface="Microsoft YaHei"/>
              </a:rPr>
              <a:t>DMMLE</a:t>
            </a:r>
            <a:r>
              <a:rPr lang="zh-CN" altLang="en-US" sz="1650" b="1">
                <a:solidFill>
                  <a:srgbClr val="2F6096"/>
                </a:solidFill>
                <a:latin typeface="Microsoft YaHei"/>
                <a:ea typeface="Microsoft YaHei"/>
                <a:cs typeface="Microsoft YaHei"/>
              </a:rPr>
              <a:t>等具体构造。</a:t>
            </a:r>
            <a:endParaRPr sz="1650" b="1">
              <a:solidFill>
                <a:srgbClr val="2F6096"/>
              </a:solidFill>
              <a:latin typeface="Microsoft YaHei"/>
              <a:ea typeface="Microsoft YaHei"/>
              <a:cs typeface="Microsoft YaHei"/>
            </a:endParaRPr>
          </a:p>
        </p:txBody>
      </p:sp>
      <p:graphicFrame>
        <p:nvGraphicFramePr>
          <p:cNvPr id="15" name="表格 7"/>
          <p:cNvGraphicFramePr/>
          <p:nvPr/>
        </p:nvGraphicFramePr>
        <p:xfrm>
          <a:off x="622300" y="2413000"/>
          <a:ext cx="10922000" cy="3432264"/>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3835400">
                  <a:extLst>
                    <a:ext uri="{9D8B030D-6E8A-4147-A177-3AD203B41FA5}">
                      <a16:colId xmlns:a16="http://schemas.microsoft.com/office/drawing/2014/main" val="20002"/>
                    </a:ext>
                  </a:extLst>
                </a:gridCol>
              </a:tblGrid>
              <a:tr h="471714">
                <a:tc>
                  <a:txBody>
                    <a:bodyPr/>
                    <a:lstStyle/>
                    <a:p>
                      <a:pPr>
                        <a:spcBef>
                          <a:spcPts val="0"/>
                        </a:spcBef>
                        <a:spcAft>
                          <a:spcPts val="0"/>
                        </a:spcAft>
                        <a:buNone/>
                      </a:pPr>
                      <a:r>
                        <a:rPr sz="1600" b="1">
                          <a:solidFill>
                            <a:srgbClr val="FFFFFF"/>
                          </a:solidFill>
                          <a:latin typeface="Microsoft YaHei"/>
                          <a:ea typeface="Microsoft YaHei"/>
                          <a:cs typeface="Microsoft YaHei"/>
                        </a:rPr>
                        <a:t>方法与来源</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buNone/>
                      </a:pPr>
                      <a:r>
                        <a:rPr sz="1600" b="1">
                          <a:solidFill>
                            <a:srgbClr val="FFFFFF"/>
                          </a:solidFill>
                          <a:latin typeface="Microsoft YaHei"/>
                          <a:ea typeface="Microsoft YaHei"/>
                          <a:cs typeface="Microsoft YaHei"/>
                        </a:rPr>
                        <a:t>已核的任务或改进</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buNone/>
                      </a:pPr>
                      <a:r>
                        <a:rPr sz="1600" b="1">
                          <a:solidFill>
                            <a:srgbClr val="FFFFFF"/>
                          </a:solidFill>
                          <a:latin typeface="Microsoft YaHei"/>
                          <a:ea typeface="Microsoft YaHei"/>
                          <a:cs typeface="Microsoft YaHei"/>
                        </a:rPr>
                        <a:t>需要保留的边界</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10000"/>
                  </a:ext>
                </a:extLst>
              </a:tr>
              <a:tr h="471714">
                <a:tc>
                  <a:txBody>
                    <a:bodyPr/>
                    <a:lstStyle/>
                    <a:p>
                      <a:pPr>
                        <a:spcBef>
                          <a:spcPts val="0"/>
                        </a:spcBef>
                        <a:spcAft>
                          <a:spcPts val="0"/>
                        </a:spcAft>
                        <a:buNone/>
                      </a:pPr>
                      <a:r>
                        <a:rPr sz="1600" b="0">
                          <a:solidFill>
                            <a:srgbClr val="000000"/>
                          </a:solidFill>
                          <a:latin typeface="Microsoft YaHei"/>
                          <a:ea typeface="Microsoft YaHei"/>
                          <a:cs typeface="Microsoft YaHei"/>
                        </a:rPr>
                        <a:t>WMLE 2009 [182-088]</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有限样本修正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权重版本和参数域要明确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1"/>
                  </a:ext>
                </a:extLst>
              </a:tr>
              <a:tr h="471714">
                <a:tc>
                  <a:txBody>
                    <a:bodyPr/>
                    <a:lstStyle/>
                    <a:p>
                      <a:pPr>
                        <a:spcBef>
                          <a:spcPts val="0"/>
                        </a:spcBef>
                        <a:spcAft>
                          <a:spcPts val="0"/>
                        </a:spcAft>
                        <a:buNone/>
                      </a:pPr>
                      <a:r>
                        <a:rPr sz="1600" b="0">
                          <a:solidFill>
                            <a:srgbClr val="000000"/>
                          </a:solidFill>
                          <a:latin typeface="Microsoft YaHei"/>
                          <a:ea typeface="Microsoft YaHei"/>
                          <a:cs typeface="Microsoft YaHei"/>
                        </a:rPr>
                        <a:t>LSPF 2013 [182-113]</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存在性及变换统计量构造</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可解性主张时提高优先级</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2"/>
                  </a:ext>
                </a:extLst>
              </a:tr>
              <a:tr h="471714">
                <a:tc>
                  <a:txBody>
                    <a:bodyPr/>
                    <a:lstStyle/>
                    <a:p>
                      <a:pPr>
                        <a:spcBef>
                          <a:spcPts val="0"/>
                        </a:spcBef>
                        <a:spcAft>
                          <a:spcPts val="0"/>
                        </a:spcAft>
                        <a:buNone/>
                      </a:pPr>
                      <a:r>
                        <a:rPr sz="1600" b="0">
                          <a:solidFill>
                            <a:srgbClr val="000000"/>
                          </a:solidFill>
                          <a:latin typeface="Microsoft YaHei"/>
                          <a:ea typeface="Microsoft YaHei"/>
                          <a:cs typeface="Microsoft YaHei"/>
                        </a:rPr>
                        <a:t>Park 2017 [182-115]</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相关系数处理未知位置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区分Plot与MLE2</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3"/>
                  </a:ext>
                </a:extLst>
              </a:tr>
              <a:tr h="471714">
                <a:tc>
                  <a:txBody>
                    <a:bodyPr/>
                    <a:lstStyle/>
                    <a:p>
                      <a:pPr>
                        <a:spcBef>
                          <a:spcPts val="0"/>
                        </a:spcBef>
                        <a:spcAft>
                          <a:spcPts val="0"/>
                        </a:spcAft>
                        <a:buNone/>
                      </a:pPr>
                      <a:r>
                        <a:rPr sz="1600" b="0">
                          <a:solidFill>
                            <a:srgbClr val="000000"/>
                          </a:solidFill>
                          <a:latin typeface="Microsoft YaHei"/>
                          <a:ea typeface="Microsoft YaHei"/>
                          <a:cs typeface="Microsoft YaHei"/>
                        </a:rPr>
                        <a:t>SAM / PM [185-005/182-117]</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含n=5等极小样本研究</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两版不能共用公式或结果</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4"/>
                  </a:ext>
                </a:extLst>
              </a:tr>
              <a:tr h="471714">
                <a:tc>
                  <a:txBody>
                    <a:bodyPr/>
                    <a:lstStyle/>
                    <a:p>
                      <a:pPr>
                        <a:spcBef>
                          <a:spcPts val="0"/>
                        </a:spcBef>
                        <a:spcAft>
                          <a:spcPts val="0"/>
                        </a:spcAft>
                        <a:buNone/>
                      </a:pPr>
                      <a:r>
                        <a:rPr sz="1600" b="0">
                          <a:solidFill>
                            <a:srgbClr val="000000"/>
                          </a:solidFill>
                          <a:latin typeface="Microsoft YaHei"/>
                          <a:ea typeface="Microsoft YaHei"/>
                          <a:cs typeface="Microsoft YaHei"/>
                        </a:rPr>
                        <a:t>BPNN 2025 [184-009]</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覆盖n=5—20</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配置尚有缺口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5"/>
                  </a:ext>
                </a:extLst>
              </a:tr>
              <a:tr h="471714">
                <a:tc>
                  <a:txBody>
                    <a:bodyPr/>
                    <a:lstStyle/>
                    <a:p>
                      <a:pPr>
                        <a:spcBef>
                          <a:spcPts val="0"/>
                        </a:spcBef>
                        <a:spcAft>
                          <a:spcPts val="0"/>
                        </a:spcAft>
                        <a:buNone/>
                      </a:pPr>
                      <a:r>
                        <a:rPr sz="1600" b="0">
                          <a:solidFill>
                            <a:srgbClr val="000000"/>
                          </a:solidFill>
                          <a:latin typeface="Microsoft YaHei"/>
                          <a:ea typeface="Microsoft YaHei"/>
                          <a:cs typeface="Microsoft YaHei"/>
                        </a:rPr>
                        <a:t>DMMLE 2025 [182-111]</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修改似然后的得分修正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原模拟从n=50开始</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660654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550" b="1">
                <a:solidFill>
                  <a:srgbClr val="FFFFFF"/>
                </a:solidFill>
                <a:latin typeface="汉仪文润宋韵 U"/>
                <a:ea typeface="汉仪文润宋韵 U"/>
                <a:cs typeface="汉仪文润宋韵 U"/>
              </a:defRPr>
            </a:pPr>
            <a:r>
              <a:rPr sz="2550" b="1" spc="-150">
                <a:solidFill>
                  <a:srgbClr val="FFFFFF"/>
                </a:solidFill>
                <a:latin typeface="汉仪文润宋韵 U"/>
                <a:ea typeface="汉仪文润宋韵 U"/>
                <a:cs typeface="汉仪文润宋韵 U"/>
              </a:rPr>
              <a:t>文献中的优势随参数、样本量与指标改变</a:t>
            </a:r>
            <a:endParaRPr sz="26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近期进展及其检验证据</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02</a:t>
            </a:r>
          </a:p>
        </p:txBody>
      </p:sp>
      <p:sp>
        <p:nvSpPr>
          <p:cNvPr id="6" name="矩形 5">
            <a:extLst>
              <a:ext uri="{FF2B5EF4-FFF2-40B4-BE49-F238E27FC236}">
                <a16:creationId xmlns:a16="http://schemas.microsoft.com/office/drawing/2014/main" id="{3A0268F9-FA16-437B-9634-3BB6BC5EE8FA}"/>
              </a:ext>
            </a:extLst>
          </p:cNvPr>
          <p:cNvSpPr>
            <a:spLocks noGrp="1"/>
          </p:cNvSpPr>
          <p:nvPr/>
        </p:nvSpPr>
        <p:spPr>
          <a:xfrm>
            <a:off x="609600" y="1685925"/>
            <a:ext cx="10972800" cy="428625"/>
          </a:xfrm>
          <a:prstGeom prst="rect">
            <a:avLst/>
          </a:prstGeom>
          <a:noFill/>
          <a:ln w="0">
            <a:noFill/>
          </a:ln>
        </p:spPr>
        <p:txBody>
          <a:bodyPr>
            <a:noAutofit/>
          </a:bodyPr>
          <a:lstStyle/>
          <a:p>
            <a:pPr>
              <a:defRPr sz="1875" b="0">
                <a:solidFill>
                  <a:srgbClr val="2F6096"/>
                </a:solidFill>
                <a:latin typeface="Microsoft YaHei"/>
                <a:ea typeface="Microsoft YaHei"/>
                <a:cs typeface="Microsoft YaHei"/>
              </a:defRPr>
            </a:pPr>
            <a:r>
              <a:rPr lang="zh-CN" altLang="en-US" sz="1875" b="0">
                <a:solidFill>
                  <a:srgbClr val="2F6096"/>
                </a:solidFill>
                <a:latin typeface="Microsoft YaHei"/>
                <a:ea typeface="Microsoft YaHei"/>
                <a:cs typeface="Microsoft YaHei"/>
              </a:rPr>
              <a:t>原论文中的比较说明：样本量、参数条件和评价指标都会影响结果。</a:t>
            </a:r>
            <a:endParaRPr sz="1875" b="0">
              <a:solidFill>
                <a:srgbClr val="2F6096"/>
              </a:solidFill>
              <a:latin typeface="Microsoft YaHei"/>
              <a:ea typeface="Microsoft YaHei"/>
              <a:cs typeface="Microsoft YaHei"/>
            </a:endParaRPr>
          </a:p>
        </p:txBody>
      </p:sp>
      <p:graphicFrame>
        <p:nvGraphicFramePr>
          <p:cNvPr id="14" name="表格 13"/>
          <p:cNvGraphicFramePr/>
          <p:nvPr/>
        </p:nvGraphicFramePr>
        <p:xfrm>
          <a:off x="609600" y="2466975"/>
          <a:ext cx="10972800" cy="2943225"/>
        </p:xfrm>
        <a:graphic>
          <a:graphicData uri="http://schemas.openxmlformats.org/drawingml/2006/table">
            <a:tbl>
              <a:tblPr/>
              <a:tblGrid>
                <a:gridCol w="3143250">
                  <a:extLst>
                    <a:ext uri="{9D8B030D-6E8A-4147-A177-3AD203B41FA5}">
                      <a16:colId xmlns:a16="http://schemas.microsoft.com/office/drawing/2014/main" val="20000"/>
                    </a:ext>
                  </a:extLst>
                </a:gridCol>
                <a:gridCol w="3781425">
                  <a:extLst>
                    <a:ext uri="{9D8B030D-6E8A-4147-A177-3AD203B41FA5}">
                      <a16:colId xmlns:a16="http://schemas.microsoft.com/office/drawing/2014/main" val="20001"/>
                    </a:ext>
                  </a:extLst>
                </a:gridCol>
                <a:gridCol w="4048125">
                  <a:extLst>
                    <a:ext uri="{9D8B030D-6E8A-4147-A177-3AD203B41FA5}">
                      <a16:colId xmlns:a16="http://schemas.microsoft.com/office/drawing/2014/main" val="20002"/>
                    </a:ext>
                  </a:extLst>
                </a:gridCol>
              </a:tblGrid>
              <a:tr h="523875">
                <a:tc>
                  <a:txBody>
                    <a:bodyPr/>
                    <a:lstStyle/>
                    <a:p>
                      <a:r>
                        <a:rPr sz="1725" b="1">
                          <a:solidFill>
                            <a:srgbClr val="FFFFFF"/>
                          </a:solidFill>
                          <a:latin typeface="Microsoft YaHei"/>
                          <a:ea typeface="Microsoft YaHei"/>
                          <a:cs typeface="Microsoft YaHei"/>
                        </a:rPr>
                        <a:t>原论文与设计</a:t>
                      </a:r>
                    </a:p>
                  </a:txBody>
                  <a:tcPr>
                    <a:solidFill>
                      <a:srgbClr val="2F6096"/>
                    </a:solidFill>
                  </a:tcPr>
                </a:tc>
                <a:tc>
                  <a:txBody>
                    <a:bodyPr/>
                    <a:lstStyle/>
                    <a:p>
                      <a:r>
                        <a:rPr sz="1725" b="1">
                          <a:solidFill>
                            <a:srgbClr val="FFFFFF"/>
                          </a:solidFill>
                          <a:latin typeface="Microsoft YaHei"/>
                          <a:ea typeface="Microsoft YaHei"/>
                          <a:cs typeface="Microsoft YaHei"/>
                        </a:rPr>
                        <a:t>原文发现</a:t>
                      </a:r>
                    </a:p>
                  </a:txBody>
                  <a:tcPr>
                    <a:solidFill>
                      <a:srgbClr val="2F6096"/>
                    </a:solidFill>
                  </a:tcPr>
                </a:tc>
                <a:tc>
                  <a:txBody>
                    <a:bodyPr/>
                    <a:lstStyle/>
                    <a:p>
                      <a:r>
                        <a:rPr sz="1725" b="1">
                          <a:solidFill>
                            <a:srgbClr val="FFFFFF"/>
                          </a:solidFill>
                          <a:latin typeface="Microsoft YaHei"/>
                          <a:ea typeface="Microsoft YaHei"/>
                          <a:cs typeface="Microsoft YaHei"/>
                        </a:rPr>
                        <a:t>选型含义</a:t>
                      </a:r>
                    </a:p>
                  </a:txBody>
                  <a:tcPr>
                    <a:solidFill>
                      <a:srgbClr val="2F6096"/>
                    </a:solidFill>
                  </a:tcPr>
                </a:tc>
                <a:extLst>
                  <a:ext uri="{0D108BD9-81ED-4DB2-BD59-A6C34878D82A}">
                    <a16:rowId xmlns:a16="http://schemas.microsoft.com/office/drawing/2014/main" val="10000"/>
                  </a:ext>
                </a:extLst>
              </a:tr>
              <a:tr h="1209675">
                <a:tc>
                  <a:txBody>
                    <a:bodyPr/>
                    <a:lstStyle/>
                    <a:p>
                      <a:r>
                        <a:rPr sz="1725" b="0">
                          <a:solidFill>
                            <a:srgbClr val="182538"/>
                          </a:solidFill>
                          <a:latin typeface="Microsoft YaHei"/>
                          <a:ea typeface="Microsoft YaHei"/>
                          <a:cs typeface="Microsoft YaHei"/>
                        </a:rPr>
                        <a:t>Akram–Hayat 2014</a:t>
                      </a:r>
                    </a:p>
                    <a:p>
                      <a:r>
                        <a:rPr sz="1725" b="0">
                          <a:solidFill>
                            <a:srgbClr val="182538"/>
                          </a:solidFill>
                          <a:latin typeface="Microsoft YaHei"/>
                          <a:ea typeface="Microsoft YaHei"/>
                          <a:cs typeface="Microsoft YaHei"/>
                        </a:rPr>
                        <a:t>β=0.5—9，n=10—100</a:t>
                      </a:r>
                    </a:p>
                  </a:txBody>
                  <a:tcPr>
                    <a:solidFill>
                      <a:srgbClr val="FFFFFF"/>
                    </a:solidFill>
                  </a:tcPr>
                </a:tc>
                <a:tc>
                  <a:txBody>
                    <a:bodyPr/>
                    <a:lstStyle/>
                    <a:p>
                      <a:r>
                        <a:rPr sz="1725" b="0">
                          <a:solidFill>
                            <a:srgbClr val="182538"/>
                          </a:solidFill>
                          <a:latin typeface="Microsoft YaHei"/>
                          <a:ea typeface="Microsoft YaHei"/>
                          <a:cs typeface="Microsoft YaHei"/>
                        </a:rPr>
                        <a:t>β=3、4时MLE偏差较小</a:t>
                      </a:r>
                    </a:p>
                    <a:p>
                      <a:r>
                        <a:rPr sz="1725" b="0">
                          <a:solidFill>
                            <a:srgbClr val="182538"/>
                          </a:solidFill>
                          <a:latin typeface="Microsoft YaHei"/>
                          <a:ea typeface="Microsoft YaHei"/>
                          <a:cs typeface="Microsoft YaHei"/>
                        </a:rPr>
                        <a:t>MoE的RMSE更小</a:t>
                      </a:r>
                    </a:p>
                  </a:txBody>
                  <a:tcPr>
                    <a:solidFill>
                      <a:srgbClr val="FFFFFF"/>
                    </a:solidFill>
                  </a:tcPr>
                </a:tc>
                <a:tc>
                  <a:txBody>
                    <a:bodyPr/>
                    <a:lstStyle/>
                    <a:p>
                      <a:r>
                        <a:rPr sz="1725" b="0">
                          <a:solidFill>
                            <a:srgbClr val="182538"/>
                          </a:solidFill>
                          <a:latin typeface="Microsoft YaHei"/>
                          <a:ea typeface="Microsoft YaHei"/>
                          <a:cs typeface="Microsoft YaHei"/>
                        </a:rPr>
                        <a:t>Bias和RMSE可以支持不同选择</a:t>
                      </a:r>
                    </a:p>
                    <a:p>
                      <a:r>
                        <a:rPr sz="1725" b="0">
                          <a:solidFill>
                            <a:srgbClr val="182538"/>
                          </a:solidFill>
                          <a:latin typeface="Microsoft YaHei"/>
                          <a:ea typeface="Microsoft YaHei"/>
                          <a:cs typeface="Microsoft YaHei"/>
                        </a:rPr>
                        <a:t>且该文筛选了收敛样本</a:t>
                      </a:r>
                    </a:p>
                  </a:txBody>
                  <a:tcPr>
                    <a:solidFill>
                      <a:srgbClr val="FFFFFF"/>
                    </a:solidFill>
                  </a:tcPr>
                </a:tc>
                <a:extLst>
                  <a:ext uri="{0D108BD9-81ED-4DB2-BD59-A6C34878D82A}">
                    <a16:rowId xmlns:a16="http://schemas.microsoft.com/office/drawing/2014/main" val="10001"/>
                  </a:ext>
                </a:extLst>
              </a:tr>
              <a:tr h="1209675">
                <a:tc>
                  <a:txBody>
                    <a:bodyPr/>
                    <a:lstStyle/>
                    <a:p>
                      <a:r>
                        <a:rPr sz="1725" b="0">
                          <a:solidFill>
                            <a:srgbClr val="182538"/>
                          </a:solidFill>
                          <a:latin typeface="Microsoft YaHei"/>
                          <a:ea typeface="Microsoft YaHei"/>
                          <a:cs typeface="Microsoft YaHei"/>
                        </a:rPr>
                        <a:t>Nagatsuka 2013</a:t>
                      </a:r>
                    </a:p>
                    <a:p>
                      <a:r>
                        <a:rPr sz="1725" b="0">
                          <a:solidFill>
                            <a:srgbClr val="182538"/>
                          </a:solidFill>
                          <a:latin typeface="Microsoft YaHei"/>
                          <a:ea typeface="Microsoft YaHei"/>
                          <a:cs typeface="Microsoft YaHei"/>
                        </a:rPr>
                        <a:t>β=0.5—5，n=10—500</a:t>
                      </a:r>
                    </a:p>
                  </a:txBody>
                  <a:tcPr>
                    <a:solidFill>
                      <a:srgbClr val="FFFFFF"/>
                    </a:solidFill>
                  </a:tcPr>
                </a:tc>
                <a:tc>
                  <a:txBody>
                    <a:bodyPr/>
                    <a:lstStyle/>
                    <a:p>
                      <a:r>
                        <a:rPr sz="1725" b="0">
                          <a:solidFill>
                            <a:srgbClr val="182538"/>
                          </a:solidFill>
                          <a:latin typeface="Microsoft YaHei"/>
                          <a:ea typeface="Microsoft YaHei"/>
                          <a:cs typeface="Microsoft YaHei"/>
                        </a:rPr>
                        <a:t>作者整体建议</a:t>
                      </a:r>
                    </a:p>
                    <a:p>
                      <a:r>
                        <a:rPr sz="1725" b="0">
                          <a:solidFill>
                            <a:srgbClr val="182538"/>
                          </a:solidFill>
                          <a:latin typeface="Microsoft YaHei"/>
                          <a:ea typeface="Microsoft YaHei"/>
                          <a:cs typeface="Microsoft YaHei"/>
                        </a:rPr>
                        <a:t>n≤20考虑WMLE，n≥100考虑LSPF</a:t>
                      </a:r>
                    </a:p>
                  </a:txBody>
                  <a:tcPr>
                    <a:solidFill>
                      <a:srgbClr val="FFFFFF"/>
                    </a:solidFill>
                  </a:tcPr>
                </a:tc>
                <a:tc>
                  <a:txBody>
                    <a:bodyPr/>
                    <a:lstStyle/>
                    <a:p>
                      <a:r>
                        <a:rPr sz="1725" b="0">
                          <a:solidFill>
                            <a:srgbClr val="182538"/>
                          </a:solidFill>
                          <a:latin typeface="Microsoft YaHei"/>
                          <a:ea typeface="Microsoft YaHei"/>
                          <a:cs typeface="Microsoft YaHei"/>
                        </a:rPr>
                        <a:t>LSPF仍有构造与可解性价值</a:t>
                      </a:r>
                    </a:p>
                    <a:p>
                      <a:r>
                        <a:rPr sz="1725" b="0">
                          <a:solidFill>
                            <a:srgbClr val="182538"/>
                          </a:solidFill>
                          <a:latin typeface="Microsoft YaHei"/>
                          <a:ea typeface="Microsoft YaHei"/>
                          <a:cs typeface="Microsoft YaHei"/>
                        </a:rPr>
                        <a:t>不能直接认定为小样本最强</a:t>
                      </a:r>
                    </a:p>
                  </a:txBody>
                  <a:tcPr>
                    <a:solidFill>
                      <a:srgbClr val="FFFFFF"/>
                    </a:solidFill>
                  </a:tcPr>
                </a:tc>
                <a:extLst>
                  <a:ext uri="{0D108BD9-81ED-4DB2-BD59-A6C34878D82A}">
                    <a16:rowId xmlns:a16="http://schemas.microsoft.com/office/drawing/2014/main" val="10002"/>
                  </a:ext>
                </a:extLst>
              </a:tr>
            </a:tbl>
          </a:graphicData>
        </a:graphic>
      </p:graphicFrame>
      <p:sp>
        <p:nvSpPr>
          <p:cNvPr id="8" name="矩形 7">
            <a:extLst>
              <a:ext uri="{FF2B5EF4-FFF2-40B4-BE49-F238E27FC236}">
                <a16:creationId xmlns:a16="http://schemas.microsoft.com/office/drawing/2014/main" id="{6D6C9DD2-99EA-483E-AD31-931C8D5C97F5}"/>
              </a:ext>
            </a:extLst>
          </p:cNvPr>
          <p:cNvSpPr>
            <a:spLocks noGrp="1"/>
          </p:cNvSpPr>
          <p:nvPr/>
        </p:nvSpPr>
        <p:spPr>
          <a:xfrm>
            <a:off x="609600" y="6038850"/>
            <a:ext cx="10972800" cy="381000"/>
          </a:xfrm>
          <a:prstGeom prst="rect">
            <a:avLst/>
          </a:prstGeom>
          <a:noFill/>
          <a:ln w="0">
            <a:noFill/>
          </a:ln>
        </p:spPr>
        <p:txBody>
          <a:bodyPr>
            <a:noAutofit/>
          </a:bodyPr>
          <a:lstStyle/>
          <a:p>
            <a:pPr>
              <a:defRPr sz="1425" b="1">
                <a:solidFill>
                  <a:srgbClr val="2F6096"/>
                </a:solidFill>
                <a:latin typeface="Microsoft YaHei"/>
                <a:ea typeface="Microsoft YaHei"/>
                <a:cs typeface="Microsoft YaHei"/>
              </a:defRPr>
            </a:pPr>
            <a:r>
              <a:rPr lang="zh-CN" altLang="en-US" sz="1425" b="1">
                <a:solidFill>
                  <a:srgbClr val="2F6096"/>
                </a:solidFill>
                <a:latin typeface="Microsoft YaHei"/>
                <a:ea typeface="Microsoft YaHei"/>
                <a:cs typeface="Microsoft YaHei"/>
              </a:rPr>
              <a:t>选择对照时同时考虑其改进目标，以及已有比较中的表现。</a:t>
            </a:r>
            <a:endParaRPr sz="1425" b="1">
              <a:solidFill>
                <a:srgbClr val="2F6096"/>
              </a:solidFill>
              <a:latin typeface="Microsoft YaHei"/>
              <a:ea typeface="Microsoft YaHei"/>
              <a:cs typeface="Microsoft YaHei"/>
            </a:endParaRPr>
          </a:p>
        </p:txBody>
      </p:sp>
    </p:spTree>
    <p:extLst>
      <p:ext uri="{BB962C8B-B14F-4D97-AF65-F5344CB8AC3E}">
        <p14:creationId xmlns:p14="http://schemas.microsoft.com/office/powerpoint/2010/main" val="1092480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550" b="1">
                <a:solidFill>
                  <a:srgbClr val="FFFFFF"/>
                </a:solidFill>
                <a:latin typeface="汉仪文润宋韵 U"/>
                <a:ea typeface="汉仪文润宋韵 U"/>
                <a:cs typeface="汉仪文润宋韵 U"/>
              </a:defRPr>
            </a:pPr>
            <a:r>
              <a:rPr sz="2550" b="1" spc="-150">
                <a:solidFill>
                  <a:srgbClr val="FFFFFF"/>
                </a:solidFill>
                <a:latin typeface="汉仪文润宋韵 U"/>
                <a:ea typeface="汉仪文润宋韵 U"/>
                <a:cs typeface="汉仪文润宋韵 U"/>
              </a:rPr>
              <a:t>近期小样本与偏差修正证据各有边界</a:t>
            </a:r>
            <a:endParaRPr sz="26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近期进展及其检验证据</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02</a:t>
            </a:r>
          </a:p>
        </p:txBody>
      </p:sp>
      <p:sp>
        <p:nvSpPr>
          <p:cNvPr id="6" name="矩形 5">
            <a:extLst>
              <a:ext uri="{FF2B5EF4-FFF2-40B4-BE49-F238E27FC236}">
                <a16:creationId xmlns:a16="http://schemas.microsoft.com/office/drawing/2014/main" id="{FCD9627F-49A8-4687-BEB2-F766C1DFA4A5}"/>
              </a:ext>
            </a:extLst>
          </p:cNvPr>
          <p:cNvSpPr>
            <a:spLocks noGrp="1"/>
          </p:cNvSpPr>
          <p:nvPr/>
        </p:nvSpPr>
        <p:spPr>
          <a:xfrm>
            <a:off x="609600" y="1685925"/>
            <a:ext cx="10972800" cy="428625"/>
          </a:xfrm>
          <a:prstGeom prst="rect">
            <a:avLst/>
          </a:prstGeom>
          <a:noFill/>
          <a:ln w="0">
            <a:noFill/>
          </a:ln>
        </p:spPr>
        <p:txBody>
          <a:bodyPr>
            <a:noAutofit/>
          </a:bodyPr>
          <a:lstStyle/>
          <a:p>
            <a:pPr>
              <a:defRPr sz="1875" b="0">
                <a:solidFill>
                  <a:srgbClr val="2F6096"/>
                </a:solidFill>
                <a:latin typeface="Microsoft YaHei"/>
                <a:ea typeface="Microsoft YaHei"/>
                <a:cs typeface="Microsoft YaHei"/>
              </a:defRPr>
            </a:pPr>
            <a:r>
              <a:rPr sz="1875" b="0">
                <a:solidFill>
                  <a:srgbClr val="2F6096"/>
                </a:solidFill>
                <a:latin typeface="Microsoft YaHei"/>
                <a:ea typeface="Microsoft YaHei"/>
                <a:cs typeface="Microsoft YaHei"/>
              </a:rPr>
              <a:t>既要看到改进，也要保留作者实际检验的范围</a:t>
            </a:r>
          </a:p>
        </p:txBody>
      </p:sp>
      <p:graphicFrame>
        <p:nvGraphicFramePr>
          <p:cNvPr id="14" name="表格 13"/>
          <p:cNvGraphicFramePr/>
          <p:nvPr>
            <p:extLst>
              <p:ext uri="{D42A27DB-BD31-4B8C-83A1-F6EECF244321}">
                <p14:modId xmlns:p14="http://schemas.microsoft.com/office/powerpoint/2010/main" val="2907408857"/>
              </p:ext>
            </p:extLst>
          </p:nvPr>
        </p:nvGraphicFramePr>
        <p:xfrm>
          <a:off x="609600" y="2466975"/>
          <a:ext cx="10972800" cy="2943225"/>
        </p:xfrm>
        <a:graphic>
          <a:graphicData uri="http://schemas.openxmlformats.org/drawingml/2006/table">
            <a:tbl>
              <a:tblPr/>
              <a:tblGrid>
                <a:gridCol w="314325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3829050">
                  <a:extLst>
                    <a:ext uri="{9D8B030D-6E8A-4147-A177-3AD203B41FA5}">
                      <a16:colId xmlns:a16="http://schemas.microsoft.com/office/drawing/2014/main" val="20002"/>
                    </a:ext>
                  </a:extLst>
                </a:gridCol>
              </a:tblGrid>
              <a:tr h="523875">
                <a:tc>
                  <a:txBody>
                    <a:bodyPr/>
                    <a:lstStyle/>
                    <a:p>
                      <a:r>
                        <a:rPr sz="1725" b="1">
                          <a:solidFill>
                            <a:srgbClr val="FFFFFF"/>
                          </a:solidFill>
                          <a:latin typeface="Microsoft YaHei"/>
                          <a:ea typeface="Microsoft YaHei"/>
                          <a:cs typeface="Microsoft YaHei"/>
                        </a:rPr>
                        <a:t>工作</a:t>
                      </a:r>
                    </a:p>
                  </a:txBody>
                  <a:tcPr>
                    <a:solidFill>
                      <a:srgbClr val="2F6096"/>
                    </a:solidFill>
                  </a:tcPr>
                </a:tc>
                <a:tc>
                  <a:txBody>
                    <a:bodyPr/>
                    <a:lstStyle/>
                    <a:p>
                      <a:r>
                        <a:rPr sz="1725" b="1">
                          <a:solidFill>
                            <a:srgbClr val="FFFFFF"/>
                          </a:solidFill>
                          <a:latin typeface="Microsoft YaHei"/>
                          <a:ea typeface="Microsoft YaHei"/>
                          <a:cs typeface="Microsoft YaHei"/>
                        </a:rPr>
                        <a:t>已报告的条件结果</a:t>
                      </a:r>
                    </a:p>
                  </a:txBody>
                  <a:tcPr>
                    <a:solidFill>
                      <a:srgbClr val="2F6096"/>
                    </a:solidFill>
                  </a:tcPr>
                </a:tc>
                <a:tc>
                  <a:txBody>
                    <a:bodyPr/>
                    <a:lstStyle/>
                    <a:p>
                      <a:r>
                        <a:rPr lang="zh-CN" altLang="en-US" sz="1725" b="1">
                          <a:solidFill>
                            <a:srgbClr val="FFFFFF"/>
                          </a:solidFill>
                          <a:latin typeface="Microsoft YaHei"/>
                          <a:ea typeface="Microsoft YaHei"/>
                          <a:cs typeface="Microsoft YaHei"/>
                        </a:rPr>
                        <a:t>适用条件</a:t>
                      </a:r>
                      <a:endParaRPr sz="1725" b="1">
                        <a:solidFill>
                          <a:srgbClr val="FFFFFF"/>
                        </a:solidFill>
                        <a:latin typeface="Microsoft YaHei"/>
                        <a:ea typeface="Microsoft YaHei"/>
                        <a:cs typeface="Microsoft YaHei"/>
                      </a:endParaRPr>
                    </a:p>
                  </a:txBody>
                  <a:tcPr>
                    <a:solidFill>
                      <a:srgbClr val="2F6096"/>
                    </a:solidFill>
                  </a:tcPr>
                </a:tc>
                <a:extLst>
                  <a:ext uri="{0D108BD9-81ED-4DB2-BD59-A6C34878D82A}">
                    <a16:rowId xmlns:a16="http://schemas.microsoft.com/office/drawing/2014/main" val="10000"/>
                  </a:ext>
                </a:extLst>
              </a:tr>
              <a:tr h="1209675">
                <a:tc>
                  <a:txBody>
                    <a:bodyPr/>
                    <a:lstStyle/>
                    <a:p>
                      <a:r>
                        <a:rPr sz="1725" b="0">
                          <a:solidFill>
                            <a:srgbClr val="182538"/>
                          </a:solidFill>
                          <a:latin typeface="Microsoft YaHei"/>
                          <a:ea typeface="Microsoft YaHei"/>
                          <a:cs typeface="Microsoft YaHei"/>
                        </a:rPr>
                        <a:t>SAM 2023</a:t>
                      </a:r>
                    </a:p>
                    <a:p>
                      <a:r>
                        <a:rPr sz="1725" b="0">
                          <a:solidFill>
                            <a:srgbClr val="182538"/>
                          </a:solidFill>
                          <a:latin typeface="Microsoft YaHei"/>
                          <a:ea typeface="Microsoft YaHei"/>
                          <a:cs typeface="Microsoft YaHei"/>
                        </a:rPr>
                        <a:t>β=1.5、2、2.5</a:t>
                      </a:r>
                    </a:p>
                    <a:p>
                      <a:r>
                        <a:rPr sz="1725" b="0">
                          <a:solidFill>
                            <a:srgbClr val="182538"/>
                          </a:solidFill>
                          <a:latin typeface="Microsoft YaHei"/>
                          <a:ea typeface="Microsoft YaHei"/>
                          <a:cs typeface="Microsoft YaHei"/>
                        </a:rPr>
                        <a:t>n=5、10、15、20</a:t>
                      </a:r>
                    </a:p>
                  </a:txBody>
                  <a:tcPr>
                    <a:solidFill>
                      <a:srgbClr val="FFFFFF"/>
                    </a:solidFill>
                  </a:tcPr>
                </a:tc>
                <a:tc>
                  <a:txBody>
                    <a:bodyPr/>
                    <a:lstStyle/>
                    <a:p>
                      <a:r>
                        <a:rPr sz="1725" b="0">
                          <a:solidFill>
                            <a:srgbClr val="182538"/>
                          </a:solidFill>
                          <a:latin typeface="Microsoft YaHei"/>
                          <a:ea typeface="Microsoft YaHei"/>
                          <a:cs typeface="Microsoft YaHei"/>
                        </a:rPr>
                        <a:t>n≤10的平均MAD优势明显</a:t>
                      </a:r>
                    </a:p>
                    <a:p>
                      <a:r>
                        <a:rPr sz="1725" b="0">
                          <a:solidFill>
                            <a:srgbClr val="182538"/>
                          </a:solidFill>
                          <a:latin typeface="Microsoft YaHei"/>
                          <a:ea typeface="Microsoft YaHei"/>
                          <a:cs typeface="Microsoft YaHei"/>
                        </a:rPr>
                        <a:t>随n增大，与MLE差距缩小</a:t>
                      </a:r>
                    </a:p>
                  </a:txBody>
                  <a:tcPr>
                    <a:solidFill>
                      <a:srgbClr val="FFFFFF"/>
                    </a:solidFill>
                  </a:tcPr>
                </a:tc>
                <a:tc>
                  <a:txBody>
                    <a:bodyPr/>
                    <a:lstStyle/>
                    <a:p>
                      <a:r>
                        <a:rPr sz="1725" b="0">
                          <a:solidFill>
                            <a:srgbClr val="182538"/>
                          </a:solidFill>
                          <a:latin typeface="Microsoft YaHei"/>
                          <a:ea typeface="Microsoft YaHei"/>
                          <a:cs typeface="Microsoft YaHei"/>
                        </a:rPr>
                        <a:t>未覆盖β&lt;1</a:t>
                      </a:r>
                    </a:p>
                    <a:p>
                      <a:r>
                        <a:rPr sz="1725" b="0">
                          <a:solidFill>
                            <a:srgbClr val="182538"/>
                          </a:solidFill>
                          <a:latin typeface="Microsoft YaHei"/>
                          <a:ea typeface="Microsoft YaHei"/>
                          <a:cs typeface="Microsoft YaHei"/>
                        </a:rPr>
                        <a:t>跨参数MAD受单位和尺度影响</a:t>
                      </a:r>
                    </a:p>
                  </a:txBody>
                  <a:tcPr>
                    <a:solidFill>
                      <a:srgbClr val="FFFFFF"/>
                    </a:solidFill>
                  </a:tcPr>
                </a:tc>
                <a:extLst>
                  <a:ext uri="{0D108BD9-81ED-4DB2-BD59-A6C34878D82A}">
                    <a16:rowId xmlns:a16="http://schemas.microsoft.com/office/drawing/2014/main" val="10001"/>
                  </a:ext>
                </a:extLst>
              </a:tr>
              <a:tr h="1209675">
                <a:tc>
                  <a:txBody>
                    <a:bodyPr/>
                    <a:lstStyle/>
                    <a:p>
                      <a:r>
                        <a:rPr sz="1725" b="0">
                          <a:solidFill>
                            <a:srgbClr val="182538"/>
                          </a:solidFill>
                          <a:latin typeface="Microsoft YaHei"/>
                          <a:ea typeface="Microsoft YaHei"/>
                          <a:cs typeface="Microsoft YaHei"/>
                        </a:rPr>
                        <a:t>DMMLE 2025</a:t>
                      </a:r>
                    </a:p>
                    <a:p>
                      <a:r>
                        <a:rPr sz="1725" b="0">
                          <a:solidFill>
                            <a:srgbClr val="182538"/>
                          </a:solidFill>
                          <a:latin typeface="Microsoft YaHei"/>
                          <a:ea typeface="Microsoft YaHei"/>
                          <a:cs typeface="Microsoft YaHei"/>
                        </a:rPr>
                        <a:t>3组参数，n=50—1000</a:t>
                      </a:r>
                    </a:p>
                  </a:txBody>
                  <a:tcPr>
                    <a:solidFill>
                      <a:srgbClr val="FFFFFF"/>
                    </a:solidFill>
                  </a:tcPr>
                </a:tc>
                <a:tc>
                  <a:txBody>
                    <a:bodyPr/>
                    <a:lstStyle/>
                    <a:p>
                      <a:r>
                        <a:rPr sz="1725" b="0">
                          <a:solidFill>
                            <a:srgbClr val="182538"/>
                          </a:solidFill>
                          <a:latin typeface="Microsoft YaHei"/>
                          <a:ea typeface="Microsoft YaHei"/>
                          <a:cs typeface="Microsoft YaHei"/>
                        </a:rPr>
                        <a:t>偏差有所改善</a:t>
                      </a:r>
                    </a:p>
                    <a:p>
                      <a:r>
                        <a:rPr sz="1725" b="0">
                          <a:solidFill>
                            <a:srgbClr val="182538"/>
                          </a:solidFill>
                          <a:latin typeface="Microsoft YaHei"/>
                          <a:ea typeface="Microsoft YaHei"/>
                          <a:cs typeface="Microsoft YaHei"/>
                        </a:rPr>
                        <a:t>RMSE总体相近</a:t>
                      </a:r>
                    </a:p>
                  </a:txBody>
                  <a:tcPr>
                    <a:solidFill>
                      <a:srgbClr val="FFFFFF"/>
                    </a:solidFill>
                  </a:tcPr>
                </a:tc>
                <a:tc>
                  <a:txBody>
                    <a:bodyPr/>
                    <a:lstStyle/>
                    <a:p>
                      <a:r>
                        <a:rPr sz="1725" b="0">
                          <a:solidFill>
                            <a:srgbClr val="182538"/>
                          </a:solidFill>
                          <a:latin typeface="Microsoft YaHei"/>
                          <a:ea typeface="Microsoft YaHei"/>
                          <a:cs typeface="Microsoft YaHei"/>
                        </a:rPr>
                        <a:t>尚无n=5—20的直接证据</a:t>
                      </a:r>
                    </a:p>
                    <a:p>
                      <a:r>
                        <a:rPr sz="1725" b="0">
                          <a:solidFill>
                            <a:srgbClr val="182538"/>
                          </a:solidFill>
                          <a:latin typeface="Microsoft YaHei"/>
                          <a:ea typeface="Microsoft YaHei"/>
                          <a:cs typeface="Microsoft YaHei"/>
                        </a:rPr>
                        <a:t>偏差降低不等于总体误差降低</a:t>
                      </a:r>
                    </a:p>
                  </a:txBody>
                  <a:tcPr>
                    <a:solidFill>
                      <a:srgbClr val="FFFFFF"/>
                    </a:solidFill>
                  </a:tcPr>
                </a:tc>
                <a:extLst>
                  <a:ext uri="{0D108BD9-81ED-4DB2-BD59-A6C34878D82A}">
                    <a16:rowId xmlns:a16="http://schemas.microsoft.com/office/drawing/2014/main" val="10002"/>
                  </a:ext>
                </a:extLst>
              </a:tr>
            </a:tbl>
          </a:graphicData>
        </a:graphic>
      </p:graphicFrame>
      <p:sp>
        <p:nvSpPr>
          <p:cNvPr id="8" name="矩形 7">
            <a:extLst>
              <a:ext uri="{FF2B5EF4-FFF2-40B4-BE49-F238E27FC236}">
                <a16:creationId xmlns:a16="http://schemas.microsoft.com/office/drawing/2014/main" id="{4786E4CB-970C-48B9-86BC-77C6F7C0FA67}"/>
              </a:ext>
            </a:extLst>
          </p:cNvPr>
          <p:cNvSpPr>
            <a:spLocks noGrp="1"/>
          </p:cNvSpPr>
          <p:nvPr/>
        </p:nvSpPr>
        <p:spPr>
          <a:xfrm>
            <a:off x="609600" y="6038850"/>
            <a:ext cx="10972800" cy="381000"/>
          </a:xfrm>
          <a:prstGeom prst="rect">
            <a:avLst/>
          </a:prstGeom>
          <a:noFill/>
          <a:ln w="0">
            <a:noFill/>
          </a:ln>
        </p:spPr>
        <p:txBody>
          <a:bodyPr>
            <a:noAutofit/>
          </a:bodyPr>
          <a:lstStyle/>
          <a:p>
            <a:pPr>
              <a:defRPr sz="1425" b="1">
                <a:solidFill>
                  <a:srgbClr val="2F6096"/>
                </a:solidFill>
                <a:latin typeface="Microsoft YaHei"/>
                <a:ea typeface="Microsoft YaHei"/>
                <a:cs typeface="Microsoft YaHei"/>
              </a:defRPr>
            </a:pPr>
            <a:r>
              <a:rPr lang="en-US" altLang="zh-CN" sz="1425" b="1">
                <a:solidFill>
                  <a:srgbClr val="2F6096"/>
                </a:solidFill>
                <a:latin typeface="Microsoft YaHei"/>
                <a:ea typeface="Microsoft YaHei"/>
                <a:cs typeface="Microsoft YaHei"/>
              </a:rPr>
              <a:t>SAM</a:t>
            </a:r>
            <a:r>
              <a:rPr lang="zh-CN" altLang="en-US" sz="1425" b="1">
                <a:solidFill>
                  <a:srgbClr val="2F6096"/>
                </a:solidFill>
                <a:latin typeface="Microsoft YaHei"/>
                <a:ea typeface="Microsoft YaHei"/>
                <a:cs typeface="Microsoft YaHei"/>
              </a:rPr>
              <a:t>与极小样本任务直接相关；</a:t>
            </a:r>
            <a:r>
              <a:rPr lang="en-US" altLang="zh-CN" sz="1425" b="1">
                <a:solidFill>
                  <a:srgbClr val="2F6096"/>
                </a:solidFill>
                <a:latin typeface="Microsoft YaHei"/>
                <a:ea typeface="Microsoft YaHei"/>
                <a:cs typeface="Microsoft YaHei"/>
              </a:rPr>
              <a:t>DMMLE</a:t>
            </a:r>
            <a:r>
              <a:rPr lang="zh-CN" altLang="en-US" sz="1425" b="1">
                <a:solidFill>
                  <a:srgbClr val="2F6096"/>
                </a:solidFill>
                <a:latin typeface="Microsoft YaHei"/>
                <a:ea typeface="Microsoft YaHei"/>
                <a:cs typeface="Microsoft YaHei"/>
              </a:rPr>
              <a:t>提供近期似然偏差修正的比较对象。</a:t>
            </a:r>
            <a:endParaRPr sz="1425" b="1">
              <a:solidFill>
                <a:srgbClr val="2F6096"/>
              </a:solidFill>
              <a:latin typeface="Microsoft YaHei"/>
              <a:ea typeface="Microsoft YaHei"/>
              <a:cs typeface="Microsoft YaHei"/>
            </a:endParaRPr>
          </a:p>
        </p:txBody>
      </p:sp>
    </p:spTree>
    <p:extLst>
      <p:ext uri="{BB962C8B-B14F-4D97-AF65-F5344CB8AC3E}">
        <p14:creationId xmlns:p14="http://schemas.microsoft.com/office/powerpoint/2010/main" val="42866473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550" b="1">
                <a:solidFill>
                  <a:srgbClr val="FFFFFF"/>
                </a:solidFill>
                <a:latin typeface="汉仪文润宋韵 U"/>
                <a:ea typeface="汉仪文润宋韵 U"/>
                <a:cs typeface="汉仪文润宋韵 U"/>
              </a:defRPr>
            </a:pPr>
            <a:r>
              <a:rPr lang="en-US" altLang="zh-CN" sz="2550" b="1" spc="-150">
                <a:solidFill>
                  <a:srgbClr val="FFFFFF"/>
                </a:solidFill>
                <a:latin typeface="汉仪文润宋韵 U"/>
                <a:ea typeface="汉仪文润宋韵 U"/>
                <a:cs typeface="汉仪文润宋韵 U"/>
              </a:rPr>
              <a:t>13</a:t>
            </a:r>
            <a:r>
              <a:rPr lang="zh-CN" altLang="en-US" sz="2550" b="1" spc="-150">
                <a:solidFill>
                  <a:srgbClr val="FFFFFF"/>
                </a:solidFill>
                <a:latin typeface="汉仪文润宋韵 U"/>
                <a:ea typeface="汉仪文润宋韵 U"/>
                <a:cs typeface="汉仪文润宋韵 U"/>
              </a:rPr>
              <a:t>篇相关论文实际选择了哪些对照</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对照选择、版本与验证</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03</a:t>
            </a:r>
          </a:p>
        </p:txBody>
      </p:sp>
      <p:sp>
        <p:nvSpPr>
          <p:cNvPr id="6" name="矩形 5">
            <a:extLst>
              <a:ext uri="{FF2B5EF4-FFF2-40B4-BE49-F238E27FC236}">
                <a16:creationId xmlns:a16="http://schemas.microsoft.com/office/drawing/2014/main" id="{3CCEC12C-47C4-436D-BB9D-F7B194C79040}"/>
              </a:ext>
            </a:extLst>
          </p:cNvPr>
          <p:cNvSpPr>
            <a:spLocks noGrp="1"/>
          </p:cNvSpPr>
          <p:nvPr/>
        </p:nvSpPr>
        <p:spPr>
          <a:xfrm>
            <a:off x="609600" y="1685925"/>
            <a:ext cx="10972800" cy="428625"/>
          </a:xfrm>
          <a:prstGeom prst="rect">
            <a:avLst/>
          </a:prstGeom>
          <a:noFill/>
          <a:ln w="0">
            <a:noFill/>
          </a:ln>
        </p:spPr>
        <p:txBody>
          <a:bodyPr>
            <a:noAutofit/>
          </a:bodyPr>
          <a:lstStyle/>
          <a:p>
            <a:pPr>
              <a:defRPr sz="1875" b="0">
                <a:solidFill>
                  <a:srgbClr val="2F6096"/>
                </a:solidFill>
                <a:latin typeface="Microsoft YaHei"/>
                <a:ea typeface="Microsoft YaHei"/>
                <a:cs typeface="Microsoft YaHei"/>
              </a:defRPr>
            </a:pPr>
            <a:r>
              <a:rPr lang="zh-CN" altLang="en-US" sz="1875" b="0">
                <a:solidFill>
                  <a:srgbClr val="2F6096"/>
                </a:solidFill>
                <a:latin typeface="Microsoft YaHei"/>
                <a:ea typeface="Microsoft YaHei"/>
                <a:cs typeface="Microsoft YaHei"/>
              </a:rPr>
              <a:t>整理完整样本三参数估计论文，展示作者实际使用的比较方法。</a:t>
            </a:r>
            <a:endParaRPr sz="1875" b="0">
              <a:solidFill>
                <a:srgbClr val="2F6096"/>
              </a:solidFill>
              <a:latin typeface="Microsoft YaHei"/>
              <a:ea typeface="Microsoft YaHei"/>
              <a:cs typeface="Microsoft YaHei"/>
            </a:endParaRPr>
          </a:p>
        </p:txBody>
      </p:sp>
      <p:graphicFrame>
        <p:nvGraphicFramePr>
          <p:cNvPr id="14" name="表格 13"/>
          <p:cNvGraphicFramePr/>
          <p:nvPr>
            <p:extLst>
              <p:ext uri="{D42A27DB-BD31-4B8C-83A1-F6EECF244321}">
                <p14:modId xmlns:p14="http://schemas.microsoft.com/office/powerpoint/2010/main" val="810654320"/>
              </p:ext>
            </p:extLst>
          </p:nvPr>
        </p:nvGraphicFramePr>
        <p:xfrm>
          <a:off x="609600" y="2219325"/>
          <a:ext cx="10972800" cy="3619500"/>
        </p:xfrm>
        <a:graphic>
          <a:graphicData uri="http://schemas.openxmlformats.org/drawingml/2006/table">
            <a:tbl>
              <a:tblPr/>
              <a:tblGrid>
                <a:gridCol w="2457450">
                  <a:extLst>
                    <a:ext uri="{9D8B030D-6E8A-4147-A177-3AD203B41FA5}">
                      <a16:colId xmlns:a16="http://schemas.microsoft.com/office/drawing/2014/main" val="20000"/>
                    </a:ext>
                  </a:extLst>
                </a:gridCol>
                <a:gridCol w="655027">
                  <a:extLst>
                    <a:ext uri="{9D8B030D-6E8A-4147-A177-3AD203B41FA5}">
                      <a16:colId xmlns:a16="http://schemas.microsoft.com/office/drawing/2014/main" val="20001"/>
                    </a:ext>
                  </a:extLst>
                </a:gridCol>
                <a:gridCol w="655027">
                  <a:extLst>
                    <a:ext uri="{9D8B030D-6E8A-4147-A177-3AD203B41FA5}">
                      <a16:colId xmlns:a16="http://schemas.microsoft.com/office/drawing/2014/main" val="20002"/>
                    </a:ext>
                  </a:extLst>
                </a:gridCol>
                <a:gridCol w="655027">
                  <a:extLst>
                    <a:ext uri="{9D8B030D-6E8A-4147-A177-3AD203B41FA5}">
                      <a16:colId xmlns:a16="http://schemas.microsoft.com/office/drawing/2014/main" val="20003"/>
                    </a:ext>
                  </a:extLst>
                </a:gridCol>
                <a:gridCol w="655027">
                  <a:extLst>
                    <a:ext uri="{9D8B030D-6E8A-4147-A177-3AD203B41FA5}">
                      <a16:colId xmlns:a16="http://schemas.microsoft.com/office/drawing/2014/main" val="20004"/>
                    </a:ext>
                  </a:extLst>
                </a:gridCol>
                <a:gridCol w="655027">
                  <a:extLst>
                    <a:ext uri="{9D8B030D-6E8A-4147-A177-3AD203B41FA5}">
                      <a16:colId xmlns:a16="http://schemas.microsoft.com/office/drawing/2014/main" val="20005"/>
                    </a:ext>
                  </a:extLst>
                </a:gridCol>
                <a:gridCol w="655027">
                  <a:extLst>
                    <a:ext uri="{9D8B030D-6E8A-4147-A177-3AD203B41FA5}">
                      <a16:colId xmlns:a16="http://schemas.microsoft.com/office/drawing/2014/main" val="20006"/>
                    </a:ext>
                  </a:extLst>
                </a:gridCol>
                <a:gridCol w="655027">
                  <a:extLst>
                    <a:ext uri="{9D8B030D-6E8A-4147-A177-3AD203B41FA5}">
                      <a16:colId xmlns:a16="http://schemas.microsoft.com/office/drawing/2014/main" val="20007"/>
                    </a:ext>
                  </a:extLst>
                </a:gridCol>
                <a:gridCol w="655027">
                  <a:extLst>
                    <a:ext uri="{9D8B030D-6E8A-4147-A177-3AD203B41FA5}">
                      <a16:colId xmlns:a16="http://schemas.microsoft.com/office/drawing/2014/main" val="20008"/>
                    </a:ext>
                  </a:extLst>
                </a:gridCol>
                <a:gridCol w="655027">
                  <a:extLst>
                    <a:ext uri="{9D8B030D-6E8A-4147-A177-3AD203B41FA5}">
                      <a16:colId xmlns:a16="http://schemas.microsoft.com/office/drawing/2014/main" val="20009"/>
                    </a:ext>
                  </a:extLst>
                </a:gridCol>
                <a:gridCol w="655027">
                  <a:extLst>
                    <a:ext uri="{9D8B030D-6E8A-4147-A177-3AD203B41FA5}">
                      <a16:colId xmlns:a16="http://schemas.microsoft.com/office/drawing/2014/main" val="20010"/>
                    </a:ext>
                  </a:extLst>
                </a:gridCol>
                <a:gridCol w="655027">
                  <a:extLst>
                    <a:ext uri="{9D8B030D-6E8A-4147-A177-3AD203B41FA5}">
                      <a16:colId xmlns:a16="http://schemas.microsoft.com/office/drawing/2014/main" val="20011"/>
                    </a:ext>
                  </a:extLst>
                </a:gridCol>
                <a:gridCol w="655027">
                  <a:extLst>
                    <a:ext uri="{9D8B030D-6E8A-4147-A177-3AD203B41FA5}">
                      <a16:colId xmlns:a16="http://schemas.microsoft.com/office/drawing/2014/main" val="20012"/>
                    </a:ext>
                  </a:extLst>
                </a:gridCol>
                <a:gridCol w="655027">
                  <a:extLst>
                    <a:ext uri="{9D8B030D-6E8A-4147-A177-3AD203B41FA5}">
                      <a16:colId xmlns:a16="http://schemas.microsoft.com/office/drawing/2014/main" val="20013"/>
                    </a:ext>
                  </a:extLst>
                </a:gridCol>
              </a:tblGrid>
              <a:tr h="241300">
                <a:tc>
                  <a:txBody>
                    <a:bodyPr/>
                    <a:lstStyle/>
                    <a:p>
                      <a:pPr>
                        <a:lnSpc>
                          <a:spcPct val="100000"/>
                        </a:lnSpc>
                        <a:spcBef>
                          <a:spcPts val="0"/>
                        </a:spcBef>
                        <a:spcAft>
                          <a:spcPts val="0"/>
                        </a:spcAft>
                      </a:pPr>
                      <a:r>
                        <a:rPr sz="1200" b="1">
                          <a:solidFill>
                            <a:srgbClr val="FFFFFF"/>
                          </a:solidFill>
                          <a:latin typeface="Microsoft YaHei"/>
                          <a:ea typeface="Microsoft YaHei"/>
                          <a:cs typeface="Microsoft YaHei"/>
                        </a:rPr>
                        <a:t>论文／提出方法</a:t>
                      </a:r>
                    </a:p>
                  </a:txBody>
                  <a:tcPr marL="28575" marR="28575" marT="6350" marB="6350">
                    <a:solidFill>
                      <a:srgbClr val="2F6096"/>
                    </a:solidFill>
                  </a:tcPr>
                </a:tc>
                <a:tc>
                  <a:txBody>
                    <a:bodyPr/>
                    <a:lstStyle/>
                    <a:p>
                      <a:pPr>
                        <a:lnSpc>
                          <a:spcPct val="100000"/>
                        </a:lnSpc>
                        <a:spcBef>
                          <a:spcPts val="0"/>
                        </a:spcBef>
                        <a:spcAft>
                          <a:spcPts val="0"/>
                        </a:spcAft>
                      </a:pPr>
                      <a:r>
                        <a:rPr sz="1200" b="1">
                          <a:solidFill>
                            <a:srgbClr val="FFFFFF"/>
                          </a:solidFill>
                          <a:latin typeface="Microsoft YaHei"/>
                          <a:ea typeface="Microsoft YaHei"/>
                          <a:cs typeface="Microsoft YaHei"/>
                        </a:rPr>
                        <a:t>MLE</a:t>
                      </a:r>
                    </a:p>
                  </a:txBody>
                  <a:tcPr marL="28575" marR="28575" marT="6350" marB="6350">
                    <a:solidFill>
                      <a:srgbClr val="2F6096"/>
                    </a:solidFill>
                  </a:tcPr>
                </a:tc>
                <a:tc>
                  <a:txBody>
                    <a:bodyPr/>
                    <a:lstStyle/>
                    <a:p>
                      <a:pPr>
                        <a:lnSpc>
                          <a:spcPct val="100000"/>
                        </a:lnSpc>
                        <a:spcBef>
                          <a:spcPts val="0"/>
                        </a:spcBef>
                        <a:spcAft>
                          <a:spcPts val="0"/>
                        </a:spcAft>
                      </a:pPr>
                      <a:r>
                        <a:rPr sz="1200" b="1">
                          <a:solidFill>
                            <a:srgbClr val="FFFFFF"/>
                          </a:solidFill>
                          <a:latin typeface="Microsoft YaHei"/>
                          <a:ea typeface="Microsoft YaHei"/>
                          <a:cs typeface="Microsoft YaHei"/>
                        </a:rPr>
                        <a:t>CC</a:t>
                      </a:r>
                    </a:p>
                  </a:txBody>
                  <a:tcPr marL="28575" marR="28575" marT="6350" marB="6350">
                    <a:solidFill>
                      <a:srgbClr val="2F6096"/>
                    </a:solidFill>
                  </a:tcPr>
                </a:tc>
                <a:tc>
                  <a:txBody>
                    <a:bodyPr/>
                    <a:lstStyle/>
                    <a:p>
                      <a:pPr>
                        <a:lnSpc>
                          <a:spcPct val="100000"/>
                        </a:lnSpc>
                        <a:spcBef>
                          <a:spcPts val="0"/>
                        </a:spcBef>
                        <a:spcAft>
                          <a:spcPts val="0"/>
                        </a:spcAft>
                      </a:pPr>
                      <a:r>
                        <a:rPr sz="1200" b="1">
                          <a:solidFill>
                            <a:srgbClr val="FFFFFF"/>
                          </a:solidFill>
                          <a:latin typeface="Microsoft YaHei"/>
                          <a:ea typeface="Microsoft YaHei"/>
                          <a:cs typeface="Microsoft YaHei"/>
                        </a:rPr>
                        <a:t>MM</a:t>
                      </a:r>
                    </a:p>
                  </a:txBody>
                  <a:tcPr marL="28575" marR="28575" marT="6350" marB="6350">
                    <a:solidFill>
                      <a:srgbClr val="2F6096"/>
                    </a:solidFill>
                  </a:tcPr>
                </a:tc>
                <a:tc>
                  <a:txBody>
                    <a:bodyPr/>
                    <a:lstStyle/>
                    <a:p>
                      <a:pPr>
                        <a:lnSpc>
                          <a:spcPct val="100000"/>
                        </a:lnSpc>
                        <a:spcBef>
                          <a:spcPts val="0"/>
                        </a:spcBef>
                        <a:spcAft>
                          <a:spcPts val="0"/>
                        </a:spcAft>
                      </a:pPr>
                      <a:r>
                        <a:rPr sz="1200" b="1">
                          <a:solidFill>
                            <a:srgbClr val="FFFFFF"/>
                          </a:solidFill>
                          <a:latin typeface="Microsoft YaHei"/>
                          <a:ea typeface="Microsoft YaHei"/>
                          <a:cs typeface="Microsoft YaHei"/>
                        </a:rPr>
                        <a:t>WMLE</a:t>
                      </a:r>
                    </a:p>
                  </a:txBody>
                  <a:tcPr marL="28575" marR="28575" marT="6350" marB="6350">
                    <a:solidFill>
                      <a:srgbClr val="2F6096"/>
                    </a:solidFill>
                  </a:tcPr>
                </a:tc>
                <a:tc>
                  <a:txBody>
                    <a:bodyPr/>
                    <a:lstStyle/>
                    <a:p>
                      <a:pPr>
                        <a:lnSpc>
                          <a:spcPct val="100000"/>
                        </a:lnSpc>
                        <a:spcBef>
                          <a:spcPts val="0"/>
                        </a:spcBef>
                        <a:spcAft>
                          <a:spcPts val="0"/>
                        </a:spcAft>
                      </a:pPr>
                      <a:r>
                        <a:rPr sz="1200" b="1">
                          <a:solidFill>
                            <a:srgbClr val="FFFFFF"/>
                          </a:solidFill>
                          <a:latin typeface="Microsoft YaHei"/>
                          <a:ea typeface="Microsoft YaHei"/>
                          <a:cs typeface="Microsoft YaHei"/>
                        </a:rPr>
                        <a:t>MPS</a:t>
                      </a:r>
                    </a:p>
                  </a:txBody>
                  <a:tcPr marL="28575" marR="28575" marT="6350" marB="6350">
                    <a:solidFill>
                      <a:srgbClr val="2F6096"/>
                    </a:solidFill>
                  </a:tcPr>
                </a:tc>
                <a:tc>
                  <a:txBody>
                    <a:bodyPr/>
                    <a:lstStyle/>
                    <a:p>
                      <a:pPr>
                        <a:lnSpc>
                          <a:spcPct val="100000"/>
                        </a:lnSpc>
                        <a:spcBef>
                          <a:spcPts val="0"/>
                        </a:spcBef>
                        <a:spcAft>
                          <a:spcPts val="0"/>
                        </a:spcAft>
                      </a:pPr>
                      <a:r>
                        <a:rPr sz="1200" b="1">
                          <a:solidFill>
                            <a:srgbClr val="FFFFFF"/>
                          </a:solidFill>
                          <a:latin typeface="Microsoft YaHei"/>
                          <a:ea typeface="Microsoft YaHei"/>
                          <a:cs typeface="Microsoft YaHei"/>
                        </a:rPr>
                        <a:t>PWM</a:t>
                      </a:r>
                    </a:p>
                  </a:txBody>
                  <a:tcPr marL="28575" marR="28575" marT="6350" marB="6350">
                    <a:solidFill>
                      <a:srgbClr val="2F6096"/>
                    </a:solidFill>
                  </a:tcPr>
                </a:tc>
                <a:tc>
                  <a:txBody>
                    <a:bodyPr/>
                    <a:lstStyle/>
                    <a:p>
                      <a:pPr>
                        <a:lnSpc>
                          <a:spcPct val="100000"/>
                        </a:lnSpc>
                        <a:spcBef>
                          <a:spcPts val="0"/>
                        </a:spcBef>
                        <a:spcAft>
                          <a:spcPts val="0"/>
                        </a:spcAft>
                      </a:pPr>
                      <a:r>
                        <a:rPr sz="1200" b="1">
                          <a:solidFill>
                            <a:srgbClr val="FFFFFF"/>
                          </a:solidFill>
                          <a:latin typeface="Microsoft YaHei"/>
                          <a:ea typeface="Microsoft YaHei"/>
                          <a:cs typeface="Microsoft YaHei"/>
                        </a:rPr>
                        <a:t>MMLE</a:t>
                      </a:r>
                    </a:p>
                  </a:txBody>
                  <a:tcPr marL="28575" marR="28575" marT="6350" marB="6350">
                    <a:solidFill>
                      <a:srgbClr val="2F6096"/>
                    </a:solidFill>
                  </a:tcPr>
                </a:tc>
                <a:tc>
                  <a:txBody>
                    <a:bodyPr/>
                    <a:lstStyle/>
                    <a:p>
                      <a:pPr>
                        <a:lnSpc>
                          <a:spcPct val="100000"/>
                        </a:lnSpc>
                        <a:spcBef>
                          <a:spcPts val="0"/>
                        </a:spcBef>
                        <a:spcAft>
                          <a:spcPts val="0"/>
                        </a:spcAft>
                      </a:pPr>
                      <a:r>
                        <a:rPr sz="1200" b="1">
                          <a:solidFill>
                            <a:srgbClr val="FFFFFF"/>
                          </a:solidFill>
                          <a:latin typeface="Microsoft YaHei"/>
                          <a:ea typeface="Microsoft YaHei"/>
                          <a:cs typeface="Microsoft YaHei"/>
                        </a:rPr>
                        <a:t>LS</a:t>
                      </a:r>
                    </a:p>
                  </a:txBody>
                  <a:tcPr marL="28575" marR="28575" marT="6350" marB="6350">
                    <a:solidFill>
                      <a:srgbClr val="2F6096"/>
                    </a:solidFill>
                  </a:tcPr>
                </a:tc>
                <a:tc>
                  <a:txBody>
                    <a:bodyPr/>
                    <a:lstStyle/>
                    <a:p>
                      <a:pPr>
                        <a:lnSpc>
                          <a:spcPct val="100000"/>
                        </a:lnSpc>
                        <a:spcBef>
                          <a:spcPts val="0"/>
                        </a:spcBef>
                        <a:spcAft>
                          <a:spcPts val="0"/>
                        </a:spcAft>
                      </a:pPr>
                      <a:r>
                        <a:rPr sz="1200" b="1">
                          <a:solidFill>
                            <a:srgbClr val="FFFFFF"/>
                          </a:solidFill>
                          <a:latin typeface="Microsoft YaHei"/>
                          <a:ea typeface="Microsoft YaHei"/>
                          <a:cs typeface="Microsoft YaHei"/>
                        </a:rPr>
                        <a:t>MDM</a:t>
                      </a:r>
                    </a:p>
                  </a:txBody>
                  <a:tcPr marL="28575" marR="28575" marT="6350" marB="6350">
                    <a:solidFill>
                      <a:srgbClr val="2F6096"/>
                    </a:solidFill>
                  </a:tcPr>
                </a:tc>
                <a:tc>
                  <a:txBody>
                    <a:bodyPr/>
                    <a:lstStyle/>
                    <a:p>
                      <a:pPr>
                        <a:lnSpc>
                          <a:spcPct val="100000"/>
                        </a:lnSpc>
                        <a:spcBef>
                          <a:spcPts val="0"/>
                        </a:spcBef>
                        <a:spcAft>
                          <a:spcPts val="0"/>
                        </a:spcAft>
                      </a:pPr>
                      <a:r>
                        <a:rPr sz="1200" b="1">
                          <a:solidFill>
                            <a:srgbClr val="FFFFFF"/>
                          </a:solidFill>
                          <a:latin typeface="Microsoft YaHei"/>
                          <a:ea typeface="Microsoft YaHei"/>
                          <a:cs typeface="Microsoft YaHei"/>
                        </a:rPr>
                        <a:t>BL</a:t>
                      </a:r>
                    </a:p>
                  </a:txBody>
                  <a:tcPr marL="28575" marR="28575" marT="6350" marB="6350">
                    <a:solidFill>
                      <a:srgbClr val="2F6096"/>
                    </a:solidFill>
                  </a:tcPr>
                </a:tc>
                <a:tc>
                  <a:txBody>
                    <a:bodyPr/>
                    <a:lstStyle/>
                    <a:p>
                      <a:pPr>
                        <a:lnSpc>
                          <a:spcPct val="100000"/>
                        </a:lnSpc>
                        <a:spcBef>
                          <a:spcPts val="0"/>
                        </a:spcBef>
                        <a:spcAft>
                          <a:spcPts val="0"/>
                        </a:spcAft>
                      </a:pPr>
                      <a:r>
                        <a:rPr sz="1200" b="1">
                          <a:solidFill>
                            <a:srgbClr val="FFFFFF"/>
                          </a:solidFill>
                          <a:latin typeface="Microsoft YaHei"/>
                          <a:ea typeface="Microsoft YaHei"/>
                          <a:cs typeface="Microsoft YaHei"/>
                        </a:rPr>
                        <a:t>CMLE</a:t>
                      </a:r>
                    </a:p>
                  </a:txBody>
                  <a:tcPr marL="28575" marR="28575" marT="6350" marB="6350">
                    <a:solidFill>
                      <a:srgbClr val="2F6096"/>
                    </a:solidFill>
                  </a:tcPr>
                </a:tc>
                <a:tc>
                  <a:txBody>
                    <a:bodyPr/>
                    <a:lstStyle/>
                    <a:p>
                      <a:pPr>
                        <a:lnSpc>
                          <a:spcPct val="100000"/>
                        </a:lnSpc>
                        <a:spcBef>
                          <a:spcPts val="0"/>
                        </a:spcBef>
                        <a:spcAft>
                          <a:spcPts val="0"/>
                        </a:spcAft>
                      </a:pPr>
                      <a:r>
                        <a:rPr sz="1200" b="1">
                          <a:solidFill>
                            <a:srgbClr val="FFFFFF"/>
                          </a:solidFill>
                          <a:latin typeface="Microsoft YaHei"/>
                          <a:ea typeface="Microsoft YaHei"/>
                          <a:cs typeface="Microsoft YaHei"/>
                        </a:rPr>
                        <a:t>LM</a:t>
                      </a:r>
                    </a:p>
                  </a:txBody>
                  <a:tcPr marL="28575" marR="28575" marT="6350" marB="6350">
                    <a:solidFill>
                      <a:srgbClr val="2F6096"/>
                    </a:solidFill>
                  </a:tcPr>
                </a:tc>
                <a:tc>
                  <a:txBody>
                    <a:bodyPr/>
                    <a:lstStyle/>
                    <a:p>
                      <a:pPr>
                        <a:lnSpc>
                          <a:spcPct val="100000"/>
                        </a:lnSpc>
                        <a:spcBef>
                          <a:spcPts val="0"/>
                        </a:spcBef>
                        <a:spcAft>
                          <a:spcPts val="0"/>
                        </a:spcAft>
                      </a:pPr>
                      <a:r>
                        <a:rPr sz="1200" b="1">
                          <a:solidFill>
                            <a:srgbClr val="FFFFFF"/>
                          </a:solidFill>
                          <a:latin typeface="Microsoft YaHei"/>
                          <a:ea typeface="Microsoft YaHei"/>
                          <a:cs typeface="Microsoft YaHei"/>
                        </a:rPr>
                        <a:t>MMoE</a:t>
                      </a:r>
                    </a:p>
                  </a:txBody>
                  <a:tcPr marL="28575" marR="28575" marT="6350" marB="6350">
                    <a:solidFill>
                      <a:srgbClr val="2F6096"/>
                    </a:solidFill>
                  </a:tcPr>
                </a:tc>
                <a:extLst>
                  <a:ext uri="{0D108BD9-81ED-4DB2-BD59-A6C34878D82A}">
                    <a16:rowId xmlns:a16="http://schemas.microsoft.com/office/drawing/2014/main" val="10000"/>
                  </a:ext>
                </a:extLst>
              </a:tr>
              <a:tr h="241300">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修正估计 1982</a:t>
                      </a:r>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extLst>
                  <a:ext uri="{0D108BD9-81ED-4DB2-BD59-A6C34878D82A}">
                    <a16:rowId xmlns:a16="http://schemas.microsoft.com/office/drawing/2014/main" val="10001"/>
                  </a:ext>
                </a:extLst>
              </a:tr>
              <a:tr h="241300">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ANN 2008</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extLst>
                  <a:ext uri="{0D108BD9-81ED-4DB2-BD59-A6C34878D82A}">
                    <a16:rowId xmlns:a16="http://schemas.microsoft.com/office/drawing/2014/main" val="10002"/>
                  </a:ext>
                </a:extLst>
              </a:tr>
              <a:tr h="241300">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WMLE 2009</a:t>
                      </a:r>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extLst>
                  <a:ext uri="{0D108BD9-81ED-4DB2-BD59-A6C34878D82A}">
                    <a16:rowId xmlns:a16="http://schemas.microsoft.com/office/drawing/2014/main" val="10003"/>
                  </a:ext>
                </a:extLst>
              </a:tr>
              <a:tr h="241300">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比较研究 2009</a:t>
                      </a:r>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extLst>
                  <a:ext uri="{0D108BD9-81ED-4DB2-BD59-A6C34878D82A}">
                    <a16:rowId xmlns:a16="http://schemas.microsoft.com/office/drawing/2014/main" val="10004"/>
                  </a:ext>
                </a:extLst>
              </a:tr>
              <a:tr h="241300">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LSPF 2013</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extLst>
                  <a:ext uri="{0D108BD9-81ED-4DB2-BD59-A6C34878D82A}">
                    <a16:rowId xmlns:a16="http://schemas.microsoft.com/office/drawing/2014/main" val="10005"/>
                  </a:ext>
                </a:extLst>
              </a:tr>
              <a:tr h="241300">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综合比较 2014</a:t>
                      </a:r>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extLst>
                  <a:ext uri="{0D108BD9-81ED-4DB2-BD59-A6C34878D82A}">
                    <a16:rowId xmlns:a16="http://schemas.microsoft.com/office/drawing/2014/main" val="10006"/>
                  </a:ext>
                </a:extLst>
              </a:tr>
              <a:tr h="241300">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MDM 2023</a:t>
                      </a:r>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extLst>
                  <a:ext uri="{0D108BD9-81ED-4DB2-BD59-A6C34878D82A}">
                    <a16:rowId xmlns:a16="http://schemas.microsoft.com/office/drawing/2014/main" val="10007"/>
                  </a:ext>
                </a:extLst>
              </a:tr>
              <a:tr h="241300">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迭代LS 2023</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extLst>
                  <a:ext uri="{0D108BD9-81ED-4DB2-BD59-A6C34878D82A}">
                    <a16:rowId xmlns:a16="http://schemas.microsoft.com/office/drawing/2014/main" val="10008"/>
                  </a:ext>
                </a:extLst>
              </a:tr>
              <a:tr h="241300">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SAM 2023</a:t>
                      </a:r>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extLst>
                  <a:ext uri="{0D108BD9-81ED-4DB2-BD59-A6C34878D82A}">
                    <a16:rowId xmlns:a16="http://schemas.microsoft.com/office/drawing/2014/main" val="10009"/>
                  </a:ext>
                </a:extLst>
              </a:tr>
              <a:tr h="241300">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PM 2024</a:t>
                      </a:r>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extLst>
                  <a:ext uri="{0D108BD9-81ED-4DB2-BD59-A6C34878D82A}">
                    <a16:rowId xmlns:a16="http://schemas.microsoft.com/office/drawing/2014/main" val="10010"/>
                  </a:ext>
                </a:extLst>
              </a:tr>
              <a:tr h="241300">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DMMLE 2025</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extLst>
                  <a:ext uri="{0D108BD9-81ED-4DB2-BD59-A6C34878D82A}">
                    <a16:rowId xmlns:a16="http://schemas.microsoft.com/office/drawing/2014/main" val="10011"/>
                  </a:ext>
                </a:extLst>
              </a:tr>
              <a:tr h="241300">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BPNN 2025</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extLst>
                  <a:ext uri="{0D108BD9-81ED-4DB2-BD59-A6C34878D82A}">
                    <a16:rowId xmlns:a16="http://schemas.microsoft.com/office/drawing/2014/main" val="10012"/>
                  </a:ext>
                </a:extLst>
              </a:tr>
              <a:tr h="241300">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ADGBO 2026</a:t>
                      </a:r>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extLst>
                  <a:ext uri="{0D108BD9-81ED-4DB2-BD59-A6C34878D82A}">
                    <a16:rowId xmlns:a16="http://schemas.microsoft.com/office/drawing/2014/main" val="10013"/>
                  </a:ext>
                </a:extLst>
              </a:tr>
              <a:tr h="241300">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采用篇数</a:t>
                      </a:r>
                    </a:p>
                  </a:txBody>
                  <a:tcPr marL="28575" marR="28575" marT="6350" marB="6350">
                    <a:solidFill>
                      <a:srgbClr val="FFFFFF"/>
                    </a:solidFill>
                  </a:tcPr>
                </a:tc>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8</a:t>
                      </a:r>
                    </a:p>
                  </a:txBody>
                  <a:tcPr marL="28575" marR="28575" marT="6350" marB="6350">
                    <a:solidFill>
                      <a:srgbClr val="FFFFFF"/>
                    </a:solidFill>
                  </a:tcPr>
                </a:tc>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5</a:t>
                      </a:r>
                    </a:p>
                  </a:txBody>
                  <a:tcPr marL="28575" marR="28575" marT="6350" marB="6350">
                    <a:solidFill>
                      <a:srgbClr val="FFFFFF"/>
                    </a:solidFill>
                  </a:tcPr>
                </a:tc>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3</a:t>
                      </a:r>
                    </a:p>
                  </a:txBody>
                  <a:tcPr marL="28575" marR="28575" marT="6350" marB="6350">
                    <a:solidFill>
                      <a:srgbClr val="FFFFFF"/>
                    </a:solidFill>
                  </a:tcPr>
                </a:tc>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2</a:t>
                      </a:r>
                    </a:p>
                  </a:txBody>
                  <a:tcPr marL="28575" marR="28575" marT="6350" marB="6350">
                    <a:solidFill>
                      <a:srgbClr val="FFFFFF"/>
                    </a:solidFill>
                  </a:tcPr>
                </a:tc>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2</a:t>
                      </a:r>
                    </a:p>
                  </a:txBody>
                  <a:tcPr marL="28575" marR="28575" marT="6350" marB="6350">
                    <a:solidFill>
                      <a:srgbClr val="FFFFFF"/>
                    </a:solidFill>
                  </a:tcPr>
                </a:tc>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2</a:t>
                      </a:r>
                    </a:p>
                  </a:txBody>
                  <a:tcPr marL="28575" marR="28575" marT="6350" marB="6350">
                    <a:solidFill>
                      <a:srgbClr val="FFFFFF"/>
                    </a:solidFill>
                  </a:tcPr>
                </a:tc>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2</a:t>
                      </a:r>
                    </a:p>
                  </a:txBody>
                  <a:tcPr marL="28575" marR="28575" marT="6350" marB="6350">
                    <a:solidFill>
                      <a:srgbClr val="FFFFFF"/>
                    </a:solidFill>
                  </a:tcPr>
                </a:tc>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1</a:t>
                      </a:r>
                    </a:p>
                  </a:txBody>
                  <a:tcPr marL="28575" marR="28575" marT="6350" marB="6350">
                    <a:solidFill>
                      <a:srgbClr val="FFFFFF"/>
                    </a:solidFill>
                  </a:tcPr>
                </a:tc>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1</a:t>
                      </a:r>
                    </a:p>
                  </a:txBody>
                  <a:tcPr marL="28575" marR="28575" marT="6350" marB="6350">
                    <a:solidFill>
                      <a:srgbClr val="FFFFFF"/>
                    </a:solidFill>
                  </a:tcPr>
                </a:tc>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1</a:t>
                      </a:r>
                    </a:p>
                  </a:txBody>
                  <a:tcPr marL="28575" marR="28575" marT="6350" marB="6350">
                    <a:solidFill>
                      <a:srgbClr val="FFFFFF"/>
                    </a:solidFill>
                  </a:tcPr>
                </a:tc>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1</a:t>
                      </a:r>
                    </a:p>
                  </a:txBody>
                  <a:tcPr marL="28575" marR="28575" marT="6350" marB="6350">
                    <a:solidFill>
                      <a:srgbClr val="FFFFFF"/>
                    </a:solidFill>
                  </a:tcPr>
                </a:tc>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1</a:t>
                      </a:r>
                    </a:p>
                  </a:txBody>
                  <a:tcPr marL="28575" marR="28575" marT="6350" marB="6350">
                    <a:solidFill>
                      <a:srgbClr val="FFFFFF"/>
                    </a:solidFill>
                  </a:tcPr>
                </a:tc>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1</a:t>
                      </a:r>
                    </a:p>
                  </a:txBody>
                  <a:tcPr marL="28575" marR="28575" marT="6350" marB="6350">
                    <a:solidFill>
                      <a:srgbClr val="FFFFFF"/>
                    </a:solidFill>
                  </a:tcPr>
                </a:tc>
                <a:extLst>
                  <a:ext uri="{0D108BD9-81ED-4DB2-BD59-A6C34878D82A}">
                    <a16:rowId xmlns:a16="http://schemas.microsoft.com/office/drawing/2014/main" val="10014"/>
                  </a:ext>
                </a:extLst>
              </a:tr>
            </a:tbl>
          </a:graphicData>
        </a:graphic>
      </p:graphicFrame>
      <p:sp>
        <p:nvSpPr>
          <p:cNvPr id="8" name="矩形 7">
            <a:extLst>
              <a:ext uri="{FF2B5EF4-FFF2-40B4-BE49-F238E27FC236}">
                <a16:creationId xmlns:a16="http://schemas.microsoft.com/office/drawing/2014/main" id="{FDC278A5-49B1-4880-9D55-469A33A174AB}"/>
              </a:ext>
            </a:extLst>
          </p:cNvPr>
          <p:cNvSpPr>
            <a:spLocks noGrp="1"/>
          </p:cNvSpPr>
          <p:nvPr/>
        </p:nvSpPr>
        <p:spPr>
          <a:xfrm>
            <a:off x="609600" y="6038850"/>
            <a:ext cx="10972800" cy="381000"/>
          </a:xfrm>
          <a:prstGeom prst="rect">
            <a:avLst/>
          </a:prstGeom>
          <a:noFill/>
          <a:ln w="0">
            <a:noFill/>
          </a:ln>
        </p:spPr>
        <p:txBody>
          <a:bodyPr>
            <a:noAutofit/>
          </a:bodyPr>
          <a:lstStyle/>
          <a:p>
            <a:pPr>
              <a:defRPr sz="1425" b="1">
                <a:solidFill>
                  <a:srgbClr val="2F6096"/>
                </a:solidFill>
                <a:latin typeface="Microsoft YaHei"/>
                <a:ea typeface="Microsoft YaHei"/>
                <a:cs typeface="Microsoft YaHei"/>
              </a:defRPr>
            </a:pPr>
            <a:r>
              <a:rPr lang="zh-CN" altLang="en-US" sz="1425" b="1">
                <a:solidFill>
                  <a:srgbClr val="2F6096"/>
                </a:solidFill>
                <a:latin typeface="Microsoft YaHei"/>
                <a:ea typeface="Microsoft YaHei"/>
                <a:cs typeface="Microsoft YaHei"/>
              </a:rPr>
              <a:t>这</a:t>
            </a:r>
            <a:r>
              <a:rPr lang="en-US" altLang="zh-CN" sz="1425" b="1">
                <a:solidFill>
                  <a:srgbClr val="2F6096"/>
                </a:solidFill>
                <a:latin typeface="Microsoft YaHei"/>
                <a:ea typeface="Microsoft YaHei"/>
                <a:cs typeface="Microsoft YaHei"/>
              </a:rPr>
              <a:t>13</a:t>
            </a:r>
            <a:r>
              <a:rPr lang="zh-CN" altLang="en-US" sz="1425" b="1">
                <a:solidFill>
                  <a:srgbClr val="2F6096"/>
                </a:solidFill>
                <a:latin typeface="Microsoft YaHei"/>
                <a:ea typeface="Microsoft YaHei"/>
                <a:cs typeface="Microsoft YaHei"/>
              </a:rPr>
              <a:t>篇中</a:t>
            </a:r>
            <a:r>
              <a:rPr lang="en-US" altLang="zh-CN" sz="1425" b="1">
                <a:solidFill>
                  <a:srgbClr val="2F6096"/>
                </a:solidFill>
                <a:latin typeface="Microsoft YaHei"/>
                <a:ea typeface="Microsoft YaHei"/>
                <a:cs typeface="Microsoft YaHei"/>
              </a:rPr>
              <a:t>MLE</a:t>
            </a:r>
            <a:r>
              <a:rPr lang="zh-CN" altLang="en-US" sz="1425" b="1">
                <a:solidFill>
                  <a:srgbClr val="2F6096"/>
                </a:solidFill>
                <a:latin typeface="Microsoft YaHei"/>
                <a:ea typeface="Microsoft YaHei"/>
                <a:cs typeface="Microsoft YaHei"/>
              </a:rPr>
              <a:t>出现</a:t>
            </a:r>
            <a:r>
              <a:rPr lang="en-US" altLang="zh-CN" sz="1425" b="1">
                <a:solidFill>
                  <a:srgbClr val="2F6096"/>
                </a:solidFill>
                <a:latin typeface="Microsoft YaHei"/>
                <a:ea typeface="Microsoft YaHei"/>
                <a:cs typeface="Microsoft YaHei"/>
              </a:rPr>
              <a:t>8</a:t>
            </a:r>
            <a:r>
              <a:rPr lang="zh-CN" altLang="en-US" sz="1425" b="1">
                <a:solidFill>
                  <a:srgbClr val="2F6096"/>
                </a:solidFill>
                <a:latin typeface="Microsoft YaHei"/>
                <a:ea typeface="Microsoft YaHei"/>
                <a:cs typeface="Microsoft YaHei"/>
              </a:rPr>
              <a:t>篇、</a:t>
            </a:r>
            <a:r>
              <a:rPr lang="en-US" altLang="zh-CN" sz="1425" b="1">
                <a:solidFill>
                  <a:srgbClr val="2F6096"/>
                </a:solidFill>
                <a:latin typeface="Microsoft YaHei"/>
                <a:ea typeface="Microsoft YaHei"/>
                <a:cs typeface="Microsoft YaHei"/>
              </a:rPr>
              <a:t>CC</a:t>
            </a:r>
            <a:r>
              <a:rPr lang="zh-CN" altLang="en-US" sz="1425" b="1">
                <a:solidFill>
                  <a:srgbClr val="2F6096"/>
                </a:solidFill>
                <a:latin typeface="Microsoft YaHei"/>
                <a:ea typeface="Microsoft YaHei"/>
                <a:cs typeface="Microsoft YaHei"/>
              </a:rPr>
              <a:t>出现</a:t>
            </a:r>
            <a:r>
              <a:rPr lang="en-US" altLang="zh-CN" sz="1425" b="1">
                <a:solidFill>
                  <a:srgbClr val="2F6096"/>
                </a:solidFill>
                <a:latin typeface="Microsoft YaHei"/>
                <a:ea typeface="Microsoft YaHei"/>
                <a:cs typeface="Microsoft YaHei"/>
              </a:rPr>
              <a:t>5</a:t>
            </a:r>
            <a:r>
              <a:rPr lang="zh-CN" altLang="en-US" sz="1425" b="1">
                <a:solidFill>
                  <a:srgbClr val="2F6096"/>
                </a:solidFill>
                <a:latin typeface="Microsoft YaHei"/>
                <a:ea typeface="Microsoft YaHei"/>
                <a:cs typeface="Microsoft YaHei"/>
              </a:rPr>
              <a:t>篇；常见做法是保留经典参照，再加入相关对手。</a:t>
            </a:r>
            <a:endParaRPr sz="1425" b="1">
              <a:solidFill>
                <a:srgbClr val="2F6096"/>
              </a:solidFill>
              <a:latin typeface="Microsoft YaHei"/>
              <a:ea typeface="Microsoft YaHei"/>
              <a:cs typeface="Microsoft YaHei"/>
            </a:endParaRPr>
          </a:p>
        </p:txBody>
      </p:sp>
    </p:spTree>
    <p:extLst>
      <p:ext uri="{BB962C8B-B14F-4D97-AF65-F5344CB8AC3E}">
        <p14:creationId xmlns:p14="http://schemas.microsoft.com/office/powerpoint/2010/main" val="38516588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400" b="1" spc="-150">
                <a:solidFill>
                  <a:srgbClr val="FFFFFF"/>
                </a:solidFill>
                <a:latin typeface="汉仪文润宋韵 U"/>
                <a:ea typeface="汉仪文润宋韵 U"/>
                <a:cs typeface="汉仪文润宋韵 U"/>
              </a:rPr>
              <a:t>对照建议：每个入选方法承担明确作用</a:t>
            </a: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对照选择、版本与验证</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03</a:t>
            </a:r>
          </a:p>
        </p:txBody>
      </p:sp>
      <p:sp>
        <p:nvSpPr>
          <p:cNvPr id="6" name="文本框 5">
            <a:extLst>
              <a:ext uri="{FF2B5EF4-FFF2-40B4-BE49-F238E27FC236}">
                <a16:creationId xmlns:a16="http://schemas.microsoft.com/office/drawing/2014/main" id="{28A02C7C-E938-1921-73A8-7336F9F94CAB}"/>
              </a:ext>
            </a:extLst>
          </p:cNvPr>
          <p:cNvSpPr>
            <a:spLocks noGrp="1"/>
          </p:cNvSpPr>
          <p:nvPr/>
        </p:nvSpPr>
        <p:spPr>
          <a:xfrm>
            <a:off x="622300" y="1676400"/>
            <a:ext cx="10922000" cy="558800"/>
          </a:xfrm>
          <a:prstGeom prst="rect">
            <a:avLst/>
          </a:prstGeom>
          <a:noFill/>
        </p:spPr>
        <p:txBody>
          <a:bodyPr vert="horz" wrap="square" lIns="0" tIns="0" rIns="0" bIns="0">
            <a:noAutofit/>
          </a:bodyPr>
          <a:lstStyle/>
          <a:p>
            <a:pPr>
              <a:lnSpc>
                <a:spcPts val="2340"/>
              </a:lnSpc>
              <a:buNone/>
              <a:defRPr sz="1725">
                <a:solidFill>
                  <a:srgbClr val="2F6096"/>
                </a:solidFill>
                <a:latin typeface="Microsoft YaHei"/>
                <a:ea typeface="Microsoft YaHei"/>
                <a:cs typeface="Microsoft YaHei"/>
              </a:defRPr>
            </a:pPr>
            <a:r>
              <a:rPr lang="zh-CN" altLang="en-US" sz="1725">
                <a:solidFill>
                  <a:srgbClr val="2F6096"/>
                </a:solidFill>
                <a:latin typeface="Microsoft YaHei"/>
                <a:ea typeface="Microsoft YaHei"/>
                <a:cs typeface="Microsoft YaHei"/>
              </a:rPr>
              <a:t>面向完整小样本三参数估计，按每个方法承担的比较作用提出建议。</a:t>
            </a:r>
            <a:endParaRPr sz="1725">
              <a:solidFill>
                <a:srgbClr val="2F6096"/>
              </a:solidFill>
              <a:latin typeface="Microsoft YaHei"/>
              <a:ea typeface="Microsoft YaHei"/>
              <a:cs typeface="Microsoft YaHei"/>
            </a:endParaRPr>
          </a:p>
        </p:txBody>
      </p:sp>
      <p:sp>
        <p:nvSpPr>
          <p:cNvPr id="7" name="文本框 6">
            <a:extLst>
              <a:ext uri="{FF2B5EF4-FFF2-40B4-BE49-F238E27FC236}">
                <a16:creationId xmlns:a16="http://schemas.microsoft.com/office/drawing/2014/main" id="{47D43439-6665-4F74-B574-047913EADC80}"/>
              </a:ext>
            </a:extLst>
          </p:cNvPr>
          <p:cNvSpPr>
            <a:spLocks noGrp="1"/>
          </p:cNvSpPr>
          <p:nvPr/>
        </p:nvSpPr>
        <p:spPr>
          <a:xfrm>
            <a:off x="622300" y="5981700"/>
            <a:ext cx="10922000" cy="508000"/>
          </a:xfrm>
          <a:prstGeom prst="rect">
            <a:avLst/>
          </a:prstGeom>
          <a:noFill/>
        </p:spPr>
        <p:txBody>
          <a:bodyPr vert="horz" wrap="square" lIns="0" tIns="0" rIns="0" bIns="0">
            <a:noAutofit/>
          </a:bodyPr>
          <a:lstStyle/>
          <a:p>
            <a:pPr>
              <a:lnSpc>
                <a:spcPts val="2210"/>
              </a:lnSpc>
              <a:buNone/>
              <a:defRPr sz="1650">
                <a:solidFill>
                  <a:srgbClr val="2F6096"/>
                </a:solidFill>
                <a:latin typeface="Microsoft YaHei"/>
                <a:ea typeface="Microsoft YaHei"/>
                <a:cs typeface="Microsoft YaHei"/>
              </a:defRPr>
            </a:pPr>
            <a:r>
              <a:rPr sz="1650" b="1">
                <a:solidFill>
                  <a:srgbClr val="2F6096"/>
                </a:solidFill>
                <a:latin typeface="Microsoft YaHei"/>
                <a:ea typeface="Microsoft YaHei"/>
                <a:cs typeface="Microsoft YaHei"/>
              </a:rPr>
              <a:t>低形状／可解性关注MPS、LSPF；矩类或偏差修正分别补LM／PWM或DMMLE。</a:t>
            </a:r>
          </a:p>
        </p:txBody>
      </p:sp>
      <p:graphicFrame>
        <p:nvGraphicFramePr>
          <p:cNvPr id="15" name="表格 7"/>
          <p:cNvGraphicFramePr/>
          <p:nvPr/>
        </p:nvGraphicFramePr>
        <p:xfrm>
          <a:off x="622300" y="2413000"/>
          <a:ext cx="10922000" cy="3301998"/>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3835400">
                  <a:extLst>
                    <a:ext uri="{9D8B030D-6E8A-4147-A177-3AD203B41FA5}">
                      <a16:colId xmlns:a16="http://schemas.microsoft.com/office/drawing/2014/main" val="20002"/>
                    </a:ext>
                  </a:extLst>
                </a:gridCol>
              </a:tblGrid>
              <a:tr h="550333">
                <a:tc>
                  <a:txBody>
                    <a:bodyPr/>
                    <a:lstStyle/>
                    <a:p>
                      <a:pPr>
                        <a:spcBef>
                          <a:spcPts val="0"/>
                        </a:spcBef>
                        <a:spcAft>
                          <a:spcPts val="0"/>
                        </a:spcAft>
                        <a:buNone/>
                      </a:pPr>
                      <a:r>
                        <a:rPr sz="1600" b="1">
                          <a:solidFill>
                            <a:srgbClr val="FFFFFF"/>
                          </a:solidFill>
                          <a:latin typeface="Microsoft YaHei"/>
                          <a:ea typeface="Microsoft YaHei"/>
                          <a:cs typeface="Microsoft YaHei"/>
                        </a:rPr>
                        <a:t>比较作用</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buNone/>
                      </a:pPr>
                      <a:r>
                        <a:rPr sz="1600" b="1">
                          <a:solidFill>
                            <a:srgbClr val="FFFFFF"/>
                          </a:solidFill>
                          <a:latin typeface="Microsoft YaHei"/>
                          <a:ea typeface="Microsoft YaHei"/>
                          <a:cs typeface="Microsoft YaHei"/>
                        </a:rPr>
                        <a:t>起始候选</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buNone/>
                      </a:pPr>
                      <a:r>
                        <a:rPr sz="1600" b="1">
                          <a:solidFill>
                            <a:srgbClr val="FFFFFF"/>
                          </a:solidFill>
                          <a:latin typeface="Microsoft YaHei"/>
                          <a:ea typeface="Microsoft YaHei"/>
                          <a:cs typeface="Microsoft YaHei"/>
                        </a:rPr>
                        <a:t>为什么保留或加入</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10000"/>
                  </a:ext>
                </a:extLst>
              </a:tr>
              <a:tr h="550333">
                <a:tc>
                  <a:txBody>
                    <a:bodyPr/>
                    <a:lstStyle/>
                    <a:p>
                      <a:pPr>
                        <a:spcBef>
                          <a:spcPts val="0"/>
                        </a:spcBef>
                        <a:spcAft>
                          <a:spcPts val="0"/>
                        </a:spcAft>
                        <a:buNone/>
                      </a:pPr>
                      <a:r>
                        <a:rPr sz="1600" b="0">
                          <a:solidFill>
                            <a:srgbClr val="000000"/>
                          </a:solidFill>
                          <a:latin typeface="Microsoft YaHei"/>
                          <a:ea typeface="Microsoft YaHei"/>
                          <a:cs typeface="Microsoft YaHei"/>
                        </a:rPr>
                        <a:t>共同参照</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MLE</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联系相近文献，明确受限或局部解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1"/>
                  </a:ext>
                </a:extLst>
              </a:tr>
              <a:tr h="550333">
                <a:tc>
                  <a:txBody>
                    <a:bodyPr/>
                    <a:lstStyle/>
                    <a:p>
                      <a:pPr>
                        <a:spcBef>
                          <a:spcPts val="0"/>
                        </a:spcBef>
                        <a:spcAft>
                          <a:spcPts val="0"/>
                        </a:spcAft>
                        <a:buNone/>
                      </a:pPr>
                      <a:r>
                        <a:rPr sz="1600" b="0">
                          <a:solidFill>
                            <a:srgbClr val="000000"/>
                          </a:solidFill>
                          <a:latin typeface="Microsoft YaHei"/>
                          <a:ea typeface="Microsoft YaHei"/>
                          <a:cs typeface="Microsoft YaHei"/>
                        </a:rPr>
                        <a:t>有限样本改进</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Cousineau WMLE</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有修正内容与后续采用依据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2"/>
                  </a:ext>
                </a:extLst>
              </a:tr>
              <a:tr h="550333">
                <a:tc>
                  <a:txBody>
                    <a:bodyPr/>
                    <a:lstStyle/>
                    <a:p>
                      <a:pPr>
                        <a:spcBef>
                          <a:spcPts val="0"/>
                        </a:spcBef>
                        <a:spcAft>
                          <a:spcPts val="0"/>
                        </a:spcAft>
                        <a:buNone/>
                      </a:pPr>
                      <a:r>
                        <a:rPr sz="1600" b="0">
                          <a:solidFill>
                            <a:srgbClr val="000000"/>
                          </a:solidFill>
                          <a:latin typeface="Microsoft YaHei"/>
                          <a:ea typeface="Microsoft YaHei"/>
                          <a:cs typeface="Microsoft YaHei"/>
                        </a:rPr>
                        <a:t>概率图代表</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一个明确的相关回归版本</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代表不同估计依据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3"/>
                  </a:ext>
                </a:extLst>
              </a:tr>
              <a:tr h="550333">
                <a:tc>
                  <a:txBody>
                    <a:bodyPr/>
                    <a:lstStyle/>
                    <a:p>
                      <a:pPr>
                        <a:spcBef>
                          <a:spcPts val="0"/>
                        </a:spcBef>
                        <a:spcAft>
                          <a:spcPts val="0"/>
                        </a:spcAft>
                        <a:buNone/>
                      </a:pPr>
                      <a:r>
                        <a:rPr sz="1600" b="0">
                          <a:solidFill>
                            <a:srgbClr val="000000"/>
                          </a:solidFill>
                          <a:latin typeface="Microsoft YaHei"/>
                          <a:ea typeface="Microsoft YaHei"/>
                          <a:cs typeface="Microsoft YaHei"/>
                        </a:rPr>
                        <a:t>近期同任务构造</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优先审查SAM；相关时加入PM</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SAM有n=5—20证据；PM的n=5及指标须细辨</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4"/>
                  </a:ext>
                </a:extLst>
              </a:tr>
              <a:tr h="550333">
                <a:tc>
                  <a:txBody>
                    <a:bodyPr/>
                    <a:lstStyle/>
                    <a:p>
                      <a:pPr>
                        <a:spcBef>
                          <a:spcPts val="0"/>
                        </a:spcBef>
                        <a:spcAft>
                          <a:spcPts val="0"/>
                        </a:spcAft>
                        <a:buNone/>
                      </a:pPr>
                      <a:r>
                        <a:rPr sz="1600" b="0">
                          <a:solidFill>
                            <a:srgbClr val="000000"/>
                          </a:solidFill>
                          <a:latin typeface="Microsoft YaHei"/>
                          <a:ea typeface="Microsoft YaHei"/>
                          <a:cs typeface="Microsoft YaHei"/>
                        </a:rPr>
                        <a:t>与主张直接相关</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母方法或同目标竞争者</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继承已有方法时必保留母方法</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1379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400" b="1" spc="-150">
                <a:solidFill>
                  <a:srgbClr val="FFFFFF"/>
                </a:solidFill>
                <a:latin typeface="汉仪文润宋韵 U"/>
                <a:ea typeface="汉仪文润宋韵 U"/>
                <a:cs typeface="汉仪文润宋韵 U"/>
              </a:rPr>
              <a:t>采用版本：方法名必须对应到实际构造</a:t>
            </a: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对照选择、版本与验证</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03</a:t>
            </a:r>
          </a:p>
        </p:txBody>
      </p:sp>
      <p:sp>
        <p:nvSpPr>
          <p:cNvPr id="6" name="文本框 5">
            <a:extLst>
              <a:ext uri="{FF2B5EF4-FFF2-40B4-BE49-F238E27FC236}">
                <a16:creationId xmlns:a16="http://schemas.microsoft.com/office/drawing/2014/main" id="{7650F10A-9FF6-5DB6-2F06-4D17930303E5}"/>
              </a:ext>
            </a:extLst>
          </p:cNvPr>
          <p:cNvSpPr>
            <a:spLocks noGrp="1"/>
          </p:cNvSpPr>
          <p:nvPr/>
        </p:nvSpPr>
        <p:spPr>
          <a:xfrm>
            <a:off x="622300" y="1676400"/>
            <a:ext cx="10922000" cy="558800"/>
          </a:xfrm>
          <a:prstGeom prst="rect">
            <a:avLst/>
          </a:prstGeom>
          <a:noFill/>
        </p:spPr>
        <p:txBody>
          <a:bodyPr vert="horz" wrap="square" lIns="0" tIns="0" rIns="0" bIns="0">
            <a:noAutofit/>
          </a:bodyPr>
          <a:lstStyle/>
          <a:p>
            <a:pPr>
              <a:lnSpc>
                <a:spcPts val="2340"/>
              </a:lnSpc>
              <a:buNone/>
            </a:pPr>
            <a:r>
              <a:rPr>
                <a:solidFill>
                  <a:srgbClr val="2F6096"/>
                </a:solidFill>
                <a:latin typeface="Microsoft YaHei"/>
                <a:ea typeface="Microsoft YaHei"/>
                <a:cs typeface="Microsoft YaHei"/>
              </a:rPr>
              <a:t>构造论文负责定义方法，后续比较论文支持选型理由。</a:t>
            </a:r>
          </a:p>
        </p:txBody>
      </p:sp>
      <p:sp>
        <p:nvSpPr>
          <p:cNvPr id="7" name="文本框 6">
            <a:extLst>
              <a:ext uri="{FF2B5EF4-FFF2-40B4-BE49-F238E27FC236}">
                <a16:creationId xmlns:a16="http://schemas.microsoft.com/office/drawing/2014/main" id="{3F8CE453-AE40-7F8B-394A-9D15723EF39F}"/>
              </a:ext>
            </a:extLst>
          </p:cNvPr>
          <p:cNvSpPr>
            <a:spLocks noGrp="1"/>
          </p:cNvSpPr>
          <p:nvPr/>
        </p:nvSpPr>
        <p:spPr>
          <a:xfrm>
            <a:off x="622300" y="5981700"/>
            <a:ext cx="10922000" cy="508000"/>
          </a:xfrm>
          <a:prstGeom prst="rect">
            <a:avLst/>
          </a:prstGeom>
          <a:noFill/>
        </p:spPr>
        <p:txBody>
          <a:bodyPr vert="horz" wrap="square" lIns="0" tIns="0" rIns="0" bIns="0">
            <a:noAutofit/>
          </a:bodyPr>
          <a:lstStyle/>
          <a:p>
            <a:pPr>
              <a:lnSpc>
                <a:spcPts val="2210"/>
              </a:lnSpc>
              <a:buNone/>
            </a:pPr>
            <a:r>
              <a:rPr lang="zh-CN" altLang="en-US" sz="1700" b="1">
                <a:solidFill>
                  <a:srgbClr val="2F6096"/>
                </a:solidFill>
                <a:latin typeface="Microsoft YaHei"/>
                <a:ea typeface="Microsoft YaHei"/>
                <a:cs typeface="Microsoft YaHei"/>
              </a:rPr>
              <a:t>采用</a:t>
            </a:r>
            <a:r>
              <a:rPr lang="en-US" altLang="zh-CN" sz="1700" b="1">
                <a:solidFill>
                  <a:srgbClr val="2F6096"/>
                </a:solidFill>
                <a:latin typeface="Microsoft YaHei"/>
                <a:ea typeface="Microsoft YaHei"/>
                <a:cs typeface="Microsoft YaHei"/>
              </a:rPr>
              <a:t>Park</a:t>
            </a:r>
            <a:r>
              <a:rPr lang="zh-CN" altLang="en-US" sz="1700" b="1">
                <a:solidFill>
                  <a:srgbClr val="2F6096"/>
                </a:solidFill>
                <a:latin typeface="Microsoft YaHei"/>
                <a:ea typeface="Microsoft YaHei"/>
                <a:cs typeface="Microsoft YaHei"/>
              </a:rPr>
              <a:t>原版时使用其绘图概率；采用其他分数时注明具体变体。</a:t>
            </a:r>
            <a:endParaRPr sz="1700" b="1">
              <a:solidFill>
                <a:srgbClr val="2F6096"/>
              </a:solidFill>
              <a:latin typeface="Microsoft YaHei"/>
              <a:ea typeface="Microsoft YaHei"/>
              <a:cs typeface="Microsoft YaHei"/>
            </a:endParaRPr>
          </a:p>
        </p:txBody>
      </p:sp>
      <p:graphicFrame>
        <p:nvGraphicFramePr>
          <p:cNvPr id="15" name="表格 7"/>
          <p:cNvGraphicFramePr/>
          <p:nvPr/>
        </p:nvGraphicFramePr>
        <p:xfrm>
          <a:off x="622300" y="2413000"/>
          <a:ext cx="10922000" cy="3301998"/>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3835400">
                  <a:extLst>
                    <a:ext uri="{9D8B030D-6E8A-4147-A177-3AD203B41FA5}">
                      <a16:colId xmlns:a16="http://schemas.microsoft.com/office/drawing/2014/main" val="20002"/>
                    </a:ext>
                  </a:extLst>
                </a:gridCol>
              </a:tblGrid>
              <a:tr h="550333">
                <a:tc>
                  <a:txBody>
                    <a:bodyPr/>
                    <a:lstStyle/>
                    <a:p>
                      <a:pPr>
                        <a:spcBef>
                          <a:spcPts val="0"/>
                        </a:spcBef>
                        <a:spcAft>
                          <a:spcPts val="0"/>
                        </a:spcAft>
                        <a:buNone/>
                      </a:pPr>
                      <a:r>
                        <a:rPr sz="1600" b="1">
                          <a:solidFill>
                            <a:srgbClr val="FFFFFF"/>
                          </a:solidFill>
                          <a:latin typeface="Microsoft YaHei"/>
                          <a:ea typeface="Microsoft YaHei"/>
                          <a:cs typeface="Microsoft YaHei"/>
                        </a:rPr>
                        <a:t>方法</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buNone/>
                      </a:pPr>
                      <a:r>
                        <a:rPr sz="1600" b="1">
                          <a:solidFill>
                            <a:srgbClr val="FFFFFF"/>
                          </a:solidFill>
                          <a:latin typeface="Microsoft YaHei"/>
                          <a:ea typeface="Microsoft YaHei"/>
                          <a:cs typeface="Microsoft YaHei"/>
                        </a:rPr>
                        <a:t>可采用的明确版本</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buNone/>
                      </a:pPr>
                      <a:r>
                        <a:rPr sz="1600" b="1">
                          <a:solidFill>
                            <a:srgbClr val="FFFFFF"/>
                          </a:solidFill>
                          <a:latin typeface="Microsoft YaHei"/>
                          <a:ea typeface="Microsoft YaHei"/>
                          <a:cs typeface="Microsoft YaHei"/>
                        </a:rPr>
                        <a:t>引用与实现要对应</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10000"/>
                  </a:ext>
                </a:extLst>
              </a:tr>
              <a:tr h="550333">
                <a:tc>
                  <a:txBody>
                    <a:bodyPr/>
                    <a:lstStyle/>
                    <a:p>
                      <a:pPr>
                        <a:spcBef>
                          <a:spcPts val="0"/>
                        </a:spcBef>
                        <a:spcAft>
                          <a:spcPts val="0"/>
                        </a:spcAft>
                        <a:buNone/>
                      </a:pPr>
                      <a:r>
                        <a:rPr sz="1600" b="0">
                          <a:solidFill>
                            <a:srgbClr val="000000"/>
                          </a:solidFill>
                          <a:latin typeface="Microsoft YaHei"/>
                          <a:ea typeface="Microsoft YaHei"/>
                          <a:cs typeface="Microsoft YaHei"/>
                        </a:rPr>
                        <a:t>相关回归</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Park 2017 Proposed+Plot [182-115]</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原绘图概率、Plot分支和位置域</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1"/>
                  </a:ext>
                </a:extLst>
              </a:tr>
              <a:tr h="550333">
                <a:tc>
                  <a:txBody>
                    <a:bodyPr/>
                    <a:lstStyle/>
                    <a:p>
                      <a:pPr>
                        <a:spcBef>
                          <a:spcPts val="0"/>
                        </a:spcBef>
                        <a:spcAft>
                          <a:spcPts val="0"/>
                        </a:spcAft>
                        <a:buNone/>
                      </a:pPr>
                      <a:r>
                        <a:rPr sz="1600" b="0">
                          <a:solidFill>
                            <a:srgbClr val="000000"/>
                          </a:solidFill>
                          <a:latin typeface="Microsoft YaHei"/>
                          <a:ea typeface="Microsoft YaHei"/>
                          <a:cs typeface="Microsoft YaHei"/>
                        </a:rPr>
                        <a:t>LS</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Soman–Misra White扩展 [182-104]</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期望次序分数、x对z回归</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2"/>
                  </a:ext>
                </a:extLst>
              </a:tr>
              <a:tr h="550333">
                <a:tc>
                  <a:txBody>
                    <a:bodyPr/>
                    <a:lstStyle/>
                    <a:p>
                      <a:pPr>
                        <a:spcBef>
                          <a:spcPts val="0"/>
                        </a:spcBef>
                        <a:spcAft>
                          <a:spcPts val="0"/>
                        </a:spcAft>
                        <a:buNone/>
                      </a:pPr>
                      <a:r>
                        <a:rPr sz="1600" b="0">
                          <a:solidFill>
                            <a:srgbClr val="000000"/>
                          </a:solidFill>
                          <a:latin typeface="Microsoft YaHei"/>
                          <a:ea typeface="Microsoft YaHei"/>
                          <a:cs typeface="Microsoft YaHei"/>
                        </a:rPr>
                        <a:t>WMLE</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Cousineau 2009 [182-088]</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J权重版本；区分Ng代入与迭代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3"/>
                  </a:ext>
                </a:extLst>
              </a:tr>
              <a:tr h="550333">
                <a:tc>
                  <a:txBody>
                    <a:bodyPr/>
                    <a:lstStyle/>
                    <a:p>
                      <a:pPr>
                        <a:spcBef>
                          <a:spcPts val="0"/>
                        </a:spcBef>
                        <a:spcAft>
                          <a:spcPts val="0"/>
                        </a:spcAft>
                        <a:buNone/>
                      </a:pPr>
                      <a:r>
                        <a:rPr sz="1600" b="0">
                          <a:solidFill>
                            <a:srgbClr val="000000"/>
                          </a:solidFill>
                          <a:latin typeface="Microsoft YaHei"/>
                          <a:ea typeface="Microsoft YaHei"/>
                          <a:cs typeface="Microsoft YaHei"/>
                        </a:rPr>
                        <a:t>SAM / PM</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2023或2024的具体构造</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最小值期望/中位数及后续更新不同</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4"/>
                  </a:ext>
                </a:extLst>
              </a:tr>
              <a:tr h="550333">
                <a:tc>
                  <a:txBody>
                    <a:bodyPr/>
                    <a:lstStyle/>
                    <a:p>
                      <a:pPr>
                        <a:spcBef>
                          <a:spcPts val="0"/>
                        </a:spcBef>
                        <a:spcAft>
                          <a:spcPts val="0"/>
                        </a:spcAft>
                        <a:buNone/>
                      </a:pPr>
                      <a:r>
                        <a:rPr sz="1600" b="0">
                          <a:solidFill>
                            <a:srgbClr val="000000"/>
                          </a:solidFill>
                          <a:latin typeface="Microsoft YaHei"/>
                          <a:ea typeface="Microsoft YaHei"/>
                          <a:cs typeface="Microsoft YaHei"/>
                        </a:rPr>
                        <a:t>MLE / MPS</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实际准则＋本文求解设置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MLE注明局部／受限解，MPS保留端点</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452070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550" b="1">
                <a:solidFill>
                  <a:srgbClr val="FFFFFF"/>
                </a:solidFill>
                <a:latin typeface="汉仪文润宋韵 U"/>
                <a:ea typeface="汉仪文润宋韵 U"/>
                <a:cs typeface="汉仪文润宋韵 U"/>
              </a:defRPr>
            </a:pPr>
            <a:r>
              <a:rPr sz="2550" b="1" spc="-150">
                <a:solidFill>
                  <a:srgbClr val="FFFFFF"/>
                </a:solidFill>
                <a:latin typeface="汉仪文润宋韵 U"/>
                <a:ea typeface="汉仪文润宋韵 U"/>
                <a:cs typeface="汉仪文润宋韵 U"/>
              </a:rPr>
              <a:t>Monte Carlo与真实数据的证据分工</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对照选择、版本与验证</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03</a:t>
            </a:r>
          </a:p>
        </p:txBody>
      </p:sp>
      <p:sp>
        <p:nvSpPr>
          <p:cNvPr id="6" name="矩形 5">
            <a:extLst>
              <a:ext uri="{FF2B5EF4-FFF2-40B4-BE49-F238E27FC236}">
                <a16:creationId xmlns:a16="http://schemas.microsoft.com/office/drawing/2014/main" id="{A090E32E-9B0C-4179-A224-370F55936A95}"/>
              </a:ext>
            </a:extLst>
          </p:cNvPr>
          <p:cNvSpPr>
            <a:spLocks noGrp="1"/>
          </p:cNvSpPr>
          <p:nvPr/>
        </p:nvSpPr>
        <p:spPr>
          <a:xfrm>
            <a:off x="609600" y="1685925"/>
            <a:ext cx="10972800" cy="428625"/>
          </a:xfrm>
          <a:prstGeom prst="rect">
            <a:avLst/>
          </a:prstGeom>
          <a:noFill/>
          <a:ln w="0">
            <a:noFill/>
          </a:ln>
        </p:spPr>
        <p:txBody>
          <a:bodyPr>
            <a:noAutofit/>
          </a:bodyPr>
          <a:lstStyle/>
          <a:p>
            <a:pPr>
              <a:defRPr sz="1875" b="0">
                <a:solidFill>
                  <a:srgbClr val="2F6096"/>
                </a:solidFill>
                <a:latin typeface="Microsoft YaHei"/>
                <a:ea typeface="Microsoft YaHei"/>
                <a:cs typeface="Microsoft YaHei"/>
              </a:defRPr>
            </a:pPr>
            <a:r>
              <a:rPr sz="1875" b="0">
                <a:solidFill>
                  <a:srgbClr val="2F6096"/>
                </a:solidFill>
                <a:latin typeface="Microsoft YaHei"/>
                <a:ea typeface="Microsoft YaHei"/>
                <a:cs typeface="Microsoft YaHei"/>
              </a:rPr>
              <a:t>参数真值是否已知，决定能用什么证据评价方法</a:t>
            </a:r>
          </a:p>
        </p:txBody>
      </p:sp>
      <p:sp>
        <p:nvSpPr>
          <p:cNvPr id="7" name="矩形 6">
            <a:extLst>
              <a:ext uri="{FF2B5EF4-FFF2-40B4-BE49-F238E27FC236}">
                <a16:creationId xmlns:a16="http://schemas.microsoft.com/office/drawing/2014/main" id="{E9DBA7B0-C9BC-4AB2-B04C-9608725802D2}"/>
              </a:ext>
            </a:extLst>
          </p:cNvPr>
          <p:cNvSpPr>
            <a:spLocks noGrp="1"/>
          </p:cNvSpPr>
          <p:nvPr/>
        </p:nvSpPr>
        <p:spPr>
          <a:xfrm>
            <a:off x="609600" y="2533650"/>
            <a:ext cx="5238750" cy="447675"/>
          </a:xfrm>
          <a:prstGeom prst="rect">
            <a:avLst/>
          </a:prstGeom>
          <a:noFill/>
          <a:ln w="0">
            <a:noFill/>
          </a:ln>
        </p:spPr>
        <p:txBody>
          <a:bodyPr>
            <a:noAutofit/>
          </a:bodyPr>
          <a:lstStyle/>
          <a:p>
            <a:pPr>
              <a:defRPr sz="2175" b="1">
                <a:solidFill>
                  <a:srgbClr val="2F6096"/>
                </a:solidFill>
                <a:latin typeface="Microsoft YaHei"/>
                <a:ea typeface="Microsoft YaHei"/>
                <a:cs typeface="Microsoft YaHei"/>
              </a:defRPr>
            </a:pPr>
            <a:r>
              <a:rPr sz="2175" b="1">
                <a:solidFill>
                  <a:srgbClr val="2F6096"/>
                </a:solidFill>
                <a:latin typeface="Microsoft YaHei"/>
                <a:ea typeface="Microsoft YaHei"/>
                <a:cs typeface="Microsoft YaHei"/>
              </a:rPr>
              <a:t>Monte Carlo：估计准确性</a:t>
            </a:r>
          </a:p>
        </p:txBody>
      </p:sp>
      <p:sp>
        <p:nvSpPr>
          <p:cNvPr id="8" name="矩形 7">
            <a:extLst>
              <a:ext uri="{FF2B5EF4-FFF2-40B4-BE49-F238E27FC236}">
                <a16:creationId xmlns:a16="http://schemas.microsoft.com/office/drawing/2014/main" id="{E1F834F8-59E3-4081-88FD-46381C0AB981}"/>
              </a:ext>
            </a:extLst>
          </p:cNvPr>
          <p:cNvSpPr>
            <a:spLocks noGrp="1"/>
          </p:cNvSpPr>
          <p:nvPr/>
        </p:nvSpPr>
        <p:spPr>
          <a:xfrm>
            <a:off x="609600" y="3143250"/>
            <a:ext cx="5238750" cy="1466850"/>
          </a:xfrm>
          <a:prstGeom prst="rect">
            <a:avLst/>
          </a:prstGeom>
          <a:noFill/>
          <a:ln w="0">
            <a:noFill/>
          </a:ln>
        </p:spPr>
        <p:txBody>
          <a:bodyPr>
            <a:noAutofit/>
          </a:bodyPr>
          <a:lstStyle/>
          <a:p>
            <a:pPr>
              <a:defRPr sz="1800" b="0">
                <a:solidFill>
                  <a:srgbClr val="182538"/>
                </a:solidFill>
                <a:latin typeface="Microsoft YaHei"/>
                <a:ea typeface="Microsoft YaHei"/>
                <a:cs typeface="Microsoft YaHei"/>
              </a:defRPr>
            </a:pPr>
            <a:r>
              <a:rPr lang="zh-CN" altLang="en-US" sz="1800" b="0">
                <a:solidFill>
                  <a:srgbClr val="182538"/>
                </a:solidFill>
                <a:latin typeface="Microsoft YaHei"/>
                <a:ea typeface="Microsoft YaHei"/>
                <a:cs typeface="Microsoft YaHei"/>
              </a:rPr>
              <a:t>共同生成样本，逐参数报告</a:t>
            </a:r>
            <a:r>
              <a:rPr lang="en-US" altLang="zh-CN" sz="1800" b="0">
                <a:solidFill>
                  <a:srgbClr val="182538"/>
                </a:solidFill>
                <a:latin typeface="Microsoft YaHei"/>
                <a:ea typeface="Microsoft YaHei"/>
                <a:cs typeface="Microsoft YaHei"/>
              </a:rPr>
              <a:t>Bias</a:t>
            </a:r>
            <a:r>
              <a:rPr lang="zh-CN" altLang="en-US" sz="1800" b="0">
                <a:solidFill>
                  <a:srgbClr val="182538"/>
                </a:solidFill>
                <a:latin typeface="Microsoft YaHei"/>
                <a:ea typeface="Microsoft YaHei"/>
                <a:cs typeface="Microsoft YaHei"/>
              </a:rPr>
              <a:t>、</a:t>
            </a:r>
            <a:r>
              <a:rPr lang="en-US" altLang="zh-CN" sz="1800" b="0">
                <a:solidFill>
                  <a:srgbClr val="182538"/>
                </a:solidFill>
                <a:latin typeface="Microsoft YaHei"/>
                <a:ea typeface="Microsoft YaHei"/>
                <a:cs typeface="Microsoft YaHei"/>
              </a:rPr>
              <a:t>RMSE</a:t>
            </a:r>
            <a:r>
              <a:rPr lang="zh-CN" altLang="en-US" sz="1800" b="0">
                <a:solidFill>
                  <a:srgbClr val="182538"/>
                </a:solidFill>
                <a:latin typeface="Microsoft YaHei"/>
                <a:ea typeface="Microsoft YaHei"/>
                <a:cs typeface="Microsoft YaHei"/>
              </a:rPr>
              <a:t>、</a:t>
            </a:r>
            <a:r>
              <a:rPr lang="en-US" altLang="zh-CN" sz="1800" b="0">
                <a:solidFill>
                  <a:srgbClr val="182538"/>
                </a:solidFill>
                <a:latin typeface="Microsoft YaHei"/>
                <a:ea typeface="Microsoft YaHei"/>
                <a:cs typeface="Microsoft YaHei"/>
              </a:rPr>
              <a:t>SD</a:t>
            </a:r>
            <a:r>
              <a:rPr lang="zh-CN" altLang="en-US" sz="1800" b="0">
                <a:solidFill>
                  <a:srgbClr val="182538"/>
                </a:solidFill>
                <a:latin typeface="Microsoft YaHei"/>
                <a:ea typeface="Microsoft YaHei"/>
                <a:cs typeface="Microsoft YaHei"/>
              </a:rPr>
              <a:t>。
文献分别用于评价偏差、总误差与抽样波动。
同时报告有效估计比例和失败情况。</a:t>
            </a:r>
            <a:endParaRPr sz="1800" b="0">
              <a:solidFill>
                <a:srgbClr val="182538"/>
              </a:solidFill>
              <a:latin typeface="Microsoft YaHei"/>
              <a:ea typeface="Microsoft YaHei"/>
              <a:cs typeface="Microsoft YaHei"/>
            </a:endParaRPr>
          </a:p>
        </p:txBody>
      </p:sp>
      <p:sp>
        <p:nvSpPr>
          <p:cNvPr id="9" name="矩形 8">
            <a:extLst>
              <a:ext uri="{FF2B5EF4-FFF2-40B4-BE49-F238E27FC236}">
                <a16:creationId xmlns:a16="http://schemas.microsoft.com/office/drawing/2014/main" id="{296EB23B-2A2D-457A-986A-6B328C3DFD1B}"/>
              </a:ext>
            </a:extLst>
          </p:cNvPr>
          <p:cNvSpPr>
            <a:spLocks noGrp="1"/>
          </p:cNvSpPr>
          <p:nvPr/>
        </p:nvSpPr>
        <p:spPr>
          <a:xfrm>
            <a:off x="6438900" y="2533650"/>
            <a:ext cx="5048250" cy="447675"/>
          </a:xfrm>
          <a:prstGeom prst="rect">
            <a:avLst/>
          </a:prstGeom>
          <a:noFill/>
          <a:ln w="0">
            <a:noFill/>
          </a:ln>
        </p:spPr>
        <p:txBody>
          <a:bodyPr>
            <a:noAutofit/>
          </a:bodyPr>
          <a:lstStyle/>
          <a:p>
            <a:pPr>
              <a:defRPr sz="2175" b="1">
                <a:solidFill>
                  <a:srgbClr val="2F6096"/>
                </a:solidFill>
                <a:latin typeface="Microsoft YaHei"/>
                <a:ea typeface="Microsoft YaHei"/>
                <a:cs typeface="Microsoft YaHei"/>
              </a:defRPr>
            </a:pPr>
            <a:r>
              <a:rPr sz="2175" b="1">
                <a:solidFill>
                  <a:srgbClr val="2F6096"/>
                </a:solidFill>
                <a:latin typeface="Microsoft YaHei"/>
                <a:ea typeface="Microsoft YaHei"/>
                <a:cs typeface="Microsoft YaHei"/>
              </a:rPr>
              <a:t>真实数据：应用与拟合</a:t>
            </a:r>
          </a:p>
        </p:txBody>
      </p:sp>
      <p:sp>
        <p:nvSpPr>
          <p:cNvPr id="10" name="矩形 9">
            <a:extLst>
              <a:ext uri="{FF2B5EF4-FFF2-40B4-BE49-F238E27FC236}">
                <a16:creationId xmlns:a16="http://schemas.microsoft.com/office/drawing/2014/main" id="{50092D04-8F64-4A66-A290-E8C470E6BFDD}"/>
              </a:ext>
            </a:extLst>
          </p:cNvPr>
          <p:cNvSpPr>
            <a:spLocks noGrp="1"/>
          </p:cNvSpPr>
          <p:nvPr/>
        </p:nvSpPr>
        <p:spPr>
          <a:xfrm>
            <a:off x="6438900" y="3143250"/>
            <a:ext cx="5048250" cy="1466850"/>
          </a:xfrm>
          <a:prstGeom prst="rect">
            <a:avLst/>
          </a:prstGeom>
          <a:noFill/>
          <a:ln w="0">
            <a:noFill/>
          </a:ln>
        </p:spPr>
        <p:txBody>
          <a:bodyPr>
            <a:noAutofit/>
          </a:bodyPr>
          <a:lstStyle/>
          <a:p>
            <a:pPr>
              <a:defRPr sz="1800" b="0">
                <a:solidFill>
                  <a:srgbClr val="182538"/>
                </a:solidFill>
                <a:latin typeface="Microsoft YaHei"/>
                <a:ea typeface="Microsoft YaHei"/>
                <a:cs typeface="Microsoft YaHei"/>
              </a:defRPr>
            </a:pPr>
            <a:r>
              <a:rPr sz="1800" b="0">
                <a:solidFill>
                  <a:srgbClr val="182538"/>
                </a:solidFill>
                <a:latin typeface="Microsoft YaHei"/>
                <a:ea typeface="Microsoft YaHei"/>
                <a:cs typeface="Microsoft YaHei"/>
              </a:rPr>
              <a:t>报告参数、寿命量、CDF及K-S／AD。</a:t>
            </a:r>
          </a:p>
          <a:p>
            <a:pPr>
              <a:defRPr sz="1800" b="0">
                <a:solidFill>
                  <a:srgbClr val="182538"/>
                </a:solidFill>
                <a:latin typeface="Microsoft YaHei"/>
                <a:ea typeface="Microsoft YaHei"/>
                <a:cs typeface="Microsoft YaHei"/>
              </a:defRPr>
            </a:pPr>
            <a:r>
              <a:rPr sz="1800" b="0">
                <a:solidFill>
                  <a:srgbClr val="182538"/>
                </a:solidFill>
                <a:latin typeface="Microsoft YaHei"/>
                <a:ea typeface="Microsoft YaHei"/>
                <a:cs typeface="Microsoft YaHei"/>
              </a:rPr>
              <a:t>未知真值，不能据拟合优胜推断参数更准。</a:t>
            </a:r>
          </a:p>
          <a:p>
            <a:pPr>
              <a:defRPr sz="1800" b="0">
                <a:solidFill>
                  <a:srgbClr val="182538"/>
                </a:solidFill>
                <a:latin typeface="Microsoft YaHei"/>
                <a:ea typeface="Microsoft YaHei"/>
                <a:cs typeface="Microsoft YaHei"/>
              </a:defRPr>
            </a:pPr>
            <a:r>
              <a:rPr sz="1800" b="0">
                <a:solidFill>
                  <a:srgbClr val="182538"/>
                </a:solidFill>
                <a:latin typeface="Microsoft YaHei"/>
                <a:ea typeface="Microsoft YaHei"/>
                <a:cs typeface="Microsoft YaHei"/>
              </a:rPr>
              <a:t>预测或区间主张需要相应验证。</a:t>
            </a:r>
          </a:p>
        </p:txBody>
      </p:sp>
      <p:sp>
        <p:nvSpPr>
          <p:cNvPr id="11" name="矩形 10">
            <a:extLst>
              <a:ext uri="{FF2B5EF4-FFF2-40B4-BE49-F238E27FC236}">
                <a16:creationId xmlns:a16="http://schemas.microsoft.com/office/drawing/2014/main" id="{982147AE-9D42-48BA-8552-536C2B90ADEB}"/>
              </a:ext>
            </a:extLst>
          </p:cNvPr>
          <p:cNvSpPr>
            <a:spLocks noGrp="1"/>
          </p:cNvSpPr>
          <p:nvPr/>
        </p:nvSpPr>
        <p:spPr>
          <a:xfrm>
            <a:off x="609600" y="5095875"/>
            <a:ext cx="10972800" cy="628650"/>
          </a:xfrm>
          <a:prstGeom prst="rect">
            <a:avLst/>
          </a:prstGeom>
          <a:noFill/>
          <a:ln w="0">
            <a:noFill/>
          </a:ln>
        </p:spPr>
        <p:txBody>
          <a:bodyPr>
            <a:noAutofit/>
          </a:bodyPr>
          <a:lstStyle/>
          <a:p>
            <a:pPr>
              <a:defRPr sz="1875" b="0">
                <a:solidFill>
                  <a:srgbClr val="2F6096"/>
                </a:solidFill>
                <a:latin typeface="Microsoft YaHei"/>
                <a:ea typeface="Microsoft YaHei"/>
                <a:cs typeface="Microsoft YaHei"/>
              </a:defRPr>
            </a:pPr>
            <a:r>
              <a:rPr sz="1875" b="0">
                <a:solidFill>
                  <a:srgbClr val="2F6096"/>
                </a:solidFill>
                <a:latin typeface="Microsoft YaHei"/>
                <a:ea typeface="Microsoft YaHei"/>
                <a:cs typeface="Microsoft YaHei"/>
              </a:rPr>
              <a:t>小样本n=5—30为重点，较大n看趋势；参数条件与重复精度依研究范围说明。</a:t>
            </a:r>
          </a:p>
        </p:txBody>
      </p:sp>
      <p:sp>
        <p:nvSpPr>
          <p:cNvPr id="12" name="矩形 11">
            <a:extLst>
              <a:ext uri="{FF2B5EF4-FFF2-40B4-BE49-F238E27FC236}">
                <a16:creationId xmlns:a16="http://schemas.microsoft.com/office/drawing/2014/main" id="{858944A9-0384-4C01-A76C-533143A3DF31}"/>
              </a:ext>
            </a:extLst>
          </p:cNvPr>
          <p:cNvSpPr>
            <a:spLocks noGrp="1"/>
          </p:cNvSpPr>
          <p:nvPr/>
        </p:nvSpPr>
        <p:spPr>
          <a:xfrm>
            <a:off x="609600" y="6038850"/>
            <a:ext cx="10972800" cy="381000"/>
          </a:xfrm>
          <a:prstGeom prst="rect">
            <a:avLst/>
          </a:prstGeom>
          <a:noFill/>
          <a:ln w="0">
            <a:noFill/>
          </a:ln>
        </p:spPr>
        <p:txBody>
          <a:bodyPr>
            <a:noAutofit/>
          </a:bodyPr>
          <a:lstStyle/>
          <a:p>
            <a:pPr>
              <a:defRPr sz="1425" b="1">
                <a:solidFill>
                  <a:srgbClr val="2F6096"/>
                </a:solidFill>
                <a:latin typeface="Microsoft YaHei"/>
                <a:ea typeface="Microsoft YaHei"/>
                <a:cs typeface="Microsoft YaHei"/>
              </a:defRPr>
            </a:pPr>
            <a:r>
              <a:rPr lang="zh-CN" altLang="en-US" sz="1425" b="1">
                <a:solidFill>
                  <a:srgbClr val="2F6096"/>
                </a:solidFill>
                <a:latin typeface="Microsoft YaHei"/>
                <a:ea typeface="Microsoft YaHei"/>
                <a:cs typeface="Microsoft YaHei"/>
              </a:rPr>
              <a:t>模拟评价估计精度，真实数据展示应用效果；三参数结果分别报告。</a:t>
            </a:r>
            <a:endParaRPr sz="1425" b="1">
              <a:solidFill>
                <a:srgbClr val="2F6096"/>
              </a:solidFill>
              <a:latin typeface="Microsoft YaHei"/>
              <a:ea typeface="Microsoft YaHei"/>
              <a:cs typeface="Microsoft YaHei"/>
            </a:endParaRPr>
          </a:p>
        </p:txBody>
      </p:sp>
    </p:spTree>
    <p:extLst>
      <p:ext uri="{BB962C8B-B14F-4D97-AF65-F5344CB8AC3E}">
        <p14:creationId xmlns:p14="http://schemas.microsoft.com/office/powerpoint/2010/main" val="21201722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550" b="1">
                <a:solidFill>
                  <a:srgbClr val="FFFFFF"/>
                </a:solidFill>
                <a:latin typeface="汉仪文润宋韵 U"/>
                <a:ea typeface="汉仪文润宋韵 U"/>
                <a:cs typeface="汉仪文润宋韵 U"/>
              </a:defRPr>
            </a:pPr>
            <a:r>
              <a:rPr sz="2550" b="1" spc="-150">
                <a:solidFill>
                  <a:srgbClr val="FFFFFF"/>
                </a:solidFill>
                <a:latin typeface="汉仪文润宋韵 U"/>
                <a:ea typeface="汉仪文润宋韵 U"/>
                <a:cs typeface="汉仪文润宋韵 U"/>
              </a:rPr>
              <a:t>真实数据在已有论文中承担什么作用</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对照选择、版本与验证</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03</a:t>
            </a:r>
          </a:p>
        </p:txBody>
      </p:sp>
      <p:sp>
        <p:nvSpPr>
          <p:cNvPr id="6" name="矩形 5">
            <a:extLst>
              <a:ext uri="{FF2B5EF4-FFF2-40B4-BE49-F238E27FC236}">
                <a16:creationId xmlns:a16="http://schemas.microsoft.com/office/drawing/2014/main" id="{D5C3B1B6-F590-4964-A34B-4606422E8E5C}"/>
              </a:ext>
            </a:extLst>
          </p:cNvPr>
          <p:cNvSpPr>
            <a:spLocks noGrp="1"/>
          </p:cNvSpPr>
          <p:nvPr/>
        </p:nvSpPr>
        <p:spPr>
          <a:xfrm>
            <a:off x="609600" y="1685925"/>
            <a:ext cx="10972800" cy="428625"/>
          </a:xfrm>
          <a:prstGeom prst="rect">
            <a:avLst/>
          </a:prstGeom>
          <a:noFill/>
          <a:ln w="0">
            <a:noFill/>
          </a:ln>
        </p:spPr>
        <p:txBody>
          <a:bodyPr>
            <a:noAutofit/>
          </a:bodyPr>
          <a:lstStyle/>
          <a:p>
            <a:pPr>
              <a:defRPr sz="1875" b="0">
                <a:solidFill>
                  <a:srgbClr val="2F6096"/>
                </a:solidFill>
                <a:latin typeface="Microsoft YaHei"/>
                <a:ea typeface="Microsoft YaHei"/>
                <a:cs typeface="Microsoft YaHei"/>
              </a:defRPr>
            </a:pPr>
            <a:r>
              <a:rPr lang="zh-CN" altLang="en-US" sz="1875" b="0">
                <a:solidFill>
                  <a:srgbClr val="2F6096"/>
                </a:solidFill>
                <a:latin typeface="Microsoft YaHei"/>
                <a:ea typeface="Microsoft YaHei"/>
                <a:cs typeface="Microsoft YaHei"/>
              </a:rPr>
              <a:t>真实案例主要展示实际应用、拟合效果和算法表现。</a:t>
            </a:r>
            <a:endParaRPr sz="1875" b="0">
              <a:solidFill>
                <a:srgbClr val="2F6096"/>
              </a:solidFill>
              <a:latin typeface="Microsoft YaHei"/>
              <a:ea typeface="Microsoft YaHei"/>
              <a:cs typeface="Microsoft YaHei"/>
            </a:endParaRPr>
          </a:p>
        </p:txBody>
      </p:sp>
      <p:graphicFrame>
        <p:nvGraphicFramePr>
          <p:cNvPr id="14" name="表格 13"/>
          <p:cNvGraphicFramePr/>
          <p:nvPr/>
        </p:nvGraphicFramePr>
        <p:xfrm>
          <a:off x="609600" y="2438400"/>
          <a:ext cx="10972800" cy="3181350"/>
        </p:xfrm>
        <a:graphic>
          <a:graphicData uri="http://schemas.openxmlformats.org/drawingml/2006/table">
            <a:tbl>
              <a:tblPr/>
              <a:tblGrid>
                <a:gridCol w="3095625">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3686175">
                  <a:extLst>
                    <a:ext uri="{9D8B030D-6E8A-4147-A177-3AD203B41FA5}">
                      <a16:colId xmlns:a16="http://schemas.microsoft.com/office/drawing/2014/main" val="20002"/>
                    </a:ext>
                  </a:extLst>
                </a:gridCol>
              </a:tblGrid>
              <a:tr h="523875">
                <a:tc>
                  <a:txBody>
                    <a:bodyPr/>
                    <a:lstStyle/>
                    <a:p>
                      <a:r>
                        <a:rPr sz="1650" b="1">
                          <a:solidFill>
                            <a:srgbClr val="FFFFFF"/>
                          </a:solidFill>
                          <a:latin typeface="Microsoft YaHei"/>
                          <a:ea typeface="Microsoft YaHei"/>
                          <a:cs typeface="Microsoft YaHei"/>
                        </a:rPr>
                        <a:t>来源与数据</a:t>
                      </a:r>
                    </a:p>
                  </a:txBody>
                  <a:tcPr>
                    <a:solidFill>
                      <a:srgbClr val="2F6096"/>
                    </a:solidFill>
                  </a:tcPr>
                </a:tc>
                <a:tc>
                  <a:txBody>
                    <a:bodyPr/>
                    <a:lstStyle/>
                    <a:p>
                      <a:r>
                        <a:rPr sz="1650" b="1">
                          <a:solidFill>
                            <a:srgbClr val="FFFFFF"/>
                          </a:solidFill>
                          <a:latin typeface="Microsoft YaHei"/>
                          <a:ea typeface="Microsoft YaHei"/>
                          <a:cs typeface="Microsoft YaHei"/>
                        </a:rPr>
                        <a:t>实际评价</a:t>
                      </a:r>
                    </a:p>
                  </a:txBody>
                  <a:tcPr>
                    <a:solidFill>
                      <a:srgbClr val="2F6096"/>
                    </a:solidFill>
                  </a:tcPr>
                </a:tc>
                <a:tc>
                  <a:txBody>
                    <a:bodyPr/>
                    <a:lstStyle/>
                    <a:p>
                      <a:r>
                        <a:rPr sz="1650" b="1">
                          <a:solidFill>
                            <a:srgbClr val="FFFFFF"/>
                          </a:solidFill>
                          <a:latin typeface="Microsoft YaHei"/>
                          <a:ea typeface="Microsoft YaHei"/>
                          <a:cs typeface="Microsoft YaHei"/>
                        </a:rPr>
                        <a:t>支持的结论</a:t>
                      </a:r>
                    </a:p>
                  </a:txBody>
                  <a:tcPr>
                    <a:solidFill>
                      <a:srgbClr val="2F6096"/>
                    </a:solidFill>
                  </a:tcPr>
                </a:tc>
                <a:extLst>
                  <a:ext uri="{0D108BD9-81ED-4DB2-BD59-A6C34878D82A}">
                    <a16:rowId xmlns:a16="http://schemas.microsoft.com/office/drawing/2014/main" val="10000"/>
                  </a:ext>
                </a:extLst>
              </a:tr>
              <a:tr h="664369">
                <a:tc>
                  <a:txBody>
                    <a:bodyPr/>
                    <a:lstStyle/>
                    <a:p>
                      <a:r>
                        <a:rPr sz="1650" b="0">
                          <a:solidFill>
                            <a:srgbClr val="182538"/>
                          </a:solidFill>
                          <a:latin typeface="Microsoft YaHei"/>
                          <a:ea typeface="Microsoft YaHei"/>
                          <a:cs typeface="Microsoft YaHei"/>
                        </a:rPr>
                        <a:t>BPNN：15点疲劳寿命</a:t>
                      </a:r>
                    </a:p>
                  </a:txBody>
                  <a:tcPr>
                    <a:solidFill>
                      <a:srgbClr val="FFFFFF"/>
                    </a:solidFill>
                  </a:tcPr>
                </a:tc>
                <a:tc>
                  <a:txBody>
                    <a:bodyPr/>
                    <a:lstStyle/>
                    <a:p>
                      <a:r>
                        <a:rPr sz="1650" b="0">
                          <a:solidFill>
                            <a:srgbClr val="182538"/>
                          </a:solidFill>
                          <a:latin typeface="Microsoft YaHei"/>
                          <a:ea typeface="Microsoft YaHei"/>
                          <a:cs typeface="Microsoft YaHei"/>
                        </a:rPr>
                        <a:t>对CCM、MDM比较K-S、CDF</a:t>
                      </a:r>
                    </a:p>
                  </a:txBody>
                  <a:tcPr>
                    <a:solidFill>
                      <a:srgbClr val="FFFFFF"/>
                    </a:solidFill>
                  </a:tcPr>
                </a:tc>
                <a:tc>
                  <a:txBody>
                    <a:bodyPr/>
                    <a:lstStyle/>
                    <a:p>
                      <a:r>
                        <a:rPr sz="1650" b="0">
                          <a:solidFill>
                            <a:srgbClr val="182538"/>
                          </a:solidFill>
                          <a:latin typeface="Microsoft YaHei"/>
                          <a:ea typeface="Microsoft YaHei"/>
                          <a:cs typeface="Microsoft YaHei"/>
                        </a:rPr>
                        <a:t>方法应用与这组数据的拟合</a:t>
                      </a:r>
                    </a:p>
                  </a:txBody>
                  <a:tcPr>
                    <a:solidFill>
                      <a:srgbClr val="FFFFFF"/>
                    </a:solidFill>
                  </a:tcPr>
                </a:tc>
                <a:extLst>
                  <a:ext uri="{0D108BD9-81ED-4DB2-BD59-A6C34878D82A}">
                    <a16:rowId xmlns:a16="http://schemas.microsoft.com/office/drawing/2014/main" val="10001"/>
                  </a:ext>
                </a:extLst>
              </a:tr>
              <a:tr h="664369">
                <a:tc>
                  <a:txBody>
                    <a:bodyPr/>
                    <a:lstStyle/>
                    <a:p>
                      <a:r>
                        <a:rPr sz="1650" b="0">
                          <a:solidFill>
                            <a:srgbClr val="182538"/>
                          </a:solidFill>
                          <a:latin typeface="Microsoft YaHei"/>
                          <a:ea typeface="Microsoft YaHei"/>
                          <a:cs typeface="Microsoft YaHei"/>
                        </a:rPr>
                        <a:t>LSPF：10点、4点寿命</a:t>
                      </a:r>
                    </a:p>
                  </a:txBody>
                  <a:tcPr>
                    <a:solidFill>
                      <a:srgbClr val="FFFFFF"/>
                    </a:solidFill>
                  </a:tcPr>
                </a:tc>
                <a:tc>
                  <a:txBody>
                    <a:bodyPr/>
                    <a:lstStyle/>
                    <a:p>
                      <a:r>
                        <a:rPr sz="1650" b="0">
                          <a:solidFill>
                            <a:srgbClr val="182538"/>
                          </a:solidFill>
                          <a:latin typeface="Microsoft YaHei"/>
                          <a:ea typeface="Microsoft YaHei"/>
                          <a:cs typeface="Microsoft YaHei"/>
                        </a:rPr>
                        <a:t>参数及变换似然，记录MM／BL不收敛</a:t>
                      </a:r>
                    </a:p>
                  </a:txBody>
                  <a:tcPr>
                    <a:solidFill>
                      <a:srgbClr val="FFFFFF"/>
                    </a:solidFill>
                  </a:tcPr>
                </a:tc>
                <a:tc>
                  <a:txBody>
                    <a:bodyPr/>
                    <a:lstStyle/>
                    <a:p>
                      <a:r>
                        <a:rPr sz="1650" b="0">
                          <a:solidFill>
                            <a:srgbClr val="182538"/>
                          </a:solidFill>
                          <a:latin typeface="Microsoft YaHei"/>
                          <a:ea typeface="Microsoft YaHei"/>
                          <a:cs typeface="Microsoft YaHei"/>
                        </a:rPr>
                        <a:t>估计行为与困难样本可计算性</a:t>
                      </a:r>
                    </a:p>
                  </a:txBody>
                  <a:tcPr>
                    <a:solidFill>
                      <a:srgbClr val="FFFFFF"/>
                    </a:solidFill>
                  </a:tcPr>
                </a:tc>
                <a:extLst>
                  <a:ext uri="{0D108BD9-81ED-4DB2-BD59-A6C34878D82A}">
                    <a16:rowId xmlns:a16="http://schemas.microsoft.com/office/drawing/2014/main" val="10002"/>
                  </a:ext>
                </a:extLst>
              </a:tr>
              <a:tr h="664369">
                <a:tc>
                  <a:txBody>
                    <a:bodyPr/>
                    <a:lstStyle/>
                    <a:p>
                      <a:r>
                        <a:rPr sz="1650" b="0">
                          <a:solidFill>
                            <a:srgbClr val="182538"/>
                          </a:solidFill>
                          <a:latin typeface="Microsoft YaHei"/>
                          <a:ea typeface="Microsoft YaHei"/>
                          <a:cs typeface="Microsoft YaHei"/>
                        </a:rPr>
                        <a:t>SAM：10点、4点寿命</a:t>
                      </a:r>
                    </a:p>
                  </a:txBody>
                  <a:tcPr>
                    <a:solidFill>
                      <a:srgbClr val="FFFFFF"/>
                    </a:solidFill>
                  </a:tcPr>
                </a:tc>
                <a:tc>
                  <a:txBody>
                    <a:bodyPr/>
                    <a:lstStyle/>
                    <a:p>
                      <a:r>
                        <a:rPr sz="1650" b="0">
                          <a:solidFill>
                            <a:srgbClr val="182538"/>
                          </a:solidFill>
                          <a:latin typeface="Microsoft YaHei"/>
                          <a:ea typeface="Microsoft YaHei"/>
                          <a:cs typeface="Microsoft YaHei"/>
                        </a:rPr>
                        <a:t>K-S、CDF、MTTF和可靠度寿命</a:t>
                      </a:r>
                    </a:p>
                  </a:txBody>
                  <a:tcPr>
                    <a:solidFill>
                      <a:srgbClr val="FFFFFF"/>
                    </a:solidFill>
                  </a:tcPr>
                </a:tc>
                <a:tc>
                  <a:txBody>
                    <a:bodyPr/>
                    <a:lstStyle/>
                    <a:p>
                      <a:r>
                        <a:rPr sz="1650" b="0">
                          <a:solidFill>
                            <a:srgbClr val="182538"/>
                          </a:solidFill>
                          <a:latin typeface="Microsoft YaHei"/>
                          <a:ea typeface="Microsoft YaHei"/>
                          <a:cs typeface="Microsoft YaHei"/>
                        </a:rPr>
                        <a:t>应用差异；部分参照为历史结果</a:t>
                      </a:r>
                    </a:p>
                  </a:txBody>
                  <a:tcPr>
                    <a:solidFill>
                      <a:srgbClr val="FFFFFF"/>
                    </a:solidFill>
                  </a:tcPr>
                </a:tc>
                <a:extLst>
                  <a:ext uri="{0D108BD9-81ED-4DB2-BD59-A6C34878D82A}">
                    <a16:rowId xmlns:a16="http://schemas.microsoft.com/office/drawing/2014/main" val="10003"/>
                  </a:ext>
                </a:extLst>
              </a:tr>
              <a:tr h="664369">
                <a:tc>
                  <a:txBody>
                    <a:bodyPr/>
                    <a:lstStyle/>
                    <a:p>
                      <a:r>
                        <a:rPr sz="1650" b="0">
                          <a:solidFill>
                            <a:srgbClr val="182538"/>
                          </a:solidFill>
                          <a:latin typeface="Microsoft YaHei"/>
                          <a:ea typeface="Microsoft YaHei"/>
                          <a:cs typeface="Microsoft YaHei"/>
                        </a:rPr>
                        <a:t>再抽样或留出（可选）</a:t>
                      </a:r>
                    </a:p>
                  </a:txBody>
                  <a:tcPr>
                    <a:solidFill>
                      <a:srgbClr val="FFFFFF"/>
                    </a:solidFill>
                  </a:tcPr>
                </a:tc>
                <a:tc>
                  <a:txBody>
                    <a:bodyPr/>
                    <a:lstStyle/>
                    <a:p>
                      <a:r>
                        <a:rPr sz="1650" b="0">
                          <a:solidFill>
                            <a:srgbClr val="182538"/>
                          </a:solidFill>
                          <a:latin typeface="Microsoft YaHei"/>
                          <a:ea typeface="Microsoft YaHei"/>
                          <a:cs typeface="Microsoft YaHei"/>
                        </a:rPr>
                        <a:t>稳定性、模型条件误差或预测得分</a:t>
                      </a:r>
                    </a:p>
                  </a:txBody>
                  <a:tcPr>
                    <a:solidFill>
                      <a:srgbClr val="FFFFFF"/>
                    </a:solidFill>
                  </a:tcPr>
                </a:tc>
                <a:tc>
                  <a:txBody>
                    <a:bodyPr/>
                    <a:lstStyle/>
                    <a:p>
                      <a:r>
                        <a:rPr sz="1650" b="0">
                          <a:solidFill>
                            <a:srgbClr val="182538"/>
                          </a:solidFill>
                          <a:latin typeface="Microsoft YaHei"/>
                          <a:ea typeface="Microsoft YaHei"/>
                          <a:cs typeface="Microsoft YaHei"/>
                        </a:rPr>
                        <a:t>参照与假设决定能证明什么</a:t>
                      </a:r>
                    </a:p>
                  </a:txBody>
                  <a:tcPr>
                    <a:solidFill>
                      <a:srgbClr val="FFFFFF"/>
                    </a:solidFill>
                  </a:tcPr>
                </a:tc>
                <a:extLst>
                  <a:ext uri="{0D108BD9-81ED-4DB2-BD59-A6C34878D82A}">
                    <a16:rowId xmlns:a16="http://schemas.microsoft.com/office/drawing/2014/main" val="10004"/>
                  </a:ext>
                </a:extLst>
              </a:tr>
            </a:tbl>
          </a:graphicData>
        </a:graphic>
      </p:graphicFrame>
      <p:sp>
        <p:nvSpPr>
          <p:cNvPr id="8" name="矩形 7">
            <a:extLst>
              <a:ext uri="{FF2B5EF4-FFF2-40B4-BE49-F238E27FC236}">
                <a16:creationId xmlns:a16="http://schemas.microsoft.com/office/drawing/2014/main" id="{076A5E8A-E1B8-400D-B38F-18E25737939B}"/>
              </a:ext>
            </a:extLst>
          </p:cNvPr>
          <p:cNvSpPr>
            <a:spLocks noGrp="1"/>
          </p:cNvSpPr>
          <p:nvPr/>
        </p:nvSpPr>
        <p:spPr>
          <a:xfrm>
            <a:off x="609600" y="6038850"/>
            <a:ext cx="10972800" cy="381000"/>
          </a:xfrm>
          <a:prstGeom prst="rect">
            <a:avLst/>
          </a:prstGeom>
          <a:noFill/>
          <a:ln w="0">
            <a:noFill/>
          </a:ln>
        </p:spPr>
        <p:txBody>
          <a:bodyPr>
            <a:noAutofit/>
          </a:bodyPr>
          <a:lstStyle/>
          <a:p>
            <a:pPr>
              <a:defRPr sz="1425" b="1">
                <a:solidFill>
                  <a:srgbClr val="2F6096"/>
                </a:solidFill>
                <a:latin typeface="Microsoft YaHei"/>
                <a:ea typeface="Microsoft YaHei"/>
                <a:cs typeface="Microsoft YaHei"/>
              </a:defRPr>
            </a:pPr>
            <a:r>
              <a:rPr sz="1425" b="1">
                <a:solidFill>
                  <a:srgbClr val="2F6096"/>
                </a:solidFill>
                <a:latin typeface="Microsoft YaHei"/>
                <a:ea typeface="Microsoft YaHei"/>
                <a:cs typeface="Microsoft YaHei"/>
              </a:rPr>
              <a:t>Bootstrap不产生原总体真值；未知端点与重复值处理需要另行论证。</a:t>
            </a:r>
          </a:p>
        </p:txBody>
      </p:sp>
    </p:spTree>
    <p:extLst>
      <p:ext uri="{BB962C8B-B14F-4D97-AF65-F5344CB8AC3E}">
        <p14:creationId xmlns:p14="http://schemas.microsoft.com/office/powerpoint/2010/main" val="6707371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400" b="1" spc="-150">
                <a:solidFill>
                  <a:srgbClr val="FFFFFF"/>
                </a:solidFill>
                <a:latin typeface="汉仪文润宋韵 U"/>
                <a:ea typeface="汉仪文润宋韵 U"/>
                <a:cs typeface="汉仪文润宋韵 U"/>
              </a:rPr>
              <a:t>失败处理：精度必须连同有效率一起报告</a:t>
            </a: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对照选择、版本与验证</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03</a:t>
            </a:r>
          </a:p>
        </p:txBody>
      </p:sp>
      <p:sp>
        <p:nvSpPr>
          <p:cNvPr id="6" name="文本框 5">
            <a:extLst>
              <a:ext uri="{FF2B5EF4-FFF2-40B4-BE49-F238E27FC236}">
                <a16:creationId xmlns:a16="http://schemas.microsoft.com/office/drawing/2014/main" id="{3C43A4D2-266F-4B41-031B-07FBAA0792B4}"/>
              </a:ext>
            </a:extLst>
          </p:cNvPr>
          <p:cNvSpPr>
            <a:spLocks noGrp="1"/>
          </p:cNvSpPr>
          <p:nvPr/>
        </p:nvSpPr>
        <p:spPr>
          <a:xfrm>
            <a:off x="622300" y="1676400"/>
            <a:ext cx="10922000" cy="558800"/>
          </a:xfrm>
          <a:prstGeom prst="rect">
            <a:avLst/>
          </a:prstGeom>
          <a:noFill/>
        </p:spPr>
        <p:txBody>
          <a:bodyPr vert="horz" wrap="square" lIns="0" tIns="0" rIns="0" bIns="0">
            <a:noAutofit/>
          </a:bodyPr>
          <a:lstStyle/>
          <a:p>
            <a:pPr>
              <a:lnSpc>
                <a:spcPts val="2340"/>
              </a:lnSpc>
              <a:buNone/>
            </a:pPr>
            <a:r>
              <a:rPr>
                <a:solidFill>
                  <a:srgbClr val="2F6096"/>
                </a:solidFill>
                <a:latin typeface="Microsoft YaHei"/>
                <a:ea typeface="Microsoft YaHei"/>
                <a:cs typeface="Microsoft YaHei"/>
              </a:rPr>
              <a:t>目标无界、方程分支、数值未收敛、越界输出，应分开记录。</a:t>
            </a:r>
          </a:p>
        </p:txBody>
      </p:sp>
      <p:sp>
        <p:nvSpPr>
          <p:cNvPr id="7" name="文本框 6">
            <a:extLst>
              <a:ext uri="{FF2B5EF4-FFF2-40B4-BE49-F238E27FC236}">
                <a16:creationId xmlns:a16="http://schemas.microsoft.com/office/drawing/2014/main" id="{27C56FF3-588F-AD51-73D3-B8671BC60424}"/>
              </a:ext>
            </a:extLst>
          </p:cNvPr>
          <p:cNvSpPr>
            <a:spLocks noGrp="1"/>
          </p:cNvSpPr>
          <p:nvPr/>
        </p:nvSpPr>
        <p:spPr>
          <a:xfrm>
            <a:off x="622300" y="5981700"/>
            <a:ext cx="10922000" cy="508000"/>
          </a:xfrm>
          <a:prstGeom prst="rect">
            <a:avLst/>
          </a:prstGeom>
          <a:noFill/>
        </p:spPr>
        <p:txBody>
          <a:bodyPr vert="horz" wrap="square" lIns="0" tIns="0" rIns="0" bIns="0">
            <a:noAutofit/>
          </a:bodyPr>
          <a:lstStyle/>
          <a:p>
            <a:pPr>
              <a:lnSpc>
                <a:spcPts val="2210"/>
              </a:lnSpc>
              <a:buNone/>
            </a:pPr>
            <a:r>
              <a:rPr sz="1700" b="1">
                <a:solidFill>
                  <a:srgbClr val="2F6096"/>
                </a:solidFill>
                <a:latin typeface="Microsoft YaHei"/>
                <a:ea typeface="Microsoft YaHei"/>
                <a:cs typeface="Microsoft YaHei"/>
              </a:rPr>
              <a:t>各自有效子集与共同有效子集的误差均属条件结果，不能用单一RMSE掩盖失败。</a:t>
            </a:r>
          </a:p>
        </p:txBody>
      </p:sp>
      <p:graphicFrame>
        <p:nvGraphicFramePr>
          <p:cNvPr id="15" name="表格 7"/>
          <p:cNvGraphicFramePr/>
          <p:nvPr/>
        </p:nvGraphicFramePr>
        <p:xfrm>
          <a:off x="622300" y="2413000"/>
          <a:ext cx="10922000" cy="3302000"/>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3835400">
                  <a:extLst>
                    <a:ext uri="{9D8B030D-6E8A-4147-A177-3AD203B41FA5}">
                      <a16:colId xmlns:a16="http://schemas.microsoft.com/office/drawing/2014/main" val="20002"/>
                    </a:ext>
                  </a:extLst>
                </a:gridCol>
              </a:tblGrid>
              <a:tr h="660400">
                <a:tc>
                  <a:txBody>
                    <a:bodyPr/>
                    <a:lstStyle/>
                    <a:p>
                      <a:pPr>
                        <a:spcBef>
                          <a:spcPts val="0"/>
                        </a:spcBef>
                        <a:spcAft>
                          <a:spcPts val="0"/>
                        </a:spcAft>
                        <a:buNone/>
                      </a:pPr>
                      <a:r>
                        <a:rPr sz="1600" b="1">
                          <a:solidFill>
                            <a:srgbClr val="FFFFFF"/>
                          </a:solidFill>
                          <a:latin typeface="Microsoft YaHei"/>
                          <a:ea typeface="Microsoft YaHei"/>
                          <a:cs typeface="Microsoft YaHei"/>
                        </a:rPr>
                        <a:t>原文处理实例</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buNone/>
                      </a:pPr>
                      <a:r>
                        <a:rPr sz="1600" b="1">
                          <a:solidFill>
                            <a:srgbClr val="FFFFFF"/>
                          </a:solidFill>
                          <a:latin typeface="Microsoft YaHei"/>
                          <a:ea typeface="Microsoft YaHei"/>
                          <a:cs typeface="Microsoft YaHei"/>
                        </a:rPr>
                        <a:t>解释风险</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buNone/>
                      </a:pPr>
                      <a:r>
                        <a:rPr sz="1600" b="1">
                          <a:solidFill>
                            <a:srgbClr val="FFFFFF"/>
                          </a:solidFill>
                          <a:latin typeface="Microsoft YaHei"/>
                          <a:ea typeface="Microsoft YaHei"/>
                          <a:cs typeface="Microsoft YaHei"/>
                        </a:rPr>
                        <a:t>本研究应怎样报告</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10000"/>
                  </a:ext>
                </a:extLst>
              </a:tr>
              <a:tr h="660400">
                <a:tc>
                  <a:txBody>
                    <a:bodyPr/>
                    <a:lstStyle/>
                    <a:p>
                      <a:pPr>
                        <a:spcBef>
                          <a:spcPts val="0"/>
                        </a:spcBef>
                        <a:spcAft>
                          <a:spcPts val="0"/>
                        </a:spcAft>
                        <a:buNone/>
                      </a:pPr>
                      <a:r>
                        <a:rPr sz="1600" b="0">
                          <a:solidFill>
                            <a:srgbClr val="000000"/>
                          </a:solidFill>
                          <a:latin typeface="Microsoft YaHei"/>
                          <a:ea typeface="Microsoft YaHei"/>
                          <a:cs typeface="Microsoft YaHei"/>
                        </a:rPr>
                        <a:t>仅比较收敛样本 [182-096]</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成为筛样后的条件精度</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给全部次数、有效数与失败原因</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1"/>
                  </a:ext>
                </a:extLst>
              </a:tr>
              <a:tr h="660400">
                <a:tc>
                  <a:txBody>
                    <a:bodyPr/>
                    <a:lstStyle/>
                    <a:p>
                      <a:pPr>
                        <a:spcBef>
                          <a:spcPts val="0"/>
                        </a:spcBef>
                        <a:spcAft>
                          <a:spcPts val="0"/>
                        </a:spcAft>
                        <a:buNone/>
                      </a:pPr>
                      <a:r>
                        <a:rPr sz="1600" b="0">
                          <a:solidFill>
                            <a:srgbClr val="000000"/>
                          </a:solidFill>
                          <a:latin typeface="Microsoft YaHei"/>
                          <a:ea typeface="Microsoft YaHei"/>
                          <a:cs typeface="Microsoft YaHei"/>
                        </a:rPr>
                        <a:t>限制参数并报未得到估计数 [182-091]</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约束与计算预算影响成功率</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预先声明参数域、预算与接受规则</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2"/>
                  </a:ext>
                </a:extLst>
              </a:tr>
              <a:tr h="660400">
                <a:tc>
                  <a:txBody>
                    <a:bodyPr/>
                    <a:lstStyle/>
                    <a:p>
                      <a:pPr>
                        <a:spcBef>
                          <a:spcPts val="0"/>
                        </a:spcBef>
                        <a:spcAft>
                          <a:spcPts val="0"/>
                        </a:spcAft>
                        <a:buNone/>
                      </a:pPr>
                      <a:r>
                        <a:rPr sz="1600" b="0">
                          <a:solidFill>
                            <a:srgbClr val="000000"/>
                          </a:solidFill>
                          <a:latin typeface="Microsoft YaHei"/>
                          <a:ea typeface="Microsoft YaHei"/>
                          <a:cs typeface="Microsoft YaHei"/>
                        </a:rPr>
                        <a:t>失败用零作图标记 [182-030]</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零并非有效参数估计</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不得把标记值代入RMSE</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3"/>
                  </a:ext>
                </a:extLst>
              </a:tr>
              <a:tr h="660400">
                <a:tc>
                  <a:txBody>
                    <a:bodyPr/>
                    <a:lstStyle/>
                    <a:p>
                      <a:pPr>
                        <a:spcBef>
                          <a:spcPts val="0"/>
                        </a:spcBef>
                        <a:spcAft>
                          <a:spcPts val="0"/>
                        </a:spcAft>
                        <a:buNone/>
                      </a:pPr>
                      <a:r>
                        <a:rPr sz="1600" b="0">
                          <a:solidFill>
                            <a:srgbClr val="000000"/>
                          </a:solidFill>
                          <a:latin typeface="Microsoft YaHei"/>
                          <a:ea typeface="Microsoft YaHei"/>
                          <a:cs typeface="Microsoft YaHei"/>
                        </a:rPr>
                        <a:t>剔除极端输出 [182-101]</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有效极端值也会改变尾部风险</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披露筛选规则与统计分母</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6567424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550" b="1">
                <a:solidFill>
                  <a:srgbClr val="FFFFFF"/>
                </a:solidFill>
                <a:latin typeface="汉仪文润宋韵 U"/>
                <a:ea typeface="汉仪文润宋韵 U"/>
                <a:cs typeface="汉仪文润宋韵 U"/>
              </a:defRPr>
            </a:pPr>
            <a:r>
              <a:rPr sz="2550" b="1" spc="-150">
                <a:solidFill>
                  <a:srgbClr val="FFFFFF"/>
                </a:solidFill>
                <a:latin typeface="汉仪文润宋韵 U"/>
                <a:ea typeface="汉仪文润宋韵 U"/>
                <a:cs typeface="汉仪文润宋韵 U"/>
              </a:rPr>
              <a:t>对开场问题的回答</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调研结论</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04</a:t>
            </a:r>
          </a:p>
        </p:txBody>
      </p:sp>
      <p:sp>
        <p:nvSpPr>
          <p:cNvPr id="6" name="矩形 5">
            <a:extLst>
              <a:ext uri="{FF2B5EF4-FFF2-40B4-BE49-F238E27FC236}">
                <a16:creationId xmlns:a16="http://schemas.microsoft.com/office/drawing/2014/main" id="{783A341E-777C-4EE4-8413-C435F09DAEDB}"/>
              </a:ext>
            </a:extLst>
          </p:cNvPr>
          <p:cNvSpPr>
            <a:spLocks noGrp="1"/>
          </p:cNvSpPr>
          <p:nvPr/>
        </p:nvSpPr>
        <p:spPr>
          <a:xfrm>
            <a:off x="609600" y="1685925"/>
            <a:ext cx="10972800" cy="428625"/>
          </a:xfrm>
          <a:prstGeom prst="rect">
            <a:avLst/>
          </a:prstGeom>
          <a:noFill/>
          <a:ln w="0">
            <a:noFill/>
          </a:ln>
        </p:spPr>
        <p:txBody>
          <a:bodyPr>
            <a:noAutofit/>
          </a:bodyPr>
          <a:lstStyle/>
          <a:p>
            <a:pPr>
              <a:defRPr sz="1875" b="0">
                <a:solidFill>
                  <a:srgbClr val="2F6096"/>
                </a:solidFill>
                <a:latin typeface="Microsoft YaHei"/>
                <a:ea typeface="Microsoft YaHei"/>
                <a:cs typeface="Microsoft YaHei"/>
              </a:defRPr>
            </a:pPr>
            <a:r>
              <a:rPr sz="1875" b="0">
                <a:solidFill>
                  <a:srgbClr val="2F6096"/>
                </a:solidFill>
                <a:latin typeface="Microsoft YaHei"/>
                <a:ea typeface="Microsoft YaHei"/>
                <a:cs typeface="Microsoft YaHei"/>
              </a:rPr>
              <a:t>比较方案应来自文献证据，并且能够检验新方法声称的改进</a:t>
            </a:r>
          </a:p>
        </p:txBody>
      </p:sp>
      <p:sp>
        <p:nvSpPr>
          <p:cNvPr id="7" name="矩形 6">
            <a:extLst>
              <a:ext uri="{FF2B5EF4-FFF2-40B4-BE49-F238E27FC236}">
                <a16:creationId xmlns:a16="http://schemas.microsoft.com/office/drawing/2014/main" id="{17B66BC1-DABF-4556-A388-C70BCD8A59F6}"/>
              </a:ext>
            </a:extLst>
          </p:cNvPr>
          <p:cNvSpPr>
            <a:spLocks noGrp="1"/>
          </p:cNvSpPr>
          <p:nvPr/>
        </p:nvSpPr>
        <p:spPr>
          <a:xfrm>
            <a:off x="609600" y="2533650"/>
            <a:ext cx="2667000" cy="447675"/>
          </a:xfrm>
          <a:prstGeom prst="rect">
            <a:avLst/>
          </a:prstGeom>
          <a:noFill/>
          <a:ln w="0">
            <a:noFill/>
          </a:ln>
        </p:spPr>
        <p:txBody>
          <a:bodyPr>
            <a:noAutofit/>
          </a:bodyPr>
          <a:lstStyle/>
          <a:p>
            <a:pPr>
              <a:defRPr sz="1950" b="1">
                <a:solidFill>
                  <a:srgbClr val="BE5A10"/>
                </a:solidFill>
                <a:latin typeface="Microsoft YaHei"/>
                <a:ea typeface="Microsoft YaHei"/>
                <a:cs typeface="Microsoft YaHei"/>
              </a:defRPr>
            </a:pPr>
            <a:r>
              <a:rPr sz="1950" b="1">
                <a:solidFill>
                  <a:srgbClr val="BE5A10"/>
                </a:solidFill>
                <a:latin typeface="Microsoft YaHei"/>
                <a:ea typeface="Microsoft YaHei"/>
                <a:cs typeface="Microsoft YaHei"/>
              </a:rPr>
              <a:t>已有方法怎样发展</a:t>
            </a:r>
          </a:p>
        </p:txBody>
      </p:sp>
      <p:sp>
        <p:nvSpPr>
          <p:cNvPr id="8" name="矩形 7">
            <a:extLst>
              <a:ext uri="{FF2B5EF4-FFF2-40B4-BE49-F238E27FC236}">
                <a16:creationId xmlns:a16="http://schemas.microsoft.com/office/drawing/2014/main" id="{AE224E3A-5C89-49BF-ACD4-9D153CA38C68}"/>
              </a:ext>
            </a:extLst>
          </p:cNvPr>
          <p:cNvSpPr>
            <a:spLocks noGrp="1"/>
          </p:cNvSpPr>
          <p:nvPr/>
        </p:nvSpPr>
        <p:spPr>
          <a:xfrm>
            <a:off x="3390900" y="2533650"/>
            <a:ext cx="8153400" cy="647700"/>
          </a:xfrm>
          <a:prstGeom prst="rect">
            <a:avLst/>
          </a:prstGeom>
          <a:noFill/>
          <a:ln w="0">
            <a:noFill/>
          </a:ln>
        </p:spPr>
        <p:txBody>
          <a:bodyPr>
            <a:noAutofit/>
          </a:bodyPr>
          <a:lstStyle/>
          <a:p>
            <a:pPr>
              <a:defRPr sz="1800" b="0">
                <a:solidFill>
                  <a:srgbClr val="182538"/>
                </a:solidFill>
                <a:latin typeface="Microsoft YaHei"/>
                <a:ea typeface="Microsoft YaHei"/>
                <a:cs typeface="Microsoft YaHei"/>
              </a:defRPr>
            </a:pPr>
            <a:r>
              <a:rPr sz="1800" b="0">
                <a:solidFill>
                  <a:srgbClr val="182538"/>
                </a:solidFill>
                <a:latin typeface="Microsoft YaHei"/>
                <a:ea typeface="Microsoft YaHei"/>
                <a:cs typeface="Microsoft YaHei"/>
              </a:rPr>
              <a:t>围绕位置、偏差和估计依据形成多条路线，后来的构造各有改进目标。</a:t>
            </a:r>
          </a:p>
        </p:txBody>
      </p:sp>
      <p:sp>
        <p:nvSpPr>
          <p:cNvPr id="9" name="矩形 8">
            <a:extLst>
              <a:ext uri="{FF2B5EF4-FFF2-40B4-BE49-F238E27FC236}">
                <a16:creationId xmlns:a16="http://schemas.microsoft.com/office/drawing/2014/main" id="{12FE087F-377F-402F-8719-AE1960A43072}"/>
              </a:ext>
            </a:extLst>
          </p:cNvPr>
          <p:cNvSpPr>
            <a:spLocks noGrp="1"/>
          </p:cNvSpPr>
          <p:nvPr/>
        </p:nvSpPr>
        <p:spPr>
          <a:xfrm>
            <a:off x="609600" y="3352800"/>
            <a:ext cx="2667000" cy="447675"/>
          </a:xfrm>
          <a:prstGeom prst="rect">
            <a:avLst/>
          </a:prstGeom>
          <a:noFill/>
          <a:ln w="0">
            <a:noFill/>
          </a:ln>
        </p:spPr>
        <p:txBody>
          <a:bodyPr>
            <a:noAutofit/>
          </a:bodyPr>
          <a:lstStyle/>
          <a:p>
            <a:pPr>
              <a:defRPr sz="1950" b="1">
                <a:solidFill>
                  <a:srgbClr val="BE5A10"/>
                </a:solidFill>
                <a:latin typeface="Microsoft YaHei"/>
                <a:ea typeface="Microsoft YaHei"/>
                <a:cs typeface="Microsoft YaHei"/>
              </a:defRPr>
            </a:pPr>
            <a:r>
              <a:rPr sz="1950" b="1">
                <a:solidFill>
                  <a:srgbClr val="BE5A10"/>
                </a:solidFill>
                <a:latin typeface="Microsoft YaHei"/>
                <a:ea typeface="Microsoft YaHei"/>
                <a:cs typeface="Microsoft YaHei"/>
              </a:rPr>
              <a:t>近年有什么，如何取舍</a:t>
            </a:r>
          </a:p>
        </p:txBody>
      </p:sp>
      <p:sp>
        <p:nvSpPr>
          <p:cNvPr id="10" name="矩形 9">
            <a:extLst>
              <a:ext uri="{FF2B5EF4-FFF2-40B4-BE49-F238E27FC236}">
                <a16:creationId xmlns:a16="http://schemas.microsoft.com/office/drawing/2014/main" id="{BD5179CF-B99A-4B6C-B0AC-7E791497B1E2}"/>
              </a:ext>
            </a:extLst>
          </p:cNvPr>
          <p:cNvSpPr>
            <a:spLocks noGrp="1"/>
          </p:cNvSpPr>
          <p:nvPr/>
        </p:nvSpPr>
        <p:spPr>
          <a:xfrm>
            <a:off x="3390900" y="3352800"/>
            <a:ext cx="8153400" cy="647700"/>
          </a:xfrm>
          <a:prstGeom prst="rect">
            <a:avLst/>
          </a:prstGeom>
          <a:noFill/>
          <a:ln w="0">
            <a:noFill/>
          </a:ln>
        </p:spPr>
        <p:txBody>
          <a:bodyPr>
            <a:noAutofit/>
          </a:bodyPr>
          <a:lstStyle/>
          <a:p>
            <a:pPr>
              <a:defRPr sz="1800" b="0">
                <a:solidFill>
                  <a:srgbClr val="182538"/>
                </a:solidFill>
                <a:latin typeface="Microsoft YaHei"/>
                <a:ea typeface="Microsoft YaHei"/>
                <a:cs typeface="Microsoft YaHei"/>
              </a:defRPr>
            </a:pPr>
            <a:r>
              <a:rPr sz="1800" b="0">
                <a:solidFill>
                  <a:srgbClr val="182538"/>
                </a:solidFill>
                <a:latin typeface="Microsoft YaHei"/>
                <a:ea typeface="Microsoft YaHei"/>
                <a:cs typeface="Microsoft YaHei"/>
              </a:rPr>
              <a:t>WMLE、Park、SAM／PM等均有相关进展，性能证据必须附条件。</a:t>
            </a:r>
          </a:p>
        </p:txBody>
      </p:sp>
      <p:sp>
        <p:nvSpPr>
          <p:cNvPr id="11" name="矩形 10">
            <a:extLst>
              <a:ext uri="{FF2B5EF4-FFF2-40B4-BE49-F238E27FC236}">
                <a16:creationId xmlns:a16="http://schemas.microsoft.com/office/drawing/2014/main" id="{1E7174ED-825D-430A-B037-B18FBD95CB1B}"/>
              </a:ext>
            </a:extLst>
          </p:cNvPr>
          <p:cNvSpPr>
            <a:spLocks noGrp="1"/>
          </p:cNvSpPr>
          <p:nvPr/>
        </p:nvSpPr>
        <p:spPr>
          <a:xfrm>
            <a:off x="609600" y="4171950"/>
            <a:ext cx="2667000" cy="447675"/>
          </a:xfrm>
          <a:prstGeom prst="rect">
            <a:avLst/>
          </a:prstGeom>
          <a:noFill/>
          <a:ln w="0">
            <a:noFill/>
          </a:ln>
        </p:spPr>
        <p:txBody>
          <a:bodyPr>
            <a:noAutofit/>
          </a:bodyPr>
          <a:lstStyle/>
          <a:p>
            <a:pPr>
              <a:defRPr sz="1950" b="1">
                <a:solidFill>
                  <a:srgbClr val="BE5A10"/>
                </a:solidFill>
                <a:latin typeface="Microsoft YaHei"/>
                <a:ea typeface="Microsoft YaHei"/>
                <a:cs typeface="Microsoft YaHei"/>
              </a:defRPr>
            </a:pPr>
            <a:r>
              <a:rPr sz="1950" b="1">
                <a:solidFill>
                  <a:srgbClr val="BE5A10"/>
                </a:solidFill>
                <a:latin typeface="Microsoft YaHei"/>
                <a:ea typeface="Microsoft YaHei"/>
                <a:cs typeface="Microsoft YaHei"/>
              </a:rPr>
              <a:t>应该和谁比较</a:t>
            </a:r>
          </a:p>
        </p:txBody>
      </p:sp>
      <p:sp>
        <p:nvSpPr>
          <p:cNvPr id="12" name="矩形 11">
            <a:extLst>
              <a:ext uri="{FF2B5EF4-FFF2-40B4-BE49-F238E27FC236}">
                <a16:creationId xmlns:a16="http://schemas.microsoft.com/office/drawing/2014/main" id="{DAC26C93-8752-48B5-99A4-0D2BB0564180}"/>
              </a:ext>
            </a:extLst>
          </p:cNvPr>
          <p:cNvSpPr>
            <a:spLocks noGrp="1"/>
          </p:cNvSpPr>
          <p:nvPr/>
        </p:nvSpPr>
        <p:spPr>
          <a:xfrm>
            <a:off x="3390900" y="4171950"/>
            <a:ext cx="8153400" cy="647700"/>
          </a:xfrm>
          <a:prstGeom prst="rect">
            <a:avLst/>
          </a:prstGeom>
          <a:noFill/>
          <a:ln w="0">
            <a:noFill/>
          </a:ln>
        </p:spPr>
        <p:txBody>
          <a:bodyPr>
            <a:noAutofit/>
          </a:bodyPr>
          <a:lstStyle/>
          <a:p>
            <a:pPr>
              <a:defRPr sz="1800" b="0">
                <a:solidFill>
                  <a:srgbClr val="182538"/>
                </a:solidFill>
                <a:latin typeface="Microsoft YaHei"/>
                <a:ea typeface="Microsoft YaHei"/>
                <a:cs typeface="Microsoft YaHei"/>
              </a:defRPr>
            </a:pPr>
            <a:r>
              <a:rPr sz="1800" b="0">
                <a:solidFill>
                  <a:srgbClr val="182538"/>
                </a:solidFill>
                <a:latin typeface="Microsoft YaHei"/>
                <a:ea typeface="Microsoft YaHei"/>
                <a:cs typeface="Microsoft YaHei"/>
              </a:rPr>
              <a:t>优先MLE、WMLE、明确的概率图版本及任务相关近期对手，按主张补充。</a:t>
            </a:r>
          </a:p>
        </p:txBody>
      </p:sp>
      <p:sp>
        <p:nvSpPr>
          <p:cNvPr id="13" name="矩形 12">
            <a:extLst>
              <a:ext uri="{FF2B5EF4-FFF2-40B4-BE49-F238E27FC236}">
                <a16:creationId xmlns:a16="http://schemas.microsoft.com/office/drawing/2014/main" id="{70AAB493-4B3C-42C4-AA10-FA37D274D6A1}"/>
              </a:ext>
            </a:extLst>
          </p:cNvPr>
          <p:cNvSpPr>
            <a:spLocks noGrp="1"/>
          </p:cNvSpPr>
          <p:nvPr/>
        </p:nvSpPr>
        <p:spPr>
          <a:xfrm>
            <a:off x="609600" y="4991100"/>
            <a:ext cx="2667000" cy="447675"/>
          </a:xfrm>
          <a:prstGeom prst="rect">
            <a:avLst/>
          </a:prstGeom>
          <a:noFill/>
          <a:ln w="0">
            <a:noFill/>
          </a:ln>
        </p:spPr>
        <p:txBody>
          <a:bodyPr>
            <a:noAutofit/>
          </a:bodyPr>
          <a:lstStyle/>
          <a:p>
            <a:pPr>
              <a:defRPr sz="1950" b="1">
                <a:solidFill>
                  <a:srgbClr val="BE5A10"/>
                </a:solidFill>
                <a:latin typeface="Microsoft YaHei"/>
                <a:ea typeface="Microsoft YaHei"/>
                <a:cs typeface="Microsoft YaHei"/>
              </a:defRPr>
            </a:pPr>
            <a:r>
              <a:rPr sz="1950" b="1">
                <a:solidFill>
                  <a:srgbClr val="BE5A10"/>
                </a:solidFill>
                <a:latin typeface="Microsoft YaHei"/>
                <a:ea typeface="Microsoft YaHei"/>
                <a:cs typeface="Microsoft YaHei"/>
              </a:rPr>
              <a:t>应该怎样比较</a:t>
            </a:r>
          </a:p>
        </p:txBody>
      </p:sp>
      <p:sp>
        <p:nvSpPr>
          <p:cNvPr id="14" name="矩形 13">
            <a:extLst>
              <a:ext uri="{FF2B5EF4-FFF2-40B4-BE49-F238E27FC236}">
                <a16:creationId xmlns:a16="http://schemas.microsoft.com/office/drawing/2014/main" id="{724C246F-EAF0-4607-AB63-4C09959DFD26}"/>
              </a:ext>
            </a:extLst>
          </p:cNvPr>
          <p:cNvSpPr>
            <a:spLocks noGrp="1"/>
          </p:cNvSpPr>
          <p:nvPr/>
        </p:nvSpPr>
        <p:spPr>
          <a:xfrm>
            <a:off x="3390900" y="4991100"/>
            <a:ext cx="8153400" cy="647700"/>
          </a:xfrm>
          <a:prstGeom prst="rect">
            <a:avLst/>
          </a:prstGeom>
          <a:noFill/>
          <a:ln w="0">
            <a:noFill/>
          </a:ln>
        </p:spPr>
        <p:txBody>
          <a:bodyPr>
            <a:noAutofit/>
          </a:bodyPr>
          <a:lstStyle/>
          <a:p>
            <a:pPr>
              <a:defRPr sz="1800" b="0">
                <a:solidFill>
                  <a:srgbClr val="182538"/>
                </a:solidFill>
                <a:latin typeface="Microsoft YaHei"/>
                <a:ea typeface="Microsoft YaHei"/>
                <a:cs typeface="Microsoft YaHei"/>
              </a:defRPr>
            </a:pPr>
            <a:r>
              <a:rPr sz="1800" b="0">
                <a:solidFill>
                  <a:srgbClr val="182538"/>
                </a:solidFill>
                <a:latin typeface="Microsoft YaHei"/>
                <a:ea typeface="Microsoft YaHei"/>
                <a:cs typeface="Microsoft YaHei"/>
              </a:rPr>
              <a:t>MC报告逐参数误差及有效率，真实数据说明应用；版本与失败规则透明。</a:t>
            </a:r>
          </a:p>
        </p:txBody>
      </p:sp>
      <p:sp>
        <p:nvSpPr>
          <p:cNvPr id="15" name="矩形 14">
            <a:extLst>
              <a:ext uri="{FF2B5EF4-FFF2-40B4-BE49-F238E27FC236}">
                <a16:creationId xmlns:a16="http://schemas.microsoft.com/office/drawing/2014/main" id="{B3FDEF13-CB48-4B74-BBCA-9D8877CF126F}"/>
              </a:ext>
            </a:extLst>
          </p:cNvPr>
          <p:cNvSpPr>
            <a:spLocks noGrp="1"/>
          </p:cNvSpPr>
          <p:nvPr/>
        </p:nvSpPr>
        <p:spPr>
          <a:xfrm>
            <a:off x="609600" y="6038850"/>
            <a:ext cx="10972800" cy="381000"/>
          </a:xfrm>
          <a:prstGeom prst="rect">
            <a:avLst/>
          </a:prstGeom>
          <a:noFill/>
          <a:ln w="0">
            <a:noFill/>
          </a:ln>
        </p:spPr>
        <p:txBody>
          <a:bodyPr>
            <a:noAutofit/>
          </a:bodyPr>
          <a:lstStyle/>
          <a:p>
            <a:pPr>
              <a:defRPr sz="1425" b="1">
                <a:solidFill>
                  <a:srgbClr val="2F6096"/>
                </a:solidFill>
                <a:latin typeface="Microsoft YaHei"/>
                <a:ea typeface="Microsoft YaHei"/>
                <a:cs typeface="Microsoft YaHei"/>
              </a:defRPr>
            </a:pPr>
            <a:r>
              <a:rPr lang="zh-CN" altLang="en-US" sz="1425" b="1">
                <a:solidFill>
                  <a:srgbClr val="2F6096"/>
                </a:solidFill>
                <a:latin typeface="Microsoft YaHei"/>
                <a:ea typeface="Microsoft YaHei"/>
                <a:cs typeface="Microsoft YaHei"/>
              </a:rPr>
              <a:t>选型依据：方法沿革、相关论文实际采用的对手，以及与当前问题的匹配程度。</a:t>
            </a:r>
            <a:endParaRPr sz="1425" b="1">
              <a:solidFill>
                <a:srgbClr val="2F6096"/>
              </a:solidFill>
              <a:latin typeface="Microsoft YaHei"/>
              <a:ea typeface="Microsoft YaHei"/>
              <a:cs typeface="Microsoft YaHei"/>
            </a:endParaRPr>
          </a:p>
        </p:txBody>
      </p:sp>
    </p:spTree>
    <p:extLst>
      <p:ext uri="{BB962C8B-B14F-4D97-AF65-F5344CB8AC3E}">
        <p14:creationId xmlns:p14="http://schemas.microsoft.com/office/powerpoint/2010/main" val="60933432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3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987</TotalTime>
  <Words>3425</Words>
  <Application>Microsoft Office PowerPoint</Application>
  <DocSecurity>0</DocSecurity>
  <PresentationFormat>宽屏</PresentationFormat>
  <Paragraphs>455</Paragraphs>
  <Slides>18</Slides>
  <Notes>18</Notes>
  <HiddenSlides>0</HiddenSlides>
  <MMClips>0</MMClips>
  <ScaleCrop>false</ScaleCrop>
  <HeadingPairs>
    <vt:vector size="6" baseType="variant">
      <vt:variant>
        <vt:lpstr>已用的字体</vt:lpstr>
      </vt:variant>
      <vt:variant>
        <vt:i4>9</vt:i4>
      </vt:variant>
      <vt:variant>
        <vt:lpstr>主题</vt:lpstr>
      </vt:variant>
      <vt:variant>
        <vt:i4>3</vt:i4>
      </vt:variant>
      <vt:variant>
        <vt:lpstr>幻灯片标题</vt:lpstr>
      </vt:variant>
      <vt:variant>
        <vt:i4>18</vt:i4>
      </vt:variant>
    </vt:vector>
  </HeadingPairs>
  <TitlesOfParts>
    <vt:vector size="30" baseType="lpstr">
      <vt:lpstr>等线</vt:lpstr>
      <vt:lpstr>等线 Light</vt:lpstr>
      <vt:lpstr>汉仪粗宋简</vt:lpstr>
      <vt:lpstr>汉仪文润宋韵 U</vt:lpstr>
      <vt:lpstr>Microsoft YaHei</vt:lpstr>
      <vt:lpstr>Microsoft YaHei</vt:lpstr>
      <vt:lpstr>Arial</vt:lpstr>
      <vt:lpstr>Calibri</vt:lpstr>
      <vt:lpstr>Calibri Light</vt:lpstr>
      <vt:lpstr>Office 主题​​</vt:lpstr>
      <vt:lpstr>2_自定义设计方案</vt:lpstr>
      <vt:lpstr>3_自定义设计方案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H60655@365mak.com</cp:lastModifiedBy>
  <cp:revision>28</cp:revision>
  <dcterms:created xsi:type="dcterms:W3CDTF">2026-09-06T04:22:26Z</dcterms:created>
  <dcterms:modified xsi:type="dcterms:W3CDTF">2026-09-28T07:34:38Z</dcterms:modified>
</cp:coreProperties>
</file>