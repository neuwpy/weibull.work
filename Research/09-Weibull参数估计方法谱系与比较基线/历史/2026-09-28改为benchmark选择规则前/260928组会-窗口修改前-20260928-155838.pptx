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2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88" autoAdjust="0"/>
  </p:normalViewPr>
  <p:slideViewPr>
    <p:cSldViewPr snapToGrid="0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来源：研究报告v2.3（2026-09-28），Research09。本汇报讨论完整样本、尤其小样本三参数点估计的有效性评价。研究状态为ACTIVE + INDEPENDENT；本轮为文献分析与评价建议，不是新增性能实验。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来源：研究报告</a:t>
            </a:r>
            <a:r>
              <a:rPr lang="en-US" altLang="zh-CN"/>
              <a:t>v2.3</a:t>
            </a:r>
            <a:r>
              <a:rPr lang="zh-CN" altLang="en-US"/>
              <a:t>，第</a:t>
            </a:r>
            <a:r>
              <a:rPr lang="en-US" altLang="zh-CN"/>
              <a:t>1</a:t>
            </a:r>
            <a:r>
              <a:rPr lang="zh-CN" altLang="en-US"/>
              <a:t>章与第</a:t>
            </a:r>
            <a:r>
              <a:rPr lang="en-US" altLang="zh-CN"/>
              <a:t>6</a:t>
            </a:r>
            <a:r>
              <a:rPr lang="zh-CN" altLang="en-US"/>
              <a:t>章。先按候选方法与文献证据确定合理对手，再在共同</a:t>
            </a:r>
            <a:r>
              <a:rPr lang="en-US" altLang="zh-CN"/>
              <a:t>Monte Carlo</a:t>
            </a:r>
            <a:r>
              <a:rPr lang="zh-CN" altLang="en-US"/>
              <a:t>条件下比较逐参数误差、波动和有效求解率。真实数据补充可用性、拟合及寿命量解释，不承担参数真值精度证明。两类证据汇合为评价建议。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来源：研究报告v2.3（2026-09-28），Research09。§2.1：A似然；B概率图；C统计量、间距与构造差异，含MDM；D组合与学习，含统计量变换。分组服务于辨认方法，不是互斥分类或性能排序。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来源：研究报告v2.3（2026-09-28），Research09。§2.2，附录A方法继承关系。WMLE Cousineau2009 DOI10.1348/000711007X270843；DMMLE DOI10.3390/e27050485；ADGBO DOI10.1016/j.ress.2025.111610。Fisher1922标示通用似然原理，不是Weibull专用方法年份。同目标同约束下，优化器改进首先是求解改进。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来源：研究报告v2.3（2026-09-28），Research09。§2.3，附录B第2—4、11节。Soman–Misra DOI10.1016/0026-2714(92)90057-R；Li DOI10.1109/24.295002；Park2017 DOI10.23055/ijietap.2017.24.4.2848。Plot与MLE2是不同恢复分支；项目Bernard分数LRE不等于Park原版。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来源：研究报告v2.3（2026-09-28），Research09。§2.4，附录B第9、11节。MDM DOI10.1142/S0219455423500852（2022在线／2023卷期）以尺度伪估计差异定义准则，属于C组。MPS DOI10.1111/j.2517-6161.1983.tb01268.x。没有将MDM连成MPS或LS的已证实直接后继。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来源：研究报告v2.3（2026-09-28），Research09。§2.5。SAM DOI10.1007/s12206-023-1019-z；PM DOI10.1002/qre.3559；LSPF DOI10.1016/j.csda.2012.09.005；BPNN DOI10.1016/j.probengmech.2025.103828。SAM与PM位置关系和参数更新不同，未核得直接升级或性能比较关系。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3.1与4.2；数据evidence/benchmark_comparison_audit.json。primary_included的13篇中展示剔除182-030及MDM列，与报告图3一致；MLE7/12、CC4/12。表头LRE对应审核CC相关回归族，具体版本不等价。指标统计保留13篇，RMSE7、SD5、Bias4。仅统计现有已核子集，不作全领域普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来源：研究报告v2.3（2026-09-28），Research09。§3.3，资料/近期文献范围核查.md。WMLE、Park、SAM/PM、DMMLE涉及估计构造；PITE DOI10.1038/s41598-025-96043-1涉及污染，Nassar–Elshahhat2024涉及二参数删失；ADGBO/PSO需按实际目标和约束辨别数值改进。方向实例不证明全领域重心转移。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3.4；WMLE182-088、LSPF182-113、SAM185-005、PM182-117、BPNN184-009、DMMLE182-111。详细来源见附录A/B和evidence/literature_performance_boundaries.json。SAM的MAD是跨三参数平均，不能说每个参数都改善；LSPF2013使用Ng式WMLE；PM主体大n，另有n5；DMMLE原尺度参数化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来源：研究报告v2.3（2026-09-28），Research09。§3.5。Cousineau182-101明示MLE为常用基线；Nagatsuka182-113依据前序比较选择BL/WMLE；DMMLE比较MMLE/CMLE识别修正收益。表为本报告归纳，不冒充每篇作者的完整原话。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4.1—4.2、6.3。建议n5、10、15、20、30，补50/100；形状可参考0.5、1、1.5、2、3、5，按适用域取舍；正位置主体，零位置边界单列。1000次为起点，接近结果可增加至5000—10000。来源SAM/BPNN/迭代LS/LSPF/综合比较。指标数来自13篇主子集，同篇可多项；relative Bias及联合指标另列。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4.3与6.4。Akram–Hayat182-096筛ML收敛样本；182-091记录未得估计数；MDM182-030图中零是失败标记；182-101剔除形状&gt;5。保留所有生成次数；全失败条件误差不可计算。DMMLE允许γ̂=min(x)，须按原定义判断边界，不能统一套严格内点接受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来源：研究报告v2.3（2026-09-28），Research09。§5、6.5。BPNN184-009 DOI10.1016/j.probengmech.2025.103828；LSPF182-113 DOI10.1016/j.csda.2012.09.005；SAM185-005 DOI10.1007/s12206-023-1019-z。SAM部分沿用历史估计，非统一重跑；同一10/4点数据重复使用不增加独立数据来源。Bootstrap不生成原总体参数真值。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来源：研究报告v2.3（2026-09-28），Research09。§6.1。MLE比较依据182-101/096，边界182-111；WMLE DOI10.1348/000711007X270843；Park DOI10.23055/ijietap.2017.24.4.2848；SAM DOI10.1007/s12206-023-1019-z。Park原非负位置域；SAM用形状未知分支，边界重试待澄清。最小组是报告建议，不是全部实现已完成。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研究报告v2.3（2026-09-28），Research09。§6.2。LS182-104、PM182-117、MPS182-116、LSPF182-113、DMMLE182-111、BPNN184-009、MDM182-030及综合比较182-096。MDM作为新法直接母方法时必保留，归类仍为C组。BPNN尚缺作者输入/训练配置，不能用自有网络替代原版后宣称战胜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来源：研究报告v2.3（2026-09-28），Research09。§6.1、6.4及附录B。SAM原文两个示例吻合不等于所有样本可运行；后期越域是否重置迭代及重试预算待澄清。此页是现有核查状态，不设置无根据的研究完成门槛。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/>
              <a:t>来源：研究报告v2.3（2026-09-28），Research09。§6结论。评价建议来自既有文献与版本核查；当前未运行这套新比较组的正式性能实验。所有优势应限制在对应样本与参数条件，不推出普遍最优。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963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参数估计方法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的评价依据与建议</a:t>
            </a:r>
            <a:endParaRPr sz="3600" i="0" u="none" cap="none" spc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600" y="2260600"/>
            <a:ext cx="10972800" cy="7011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dirty="0"/>
              <a:t>在目标样本条件下，相对于合理的比较对象，具有良好的参数估计精度、抽样稳定性和有效求解能力；真实数据补充说明实际可用性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逐参数精度、抽样波动、</a:t>
            </a:r>
          </a:p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候选方法：按估计依据与构造分为A—D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1F793F-B739-70D4-DC6E-BBDA191CB736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本章建立候选池，随后用文献证据判断任务匹配性，最终建议集中在第六部分。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D966A0-E2CD-641E-06AA-8AE5AFF080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65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下页起依次介绍A</a:t>
            </a:r>
            <a:r>
              <a:rPr sz="1650" b="1" dirty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50" b="1" dirty="0" err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D；MDM属于C组的构造差异，组合与学习归入D组</a:t>
            </a:r>
            <a:r>
              <a:rPr sz="1650" b="1" dirty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20" name="表格 13"/>
          <p:cNvGraphicFramePr/>
          <p:nvPr>
            <p:extLst>
              <p:ext uri="{D42A27DB-BD31-4B8C-83A1-F6EECF244321}">
                <p14:modId xmlns:p14="http://schemas.microsoft.com/office/powerpoint/2010/main" val="1886348392"/>
              </p:ext>
            </p:extLst>
          </p:nvPr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方法分组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代表方法与分支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主要思路与改进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似然路线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MLE、WMLE、MMLE、DMMLE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修正方程、改变似然或改善求解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概率图路线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LS、LRE相关构造（GLRA、相关系数法）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绘图分数、回归方向和位置构造不同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统计量、间距与构造差异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MM、PWM、L矩、MPS、MDM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匹配统计量、概率间距或尺度差异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、变换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与学习</a:t>
                      </a:r>
                      <a:endParaRPr sz="1600" b="0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LSPF、SAM、PM、神经估计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变换统计量、组合步骤或学习映射</a:t>
                      </a:r>
                      <a:endParaRPr sz="1600" b="0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似然路线：改统计构造，还是改求解过程？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共同起点是样本似然，后续工作分别处理偏差、边界和数值求解。</a:t>
            </a: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加权极大似然估计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ADGBO求解MLE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Wang等 · 2026</a:t>
            </a: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缓解初值敏感与局部停滞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改进搜索策略</a:t>
            </a: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WMLE修正有限样本估计方程，MMLE改变似然构造，DMMLE进一步修正得分偏差。</a:t>
            </a:r>
          </a:p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PSO、ADGBO等若保持同一似然与约束，改进的是求解过程。</a:t>
            </a:r>
          </a:p>
        </p:txBody>
      </p:sp>
      <p:sp>
        <p:nvSpPr>
          <p:cNvPr id="31" name="panel-citations">
            <a:extLst>
              <a:ext uri="{FF2B5EF4-FFF2-40B4-BE49-F238E27FC236}">
                <a16:creationId xmlns:a16="http://schemas.microsoft.com/office/drawing/2014/main" id="{43D54EE6-3576-5B72-1D9F-150FD070BF80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WMLE [182-088]；DMMLE [182-111]；ADGBO [187-001]。Fisher（1922）标示通用似然原理来源。</a:t>
            </a: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概率图路线：如何处理未知位置？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1FE70-E849-ED7F-BFB0-3FB730551685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LS与LRE同属概率图路线，具体构造由分数、方向与位置规则决定。</a:t>
            </a:r>
          </a:p>
        </p:txBody>
      </p:sp>
      <p:sp>
        <p:nvSpPr>
          <p:cNvPr id="17" name="fig1-white">
            <a:extLst>
              <a:ext uri="{FF2B5EF4-FFF2-40B4-BE49-F238E27FC236}">
                <a16:creationId xmlns:a16="http://schemas.microsoft.com/office/drawing/2014/main" id="{6BAFF377-25AB-9762-2D70-2278810E5997}"/>
              </a:ext>
            </a:extLst>
          </p:cNvPr>
          <p:cNvSpPr>
            <a:spLocks noGrp="1"/>
          </p:cNvSpPr>
          <p:nvPr/>
        </p:nvSpPr>
        <p:spPr>
          <a:xfrm>
            <a:off x="622300" y="2190115"/>
            <a:ext cx="3302000" cy="560832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二参数概率图回归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White · 1969</a:t>
            </a:r>
          </a:p>
        </p:txBody>
      </p:sp>
      <p:sp>
        <p:nvSpPr>
          <p:cNvPr id="18" name="fig1-soman">
            <a:extLst>
              <a:ext uri="{FF2B5EF4-FFF2-40B4-BE49-F238E27FC236}">
                <a16:creationId xmlns:a16="http://schemas.microsoft.com/office/drawing/2014/main" id="{F83C78B6-253F-8ED2-FCDB-4716D21876E0}"/>
              </a:ext>
            </a:extLst>
          </p:cNvPr>
          <p:cNvSpPr>
            <a:spLocks noGrp="1"/>
          </p:cNvSpPr>
          <p:nvPr/>
        </p:nvSpPr>
        <p:spPr>
          <a:xfrm>
            <a:off x="7670800" y="2190115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 三参数最小二乘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Soman &amp; Misra · 1992</a:t>
            </a:r>
          </a:p>
        </p:txBody>
      </p:sp>
      <p:sp>
        <p:nvSpPr>
          <p:cNvPr id="19" name="fig1-plot">
            <a:extLst>
              <a:ext uri="{FF2B5EF4-FFF2-40B4-BE49-F238E27FC236}">
                <a16:creationId xmlns:a16="http://schemas.microsoft.com/office/drawing/2014/main" id="{65675938-9A67-E934-E6DF-F65962F514D0}"/>
              </a:ext>
            </a:extLst>
          </p:cNvPr>
          <p:cNvSpPr>
            <a:spLocks noGrp="1"/>
          </p:cNvSpPr>
          <p:nvPr/>
        </p:nvSpPr>
        <p:spPr>
          <a:xfrm>
            <a:off x="622300" y="3189097"/>
            <a:ext cx="3302000" cy="5783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LRE相关构造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Weibull图线性化</a:t>
            </a:r>
          </a:p>
        </p:txBody>
      </p:sp>
      <p:sp>
        <p:nvSpPr>
          <p:cNvPr id="20" name="fig1-li">
            <a:extLst>
              <a:ext uri="{FF2B5EF4-FFF2-40B4-BE49-F238E27FC236}">
                <a16:creationId xmlns:a16="http://schemas.microsoft.com/office/drawing/2014/main" id="{3813DF7B-6E53-2F54-2674-A9944E5E53E2}"/>
              </a:ext>
            </a:extLst>
          </p:cNvPr>
          <p:cNvSpPr>
            <a:spLocks noGrp="1"/>
          </p:cNvSpPr>
          <p:nvPr/>
        </p:nvSpPr>
        <p:spPr>
          <a:xfrm>
            <a:off x="7670800" y="3005074"/>
            <a:ext cx="3873500" cy="560832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GLRA 广义线性回归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Li · 1994</a:t>
            </a:r>
          </a:p>
        </p:txBody>
      </p:sp>
      <p:sp>
        <p:nvSpPr>
          <p:cNvPr id="21" name="fig1-park">
            <a:extLst>
              <a:ext uri="{FF2B5EF4-FFF2-40B4-BE49-F238E27FC236}">
                <a16:creationId xmlns:a16="http://schemas.microsoft.com/office/drawing/2014/main" id="{2CDB9860-B1C3-AFF8-60E0-F026CE1F5EFF}"/>
              </a:ext>
            </a:extLst>
          </p:cNvPr>
          <p:cNvSpPr>
            <a:spLocks noGrp="1"/>
          </p:cNvSpPr>
          <p:nvPr/>
        </p:nvSpPr>
        <p:spPr>
          <a:xfrm>
            <a:off x="7670800" y="3986530"/>
            <a:ext cx="3873500" cy="578358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相关系数法（Plot分支）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Park · 2017</a:t>
            </a:r>
          </a:p>
        </p:txBody>
      </p:sp>
      <p:sp>
        <p:nvSpPr>
          <p:cNvPr id="22" name="fig1-text_edge6">
            <a:extLst>
              <a:ext uri="{FF2B5EF4-FFF2-40B4-BE49-F238E27FC236}">
                <a16:creationId xmlns:a16="http://schemas.microsoft.com/office/drawing/2014/main" id="{0C5A288D-71E8-CD1A-1D63-B92A6275E59E}"/>
              </a:ext>
            </a:extLst>
          </p:cNvPr>
          <p:cNvSpPr>
            <a:spLocks noGrp="1"/>
          </p:cNvSpPr>
          <p:nvPr/>
        </p:nvSpPr>
        <p:spPr>
          <a:xfrm>
            <a:off x="4686300" y="2076196"/>
            <a:ext cx="2222500" cy="385572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位置未知</a:t>
            </a:r>
          </a:p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扩展到三参数</a:t>
            </a:r>
          </a:p>
        </p:txBody>
      </p:sp>
      <p:sp>
        <p:nvSpPr>
          <p:cNvPr id="23" name="fig1-text_edge7">
            <a:extLst>
              <a:ext uri="{FF2B5EF4-FFF2-40B4-BE49-F238E27FC236}">
                <a16:creationId xmlns:a16="http://schemas.microsoft.com/office/drawing/2014/main" id="{117F3D43-7A7D-3E23-B704-0B144E79EF5A}"/>
              </a:ext>
            </a:extLst>
          </p:cNvPr>
          <p:cNvSpPr>
            <a:spLocks noGrp="1"/>
          </p:cNvSpPr>
          <p:nvPr/>
        </p:nvSpPr>
        <p:spPr>
          <a:xfrm>
            <a:off x="4406900" y="3013837"/>
            <a:ext cx="3111500" cy="227838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构造位置近似</a:t>
            </a:r>
          </a:p>
        </p:txBody>
      </p:sp>
      <p:sp>
        <p:nvSpPr>
          <p:cNvPr id="24" name="fig1-text_edge8">
            <a:extLst>
              <a:ext uri="{FF2B5EF4-FFF2-40B4-BE49-F238E27FC236}">
                <a16:creationId xmlns:a16="http://schemas.microsoft.com/office/drawing/2014/main" id="{8CA15B03-9C15-A8DF-20A2-CB58859DED9C}"/>
              </a:ext>
            </a:extLst>
          </p:cNvPr>
          <p:cNvSpPr>
            <a:spLocks noGrp="1"/>
          </p:cNvSpPr>
          <p:nvPr/>
        </p:nvSpPr>
        <p:spPr>
          <a:xfrm>
            <a:off x="5676900" y="3942715"/>
            <a:ext cx="1905000" cy="262890"/>
          </a:xfrm>
          <a:prstGeom prst="rect">
            <a:avLst/>
          </a:prstGeom>
          <a:noFill/>
        </p:spPr>
        <p:txBody>
          <a:bodyPr vert="horz" wrap="square" lIns="38100" tIns="0" rIns="38100" bIns="0" anchor="ctr">
            <a:noAutofit/>
          </a:bodyPr>
          <a:lstStyle/>
          <a:p>
            <a:pPr algn="ctr">
              <a:lnSpc>
                <a:spcPts val="1650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以相关性选位置</a:t>
            </a:r>
          </a:p>
        </p:txBody>
      </p:sp>
      <p:sp>
        <p:nvSpPr>
          <p:cNvPr id="27" name="fig1-edge6-1">
            <a:extLst>
              <a:ext uri="{FF2B5EF4-FFF2-40B4-BE49-F238E27FC236}">
                <a16:creationId xmlns:a16="http://schemas.microsoft.com/office/drawing/2014/main" id="{EBE9FE6F-4DE9-40B7-854F-912F934B3E16}"/>
              </a:ext>
            </a:extLst>
          </p:cNvPr>
          <p:cNvSpPr>
            <a:spLocks noGrp="1"/>
          </p:cNvSpPr>
          <p:nvPr/>
        </p:nvSpPr>
        <p:spPr>
          <a:xfrm>
            <a:off x="3924300" y="2470531"/>
            <a:ext cx="3746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8" name="fig1-edge7-1">
            <a:extLst>
              <a:ext uri="{FF2B5EF4-FFF2-40B4-BE49-F238E27FC236}">
                <a16:creationId xmlns:a16="http://schemas.microsoft.com/office/drawing/2014/main" id="{842611E2-61E5-459B-990F-30A6B0A1898B}"/>
              </a:ext>
            </a:extLst>
          </p:cNvPr>
          <p:cNvSpPr>
            <a:spLocks noGrp="1"/>
          </p:cNvSpPr>
          <p:nvPr/>
        </p:nvSpPr>
        <p:spPr>
          <a:xfrm>
            <a:off x="3924300" y="3329305"/>
            <a:ext cx="19050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9" name="fig1-edge7-2">
            <a:extLst>
              <a:ext uri="{FF2B5EF4-FFF2-40B4-BE49-F238E27FC236}">
                <a16:creationId xmlns:a16="http://schemas.microsoft.com/office/drawing/2014/main" id="{A7E8B7FB-8D99-41FD-B35B-234C749EC237}"/>
              </a:ext>
            </a:extLst>
          </p:cNvPr>
          <p:cNvSpPr>
            <a:spLocks noGrp="1"/>
          </p:cNvSpPr>
          <p:nvPr/>
        </p:nvSpPr>
        <p:spPr>
          <a:xfrm flipV="1">
            <a:off x="5829300" y="3285491"/>
            <a:ext cx="0" cy="43815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0" name="fig1-edge7-3">
            <a:extLst>
              <a:ext uri="{FF2B5EF4-FFF2-40B4-BE49-F238E27FC236}">
                <a16:creationId xmlns:a16="http://schemas.microsoft.com/office/drawing/2014/main" id="{4471CC2B-D35A-4E35-830F-BE1A7E629A92}"/>
              </a:ext>
            </a:extLst>
          </p:cNvPr>
          <p:cNvSpPr>
            <a:spLocks noGrp="1"/>
          </p:cNvSpPr>
          <p:nvPr/>
        </p:nvSpPr>
        <p:spPr>
          <a:xfrm>
            <a:off x="5829300" y="3285490"/>
            <a:ext cx="1841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1" name="fig1-edge8-1">
            <a:extLst>
              <a:ext uri="{FF2B5EF4-FFF2-40B4-BE49-F238E27FC236}">
                <a16:creationId xmlns:a16="http://schemas.microsoft.com/office/drawing/2014/main" id="{8DA49B01-0828-4EDF-97E9-FB40424C57B2}"/>
              </a:ext>
            </a:extLst>
          </p:cNvPr>
          <p:cNvSpPr>
            <a:spLocks noGrp="1"/>
          </p:cNvSpPr>
          <p:nvPr/>
        </p:nvSpPr>
        <p:spPr>
          <a:xfrm>
            <a:off x="3924300" y="3627247"/>
            <a:ext cx="15875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8-2">
            <a:extLst>
              <a:ext uri="{FF2B5EF4-FFF2-40B4-BE49-F238E27FC236}">
                <a16:creationId xmlns:a16="http://schemas.microsoft.com/office/drawing/2014/main" id="{85200C02-FFD9-44E5-8F1D-5B069FCC20C5}"/>
              </a:ext>
            </a:extLst>
          </p:cNvPr>
          <p:cNvSpPr>
            <a:spLocks noGrp="1"/>
          </p:cNvSpPr>
          <p:nvPr/>
        </p:nvSpPr>
        <p:spPr>
          <a:xfrm>
            <a:off x="5511800" y="3627247"/>
            <a:ext cx="0" cy="648462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8-3">
            <a:extLst>
              <a:ext uri="{FF2B5EF4-FFF2-40B4-BE49-F238E27FC236}">
                <a16:creationId xmlns:a16="http://schemas.microsoft.com/office/drawing/2014/main" id="{45942E4E-3B68-46B4-BDB4-3EB12D846741}"/>
              </a:ext>
            </a:extLst>
          </p:cNvPr>
          <p:cNvSpPr>
            <a:spLocks noGrp="1"/>
          </p:cNvSpPr>
          <p:nvPr/>
        </p:nvSpPr>
        <p:spPr>
          <a:xfrm>
            <a:off x="5511800" y="4275709"/>
            <a:ext cx="2159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aphicFrame>
        <p:nvGraphicFramePr>
          <p:cNvPr id="58" name="表格 33"/>
          <p:cNvGraphicFramePr/>
          <p:nvPr/>
        </p:nvGraphicFramePr>
        <p:xfrm>
          <a:off x="622300" y="4686300"/>
          <a:ext cx="10922000" cy="1193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文献版本示例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LS：White—Soman分支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绘图分数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对数Weibull次序统计量期望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按n分段的绘图概率，经双对数变换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回归与形状恢复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 = a + bz，β̂ = 1/b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 = a + bx，β̂ = b</a:t>
                      </a:r>
                    </a:p>
                  </a:txBody>
                  <a:tcPr marL="88900" marR="63500" marT="38100" marB="381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F4F7D4B8-3B61-04B5-DD2E-2EC108C8B53D}"/>
              </a:ext>
            </a:extLst>
          </p:cNvPr>
          <p:cNvSpPr>
            <a:spLocks noGrp="1"/>
          </p:cNvSpPr>
          <p:nvPr/>
        </p:nvSpPr>
        <p:spPr>
          <a:xfrm>
            <a:off x="622300" y="5969000"/>
            <a:ext cx="10922000" cy="254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r>
              <a:rPr sz="13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x为对数寿命，z为绘图分数。同一分数与带截距OLS下，F比与相关系数平方单调等价。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3EF18D-7F11-027F-6E7A-60212C24DFF2}"/>
              </a:ext>
            </a:extLst>
          </p:cNvPr>
          <p:cNvSpPr>
            <a:spLocks noGrp="1"/>
          </p:cNvSpPr>
          <p:nvPr/>
        </p:nvSpPr>
        <p:spPr>
          <a:xfrm>
            <a:off x="622300" y="6286500"/>
            <a:ext cx="10922000" cy="2286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Park保留原绘图位置和非负位置域；Bernard分数是另一变体。公式见附录B第11节。</a:t>
            </a: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改用统计量、间距或构造差异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A7D3A0-D900-C788-4169-A5B9277F249C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这三支分别采用统计量匹配、概率间距和尺度伪估计差异作为估计依据。</a:t>
            </a:r>
          </a:p>
        </p:txBody>
      </p:sp>
      <p:sp>
        <p:nvSpPr>
          <p:cNvPr id="10" name="fig1-pwm">
            <a:extLst>
              <a:ext uri="{FF2B5EF4-FFF2-40B4-BE49-F238E27FC236}">
                <a16:creationId xmlns:a16="http://schemas.microsoft.com/office/drawing/2014/main" id="{8F6A1F28-3F96-720B-92D4-29EDB54A21C1}"/>
              </a:ext>
            </a:extLst>
          </p:cNvPr>
          <p:cNvSpPr>
            <a:spLocks noGrp="1"/>
          </p:cNvSpPr>
          <p:nvPr/>
        </p:nvSpPr>
        <p:spPr>
          <a:xfrm>
            <a:off x="622300" y="22098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PWM 概率加权矩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Greenwood等 · 1979</a:t>
            </a:r>
          </a:p>
        </p:txBody>
      </p:sp>
      <p:sp>
        <p:nvSpPr>
          <p:cNvPr id="14" name="fig1-lm">
            <a:extLst>
              <a:ext uri="{FF2B5EF4-FFF2-40B4-BE49-F238E27FC236}">
                <a16:creationId xmlns:a16="http://schemas.microsoft.com/office/drawing/2014/main" id="{79657A67-AAA1-E8B8-BBAB-E8676A07F1B4}"/>
              </a:ext>
            </a:extLst>
          </p:cNvPr>
          <p:cNvSpPr>
            <a:spLocks noGrp="1"/>
          </p:cNvSpPr>
          <p:nvPr/>
        </p:nvSpPr>
        <p:spPr>
          <a:xfrm>
            <a:off x="7670800" y="22098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LM L矩估计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Hosking · 1990</a:t>
            </a:r>
          </a:p>
        </p:txBody>
      </p:sp>
      <p:sp>
        <p:nvSpPr>
          <p:cNvPr id="15" name="fig1-boundary">
            <a:extLst>
              <a:ext uri="{FF2B5EF4-FFF2-40B4-BE49-F238E27FC236}">
                <a16:creationId xmlns:a16="http://schemas.microsoft.com/office/drawing/2014/main" id="{7068ACF1-1F3E-F83A-8143-3AE0A34E1B55}"/>
              </a:ext>
            </a:extLst>
          </p:cNvPr>
          <p:cNvSpPr>
            <a:spLocks noGrp="1"/>
          </p:cNvSpPr>
          <p:nvPr/>
        </p:nvSpPr>
        <p:spPr>
          <a:xfrm>
            <a:off x="622300" y="33782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原始似然的边界困难</a:t>
            </a:r>
          </a:p>
        </p:txBody>
      </p:sp>
      <p:sp>
        <p:nvSpPr>
          <p:cNvPr id="16" name="fig1-mps">
            <a:extLst>
              <a:ext uri="{FF2B5EF4-FFF2-40B4-BE49-F238E27FC236}">
                <a16:creationId xmlns:a16="http://schemas.microsoft.com/office/drawing/2014/main" id="{F9B87335-C6B8-E869-E904-C4FCC2939D7E}"/>
              </a:ext>
            </a:extLst>
          </p:cNvPr>
          <p:cNvSpPr>
            <a:spLocks noGrp="1"/>
          </p:cNvSpPr>
          <p:nvPr/>
        </p:nvSpPr>
        <p:spPr>
          <a:xfrm>
            <a:off x="7670800" y="33782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MPS 最大乘积间距估计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Cheng &amp; Amin · 1983</a:t>
            </a:r>
          </a:p>
        </p:txBody>
      </p:sp>
      <p:sp>
        <p:nvSpPr>
          <p:cNvPr id="17" name="fig1-cdf">
            <a:extLst>
              <a:ext uri="{FF2B5EF4-FFF2-40B4-BE49-F238E27FC236}">
                <a16:creationId xmlns:a16="http://schemas.microsoft.com/office/drawing/2014/main" id="{76486402-F8C3-1669-77B5-09F0CAB966C1}"/>
              </a:ext>
            </a:extLst>
          </p:cNvPr>
          <p:cNvSpPr>
            <a:spLocks noGrp="1"/>
          </p:cNvSpPr>
          <p:nvPr/>
        </p:nvSpPr>
        <p:spPr>
          <a:xfrm>
            <a:off x="622300" y="4546600"/>
            <a:ext cx="3556000" cy="812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样本＋分布概率关系</a:t>
            </a:r>
          </a:p>
        </p:txBody>
      </p:sp>
      <p:sp>
        <p:nvSpPr>
          <p:cNvPr id="18" name="fig1-mdm">
            <a:extLst>
              <a:ext uri="{FF2B5EF4-FFF2-40B4-BE49-F238E27FC236}">
                <a16:creationId xmlns:a16="http://schemas.microsoft.com/office/drawing/2014/main" id="{A8026710-239E-5E15-6502-5B237C7F989E}"/>
              </a:ext>
            </a:extLst>
          </p:cNvPr>
          <p:cNvSpPr>
            <a:spLocks noGrp="1"/>
          </p:cNvSpPr>
          <p:nvPr/>
        </p:nvSpPr>
        <p:spPr>
          <a:xfrm>
            <a:off x="7670800" y="4546600"/>
            <a:ext cx="3873500" cy="8128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MDM 最小差异法</a:t>
            </a:r>
          </a:p>
          <a:p>
            <a:pPr algn="ctr">
              <a:lnSpc>
                <a:spcPts val="2006"/>
              </a:lnSpc>
              <a:buNone/>
            </a:pPr>
            <a:r>
              <a:rPr sz="17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Xie等 · 2022/2023</a:t>
            </a:r>
          </a:p>
        </p:txBody>
      </p:sp>
      <p:sp>
        <p:nvSpPr>
          <p:cNvPr id="19" name="fig1-text_edge9">
            <a:extLst>
              <a:ext uri="{FF2B5EF4-FFF2-40B4-BE49-F238E27FC236}">
                <a16:creationId xmlns:a16="http://schemas.microsoft.com/office/drawing/2014/main" id="{2FE5EADD-ADFB-A8B8-0F8A-2B8E9D08ED75}"/>
              </a:ext>
            </a:extLst>
          </p:cNvPr>
          <p:cNvSpPr>
            <a:spLocks noGrp="1"/>
          </p:cNvSpPr>
          <p:nvPr/>
        </p:nvSpPr>
        <p:spPr>
          <a:xfrm>
            <a:off x="4597400" y="20574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线性组合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L矩匹配</a:t>
            </a:r>
          </a:p>
        </p:txBody>
      </p:sp>
      <p:sp>
        <p:nvSpPr>
          <p:cNvPr id="20" name="fig1-text_edge10">
            <a:extLst>
              <a:ext uri="{FF2B5EF4-FFF2-40B4-BE49-F238E27FC236}">
                <a16:creationId xmlns:a16="http://schemas.microsoft.com/office/drawing/2014/main" id="{21C0CC91-0314-A0B8-A849-4FA030309BE7}"/>
              </a:ext>
            </a:extLst>
          </p:cNvPr>
          <p:cNvSpPr>
            <a:spLocks noGrp="1"/>
          </p:cNvSpPr>
          <p:nvPr/>
        </p:nvSpPr>
        <p:spPr>
          <a:xfrm>
            <a:off x="4597400" y="3327400"/>
            <a:ext cx="27305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改用间距乘积</a:t>
            </a:r>
          </a:p>
        </p:txBody>
      </p:sp>
      <p:sp>
        <p:nvSpPr>
          <p:cNvPr id="21" name="fig1-text_edge11">
            <a:extLst>
              <a:ext uri="{FF2B5EF4-FFF2-40B4-BE49-F238E27FC236}">
                <a16:creationId xmlns:a16="http://schemas.microsoft.com/office/drawing/2014/main" id="{7C4BB7F2-9BC5-7689-AFB0-B4C55F3E957D}"/>
              </a:ext>
            </a:extLst>
          </p:cNvPr>
          <p:cNvSpPr>
            <a:spLocks noGrp="1"/>
          </p:cNvSpPr>
          <p:nvPr/>
        </p:nvSpPr>
        <p:spPr>
          <a:xfrm>
            <a:off x="4597400" y="4394200"/>
            <a:ext cx="2730500" cy="5461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770"/>
              </a:lnSpc>
              <a:buNone/>
            </a:pPr>
            <a:r>
              <a:rPr sz="15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构造一致性准则</a:t>
            </a:r>
          </a:p>
        </p:txBody>
      </p:sp>
      <p:sp>
        <p:nvSpPr>
          <p:cNvPr id="22" name="panel-description">
            <a:extLst>
              <a:ext uri="{FF2B5EF4-FFF2-40B4-BE49-F238E27FC236}">
                <a16:creationId xmlns:a16="http://schemas.microsoft.com/office/drawing/2014/main" id="{5F699454-EC62-E30A-ADE7-F8AE441FA17A}"/>
              </a:ext>
            </a:extLst>
          </p:cNvPr>
          <p:cNvSpPr>
            <a:spLocks noGrp="1"/>
          </p:cNvSpPr>
          <p:nvPr/>
        </p:nvSpPr>
        <p:spPr>
          <a:xfrm>
            <a:off x="622300" y="55245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PWM经线性组合形成L矩。MPS针对似然边界困难，转而使用概率间距。</a:t>
            </a:r>
          </a:p>
          <a:p>
            <a:pPr>
              <a:lnSpc>
                <a:spcPts val="1888"/>
              </a:lnSpc>
              <a:buNone/>
            </a:pPr>
            <a:r>
              <a:rPr sz="16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MDM使尺度伪估计尽量一致；现有来源未确认它直接继承MPS或某个LS版本。</a:t>
            </a:r>
          </a:p>
        </p:txBody>
      </p:sp>
      <p:sp>
        <p:nvSpPr>
          <p:cNvPr id="23" name="panel-citations">
            <a:extLst>
              <a:ext uri="{FF2B5EF4-FFF2-40B4-BE49-F238E27FC236}">
                <a16:creationId xmlns:a16="http://schemas.microsoft.com/office/drawing/2014/main" id="{3F542315-CAB6-4DC0-0C5C-79FDA95058C1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  <a:def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PWM与L矩见报告2.4；MPS [182-116]；MDM [182-030]。虚线表示替代方案，不表示直接继承。</a:t>
            </a:r>
          </a:p>
        </p:txBody>
      </p:sp>
      <p:sp>
        <p:nvSpPr>
          <p:cNvPr id="24" name="fig1-edge9-1">
            <a:extLst>
              <a:ext uri="{FF2B5EF4-FFF2-40B4-BE49-F238E27FC236}">
                <a16:creationId xmlns:a16="http://schemas.microsoft.com/office/drawing/2014/main" id="{3A1D4A6E-DEC2-43B0-A844-2B6135F6D750}"/>
              </a:ext>
            </a:extLst>
          </p:cNvPr>
          <p:cNvSpPr>
            <a:spLocks noGrp="1"/>
          </p:cNvSpPr>
          <p:nvPr/>
        </p:nvSpPr>
        <p:spPr>
          <a:xfrm>
            <a:off x="4178300" y="26162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5" name="fig1-edge10-1">
            <a:extLst>
              <a:ext uri="{FF2B5EF4-FFF2-40B4-BE49-F238E27FC236}">
                <a16:creationId xmlns:a16="http://schemas.microsoft.com/office/drawing/2014/main" id="{C890E6A3-D462-4ABC-BB2F-49D5091459B3}"/>
              </a:ext>
            </a:extLst>
          </p:cNvPr>
          <p:cNvSpPr>
            <a:spLocks noGrp="1"/>
          </p:cNvSpPr>
          <p:nvPr/>
        </p:nvSpPr>
        <p:spPr>
          <a:xfrm>
            <a:off x="4178300" y="37846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6" name="fig1-edge11-1">
            <a:extLst>
              <a:ext uri="{FF2B5EF4-FFF2-40B4-BE49-F238E27FC236}">
                <a16:creationId xmlns:a16="http://schemas.microsoft.com/office/drawing/2014/main" id="{A6F7E876-371F-4252-969E-F1A3011346F4}"/>
              </a:ext>
            </a:extLst>
          </p:cNvPr>
          <p:cNvSpPr>
            <a:spLocks noGrp="1"/>
          </p:cNvSpPr>
          <p:nvPr/>
        </p:nvSpPr>
        <p:spPr>
          <a:xfrm>
            <a:off x="4178300" y="4953000"/>
            <a:ext cx="34925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组合与学习：统计量变换、步骤组合与直接映射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候选估计方法及其关系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A9E155-D276-0264-E48F-FD2B097FE8C3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组合已有统计关系、变换观测统计量，或直接学习参数映射，都形成了新的构造。</a:t>
            </a:r>
          </a:p>
        </p:txBody>
      </p:sp>
      <p:sp>
        <p:nvSpPr>
          <p:cNvPr id="18" name="fig1-min">
            <a:extLst>
              <a:ext uri="{FF2B5EF4-FFF2-40B4-BE49-F238E27FC236}">
                <a16:creationId xmlns:a16="http://schemas.microsoft.com/office/drawing/2014/main" id="{F4A32D05-D5F8-C7FA-7B79-CBBC460EAB28}"/>
              </a:ext>
            </a:extLst>
          </p:cNvPr>
          <p:cNvSpPr>
            <a:spLocks noGrp="1"/>
          </p:cNvSpPr>
          <p:nvPr/>
        </p:nvSpPr>
        <p:spPr>
          <a:xfrm>
            <a:off x="622300" y="2590800"/>
            <a:ext cx="3302000" cy="850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最小次序统计量与位置的关系</a:t>
            </a:r>
          </a:p>
        </p:txBody>
      </p:sp>
      <p:sp>
        <p:nvSpPr>
          <p:cNvPr id="19" name="fig1-sam23">
            <a:extLst>
              <a:ext uri="{FF2B5EF4-FFF2-40B4-BE49-F238E27FC236}">
                <a16:creationId xmlns:a16="http://schemas.microsoft.com/office/drawing/2014/main" id="{BE82563B-4C8F-E061-6E42-A8ABD30827F2}"/>
              </a:ext>
            </a:extLst>
          </p:cNvPr>
          <p:cNvSpPr>
            <a:spLocks noGrp="1"/>
          </p:cNvSpPr>
          <p:nvPr/>
        </p:nvSpPr>
        <p:spPr>
          <a:xfrm>
            <a:off x="7861300" y="21590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SAM 逐次逼近法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2023</a:t>
            </a:r>
          </a:p>
        </p:txBody>
      </p:sp>
      <p:sp>
        <p:nvSpPr>
          <p:cNvPr id="20" name="fig1-sam24">
            <a:extLst>
              <a:ext uri="{FF2B5EF4-FFF2-40B4-BE49-F238E27FC236}">
                <a16:creationId xmlns:a16="http://schemas.microsoft.com/office/drawing/2014/main" id="{6BDEA08A-AC64-B334-F1A0-C09DDFD52B98}"/>
              </a:ext>
            </a:extLst>
          </p:cNvPr>
          <p:cNvSpPr>
            <a:spLocks noGrp="1"/>
          </p:cNvSpPr>
          <p:nvPr/>
        </p:nvSpPr>
        <p:spPr>
          <a:xfrm>
            <a:off x="7861300" y="3098800"/>
            <a:ext cx="3683000" cy="7112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PM 逐次逼近构造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Guo等 · 2024</a:t>
            </a:r>
          </a:p>
        </p:txBody>
      </p:sp>
      <p:sp>
        <p:nvSpPr>
          <p:cNvPr id="21" name="fig1-nonregular">
            <a:extLst>
              <a:ext uri="{FF2B5EF4-FFF2-40B4-BE49-F238E27FC236}">
                <a16:creationId xmlns:a16="http://schemas.microsoft.com/office/drawing/2014/main" id="{560B9E70-1AC3-C43F-A90D-F5B4328F693A}"/>
              </a:ext>
            </a:extLst>
          </p:cNvPr>
          <p:cNvSpPr>
            <a:spLocks noGrp="1"/>
          </p:cNvSpPr>
          <p:nvPr/>
        </p:nvSpPr>
        <p:spPr>
          <a:xfrm>
            <a:off x="622300" y="41021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未知位置导致非正规似然</a:t>
            </a:r>
          </a:p>
        </p:txBody>
      </p:sp>
      <p:sp>
        <p:nvSpPr>
          <p:cNvPr id="22" name="fig1-naga">
            <a:extLst>
              <a:ext uri="{FF2B5EF4-FFF2-40B4-BE49-F238E27FC236}">
                <a16:creationId xmlns:a16="http://schemas.microsoft.com/office/drawing/2014/main" id="{7E8E9B17-1FC5-F3DB-FBAE-F24B11FEC65F}"/>
              </a:ext>
            </a:extLst>
          </p:cNvPr>
          <p:cNvSpPr>
            <a:spLocks noGrp="1"/>
          </p:cNvSpPr>
          <p:nvPr/>
        </p:nvSpPr>
        <p:spPr>
          <a:xfrm>
            <a:off x="7861300" y="41021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LSPF 变换统计量似然估计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Nagatsuka等 · 2013</a:t>
            </a:r>
          </a:p>
        </p:txBody>
      </p:sp>
      <p:sp>
        <p:nvSpPr>
          <p:cNvPr id="23" name="fig1-training">
            <a:extLst>
              <a:ext uri="{FF2B5EF4-FFF2-40B4-BE49-F238E27FC236}">
                <a16:creationId xmlns:a16="http://schemas.microsoft.com/office/drawing/2014/main" id="{EBA49D2F-16EA-1703-B109-F4D4D139E299}"/>
              </a:ext>
            </a:extLst>
          </p:cNvPr>
          <p:cNvSpPr>
            <a:spLocks noGrp="1"/>
          </p:cNvSpPr>
          <p:nvPr/>
        </p:nvSpPr>
        <p:spPr>
          <a:xfrm>
            <a:off x="622300" y="5029200"/>
            <a:ext cx="3302000" cy="66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3758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模拟样本特征＋参数标签</a:t>
            </a:r>
          </a:p>
        </p:txBody>
      </p:sp>
      <p:sp>
        <p:nvSpPr>
          <p:cNvPr id="24" name="fig1-bpnn">
            <a:extLst>
              <a:ext uri="{FF2B5EF4-FFF2-40B4-BE49-F238E27FC236}">
                <a16:creationId xmlns:a16="http://schemas.microsoft.com/office/drawing/2014/main" id="{0B37021B-D1A8-75B7-B97F-ACE95A3AA458}"/>
              </a:ext>
            </a:extLst>
          </p:cNvPr>
          <p:cNvSpPr>
            <a:spLocks noGrp="1"/>
          </p:cNvSpPr>
          <p:nvPr/>
        </p:nvSpPr>
        <p:spPr>
          <a:xfrm>
            <a:off x="7861300" y="5029200"/>
            <a:ext cx="3683000" cy="660400"/>
          </a:xfrm>
          <a:prstGeom prst="roundRect">
            <a:avLst>
              <a:gd name="adj" fmla="val 7000"/>
            </a:avLst>
          </a:prstGeom>
          <a:solidFill>
            <a:srgbClr val="E5F1E3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BPNN 神经网络参数估计</a:t>
            </a:r>
          </a:p>
          <a:p>
            <a:pPr algn="ctr">
              <a:lnSpc>
                <a:spcPts val="1888"/>
              </a:lnSpc>
              <a:buNone/>
            </a:pPr>
            <a:r>
              <a:rPr sz="16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Yang等 · 2025</a:t>
            </a:r>
          </a:p>
        </p:txBody>
      </p:sp>
      <p:sp>
        <p:nvSpPr>
          <p:cNvPr id="25" name="fig1-text_edge12">
            <a:extLst>
              <a:ext uri="{FF2B5EF4-FFF2-40B4-BE49-F238E27FC236}">
                <a16:creationId xmlns:a16="http://schemas.microsoft.com/office/drawing/2014/main" id="{A39D4504-6D3C-4F45-604D-8FA9DCA9E3AE}"/>
              </a:ext>
            </a:extLst>
          </p:cNvPr>
          <p:cNvSpPr>
            <a:spLocks noGrp="1"/>
          </p:cNvSpPr>
          <p:nvPr/>
        </p:nvSpPr>
        <p:spPr>
          <a:xfrm>
            <a:off x="4508500" y="19685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极小样本位置估计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期望修正与回归更新</a:t>
            </a:r>
          </a:p>
        </p:txBody>
      </p:sp>
      <p:sp>
        <p:nvSpPr>
          <p:cNvPr id="26" name="fig1-text_edge13">
            <a:extLst>
              <a:ext uri="{FF2B5EF4-FFF2-40B4-BE49-F238E27FC236}">
                <a16:creationId xmlns:a16="http://schemas.microsoft.com/office/drawing/2014/main" id="{9D252892-336F-E75F-64E6-39939F60DFA7}"/>
              </a:ext>
            </a:extLst>
          </p:cNvPr>
          <p:cNvSpPr>
            <a:spLocks noGrp="1"/>
          </p:cNvSpPr>
          <p:nvPr/>
        </p:nvSpPr>
        <p:spPr>
          <a:xfrm>
            <a:off x="4508500" y="2908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位置与区间推断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分位数修正与似然更新</a:t>
            </a:r>
          </a:p>
        </p:txBody>
      </p:sp>
      <p:sp>
        <p:nvSpPr>
          <p:cNvPr id="27" name="fig1-text_edge14">
            <a:extLst>
              <a:ext uri="{FF2B5EF4-FFF2-40B4-BE49-F238E27FC236}">
                <a16:creationId xmlns:a16="http://schemas.microsoft.com/office/drawing/2014/main" id="{0413E637-A378-6B9B-23CC-3A26256D0E1E}"/>
              </a:ext>
            </a:extLst>
          </p:cNvPr>
          <p:cNvSpPr>
            <a:spLocks noGrp="1"/>
          </p:cNvSpPr>
          <p:nvPr/>
        </p:nvSpPr>
        <p:spPr>
          <a:xfrm>
            <a:off x="4508500" y="38862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处理存在性与唯一性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变换后估计形状</a:t>
            </a:r>
          </a:p>
        </p:txBody>
      </p:sp>
      <p:sp>
        <p:nvSpPr>
          <p:cNvPr id="28" name="fig1-text_edge15">
            <a:extLst>
              <a:ext uri="{FF2B5EF4-FFF2-40B4-BE49-F238E27FC236}">
                <a16:creationId xmlns:a16="http://schemas.microsoft.com/office/drawing/2014/main" id="{BCDBD5C7-EF55-AAAB-F0B7-7791DE34D102}"/>
              </a:ext>
            </a:extLst>
          </p:cNvPr>
          <p:cNvSpPr>
            <a:spLocks noGrp="1"/>
          </p:cNvSpPr>
          <p:nvPr/>
        </p:nvSpPr>
        <p:spPr>
          <a:xfrm>
            <a:off x="4508500" y="4813300"/>
            <a:ext cx="3136900" cy="5207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小样本估计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学习特征到参数映射</a:t>
            </a:r>
          </a:p>
        </p:txBody>
      </p:sp>
      <p:sp>
        <p:nvSpPr>
          <p:cNvPr id="29" name="panel-description">
            <a:extLst>
              <a:ext uri="{FF2B5EF4-FFF2-40B4-BE49-F238E27FC236}">
                <a16:creationId xmlns:a16="http://schemas.microsoft.com/office/drawing/2014/main" id="{638B9803-B925-A14B-CFEE-AC8D91CE32BB}"/>
              </a:ext>
            </a:extLst>
          </p:cNvPr>
          <p:cNvSpPr>
            <a:spLocks noGrp="1"/>
          </p:cNvSpPr>
          <p:nvPr/>
        </p:nvSpPr>
        <p:spPr>
          <a:xfrm>
            <a:off x="622300" y="58801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SAM用最小值期望结合回归，PM用最小值中位数结合条件似然，未确认直接升级关系。</a:t>
            </a:r>
          </a:p>
          <a:p>
            <a:pPr>
              <a:lnSpc>
                <a:spcPts val="1652"/>
              </a:lnSpc>
              <a:buNone/>
            </a:pPr>
            <a:r>
              <a:rPr sz="14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LSPF通过变换统计量构造似然；BPNN直接学习样本特征到参数的映射。</a:t>
            </a:r>
          </a:p>
        </p:txBody>
      </p:sp>
      <p:sp>
        <p:nvSpPr>
          <p:cNvPr id="30" name="panel-citations">
            <a:extLst>
              <a:ext uri="{FF2B5EF4-FFF2-40B4-BE49-F238E27FC236}">
                <a16:creationId xmlns:a16="http://schemas.microsoft.com/office/drawing/2014/main" id="{FFF163E1-9DEA-A44C-8F7B-54741DC29B7F}"/>
              </a:ext>
            </a:extLst>
          </p:cNvPr>
          <p:cNvSpPr>
            <a:spLocks noGrp="1"/>
          </p:cNvSpPr>
          <p:nvPr/>
        </p:nvSpPr>
        <p:spPr>
          <a:xfrm>
            <a:off x="622300" y="6350000"/>
            <a:ext cx="10922000" cy="1778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1180"/>
              </a:lnSpc>
              <a:buNone/>
            </a:pPr>
            <a:r>
              <a:rPr sz="1000">
                <a:solidFill>
                  <a:srgbClr val="787878"/>
                </a:solidFill>
                <a:latin typeface="Microsoft YaHei"/>
                <a:ea typeface="Microsoft YaHei"/>
                <a:cs typeface="Microsoft YaHei"/>
              </a:rPr>
              <a:t>SAM [185-005]；PM [182-117]；LSPF [182-113]；BPNN [184-009]。BPNN是近期实例，不是该路线起点。</a:t>
            </a:r>
          </a:p>
        </p:txBody>
      </p:sp>
      <p:sp>
        <p:nvSpPr>
          <p:cNvPr id="31" name="fig1-edge12-1">
            <a:extLst>
              <a:ext uri="{FF2B5EF4-FFF2-40B4-BE49-F238E27FC236}">
                <a16:creationId xmlns:a16="http://schemas.microsoft.com/office/drawing/2014/main" id="{452576A1-345E-4E2D-8C01-0CE15F07CCAE}"/>
              </a:ext>
            </a:extLst>
          </p:cNvPr>
          <p:cNvSpPr>
            <a:spLocks noGrp="1"/>
          </p:cNvSpPr>
          <p:nvPr/>
        </p:nvSpPr>
        <p:spPr>
          <a:xfrm>
            <a:off x="3924300" y="28067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2" name="fig1-edge12-2">
            <a:extLst>
              <a:ext uri="{FF2B5EF4-FFF2-40B4-BE49-F238E27FC236}">
                <a16:creationId xmlns:a16="http://schemas.microsoft.com/office/drawing/2014/main" id="{5407042D-DCF5-41D8-85E2-32F15755A26D}"/>
              </a:ext>
            </a:extLst>
          </p:cNvPr>
          <p:cNvSpPr>
            <a:spLocks noGrp="1"/>
          </p:cNvSpPr>
          <p:nvPr/>
        </p:nvSpPr>
        <p:spPr>
          <a:xfrm flipV="1">
            <a:off x="4254500" y="2514600"/>
            <a:ext cx="0" cy="292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2-3">
            <a:extLst>
              <a:ext uri="{FF2B5EF4-FFF2-40B4-BE49-F238E27FC236}">
                <a16:creationId xmlns:a16="http://schemas.microsoft.com/office/drawing/2014/main" id="{202363D9-6939-4A49-81ED-D671F964A62E}"/>
              </a:ext>
            </a:extLst>
          </p:cNvPr>
          <p:cNvSpPr>
            <a:spLocks noGrp="1"/>
          </p:cNvSpPr>
          <p:nvPr/>
        </p:nvSpPr>
        <p:spPr>
          <a:xfrm>
            <a:off x="4254500" y="25146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3-1">
            <a:extLst>
              <a:ext uri="{FF2B5EF4-FFF2-40B4-BE49-F238E27FC236}">
                <a16:creationId xmlns:a16="http://schemas.microsoft.com/office/drawing/2014/main" id="{9FEB2136-BE5B-4931-BE33-74D86A178EE8}"/>
              </a:ext>
            </a:extLst>
          </p:cNvPr>
          <p:cNvSpPr>
            <a:spLocks noGrp="1"/>
          </p:cNvSpPr>
          <p:nvPr/>
        </p:nvSpPr>
        <p:spPr>
          <a:xfrm>
            <a:off x="3924300" y="3225800"/>
            <a:ext cx="3302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13-2">
            <a:extLst>
              <a:ext uri="{FF2B5EF4-FFF2-40B4-BE49-F238E27FC236}">
                <a16:creationId xmlns:a16="http://schemas.microsoft.com/office/drawing/2014/main" id="{A6FB6B0D-245C-42CB-92BA-F03998FF8565}"/>
              </a:ext>
            </a:extLst>
          </p:cNvPr>
          <p:cNvSpPr>
            <a:spLocks noGrp="1"/>
          </p:cNvSpPr>
          <p:nvPr/>
        </p:nvSpPr>
        <p:spPr>
          <a:xfrm>
            <a:off x="4254500" y="3225800"/>
            <a:ext cx="0" cy="2286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13-3">
            <a:extLst>
              <a:ext uri="{FF2B5EF4-FFF2-40B4-BE49-F238E27FC236}">
                <a16:creationId xmlns:a16="http://schemas.microsoft.com/office/drawing/2014/main" id="{3617336A-479E-4FFF-9C7D-F0059EB16568}"/>
              </a:ext>
            </a:extLst>
          </p:cNvPr>
          <p:cNvSpPr>
            <a:spLocks noGrp="1"/>
          </p:cNvSpPr>
          <p:nvPr/>
        </p:nvSpPr>
        <p:spPr>
          <a:xfrm>
            <a:off x="4254500" y="3454400"/>
            <a:ext cx="36068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14-1">
            <a:extLst>
              <a:ext uri="{FF2B5EF4-FFF2-40B4-BE49-F238E27FC236}">
                <a16:creationId xmlns:a16="http://schemas.microsoft.com/office/drawing/2014/main" id="{3FD4FDEA-8789-4E2E-8F00-569D1C5AAE1E}"/>
              </a:ext>
            </a:extLst>
          </p:cNvPr>
          <p:cNvSpPr>
            <a:spLocks noGrp="1"/>
          </p:cNvSpPr>
          <p:nvPr/>
        </p:nvSpPr>
        <p:spPr>
          <a:xfrm>
            <a:off x="3924300" y="44323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15-1">
            <a:extLst>
              <a:ext uri="{FF2B5EF4-FFF2-40B4-BE49-F238E27FC236}">
                <a16:creationId xmlns:a16="http://schemas.microsoft.com/office/drawing/2014/main" id="{C97E0014-B02C-43E1-A9F4-FD229655B7D5}"/>
              </a:ext>
            </a:extLst>
          </p:cNvPr>
          <p:cNvSpPr>
            <a:spLocks noGrp="1"/>
          </p:cNvSpPr>
          <p:nvPr/>
        </p:nvSpPr>
        <p:spPr>
          <a:xfrm>
            <a:off x="3924300" y="5359400"/>
            <a:ext cx="3937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0E1FE6-BAAC-4857-A4E3-72F5E6C98FA8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MLE出现7篇，相关回归LRE出现4篇；采用频次说明比较实践，不代表性能排名。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352804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论文／提出方法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LRE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CMLE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MMoE</a:t>
                      </a:r>
                    </a:p>
                  </a:txBody>
                  <a:tcPr marL="38100" marR="28575" marT="0" marB="0" anchor="ctr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修正估计 1982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ANN 2008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比较研究 2009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 2013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综合比较 2014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迭代LS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 2024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 2025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ADGBO 2026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●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86">
                <a:tc>
                  <a:txBody>
                    <a:bodyPr/>
                    <a:lstStyle/>
                    <a:p>
                      <a:pPr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采用篇数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F609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38100" marR="28575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D5B26DC-17BF-4468-8071-682D5CC62838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对照展示12篇；指标统计13篇（另含MDM论文）。同一审核主子集，范围不同。</a:t>
            </a: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近期工作：估计构造、观测条件与求解过程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FE6FF3-C7E8-DD81-6816-CD36888990A5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</a:pPr>
            <a:r>
              <a:rPr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近10—20年的新工作，并不都在同一任务下竞争。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04D4E2-A117-82A7-4055-45AEF192AE6E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72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近期创新同时涉及估计构造、观测条件和求解过程，比较时先看是否解决同一问题。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E31587-3EF2-3708-8EA4-E4AE09E814B6}"/>
              </a:ext>
            </a:extLst>
          </p:cNvPr>
          <p:cNvSpPr>
            <a:spLocks noGrp="1"/>
          </p:cNvSpPr>
          <p:nvPr/>
        </p:nvSpPr>
        <p:spPr>
          <a:xfrm>
            <a:off x="622300" y="24765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改估计构造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762B04-7DF6-2EE4-F31F-3DFCBE1C83B5}"/>
              </a:ext>
            </a:extLst>
          </p:cNvPr>
          <p:cNvSpPr>
            <a:spLocks noGrp="1"/>
          </p:cNvSpPr>
          <p:nvPr/>
        </p:nvSpPr>
        <p:spPr>
          <a:xfrm>
            <a:off x="2933700" y="24765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有限样本、位置和偏差：WMLE、Park、SAM/PM、DMMLE。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96BDCF-4100-5E60-3EB4-9312AA225023}"/>
              </a:ext>
            </a:extLst>
          </p:cNvPr>
          <p:cNvSpPr>
            <a:spLocks noGrp="1"/>
          </p:cNvSpPr>
          <p:nvPr/>
        </p:nvSpPr>
        <p:spPr>
          <a:xfrm>
            <a:off x="2933700" y="29337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直接学习映射也属相关构造，要核训练范围与损失。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2AAE2C-08DC-94CE-0A17-746F62F0AB28}"/>
              </a:ext>
            </a:extLst>
          </p:cNvPr>
          <p:cNvSpPr>
            <a:spLocks noGrp="1"/>
          </p:cNvSpPr>
          <p:nvPr/>
        </p:nvSpPr>
        <p:spPr>
          <a:xfrm>
            <a:off x="622300" y="35941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改观测条件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5668768-2A2A-4E3B-2B78-A189DDC6BFB7}"/>
              </a:ext>
            </a:extLst>
          </p:cNvPr>
          <p:cNvSpPr>
            <a:spLocks noGrp="1"/>
          </p:cNvSpPr>
          <p:nvPr/>
        </p:nvSpPr>
        <p:spPr>
          <a:xfrm>
            <a:off x="2933700" y="35941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污染、删失等：PITE [182-003]、删失研究 [182-114]。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829A61D-CFD6-9AA8-0B9F-514C376D83C6}"/>
              </a:ext>
            </a:extLst>
          </p:cNvPr>
          <p:cNvSpPr>
            <a:spLocks noGrp="1"/>
          </p:cNvSpPr>
          <p:nvPr/>
        </p:nvSpPr>
        <p:spPr>
          <a:xfrm>
            <a:off x="2933700" y="40513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与完整样本任务不同，特殊情境中的排名不能直接移用。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95A7F3-14D6-A065-D07F-43881FCB45B0}"/>
              </a:ext>
            </a:extLst>
          </p:cNvPr>
          <p:cNvSpPr>
            <a:spLocks noGrp="1"/>
          </p:cNvSpPr>
          <p:nvPr/>
        </p:nvSpPr>
        <p:spPr>
          <a:xfrm>
            <a:off x="622300" y="4711700"/>
            <a:ext cx="2082800" cy="4445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860"/>
              </a:lnSpc>
              <a:buNone/>
            </a:pPr>
            <a:r>
              <a:rPr sz="22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改求解过程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57CEA-8DC3-A10C-8854-46FCE3CC0C15}"/>
              </a:ext>
            </a:extLst>
          </p:cNvPr>
          <p:cNvSpPr>
            <a:spLocks noGrp="1"/>
          </p:cNvSpPr>
          <p:nvPr/>
        </p:nvSpPr>
        <p:spPr>
          <a:xfrm>
            <a:off x="2933700" y="4711700"/>
            <a:ext cx="8559800" cy="3937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保留统计目标，改善搜索：ADGBO [187-001]、PSO等。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64FA82-2916-7541-E4BD-51CCAEE83CA4}"/>
              </a:ext>
            </a:extLst>
          </p:cNvPr>
          <p:cNvSpPr>
            <a:spLocks noGrp="1"/>
          </p:cNvSpPr>
          <p:nvPr/>
        </p:nvSpPr>
        <p:spPr>
          <a:xfrm>
            <a:off x="2933700" y="5168900"/>
            <a:ext cx="8559800" cy="381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</a:pPr>
            <a:r>
              <a:rPr sz="1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先核目标与约束，再判断是否属于MLE。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近期候选提供的比较证据与边界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270D80-DB91-41EC-A17C-1B65588111B7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比较证据必须同时给出样本条件、评价指标和结论范围。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19350"/>
          <a:ext cx="10972800" cy="3333750"/>
        </p:xfrm>
        <a:graphic>
          <a:graphicData uri="http://schemas.openxmlformats.org/drawingml/2006/table">
            <a:tbl>
              <a:tblPr/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工作与条件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已有比较证据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不能直接外推的结论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WMLE／LSPF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n=8—32／10—500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WMLE有小样本修正证据；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LSPF作者按n提出不同建议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WMLE版本有差异；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可解性不等于RMSE最优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SAM／PM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n=5—20／另有n=5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SAM极小样本平均MAD较好；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PM比较LSE、MLE、PWM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SAM未检验β&lt;1；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两版尚无直接性能比较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对CCM、MDM比较参数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及1%分位点SD、RMSE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训练域有界；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原输入和配置仍有缺口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n=50—1000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相对偏差改善，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RMSE总体接近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尚不能据原实验判断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n=5—20的表现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9C808BA-CF7E-4FFD-8217-A0E0BFE50A3B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这些结果来自各篇内部比较，不构成跨论文统一排名。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对照选择原则：每个角色回答一个问题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文献中的实际比较依据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11EBC-B8DC-4358-8D0A-B31C760B6F5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已核文献尚未形成统一固定组合，但可以归纳出按比较作用选对手的原则。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333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对手角色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为什么需要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共同经典基准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与历史结果建立联系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有竞争力的有限样本方法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防止只战胜较弱基线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同任务近期方法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回答新方法相对于当前研究的表现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识别新增步骤本身带来的收益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特殊场景方法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仅在数据条件与相应主张匹配时纳入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5077C12-D1FE-4186-958A-344A846FA61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同一方法可以兼任多个角色；具体推荐在明确评价规则后给出。</a:t>
            </a: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Carlo：精度、波动与有效求解率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96DBA2-C84C-4647-9587-4D83BC4F7B5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各方法处理同一批生成样本，分别报告β、η、γ，按样本量与参数条件展示。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419350"/>
          <a:ext cx="10972800" cy="30099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主指标或记录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怎样解释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估得准不准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Bias、RMSE（或MSE）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系统偏差与总体误差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抽样稳不稳定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重复抽样造成的波动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能否有效求解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有效率／失败率及原因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给定版本与计算预算下的表现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优势出现在哪里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真参数、n、重复次数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保留条件差异，不只报总体平均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B4BC099-B7C6-4834-B2C5-C1E09FE990E5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建议以n=5—30为重点，补n=50或100；每条件1000次起，按模拟精度增加。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B5AF19-5148-480E-8BED-7649AD89702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已核13篇：逐参数RMSE 7篇、SD 5篇、Bias 4篇；频次不是指标选择的唯一依据。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失败处理：精度必须连同有效率一起报告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Monte Carlo评价依据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43A4D2-266F-4B41-031B-07FBAA0792B4}"/>
              </a:ext>
            </a:extLst>
          </p:cNvPr>
          <p:cNvSpPr>
            <a:spLocks noGrp="1"/>
          </p:cNvSpPr>
          <p:nvPr/>
        </p:nvSpPr>
        <p:spPr>
          <a:xfrm>
            <a:off x="622300" y="1676400"/>
            <a:ext cx="10922000" cy="5588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340"/>
              </a:lnSpc>
              <a:buNone/>
              <a:def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无有限最大值、数值未收敛与越界输出分开记录；不把程序失败等同于理论无解。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C56FF3-588F-AD51-73D3-B8671BC60424}"/>
              </a:ext>
            </a:extLst>
          </p:cNvPr>
          <p:cNvSpPr>
            <a:spLocks noGrp="1"/>
          </p:cNvSpPr>
          <p:nvPr/>
        </p:nvSpPr>
        <p:spPr>
          <a:xfrm>
            <a:off x="622300" y="5981700"/>
            <a:ext cx="10922000" cy="5080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lnSpc>
                <a:spcPts val="2210"/>
              </a:lnSpc>
              <a:buNone/>
              <a:defRPr sz="1575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误差按有效估计计算并标明数量；共同成功样本比较仍是条件结果，不能替代失败统计。</a:t>
            </a:r>
          </a:p>
        </p:txBody>
      </p:sp>
      <p:graphicFrame>
        <p:nvGraphicFramePr>
          <p:cNvPr id="15" name="表格 7"/>
          <p:cNvGraphicFramePr/>
          <p:nvPr/>
        </p:nvGraphicFramePr>
        <p:xfrm>
          <a:off x="622300" y="24130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原文处理实例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本研究应怎样报告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仅比较收敛样本 [182-096]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成为筛样后的条件精度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给全部次数、有效数与失败原因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限制参数并报未得到估计数 [182-091]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约束与计算预算影响成功率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预先声明参数域、预算与接受规则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失败用零作图标记 [182-030]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零并非有效参数估计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不得把标记值代入RMSE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剔除极端输出 [182-101]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有效极端值也会改变尾部风险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披露筛选规则与统计分母</a:t>
                      </a:r>
                    </a:p>
                  </a:txBody>
                  <a:tcPr marL="114300" marR="101600" marT="63500" marB="50800" anchor="ctr">
                    <a:lnL w="6350" cmpd="sng">
                      <a:solidFill>
                        <a:srgbClr val="DDDDDD"/>
                      </a:solidFill>
                    </a:lnL>
                    <a:lnR w="6350" cmpd="sng">
                      <a:solidFill>
                        <a:srgbClr val="DDDDDD"/>
                      </a:solidFill>
                    </a:lnR>
                    <a:lnT w="6350" cmpd="sng">
                      <a:solidFill>
                        <a:srgbClr val="DDDDDD"/>
                      </a:solidFill>
                    </a:lnT>
                    <a:lnB w="6350" cmpd="sng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真实数据：实际可用性、拟合与寿命量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真实数据的作用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994507-8E5F-46F1-B013-23E8B80D3186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通常没有参数真值；真实数据支持应用解释，不能直接证明参数估计更准确。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09600" y="2571750"/>
          <a:ext cx="10972800" cy="2686050"/>
        </p:xfrm>
        <a:graphic>
          <a:graphicData uri="http://schemas.openxmlformats.org/drawingml/2006/table">
            <a:tbl>
              <a:tblPr/>
              <a:tblGrid>
                <a:gridCol w="329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来源与真实样本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实际评价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支持的结论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BPNN：15点疲劳寿命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与CCM、MDM比较K-S、CDF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这组数据的应用与拟合表现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LSPF：10点、4点寿命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参数、变换似然及不收敛记录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困难样本上的可计算性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SAM：10点、4点寿命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K-S、CDF、MTTF与可靠寿命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应用差异；部分为历史参照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38687B6-A49A-4AD6-8E6C-1AD8B0EDD8BA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可以比较多个方法，也可以只展示新方法应用；案例选择应服务于要说明的问题。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48248-BEE3-46AD-B1F5-CD59D619E7F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只有涉及稳定性、预测或区间主张时，再增加相应验证。</a:t>
            </a:r>
          </a:p>
        </p:txBody>
      </p:sp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最小推荐比较组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DCD40E-FDDC-4FFC-B50A-DB2EF1DE384A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 + WMLE + Park Proposed+Plot + SAM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57450"/>
          <a:ext cx="10972800" cy="3162300"/>
        </p:xfrm>
        <a:graphic>
          <a:graphicData uri="http://schemas.openxmlformats.org/drawingml/2006/table">
            <a:tbl>
              <a:tblPr/>
              <a:tblGrid>
                <a:gridCol w="42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方法与具体版本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选择依据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MLE：明确局部或受限实现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共同经典参照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常见基线，联系既有结果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WMLE：Cousineau J类权重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有限样本修正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小样本权重构造与后续采用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2017：Proposed+Plot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不同估计依据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相关系数定位与概率图恢复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2023：形状由样本估计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近期同任务竞争者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原文直接覆盖n=5—20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4C72E68-732B-4190-A389-3857F87D2F2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这是面向共同适用域的推荐组，不是文献统一组合；入选理由不预判性能排序。</a:t>
            </a: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根据新方法的改进目标追加对手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100E04-C5FA-4167-BE13-1C739F22BA8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如果新方法改进某个已有估计器，直接母方法必须保留。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371725"/>
          <a:ext cx="10972800" cy="3476625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需要检验的主张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追加方法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比较作用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回归构造或位置修正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Soman–Misra LS；PM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区分绘图、回归及位置更新的收益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低形状、可解性或不同准则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MPS；LSPF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检验间距或变换统计量构造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似然偏差修正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比较近期得分修正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学习估计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BPNN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对比同任务学习构造，先补齐配置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改进已有方法／扩展路线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直接母方法；PWM／L矩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识别新增步骤，或补充矩类参照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501F5804-D50B-4947-9783-6BA44BBB3916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按研究主张增补；超出原适用域时，单列扩展条件并说明版本变化。</a:t>
            </a:r>
          </a:p>
        </p:txBody>
      </p:sp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正式比较前需明确的版本与实现边界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E4C33A-ADA3-4CFB-9460-46784DB72B2C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方法名称要对应具体构造；推荐纳入不等于已经完成复现。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609600" y="2400300"/>
          <a:ext cx="10972800" cy="32861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需要固定的版本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当前需注意</a:t>
                      </a:r>
                    </a:p>
                  </a:txBody>
                  <a:tcPr marL="95250" marR="76200" marT="66675" marB="47625"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局部／受限解，参数域与接受规则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不将无界全局目标当作一般收敛问题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J权重、权重表及代入方式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Ng代入与其他更新版本分开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Park Proposed+Plot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原绘图概率、Plot恢复与非负位置域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Bernard分数是另一变体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 2023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形状未知分支、停止与边界重试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两个原文例已复现；</a:t>
                      </a:r>
                    </a:p>
                    <a:p>
                      <a:r>
                        <a:rPr sz="1650" b="0">
                          <a:solidFill>
                            <a:srgbClr val="1825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后期越域重试待澄清</a:t>
                      </a:r>
                    </a:p>
                  </a:txBody>
                  <a:tcPr marL="95250" marR="76200" marT="66675" marB="476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91DC32C-238D-4E6F-BFD1-666B12AD13A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原版与补救版分开命名；有效输出、回退流程和计算预算一起记录。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有效性判断需要形成完整证据链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综合评价建议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05129-F54E-4AA0-88C7-37CB694799D0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先明确对手与评价条件，再据统计结果和应用表现限定结论。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F032A-1765-4F9D-86B3-3784D0C03E15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和谁比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E60471-8E17-4730-97AC-B1AEA05DA493}"/>
              </a:ext>
            </a:extLst>
          </p:cNvPr>
          <p:cNvSpPr>
            <a:spLocks noGrp="1"/>
          </p:cNvSpPr>
          <p:nvPr/>
        </p:nvSpPr>
        <p:spPr>
          <a:xfrm>
            <a:off x="3648075" y="242887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最小组：MLE、WMLE、Park Proposed+Plot、SAM；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再按主张追加相关对手，保留直接母方法。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5D9C8A-2798-4E5E-AF0B-2D5EDCD5A54B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怎样比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58780B-E0E8-4EF7-83DF-4B66516B27C4}"/>
              </a:ext>
            </a:extLst>
          </p:cNvPr>
          <p:cNvSpPr>
            <a:spLocks noGrp="1"/>
          </p:cNvSpPr>
          <p:nvPr/>
        </p:nvSpPr>
        <p:spPr>
          <a:xfrm>
            <a:off x="3648075" y="327660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共同Monte Carlo，逐参数Bias、RMSE、SD；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同时报告有效率、失败原因与成功样本数。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CE192-94AC-4072-A47B-D891E4C3A701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真实数据说明什么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6F538C-083F-4FBF-A6B6-4A69996A0F31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展示可用性、拟合与寿命量；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不以同数据拟合较好代替参数精度证据。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058099-3B78-4182-8B3D-D27FBA6305E2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E5A10"/>
                </a:solidFill>
                <a:latin typeface="Microsoft YaHei"/>
                <a:ea typeface="Microsoft YaHei"/>
                <a:cs typeface="Microsoft YaHei"/>
              </a:rPr>
              <a:t>最终怎样下结论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D87CE4-D445-4DE8-8DC2-03DABE07CCF0}"/>
              </a:ext>
            </a:extLst>
          </p:cNvPr>
          <p:cNvSpPr>
            <a:spLocks noGrp="1"/>
          </p:cNvSpPr>
          <p:nvPr/>
        </p:nvSpPr>
        <p:spPr>
          <a:xfrm>
            <a:off x="3648075" y="4972050"/>
            <a:ext cx="78581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指出优势出现的样本量、参数条件和评价量，</a:t>
            </a:r>
          </a:p>
          <a:p>
            <a:pPr>
              <a:def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538"/>
                </a:solidFill>
                <a:latin typeface="Microsoft YaHei"/>
                <a:ea typeface="Microsoft YaHei"/>
                <a:cs typeface="Microsoft YaHei"/>
              </a:rPr>
              <a:t>同时说明波动、失败或适用范围方面的代价。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1EC082-8A54-4A24-B30E-55AA9087AD55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结论应回答：相对于谁、在哪些条件下、改善什么，以及仍有哪些局限。</a:t>
            </a:r>
          </a:p>
        </p:txBody>
      </p:sp>
    </p:spTree>
    <p:extLst>
      <p:ext uri="{BB962C8B-B14F-4D97-AF65-F5344CB8AC3E}">
        <p14:creationId xmlns:p14="http://schemas.microsoft.com/office/powerpoint/2010/main" val="1940379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2077</Words>
  <Application>Microsoft Office PowerPoint</Application>
  <DocSecurity>0</DocSecurity>
  <PresentationFormat>宽屏</PresentationFormat>
  <Paragraphs>436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33</cp:revision>
  <dcterms:created xsi:type="dcterms:W3CDTF">2026-09-06T04:22:26Z</dcterms:created>
  <dcterms:modified xsi:type="dcterms:W3CDTF">2026-09-28T07:58:38Z</dcterms:modified>
</cp:coreProperties>
</file>