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63" r:id="rId3"/>
  </p:sldMasterIdLst>
  <p:notesMasterIdLst>
    <p:notesMasterId r:id="rId21"/>
  </p:notesMasterIdLst>
  <p:sldIdLst>
    <p:sldId id="256" r:id="rId4"/>
    <p:sldId id="258" r:id="rId5"/>
    <p:sldId id="259" r:id="rId6"/>
    <p:sldId id="273" r:id="rId7"/>
    <p:sldId id="274" r:id="rId8"/>
    <p:sldId id="275" r:id="rId9"/>
    <p:sldId id="276" r:id="rId10"/>
    <p:sldId id="263" r:id="rId11"/>
    <p:sldId id="264" r:id="rId12"/>
    <p:sldId id="265" r:id="rId13"/>
    <p:sldId id="266" r:id="rId14"/>
    <p:sldId id="267" r:id="rId15"/>
    <p:sldId id="268" r:id="rId16"/>
    <p:sldId id="269" r:id="rId17"/>
    <p:sldId id="270" r:id="rId18"/>
    <p:sldId id="271" r:id="rId19"/>
    <p:sldId id="272" r:id="rId2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E3753D0-92AB-4620-8DB3-57A31C4D162D}" styleName="表样式 1 25">
    <a:wholeTbl>
      <a:tcTxStyle>
        <a:fontRef idx="none">
          <a:schemeClr val="tx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w="9525" cmpd="sng">
              <a:solidFill>
                <a:schemeClr val="accent1">
                  <a:lumMod val="40000"/>
                  <a:lumOff val="60000"/>
                </a:schemeClr>
              </a:solidFill>
              <a:prstDash val="solid"/>
            </a:ln>
          </a:insideV>
        </a:tcBdr>
        <a:fill>
          <a:solidFill>
            <a:schemeClr val="bg1">
              <a:alpha val="0"/>
            </a:schemeClr>
          </a:solidFill>
        </a:fill>
      </a:tcStyle>
    </a:wholeTbl>
    <a:band2H>
      <a:tcTxStyle/>
      <a:tcStyle>
        <a:tcBdr/>
        <a:fill>
          <a:solidFill>
            <a:schemeClr val="accent1">
              <a:alpha val="25000"/>
              <a:lumMod val="40000"/>
              <a:lumOff val="60000"/>
            </a:schemeClr>
          </a:solidFill>
        </a:fill>
      </a:tcStyle>
    </a:band2H>
    <a:band1V>
      <a:tcTxStyle/>
      <a:tcStyle>
        <a:tcBdr/>
        <a:fill>
          <a:solidFill>
            <a:schemeClr val="accent1">
              <a:alpha val="25000"/>
              <a:lumMod val="40000"/>
              <a:lumOff val="60000"/>
            </a:schemeClr>
          </a:solidFill>
        </a:fill>
      </a:tcStyle>
    </a:band1V>
    <a:band2V>
      <a:tcTxStyle/>
      <a:tcStyle>
        <a:tcBdr/>
        <a:fill>
          <a:solidFill>
            <a:schemeClr val="bg1">
              <a:alpha val="0"/>
            </a:schemeClr>
          </a:solidFill>
        </a:fill>
      </a:tcStyle>
    </a:band2V>
    <a:lastCol>
      <a:tcTxStyle b="on">
        <a:fontRef idx="none">
          <a:schemeClr val="tx1"/>
        </a:fontRef>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alpha val="40000"/>
              <a:lumMod val="40000"/>
              <a:lumOff val="60000"/>
            </a:schemeClr>
          </a:solidFill>
        </a:fill>
      </a:tcStyle>
    </a:lastCol>
    <a:firstCol>
      <a:tcTxStyle b="on">
        <a:fontRef idx="none">
          <a:schemeClr val="tx1"/>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alpha val="40000"/>
              <a:lumMod val="40000"/>
              <a:lumOff val="60000"/>
            </a:schemeClr>
          </a:solidFill>
        </a:fill>
      </a:tcStyle>
    </a:firstCol>
    <a:lastRow>
      <a:tcTxStyle b="on">
        <a:fontRef idx="none">
          <a:schemeClr val="accent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lastRow>
    <a:seCell>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seCell>
    <a:swCell>
      <a:tcTxStyle b="on">
        <a:fontRef idx="none">
          <a:schemeClr val="accent1"/>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swCell>
    <a:firstRow>
      <a:tcTxStyle b="on">
        <a:fontRef idx="none">
          <a:schemeClr val="bg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w="9525" cmpd="sng">
              <a:solidFill>
                <a:schemeClr val="accent1">
                  <a:lumMod val="40000"/>
                  <a:lumOff val="60000"/>
                </a:schemeClr>
              </a:solidFill>
              <a:prstDash val="solid"/>
            </a:ln>
          </a:insideV>
        </a:tcBdr>
        <a:fill>
          <a:solidFill>
            <a:schemeClr val="accent1"/>
          </a:solidFill>
        </a:fill>
      </a:tcStyle>
    </a:firstRow>
    <a:neCell>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lumMod val="40000"/>
                  <a:lumOff val="60000"/>
                </a:schemeClr>
              </a:solidFill>
              <a:prstDash val="solid"/>
            </a:ln>
          </a:bottom>
          <a:insideH>
            <a:ln>
              <a:noFill/>
            </a:ln>
          </a:insideH>
          <a:insideV>
            <a:ln>
              <a:noFill/>
            </a:ln>
          </a:insideV>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588" autoAdjust="0"/>
  </p:normalViewPr>
  <p:slideViewPr>
    <p:cSldViewPr snapToGrid="0">
      <p:cViewPr varScale="1">
        <p:scale>
          <a:sx n="91" d="100"/>
          <a:sy n="91" d="100"/>
        </p:scale>
        <p:origin x="341"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notesMaster" Target="notesMasters/notes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wrap="square"/>
          <a:lstStyle/>
          <a:p>
            <a:r>
              <a:rPr sz="1800"/>
              <a:t>老师晚上好，本次汇报一下最近围绕威布尔分布参数估计和小样本估计做的一些工作，主要是神经网络在 MDM 方法和直接参数估计中的应用。下面分三个部分来讲。</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与报告</a:t>
            </a:r>
            <a:r>
              <a:rPr lang="en-US" altLang="zh-CN" sz="1800"/>
              <a:t>1.1</a:t>
            </a:r>
            <a:r>
              <a:rPr lang="zh-CN" altLang="en-US" sz="1800"/>
              <a:t>及图</a:t>
            </a:r>
            <a:r>
              <a:rPr lang="en-US" altLang="zh-CN" sz="1800"/>
              <a:t>1</a:t>
            </a:r>
            <a:r>
              <a:rPr lang="zh-CN" altLang="en-US" sz="1800"/>
              <a:t>统一为</a:t>
            </a:r>
            <a:r>
              <a:rPr lang="en-US" altLang="zh-CN" sz="1800"/>
              <a:t>A/B/C/D</a:t>
            </a:r>
            <a:r>
              <a:rPr lang="zh-CN" altLang="en-US" sz="1800"/>
              <a:t>四组。不是互斥穷尽的数学分类。项目</a:t>
            </a:r>
            <a:r>
              <a:rPr lang="en-US" altLang="zh-CN" sz="1800"/>
              <a:t>LS</a:t>
            </a:r>
            <a:r>
              <a:rPr lang="zh-CN" altLang="en-US" sz="1800"/>
              <a:t>和</a:t>
            </a:r>
            <a:r>
              <a:rPr lang="en-US" altLang="zh-CN" sz="1800"/>
              <a:t>LRE</a:t>
            </a:r>
            <a:r>
              <a:rPr lang="zh-CN" altLang="en-US" sz="1800"/>
              <a:t>均可用最小二乘回归，主要差异是分数和回归方向。</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来源：报告图</a:t>
            </a:r>
            <a:r>
              <a:rPr lang="en-US" altLang="zh-CN" sz="1800"/>
              <a:t>1</a:t>
            </a:r>
            <a:r>
              <a:rPr lang="zh-CN" altLang="en-US" sz="1800"/>
              <a:t>原有的</a:t>
            </a:r>
            <a:r>
              <a:rPr lang="en-US" altLang="zh-CN" sz="1800"/>
              <a:t>A</a:t>
            </a:r>
            <a:r>
              <a:rPr lang="zh-CN" altLang="en-US" sz="1800"/>
              <a:t>部分。节点、作者年份和连线关系沿用原图，按</a:t>
            </a:r>
            <a:r>
              <a:rPr lang="en-US" altLang="zh-CN" sz="1800"/>
              <a:t>PPT</a:t>
            </a:r>
            <a:r>
              <a:rPr lang="zh-CN" altLang="en-US" sz="1800"/>
              <a:t>版面重排。</a:t>
            </a:r>
          </a:p>
          <a:p>
            <a:r>
              <a:rPr lang="zh-CN" altLang="en-US" sz="1800"/>
              <a:t>共同起点是样本似然，后续工作分别处理偏差、边界和数值求解。</a:t>
            </a:r>
          </a:p>
          <a:p>
            <a:r>
              <a:rPr lang="en-US" altLang="zh-CN" sz="1800"/>
              <a:t>WMLE</a:t>
            </a:r>
            <a:r>
              <a:rPr lang="zh-CN" altLang="en-US" sz="1800"/>
              <a:t>修正有限样本估计方程，</a:t>
            </a:r>
            <a:r>
              <a:rPr lang="en-US" altLang="zh-CN" sz="1800"/>
              <a:t>MMLE</a:t>
            </a:r>
            <a:r>
              <a:rPr lang="zh-CN" altLang="en-US" sz="1800"/>
              <a:t>改变似然构造，</a:t>
            </a:r>
            <a:r>
              <a:rPr lang="en-US" altLang="zh-CN" sz="1800"/>
              <a:t>DMMLE</a:t>
            </a:r>
            <a:r>
              <a:rPr lang="zh-CN" altLang="en-US" sz="1800"/>
              <a:t>进一步修正得分偏差。</a:t>
            </a:r>
          </a:p>
          <a:p>
            <a:r>
              <a:rPr lang="en-US" altLang="zh-CN" sz="1800"/>
              <a:t>PSO</a:t>
            </a:r>
            <a:r>
              <a:rPr lang="zh-CN" altLang="en-US" sz="1800"/>
              <a:t>、</a:t>
            </a:r>
            <a:r>
              <a:rPr lang="en-US" altLang="zh-CN" sz="1800"/>
              <a:t>ADGBO</a:t>
            </a:r>
            <a:r>
              <a:rPr lang="zh-CN" altLang="en-US" sz="1800"/>
              <a:t>等若保持同一似然与约束，改进的是求解过程。</a:t>
            </a:r>
          </a:p>
          <a:p>
            <a:r>
              <a:rPr lang="en-US" altLang="zh-CN" sz="1800"/>
              <a:t>WMLE [182-088]</a:t>
            </a:r>
            <a:r>
              <a:rPr lang="zh-CN" altLang="en-US" sz="1800"/>
              <a:t>；</a:t>
            </a:r>
            <a:r>
              <a:rPr lang="en-US" altLang="zh-CN" sz="1800"/>
              <a:t>DMMLE [182-111]</a:t>
            </a:r>
            <a:r>
              <a:rPr lang="zh-CN" altLang="en-US" sz="1800"/>
              <a:t>；</a:t>
            </a:r>
            <a:r>
              <a:rPr lang="en-US" altLang="zh-CN" sz="1800"/>
              <a:t>ADGBO [187-001]</a:t>
            </a:r>
            <a:r>
              <a:rPr lang="zh-CN" altLang="en-US" sz="1800"/>
              <a:t>。</a:t>
            </a:r>
            <a:r>
              <a:rPr lang="en-US" altLang="zh-CN" sz="1800"/>
              <a:t>Fisher</a:t>
            </a:r>
            <a:r>
              <a:rPr lang="zh-CN" altLang="en-US" sz="1800"/>
              <a:t>（</a:t>
            </a:r>
            <a:r>
              <a:rPr lang="en-US" altLang="zh-CN" sz="1800"/>
              <a:t>1922</a:t>
            </a:r>
            <a:r>
              <a:rPr lang="zh-CN" altLang="en-US" sz="1800"/>
              <a:t>）标示通用似然原理来源。</a:t>
            </a:r>
          </a:p>
          <a:p>
            <a:r>
              <a:rPr lang="en-US" altLang="zh-CN" sz="1800"/>
              <a:t>WMLE</a:t>
            </a:r>
            <a:r>
              <a:rPr lang="zh-CN" altLang="en-US" sz="1800"/>
              <a:t>承接</a:t>
            </a:r>
            <a:r>
              <a:rPr lang="en-US" altLang="zh-CN" sz="1800"/>
              <a:t>Jacquelin</a:t>
            </a:r>
            <a:r>
              <a:rPr lang="zh-CN" altLang="en-US" sz="1800"/>
              <a:t>（</a:t>
            </a:r>
            <a:r>
              <a:rPr lang="en-US" altLang="zh-CN" sz="1800"/>
              <a:t>1993</a:t>
            </a:r>
            <a:r>
              <a:rPr lang="zh-CN" altLang="en-US" sz="1800"/>
              <a:t>）的二参数构造。</a:t>
            </a:r>
            <a:r>
              <a:rPr lang="en-US" altLang="zh-CN" sz="1800"/>
              <a:t>Fisher</a:t>
            </a:r>
            <a:r>
              <a:rPr lang="zh-CN" altLang="en-US" sz="1800"/>
              <a:t>（</a:t>
            </a:r>
            <a:r>
              <a:rPr lang="en-US" altLang="zh-CN" sz="1800"/>
              <a:t>1922</a:t>
            </a:r>
            <a:r>
              <a:rPr lang="zh-CN" altLang="en-US" sz="1800"/>
              <a:t>）为通用似然原理来源，非三参数</a:t>
            </a:r>
            <a:r>
              <a:rPr lang="en-US" altLang="zh-CN" sz="1800"/>
              <a:t>Weibull</a:t>
            </a:r>
            <a:r>
              <a:rPr lang="zh-CN" altLang="en-US" sz="1800"/>
              <a:t>方法提出年份。蓝为已有依据，紫为统计构造改变，黄为数值求解。</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报告</a:t>
            </a:r>
            <a:r>
              <a:rPr lang="en-US" altLang="zh-CN" sz="1800"/>
              <a:t>1.3</a:t>
            </a:r>
            <a:r>
              <a:rPr lang="zh-CN" altLang="en-US" sz="1800"/>
              <a:t>及附录</a:t>
            </a:r>
            <a:r>
              <a:rPr lang="en-US" altLang="zh-CN" sz="1800"/>
              <a:t>B</a:t>
            </a:r>
            <a:r>
              <a:rPr lang="zh-CN" altLang="en-US" sz="1800"/>
              <a:t>第</a:t>
            </a:r>
            <a:r>
              <a:rPr lang="en-US" altLang="zh-CN" sz="1800"/>
              <a:t>2—4</a:t>
            </a:r>
            <a:r>
              <a:rPr lang="zh-CN" altLang="en-US" sz="1800"/>
              <a:t>节。</a:t>
            </a:r>
            <a:r>
              <a:rPr lang="en-US" altLang="zh-CN" sz="1800"/>
              <a:t>LS=least squares</a:t>
            </a:r>
            <a:r>
              <a:rPr lang="zh-CN" altLang="en-US" sz="1800"/>
              <a:t>，</a:t>
            </a:r>
            <a:r>
              <a:rPr lang="en-US" altLang="zh-CN" sz="1800"/>
              <a:t>LRE=linear regression estimation</a:t>
            </a:r>
            <a:r>
              <a:rPr lang="zh-CN" altLang="en-US" sz="1800"/>
              <a:t>，图中</a:t>
            </a:r>
            <a:r>
              <a:rPr lang="en-US" altLang="zh-CN" sz="1800"/>
              <a:t>LRE</a:t>
            </a:r>
            <a:r>
              <a:rPr lang="zh-CN" altLang="en-US" sz="1800"/>
              <a:t>为路线</a:t>
            </a:r>
            <a:r>
              <a:rPr lang="en-US" altLang="zh-CN" sz="1800"/>
              <a:t>/</a:t>
            </a:r>
            <a:r>
              <a:rPr lang="zh-CN" altLang="en-US" sz="1800"/>
              <a:t>项目标签。</a:t>
            </a:r>
            <a:r>
              <a:rPr lang="en-US" altLang="zh-CN" sz="1800"/>
              <a:t>Li</a:t>
            </a:r>
            <a:r>
              <a:rPr lang="zh-CN" altLang="en-US" sz="1800"/>
              <a:t>原文用</a:t>
            </a:r>
            <a:r>
              <a:rPr lang="en-US" altLang="zh-CN" sz="1800"/>
              <a:t>GLRA/GLLS</a:t>
            </a:r>
            <a:r>
              <a:rPr lang="zh-CN" altLang="en-US" sz="1800"/>
              <a:t>；</a:t>
            </a:r>
            <a:r>
              <a:rPr lang="en-US" altLang="zh-CN" sz="1800"/>
              <a:t>Park</a:t>
            </a:r>
            <a:r>
              <a:rPr lang="zh-CN" altLang="en-US" sz="1800"/>
              <a:t>回归恢复分支称</a:t>
            </a:r>
            <a:r>
              <a:rPr lang="en-US" altLang="zh-CN" sz="1800"/>
              <a:t>Proposed+Plot</a:t>
            </a:r>
            <a:r>
              <a:rPr lang="zh-CN" altLang="en-US" sz="1800"/>
              <a:t>。项目</a:t>
            </a:r>
            <a:r>
              <a:rPr lang="en-US" altLang="zh-CN" sz="1800"/>
              <a:t>LS</a:t>
            </a:r>
            <a:r>
              <a:rPr lang="zh-CN" altLang="en-US" sz="1800"/>
              <a:t>使用期望分数，回归</a:t>
            </a:r>
            <a:r>
              <a:rPr lang="en-US" altLang="zh-CN" sz="1800"/>
              <a:t>x</a:t>
            </a:r>
            <a:r>
              <a:rPr lang="zh-CN" altLang="en-US" sz="1800"/>
              <a:t>对</a:t>
            </a:r>
            <a:r>
              <a:rPr lang="en-US" altLang="zh-CN" sz="1800"/>
              <a:t>z</a:t>
            </a:r>
            <a:r>
              <a:rPr lang="zh-CN" altLang="en-US" sz="1800"/>
              <a:t>；项目</a:t>
            </a:r>
            <a:r>
              <a:rPr lang="en-US" altLang="zh-CN" sz="1800"/>
              <a:t>LRE</a:t>
            </a:r>
            <a:r>
              <a:rPr lang="zh-CN" altLang="en-US" sz="1800"/>
              <a:t>用</a:t>
            </a:r>
            <a:r>
              <a:rPr lang="en-US" altLang="zh-CN" sz="1800"/>
              <a:t>Bernard</a:t>
            </a:r>
            <a:r>
              <a:rPr lang="zh-CN" altLang="en-US" sz="1800"/>
              <a:t>分数，回归</a:t>
            </a:r>
            <a:r>
              <a:rPr lang="en-US" altLang="zh-CN" sz="1800"/>
              <a:t>z</a:t>
            </a:r>
            <a:r>
              <a:rPr lang="zh-CN" altLang="en-US" sz="1800"/>
              <a:t>对</a:t>
            </a:r>
            <a:r>
              <a:rPr lang="en-US" altLang="zh-CN" sz="1800"/>
              <a:t>x</a:t>
            </a:r>
            <a:r>
              <a:rPr lang="zh-CN" altLang="en-US" sz="1800"/>
              <a:t>，位置最大化</a:t>
            </a:r>
            <a:r>
              <a:rPr lang="en-US" altLang="zh-CN" sz="1800"/>
              <a:t>r²</a:t>
            </a:r>
            <a:r>
              <a:rPr lang="zh-CN" altLang="en-US" sz="1800"/>
              <a:t>。相同分数、同一位置与带截距</a:t>
            </a:r>
            <a:r>
              <a:rPr lang="en-US" altLang="zh-CN" sz="1800"/>
              <a:t>OLS</a:t>
            </a:r>
            <a:r>
              <a:rPr lang="zh-CN" altLang="en-US" sz="1800"/>
              <a:t>下，</a:t>
            </a:r>
            <a:r>
              <a:rPr lang="en-US" altLang="zh-CN" sz="1800"/>
              <a:t>F=(n-2)/[(n-1)(1-r²)]</a:t>
            </a:r>
            <a:r>
              <a:rPr lang="zh-CN" altLang="en-US" sz="1800"/>
              <a:t>，位置目标单调等价。实际分数不同，故不能说位置估计一定相同。当前</a:t>
            </a:r>
            <a:r>
              <a:rPr lang="en-US" altLang="zh-CN" sz="1800"/>
              <a:t>LRE</a:t>
            </a:r>
            <a:r>
              <a:rPr lang="zh-CN" altLang="en-US" sz="1800"/>
              <a:t>并非</a:t>
            </a:r>
            <a:r>
              <a:rPr lang="en-US" altLang="zh-CN" sz="1800"/>
              <a:t>Li</a:t>
            </a:r>
            <a:r>
              <a:rPr lang="zh-CN" altLang="en-US" sz="1800"/>
              <a:t>或</a:t>
            </a:r>
            <a:r>
              <a:rPr lang="en-US" altLang="zh-CN" sz="1800"/>
              <a:t>Park</a:t>
            </a:r>
            <a:r>
              <a:rPr lang="zh-CN" altLang="en-US" sz="1800"/>
              <a:t>原版完整复现。</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来源：报告图</a:t>
            </a:r>
            <a:r>
              <a:rPr lang="en-US" altLang="zh-CN" sz="1800"/>
              <a:t>1</a:t>
            </a:r>
            <a:r>
              <a:rPr lang="zh-CN" altLang="en-US" sz="1800"/>
              <a:t>原有的</a:t>
            </a:r>
            <a:r>
              <a:rPr lang="en-US" altLang="zh-CN" sz="1800"/>
              <a:t>C</a:t>
            </a:r>
            <a:r>
              <a:rPr lang="zh-CN" altLang="en-US" sz="1800"/>
              <a:t>部分。节点、作者年份和连线关系沿用原图，按</a:t>
            </a:r>
            <a:r>
              <a:rPr lang="en-US" altLang="zh-CN" sz="1800"/>
              <a:t>PPT</a:t>
            </a:r>
            <a:r>
              <a:rPr lang="zh-CN" altLang="en-US" sz="1800"/>
              <a:t>版面重排。</a:t>
            </a:r>
          </a:p>
          <a:p>
            <a:r>
              <a:rPr lang="zh-CN" altLang="en-US" sz="1800"/>
              <a:t>这三支分别采用统计量匹配、概率间距和尺度伪估计差异作为估计依据。</a:t>
            </a:r>
          </a:p>
          <a:p>
            <a:r>
              <a:rPr lang="en-US" altLang="zh-CN" sz="1800"/>
              <a:t>PWM</a:t>
            </a:r>
            <a:r>
              <a:rPr lang="zh-CN" altLang="en-US" sz="1800"/>
              <a:t>经线性组合形成</a:t>
            </a:r>
            <a:r>
              <a:rPr lang="en-US" altLang="zh-CN" sz="1800"/>
              <a:t>L</a:t>
            </a:r>
            <a:r>
              <a:rPr lang="zh-CN" altLang="en-US" sz="1800"/>
              <a:t>矩。</a:t>
            </a:r>
            <a:r>
              <a:rPr lang="en-US" altLang="zh-CN" sz="1800"/>
              <a:t>MPS</a:t>
            </a:r>
            <a:r>
              <a:rPr lang="zh-CN" altLang="en-US" sz="1800"/>
              <a:t>针对似然边界困难，转而使用概率间距。</a:t>
            </a:r>
          </a:p>
          <a:p>
            <a:r>
              <a:rPr lang="en-US" altLang="zh-CN" sz="1800"/>
              <a:t>MDM</a:t>
            </a:r>
            <a:r>
              <a:rPr lang="zh-CN" altLang="en-US" sz="1800"/>
              <a:t>使尺度伪估计尽量一致；现有来源未确认它直接继承</a:t>
            </a:r>
            <a:r>
              <a:rPr lang="en-US" altLang="zh-CN" sz="1800"/>
              <a:t>MPS</a:t>
            </a:r>
            <a:r>
              <a:rPr lang="zh-CN" altLang="en-US" sz="1800"/>
              <a:t>或某个</a:t>
            </a:r>
            <a:r>
              <a:rPr lang="en-US" altLang="zh-CN" sz="1800"/>
              <a:t>LS</a:t>
            </a:r>
            <a:r>
              <a:rPr lang="zh-CN" altLang="en-US" sz="1800"/>
              <a:t>版本。</a:t>
            </a:r>
          </a:p>
          <a:p>
            <a:r>
              <a:rPr lang="en-US" altLang="zh-CN" sz="1800"/>
              <a:t>PWM</a:t>
            </a:r>
            <a:r>
              <a:rPr lang="zh-CN" altLang="en-US" sz="1800"/>
              <a:t>与</a:t>
            </a:r>
            <a:r>
              <a:rPr lang="en-US" altLang="zh-CN" sz="1800"/>
              <a:t>L</a:t>
            </a:r>
            <a:r>
              <a:rPr lang="zh-CN" altLang="en-US" sz="1800"/>
              <a:t>矩来源见报告</a:t>
            </a:r>
            <a:r>
              <a:rPr lang="en-US" altLang="zh-CN" sz="1800"/>
              <a:t>1.4</a:t>
            </a:r>
            <a:r>
              <a:rPr lang="zh-CN" altLang="en-US" sz="1800"/>
              <a:t>；</a:t>
            </a:r>
            <a:r>
              <a:rPr lang="en-US" altLang="zh-CN" sz="1800"/>
              <a:t>MPS [182-116]</a:t>
            </a:r>
            <a:r>
              <a:rPr lang="zh-CN" altLang="en-US" sz="1800"/>
              <a:t>；</a:t>
            </a:r>
            <a:r>
              <a:rPr lang="en-US" altLang="zh-CN" sz="1800"/>
              <a:t>MDM [182-030]</a:t>
            </a:r>
            <a:r>
              <a:rPr lang="zh-CN" altLang="en-US" sz="1800"/>
              <a:t>。虚线表示替代方案，不表示直接继承。</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来源：报告图</a:t>
            </a:r>
            <a:r>
              <a:rPr lang="en-US" altLang="zh-CN" sz="1800"/>
              <a:t>1</a:t>
            </a:r>
            <a:r>
              <a:rPr lang="zh-CN" altLang="en-US" sz="1800"/>
              <a:t>原有的</a:t>
            </a:r>
            <a:r>
              <a:rPr lang="en-US" altLang="zh-CN" sz="1800"/>
              <a:t>D</a:t>
            </a:r>
            <a:r>
              <a:rPr lang="zh-CN" altLang="en-US" sz="1800"/>
              <a:t>部分。节点、作者年份和连线关系沿用原图，按</a:t>
            </a:r>
            <a:r>
              <a:rPr lang="en-US" altLang="zh-CN" sz="1800"/>
              <a:t>PPT</a:t>
            </a:r>
            <a:r>
              <a:rPr lang="zh-CN" altLang="en-US" sz="1800"/>
              <a:t>版面重排。</a:t>
            </a:r>
          </a:p>
          <a:p>
            <a:r>
              <a:rPr lang="zh-CN" altLang="en-US" sz="1800"/>
              <a:t>组合已有统计关系、变换观测统计量，或直接学习参数映射，都形成了新的构造。</a:t>
            </a:r>
          </a:p>
          <a:p>
            <a:r>
              <a:rPr lang="en-US" altLang="zh-CN" sz="1800"/>
              <a:t>SAM</a:t>
            </a:r>
            <a:r>
              <a:rPr lang="zh-CN" altLang="en-US" sz="1800"/>
              <a:t>用最小值期望结合回归，</a:t>
            </a:r>
            <a:r>
              <a:rPr lang="en-US" altLang="zh-CN" sz="1800"/>
              <a:t>PM</a:t>
            </a:r>
            <a:r>
              <a:rPr lang="zh-CN" altLang="en-US" sz="1800"/>
              <a:t>用最小值中位数结合条件似然，未确认直接升级关系。</a:t>
            </a:r>
          </a:p>
          <a:p>
            <a:r>
              <a:rPr lang="en-US" altLang="zh-CN" sz="1800"/>
              <a:t>LSPF</a:t>
            </a:r>
            <a:r>
              <a:rPr lang="zh-CN" altLang="en-US" sz="1800"/>
              <a:t>通过变换统计量构造似然；</a:t>
            </a:r>
            <a:r>
              <a:rPr lang="en-US" altLang="zh-CN" sz="1800"/>
              <a:t>BPNN</a:t>
            </a:r>
            <a:r>
              <a:rPr lang="zh-CN" altLang="en-US" sz="1800"/>
              <a:t>直接学习样本特征到参数的映射。</a:t>
            </a:r>
          </a:p>
          <a:p>
            <a:r>
              <a:rPr lang="en-US" altLang="zh-CN" sz="1800"/>
              <a:t>SAM [185-005]</a:t>
            </a:r>
            <a:r>
              <a:rPr lang="zh-CN" altLang="en-US" sz="1800"/>
              <a:t>；</a:t>
            </a:r>
            <a:r>
              <a:rPr lang="en-US" altLang="zh-CN" sz="1800"/>
              <a:t>PM [182-117]</a:t>
            </a:r>
            <a:r>
              <a:rPr lang="zh-CN" altLang="en-US" sz="1800"/>
              <a:t>；</a:t>
            </a:r>
            <a:r>
              <a:rPr lang="en-US" altLang="zh-CN" sz="1800"/>
              <a:t>LSPF [182-113]</a:t>
            </a:r>
            <a:r>
              <a:rPr lang="zh-CN" altLang="en-US" sz="1800"/>
              <a:t>；</a:t>
            </a:r>
            <a:r>
              <a:rPr lang="en-US" altLang="zh-CN" sz="1800"/>
              <a:t>BPNN [184-009]</a:t>
            </a:r>
            <a:r>
              <a:rPr lang="zh-CN" altLang="en-US" sz="1800"/>
              <a:t>。</a:t>
            </a:r>
            <a:r>
              <a:rPr lang="en-US" altLang="zh-CN" sz="1800"/>
              <a:t>BPNN</a:t>
            </a:r>
            <a:r>
              <a:rPr lang="zh-CN" altLang="en-US" sz="1800"/>
              <a:t>是近期实例，不是该路线起点。</a:t>
            </a:r>
          </a:p>
          <a:p>
            <a:r>
              <a:rPr lang="en-US" altLang="zh-CN" sz="1800"/>
              <a:t>LSPF</a:t>
            </a:r>
            <a:r>
              <a:rPr lang="zh-CN" altLang="en-US" sz="1800"/>
              <a:t>虚线表示针对同一困难的替代构造。直接三参数</a:t>
            </a:r>
            <a:r>
              <a:rPr lang="en-US" altLang="zh-CN" sz="1800"/>
              <a:t>ANN</a:t>
            </a:r>
            <a:r>
              <a:rPr lang="zh-CN" altLang="en-US" sz="1800"/>
              <a:t>早见</a:t>
            </a:r>
            <a:r>
              <a:rPr lang="en-US" altLang="zh-CN" sz="1800"/>
              <a:t>Abbasi</a:t>
            </a:r>
            <a:r>
              <a:rPr lang="zh-CN" altLang="en-US" sz="1800"/>
              <a:t>等（</a:t>
            </a:r>
            <a:r>
              <a:rPr lang="en-US" altLang="zh-CN" sz="1800"/>
              <a:t>2008</a:t>
            </a:r>
            <a:r>
              <a:rPr lang="zh-CN" altLang="en-US" sz="1800"/>
              <a:t>）</a:t>
            </a:r>
            <a:r>
              <a:rPr lang="en-US" altLang="zh-CN" sz="1800"/>
              <a:t>[183-020]</a:t>
            </a:r>
            <a:r>
              <a:rPr lang="zh-CN" altLang="en-US" sz="1800"/>
              <a:t>，不能以</a:t>
            </a:r>
            <a:r>
              <a:rPr lang="en-US" altLang="zh-CN" sz="1800"/>
              <a:t>BPNN</a:t>
            </a:r>
            <a:r>
              <a:rPr lang="zh-CN" altLang="en-US" sz="1800"/>
              <a:t>（</a:t>
            </a:r>
            <a:r>
              <a:rPr lang="en-US" altLang="zh-CN" sz="1800"/>
              <a:t>2025</a:t>
            </a:r>
            <a:r>
              <a:rPr lang="zh-CN" altLang="en-US" sz="1800"/>
              <a:t>）为神经估计起点。</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报告</a:t>
            </a:r>
            <a:r>
              <a:rPr lang="en-US" altLang="zh-CN" sz="1800"/>
              <a:t>2.1</a:t>
            </a:r>
            <a:r>
              <a:rPr lang="zh-CN" altLang="en-US" sz="1800"/>
              <a:t>。</a:t>
            </a:r>
            <a:r>
              <a:rPr lang="en-US" altLang="zh-CN" sz="1800"/>
              <a:t>182-114</a:t>
            </a:r>
            <a:r>
              <a:rPr lang="zh-CN" altLang="en-US" sz="1800"/>
              <a:t>是二参数删失，明确单列。</a:t>
            </a:r>
            <a:r>
              <a:rPr lang="en-US" altLang="zh-CN" sz="1800"/>
              <a:t>187-001</a:t>
            </a:r>
            <a:r>
              <a:rPr lang="zh-CN" altLang="en-US" sz="1800"/>
              <a:t>卷期</a:t>
            </a:r>
            <a:r>
              <a:rPr lang="en-US" altLang="zh-CN" sz="1800"/>
              <a:t>2026</a:t>
            </a:r>
            <a:r>
              <a:rPr lang="zh-CN" altLang="en-US" sz="1800"/>
              <a:t>，目标为</a:t>
            </a:r>
            <a:r>
              <a:rPr lang="en-US" altLang="zh-CN" sz="1800"/>
              <a:t>MLE</a:t>
            </a:r>
            <a:r>
              <a:rPr lang="zh-CN" altLang="en-US" sz="1800"/>
              <a:t>数值求解。不能由此推断近期完整三参数没有新方法。</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报告</a:t>
            </a:r>
            <a:r>
              <a:rPr lang="en-US" altLang="zh-CN" sz="1800"/>
              <a:t>2.2</a:t>
            </a:r>
            <a:r>
              <a:rPr lang="zh-CN" altLang="en-US" sz="1800"/>
              <a:t>。</a:t>
            </a:r>
            <a:r>
              <a:rPr lang="en-US" altLang="zh-CN" sz="1800"/>
              <a:t>LSPF</a:t>
            </a:r>
            <a:r>
              <a:rPr lang="zh-CN" altLang="en-US" sz="1800"/>
              <a:t>来源</a:t>
            </a:r>
            <a:r>
              <a:rPr lang="en-US" altLang="zh-CN" sz="1800"/>
              <a:t>Nagatsuka</a:t>
            </a:r>
            <a:r>
              <a:rPr lang="zh-CN" altLang="en-US" sz="1800"/>
              <a:t>等</a:t>
            </a:r>
            <a:r>
              <a:rPr lang="en-US" altLang="zh-CN" sz="1800"/>
              <a:t>2013</a:t>
            </a:r>
            <a:r>
              <a:rPr lang="zh-CN" altLang="en-US" sz="1800"/>
              <a:t>。</a:t>
            </a:r>
            <a:r>
              <a:rPr lang="en-US" altLang="zh-CN" sz="1800"/>
              <a:t>SAM n=5/10/15/20</a:t>
            </a:r>
            <a:r>
              <a:rPr lang="zh-CN" altLang="en-US" sz="1800"/>
              <a:t>；</a:t>
            </a:r>
            <a:r>
              <a:rPr lang="en-US" altLang="zh-CN" sz="1800"/>
              <a:t>PM §5.1 n=5</a:t>
            </a:r>
            <a:r>
              <a:rPr lang="zh-CN" altLang="en-US" sz="1800"/>
              <a:t>。</a:t>
            </a:r>
            <a:r>
              <a:rPr lang="en-US" altLang="zh-CN" sz="1800"/>
              <a:t>DMMLE</a:t>
            </a:r>
            <a:r>
              <a:rPr lang="zh-CN" altLang="en-US" sz="1800"/>
              <a:t>的小样本比较属于新检验，不预先认定最强。</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报告</a:t>
            </a:r>
            <a:r>
              <a:rPr lang="en-US" altLang="zh-CN" sz="1800"/>
              <a:t>2.3</a:t>
            </a:r>
            <a:r>
              <a:rPr lang="zh-CN" altLang="en-US" sz="1800"/>
              <a:t>，附录</a:t>
            </a:r>
            <a:r>
              <a:rPr lang="en-US" altLang="zh-CN" sz="1800"/>
              <a:t>A</a:t>
            </a:r>
            <a:r>
              <a:rPr lang="zh-CN" altLang="en-US" sz="1800"/>
              <a:t>。</a:t>
            </a:r>
            <a:r>
              <a:rPr lang="en-US" altLang="zh-CN" sz="1800"/>
              <a:t>Safari</a:t>
            </a:r>
            <a:r>
              <a:rPr lang="zh-CN" altLang="en-US" sz="1800"/>
              <a:t>为污染实验，支持采用事实，不把排名搬到完整干净小样本。未确认后续充分检验不等于不存在。</a:t>
            </a:r>
            <a:r>
              <a:rPr lang="en-US" altLang="zh-CN" sz="1800"/>
              <a:t>MPS</a:t>
            </a:r>
            <a:r>
              <a:rPr lang="zh-CN" altLang="en-US" sz="1800"/>
              <a:t>经典路线亦有</a:t>
            </a:r>
            <a:r>
              <a:rPr lang="en-US" altLang="zh-CN" sz="1800"/>
              <a:t>2014</a:t>
            </a:r>
            <a:r>
              <a:rPr lang="zh-CN" altLang="en-US" sz="1800"/>
              <a:t>及</a:t>
            </a:r>
            <a:r>
              <a:rPr lang="en-US" altLang="zh-CN" sz="1800"/>
              <a:t>2025</a:t>
            </a:r>
            <a:r>
              <a:rPr lang="zh-CN" altLang="en-US" sz="1800"/>
              <a:t>后续比较，见报告</a:t>
            </a:r>
            <a:r>
              <a:rPr lang="en-US" altLang="zh-CN" sz="1800"/>
              <a:t>1.4</a:t>
            </a:r>
            <a:r>
              <a:rPr lang="zh-CN" altLang="en-US" sz="1800"/>
              <a:t>。</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报告</a:t>
            </a:r>
            <a:r>
              <a:rPr lang="en-US" altLang="zh-CN" sz="1800"/>
              <a:t>3.1</a:t>
            </a:r>
            <a:r>
              <a:rPr lang="zh-CN" altLang="en-US" sz="1800"/>
              <a:t>，附录</a:t>
            </a:r>
            <a:r>
              <a:rPr lang="en-US" altLang="zh-CN" sz="1800"/>
              <a:t>A</a:t>
            </a:r>
            <a:r>
              <a:rPr lang="zh-CN" altLang="en-US" sz="1800"/>
              <a:t>逐篇证据。表中作用是本调研归纳，不都是作者明说的选择理由。只评价形状的工作不能证明三参数同时改善。当前</a:t>
            </a:r>
            <a:r>
              <a:rPr lang="en-US" altLang="zh-CN" sz="1800"/>
              <a:t>44</a:t>
            </a:r>
            <a:r>
              <a:rPr lang="zh-CN" altLang="en-US" sz="1800"/>
              <a:t>条记录中</a:t>
            </a:r>
            <a:r>
              <a:rPr lang="en-US" altLang="zh-CN" sz="1800"/>
              <a:t>38</a:t>
            </a:r>
            <a:r>
              <a:rPr lang="zh-CN" altLang="en-US" sz="1800"/>
              <a:t>条计经验用途，非完整领域名单。</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报告</a:t>
            </a:r>
            <a:r>
              <a:rPr lang="en-US" altLang="zh-CN" sz="1800"/>
              <a:t>3.2</a:t>
            </a:r>
            <a:r>
              <a:rPr lang="zh-CN" altLang="en-US" sz="1800"/>
              <a:t>。回归可考虑</a:t>
            </a:r>
            <a:r>
              <a:rPr lang="en-US" altLang="zh-CN" sz="1800"/>
              <a:t>Park Proposed+Plot</a:t>
            </a:r>
            <a:r>
              <a:rPr lang="zh-CN" altLang="en-US" sz="1800"/>
              <a:t>，尚需与论文最终实现一致。不是固定必选清单，不把这组方法称公认排名。</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报告</a:t>
            </a:r>
            <a:r>
              <a:rPr lang="en-US" altLang="zh-CN" sz="1800"/>
              <a:t>3.3</a:t>
            </a:r>
            <a:r>
              <a:rPr lang="zh-CN" altLang="en-US" sz="1800"/>
              <a:t>和附录</a:t>
            </a:r>
            <a:r>
              <a:rPr lang="en-US" altLang="zh-CN" sz="1800"/>
              <a:t>B</a:t>
            </a:r>
            <a:r>
              <a:rPr lang="zh-CN" altLang="en-US" sz="1800"/>
              <a:t>。</a:t>
            </a:r>
            <a:r>
              <a:rPr lang="en-US" altLang="zh-CN" sz="1800"/>
              <a:t>Park</a:t>
            </a:r>
            <a:r>
              <a:rPr lang="zh-CN" altLang="en-US" sz="1800"/>
              <a:t>绘图位置：</a:t>
            </a:r>
            <a:r>
              <a:rPr lang="en-US" altLang="zh-CN" sz="1800"/>
              <a:t>n≤10</a:t>
            </a:r>
            <a:r>
              <a:rPr lang="zh-CN" altLang="en-US" sz="1800"/>
              <a:t>时</a:t>
            </a:r>
            <a:r>
              <a:rPr lang="en-US" altLang="zh-CN" sz="1800"/>
              <a:t>(i−3/8)/(n+1/4)</a:t>
            </a:r>
            <a:r>
              <a:rPr lang="zh-CN" altLang="en-US" sz="1800"/>
              <a:t>，其余</a:t>
            </a:r>
            <a:r>
              <a:rPr lang="en-US" altLang="zh-CN" sz="1800"/>
              <a:t>(i−1/2)/n</a:t>
            </a:r>
            <a:r>
              <a:rPr lang="zh-CN" altLang="en-US" sz="1800"/>
              <a:t>。项目</a:t>
            </a:r>
            <a:r>
              <a:rPr lang="en-US" altLang="zh-CN" sz="1800"/>
              <a:t>LRE</a:t>
            </a:r>
            <a:r>
              <a:rPr lang="zh-CN" altLang="en-US" sz="1800"/>
              <a:t>为</a:t>
            </a:r>
            <a:r>
              <a:rPr lang="en-US" altLang="zh-CN" sz="1800"/>
              <a:t>(i−0.3)/(n+0.4)</a:t>
            </a:r>
            <a:r>
              <a:rPr lang="zh-CN" altLang="en-US" sz="1800"/>
              <a:t>。若保留项目变体，须如实命名并披露改动。</a:t>
            </a:r>
            <a:r>
              <a:rPr lang="en-US" altLang="zh-CN" sz="1800"/>
              <a:t>WMLE</a:t>
            </a:r>
            <a:r>
              <a:rPr lang="zh-CN" altLang="en-US" sz="1800"/>
              <a:t>不能用同作者比较论文替代构造来源。</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报告</a:t>
            </a:r>
            <a:r>
              <a:rPr lang="en-US" altLang="zh-CN" sz="1800"/>
              <a:t>3.4</a:t>
            </a:r>
            <a:r>
              <a:rPr lang="zh-CN" altLang="en-US" sz="1800"/>
              <a:t>，</a:t>
            </a:r>
            <a:r>
              <a:rPr lang="en-US" altLang="zh-CN" sz="1800"/>
              <a:t>evidence/complete_sample_metric_audit.json</a:t>
            </a:r>
            <a:r>
              <a:rPr lang="zh-CN" altLang="en-US" sz="1800"/>
              <a:t>。</a:t>
            </a:r>
            <a:r>
              <a:rPr lang="en-US" altLang="zh-CN" sz="1800"/>
              <a:t>44</a:t>
            </a:r>
            <a:r>
              <a:rPr lang="zh-CN" altLang="en-US" sz="1800"/>
              <a:t>条中扣</a:t>
            </a:r>
            <a:r>
              <a:rPr lang="en-US" altLang="zh-CN" sz="1800"/>
              <a:t>3</a:t>
            </a:r>
            <a:r>
              <a:rPr lang="zh-CN" altLang="en-US" sz="1800"/>
              <a:t>理论、</a:t>
            </a:r>
            <a:r>
              <a:rPr lang="en-US" altLang="zh-CN" sz="1800"/>
              <a:t>2</a:t>
            </a:r>
            <a:r>
              <a:rPr lang="zh-CN" altLang="en-US" sz="1800"/>
              <a:t>待核和</a:t>
            </a:r>
            <a:r>
              <a:rPr lang="en-US" altLang="zh-CN" sz="1800"/>
              <a:t>1GEV</a:t>
            </a:r>
            <a:r>
              <a:rPr lang="zh-CN" altLang="en-US" sz="1800"/>
              <a:t>扩展，</a:t>
            </a:r>
            <a:r>
              <a:rPr lang="en-US" altLang="zh-CN" sz="1800"/>
              <a:t>38</a:t>
            </a:r>
            <a:r>
              <a:rPr lang="zh-CN" altLang="en-US" sz="1800"/>
              <a:t>条经验用途。</a:t>
            </a:r>
            <a:r>
              <a:rPr lang="en-US" altLang="zh-CN" sz="1800"/>
              <a:t>21</a:t>
            </a:r>
            <a:r>
              <a:rPr lang="zh-CN" altLang="en-US" sz="1800"/>
              <a:t>重复生成来源中</a:t>
            </a:r>
            <a:r>
              <a:rPr lang="en-US" altLang="zh-CN" sz="1800"/>
              <a:t>Bias11</a:t>
            </a:r>
            <a:r>
              <a:rPr lang="zh-CN" altLang="en-US" sz="1800"/>
              <a:t>，</a:t>
            </a:r>
            <a:r>
              <a:rPr lang="en-US" altLang="zh-CN" sz="1800"/>
              <a:t>RMSE10</a:t>
            </a:r>
            <a:r>
              <a:rPr lang="zh-CN" altLang="en-US" sz="1800"/>
              <a:t>（其中</a:t>
            </a:r>
            <a:r>
              <a:rPr lang="en-US" altLang="zh-CN" sz="1800"/>
              <a:t>2</a:t>
            </a:r>
            <a:r>
              <a:rPr lang="zh-CN" altLang="en-US" sz="1800"/>
              <a:t>只形状），</a:t>
            </a:r>
            <a:r>
              <a:rPr lang="en-US" altLang="zh-CN" sz="1800"/>
              <a:t>SD9</a:t>
            </a:r>
            <a:r>
              <a:rPr lang="zh-CN" altLang="en-US" sz="1800"/>
              <a:t>，</a:t>
            </a:r>
            <a:r>
              <a:rPr lang="en-US" altLang="zh-CN" sz="1800"/>
              <a:t>MSE2</a:t>
            </a:r>
            <a:r>
              <a:rPr lang="zh-CN" altLang="en-US" sz="1800"/>
              <a:t>，</a:t>
            </a:r>
            <a:r>
              <a:rPr lang="en-US" altLang="zh-CN" sz="1800"/>
              <a:t>MAD1</a:t>
            </a:r>
            <a:r>
              <a:rPr lang="zh-CN" altLang="en-US" sz="1800"/>
              <a:t>，寿命</a:t>
            </a:r>
            <a:r>
              <a:rPr lang="en-US" altLang="zh-CN" sz="1800"/>
              <a:t>/MTTF</a:t>
            </a:r>
            <a:r>
              <a:rPr lang="zh-CN" altLang="en-US" sz="1800"/>
              <a:t>误差</a:t>
            </a:r>
            <a:r>
              <a:rPr lang="en-US" altLang="zh-CN" sz="1800"/>
              <a:t>3</a:t>
            </a:r>
            <a:r>
              <a:rPr lang="zh-CN" altLang="en-US" sz="1800"/>
              <a:t>，参数覆盖率</a:t>
            </a:r>
            <a:r>
              <a:rPr lang="en-US" altLang="zh-CN" sz="1800"/>
              <a:t>1</a:t>
            </a:r>
            <a:r>
              <a:rPr lang="zh-CN" altLang="en-US" sz="1800"/>
              <a:t>。多标签可重叠，不是全领域采用率。</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报告</a:t>
            </a:r>
            <a:r>
              <a:rPr lang="en-US" altLang="zh-CN" sz="1800"/>
              <a:t>3.4</a:t>
            </a:r>
            <a:r>
              <a:rPr lang="zh-CN" altLang="en-US" sz="1800"/>
              <a:t>。第一例</a:t>
            </a:r>
            <a:r>
              <a:rPr lang="en-US" altLang="zh-CN" sz="1800"/>
              <a:t>3</a:t>
            </a:r>
            <a:r>
              <a:rPr lang="zh-CN" altLang="en-US" sz="1800"/>
              <a:t>次抽样均值不是充分独立重复；</a:t>
            </a:r>
            <a:r>
              <a:rPr lang="en-US" altLang="zh-CN" sz="1800"/>
              <a:t>182-084</a:t>
            </a:r>
            <a:r>
              <a:rPr lang="zh-CN" altLang="en-US" sz="1800"/>
              <a:t>作者“估计真值”术语不等于真实参数。参数</a:t>
            </a:r>
            <a:r>
              <a:rPr lang="en-US" altLang="zh-CN" sz="1800"/>
              <a:t>Bootstrap</a:t>
            </a:r>
            <a:r>
              <a:rPr lang="zh-CN" altLang="en-US" sz="1800"/>
              <a:t>在此为评价逻辑说明，不冒称本库已形成通行做法。</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报告</a:t>
            </a:r>
            <a:r>
              <a:rPr lang="en-US" altLang="zh-CN" sz="1800"/>
              <a:t>3.5</a:t>
            </a:r>
            <a:r>
              <a:rPr lang="zh-CN" altLang="en-US" sz="1800"/>
              <a:t>。无约束</a:t>
            </a:r>
            <a:r>
              <a:rPr lang="en-US" altLang="zh-CN" sz="1800"/>
              <a:t>3P Weibull</a:t>
            </a:r>
            <a:r>
              <a:rPr lang="zh-CN" altLang="en-US" sz="1800"/>
              <a:t>允许</a:t>
            </a:r>
            <a:r>
              <a:rPr lang="en-US" altLang="zh-CN" sz="1800"/>
              <a:t>0&lt;β&lt;1</a:t>
            </a:r>
            <a:r>
              <a:rPr lang="zh-CN" altLang="en-US" sz="1800"/>
              <a:t>时，</a:t>
            </a:r>
            <a:r>
              <a:rPr lang="en-US" altLang="zh-CN" sz="1800"/>
              <a:t>γ</a:t>
            </a:r>
            <a:r>
              <a:rPr lang="zh-CN" altLang="en-US" sz="1800"/>
              <a:t>趋近样本最小值的路径使似然无界，与真实</a:t>
            </a:r>
            <a:r>
              <a:rPr lang="en-US" altLang="zh-CN" sz="1800"/>
              <a:t>β</a:t>
            </a:r>
            <a:r>
              <a:rPr lang="zh-CN" altLang="en-US" sz="1800"/>
              <a:t>不等价；更换</a:t>
            </a:r>
            <a:r>
              <a:rPr lang="en-US" altLang="zh-CN" sz="1800"/>
              <a:t>PSO</a:t>
            </a:r>
            <a:r>
              <a:rPr lang="zh-CN" altLang="en-US" sz="1800"/>
              <a:t>不能创造有限全局最大值。若回退，另定义完整流程。失败率完整披露是建议，不是文献已统一执行的惯例。</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报告总结及研究进度与待办。仅重组既有证据，未新做性能实验。</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4" name="图片 21"/>
          <p:cNvPicPr>
            <a:picLocks noChangeAspect="1"/>
          </p:cNvPicPr>
          <p:nvPr/>
        </p:nvPicPr>
        <p:blipFill>
          <a:blip r:embed="rId2">
            <a:alphaModFix amt="20000"/>
            <a:clrChange>
              <a:clrFrom>
                <a:srgbClr val="FFFFFF"/>
              </a:clrFrom>
              <a:clrTo>
                <a:srgbClr val="FFFFFF">
                  <a:alpha val="0"/>
                </a:srgbClr>
              </a:clrTo>
            </a:clrChange>
            <a:duotone>
              <a:schemeClr val="bg2">
                <a:shade val="45000"/>
                <a:satMod val="135000"/>
              </a:schemeClr>
              <a:prstClr val="white"/>
            </a:duotone>
          </a:blip>
          <a:srcRect l="-375" t="36417" r="375" b="17715"/>
          <a:stretch>
            <a:fillRect/>
          </a:stretch>
        </p:blipFill>
        <p:spPr>
          <a:xfrm>
            <a:off x="-188953" y="3125718"/>
            <a:ext cx="12697941" cy="4114800"/>
          </a:xfrm>
          <a:prstGeom prst="rect">
            <a:avLst/>
          </a:prstGeom>
        </p:spPr>
      </p:pic>
      <p:pic>
        <p:nvPicPr>
          <p:cNvPr id="5" name="图片 24"/>
          <p:cNvPicPr>
            <a:picLocks noChangeAspect="1"/>
          </p:cNvPicPr>
          <p:nvPr/>
        </p:nvPicPr>
        <p:blipFill>
          <a:blip r:embed="rId3"/>
          <a:srcRect b="60826"/>
          <a:stretch>
            <a:fillRect/>
          </a:stretch>
        </p:blipFill>
        <p:spPr>
          <a:xfrm>
            <a:off x="133584" y="72497"/>
            <a:ext cx="3337845" cy="708895"/>
          </a:xfrm>
          <a:prstGeom prst="rect">
            <a:avLst/>
          </a:prstGeom>
        </p:spPr>
      </p:pic>
      <p:pic>
        <p:nvPicPr>
          <p:cNvPr id="6" name="图片 1"/>
          <p:cNvPicPr>
            <a:picLocks noChangeAspect="1"/>
          </p:cNvPicPr>
          <p:nvPr/>
        </p:nvPicPr>
        <p:blipFill>
          <a:blip r:embed="rId4"/>
          <a:stretch>
            <a:fillRect/>
          </a:stretch>
        </p:blipFill>
        <p:spPr>
          <a:xfrm>
            <a:off x="7089206" y="72497"/>
            <a:ext cx="5102794" cy="914479"/>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333" name="矩形 332">
            <a:extLst>
              <a:ext uri="{FF2B5EF4-FFF2-40B4-BE49-F238E27FC236}">
                <a16:creationId xmlns:a16="http://schemas.microsoft.com/office/drawing/2014/main" id="{25D00A80-15F0-4C3D-BA1C-D2B8DF5713B7}"/>
              </a:ext>
            </a:extLst>
          </p:cNvPr>
          <p:cNvSpPr>
            <a:spLocks noGrp="1"/>
          </p:cNvSpPr>
          <p:nvPr/>
        </p:nvSpPr>
        <p:spPr>
          <a:xfrm>
            <a:off x="334962" y="833952"/>
            <a:ext cx="11522073" cy="499299"/>
          </a:xfrm>
          <a:prstGeom prst="rect">
            <a:avLst/>
          </a:prstGeom>
          <a:gradFill>
            <a:gsLst>
              <a:gs pos="17500">
                <a:srgbClr val="3E84EC"/>
              </a:gs>
              <a:gs pos="100000">
                <a:schemeClr val="accent1">
                  <a:lumMod val="75000"/>
                </a:schemeClr>
              </a:gs>
              <a:gs pos="0">
                <a:srgbClr val="0268FE">
                  <a:lumMod val="75000"/>
                  <a:lumOff val="25000"/>
                  <a:alpha val="69000"/>
                </a:srgbClr>
              </a:gs>
            </a:gsLst>
            <a:path path="circle">
              <a:fillToRect l="100000" b="100000"/>
            </a:path>
          </a:gradFill>
          <a:ln w="12700" cmpd="sng">
            <a:noFill/>
            <a:prstDash val="solid"/>
          </a:ln>
        </p:spPr>
        <p:txBody>
          <a:bodyPr anchor="ctr"/>
          <a:lstStyle/>
          <a:p>
            <a:pPr marL="0" marR="0" lvl="0" indent="0" algn="ctr" defTabSz="914400">
              <a:lnSpc>
                <a:spcPct val="100000"/>
              </a:lnSpc>
              <a:spcBef>
                <a:spcPts val="0"/>
              </a:spcBef>
              <a:spcAft>
                <a:spcPts val="0"/>
              </a:spcAft>
              <a:buClrTx/>
              <a:buSzTx/>
              <a:buFontTx/>
              <a:buNone/>
            </a:pPr>
            <a:endParaRPr sz="1800" b="0" i="0" u="none" kern="0" cap="none" spc="0" baseline="0">
              <a:ln>
                <a:noFill/>
              </a:ln>
              <a:solidFill>
                <a:srgbClr val="FFFFFF"/>
              </a:solidFill>
              <a:latin typeface="等线"/>
              <a:ea typeface="等线"/>
              <a:cs typeface="等线"/>
            </a:endParaRPr>
          </a:p>
        </p:txBody>
      </p:sp>
      <p:pic>
        <p:nvPicPr>
          <p:cNvPr id="336" name="图片 16"/>
          <p:cNvPicPr>
            <a:picLocks noChangeAspect="1"/>
          </p:cNvPicPr>
          <p:nvPr/>
        </p:nvPicPr>
        <p:blipFill>
          <a:blip r:embed="rId2"/>
          <a:srcRect b="59104"/>
          <a:stretch>
            <a:fillRect/>
          </a:stretch>
        </p:blipFill>
        <p:spPr>
          <a:xfrm>
            <a:off x="9374637" y="198304"/>
            <a:ext cx="2675956" cy="593304"/>
          </a:xfrm>
          <a:prstGeom prst="rect">
            <a:avLst/>
          </a:prstGeom>
        </p:spPr>
      </p:pic>
      <p:sp>
        <p:nvSpPr>
          <p:cNvPr id="11" name="直接连接符 10">
            <a:extLst>
              <a:ext uri="{FF2B5EF4-FFF2-40B4-BE49-F238E27FC236}">
                <a16:creationId xmlns:a16="http://schemas.microsoft.com/office/drawing/2014/main" id="{C33201AA-A72A-42CB-BA87-C4E3F68D7C54}"/>
              </a:ext>
            </a:extLst>
          </p:cNvPr>
          <p:cNvSpPr>
            <a:spLocks noGrp="1"/>
          </p:cNvSpPr>
          <p:nvPr/>
        </p:nvSpPr>
        <p:spPr>
          <a:xfrm>
            <a:off x="334962" y="6564990"/>
            <a:ext cx="11522076" cy="0"/>
          </a:xfrm>
          <a:prstGeom prst="line">
            <a:avLst/>
          </a:prstGeom>
          <a:ln w="50800">
            <a:solidFill>
              <a:schemeClr val="accent1"/>
            </a:solidFill>
            <a:prstDash val="solid"/>
          </a:ln>
        </p:spPr>
        <p:style>
          <a:lnRef idx="1">
            <a:schemeClr val="accent1"/>
          </a:lnRef>
          <a:fillRef idx="0">
            <a:schemeClr val="accent1"/>
          </a:fillRef>
          <a:effectRef idx="0">
            <a:schemeClr val="accent1"/>
          </a:effectRef>
          <a:fontRef idx="minor">
            <a:schemeClr val="tx1"/>
          </a:fontRef>
        </p:style>
      </p:sp>
      <p:sp>
        <p:nvSpPr>
          <p:cNvPr id="10" name="直接连接符 9">
            <a:extLst>
              <a:ext uri="{FF2B5EF4-FFF2-40B4-BE49-F238E27FC236}">
                <a16:creationId xmlns:a16="http://schemas.microsoft.com/office/drawing/2014/main" id="{318508C9-E08C-4A63-8DC5-682D5D25DC9D}"/>
              </a:ext>
            </a:extLst>
          </p:cNvPr>
          <p:cNvSpPr>
            <a:spLocks noGrp="1"/>
          </p:cNvSpPr>
          <p:nvPr/>
        </p:nvSpPr>
        <p:spPr>
          <a:xfrm>
            <a:off x="334963" y="1402294"/>
            <a:ext cx="11522075" cy="0"/>
          </a:xfrm>
          <a:prstGeom prst="line">
            <a:avLst/>
          </a:prstGeom>
          <a:noFill/>
          <a:ln w="25400">
            <a:gradFill rotWithShape="1">
              <a:gsLst>
                <a:gs pos="100000">
                  <a:schemeClr val="accent1">
                    <a:lumMod val="97000"/>
                  </a:schemeClr>
                </a:gs>
                <a:gs pos="0">
                  <a:schemeClr val="accent1">
                    <a:alpha val="0"/>
                  </a:schemeClr>
                </a:gs>
              </a:gsLst>
              <a:lin ang="10800000" scaled="1"/>
              <a:tileRect/>
            </a:gradFill>
            <a:tailEnd type="none" w="med" len="sm"/>
          </a:ln>
          <a:effectLst>
            <a:outerShdw blurRad="63500" dist="50800" dir="48000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87" name="任意多边形: 形状 86">
            <a:extLst>
              <a:ext uri="{FF2B5EF4-FFF2-40B4-BE49-F238E27FC236}">
                <a16:creationId xmlns:a16="http://schemas.microsoft.com/office/drawing/2014/main" id="{8FF3E6BE-823E-41AB-9EE5-04BCCFD4A87C}"/>
              </a:ext>
            </a:extLst>
          </p:cNvPr>
          <p:cNvSpPr>
            <a:spLocks noGrp="1"/>
          </p:cNvSpPr>
          <p:nvPr/>
        </p:nvSpPr>
        <p:spPr>
          <a:xfrm rot="10800000">
            <a:off x="2562" y="10535"/>
            <a:ext cx="4440577" cy="2998608"/>
          </a:xfrm>
          <a:custGeom>
            <a:avLst/>
            <a:gdLst>
              <a:gd name="connsiteX0" fmla="*/ 2893248 w 4163705"/>
              <a:gd name="connsiteY0" fmla="*/ 0 h 2398711"/>
              <a:gd name="connsiteX1" fmla="*/ 4039971 w 4163705"/>
              <a:gd name="connsiteY1" fmla="*/ 231513 h 2398711"/>
              <a:gd name="connsiteX2" fmla="*/ 4163705 w 4163705"/>
              <a:gd name="connsiteY2" fmla="*/ 291119 h 2398711"/>
              <a:gd name="connsiteX3" fmla="*/ 4163705 w 4163705"/>
              <a:gd name="connsiteY3" fmla="*/ 2398711 h 2398711"/>
              <a:gd name="connsiteX4" fmla="*/ 0 w 4163705"/>
              <a:gd name="connsiteY4" fmla="*/ 2398711 h 2398711"/>
              <a:gd name="connsiteX5" fmla="*/ 7085 w 4163705"/>
              <a:gd name="connsiteY5" fmla="*/ 2352291 h 2398711"/>
              <a:gd name="connsiteX6" fmla="*/ 2893248 w 4163705"/>
              <a:gd name="connsiteY6" fmla="*/ 0 h 2398711"/>
            </a:gdLst>
            <a:ahLst/>
            <a:cxnLst/>
            <a:rect l="l" t="t" r="r" b="b"/>
            <a:pathLst>
              <a:path w="4163705" h="2398711">
                <a:moveTo>
                  <a:pt x="2893248" y="0"/>
                </a:moveTo>
                <a:cubicBezTo>
                  <a:pt x="3300008" y="0"/>
                  <a:pt x="3687514" y="82436"/>
                  <a:pt x="4039971" y="231513"/>
                </a:cubicBezTo>
                <a:lnTo>
                  <a:pt x="4163705" y="291119"/>
                </a:lnTo>
                <a:lnTo>
                  <a:pt x="4163705" y="2398711"/>
                </a:lnTo>
                <a:lnTo>
                  <a:pt x="0" y="2398711"/>
                </a:lnTo>
                <a:lnTo>
                  <a:pt x="7085" y="2352291"/>
                </a:lnTo>
                <a:cubicBezTo>
                  <a:pt x="281790" y="1009841"/>
                  <a:pt x="1469588" y="0"/>
                  <a:pt x="2893248" y="0"/>
                </a:cubicBezTo>
                <a:close/>
              </a:path>
            </a:pathLst>
          </a:custGeom>
          <a:gradFill>
            <a:gsLst>
              <a:gs pos="100000">
                <a:srgbClr val="0268FE">
                  <a:lumMod val="9000"/>
                  <a:lumOff val="91000"/>
                </a:srgbClr>
              </a:gs>
              <a:gs pos="0">
                <a:srgbClr val="0268FE">
                  <a:lumMod val="4000"/>
                  <a:lumOff val="96000"/>
                </a:srgbClr>
              </a:gs>
            </a:gsLst>
            <a:lin ang="5400000" scaled="1"/>
          </a:gradFill>
          <a:ln w="12700" cmpd="sng">
            <a:noFill/>
            <a:prstDash val="solid"/>
          </a:ln>
        </p:spPr>
        <p:txBody>
          <a:bodyPr wrap="square" anchor="ctr">
            <a:noAutofit/>
          </a:bodyPr>
          <a:lstStyle/>
          <a:p>
            <a:pPr marL="0" marR="0" lvl="0" indent="0" algn="ctr" defTabSz="914400">
              <a:lnSpc>
                <a:spcPct val="100000"/>
              </a:lnSpc>
              <a:spcBef>
                <a:spcPts val="0"/>
              </a:spcBef>
              <a:spcAft>
                <a:spcPts val="0"/>
              </a:spcAft>
              <a:buClrTx/>
              <a:buSzTx/>
              <a:buFontTx/>
              <a:buNone/>
            </a:pPr>
            <a:endParaRPr sz="1800" b="0" i="0" u="none" kern="0" cap="none" spc="0" baseline="0">
              <a:ln>
                <a:noFill/>
              </a:ln>
              <a:solidFill>
                <a:srgbClr val="FFFFFF"/>
              </a:solidFill>
              <a:latin typeface="等线"/>
              <a:ea typeface="等线"/>
              <a:cs typeface="等线"/>
            </a:endParaRPr>
          </a:p>
        </p:txBody>
      </p:sp>
      <p:sp>
        <p:nvSpPr>
          <p:cNvPr id="89" name="文本框 88">
            <a:extLst>
              <a:ext uri="{FF2B5EF4-FFF2-40B4-BE49-F238E27FC236}">
                <a16:creationId xmlns:a16="http://schemas.microsoft.com/office/drawing/2014/main" id="{1BD28AC6-1683-4006-BB10-0F7A4C13FDE0}"/>
              </a:ext>
            </a:extLst>
          </p:cNvPr>
          <p:cNvSpPr>
            <a:spLocks noGrp="1"/>
          </p:cNvSpPr>
          <p:nvPr/>
        </p:nvSpPr>
        <p:spPr>
          <a:xfrm>
            <a:off x="-79985" y="1085380"/>
            <a:ext cx="3262303" cy="830997"/>
          </a:xfrm>
          <a:prstGeom prst="rect">
            <a:avLst/>
          </a:prstGeom>
          <a:noFill/>
        </p:spPr>
        <p:txBody>
          <a:bodyPr wrap="none">
            <a:spAutoFit/>
          </a:bodyPr>
          <a:lstStyle/>
          <a:p>
            <a:r>
              <a:rPr sz="4800" b="1">
                <a:solidFill>
                  <a:srgbClr val="FFFFFF"/>
                </a:solidFill>
                <a:latin typeface="微软雅黑"/>
                <a:ea typeface="微软雅黑"/>
                <a:cs typeface="微软雅黑"/>
              </a:rPr>
              <a:t>CONTENT</a:t>
            </a:r>
          </a:p>
        </p:txBody>
      </p:sp>
      <p:pic>
        <p:nvPicPr>
          <p:cNvPr id="135" name="图片 124"/>
          <p:cNvPicPr>
            <a:picLocks noChangeAspect="1"/>
          </p:cNvPicPr>
          <p:nvPr/>
        </p:nvPicPr>
        <p:blipFill>
          <a:blip r:embed="rId2">
            <a:alphaModFix amt="70000"/>
          </a:blip>
          <a:srcRect b="58808"/>
          <a:stretch>
            <a:fillRect/>
          </a:stretch>
        </p:blipFill>
        <p:spPr>
          <a:xfrm>
            <a:off x="662962" y="3707963"/>
            <a:ext cx="3024288" cy="2020666"/>
          </a:xfrm>
          <a:prstGeom prst="rect">
            <a:avLst/>
          </a:prstGeom>
        </p:spPr>
      </p:pic>
      <p:sp>
        <p:nvSpPr>
          <p:cNvPr id="88" name="文本框 87">
            <a:extLst>
              <a:ext uri="{FF2B5EF4-FFF2-40B4-BE49-F238E27FC236}">
                <a16:creationId xmlns:a16="http://schemas.microsoft.com/office/drawing/2014/main" id="{A61A7C37-D891-4BA3-A964-5035F355B85B}"/>
              </a:ext>
            </a:extLst>
          </p:cNvPr>
          <p:cNvSpPr>
            <a:spLocks noGrp="1"/>
          </p:cNvSpPr>
          <p:nvPr/>
        </p:nvSpPr>
        <p:spPr>
          <a:xfrm>
            <a:off x="851667" y="1479325"/>
            <a:ext cx="2646878" cy="830997"/>
          </a:xfrm>
          <a:prstGeom prst="rect">
            <a:avLst/>
          </a:prstGeom>
          <a:noFill/>
        </p:spPr>
        <p:txBody>
          <a:bodyPr wrap="none">
            <a:spAutoFit/>
          </a:bodyPr>
          <a:lstStyle>
            <a:lvl1pPr>
              <a:buNone/>
              <a:defRPr sz="7200">
                <a:gradFill flip="none" rotWithShape="1">
                  <a:gsLst>
                    <a:gs pos="0">
                      <a:schemeClr val="accent1">
                        <a:lumMod val="80000"/>
                        <a:lumOff val="20000"/>
                      </a:schemeClr>
                    </a:gs>
                    <a:gs pos="100000">
                      <a:schemeClr val="accent1"/>
                    </a:gs>
                  </a:gsLst>
                  <a:lin ang="5400000" scaled="1"/>
                  <a:tileRect/>
                </a:gradFill>
                <a:latin typeface="思源宋体 CN Heavy"/>
                <a:ea typeface="思源宋体 CN Heavy"/>
                <a:cs typeface="思源宋体 CN Heavy"/>
              </a:defRPr>
            </a:lvl1pPr>
          </a:lstStyle>
          <a:p>
            <a:pPr marL="0" marR="0" lvl="0" indent="0" defTabSz="914400">
              <a:lnSpc>
                <a:spcPct val="100000"/>
              </a:lnSpc>
              <a:spcBef>
                <a:spcPts val="0"/>
              </a:spcBef>
              <a:spcAft>
                <a:spcPts val="0"/>
              </a:spcAft>
              <a:buClrTx/>
              <a:buSzTx/>
              <a:buFontTx/>
              <a:buNone/>
            </a:pPr>
            <a:r>
              <a:rPr sz="4800" b="0" i="0" u="none" cap="none" spc="0">
                <a:ln>
                  <a:noFill/>
                </a:ln>
                <a:gradFill rotWithShape="1">
                  <a:gsLst>
                    <a:gs pos="0">
                      <a:srgbClr val="0268FE">
                        <a:lumMod val="80000"/>
                        <a:lumOff val="20000"/>
                      </a:srgbClr>
                    </a:gs>
                    <a:gs pos="100000">
                      <a:srgbClr val="0268FE"/>
                    </a:gs>
                  </a:gsLst>
                  <a:lin ang="5400000" scaled="1"/>
                  <a:tileRect/>
                </a:gradFill>
                <a:latin typeface="汉仪粗宋简"/>
                <a:ea typeface="汉仪粗宋简"/>
                <a:cs typeface="汉仪粗宋简"/>
              </a:rPr>
              <a:t>汇报提纲</a:t>
            </a:r>
          </a:p>
        </p:txBody>
      </p:sp>
      <p:sp>
        <p:nvSpPr>
          <p:cNvPr id="131" name="任意多边形: 形状 130">
            <a:extLst>
              <a:ext uri="{FF2B5EF4-FFF2-40B4-BE49-F238E27FC236}">
                <a16:creationId xmlns:a16="http://schemas.microsoft.com/office/drawing/2014/main" id="{25C8C45D-7CBB-4B9F-860A-0AD2A7965893}"/>
              </a:ext>
            </a:extLst>
          </p:cNvPr>
          <p:cNvSpPr>
            <a:spLocks noGrp="1"/>
          </p:cNvSpPr>
          <p:nvPr/>
        </p:nvSpPr>
        <p:spPr>
          <a:xfrm>
            <a:off x="8895335" y="4602588"/>
            <a:ext cx="3296666" cy="2255412"/>
          </a:xfrm>
          <a:custGeom>
            <a:avLst/>
            <a:gdLst>
              <a:gd name="connsiteX0" fmla="*/ 2893248 w 4163705"/>
              <a:gd name="connsiteY0" fmla="*/ 0 h 2398711"/>
              <a:gd name="connsiteX1" fmla="*/ 4039971 w 4163705"/>
              <a:gd name="connsiteY1" fmla="*/ 231513 h 2398711"/>
              <a:gd name="connsiteX2" fmla="*/ 4163705 w 4163705"/>
              <a:gd name="connsiteY2" fmla="*/ 291119 h 2398711"/>
              <a:gd name="connsiteX3" fmla="*/ 4163705 w 4163705"/>
              <a:gd name="connsiteY3" fmla="*/ 2398711 h 2398711"/>
              <a:gd name="connsiteX4" fmla="*/ 0 w 4163705"/>
              <a:gd name="connsiteY4" fmla="*/ 2398711 h 2398711"/>
              <a:gd name="connsiteX5" fmla="*/ 7085 w 4163705"/>
              <a:gd name="connsiteY5" fmla="*/ 2352291 h 2398711"/>
              <a:gd name="connsiteX6" fmla="*/ 2893248 w 4163705"/>
              <a:gd name="connsiteY6" fmla="*/ 0 h 2398711"/>
            </a:gdLst>
            <a:ahLst/>
            <a:cxnLst/>
            <a:rect l="l" t="t" r="r" b="b"/>
            <a:pathLst>
              <a:path w="4163705" h="2398711">
                <a:moveTo>
                  <a:pt x="2893248" y="0"/>
                </a:moveTo>
                <a:cubicBezTo>
                  <a:pt x="3300008" y="0"/>
                  <a:pt x="3687514" y="82436"/>
                  <a:pt x="4039971" y="231513"/>
                </a:cubicBezTo>
                <a:lnTo>
                  <a:pt x="4163705" y="291119"/>
                </a:lnTo>
                <a:lnTo>
                  <a:pt x="4163705" y="2398711"/>
                </a:lnTo>
                <a:lnTo>
                  <a:pt x="0" y="2398711"/>
                </a:lnTo>
                <a:lnTo>
                  <a:pt x="7085" y="2352291"/>
                </a:lnTo>
                <a:cubicBezTo>
                  <a:pt x="281790" y="1009841"/>
                  <a:pt x="1469588" y="0"/>
                  <a:pt x="2893248" y="0"/>
                </a:cubicBezTo>
                <a:close/>
              </a:path>
            </a:pathLst>
          </a:custGeom>
          <a:gradFill>
            <a:gsLst>
              <a:gs pos="100000">
                <a:srgbClr val="0268FE">
                  <a:lumMod val="9000"/>
                  <a:lumOff val="91000"/>
                </a:srgbClr>
              </a:gs>
              <a:gs pos="0">
                <a:srgbClr val="0268FE">
                  <a:lumMod val="4000"/>
                  <a:lumOff val="96000"/>
                </a:srgbClr>
              </a:gs>
            </a:gsLst>
            <a:lin ang="5400000" scaled="1"/>
          </a:gradFill>
          <a:ln w="12700" cmpd="sng">
            <a:noFill/>
            <a:prstDash val="solid"/>
          </a:ln>
        </p:spPr>
        <p:txBody>
          <a:bodyPr wrap="square" anchor="ctr">
            <a:noAutofit/>
          </a:bodyPr>
          <a:lstStyle/>
          <a:p>
            <a:pPr marL="0" marR="0" lvl="0" indent="0" algn="ctr" defTabSz="914400">
              <a:lnSpc>
                <a:spcPct val="100000"/>
              </a:lnSpc>
              <a:spcBef>
                <a:spcPts val="0"/>
              </a:spcBef>
              <a:spcAft>
                <a:spcPts val="0"/>
              </a:spcAft>
              <a:buClrTx/>
              <a:buSzTx/>
              <a:buFontTx/>
              <a:buNone/>
            </a:pPr>
            <a:endParaRPr sz="1800" b="0" i="0" u="none" kern="0" cap="none" spc="0" baseline="0">
              <a:ln>
                <a:noFill/>
              </a:ln>
              <a:solidFill>
                <a:srgbClr val="FFFFFF"/>
              </a:solidFill>
              <a:latin typeface="等线"/>
              <a:ea typeface="等线"/>
              <a:cs typeface="等线"/>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494629-B2BD-4D20-9BE8-A348383E5695}"/>
              </a:ext>
            </a:extLst>
          </p:cNvPr>
          <p:cNvSpPr>
            <a:spLocks noGrp="1"/>
          </p:cNvSpPr>
          <p:nvPr>
            <p:ph type="title"/>
          </p:nvPr>
        </p:nvSpPr>
        <p:spPr>
          <a:xfrm>
            <a:off x="839788" y="365125"/>
            <a:ext cx="10515600" cy="1325563"/>
          </a:xfrm>
        </p:spPr>
        <p:txBody>
          <a:bodyPr/>
          <a:lstStyle/>
          <a:p>
            <a:r>
              <a:t>单击此处编辑母版标题样式</a:t>
            </a:r>
          </a:p>
        </p:txBody>
      </p:sp>
      <p:sp>
        <p:nvSpPr>
          <p:cNvPr id="3" name="文本占位符 2">
            <a:extLst>
              <a:ext uri="{FF2B5EF4-FFF2-40B4-BE49-F238E27FC236}">
                <a16:creationId xmlns:a16="http://schemas.microsoft.com/office/drawing/2014/main" id="{DACFFA4A-116A-46C5-A2F8-3F07BD47CA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单击此处编辑母版文本样式</a:t>
            </a:r>
          </a:p>
        </p:txBody>
      </p:sp>
      <p:sp>
        <p:nvSpPr>
          <p:cNvPr id="4" name="内容占位符 3">
            <a:extLst>
              <a:ext uri="{FF2B5EF4-FFF2-40B4-BE49-F238E27FC236}">
                <a16:creationId xmlns:a16="http://schemas.microsoft.com/office/drawing/2014/main" id="{4E1F2C58-CD69-4C73-AF93-AEE85893F66B}"/>
              </a:ext>
            </a:extLst>
          </p:cNvPr>
          <p:cNvSpPr>
            <a:spLocks noGrp="1"/>
          </p:cNvSpPr>
          <p:nvPr>
            <p:ph idx="2"/>
          </p:nvPr>
        </p:nvSpPr>
        <p:spPr>
          <a:xfrm>
            <a:off x="839788" y="2505075"/>
            <a:ext cx="5157787" cy="3684588"/>
          </a:xfrm>
        </p:spPr>
        <p:txBody>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5" name="文本占位符 4">
            <a:extLst>
              <a:ext uri="{FF2B5EF4-FFF2-40B4-BE49-F238E27FC236}">
                <a16:creationId xmlns:a16="http://schemas.microsoft.com/office/drawing/2014/main" id="{6664EF93-C77E-4753-89A2-B42BC54E813B}"/>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单击此处编辑母版文本样式</a:t>
            </a:r>
          </a:p>
        </p:txBody>
      </p:sp>
      <p:sp>
        <p:nvSpPr>
          <p:cNvPr id="6" name="内容占位符 5">
            <a:extLst>
              <a:ext uri="{FF2B5EF4-FFF2-40B4-BE49-F238E27FC236}">
                <a16:creationId xmlns:a16="http://schemas.microsoft.com/office/drawing/2014/main" id="{66CFF673-FA18-4DF9-A003-A42740ABB113}"/>
              </a:ext>
            </a:extLst>
          </p:cNvPr>
          <p:cNvSpPr>
            <a:spLocks noGrp="1"/>
          </p:cNvSpPr>
          <p:nvPr>
            <p:ph idx="4"/>
          </p:nvPr>
        </p:nvSpPr>
        <p:spPr>
          <a:xfrm>
            <a:off x="6172200" y="2505075"/>
            <a:ext cx="5183188" cy="3684588"/>
          </a:xfrm>
        </p:spPr>
        <p:txBody>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7" name="日期占位符 6">
            <a:extLst>
              <a:ext uri="{FF2B5EF4-FFF2-40B4-BE49-F238E27FC236}">
                <a16:creationId xmlns:a16="http://schemas.microsoft.com/office/drawing/2014/main" id="{E6BA5EFC-8B17-4E3A-963D-8B491CAC20CD}"/>
              </a:ext>
            </a:extLst>
          </p:cNvPr>
          <p:cNvSpPr>
            <a:spLocks noGrp="1"/>
          </p:cNvSpPr>
          <p:nvPr>
            <p:ph type="dt" idx="10"/>
          </p:nvPr>
        </p:nvSpPr>
        <p:spPr/>
        <p:txBody>
          <a:bodyPr/>
          <a:lstStyle/>
          <a:p>
            <a:fld id="{9F4852F6-D0EE-43FF-9758-4449F4064C7C}" type="datetimeFigureOut">
              <a:t>2026/9/27</a:t>
            </a:fld>
            <a:endParaRPr/>
          </a:p>
        </p:txBody>
      </p:sp>
      <p:sp>
        <p:nvSpPr>
          <p:cNvPr id="8" name="页脚占位符 7">
            <a:extLst>
              <a:ext uri="{FF2B5EF4-FFF2-40B4-BE49-F238E27FC236}">
                <a16:creationId xmlns:a16="http://schemas.microsoft.com/office/drawing/2014/main" id="{A049F442-F8B7-4971-BD4A-13BCD800E1F8}"/>
              </a:ext>
            </a:extLst>
          </p:cNvPr>
          <p:cNvSpPr>
            <a:spLocks noGrp="1"/>
          </p:cNvSpPr>
          <p:nvPr>
            <p:ph type="ftr" idx="11"/>
          </p:nvPr>
        </p:nvSpPr>
        <p:spPr/>
        <p:txBody>
          <a:bodyPr/>
          <a:lstStyle/>
          <a:p>
            <a:endParaRPr/>
          </a:p>
        </p:txBody>
      </p:sp>
      <p:sp>
        <p:nvSpPr>
          <p:cNvPr id="9" name="灯片编号占位符 8">
            <a:extLst>
              <a:ext uri="{FF2B5EF4-FFF2-40B4-BE49-F238E27FC236}">
                <a16:creationId xmlns:a16="http://schemas.microsoft.com/office/drawing/2014/main" id="{192642B2-6F22-4B9B-82AD-D3B06406DB50}"/>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D6529E-89F7-4F18-91FE-AF7BE991C016}"/>
              </a:ext>
            </a:extLst>
          </p:cNvPr>
          <p:cNvSpPr>
            <a:spLocks noGrp="1"/>
          </p:cNvSpPr>
          <p:nvPr>
            <p:ph type="title"/>
          </p:nvPr>
        </p:nvSpPr>
        <p:spPr/>
        <p:txBody>
          <a:bodyPr/>
          <a:lstStyle/>
          <a:p>
            <a:r>
              <a:t>单击此处编辑母版标题样式</a:t>
            </a:r>
          </a:p>
        </p:txBody>
      </p:sp>
      <p:sp>
        <p:nvSpPr>
          <p:cNvPr id="3" name="日期占位符 2">
            <a:extLst>
              <a:ext uri="{FF2B5EF4-FFF2-40B4-BE49-F238E27FC236}">
                <a16:creationId xmlns:a16="http://schemas.microsoft.com/office/drawing/2014/main" id="{510D0125-25E2-4ABE-96A0-B7C76CE65F16}"/>
              </a:ext>
            </a:extLst>
          </p:cNvPr>
          <p:cNvSpPr>
            <a:spLocks noGrp="1"/>
          </p:cNvSpPr>
          <p:nvPr>
            <p:ph type="dt" idx="10"/>
          </p:nvPr>
        </p:nvSpPr>
        <p:spPr/>
        <p:txBody>
          <a:bodyPr/>
          <a:lstStyle/>
          <a:p>
            <a:fld id="{9F4852F6-D0EE-43FF-9758-4449F4064C7C}" type="datetimeFigureOut">
              <a:t>2026/9/27</a:t>
            </a:fld>
            <a:endParaRPr/>
          </a:p>
        </p:txBody>
      </p:sp>
      <p:sp>
        <p:nvSpPr>
          <p:cNvPr id="4" name="页脚占位符 3">
            <a:extLst>
              <a:ext uri="{FF2B5EF4-FFF2-40B4-BE49-F238E27FC236}">
                <a16:creationId xmlns:a16="http://schemas.microsoft.com/office/drawing/2014/main" id="{FEB9997D-42C9-4983-A767-A637AEACB156}"/>
              </a:ext>
            </a:extLst>
          </p:cNvPr>
          <p:cNvSpPr>
            <a:spLocks noGrp="1"/>
          </p:cNvSpPr>
          <p:nvPr>
            <p:ph type="ftr" idx="11"/>
          </p:nvPr>
        </p:nvSpPr>
        <p:spPr/>
        <p:txBody>
          <a:bodyPr/>
          <a:lstStyle/>
          <a:p>
            <a:endParaRPr/>
          </a:p>
        </p:txBody>
      </p:sp>
      <p:sp>
        <p:nvSpPr>
          <p:cNvPr id="5" name="灯片编号占位符 4">
            <a:extLst>
              <a:ext uri="{FF2B5EF4-FFF2-40B4-BE49-F238E27FC236}">
                <a16:creationId xmlns:a16="http://schemas.microsoft.com/office/drawing/2014/main" id="{4525489B-D304-43A8-BF8C-F0785C3ABA52}"/>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B0B0469B-7200-416A-8519-9A34B72696B9}"/>
              </a:ext>
            </a:extLst>
          </p:cNvPr>
          <p:cNvSpPr>
            <a:spLocks noGrp="1"/>
          </p:cNvSpPr>
          <p:nvPr>
            <p:ph type="dt" idx="10"/>
          </p:nvPr>
        </p:nvSpPr>
        <p:spPr/>
        <p:txBody>
          <a:bodyPr/>
          <a:lstStyle/>
          <a:p>
            <a:fld id="{9F4852F6-D0EE-43FF-9758-4449F4064C7C}" type="datetimeFigureOut">
              <a:t>2026/9/27</a:t>
            </a:fld>
            <a:endParaRPr/>
          </a:p>
        </p:txBody>
      </p:sp>
      <p:sp>
        <p:nvSpPr>
          <p:cNvPr id="3" name="页脚占位符 2">
            <a:extLst>
              <a:ext uri="{FF2B5EF4-FFF2-40B4-BE49-F238E27FC236}">
                <a16:creationId xmlns:a16="http://schemas.microsoft.com/office/drawing/2014/main" id="{3A4601A5-F3B0-4399-9527-C8006666D477}"/>
              </a:ext>
            </a:extLst>
          </p:cNvPr>
          <p:cNvSpPr>
            <a:spLocks noGrp="1"/>
          </p:cNvSpPr>
          <p:nvPr>
            <p:ph type="ftr" idx="11"/>
          </p:nvPr>
        </p:nvSpPr>
        <p:spPr/>
        <p:txBody>
          <a:bodyPr/>
          <a:lstStyle/>
          <a:p>
            <a:endParaRPr/>
          </a:p>
        </p:txBody>
      </p:sp>
      <p:sp>
        <p:nvSpPr>
          <p:cNvPr id="4" name="灯片编号占位符 3">
            <a:extLst>
              <a:ext uri="{FF2B5EF4-FFF2-40B4-BE49-F238E27FC236}">
                <a16:creationId xmlns:a16="http://schemas.microsoft.com/office/drawing/2014/main" id="{35D499D1-62B7-4375-94B0-BE149AA67435}"/>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162A2E-9955-4F6B-B7C2-492157C6591A}"/>
              </a:ext>
            </a:extLst>
          </p:cNvPr>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3" name="内容占位符 2">
            <a:extLst>
              <a:ext uri="{FF2B5EF4-FFF2-40B4-BE49-F238E27FC236}">
                <a16:creationId xmlns:a16="http://schemas.microsoft.com/office/drawing/2014/main" id="{3F7410B8-7366-4009-A65C-B1C17B3E600E}"/>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文本占位符 3">
            <a:extLst>
              <a:ext uri="{FF2B5EF4-FFF2-40B4-BE49-F238E27FC236}">
                <a16:creationId xmlns:a16="http://schemas.microsoft.com/office/drawing/2014/main" id="{A72A7BB3-FEFF-4145-A73C-8783DB1D45B3}"/>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单击此处编辑母版文本样式</a:t>
            </a:r>
          </a:p>
        </p:txBody>
      </p:sp>
      <p:sp>
        <p:nvSpPr>
          <p:cNvPr id="5" name="日期占位符 4">
            <a:extLst>
              <a:ext uri="{FF2B5EF4-FFF2-40B4-BE49-F238E27FC236}">
                <a16:creationId xmlns:a16="http://schemas.microsoft.com/office/drawing/2014/main" id="{49CC7F14-C2B0-43C1-B6CC-E1F0AE2440EA}"/>
              </a:ext>
            </a:extLst>
          </p:cNvPr>
          <p:cNvSpPr>
            <a:spLocks noGrp="1"/>
          </p:cNvSpPr>
          <p:nvPr>
            <p:ph type="dt" idx="10"/>
          </p:nvPr>
        </p:nvSpPr>
        <p:spPr/>
        <p:txBody>
          <a:bodyPr/>
          <a:lstStyle/>
          <a:p>
            <a:fld id="{9F4852F6-D0EE-43FF-9758-4449F4064C7C}" type="datetimeFigureOut">
              <a:t>2026/9/27</a:t>
            </a:fld>
            <a:endParaRPr/>
          </a:p>
        </p:txBody>
      </p:sp>
      <p:sp>
        <p:nvSpPr>
          <p:cNvPr id="6" name="页脚占位符 5">
            <a:extLst>
              <a:ext uri="{FF2B5EF4-FFF2-40B4-BE49-F238E27FC236}">
                <a16:creationId xmlns:a16="http://schemas.microsoft.com/office/drawing/2014/main" id="{8A703B2A-433F-4968-8C3C-29BC33BCD17B}"/>
              </a:ext>
            </a:extLst>
          </p:cNvPr>
          <p:cNvSpPr>
            <a:spLocks noGrp="1"/>
          </p:cNvSpPr>
          <p:nvPr>
            <p:ph type="ftr" idx="11"/>
          </p:nvPr>
        </p:nvSpPr>
        <p:spPr/>
        <p:txBody>
          <a:bodyPr/>
          <a:lstStyle/>
          <a:p>
            <a:endParaRPr/>
          </a:p>
        </p:txBody>
      </p:sp>
      <p:sp>
        <p:nvSpPr>
          <p:cNvPr id="7" name="灯片编号占位符 6">
            <a:extLst>
              <a:ext uri="{FF2B5EF4-FFF2-40B4-BE49-F238E27FC236}">
                <a16:creationId xmlns:a16="http://schemas.microsoft.com/office/drawing/2014/main" id="{C0570E6A-2266-4B2E-A208-4304DCF2EA4E}"/>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4C00C0-1E1B-46DC-877B-6999AB72EED7}"/>
              </a:ext>
            </a:extLst>
          </p:cNvPr>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3" name="图片占位符 2">
            <a:extLst>
              <a:ext uri="{FF2B5EF4-FFF2-40B4-BE49-F238E27FC236}">
                <a16:creationId xmlns:a16="http://schemas.microsoft.com/office/drawing/2014/main" id="{0E0375EC-D403-474C-BDCD-B132997555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文本占位符 3">
            <a:extLst>
              <a:ext uri="{FF2B5EF4-FFF2-40B4-BE49-F238E27FC236}">
                <a16:creationId xmlns:a16="http://schemas.microsoft.com/office/drawing/2014/main" id="{A85140C5-2534-4D01-A054-8799B7EE14F4}"/>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单击此处编辑母版文本样式</a:t>
            </a:r>
          </a:p>
        </p:txBody>
      </p:sp>
      <p:sp>
        <p:nvSpPr>
          <p:cNvPr id="5" name="日期占位符 4">
            <a:extLst>
              <a:ext uri="{FF2B5EF4-FFF2-40B4-BE49-F238E27FC236}">
                <a16:creationId xmlns:a16="http://schemas.microsoft.com/office/drawing/2014/main" id="{D3C7DBA3-D86D-49F2-9C7E-E2938054A22D}"/>
              </a:ext>
            </a:extLst>
          </p:cNvPr>
          <p:cNvSpPr>
            <a:spLocks noGrp="1"/>
          </p:cNvSpPr>
          <p:nvPr>
            <p:ph type="dt" idx="10"/>
          </p:nvPr>
        </p:nvSpPr>
        <p:spPr/>
        <p:txBody>
          <a:bodyPr/>
          <a:lstStyle/>
          <a:p>
            <a:fld id="{9F4852F6-D0EE-43FF-9758-4449F4064C7C}" type="datetimeFigureOut">
              <a:t>2026/9/27</a:t>
            </a:fld>
            <a:endParaRPr/>
          </a:p>
        </p:txBody>
      </p:sp>
      <p:sp>
        <p:nvSpPr>
          <p:cNvPr id="6" name="页脚占位符 5">
            <a:extLst>
              <a:ext uri="{FF2B5EF4-FFF2-40B4-BE49-F238E27FC236}">
                <a16:creationId xmlns:a16="http://schemas.microsoft.com/office/drawing/2014/main" id="{6067B2D7-B8CF-4FD9-B641-7A5799E77D62}"/>
              </a:ext>
            </a:extLst>
          </p:cNvPr>
          <p:cNvSpPr>
            <a:spLocks noGrp="1"/>
          </p:cNvSpPr>
          <p:nvPr>
            <p:ph type="ftr" idx="11"/>
          </p:nvPr>
        </p:nvSpPr>
        <p:spPr/>
        <p:txBody>
          <a:bodyPr/>
          <a:lstStyle/>
          <a:p>
            <a:endParaRPr/>
          </a:p>
        </p:txBody>
      </p:sp>
      <p:sp>
        <p:nvSpPr>
          <p:cNvPr id="7" name="灯片编号占位符 6">
            <a:extLst>
              <a:ext uri="{FF2B5EF4-FFF2-40B4-BE49-F238E27FC236}">
                <a16:creationId xmlns:a16="http://schemas.microsoft.com/office/drawing/2014/main" id="{870216AD-9FFB-43B0-9ABC-443132024F4E}"/>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20E21E-06F7-4579-9A72-57FA309B3859}"/>
              </a:ext>
            </a:extLst>
          </p:cNvPr>
          <p:cNvSpPr>
            <a:spLocks noGrp="1"/>
          </p:cNvSpPr>
          <p:nvPr>
            <p:ph type="title"/>
          </p:nvPr>
        </p:nvSpPr>
        <p:spPr/>
        <p:txBody>
          <a:bodyPr/>
          <a:lstStyle/>
          <a:p>
            <a:r>
              <a:t>单击此处编辑母版标题样式</a:t>
            </a:r>
          </a:p>
        </p:txBody>
      </p:sp>
      <p:sp>
        <p:nvSpPr>
          <p:cNvPr id="3" name="竖排文字占位符 2">
            <a:extLst>
              <a:ext uri="{FF2B5EF4-FFF2-40B4-BE49-F238E27FC236}">
                <a16:creationId xmlns:a16="http://schemas.microsoft.com/office/drawing/2014/main" id="{A367E993-74FC-4441-AB5C-FD3475EC7723}"/>
              </a:ext>
            </a:extLst>
          </p:cNvPr>
          <p:cNvSpPr>
            <a:spLocks noGrp="1"/>
          </p:cNvSpPr>
          <p:nvPr>
            <p:ph type="body" idx="1"/>
          </p:nvPr>
        </p:nvSpPr>
        <p:spPr/>
        <p:txBody>
          <a:bodyPr vert="eaVert"/>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a:extLst>
              <a:ext uri="{FF2B5EF4-FFF2-40B4-BE49-F238E27FC236}">
                <a16:creationId xmlns:a16="http://schemas.microsoft.com/office/drawing/2014/main" id="{F33AFDDC-B246-4BAC-B53B-FC8B767342D1}"/>
              </a:ext>
            </a:extLst>
          </p:cNvPr>
          <p:cNvSpPr>
            <a:spLocks noGrp="1"/>
          </p:cNvSpPr>
          <p:nvPr>
            <p:ph type="dt" idx="10"/>
          </p:nvPr>
        </p:nvSpPr>
        <p:spPr/>
        <p:txBody>
          <a:bodyPr/>
          <a:lstStyle/>
          <a:p>
            <a:fld id="{9F4852F6-D0EE-43FF-9758-4449F4064C7C}" type="datetimeFigureOut">
              <a:t>2026/9/27</a:t>
            </a:fld>
            <a:endParaRPr/>
          </a:p>
        </p:txBody>
      </p:sp>
      <p:sp>
        <p:nvSpPr>
          <p:cNvPr id="5" name="页脚占位符 4">
            <a:extLst>
              <a:ext uri="{FF2B5EF4-FFF2-40B4-BE49-F238E27FC236}">
                <a16:creationId xmlns:a16="http://schemas.microsoft.com/office/drawing/2014/main" id="{6F447F40-7F16-4FFF-B022-C3AEDC402306}"/>
              </a:ext>
            </a:extLst>
          </p:cNvPr>
          <p:cNvSpPr>
            <a:spLocks noGrp="1"/>
          </p:cNvSpPr>
          <p:nvPr>
            <p:ph type="ftr" idx="11"/>
          </p:nvPr>
        </p:nvSpPr>
        <p:spPr/>
        <p:txBody>
          <a:bodyPr/>
          <a:lstStyle/>
          <a:p>
            <a:endParaRPr/>
          </a:p>
        </p:txBody>
      </p:sp>
      <p:sp>
        <p:nvSpPr>
          <p:cNvPr id="6" name="灯片编号占位符 5">
            <a:extLst>
              <a:ext uri="{FF2B5EF4-FFF2-40B4-BE49-F238E27FC236}">
                <a16:creationId xmlns:a16="http://schemas.microsoft.com/office/drawing/2014/main" id="{B282E804-6DF3-4452-B271-5DEBCCCB06F4}"/>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C3744352-F64F-4B8F-9586-65854C208820}"/>
              </a:ext>
            </a:extLst>
          </p:cNvPr>
          <p:cNvSpPr>
            <a:spLocks noGrp="1"/>
          </p:cNvSpPr>
          <p:nvPr>
            <p:ph type="title"/>
          </p:nvPr>
        </p:nvSpPr>
        <p:spPr>
          <a:xfrm>
            <a:off x="8724900" y="365125"/>
            <a:ext cx="2628900" cy="5811838"/>
          </a:xfrm>
        </p:spPr>
        <p:txBody>
          <a:bodyPr vert="eaVert"/>
          <a:lstStyle/>
          <a:p>
            <a:r>
              <a:t>单击此处编辑母版标题样式</a:t>
            </a:r>
          </a:p>
        </p:txBody>
      </p:sp>
      <p:sp>
        <p:nvSpPr>
          <p:cNvPr id="3" name="竖排文字占位符 2">
            <a:extLst>
              <a:ext uri="{FF2B5EF4-FFF2-40B4-BE49-F238E27FC236}">
                <a16:creationId xmlns:a16="http://schemas.microsoft.com/office/drawing/2014/main" id="{994EFCDB-0053-44F0-B075-A052FA3CBCE2}"/>
              </a:ext>
            </a:extLst>
          </p:cNvPr>
          <p:cNvSpPr>
            <a:spLocks noGrp="1"/>
          </p:cNvSpPr>
          <p:nvPr>
            <p:ph type="body" idx="1"/>
          </p:nvPr>
        </p:nvSpPr>
        <p:spPr>
          <a:xfrm>
            <a:off x="838200" y="365125"/>
            <a:ext cx="7734300" cy="5811838"/>
          </a:xfrm>
        </p:spPr>
        <p:txBody>
          <a:bodyPr vert="eaVert"/>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a:extLst>
              <a:ext uri="{FF2B5EF4-FFF2-40B4-BE49-F238E27FC236}">
                <a16:creationId xmlns:a16="http://schemas.microsoft.com/office/drawing/2014/main" id="{6846FA22-B463-4AD2-BF7D-5708AC9221BA}"/>
              </a:ext>
            </a:extLst>
          </p:cNvPr>
          <p:cNvSpPr>
            <a:spLocks noGrp="1"/>
          </p:cNvSpPr>
          <p:nvPr>
            <p:ph type="dt" idx="10"/>
          </p:nvPr>
        </p:nvSpPr>
        <p:spPr/>
        <p:txBody>
          <a:bodyPr/>
          <a:lstStyle/>
          <a:p>
            <a:fld id="{9F4852F6-D0EE-43FF-9758-4449F4064C7C}" type="datetimeFigureOut">
              <a:t>2026/9/27</a:t>
            </a:fld>
            <a:endParaRPr/>
          </a:p>
        </p:txBody>
      </p:sp>
      <p:sp>
        <p:nvSpPr>
          <p:cNvPr id="5" name="页脚占位符 4">
            <a:extLst>
              <a:ext uri="{FF2B5EF4-FFF2-40B4-BE49-F238E27FC236}">
                <a16:creationId xmlns:a16="http://schemas.microsoft.com/office/drawing/2014/main" id="{7C32AA74-DB7E-448B-B9B2-35075A5FDAFE}"/>
              </a:ext>
            </a:extLst>
          </p:cNvPr>
          <p:cNvSpPr>
            <a:spLocks noGrp="1"/>
          </p:cNvSpPr>
          <p:nvPr>
            <p:ph type="ftr" idx="11"/>
          </p:nvPr>
        </p:nvSpPr>
        <p:spPr/>
        <p:txBody>
          <a:bodyPr/>
          <a:lstStyle/>
          <a:p>
            <a:endParaRPr/>
          </a:p>
        </p:txBody>
      </p:sp>
      <p:sp>
        <p:nvSpPr>
          <p:cNvPr id="6" name="灯片编号占位符 5">
            <a:extLst>
              <a:ext uri="{FF2B5EF4-FFF2-40B4-BE49-F238E27FC236}">
                <a16:creationId xmlns:a16="http://schemas.microsoft.com/office/drawing/2014/main" id="{85F0FDDA-4DAE-4539-9492-C374F102CA1D}"/>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18" name="Picture 6"/>
          <p:cNvPicPr>
            <a:picLocks noChangeAspect="1"/>
          </p:cNvPicPr>
          <p:nvPr/>
        </p:nvPicPr>
        <p:blipFill>
          <a:blip r:embed="rId2"/>
          <a:srcRect b="14645"/>
          <a:stretch>
            <a:fillRect/>
          </a:stretch>
        </p:blipFill>
        <p:spPr>
          <a:xfrm>
            <a:off x="0" y="584200"/>
            <a:ext cx="12192000" cy="804333"/>
          </a:xfrm>
          <a:prstGeom prst="rect">
            <a:avLst/>
          </a:prstGeom>
          <a:ln>
            <a:noFill/>
          </a:ln>
        </p:spPr>
      </p:pic>
      <p:sp>
        <p:nvSpPr>
          <p:cNvPr id="10" name="直接连接符 9">
            <a:extLst>
              <a:ext uri="{FF2B5EF4-FFF2-40B4-BE49-F238E27FC236}">
                <a16:creationId xmlns:a16="http://schemas.microsoft.com/office/drawing/2014/main" id="{09E19A7D-2866-457A-BEAF-73A8399A6E5B}"/>
              </a:ext>
            </a:extLst>
          </p:cNvPr>
          <p:cNvSpPr>
            <a:spLocks noGrp="1"/>
          </p:cNvSpPr>
          <p:nvPr/>
        </p:nvSpPr>
        <p:spPr>
          <a:xfrm>
            <a:off x="0" y="1411819"/>
            <a:ext cx="12192000" cy="2116"/>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sp>
      <p:sp>
        <p:nvSpPr>
          <p:cNvPr id="7" name="矩形 6">
            <a:extLst>
              <a:ext uri="{FF2B5EF4-FFF2-40B4-BE49-F238E27FC236}">
                <a16:creationId xmlns:a16="http://schemas.microsoft.com/office/drawing/2014/main" id="{66C83403-7610-4894-903F-C2CE1502F044}"/>
              </a:ext>
            </a:extLst>
          </p:cNvPr>
          <p:cNvSpPr>
            <a:spLocks noGrp="1"/>
          </p:cNvSpPr>
          <p:nvPr/>
        </p:nvSpPr>
        <p:spPr>
          <a:xfrm>
            <a:off x="821267" y="584200"/>
            <a:ext cx="8652933" cy="711200"/>
          </a:xfrm>
          <a:prstGeom prst="rect">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3200" b="1">
              <a:solidFill>
                <a:prstClr val="white"/>
              </a:solidFill>
            </a:endParaRPr>
          </a:p>
        </p:txBody>
      </p:sp>
      <p:sp>
        <p:nvSpPr>
          <p:cNvPr id="11" name="任意多边形 10">
            <a:extLst>
              <a:ext uri="{FF2B5EF4-FFF2-40B4-BE49-F238E27FC236}">
                <a16:creationId xmlns:a16="http://schemas.microsoft.com/office/drawing/2014/main" id="{5B060BB9-701E-4619-A899-CCDFFD479B5F}"/>
              </a:ext>
            </a:extLst>
          </p:cNvPr>
          <p:cNvSpPr>
            <a:spLocks noGrp="1"/>
          </p:cNvSpPr>
          <p:nvPr/>
        </p:nvSpPr>
        <p:spPr>
          <a:xfrm>
            <a:off x="2393370" y="1413933"/>
            <a:ext cx="9798631" cy="101600"/>
          </a:xfrm>
          <a:custGeom>
            <a:avLst/>
            <a:gdLst>
              <a:gd name="connsiteX0" fmla="*/ 68 w 11394"/>
              <a:gd name="connsiteY0" fmla="*/ 0 h 126"/>
              <a:gd name="connsiteX1" fmla="*/ 11394 w 11394"/>
              <a:gd name="connsiteY1" fmla="*/ 6 h 126"/>
              <a:gd name="connsiteX2" fmla="*/ 11394 w 11394"/>
              <a:gd name="connsiteY2" fmla="*/ 126 h 126"/>
              <a:gd name="connsiteX3" fmla="*/ 0 w 11394"/>
              <a:gd name="connsiteY3" fmla="*/ 126 h 126"/>
              <a:gd name="connsiteX4" fmla="*/ 68 w 11394"/>
              <a:gd name="connsiteY4" fmla="*/ 0 h 126"/>
            </a:gdLst>
            <a:ahLst/>
            <a:cxnLst/>
            <a:rect l="l" t="t" r="r" b="b"/>
            <a:pathLst>
              <a:path w="11394" h="126">
                <a:moveTo>
                  <a:pt x="68" y="0"/>
                </a:moveTo>
                <a:lnTo>
                  <a:pt x="11394" y="6"/>
                </a:lnTo>
                <a:lnTo>
                  <a:pt x="11394" y="126"/>
                </a:lnTo>
                <a:lnTo>
                  <a:pt x="0" y="126"/>
                </a:lnTo>
                <a:lnTo>
                  <a:pt x="68" y="0"/>
                </a:lnTo>
                <a:close/>
              </a:path>
            </a:pathLst>
          </a:cu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400"/>
          </a:p>
        </p:txBody>
      </p:sp>
      <p:sp>
        <p:nvSpPr>
          <p:cNvPr id="16" name="任意多边形 15">
            <a:extLst>
              <a:ext uri="{FF2B5EF4-FFF2-40B4-BE49-F238E27FC236}">
                <a16:creationId xmlns:a16="http://schemas.microsoft.com/office/drawing/2014/main" id="{6DC3910A-EC10-4F93-8646-30BBA9F2C728}"/>
              </a:ext>
            </a:extLst>
          </p:cNvPr>
          <p:cNvSpPr>
            <a:spLocks noGrp="1"/>
          </p:cNvSpPr>
          <p:nvPr/>
        </p:nvSpPr>
        <p:spPr>
          <a:xfrm>
            <a:off x="-2539" y="1414739"/>
            <a:ext cx="2395908" cy="100793"/>
          </a:xfrm>
          <a:custGeom>
            <a:avLst/>
            <a:gdLst>
              <a:gd name="connsiteX0" fmla="*/ 0 w 2693"/>
              <a:gd name="connsiteY0" fmla="*/ 0 h 119"/>
              <a:gd name="connsiteX1" fmla="*/ 2693 w 2693"/>
              <a:gd name="connsiteY1" fmla="*/ 0 h 119"/>
              <a:gd name="connsiteX2" fmla="*/ 2629 w 2693"/>
              <a:gd name="connsiteY2" fmla="*/ 119 h 119"/>
              <a:gd name="connsiteX3" fmla="*/ 0 w 2693"/>
              <a:gd name="connsiteY3" fmla="*/ 119 h 119"/>
              <a:gd name="connsiteX4" fmla="*/ 0 w 2693"/>
              <a:gd name="connsiteY4" fmla="*/ 0 h 119"/>
            </a:gdLst>
            <a:ahLst/>
            <a:cxnLst/>
            <a:rect l="l" t="t" r="r" b="b"/>
            <a:pathLst>
              <a:path w="2693" h="119">
                <a:moveTo>
                  <a:pt x="0" y="0"/>
                </a:moveTo>
                <a:lnTo>
                  <a:pt x="2693" y="0"/>
                </a:lnTo>
                <a:lnTo>
                  <a:pt x="2629" y="119"/>
                </a:lnTo>
                <a:lnTo>
                  <a:pt x="0" y="119"/>
                </a:lnTo>
                <a:lnTo>
                  <a:pt x="0" y="0"/>
                </a:lnTo>
                <a:close/>
              </a:path>
            </a:pathLst>
          </a:custGeom>
          <a:solidFill>
            <a:srgbClr val="F398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40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18" name="Picture 6"/>
          <p:cNvPicPr>
            <a:picLocks noChangeAspect="1"/>
          </p:cNvPicPr>
          <p:nvPr/>
        </p:nvPicPr>
        <p:blipFill>
          <a:blip r:embed="rId2"/>
          <a:srcRect b="14645"/>
          <a:stretch>
            <a:fillRect/>
          </a:stretch>
        </p:blipFill>
        <p:spPr>
          <a:xfrm>
            <a:off x="0" y="584200"/>
            <a:ext cx="12192000" cy="804333"/>
          </a:xfrm>
          <a:prstGeom prst="rect">
            <a:avLst/>
          </a:prstGeom>
          <a:ln>
            <a:noFill/>
          </a:ln>
        </p:spPr>
      </p:pic>
      <p:sp>
        <p:nvSpPr>
          <p:cNvPr id="10" name="直接连接符 9">
            <a:extLst>
              <a:ext uri="{FF2B5EF4-FFF2-40B4-BE49-F238E27FC236}">
                <a16:creationId xmlns:a16="http://schemas.microsoft.com/office/drawing/2014/main" id="{9A0B4D86-B6A6-4319-9D74-77BBE9E5D6EA}"/>
              </a:ext>
            </a:extLst>
          </p:cNvPr>
          <p:cNvSpPr>
            <a:spLocks noGrp="1"/>
          </p:cNvSpPr>
          <p:nvPr/>
        </p:nvSpPr>
        <p:spPr>
          <a:xfrm>
            <a:off x="0" y="1411819"/>
            <a:ext cx="12192000" cy="2116"/>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sp>
      <p:sp>
        <p:nvSpPr>
          <p:cNvPr id="7" name="矩形 6">
            <a:extLst>
              <a:ext uri="{FF2B5EF4-FFF2-40B4-BE49-F238E27FC236}">
                <a16:creationId xmlns:a16="http://schemas.microsoft.com/office/drawing/2014/main" id="{073E1BE0-EAE1-483E-87A3-69C453C2936E}"/>
              </a:ext>
            </a:extLst>
          </p:cNvPr>
          <p:cNvSpPr>
            <a:spLocks noGrp="1"/>
          </p:cNvSpPr>
          <p:nvPr/>
        </p:nvSpPr>
        <p:spPr>
          <a:xfrm>
            <a:off x="821267" y="584200"/>
            <a:ext cx="8652933" cy="711200"/>
          </a:xfrm>
          <a:prstGeom prst="rect">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3200" b="1">
              <a:solidFill>
                <a:prstClr val="white"/>
              </a:solidFill>
            </a:endParaRPr>
          </a:p>
        </p:txBody>
      </p:sp>
      <p:sp>
        <p:nvSpPr>
          <p:cNvPr id="11" name="任意多边形 10">
            <a:extLst>
              <a:ext uri="{FF2B5EF4-FFF2-40B4-BE49-F238E27FC236}">
                <a16:creationId xmlns:a16="http://schemas.microsoft.com/office/drawing/2014/main" id="{6809F24B-B5D1-48C5-A62B-0A9E1AD4D251}"/>
              </a:ext>
            </a:extLst>
          </p:cNvPr>
          <p:cNvSpPr>
            <a:spLocks noGrp="1"/>
          </p:cNvSpPr>
          <p:nvPr/>
        </p:nvSpPr>
        <p:spPr>
          <a:xfrm>
            <a:off x="2393370" y="1413933"/>
            <a:ext cx="9798631" cy="101600"/>
          </a:xfrm>
          <a:custGeom>
            <a:avLst/>
            <a:gdLst>
              <a:gd name="connsiteX0" fmla="*/ 68 w 11394"/>
              <a:gd name="connsiteY0" fmla="*/ 0 h 126"/>
              <a:gd name="connsiteX1" fmla="*/ 11394 w 11394"/>
              <a:gd name="connsiteY1" fmla="*/ 6 h 126"/>
              <a:gd name="connsiteX2" fmla="*/ 11394 w 11394"/>
              <a:gd name="connsiteY2" fmla="*/ 126 h 126"/>
              <a:gd name="connsiteX3" fmla="*/ 0 w 11394"/>
              <a:gd name="connsiteY3" fmla="*/ 126 h 126"/>
              <a:gd name="connsiteX4" fmla="*/ 68 w 11394"/>
              <a:gd name="connsiteY4" fmla="*/ 0 h 126"/>
            </a:gdLst>
            <a:ahLst/>
            <a:cxnLst/>
            <a:rect l="l" t="t" r="r" b="b"/>
            <a:pathLst>
              <a:path w="11394" h="126">
                <a:moveTo>
                  <a:pt x="68" y="0"/>
                </a:moveTo>
                <a:lnTo>
                  <a:pt x="11394" y="6"/>
                </a:lnTo>
                <a:lnTo>
                  <a:pt x="11394" y="126"/>
                </a:lnTo>
                <a:lnTo>
                  <a:pt x="0" y="126"/>
                </a:lnTo>
                <a:lnTo>
                  <a:pt x="68" y="0"/>
                </a:lnTo>
                <a:close/>
              </a:path>
            </a:pathLst>
          </a:cu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400"/>
          </a:p>
        </p:txBody>
      </p:sp>
      <p:sp>
        <p:nvSpPr>
          <p:cNvPr id="16" name="任意多边形 15">
            <a:extLst>
              <a:ext uri="{FF2B5EF4-FFF2-40B4-BE49-F238E27FC236}">
                <a16:creationId xmlns:a16="http://schemas.microsoft.com/office/drawing/2014/main" id="{AA37E693-00A9-4A40-A608-1C6383C928CB}"/>
              </a:ext>
            </a:extLst>
          </p:cNvPr>
          <p:cNvSpPr>
            <a:spLocks noGrp="1"/>
          </p:cNvSpPr>
          <p:nvPr/>
        </p:nvSpPr>
        <p:spPr>
          <a:xfrm>
            <a:off x="-2539" y="1414739"/>
            <a:ext cx="2395908" cy="100793"/>
          </a:xfrm>
          <a:custGeom>
            <a:avLst/>
            <a:gdLst>
              <a:gd name="connsiteX0" fmla="*/ 0 w 2693"/>
              <a:gd name="connsiteY0" fmla="*/ 0 h 119"/>
              <a:gd name="connsiteX1" fmla="*/ 2693 w 2693"/>
              <a:gd name="connsiteY1" fmla="*/ 0 h 119"/>
              <a:gd name="connsiteX2" fmla="*/ 2629 w 2693"/>
              <a:gd name="connsiteY2" fmla="*/ 119 h 119"/>
              <a:gd name="connsiteX3" fmla="*/ 0 w 2693"/>
              <a:gd name="connsiteY3" fmla="*/ 119 h 119"/>
              <a:gd name="connsiteX4" fmla="*/ 0 w 2693"/>
              <a:gd name="connsiteY4" fmla="*/ 0 h 119"/>
            </a:gdLst>
            <a:ahLst/>
            <a:cxnLst/>
            <a:rect l="l" t="t" r="r" b="b"/>
            <a:pathLst>
              <a:path w="2693" h="119">
                <a:moveTo>
                  <a:pt x="0" y="0"/>
                </a:moveTo>
                <a:lnTo>
                  <a:pt x="2693" y="0"/>
                </a:lnTo>
                <a:lnTo>
                  <a:pt x="2629" y="119"/>
                </a:lnTo>
                <a:lnTo>
                  <a:pt x="0" y="119"/>
                </a:lnTo>
                <a:lnTo>
                  <a:pt x="0" y="0"/>
                </a:lnTo>
                <a:close/>
              </a:path>
            </a:pathLst>
          </a:custGeom>
          <a:solidFill>
            <a:srgbClr val="F398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40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43266A96-2003-4025-B2F8-B8F2F9ECB834}"/>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单击此处编辑母版标题样式</a:t>
            </a:r>
          </a:p>
        </p:txBody>
      </p:sp>
      <p:sp>
        <p:nvSpPr>
          <p:cNvPr id="3" name="文本占位符 2">
            <a:extLst>
              <a:ext uri="{FF2B5EF4-FFF2-40B4-BE49-F238E27FC236}">
                <a16:creationId xmlns:a16="http://schemas.microsoft.com/office/drawing/2014/main" id="{04983D7F-B2AC-4A42-9D2C-62EB1B677ECF}"/>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a:extLst>
              <a:ext uri="{FF2B5EF4-FFF2-40B4-BE49-F238E27FC236}">
                <a16:creationId xmlns:a16="http://schemas.microsoft.com/office/drawing/2014/main" id="{39914962-296F-427C-B8E8-7EDCE69C9B25}"/>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9F4852F6-D0EE-43FF-9758-4449F4064C7C}" type="datetimeFigureOut">
              <a:t>2026/9/27</a:t>
            </a:fld>
            <a:endParaRPr/>
          </a:p>
        </p:txBody>
      </p:sp>
      <p:sp>
        <p:nvSpPr>
          <p:cNvPr id="5" name="页脚占位符 4">
            <a:extLst>
              <a:ext uri="{FF2B5EF4-FFF2-40B4-BE49-F238E27FC236}">
                <a16:creationId xmlns:a16="http://schemas.microsoft.com/office/drawing/2014/main" id="{6E13DB23-E2DB-49F2-9F10-5147AE6EF39D}"/>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灯片编号占位符 5">
            <a:extLst>
              <a:ext uri="{FF2B5EF4-FFF2-40B4-BE49-F238E27FC236}">
                <a16:creationId xmlns:a16="http://schemas.microsoft.com/office/drawing/2014/main" id="{57432BD1-FB6C-40B0-9AA8-7ED1D01112C0}"/>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F60DD7EF-E908-4723-98EB-3DEAFF871F36}"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标题占位符 1">
            <a:extLst>
              <a:ext uri="{FF2B5EF4-FFF2-40B4-BE49-F238E27FC236}">
                <a16:creationId xmlns:a16="http://schemas.microsoft.com/office/drawing/2014/main" id="{FFA7703D-0678-4454-B923-F3F7A0E09E47}"/>
              </a:ext>
            </a:extLst>
          </p:cNvPr>
          <p:cNvSpPr>
            <a:spLocks noGrp="1"/>
          </p:cNvSpPr>
          <p:nvPr>
            <p:ph type="title"/>
          </p:nvPr>
        </p:nvSpPr>
        <p:spPr>
          <a:xfrm>
            <a:off x="838200" y="366186"/>
            <a:ext cx="10515600" cy="1325033"/>
          </a:xfrm>
          <a:prstGeom prst="rect">
            <a:avLst/>
          </a:prstGeom>
          <a:noFill/>
          <a:ln>
            <a:noFill/>
          </a:ln>
        </p:spPr>
        <p:txBody>
          <a:bodyPr vert="horz" wrap="square" lIns="65019" tIns="32509" rIns="65019" bIns="32509" anchor="ctr"/>
          <a:lstStyle/>
          <a:p>
            <a:pPr lvl="0">
              <a:buNone/>
            </a:pPr>
            <a:r>
              <a:t>单击此处编辑母版标题样式</a:t>
            </a:r>
          </a:p>
        </p:txBody>
      </p:sp>
      <p:sp>
        <p:nvSpPr>
          <p:cNvPr id="4099" name="文本占位符 2">
            <a:extLst>
              <a:ext uri="{FF2B5EF4-FFF2-40B4-BE49-F238E27FC236}">
                <a16:creationId xmlns:a16="http://schemas.microsoft.com/office/drawing/2014/main" id="{DF91456B-26C3-48E2-A393-7419A47BC1AB}"/>
              </a:ext>
            </a:extLst>
          </p:cNvPr>
          <p:cNvSpPr>
            <a:spLocks noGrp="1"/>
          </p:cNvSpPr>
          <p:nvPr>
            <p:ph type="body" idx="1"/>
          </p:nvPr>
        </p:nvSpPr>
        <p:spPr>
          <a:xfrm>
            <a:off x="838200" y="1826685"/>
            <a:ext cx="10515600" cy="4351867"/>
          </a:xfrm>
          <a:prstGeom prst="rect">
            <a:avLst/>
          </a:prstGeom>
          <a:noFill/>
          <a:ln>
            <a:noFill/>
          </a:ln>
        </p:spPr>
        <p:txBody>
          <a:bodyPr vert="horz" wrap="square" lIns="65019" tIns="32509" rIns="65019" bIns="32509" anchor="t"/>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a:extLst>
              <a:ext uri="{FF2B5EF4-FFF2-40B4-BE49-F238E27FC236}">
                <a16:creationId xmlns:a16="http://schemas.microsoft.com/office/drawing/2014/main" id="{712558CF-41BB-4DD8-8273-786F324207D5}"/>
              </a:ext>
            </a:extLst>
          </p:cNvPr>
          <p:cNvSpPr>
            <a:spLocks noGrp="1"/>
          </p:cNvSpPr>
          <p:nvPr>
            <p:ph type="dt" idx="2"/>
          </p:nvPr>
        </p:nvSpPr>
        <p:spPr>
          <a:xfrm>
            <a:off x="838200" y="6356353"/>
            <a:ext cx="2743200" cy="364067"/>
          </a:xfrm>
          <a:prstGeom prst="rect">
            <a:avLst/>
          </a:prstGeom>
        </p:spPr>
        <p:txBody>
          <a:bodyPr vert="horz" lIns="65019" tIns="32509" rIns="65019" bIns="32509" anchor="ctr"/>
          <a:lstStyle>
            <a:lvl1pPr algn="l" defTabSz="1218565">
              <a:buNone/>
              <a:defRPr sz="1200">
                <a:solidFill>
                  <a:prstClr val="black">
                    <a:tint val="75000"/>
                  </a:prstClr>
                </a:solidFill>
                <a:latin typeface="+mn-lt"/>
                <a:ea typeface="+mn-lt"/>
                <a:cs typeface="+mn-lt"/>
              </a:defRPr>
            </a:lvl1pPr>
          </a:lstStyle>
          <a:p>
            <a:pPr>
              <a:buNone/>
            </a:pPr>
            <a:fld id="{292F71EF-02F8-4FDD-93F8-D030AB7FC83F}" type="datetimeFigureOut">
              <a:t>2026/9/27</a:t>
            </a:fld>
            <a:endParaRPr/>
          </a:p>
        </p:txBody>
      </p:sp>
      <p:sp>
        <p:nvSpPr>
          <p:cNvPr id="5" name="页脚占位符 4">
            <a:extLst>
              <a:ext uri="{FF2B5EF4-FFF2-40B4-BE49-F238E27FC236}">
                <a16:creationId xmlns:a16="http://schemas.microsoft.com/office/drawing/2014/main" id="{9375D491-3100-4AF4-B449-158D8E6C5293}"/>
              </a:ext>
            </a:extLst>
          </p:cNvPr>
          <p:cNvSpPr>
            <a:spLocks noGrp="1"/>
          </p:cNvSpPr>
          <p:nvPr>
            <p:ph type="ftr" idx="3"/>
          </p:nvPr>
        </p:nvSpPr>
        <p:spPr>
          <a:xfrm>
            <a:off x="4038600" y="6356353"/>
            <a:ext cx="4114800" cy="364067"/>
          </a:xfrm>
          <a:prstGeom prst="rect">
            <a:avLst/>
          </a:prstGeom>
        </p:spPr>
        <p:txBody>
          <a:bodyPr vert="horz" lIns="65019" tIns="32509" rIns="65019" bIns="32509" anchor="ctr"/>
          <a:lstStyle>
            <a:lvl1pPr algn="ctr" defTabSz="1218565">
              <a:buNone/>
              <a:defRPr sz="1200">
                <a:solidFill>
                  <a:prstClr val="black">
                    <a:tint val="75000"/>
                  </a:prstClr>
                </a:solidFill>
                <a:latin typeface="+mn-lt"/>
                <a:ea typeface="+mn-lt"/>
                <a:cs typeface="+mn-lt"/>
              </a:defRPr>
            </a:lvl1pPr>
          </a:lstStyle>
          <a:p>
            <a:pPr>
              <a:buNone/>
            </a:pPr>
            <a:endParaRPr/>
          </a:p>
        </p:txBody>
      </p:sp>
      <p:sp>
        <p:nvSpPr>
          <p:cNvPr id="6" name="灯片编号占位符 5">
            <a:extLst>
              <a:ext uri="{FF2B5EF4-FFF2-40B4-BE49-F238E27FC236}">
                <a16:creationId xmlns:a16="http://schemas.microsoft.com/office/drawing/2014/main" id="{E3A0ED3A-25B1-4D00-AC74-A03166EB8C26}"/>
              </a:ext>
            </a:extLst>
          </p:cNvPr>
          <p:cNvSpPr>
            <a:spLocks noGrp="1"/>
          </p:cNvSpPr>
          <p:nvPr>
            <p:ph type="sldNum" idx="4"/>
          </p:nvPr>
        </p:nvSpPr>
        <p:spPr>
          <a:xfrm>
            <a:off x="8610600" y="6356353"/>
            <a:ext cx="2743200" cy="364067"/>
          </a:xfrm>
          <a:prstGeom prst="rect">
            <a:avLst/>
          </a:prstGeom>
        </p:spPr>
        <p:txBody>
          <a:bodyPr vert="horz" wrap="square" lIns="65019" tIns="32509" rIns="65019" bIns="32509" anchor="ctr"/>
          <a:lstStyle>
            <a:lvl1pPr algn="r" defTabSz="1216660">
              <a:buNone/>
              <a:defRPr sz="1200">
                <a:solidFill>
                  <a:srgbClr val="898989"/>
                </a:solidFill>
              </a:defRPr>
            </a:lvl1pPr>
          </a:lstStyle>
          <a:p>
            <a:pPr>
              <a:buNone/>
            </a:pPr>
            <a:fld id="{D728AC88-674E-4151-AFDC-B7C47BAC839D}"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l" defTabSz="865505">
        <a:lnSpc>
          <a:spcPct val="90000"/>
        </a:lnSpc>
        <a:spcBef>
          <a:spcPct val="0"/>
        </a:spcBef>
        <a:spcAft>
          <a:spcPct val="0"/>
        </a:spcAft>
        <a:buNone/>
        <a:defRPr sz="4135" kern="1200">
          <a:solidFill>
            <a:schemeClr val="tx1"/>
          </a:solidFill>
          <a:latin typeface="Calibri"/>
          <a:ea typeface="Calibri"/>
          <a:cs typeface="Calibri"/>
        </a:defRPr>
      </a:lvl1pPr>
      <a:lvl2pPr algn="l" defTabSz="865505">
        <a:lnSpc>
          <a:spcPct val="90000"/>
        </a:lnSpc>
        <a:spcBef>
          <a:spcPct val="0"/>
        </a:spcBef>
        <a:spcAft>
          <a:spcPct val="0"/>
        </a:spcAft>
        <a:buNone/>
        <a:defRPr sz="4135">
          <a:solidFill>
            <a:schemeClr val="tx1"/>
          </a:solidFill>
          <a:latin typeface="Calibri Light"/>
          <a:ea typeface="Calibri Light"/>
          <a:cs typeface="Calibri Light"/>
        </a:defRPr>
      </a:lvl2pPr>
      <a:lvl3pPr algn="l" defTabSz="865505">
        <a:lnSpc>
          <a:spcPct val="90000"/>
        </a:lnSpc>
        <a:spcBef>
          <a:spcPct val="0"/>
        </a:spcBef>
        <a:spcAft>
          <a:spcPct val="0"/>
        </a:spcAft>
        <a:buNone/>
        <a:defRPr sz="4135">
          <a:solidFill>
            <a:schemeClr val="tx1"/>
          </a:solidFill>
          <a:latin typeface="Calibri Light"/>
          <a:ea typeface="Calibri Light"/>
          <a:cs typeface="Calibri Light"/>
        </a:defRPr>
      </a:lvl3pPr>
      <a:lvl4pPr algn="l" defTabSz="865505">
        <a:lnSpc>
          <a:spcPct val="90000"/>
        </a:lnSpc>
        <a:spcBef>
          <a:spcPct val="0"/>
        </a:spcBef>
        <a:spcAft>
          <a:spcPct val="0"/>
        </a:spcAft>
        <a:buNone/>
        <a:defRPr sz="4135">
          <a:solidFill>
            <a:schemeClr val="tx1"/>
          </a:solidFill>
          <a:latin typeface="Calibri Light"/>
          <a:ea typeface="Calibri Light"/>
          <a:cs typeface="Calibri Light"/>
        </a:defRPr>
      </a:lvl4pPr>
      <a:lvl5pPr algn="l" defTabSz="865505">
        <a:lnSpc>
          <a:spcPct val="90000"/>
        </a:lnSpc>
        <a:spcBef>
          <a:spcPct val="0"/>
        </a:spcBef>
        <a:spcAft>
          <a:spcPct val="0"/>
        </a:spcAft>
        <a:buNone/>
        <a:defRPr sz="4135">
          <a:solidFill>
            <a:schemeClr val="tx1"/>
          </a:solidFill>
          <a:latin typeface="Calibri Light"/>
          <a:ea typeface="Calibri Light"/>
          <a:cs typeface="Calibri Light"/>
        </a:defRPr>
      </a:lvl5pPr>
      <a:lvl6pPr marL="609600" algn="l" defTabSz="865505">
        <a:lnSpc>
          <a:spcPct val="90000"/>
        </a:lnSpc>
        <a:spcBef>
          <a:spcPct val="0"/>
        </a:spcBef>
        <a:spcAft>
          <a:spcPct val="0"/>
        </a:spcAft>
        <a:buNone/>
        <a:defRPr sz="4135">
          <a:solidFill>
            <a:schemeClr val="tx1"/>
          </a:solidFill>
          <a:latin typeface="Calibri Light"/>
          <a:ea typeface="Calibri Light"/>
          <a:cs typeface="Calibri Light"/>
        </a:defRPr>
      </a:lvl6pPr>
      <a:lvl7pPr marL="1219200" algn="l" defTabSz="865505">
        <a:lnSpc>
          <a:spcPct val="90000"/>
        </a:lnSpc>
        <a:spcBef>
          <a:spcPct val="0"/>
        </a:spcBef>
        <a:spcAft>
          <a:spcPct val="0"/>
        </a:spcAft>
        <a:buNone/>
        <a:defRPr sz="4135">
          <a:solidFill>
            <a:schemeClr val="tx1"/>
          </a:solidFill>
          <a:latin typeface="Calibri Light"/>
          <a:ea typeface="Calibri Light"/>
          <a:cs typeface="Calibri Light"/>
        </a:defRPr>
      </a:lvl7pPr>
      <a:lvl8pPr marL="1828800" algn="l" defTabSz="865505">
        <a:lnSpc>
          <a:spcPct val="90000"/>
        </a:lnSpc>
        <a:spcBef>
          <a:spcPct val="0"/>
        </a:spcBef>
        <a:spcAft>
          <a:spcPct val="0"/>
        </a:spcAft>
        <a:buNone/>
        <a:defRPr sz="4135">
          <a:solidFill>
            <a:schemeClr val="tx1"/>
          </a:solidFill>
          <a:latin typeface="Calibri Light"/>
          <a:ea typeface="Calibri Light"/>
          <a:cs typeface="Calibri Light"/>
        </a:defRPr>
      </a:lvl8pPr>
      <a:lvl9pPr marL="2438400" algn="l" defTabSz="865505">
        <a:lnSpc>
          <a:spcPct val="90000"/>
        </a:lnSpc>
        <a:spcBef>
          <a:spcPct val="0"/>
        </a:spcBef>
        <a:spcAft>
          <a:spcPct val="0"/>
        </a:spcAft>
        <a:buNone/>
        <a:defRPr sz="4135">
          <a:solidFill>
            <a:schemeClr val="tx1"/>
          </a:solidFill>
          <a:latin typeface="Calibri Light"/>
          <a:ea typeface="Calibri Light"/>
          <a:cs typeface="Calibri Light"/>
        </a:defRPr>
      </a:lvl9pPr>
    </p:titleStyle>
    <p:bodyStyle>
      <a:lvl1pPr marL="215900" indent="-215900" algn="l" defTabSz="865505">
        <a:lnSpc>
          <a:spcPct val="90000"/>
        </a:lnSpc>
        <a:spcBef>
          <a:spcPts val="955"/>
        </a:spcBef>
        <a:spcAft>
          <a:spcPct val="0"/>
        </a:spcAft>
        <a:buFont typeface="Arial"/>
        <a:buChar char="•"/>
        <a:defRPr sz="2665" kern="1200">
          <a:solidFill>
            <a:schemeClr val="tx1"/>
          </a:solidFill>
          <a:latin typeface="+mn-lt"/>
          <a:ea typeface="+mn-lt"/>
          <a:cs typeface="+mn-lt"/>
        </a:defRPr>
      </a:lvl1pPr>
      <a:lvl2pPr marL="650240" indent="-215900" algn="l" defTabSz="865505">
        <a:lnSpc>
          <a:spcPct val="90000"/>
        </a:lnSpc>
        <a:spcBef>
          <a:spcPts val="465"/>
        </a:spcBef>
        <a:spcAft>
          <a:spcPct val="0"/>
        </a:spcAft>
        <a:buFont typeface="Arial"/>
        <a:buChar char="•"/>
        <a:defRPr sz="2265" kern="1200">
          <a:solidFill>
            <a:schemeClr val="tx1"/>
          </a:solidFill>
          <a:latin typeface="+mn-lt"/>
          <a:ea typeface="+mn-lt"/>
          <a:cs typeface="+mn-lt"/>
        </a:defRPr>
      </a:lvl2pPr>
      <a:lvl3pPr marL="1082040" indent="-215900" algn="l" defTabSz="865505">
        <a:lnSpc>
          <a:spcPct val="90000"/>
        </a:lnSpc>
        <a:spcBef>
          <a:spcPts val="465"/>
        </a:spcBef>
        <a:spcAft>
          <a:spcPct val="0"/>
        </a:spcAft>
        <a:buFont typeface="Arial"/>
        <a:buChar char="•"/>
        <a:defRPr sz="1865" kern="1200">
          <a:solidFill>
            <a:schemeClr val="tx1"/>
          </a:solidFill>
          <a:latin typeface="+mn-lt"/>
          <a:ea typeface="+mn-lt"/>
          <a:cs typeface="+mn-lt"/>
        </a:defRPr>
      </a:lvl3pPr>
      <a:lvl4pPr marL="1515745" indent="-215900" algn="l" defTabSz="865505">
        <a:lnSpc>
          <a:spcPct val="90000"/>
        </a:lnSpc>
        <a:spcBef>
          <a:spcPts val="465"/>
        </a:spcBef>
        <a:spcAft>
          <a:spcPct val="0"/>
        </a:spcAft>
        <a:buFont typeface="Arial"/>
        <a:buChar char="•"/>
        <a:defRPr sz="1735" kern="1200">
          <a:solidFill>
            <a:schemeClr val="tx1"/>
          </a:solidFill>
          <a:latin typeface="+mn-lt"/>
          <a:ea typeface="+mn-lt"/>
          <a:cs typeface="+mn-lt"/>
        </a:defRPr>
      </a:lvl4pPr>
      <a:lvl5pPr marL="1950085" indent="-215900" algn="l" defTabSz="865505">
        <a:lnSpc>
          <a:spcPct val="90000"/>
        </a:lnSpc>
        <a:spcBef>
          <a:spcPts val="465"/>
        </a:spcBef>
        <a:spcAft>
          <a:spcPct val="0"/>
        </a:spcAft>
        <a:buFont typeface="Arial"/>
        <a:buChar char="•"/>
        <a:defRPr sz="1735" kern="1200">
          <a:solidFill>
            <a:schemeClr val="tx1"/>
          </a:solidFill>
          <a:latin typeface="+mn-lt"/>
          <a:ea typeface="+mn-lt"/>
          <a:cs typeface="+mn-lt"/>
        </a:defRPr>
      </a:lvl5pPr>
      <a:lvl6pPr marL="2384425" indent="-216535" algn="l" defTabSz="866140">
        <a:lnSpc>
          <a:spcPct val="90000"/>
        </a:lnSpc>
        <a:spcBef>
          <a:spcPts val="475"/>
        </a:spcBef>
        <a:buFont typeface="Arial"/>
        <a:buChar char="•"/>
        <a:defRPr sz="1735" kern="1200">
          <a:solidFill>
            <a:schemeClr val="tx1"/>
          </a:solidFill>
          <a:latin typeface="+mn-lt"/>
          <a:ea typeface="+mn-lt"/>
          <a:cs typeface="+mn-lt"/>
        </a:defRPr>
      </a:lvl6pPr>
      <a:lvl7pPr marL="2817495" indent="-216535" algn="l" defTabSz="866140">
        <a:lnSpc>
          <a:spcPct val="90000"/>
        </a:lnSpc>
        <a:spcBef>
          <a:spcPts val="475"/>
        </a:spcBef>
        <a:buFont typeface="Arial"/>
        <a:buChar char="•"/>
        <a:defRPr sz="1735" kern="1200">
          <a:solidFill>
            <a:schemeClr val="tx1"/>
          </a:solidFill>
          <a:latin typeface="+mn-lt"/>
          <a:ea typeface="+mn-lt"/>
          <a:cs typeface="+mn-lt"/>
        </a:defRPr>
      </a:lvl7pPr>
      <a:lvl8pPr marL="3251200" indent="-216535" algn="l" defTabSz="866140">
        <a:lnSpc>
          <a:spcPct val="90000"/>
        </a:lnSpc>
        <a:spcBef>
          <a:spcPts val="475"/>
        </a:spcBef>
        <a:buFont typeface="Arial"/>
        <a:buChar char="•"/>
        <a:defRPr sz="1735" kern="1200">
          <a:solidFill>
            <a:schemeClr val="tx1"/>
          </a:solidFill>
          <a:latin typeface="+mn-lt"/>
          <a:ea typeface="+mn-lt"/>
          <a:cs typeface="+mn-lt"/>
        </a:defRPr>
      </a:lvl8pPr>
      <a:lvl9pPr marL="3684905" indent="-216535" algn="l" defTabSz="866140">
        <a:lnSpc>
          <a:spcPct val="90000"/>
        </a:lnSpc>
        <a:spcBef>
          <a:spcPts val="475"/>
        </a:spcBef>
        <a:buFont typeface="Arial"/>
        <a:buChar char="•"/>
        <a:defRPr sz="1735" kern="1200">
          <a:solidFill>
            <a:schemeClr val="tx1"/>
          </a:solidFill>
          <a:latin typeface="+mn-lt"/>
          <a:ea typeface="+mn-lt"/>
          <a:cs typeface="+mn-lt"/>
        </a:defRPr>
      </a:lvl9pPr>
    </p:bodyStyle>
    <p:otherStyle>
      <a:lvl1pPr marL="0" algn="l" defTabSz="866140">
        <a:buNone/>
        <a:defRPr sz="1735" kern="1200">
          <a:solidFill>
            <a:schemeClr val="tx1"/>
          </a:solidFill>
          <a:latin typeface="+mn-lt"/>
          <a:ea typeface="+mn-lt"/>
          <a:cs typeface="+mn-lt"/>
        </a:defRPr>
      </a:lvl1pPr>
      <a:lvl2pPr marL="433705" algn="l" defTabSz="866140">
        <a:buNone/>
        <a:defRPr sz="1735" kern="1200">
          <a:solidFill>
            <a:schemeClr val="tx1"/>
          </a:solidFill>
          <a:latin typeface="+mn-lt"/>
          <a:ea typeface="+mn-lt"/>
          <a:cs typeface="+mn-lt"/>
        </a:defRPr>
      </a:lvl2pPr>
      <a:lvl3pPr marL="866775" algn="l" defTabSz="866140">
        <a:buNone/>
        <a:defRPr sz="1735" kern="1200">
          <a:solidFill>
            <a:schemeClr val="tx1"/>
          </a:solidFill>
          <a:latin typeface="+mn-lt"/>
          <a:ea typeface="+mn-lt"/>
          <a:cs typeface="+mn-lt"/>
        </a:defRPr>
      </a:lvl3pPr>
      <a:lvl4pPr marL="1300480" algn="l" defTabSz="866140">
        <a:buNone/>
        <a:defRPr sz="1735" kern="1200">
          <a:solidFill>
            <a:schemeClr val="tx1"/>
          </a:solidFill>
          <a:latin typeface="+mn-lt"/>
          <a:ea typeface="+mn-lt"/>
          <a:cs typeface="+mn-lt"/>
        </a:defRPr>
      </a:lvl4pPr>
      <a:lvl5pPr marL="1734185" algn="l" defTabSz="866140">
        <a:buNone/>
        <a:defRPr sz="1735" kern="1200">
          <a:solidFill>
            <a:schemeClr val="tx1"/>
          </a:solidFill>
          <a:latin typeface="+mn-lt"/>
          <a:ea typeface="+mn-lt"/>
          <a:cs typeface="+mn-lt"/>
        </a:defRPr>
      </a:lvl5pPr>
      <a:lvl6pPr marL="2167255" algn="l" defTabSz="866140">
        <a:buNone/>
        <a:defRPr sz="1735" kern="1200">
          <a:solidFill>
            <a:schemeClr val="tx1"/>
          </a:solidFill>
          <a:latin typeface="+mn-lt"/>
          <a:ea typeface="+mn-lt"/>
          <a:cs typeface="+mn-lt"/>
        </a:defRPr>
      </a:lvl6pPr>
      <a:lvl7pPr marL="2600960" algn="l" defTabSz="866140">
        <a:buNone/>
        <a:defRPr sz="1735" kern="1200">
          <a:solidFill>
            <a:schemeClr val="tx1"/>
          </a:solidFill>
          <a:latin typeface="+mn-lt"/>
          <a:ea typeface="+mn-lt"/>
          <a:cs typeface="+mn-lt"/>
        </a:defRPr>
      </a:lvl7pPr>
      <a:lvl8pPr marL="3034665" algn="l" defTabSz="866140">
        <a:buNone/>
        <a:defRPr sz="1735" kern="1200">
          <a:solidFill>
            <a:schemeClr val="tx1"/>
          </a:solidFill>
          <a:latin typeface="+mn-lt"/>
          <a:ea typeface="+mn-lt"/>
          <a:cs typeface="+mn-lt"/>
        </a:defRPr>
      </a:lvl8pPr>
      <a:lvl9pPr marL="3467735" algn="l" defTabSz="866140">
        <a:buNone/>
        <a:defRPr sz="1735" kern="1200">
          <a:solidFill>
            <a:schemeClr val="tx1"/>
          </a:solidFill>
          <a:latin typeface="+mn-lt"/>
          <a:ea typeface="+mn-lt"/>
          <a:cs typeface="+mn-lt"/>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标题占位符 1">
            <a:extLst>
              <a:ext uri="{FF2B5EF4-FFF2-40B4-BE49-F238E27FC236}">
                <a16:creationId xmlns:a16="http://schemas.microsoft.com/office/drawing/2014/main" id="{2DD986D5-7C62-452D-8061-B302A09E428C}"/>
              </a:ext>
            </a:extLst>
          </p:cNvPr>
          <p:cNvSpPr>
            <a:spLocks noGrp="1"/>
          </p:cNvSpPr>
          <p:nvPr>
            <p:ph type="title"/>
          </p:nvPr>
        </p:nvSpPr>
        <p:spPr>
          <a:xfrm>
            <a:off x="838200" y="366186"/>
            <a:ext cx="10515600" cy="1325033"/>
          </a:xfrm>
          <a:prstGeom prst="rect">
            <a:avLst/>
          </a:prstGeom>
          <a:noFill/>
          <a:ln>
            <a:noFill/>
          </a:ln>
        </p:spPr>
        <p:txBody>
          <a:bodyPr vert="horz" wrap="square" lIns="65019" tIns="32509" rIns="65019" bIns="32509" anchor="ctr"/>
          <a:lstStyle/>
          <a:p>
            <a:pPr lvl="0">
              <a:buNone/>
            </a:pPr>
            <a:r>
              <a:t>单击此处编辑母版标题样式</a:t>
            </a:r>
          </a:p>
        </p:txBody>
      </p:sp>
      <p:sp>
        <p:nvSpPr>
          <p:cNvPr id="4099" name="文本占位符 2">
            <a:extLst>
              <a:ext uri="{FF2B5EF4-FFF2-40B4-BE49-F238E27FC236}">
                <a16:creationId xmlns:a16="http://schemas.microsoft.com/office/drawing/2014/main" id="{86233082-5315-4B8B-AE57-8EC41B5E3B25}"/>
              </a:ext>
            </a:extLst>
          </p:cNvPr>
          <p:cNvSpPr>
            <a:spLocks noGrp="1"/>
          </p:cNvSpPr>
          <p:nvPr>
            <p:ph type="body" idx="1"/>
          </p:nvPr>
        </p:nvSpPr>
        <p:spPr>
          <a:xfrm>
            <a:off x="838200" y="1826685"/>
            <a:ext cx="10515600" cy="4351867"/>
          </a:xfrm>
          <a:prstGeom prst="rect">
            <a:avLst/>
          </a:prstGeom>
          <a:noFill/>
          <a:ln>
            <a:noFill/>
          </a:ln>
        </p:spPr>
        <p:txBody>
          <a:bodyPr vert="horz" wrap="square" lIns="65019" tIns="32509" rIns="65019" bIns="32509" anchor="t"/>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a:extLst>
              <a:ext uri="{FF2B5EF4-FFF2-40B4-BE49-F238E27FC236}">
                <a16:creationId xmlns:a16="http://schemas.microsoft.com/office/drawing/2014/main" id="{00159EDC-FC9C-46E9-9B21-874A8A61675B}"/>
              </a:ext>
            </a:extLst>
          </p:cNvPr>
          <p:cNvSpPr>
            <a:spLocks noGrp="1"/>
          </p:cNvSpPr>
          <p:nvPr>
            <p:ph type="dt" idx="2"/>
          </p:nvPr>
        </p:nvSpPr>
        <p:spPr>
          <a:xfrm>
            <a:off x="838200" y="6356353"/>
            <a:ext cx="2743200" cy="364067"/>
          </a:xfrm>
          <a:prstGeom prst="rect">
            <a:avLst/>
          </a:prstGeom>
        </p:spPr>
        <p:txBody>
          <a:bodyPr vert="horz" lIns="65019" tIns="32509" rIns="65019" bIns="32509" anchor="ctr"/>
          <a:lstStyle>
            <a:lvl1pPr algn="l" defTabSz="1218323">
              <a:buNone/>
              <a:defRPr sz="1200">
                <a:solidFill>
                  <a:prstClr val="black">
                    <a:tint val="75000"/>
                  </a:prstClr>
                </a:solidFill>
                <a:latin typeface="+mn-lt"/>
                <a:ea typeface="+mn-lt"/>
                <a:cs typeface="+mn-lt"/>
              </a:defRPr>
            </a:lvl1pPr>
          </a:lstStyle>
          <a:p>
            <a:pPr>
              <a:buNone/>
            </a:pPr>
            <a:fld id="{292F71EF-02F8-4FDD-93F8-D030AB7FC83F}" type="datetimeFigureOut">
              <a:t>2026/9/27</a:t>
            </a:fld>
            <a:endParaRPr/>
          </a:p>
        </p:txBody>
      </p:sp>
      <p:sp>
        <p:nvSpPr>
          <p:cNvPr id="5" name="页脚占位符 4">
            <a:extLst>
              <a:ext uri="{FF2B5EF4-FFF2-40B4-BE49-F238E27FC236}">
                <a16:creationId xmlns:a16="http://schemas.microsoft.com/office/drawing/2014/main" id="{F7D6B1E0-9C14-4FFB-8B26-287FA97D068D}"/>
              </a:ext>
            </a:extLst>
          </p:cNvPr>
          <p:cNvSpPr>
            <a:spLocks noGrp="1"/>
          </p:cNvSpPr>
          <p:nvPr>
            <p:ph type="ftr" idx="3"/>
          </p:nvPr>
        </p:nvSpPr>
        <p:spPr>
          <a:xfrm>
            <a:off x="4038600" y="6356353"/>
            <a:ext cx="4114800" cy="364067"/>
          </a:xfrm>
          <a:prstGeom prst="rect">
            <a:avLst/>
          </a:prstGeom>
        </p:spPr>
        <p:txBody>
          <a:bodyPr vert="horz" lIns="65019" tIns="32509" rIns="65019" bIns="32509" anchor="ctr"/>
          <a:lstStyle>
            <a:lvl1pPr algn="ctr" defTabSz="1218323">
              <a:buNone/>
              <a:defRPr sz="1200">
                <a:solidFill>
                  <a:prstClr val="black">
                    <a:tint val="75000"/>
                  </a:prstClr>
                </a:solidFill>
                <a:latin typeface="+mn-lt"/>
                <a:ea typeface="+mn-lt"/>
                <a:cs typeface="+mn-lt"/>
              </a:defRPr>
            </a:lvl1pPr>
          </a:lstStyle>
          <a:p>
            <a:pPr>
              <a:buNone/>
            </a:pPr>
            <a:endParaRPr/>
          </a:p>
        </p:txBody>
      </p:sp>
      <p:sp>
        <p:nvSpPr>
          <p:cNvPr id="6" name="灯片编号占位符 5">
            <a:extLst>
              <a:ext uri="{FF2B5EF4-FFF2-40B4-BE49-F238E27FC236}">
                <a16:creationId xmlns:a16="http://schemas.microsoft.com/office/drawing/2014/main" id="{96171AD2-D63B-4944-8A4A-B20C7084E0B5}"/>
              </a:ext>
            </a:extLst>
          </p:cNvPr>
          <p:cNvSpPr>
            <a:spLocks noGrp="1"/>
          </p:cNvSpPr>
          <p:nvPr>
            <p:ph type="sldNum" idx="4"/>
          </p:nvPr>
        </p:nvSpPr>
        <p:spPr>
          <a:xfrm>
            <a:off x="8610600" y="6356353"/>
            <a:ext cx="2743200" cy="364067"/>
          </a:xfrm>
          <a:prstGeom prst="rect">
            <a:avLst/>
          </a:prstGeom>
        </p:spPr>
        <p:txBody>
          <a:bodyPr vert="horz" wrap="square" lIns="65019" tIns="32509" rIns="65019" bIns="32509" anchor="ctr"/>
          <a:lstStyle>
            <a:lvl1pPr algn="r" defTabSz="1216630">
              <a:buNone/>
              <a:defRPr sz="1200">
                <a:solidFill>
                  <a:srgbClr val="898989"/>
                </a:solidFill>
              </a:defRPr>
            </a:lvl1pPr>
          </a:lstStyle>
          <a:p>
            <a:pPr>
              <a:buNone/>
            </a:pPr>
            <a:fld id="{D728AC88-674E-4151-AFDC-B7C47BAC839D}" type="slidenum">
              <a:t>‹#›</a:t>
            </a:fld>
            <a:endParaRPr/>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Lst>
  <p:txStyles>
    <p:titleStyle>
      <a:lvl1pPr algn="l" defTabSz="865272">
        <a:lnSpc>
          <a:spcPct val="90000"/>
        </a:lnSpc>
        <a:spcBef>
          <a:spcPct val="0"/>
        </a:spcBef>
        <a:spcAft>
          <a:spcPct val="0"/>
        </a:spcAft>
        <a:buNone/>
        <a:defRPr sz="4133" kern="1200">
          <a:solidFill>
            <a:schemeClr val="tx1"/>
          </a:solidFill>
          <a:latin typeface="Calibri"/>
          <a:ea typeface="Calibri"/>
          <a:cs typeface="Calibri"/>
        </a:defRPr>
      </a:lvl1pPr>
      <a:lvl2pPr algn="l" defTabSz="865272">
        <a:lnSpc>
          <a:spcPct val="90000"/>
        </a:lnSpc>
        <a:spcBef>
          <a:spcPct val="0"/>
        </a:spcBef>
        <a:spcAft>
          <a:spcPct val="0"/>
        </a:spcAft>
        <a:buNone/>
        <a:defRPr sz="4133">
          <a:solidFill>
            <a:schemeClr val="tx1"/>
          </a:solidFill>
          <a:latin typeface="Calibri Light"/>
          <a:ea typeface="Calibri Light"/>
          <a:cs typeface="Calibri Light"/>
        </a:defRPr>
      </a:lvl2pPr>
      <a:lvl3pPr algn="l" defTabSz="865272">
        <a:lnSpc>
          <a:spcPct val="90000"/>
        </a:lnSpc>
        <a:spcBef>
          <a:spcPct val="0"/>
        </a:spcBef>
        <a:spcAft>
          <a:spcPct val="0"/>
        </a:spcAft>
        <a:buNone/>
        <a:defRPr sz="4133">
          <a:solidFill>
            <a:schemeClr val="tx1"/>
          </a:solidFill>
          <a:latin typeface="Calibri Light"/>
          <a:ea typeface="Calibri Light"/>
          <a:cs typeface="Calibri Light"/>
        </a:defRPr>
      </a:lvl3pPr>
      <a:lvl4pPr algn="l" defTabSz="865272">
        <a:lnSpc>
          <a:spcPct val="90000"/>
        </a:lnSpc>
        <a:spcBef>
          <a:spcPct val="0"/>
        </a:spcBef>
        <a:spcAft>
          <a:spcPct val="0"/>
        </a:spcAft>
        <a:buNone/>
        <a:defRPr sz="4133">
          <a:solidFill>
            <a:schemeClr val="tx1"/>
          </a:solidFill>
          <a:latin typeface="Calibri Light"/>
          <a:ea typeface="Calibri Light"/>
          <a:cs typeface="Calibri Light"/>
        </a:defRPr>
      </a:lvl4pPr>
      <a:lvl5pPr algn="l" defTabSz="865272">
        <a:lnSpc>
          <a:spcPct val="90000"/>
        </a:lnSpc>
        <a:spcBef>
          <a:spcPct val="0"/>
        </a:spcBef>
        <a:spcAft>
          <a:spcPct val="0"/>
        </a:spcAft>
        <a:buNone/>
        <a:defRPr sz="4133">
          <a:solidFill>
            <a:schemeClr val="tx1"/>
          </a:solidFill>
          <a:latin typeface="Calibri Light"/>
          <a:ea typeface="Calibri Light"/>
          <a:cs typeface="Calibri Light"/>
        </a:defRPr>
      </a:lvl5pPr>
      <a:lvl6pPr marL="609585" algn="l" defTabSz="865272">
        <a:lnSpc>
          <a:spcPct val="90000"/>
        </a:lnSpc>
        <a:spcBef>
          <a:spcPct val="0"/>
        </a:spcBef>
        <a:spcAft>
          <a:spcPct val="0"/>
        </a:spcAft>
        <a:buNone/>
        <a:defRPr sz="4133">
          <a:solidFill>
            <a:schemeClr val="tx1"/>
          </a:solidFill>
          <a:latin typeface="Calibri Light"/>
          <a:ea typeface="Calibri Light"/>
          <a:cs typeface="Calibri Light"/>
        </a:defRPr>
      </a:lvl6pPr>
      <a:lvl7pPr marL="1219170" algn="l" defTabSz="865272">
        <a:lnSpc>
          <a:spcPct val="90000"/>
        </a:lnSpc>
        <a:spcBef>
          <a:spcPct val="0"/>
        </a:spcBef>
        <a:spcAft>
          <a:spcPct val="0"/>
        </a:spcAft>
        <a:buNone/>
        <a:defRPr sz="4133">
          <a:solidFill>
            <a:schemeClr val="tx1"/>
          </a:solidFill>
          <a:latin typeface="Calibri Light"/>
          <a:ea typeface="Calibri Light"/>
          <a:cs typeface="Calibri Light"/>
        </a:defRPr>
      </a:lvl7pPr>
      <a:lvl8pPr marL="1828754" algn="l" defTabSz="865272">
        <a:lnSpc>
          <a:spcPct val="90000"/>
        </a:lnSpc>
        <a:spcBef>
          <a:spcPct val="0"/>
        </a:spcBef>
        <a:spcAft>
          <a:spcPct val="0"/>
        </a:spcAft>
        <a:buNone/>
        <a:defRPr sz="4133">
          <a:solidFill>
            <a:schemeClr val="tx1"/>
          </a:solidFill>
          <a:latin typeface="Calibri Light"/>
          <a:ea typeface="Calibri Light"/>
          <a:cs typeface="Calibri Light"/>
        </a:defRPr>
      </a:lvl8pPr>
      <a:lvl9pPr marL="2438339" algn="l" defTabSz="865272">
        <a:lnSpc>
          <a:spcPct val="90000"/>
        </a:lnSpc>
        <a:spcBef>
          <a:spcPct val="0"/>
        </a:spcBef>
        <a:spcAft>
          <a:spcPct val="0"/>
        </a:spcAft>
        <a:buNone/>
        <a:defRPr sz="4133">
          <a:solidFill>
            <a:schemeClr val="tx1"/>
          </a:solidFill>
          <a:latin typeface="Calibri Light"/>
          <a:ea typeface="Calibri Light"/>
          <a:cs typeface="Calibri Light"/>
        </a:defRPr>
      </a:lvl9pPr>
    </p:titleStyle>
    <p:bodyStyle>
      <a:lvl1pPr marL="215895" indent="-215895" algn="l" defTabSz="865272">
        <a:lnSpc>
          <a:spcPct val="90000"/>
        </a:lnSpc>
        <a:spcBef>
          <a:spcPts val="953"/>
        </a:spcBef>
        <a:spcAft>
          <a:spcPct val="0"/>
        </a:spcAft>
        <a:buFont typeface="Arial"/>
        <a:buChar char="•"/>
        <a:defRPr sz="2667" kern="1200">
          <a:solidFill>
            <a:schemeClr val="tx1"/>
          </a:solidFill>
          <a:latin typeface="+mn-lt"/>
          <a:ea typeface="+mn-lt"/>
          <a:cs typeface="+mn-lt"/>
        </a:defRPr>
      </a:lvl1pPr>
      <a:lvl2pPr marL="650224" indent="-215895" algn="l" defTabSz="865272">
        <a:lnSpc>
          <a:spcPct val="90000"/>
        </a:lnSpc>
        <a:spcBef>
          <a:spcPts val="467"/>
        </a:spcBef>
        <a:spcAft>
          <a:spcPct val="0"/>
        </a:spcAft>
        <a:buFont typeface="Arial"/>
        <a:buChar char="•"/>
        <a:defRPr sz="2267" kern="1200">
          <a:solidFill>
            <a:schemeClr val="tx1"/>
          </a:solidFill>
          <a:latin typeface="+mn-lt"/>
          <a:ea typeface="+mn-lt"/>
          <a:cs typeface="+mn-lt"/>
        </a:defRPr>
      </a:lvl2pPr>
      <a:lvl3pPr marL="1082013" indent="-215895" algn="l" defTabSz="865272">
        <a:lnSpc>
          <a:spcPct val="90000"/>
        </a:lnSpc>
        <a:spcBef>
          <a:spcPts val="467"/>
        </a:spcBef>
        <a:spcAft>
          <a:spcPct val="0"/>
        </a:spcAft>
        <a:buFont typeface="Arial"/>
        <a:buChar char="•"/>
        <a:defRPr sz="1867" kern="1200">
          <a:solidFill>
            <a:schemeClr val="tx1"/>
          </a:solidFill>
          <a:latin typeface="+mn-lt"/>
          <a:ea typeface="+mn-lt"/>
          <a:cs typeface="+mn-lt"/>
        </a:defRPr>
      </a:lvl3pPr>
      <a:lvl4pPr marL="1515495" indent="-215895" algn="l" defTabSz="865272">
        <a:lnSpc>
          <a:spcPct val="90000"/>
        </a:lnSpc>
        <a:spcBef>
          <a:spcPts val="467"/>
        </a:spcBef>
        <a:spcAft>
          <a:spcPct val="0"/>
        </a:spcAft>
        <a:buFont typeface="Arial"/>
        <a:buChar char="•"/>
        <a:defRPr sz="1733" kern="1200">
          <a:solidFill>
            <a:schemeClr val="tx1"/>
          </a:solidFill>
          <a:latin typeface="+mn-lt"/>
          <a:ea typeface="+mn-lt"/>
          <a:cs typeface="+mn-lt"/>
        </a:defRPr>
      </a:lvl4pPr>
      <a:lvl5pPr marL="1949825" indent="-215895" algn="l" defTabSz="865272">
        <a:lnSpc>
          <a:spcPct val="90000"/>
        </a:lnSpc>
        <a:spcBef>
          <a:spcPts val="467"/>
        </a:spcBef>
        <a:spcAft>
          <a:spcPct val="0"/>
        </a:spcAft>
        <a:buFont typeface="Arial"/>
        <a:buChar char="•"/>
        <a:defRPr sz="1733" kern="1200">
          <a:solidFill>
            <a:schemeClr val="tx1"/>
          </a:solidFill>
          <a:latin typeface="+mn-lt"/>
          <a:ea typeface="+mn-lt"/>
          <a:cs typeface="+mn-lt"/>
        </a:defRPr>
      </a:lvl5pPr>
      <a:lvl6pPr marL="2384154" indent="-216741" algn="l" defTabSz="866118">
        <a:lnSpc>
          <a:spcPct val="90000"/>
        </a:lnSpc>
        <a:spcBef>
          <a:spcPts val="473"/>
        </a:spcBef>
        <a:buFont typeface="Arial"/>
        <a:buChar char="•"/>
        <a:defRPr sz="1733" kern="1200">
          <a:solidFill>
            <a:schemeClr val="tx1"/>
          </a:solidFill>
          <a:latin typeface="+mn-lt"/>
          <a:ea typeface="+mn-lt"/>
          <a:cs typeface="+mn-lt"/>
        </a:defRPr>
      </a:lvl6pPr>
      <a:lvl7pPr marL="2817636" indent="-216741" algn="l" defTabSz="866118">
        <a:lnSpc>
          <a:spcPct val="90000"/>
        </a:lnSpc>
        <a:spcBef>
          <a:spcPts val="473"/>
        </a:spcBef>
        <a:buFont typeface="Arial"/>
        <a:buChar char="•"/>
        <a:defRPr sz="1733" kern="1200">
          <a:solidFill>
            <a:schemeClr val="tx1"/>
          </a:solidFill>
          <a:latin typeface="+mn-lt"/>
          <a:ea typeface="+mn-lt"/>
          <a:cs typeface="+mn-lt"/>
        </a:defRPr>
      </a:lvl7pPr>
      <a:lvl8pPr marL="3251119" indent="-216741" algn="l" defTabSz="866118">
        <a:lnSpc>
          <a:spcPct val="90000"/>
        </a:lnSpc>
        <a:spcBef>
          <a:spcPts val="473"/>
        </a:spcBef>
        <a:buFont typeface="Arial"/>
        <a:buChar char="•"/>
        <a:defRPr sz="1733" kern="1200">
          <a:solidFill>
            <a:schemeClr val="tx1"/>
          </a:solidFill>
          <a:latin typeface="+mn-lt"/>
          <a:ea typeface="+mn-lt"/>
          <a:cs typeface="+mn-lt"/>
        </a:defRPr>
      </a:lvl8pPr>
      <a:lvl9pPr marL="3684601" indent="-216741" algn="l" defTabSz="866118">
        <a:lnSpc>
          <a:spcPct val="90000"/>
        </a:lnSpc>
        <a:spcBef>
          <a:spcPts val="473"/>
        </a:spcBef>
        <a:buFont typeface="Arial"/>
        <a:buChar char="•"/>
        <a:defRPr sz="1733" kern="1200">
          <a:solidFill>
            <a:schemeClr val="tx1"/>
          </a:solidFill>
          <a:latin typeface="+mn-lt"/>
          <a:ea typeface="+mn-lt"/>
          <a:cs typeface="+mn-lt"/>
        </a:defRPr>
      </a:lvl9pPr>
    </p:bodyStyle>
    <p:otherStyle>
      <a:lvl1pPr marL="0" algn="l" defTabSz="866118">
        <a:buNone/>
        <a:defRPr sz="1733" kern="1200">
          <a:solidFill>
            <a:schemeClr val="tx1"/>
          </a:solidFill>
          <a:latin typeface="+mn-lt"/>
          <a:ea typeface="+mn-lt"/>
          <a:cs typeface="+mn-lt"/>
        </a:defRPr>
      </a:lvl1pPr>
      <a:lvl2pPr marL="433482" algn="l" defTabSz="866118">
        <a:buNone/>
        <a:defRPr sz="1733" kern="1200">
          <a:solidFill>
            <a:schemeClr val="tx1"/>
          </a:solidFill>
          <a:latin typeface="+mn-lt"/>
          <a:ea typeface="+mn-lt"/>
          <a:cs typeface="+mn-lt"/>
        </a:defRPr>
      </a:lvl2pPr>
      <a:lvl3pPr marL="866965" algn="l" defTabSz="866118">
        <a:buNone/>
        <a:defRPr sz="1733" kern="1200">
          <a:solidFill>
            <a:schemeClr val="tx1"/>
          </a:solidFill>
          <a:latin typeface="+mn-lt"/>
          <a:ea typeface="+mn-lt"/>
          <a:cs typeface="+mn-lt"/>
        </a:defRPr>
      </a:lvl3pPr>
      <a:lvl4pPr marL="1300447" algn="l" defTabSz="866118">
        <a:buNone/>
        <a:defRPr sz="1733" kern="1200">
          <a:solidFill>
            <a:schemeClr val="tx1"/>
          </a:solidFill>
          <a:latin typeface="+mn-lt"/>
          <a:ea typeface="+mn-lt"/>
          <a:cs typeface="+mn-lt"/>
        </a:defRPr>
      </a:lvl4pPr>
      <a:lvl5pPr marL="1733930" algn="l" defTabSz="866118">
        <a:buNone/>
        <a:defRPr sz="1733" kern="1200">
          <a:solidFill>
            <a:schemeClr val="tx1"/>
          </a:solidFill>
          <a:latin typeface="+mn-lt"/>
          <a:ea typeface="+mn-lt"/>
          <a:cs typeface="+mn-lt"/>
        </a:defRPr>
      </a:lvl5pPr>
      <a:lvl6pPr marL="2167412" algn="l" defTabSz="866118">
        <a:buNone/>
        <a:defRPr sz="1733" kern="1200">
          <a:solidFill>
            <a:schemeClr val="tx1"/>
          </a:solidFill>
          <a:latin typeface="+mn-lt"/>
          <a:ea typeface="+mn-lt"/>
          <a:cs typeface="+mn-lt"/>
        </a:defRPr>
      </a:lvl6pPr>
      <a:lvl7pPr marL="2600895" algn="l" defTabSz="866118">
        <a:buNone/>
        <a:defRPr sz="1733" kern="1200">
          <a:solidFill>
            <a:schemeClr val="tx1"/>
          </a:solidFill>
          <a:latin typeface="+mn-lt"/>
          <a:ea typeface="+mn-lt"/>
          <a:cs typeface="+mn-lt"/>
        </a:defRPr>
      </a:lvl7pPr>
      <a:lvl8pPr marL="3034377" algn="l" defTabSz="866118">
        <a:buNone/>
        <a:defRPr sz="1733" kern="1200">
          <a:solidFill>
            <a:schemeClr val="tx1"/>
          </a:solidFill>
          <a:latin typeface="+mn-lt"/>
          <a:ea typeface="+mn-lt"/>
          <a:cs typeface="+mn-lt"/>
        </a:defRPr>
      </a:lvl8pPr>
      <a:lvl9pPr marL="3467860" algn="l" defTabSz="866118">
        <a:buNone/>
        <a:defRPr sz="1733"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矩形 62">
            <a:extLst>
              <a:ext uri="{FF2B5EF4-FFF2-40B4-BE49-F238E27FC236}">
                <a16:creationId xmlns:a16="http://schemas.microsoft.com/office/drawing/2014/main" id="{2AFE1FA7-4B66-4A9F-984E-BB326964C74E}"/>
              </a:ext>
            </a:extLst>
          </p:cNvPr>
          <p:cNvSpPr>
            <a:spLocks noGrp="1"/>
          </p:cNvSpPr>
          <p:nvPr/>
        </p:nvSpPr>
        <p:spPr>
          <a:xfrm>
            <a:off x="0" y="1513114"/>
            <a:ext cx="12192000" cy="2376715"/>
          </a:xfrm>
          <a:prstGeom prst="rect">
            <a:avLst/>
          </a:prstGeom>
          <a:gradFill rotWithShape="1">
            <a:gsLst>
              <a:gs pos="91000">
                <a:schemeClr val="accent1">
                  <a:lumMod val="75000"/>
                </a:schemeClr>
              </a:gs>
              <a:gs pos="25000">
                <a:srgbClr val="376DC2"/>
              </a:gs>
              <a:gs pos="0">
                <a:srgbClr val="0268FE">
                  <a:lumMod val="75000"/>
                  <a:lumOff val="25000"/>
                </a:srgbClr>
              </a:gs>
            </a:gsLst>
            <a:path path="circle">
              <a:fillToRect l="100000" b="100000"/>
            </a:path>
            <a:tileRect t="-100000" r="-100000"/>
          </a:gradFill>
          <a:ln w="12700" cmpd="sng">
            <a:noFill/>
            <a:prstDash val="solid"/>
          </a:ln>
          <a:effectLst>
            <a:outerShdw blurRad="50800" dist="38100" dir="8100000" algn="tr" rotWithShape="0">
              <a:prstClr val="black">
                <a:alpha val="40000"/>
              </a:prstClr>
            </a:outerShdw>
          </a:effectLst>
        </p:spPr>
        <p:txBody>
          <a:bodyPr anchor="ctr"/>
          <a:lstStyle/>
          <a:p>
            <a:pPr algn="ctr">
              <a:buNone/>
            </a:pPr>
            <a:endParaRPr kern="0">
              <a:solidFill>
                <a:srgbClr val="FFFFFF"/>
              </a:solidFill>
              <a:latin typeface="等线"/>
              <a:ea typeface="等线"/>
              <a:cs typeface="等线"/>
            </a:endParaRPr>
          </a:p>
        </p:txBody>
      </p:sp>
      <p:sp>
        <p:nvSpPr>
          <p:cNvPr id="15" name="标题 8">
            <a:extLst>
              <a:ext uri="{FF2B5EF4-FFF2-40B4-BE49-F238E27FC236}">
                <a16:creationId xmlns:a16="http://schemas.microsoft.com/office/drawing/2014/main" id="{453F7129-0504-4CA9-9BFA-E5B0C91D7760}"/>
              </a:ext>
            </a:extLst>
          </p:cNvPr>
          <p:cNvSpPr>
            <a:spLocks noGrp="1"/>
          </p:cNvSpPr>
          <p:nvPr/>
        </p:nvSpPr>
        <p:spPr>
          <a:xfrm>
            <a:off x="4514780" y="4695050"/>
            <a:ext cx="3283986" cy="624044"/>
          </a:xfrm>
          <a:prstGeom prst="rect">
            <a:avLst/>
          </a:prstGeom>
        </p:spPr>
        <p:txBody>
          <a:bodyPr anchor="ctr">
            <a:noAutofit/>
          </a:bodyPr>
          <a:lstStyle>
            <a:lvl1pPr algn="ctr" defTabSz="914400">
              <a:lnSpc>
                <a:spcPct val="90000"/>
              </a:lnSpc>
              <a:spcBef>
                <a:spcPct val="0"/>
              </a:spcBef>
              <a:buNone/>
              <a:defRPr sz="5400" b="1" kern="1200">
                <a:solidFill>
                  <a:schemeClr val="accent1"/>
                </a:solidFill>
                <a:latin typeface="+mj-lt"/>
                <a:ea typeface="+mj-lt"/>
                <a:cs typeface="+mj-lt"/>
              </a:defRPr>
            </a:lvl1pPr>
          </a:lstStyle>
          <a:p>
            <a:pPr lvl="0">
              <a:lnSpc>
                <a:spcPct val="110000"/>
              </a:lnSpc>
              <a:spcBef>
                <a:spcPts val="0"/>
              </a:spcBef>
              <a:buNone/>
            </a:pPr>
            <a:r>
              <a:rPr sz="2400" i="0" u="none" cap="none" dirty="0" err="1">
                <a:ln>
                  <a:noFill/>
                </a:ln>
                <a:solidFill>
                  <a:schemeClr val="tx1"/>
                </a:solidFill>
                <a:latin typeface="汉仪文润宋韵 U"/>
                <a:ea typeface="汉仪文润宋韵 U"/>
                <a:cs typeface="汉仪文润宋韵 U"/>
              </a:rPr>
              <a:t>汇报人：魏鹏宇</a:t>
            </a:r>
            <a:endParaRPr sz="2400" i="0" u="none" cap="none" dirty="0">
              <a:ln>
                <a:noFill/>
              </a:ln>
              <a:solidFill>
                <a:schemeClr val="tx1"/>
              </a:solidFill>
              <a:latin typeface="汉仪文润宋韵 U"/>
              <a:ea typeface="汉仪文润宋韵 U"/>
              <a:cs typeface="汉仪文润宋韵 U"/>
            </a:endParaRPr>
          </a:p>
        </p:txBody>
      </p:sp>
      <p:sp>
        <p:nvSpPr>
          <p:cNvPr id="17" name="标题 8">
            <a:extLst>
              <a:ext uri="{FF2B5EF4-FFF2-40B4-BE49-F238E27FC236}">
                <a16:creationId xmlns:a16="http://schemas.microsoft.com/office/drawing/2014/main" id="{75A733F7-8760-4CC4-8DFD-EF4760B6CE4C}"/>
              </a:ext>
            </a:extLst>
          </p:cNvPr>
          <p:cNvSpPr>
            <a:spLocks noGrp="1"/>
          </p:cNvSpPr>
          <p:nvPr/>
        </p:nvSpPr>
        <p:spPr>
          <a:xfrm>
            <a:off x="4514780" y="5531496"/>
            <a:ext cx="3283986" cy="624044"/>
          </a:xfrm>
          <a:prstGeom prst="rect">
            <a:avLst/>
          </a:prstGeom>
        </p:spPr>
        <p:txBody>
          <a:bodyPr anchor="ctr">
            <a:noAutofit/>
          </a:bodyPr>
          <a:lstStyle>
            <a:lvl1pPr algn="ctr" defTabSz="914400">
              <a:lnSpc>
                <a:spcPct val="90000"/>
              </a:lnSpc>
              <a:spcBef>
                <a:spcPct val="0"/>
              </a:spcBef>
              <a:buNone/>
              <a:defRPr sz="5400" b="1" kern="1200">
                <a:solidFill>
                  <a:schemeClr val="accent1"/>
                </a:solidFill>
                <a:latin typeface="+mj-lt"/>
                <a:ea typeface="+mj-lt"/>
                <a:cs typeface="+mj-lt"/>
              </a:defRPr>
            </a:lvl1pPr>
          </a:lstStyle>
          <a:p>
            <a:pPr>
              <a:lnSpc>
                <a:spcPct val="110000"/>
              </a:lnSpc>
              <a:spcBef>
                <a:spcPts val="0"/>
              </a:spcBef>
              <a:buNone/>
            </a:pPr>
            <a:r>
              <a:rPr sz="2000" spc="300" dirty="0">
                <a:solidFill>
                  <a:schemeClr val="tx1"/>
                </a:solidFill>
                <a:latin typeface="汉仪文润宋韵 U"/>
                <a:ea typeface="汉仪文润宋韵 U"/>
                <a:cs typeface="汉仪文润宋韵 U"/>
              </a:rPr>
              <a:t>2026.09</a:t>
            </a:r>
            <a:r>
              <a:rPr lang="en-US" sz="2000" spc="300" dirty="0">
                <a:solidFill>
                  <a:schemeClr val="tx1"/>
                </a:solidFill>
                <a:latin typeface="汉仪文润宋韵 U"/>
                <a:ea typeface="汉仪文润宋韵 U"/>
                <a:cs typeface="汉仪文润宋韵 U"/>
              </a:rPr>
              <a:t>.28</a:t>
            </a:r>
            <a:endParaRPr sz="2000" spc="300" dirty="0">
              <a:solidFill>
                <a:schemeClr val="tx1"/>
              </a:solidFill>
              <a:latin typeface="汉仪文润宋韵 U"/>
              <a:ea typeface="汉仪文润宋韵 U"/>
              <a:cs typeface="汉仪文润宋韵 U"/>
            </a:endParaRPr>
          </a:p>
        </p:txBody>
      </p:sp>
      <p:sp>
        <p:nvSpPr>
          <p:cNvPr id="64" name="直接连接符 63">
            <a:extLst>
              <a:ext uri="{FF2B5EF4-FFF2-40B4-BE49-F238E27FC236}">
                <a16:creationId xmlns:a16="http://schemas.microsoft.com/office/drawing/2014/main" id="{AB104E52-D31B-4F84-930E-BB68DA292DA8}"/>
              </a:ext>
            </a:extLst>
          </p:cNvPr>
          <p:cNvSpPr>
            <a:spLocks noGrp="1"/>
          </p:cNvSpPr>
          <p:nvPr/>
        </p:nvSpPr>
        <p:spPr>
          <a:xfrm>
            <a:off x="0" y="4007608"/>
            <a:ext cx="12975771" cy="0"/>
          </a:xfrm>
          <a:prstGeom prst="line">
            <a:avLst/>
          </a:prstGeom>
          <a:noFill/>
          <a:ln w="25400">
            <a:gradFill rotWithShape="1">
              <a:gsLst>
                <a:gs pos="100000">
                  <a:schemeClr val="accent1">
                    <a:lumMod val="97000"/>
                  </a:schemeClr>
                </a:gs>
                <a:gs pos="0">
                  <a:schemeClr val="accent1">
                    <a:alpha val="0"/>
                  </a:schemeClr>
                </a:gs>
              </a:gsLst>
              <a:lin ang="10800000" scaled="1"/>
              <a:tileRect/>
            </a:gradFill>
            <a:tailEnd type="none" w="med" len="sm"/>
          </a:ln>
          <a:effectLst>
            <a:outerShdw blurRad="63500" dist="50800" dir="48000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2" name="标题 8">
            <a:extLst>
              <a:ext uri="{FF2B5EF4-FFF2-40B4-BE49-F238E27FC236}">
                <a16:creationId xmlns:a16="http://schemas.microsoft.com/office/drawing/2014/main" id="{C744971D-495E-438A-B8C9-359A6F079A77}"/>
              </a:ext>
            </a:extLst>
          </p:cNvPr>
          <p:cNvSpPr>
            <a:spLocks noGrp="1"/>
          </p:cNvSpPr>
          <p:nvPr/>
        </p:nvSpPr>
        <p:spPr>
          <a:xfrm>
            <a:off x="161706" y="1887437"/>
            <a:ext cx="11932078" cy="1613551"/>
          </a:xfrm>
          <a:prstGeom prst="rect">
            <a:avLst/>
          </a:prstGeom>
        </p:spPr>
        <p:txBody>
          <a:bodyPr wrap="square" anchor="ctr">
            <a:noAutofit/>
          </a:bodyPr>
          <a:lstStyle>
            <a:lvl1pPr algn="ctr" defTabSz="914400">
              <a:lnSpc>
                <a:spcPct val="90000"/>
              </a:lnSpc>
              <a:spcBef>
                <a:spcPct val="0"/>
              </a:spcBef>
              <a:buNone/>
              <a:defRPr sz="5400" b="1" kern="1200">
                <a:solidFill>
                  <a:schemeClr val="accent1"/>
                </a:solidFill>
                <a:latin typeface="+mj-lt"/>
                <a:ea typeface="+mj-lt"/>
                <a:cs typeface="+mj-lt"/>
              </a:defRPr>
            </a:lvl1pPr>
          </a:lstStyle>
          <a:p>
            <a:pPr lvl="0" algn="ctr">
              <a:lnSpc>
                <a:spcPct val="125000"/>
              </a:lnSpc>
              <a:spcBef>
                <a:spcPts val="0"/>
              </a:spcBef>
              <a:buNone/>
              <a:defRPr sz="3750" b="1">
                <a:solidFill>
                  <a:srgbClr val="FFFFFF"/>
                </a:solidFill>
                <a:latin typeface="汉仪文润宋韵 U"/>
                <a:ea typeface="汉仪文润宋韵 U"/>
                <a:cs typeface="汉仪文润宋韵 U"/>
              </a:defRPr>
            </a:pPr>
            <a:r>
              <a:rPr lang="zh-CN" altLang="en-US" sz="3600" i="0" u="none" cap="none" spc="0" dirty="0">
                <a:ln>
                  <a:noFill/>
                </a:ln>
                <a:solidFill>
                  <a:srgbClr val="FFFFFF"/>
                </a:solidFill>
                <a:latin typeface="汉仪文润宋韵 U"/>
                <a:ea typeface="汉仪文润宋韵 U"/>
                <a:cs typeface="汉仪文润宋韵 U"/>
              </a:rPr>
              <a:t>三参数 </a:t>
            </a:r>
            <a:r>
              <a:rPr lang="en-US" altLang="zh-CN" sz="3600" i="0" u="none" cap="none" spc="0" dirty="0">
                <a:ln>
                  <a:noFill/>
                </a:ln>
                <a:solidFill>
                  <a:srgbClr val="FFFFFF"/>
                </a:solidFill>
                <a:latin typeface="汉仪文润宋韵 U"/>
                <a:ea typeface="汉仪文润宋韵 U"/>
                <a:cs typeface="汉仪文润宋韵 U"/>
              </a:rPr>
              <a:t>Weibull</a:t>
            </a:r>
            <a:r>
              <a:rPr lang="zh-CN" altLang="en-US" sz="3600" i="0" u="none" cap="none" spc="0" dirty="0">
                <a:ln>
                  <a:noFill/>
                </a:ln>
                <a:solidFill>
                  <a:srgbClr val="FFFFFF"/>
                </a:solidFill>
                <a:latin typeface="汉仪文润宋韵 U"/>
                <a:ea typeface="汉仪文润宋韵 U"/>
                <a:cs typeface="汉仪文润宋韵 U"/>
              </a:rPr>
              <a:t>参数估计方法</a:t>
            </a:r>
            <a:endParaRPr lang="en-US" altLang="zh-CN" sz="3600" i="0" u="none" cap="none" spc="0" dirty="0">
              <a:ln>
                <a:noFill/>
              </a:ln>
              <a:solidFill>
                <a:srgbClr val="FFFFFF"/>
              </a:solidFill>
              <a:latin typeface="汉仪文润宋韵 U"/>
              <a:ea typeface="汉仪文润宋韵 U"/>
              <a:cs typeface="汉仪文润宋韵 U"/>
            </a:endParaRPr>
          </a:p>
          <a:p>
            <a:pPr lvl="0" algn="ctr">
              <a:lnSpc>
                <a:spcPct val="125000"/>
              </a:lnSpc>
              <a:spcBef>
                <a:spcPts val="0"/>
              </a:spcBef>
              <a:buNone/>
              <a:defRPr sz="3750" b="1">
                <a:solidFill>
                  <a:srgbClr val="FFFFFF"/>
                </a:solidFill>
                <a:latin typeface="汉仪文润宋韵 U"/>
                <a:ea typeface="汉仪文润宋韵 U"/>
                <a:cs typeface="汉仪文润宋韵 U"/>
              </a:defRPr>
            </a:pPr>
            <a:r>
              <a:rPr lang="zh-CN" altLang="en-US" sz="3600" dirty="0">
                <a:solidFill>
                  <a:srgbClr val="FFFFFF"/>
                </a:solidFill>
                <a:latin typeface="汉仪文润宋韵 U"/>
                <a:ea typeface="汉仪文润宋韵 U"/>
                <a:cs typeface="汉仪文润宋韵 U"/>
              </a:rPr>
              <a:t>的</a:t>
            </a:r>
            <a:r>
              <a:rPr lang="zh-CN" altLang="en-US" sz="3600" dirty="0">
                <a:solidFill>
                  <a:schemeClr val="accent6">
                    <a:lumMod val="20000"/>
                    <a:lumOff val="80000"/>
                  </a:schemeClr>
                </a:solidFill>
                <a:latin typeface="汉仪文润宋韵 U"/>
                <a:ea typeface="汉仪文润宋韵 U"/>
                <a:cs typeface="汉仪文润宋韵 U"/>
              </a:rPr>
              <a:t>比较对象选择</a:t>
            </a:r>
            <a:endParaRPr sz="3600" i="0" u="none" cap="none" spc="0" dirty="0">
              <a:ln>
                <a:noFill/>
              </a:ln>
              <a:solidFill>
                <a:schemeClr val="accent6">
                  <a:lumMod val="20000"/>
                  <a:lumOff val="80000"/>
                </a:schemeClr>
              </a:solidFill>
              <a:latin typeface="汉仪文润宋韵 U"/>
              <a:ea typeface="汉仪文润宋韵 U"/>
              <a:cs typeface="汉仪文润宋韵 U"/>
            </a:endParaRPr>
          </a:p>
        </p:txBody>
      </p:sp>
    </p:spTree>
    <p:extLst>
      <p:ext uri="{BB962C8B-B14F-4D97-AF65-F5344CB8AC3E}">
        <p14:creationId xmlns:p14="http://schemas.microsoft.com/office/powerpoint/2010/main" val="8410421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600" b="1" spc="-150">
                <a:solidFill>
                  <a:srgbClr val="FFFFFF"/>
                </a:solidFill>
                <a:latin typeface="汉仪文润宋韵 U"/>
                <a:ea typeface="汉仪文润宋韵 U"/>
                <a:cs typeface="汉仪文润宋韵 U"/>
              </a:rPr>
              <a:t>研究动机与调研问题</a:t>
            </a:r>
            <a:endParaRPr sz="26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dirty="0">
                <a:latin typeface="Microsoft YaHei"/>
              </a:rPr>
              <a:t>参数估计方法调研</a:t>
            </a:r>
            <a:endParaRPr sz="1800" dirty="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sz="1800">
                <a:latin typeface="Microsoft YaHei"/>
              </a:rPr>
              <a:t>00</a:t>
            </a:r>
          </a:p>
        </p:txBody>
      </p:sp>
      <p:sp>
        <p:nvSpPr>
          <p:cNvPr id="25" name="文本框 24">
            <a:extLst>
              <a:ext uri="{FF2B5EF4-FFF2-40B4-BE49-F238E27FC236}">
                <a16:creationId xmlns:a16="http://schemas.microsoft.com/office/drawing/2014/main" id="{7A6D4C79-2127-CEDB-F0C3-D36F22026B6E}"/>
              </a:ext>
            </a:extLst>
          </p:cNvPr>
          <p:cNvSpPr txBox="1"/>
          <p:nvPr/>
        </p:nvSpPr>
        <p:spPr>
          <a:xfrm>
            <a:off x="622300" y="4013200"/>
            <a:ext cx="10922000" cy="2451100"/>
          </a:xfrm>
          <a:prstGeom prst="rect">
            <a:avLst/>
          </a:prstGeom>
          <a:noFill/>
        </p:spPr>
        <p:txBody>
          <a:bodyPr wrap="square" lIns="0" tIns="0" rIns="0" bIns="0">
            <a:noAutofit/>
          </a:bodyPr>
          <a:lstStyle/>
          <a:p>
            <a:pPr>
              <a:lnSpc>
                <a:spcPts val="2500"/>
              </a:lnSpc>
              <a:spcAft>
                <a:spcPts val="1300"/>
              </a:spcAft>
            </a:pPr>
            <a:r>
              <a:rPr lang="zh-CN" altLang="en-US" sz="2000" b="1">
                <a:solidFill>
                  <a:srgbClr val="2F6096"/>
                </a:solidFill>
                <a:latin typeface="Microsoft YaHei" panose="020B0503020204020204" pitchFamily="34" charset="-122"/>
                <a:ea typeface="微软雅黑" panose="020B0503020204020204" pitchFamily="34" charset="-122"/>
              </a:rPr>
              <a:t>调研要回答的问题</a:t>
            </a:r>
          </a:p>
          <a:p>
            <a:pPr>
              <a:lnSpc>
                <a:spcPts val="2500"/>
              </a:lnSpc>
              <a:spcAft>
                <a:spcPts val="600"/>
              </a:spcAft>
            </a:pPr>
            <a:r>
              <a:rPr lang="en-US" altLang="zh-CN" sz="1900">
                <a:solidFill>
                  <a:srgbClr val="000000"/>
                </a:solidFill>
                <a:latin typeface="Microsoft YaHei" panose="020B0503020204020204" pitchFamily="34" charset="-122"/>
                <a:ea typeface="微软雅黑" panose="020B0503020204020204" pitchFamily="34" charset="-122"/>
              </a:rPr>
              <a:t>1. </a:t>
            </a:r>
            <a:r>
              <a:rPr lang="zh-CN" altLang="en-US" sz="1900">
                <a:solidFill>
                  <a:srgbClr val="000000"/>
                </a:solidFill>
                <a:latin typeface="Microsoft YaHei" panose="020B0503020204020204" pitchFamily="34" charset="-122"/>
                <a:ea typeface="微软雅黑" panose="020B0503020204020204" pitchFamily="34" charset="-122"/>
              </a:rPr>
              <a:t>经典方法有哪些，主要区别是什么？</a:t>
            </a:r>
          </a:p>
          <a:p>
            <a:pPr>
              <a:lnSpc>
                <a:spcPts val="2500"/>
              </a:lnSpc>
              <a:spcAft>
                <a:spcPts val="600"/>
              </a:spcAft>
            </a:pPr>
            <a:r>
              <a:rPr lang="en-US" altLang="zh-CN" sz="1900">
                <a:solidFill>
                  <a:srgbClr val="000000"/>
                </a:solidFill>
                <a:latin typeface="Microsoft YaHei" panose="020B0503020204020204" pitchFamily="34" charset="-122"/>
                <a:ea typeface="微软雅黑" panose="020B0503020204020204" pitchFamily="34" charset="-122"/>
              </a:rPr>
              <a:t>2. </a:t>
            </a:r>
            <a:r>
              <a:rPr lang="zh-CN" altLang="en-US" sz="1900">
                <a:solidFill>
                  <a:srgbClr val="000000"/>
                </a:solidFill>
                <a:latin typeface="Microsoft YaHei" panose="020B0503020204020204" pitchFamily="34" charset="-122"/>
                <a:ea typeface="微软雅黑" panose="020B0503020204020204" pitchFamily="34" charset="-122"/>
              </a:rPr>
              <a:t>谁提出、谁改进？改进针对什么问题？</a:t>
            </a:r>
          </a:p>
          <a:p>
            <a:pPr>
              <a:lnSpc>
                <a:spcPts val="2500"/>
              </a:lnSpc>
              <a:spcAft>
                <a:spcPts val="600"/>
              </a:spcAft>
            </a:pPr>
            <a:r>
              <a:rPr lang="en-US" altLang="zh-CN" sz="1900">
                <a:solidFill>
                  <a:srgbClr val="000000"/>
                </a:solidFill>
                <a:latin typeface="Microsoft YaHei" panose="020B0503020204020204" pitchFamily="34" charset="-122"/>
                <a:ea typeface="微软雅黑" panose="020B0503020204020204" pitchFamily="34" charset="-122"/>
              </a:rPr>
              <a:t>3. </a:t>
            </a:r>
            <a:r>
              <a:rPr lang="zh-CN" altLang="en-US" sz="1900">
                <a:solidFill>
                  <a:srgbClr val="000000"/>
                </a:solidFill>
                <a:latin typeface="Microsoft YaHei" panose="020B0503020204020204" pitchFamily="34" charset="-122"/>
                <a:ea typeface="微软雅黑" panose="020B0503020204020204" pitchFamily="34" charset="-122"/>
              </a:rPr>
              <a:t>近</a:t>
            </a:r>
            <a:r>
              <a:rPr lang="en-US" altLang="zh-CN" sz="1900">
                <a:solidFill>
                  <a:srgbClr val="000000"/>
                </a:solidFill>
                <a:latin typeface="Microsoft YaHei" panose="020B0503020204020204" pitchFamily="34" charset="-122"/>
                <a:ea typeface="微软雅黑" panose="020B0503020204020204" pitchFamily="34" charset="-122"/>
              </a:rPr>
              <a:t>10—20</a:t>
            </a:r>
            <a:r>
              <a:rPr lang="zh-CN" altLang="en-US" sz="1900">
                <a:solidFill>
                  <a:srgbClr val="000000"/>
                </a:solidFill>
                <a:latin typeface="Microsoft YaHei" panose="020B0503020204020204" pitchFamily="34" charset="-122"/>
                <a:ea typeface="微软雅黑" panose="020B0503020204020204" pitchFamily="34" charset="-122"/>
              </a:rPr>
              <a:t>年有哪些值得纳入比较的新方法？</a:t>
            </a:r>
          </a:p>
          <a:p>
            <a:pPr>
              <a:lnSpc>
                <a:spcPts val="2500"/>
              </a:lnSpc>
              <a:spcAft>
                <a:spcPts val="600"/>
              </a:spcAft>
            </a:pPr>
            <a:r>
              <a:rPr lang="en-US" altLang="zh-CN" sz="1900">
                <a:solidFill>
                  <a:srgbClr val="000000"/>
                </a:solidFill>
                <a:latin typeface="Microsoft YaHei" panose="020B0503020204020204" pitchFamily="34" charset="-122"/>
                <a:ea typeface="微软雅黑" panose="020B0503020204020204" pitchFamily="34" charset="-122"/>
              </a:rPr>
              <a:t>4. </a:t>
            </a:r>
            <a:r>
              <a:rPr lang="zh-CN" altLang="en-US" sz="1900">
                <a:solidFill>
                  <a:srgbClr val="000000"/>
                </a:solidFill>
                <a:latin typeface="Microsoft YaHei" panose="020B0503020204020204" pitchFamily="34" charset="-122"/>
                <a:ea typeface="微软雅黑" panose="020B0503020204020204" pitchFamily="34" charset="-122"/>
              </a:rPr>
              <a:t>已有研究与谁比较，用什么数据和指标评价？</a:t>
            </a:r>
          </a:p>
          <a:p>
            <a:pPr>
              <a:lnSpc>
                <a:spcPts val="2500"/>
              </a:lnSpc>
              <a:spcAft>
                <a:spcPts val="600"/>
              </a:spcAft>
            </a:pPr>
            <a:r>
              <a:rPr lang="en-US" altLang="zh-CN" sz="1900">
                <a:solidFill>
                  <a:srgbClr val="000000"/>
                </a:solidFill>
                <a:latin typeface="Microsoft YaHei" panose="020B0503020204020204" pitchFamily="34" charset="-122"/>
                <a:ea typeface="微软雅黑" panose="020B0503020204020204" pitchFamily="34" charset="-122"/>
              </a:rPr>
              <a:t>5. </a:t>
            </a:r>
            <a:r>
              <a:rPr lang="zh-CN" altLang="en-US" sz="1900">
                <a:solidFill>
                  <a:srgbClr val="000000"/>
                </a:solidFill>
                <a:latin typeface="Microsoft YaHei" panose="020B0503020204020204" pitchFamily="34" charset="-122"/>
                <a:ea typeface="微软雅黑" panose="020B0503020204020204" pitchFamily="34" charset="-122"/>
              </a:rPr>
              <a:t>应选哪些对照、采用哪个版本，如何在论文中引用？</a:t>
            </a:r>
            <a:endParaRPr lang="zh-CN" altLang="zh-CN" sz="1900" dirty="0">
              <a:solidFill>
                <a:srgbClr val="000000"/>
              </a:solidFill>
              <a:latin typeface="Microsoft YaHei" panose="020B0503020204020204" pitchFamily="34" charset="-122"/>
              <a:ea typeface="微软雅黑" panose="020B0503020204020204" pitchFamily="34" charset="-122"/>
            </a:endParaRPr>
          </a:p>
        </p:txBody>
      </p:sp>
      <p:sp>
        <p:nvSpPr>
          <p:cNvPr id="26" name="箭头: 上 41">
            <a:extLst>
              <a:ext uri="{FF2B5EF4-FFF2-40B4-BE49-F238E27FC236}">
                <a16:creationId xmlns:a16="http://schemas.microsoft.com/office/drawing/2014/main" id="{CF1CF523-BC6A-C3B3-5CA1-09425B8690A1}"/>
              </a:ext>
            </a:extLst>
          </p:cNvPr>
          <p:cNvSpPr/>
          <p:nvPr/>
        </p:nvSpPr>
        <p:spPr>
          <a:xfrm rot="10800000">
            <a:off x="316329" y="3110081"/>
            <a:ext cx="1559360" cy="748606"/>
          </a:xfrm>
          <a:custGeom>
            <a:avLst/>
            <a:gdLst>
              <a:gd name="connsiteX0" fmla="*/ 0 w 1981200"/>
              <a:gd name="connsiteY0" fmla="*/ 1203955 h 4363121"/>
              <a:gd name="connsiteX1" fmla="*/ 990600 w 1981200"/>
              <a:gd name="connsiteY1" fmla="*/ 0 h 4363121"/>
              <a:gd name="connsiteX2" fmla="*/ 1981200 w 1981200"/>
              <a:gd name="connsiteY2" fmla="*/ 1203955 h 4363121"/>
              <a:gd name="connsiteX3" fmla="*/ 1485900 w 1981200"/>
              <a:gd name="connsiteY3" fmla="*/ 1203955 h 4363121"/>
              <a:gd name="connsiteX4" fmla="*/ 1485900 w 1981200"/>
              <a:gd name="connsiteY4" fmla="*/ 4363121 h 4363121"/>
              <a:gd name="connsiteX5" fmla="*/ 495300 w 1981200"/>
              <a:gd name="connsiteY5" fmla="*/ 4363121 h 4363121"/>
              <a:gd name="connsiteX6" fmla="*/ 495300 w 1981200"/>
              <a:gd name="connsiteY6" fmla="*/ 1203955 h 4363121"/>
              <a:gd name="connsiteX7" fmla="*/ 0 w 1981200"/>
              <a:gd name="connsiteY7" fmla="*/ 1203955 h 4363121"/>
              <a:gd name="connsiteX0-1" fmla="*/ 586740 w 2567940"/>
              <a:gd name="connsiteY0-2" fmla="*/ 1203955 h 4363121"/>
              <a:gd name="connsiteX1-3" fmla="*/ 1577340 w 2567940"/>
              <a:gd name="connsiteY1-4" fmla="*/ 0 h 4363121"/>
              <a:gd name="connsiteX2-5" fmla="*/ 2567940 w 2567940"/>
              <a:gd name="connsiteY2-6" fmla="*/ 1203955 h 4363121"/>
              <a:gd name="connsiteX3-7" fmla="*/ 2072640 w 2567940"/>
              <a:gd name="connsiteY3-8" fmla="*/ 1203955 h 4363121"/>
              <a:gd name="connsiteX4-9" fmla="*/ 2072640 w 2567940"/>
              <a:gd name="connsiteY4-10" fmla="*/ 4363121 h 4363121"/>
              <a:gd name="connsiteX5-11" fmla="*/ 0 w 2567940"/>
              <a:gd name="connsiteY5-12" fmla="*/ 4347881 h 4363121"/>
              <a:gd name="connsiteX6-13" fmla="*/ 1082040 w 2567940"/>
              <a:gd name="connsiteY6-14" fmla="*/ 1203955 h 4363121"/>
              <a:gd name="connsiteX7-15" fmla="*/ 586740 w 2567940"/>
              <a:gd name="connsiteY7-16" fmla="*/ 1203955 h 4363121"/>
              <a:gd name="connsiteX0-17" fmla="*/ 586740 w 2865120"/>
              <a:gd name="connsiteY0-18" fmla="*/ 1203955 h 4347881"/>
              <a:gd name="connsiteX1-19" fmla="*/ 1577340 w 2865120"/>
              <a:gd name="connsiteY1-20" fmla="*/ 0 h 4347881"/>
              <a:gd name="connsiteX2-21" fmla="*/ 2567940 w 2865120"/>
              <a:gd name="connsiteY2-22" fmla="*/ 1203955 h 4347881"/>
              <a:gd name="connsiteX3-23" fmla="*/ 2072640 w 2865120"/>
              <a:gd name="connsiteY3-24" fmla="*/ 1203955 h 4347881"/>
              <a:gd name="connsiteX4-25" fmla="*/ 2865120 w 2865120"/>
              <a:gd name="connsiteY4-26" fmla="*/ 4332641 h 4347881"/>
              <a:gd name="connsiteX5-27" fmla="*/ 0 w 2865120"/>
              <a:gd name="connsiteY5-28" fmla="*/ 4347881 h 4347881"/>
              <a:gd name="connsiteX6-29" fmla="*/ 1082040 w 2865120"/>
              <a:gd name="connsiteY6-30" fmla="*/ 1203955 h 4347881"/>
              <a:gd name="connsiteX7-31" fmla="*/ 586740 w 2865120"/>
              <a:gd name="connsiteY7-32" fmla="*/ 1203955 h 4347881"/>
              <a:gd name="connsiteX0-33" fmla="*/ 586740 w 3017520"/>
              <a:gd name="connsiteY0-34" fmla="*/ 1203955 h 4347881"/>
              <a:gd name="connsiteX1-35" fmla="*/ 1577340 w 3017520"/>
              <a:gd name="connsiteY1-36" fmla="*/ 0 h 4347881"/>
              <a:gd name="connsiteX2-37" fmla="*/ 2567940 w 3017520"/>
              <a:gd name="connsiteY2-38" fmla="*/ 1203955 h 4347881"/>
              <a:gd name="connsiteX3-39" fmla="*/ 2072640 w 3017520"/>
              <a:gd name="connsiteY3-40" fmla="*/ 1203955 h 4347881"/>
              <a:gd name="connsiteX4-41" fmla="*/ 3017520 w 3017520"/>
              <a:gd name="connsiteY4-42" fmla="*/ 4347881 h 4347881"/>
              <a:gd name="connsiteX5-43" fmla="*/ 0 w 3017520"/>
              <a:gd name="connsiteY5-44" fmla="*/ 4347881 h 4347881"/>
              <a:gd name="connsiteX6-45" fmla="*/ 1082040 w 3017520"/>
              <a:gd name="connsiteY6-46" fmla="*/ 1203955 h 4347881"/>
              <a:gd name="connsiteX7-47" fmla="*/ 586740 w 3017520"/>
              <a:gd name="connsiteY7-48" fmla="*/ 1203955 h 4347881"/>
              <a:gd name="connsiteX0-49" fmla="*/ 586740 w 3056849"/>
              <a:gd name="connsiteY0-50" fmla="*/ 1203955 h 4357713"/>
              <a:gd name="connsiteX1-51" fmla="*/ 1577340 w 3056849"/>
              <a:gd name="connsiteY1-52" fmla="*/ 0 h 4357713"/>
              <a:gd name="connsiteX2-53" fmla="*/ 2567940 w 3056849"/>
              <a:gd name="connsiteY2-54" fmla="*/ 1203955 h 4357713"/>
              <a:gd name="connsiteX3-55" fmla="*/ 2072640 w 3056849"/>
              <a:gd name="connsiteY3-56" fmla="*/ 1203955 h 4357713"/>
              <a:gd name="connsiteX4-57" fmla="*/ 3056849 w 3056849"/>
              <a:gd name="connsiteY4-58" fmla="*/ 4357713 h 4357713"/>
              <a:gd name="connsiteX5-59" fmla="*/ 0 w 3056849"/>
              <a:gd name="connsiteY5-60" fmla="*/ 4347881 h 4357713"/>
              <a:gd name="connsiteX6-61" fmla="*/ 1082040 w 3056849"/>
              <a:gd name="connsiteY6-62" fmla="*/ 1203955 h 4357713"/>
              <a:gd name="connsiteX7-63" fmla="*/ 586740 w 3056849"/>
              <a:gd name="connsiteY7-64" fmla="*/ 1203955 h 4357713"/>
              <a:gd name="connsiteX0-65" fmla="*/ 586740 w 3047017"/>
              <a:gd name="connsiteY0-66" fmla="*/ 1203955 h 4347881"/>
              <a:gd name="connsiteX1-67" fmla="*/ 1577340 w 3047017"/>
              <a:gd name="connsiteY1-68" fmla="*/ 0 h 4347881"/>
              <a:gd name="connsiteX2-69" fmla="*/ 2567940 w 3047017"/>
              <a:gd name="connsiteY2-70" fmla="*/ 1203955 h 4347881"/>
              <a:gd name="connsiteX3-71" fmla="*/ 2072640 w 3047017"/>
              <a:gd name="connsiteY3-72" fmla="*/ 1203955 h 4347881"/>
              <a:gd name="connsiteX4-73" fmla="*/ 3047017 w 3047017"/>
              <a:gd name="connsiteY4-74" fmla="*/ 4328216 h 4347881"/>
              <a:gd name="connsiteX5-75" fmla="*/ 0 w 3047017"/>
              <a:gd name="connsiteY5-76" fmla="*/ 4347881 h 4347881"/>
              <a:gd name="connsiteX6-77" fmla="*/ 1082040 w 3047017"/>
              <a:gd name="connsiteY6-78" fmla="*/ 1203955 h 4347881"/>
              <a:gd name="connsiteX7-79" fmla="*/ 586740 w 3047017"/>
              <a:gd name="connsiteY7-80" fmla="*/ 1203955 h 4347881"/>
              <a:gd name="connsiteX0-81" fmla="*/ 586740 w 3086346"/>
              <a:gd name="connsiteY0-82" fmla="*/ 1203955 h 4367545"/>
              <a:gd name="connsiteX1-83" fmla="*/ 1577340 w 3086346"/>
              <a:gd name="connsiteY1-84" fmla="*/ 0 h 4367545"/>
              <a:gd name="connsiteX2-85" fmla="*/ 2567940 w 3086346"/>
              <a:gd name="connsiteY2-86" fmla="*/ 1203955 h 4367545"/>
              <a:gd name="connsiteX3-87" fmla="*/ 2072640 w 3086346"/>
              <a:gd name="connsiteY3-88" fmla="*/ 1203955 h 4367545"/>
              <a:gd name="connsiteX4-89" fmla="*/ 3086346 w 3086346"/>
              <a:gd name="connsiteY4-90" fmla="*/ 4367545 h 4367545"/>
              <a:gd name="connsiteX5-91" fmla="*/ 0 w 3086346"/>
              <a:gd name="connsiteY5-92" fmla="*/ 4347881 h 4367545"/>
              <a:gd name="connsiteX6-93" fmla="*/ 1082040 w 3086346"/>
              <a:gd name="connsiteY6-94" fmla="*/ 1203955 h 4367545"/>
              <a:gd name="connsiteX7-95" fmla="*/ 586740 w 3086346"/>
              <a:gd name="connsiteY7-96" fmla="*/ 1203955 h 4367545"/>
              <a:gd name="connsiteX0-97" fmla="*/ 586740 w 3096179"/>
              <a:gd name="connsiteY0-98" fmla="*/ 1203955 h 4347881"/>
              <a:gd name="connsiteX1-99" fmla="*/ 1577340 w 3096179"/>
              <a:gd name="connsiteY1-100" fmla="*/ 0 h 4347881"/>
              <a:gd name="connsiteX2-101" fmla="*/ 2567940 w 3096179"/>
              <a:gd name="connsiteY2-102" fmla="*/ 1203955 h 4347881"/>
              <a:gd name="connsiteX3-103" fmla="*/ 2072640 w 3096179"/>
              <a:gd name="connsiteY3-104" fmla="*/ 1203955 h 4347881"/>
              <a:gd name="connsiteX4-105" fmla="*/ 3096179 w 3096179"/>
              <a:gd name="connsiteY4-106" fmla="*/ 4308552 h 4347881"/>
              <a:gd name="connsiteX5-107" fmla="*/ 0 w 3096179"/>
              <a:gd name="connsiteY5-108" fmla="*/ 4347881 h 4347881"/>
              <a:gd name="connsiteX6-109" fmla="*/ 1082040 w 3096179"/>
              <a:gd name="connsiteY6-110" fmla="*/ 1203955 h 4347881"/>
              <a:gd name="connsiteX7-111" fmla="*/ 586740 w 3096179"/>
              <a:gd name="connsiteY7-112" fmla="*/ 1203955 h 4347881"/>
              <a:gd name="connsiteX0-113" fmla="*/ 586740 w 3096179"/>
              <a:gd name="connsiteY0-114" fmla="*/ 1203955 h 4367545"/>
              <a:gd name="connsiteX1-115" fmla="*/ 1577340 w 3096179"/>
              <a:gd name="connsiteY1-116" fmla="*/ 0 h 4367545"/>
              <a:gd name="connsiteX2-117" fmla="*/ 2567940 w 3096179"/>
              <a:gd name="connsiteY2-118" fmla="*/ 1203955 h 4367545"/>
              <a:gd name="connsiteX3-119" fmla="*/ 2072640 w 3096179"/>
              <a:gd name="connsiteY3-120" fmla="*/ 1203955 h 4367545"/>
              <a:gd name="connsiteX4-121" fmla="*/ 3096179 w 3096179"/>
              <a:gd name="connsiteY4-122" fmla="*/ 4367545 h 4367545"/>
              <a:gd name="connsiteX5-123" fmla="*/ 0 w 3096179"/>
              <a:gd name="connsiteY5-124" fmla="*/ 4347881 h 4367545"/>
              <a:gd name="connsiteX6-125" fmla="*/ 1082040 w 3096179"/>
              <a:gd name="connsiteY6-126" fmla="*/ 1203955 h 4367545"/>
              <a:gd name="connsiteX7-127" fmla="*/ 586740 w 3096179"/>
              <a:gd name="connsiteY7-128" fmla="*/ 1203955 h 4367545"/>
              <a:gd name="connsiteX0-129" fmla="*/ 586740 w 3096179"/>
              <a:gd name="connsiteY0-130" fmla="*/ 1203955 h 4347881"/>
              <a:gd name="connsiteX1-131" fmla="*/ 1577340 w 3096179"/>
              <a:gd name="connsiteY1-132" fmla="*/ 0 h 4347881"/>
              <a:gd name="connsiteX2-133" fmla="*/ 2567940 w 3096179"/>
              <a:gd name="connsiteY2-134" fmla="*/ 1203955 h 4347881"/>
              <a:gd name="connsiteX3-135" fmla="*/ 2072640 w 3096179"/>
              <a:gd name="connsiteY3-136" fmla="*/ 1203955 h 4347881"/>
              <a:gd name="connsiteX4-137" fmla="*/ 3096179 w 3096179"/>
              <a:gd name="connsiteY4-138" fmla="*/ 4338049 h 4347881"/>
              <a:gd name="connsiteX5-139" fmla="*/ 0 w 3096179"/>
              <a:gd name="connsiteY5-140" fmla="*/ 4347881 h 4347881"/>
              <a:gd name="connsiteX6-141" fmla="*/ 1082040 w 3096179"/>
              <a:gd name="connsiteY6-142" fmla="*/ 1203955 h 4347881"/>
              <a:gd name="connsiteX7-143" fmla="*/ 586740 w 3096179"/>
              <a:gd name="connsiteY7-144" fmla="*/ 1203955 h 4347881"/>
              <a:gd name="connsiteX0-145" fmla="*/ 586740 w 3096179"/>
              <a:gd name="connsiteY0-146" fmla="*/ 1203955 h 4367545"/>
              <a:gd name="connsiteX1-147" fmla="*/ 1577340 w 3096179"/>
              <a:gd name="connsiteY1-148" fmla="*/ 0 h 4367545"/>
              <a:gd name="connsiteX2-149" fmla="*/ 2567940 w 3096179"/>
              <a:gd name="connsiteY2-150" fmla="*/ 1203955 h 4367545"/>
              <a:gd name="connsiteX3-151" fmla="*/ 2072640 w 3096179"/>
              <a:gd name="connsiteY3-152" fmla="*/ 1203955 h 4367545"/>
              <a:gd name="connsiteX4-153" fmla="*/ 3096179 w 3096179"/>
              <a:gd name="connsiteY4-154" fmla="*/ 4367545 h 4367545"/>
              <a:gd name="connsiteX5-155" fmla="*/ 0 w 3096179"/>
              <a:gd name="connsiteY5-156" fmla="*/ 4347881 h 4367545"/>
              <a:gd name="connsiteX6-157" fmla="*/ 1082040 w 3096179"/>
              <a:gd name="connsiteY6-158" fmla="*/ 1203955 h 4367545"/>
              <a:gd name="connsiteX7-159" fmla="*/ 586740 w 3096179"/>
              <a:gd name="connsiteY7-160" fmla="*/ 1203955 h 4367545"/>
              <a:gd name="connsiteX0-161" fmla="*/ 2720340 w 5229779"/>
              <a:gd name="connsiteY0-162" fmla="*/ 1203955 h 4367545"/>
              <a:gd name="connsiteX1-163" fmla="*/ 3710940 w 5229779"/>
              <a:gd name="connsiteY1-164" fmla="*/ 0 h 4367545"/>
              <a:gd name="connsiteX2-165" fmla="*/ 4701540 w 5229779"/>
              <a:gd name="connsiteY2-166" fmla="*/ 1203955 h 4367545"/>
              <a:gd name="connsiteX3-167" fmla="*/ 4206240 w 5229779"/>
              <a:gd name="connsiteY3-168" fmla="*/ 1203955 h 4367545"/>
              <a:gd name="connsiteX4-169" fmla="*/ 5229779 w 5229779"/>
              <a:gd name="connsiteY4-170" fmla="*/ 4367545 h 4367545"/>
              <a:gd name="connsiteX5-171" fmla="*/ 0 w 5229779"/>
              <a:gd name="connsiteY5-172" fmla="*/ 4073561 h 4367545"/>
              <a:gd name="connsiteX6-173" fmla="*/ 3215640 w 5229779"/>
              <a:gd name="connsiteY6-174" fmla="*/ 1203955 h 4367545"/>
              <a:gd name="connsiteX7-175" fmla="*/ 2720340 w 5229779"/>
              <a:gd name="connsiteY7-176" fmla="*/ 1203955 h 4367545"/>
              <a:gd name="connsiteX0-177" fmla="*/ 2720340 w 7561499"/>
              <a:gd name="connsiteY0-178" fmla="*/ 1203955 h 4073561"/>
              <a:gd name="connsiteX1-179" fmla="*/ 3710940 w 7561499"/>
              <a:gd name="connsiteY1-180" fmla="*/ 0 h 4073561"/>
              <a:gd name="connsiteX2-181" fmla="*/ 4701540 w 7561499"/>
              <a:gd name="connsiteY2-182" fmla="*/ 1203955 h 4073561"/>
              <a:gd name="connsiteX3-183" fmla="*/ 4206240 w 7561499"/>
              <a:gd name="connsiteY3-184" fmla="*/ 1203955 h 4073561"/>
              <a:gd name="connsiteX4-185" fmla="*/ 7561499 w 7561499"/>
              <a:gd name="connsiteY4-186" fmla="*/ 4032265 h 4073561"/>
              <a:gd name="connsiteX5-187" fmla="*/ 0 w 7561499"/>
              <a:gd name="connsiteY5-188" fmla="*/ 4073561 h 4073561"/>
              <a:gd name="connsiteX6-189" fmla="*/ 3215640 w 7561499"/>
              <a:gd name="connsiteY6-190" fmla="*/ 1203955 h 4073561"/>
              <a:gd name="connsiteX7-191" fmla="*/ 2720340 w 7561499"/>
              <a:gd name="connsiteY7-192" fmla="*/ 1203955 h 4073561"/>
              <a:gd name="connsiteX0-193" fmla="*/ 2887980 w 7729139"/>
              <a:gd name="connsiteY0-194" fmla="*/ 1203955 h 4032265"/>
              <a:gd name="connsiteX1-195" fmla="*/ 3878580 w 7729139"/>
              <a:gd name="connsiteY1-196" fmla="*/ 0 h 4032265"/>
              <a:gd name="connsiteX2-197" fmla="*/ 4869180 w 7729139"/>
              <a:gd name="connsiteY2-198" fmla="*/ 1203955 h 4032265"/>
              <a:gd name="connsiteX3-199" fmla="*/ 4373880 w 7729139"/>
              <a:gd name="connsiteY3-200" fmla="*/ 1203955 h 4032265"/>
              <a:gd name="connsiteX4-201" fmla="*/ 7729139 w 7729139"/>
              <a:gd name="connsiteY4-202" fmla="*/ 4032265 h 4032265"/>
              <a:gd name="connsiteX5-203" fmla="*/ 0 w 7729139"/>
              <a:gd name="connsiteY5-204" fmla="*/ 4027841 h 4032265"/>
              <a:gd name="connsiteX6-205" fmla="*/ 3383280 w 7729139"/>
              <a:gd name="connsiteY6-206" fmla="*/ 1203955 h 4032265"/>
              <a:gd name="connsiteX7-207" fmla="*/ 2887980 w 7729139"/>
              <a:gd name="connsiteY7-208" fmla="*/ 1203955 h 4032265"/>
              <a:gd name="connsiteX0-209" fmla="*/ 2887980 w 7729139"/>
              <a:gd name="connsiteY0-210" fmla="*/ 1203955 h 4032265"/>
              <a:gd name="connsiteX1-211" fmla="*/ 3878580 w 7729139"/>
              <a:gd name="connsiteY1-212" fmla="*/ 0 h 4032265"/>
              <a:gd name="connsiteX2-213" fmla="*/ 4869180 w 7729139"/>
              <a:gd name="connsiteY2-214" fmla="*/ 1203955 h 4032265"/>
              <a:gd name="connsiteX3-215" fmla="*/ 4373880 w 7729139"/>
              <a:gd name="connsiteY3-216" fmla="*/ 1203955 h 4032265"/>
              <a:gd name="connsiteX4-217" fmla="*/ 7729139 w 7729139"/>
              <a:gd name="connsiteY4-218" fmla="*/ 4032265 h 4032265"/>
              <a:gd name="connsiteX5-219" fmla="*/ 0 w 7729139"/>
              <a:gd name="connsiteY5-220" fmla="*/ 4027841 h 4032265"/>
              <a:gd name="connsiteX6-221" fmla="*/ 3383280 w 7729139"/>
              <a:gd name="connsiteY6-222" fmla="*/ 1203955 h 4032265"/>
              <a:gd name="connsiteX7-223" fmla="*/ 2887980 w 7729139"/>
              <a:gd name="connsiteY7-224" fmla="*/ 1203955 h 4032265"/>
              <a:gd name="connsiteX0-225" fmla="*/ 2887980 w 7729139"/>
              <a:gd name="connsiteY0-226" fmla="*/ 1203955 h 4032265"/>
              <a:gd name="connsiteX1-227" fmla="*/ 3878580 w 7729139"/>
              <a:gd name="connsiteY1-228" fmla="*/ 0 h 4032265"/>
              <a:gd name="connsiteX2-229" fmla="*/ 4869180 w 7729139"/>
              <a:gd name="connsiteY2-230" fmla="*/ 1203955 h 4032265"/>
              <a:gd name="connsiteX3-231" fmla="*/ 4373880 w 7729139"/>
              <a:gd name="connsiteY3-232" fmla="*/ 1203955 h 4032265"/>
              <a:gd name="connsiteX4-233" fmla="*/ 7729139 w 7729139"/>
              <a:gd name="connsiteY4-234" fmla="*/ 4032265 h 4032265"/>
              <a:gd name="connsiteX5-235" fmla="*/ 0 w 7729139"/>
              <a:gd name="connsiteY5-236" fmla="*/ 4027841 h 4032265"/>
              <a:gd name="connsiteX6-237" fmla="*/ 3383280 w 7729139"/>
              <a:gd name="connsiteY6-238" fmla="*/ 1203955 h 4032265"/>
              <a:gd name="connsiteX7-239" fmla="*/ 2887980 w 7729139"/>
              <a:gd name="connsiteY7-240" fmla="*/ 1203955 h 4032265"/>
              <a:gd name="connsiteX0-241" fmla="*/ 2887980 w 7729139"/>
              <a:gd name="connsiteY0-242" fmla="*/ 1203955 h 4032265"/>
              <a:gd name="connsiteX1-243" fmla="*/ 3878580 w 7729139"/>
              <a:gd name="connsiteY1-244" fmla="*/ 0 h 4032265"/>
              <a:gd name="connsiteX2-245" fmla="*/ 4869180 w 7729139"/>
              <a:gd name="connsiteY2-246" fmla="*/ 1203955 h 4032265"/>
              <a:gd name="connsiteX3-247" fmla="*/ 4373880 w 7729139"/>
              <a:gd name="connsiteY3-248" fmla="*/ 1203955 h 4032265"/>
              <a:gd name="connsiteX4-249" fmla="*/ 7729139 w 7729139"/>
              <a:gd name="connsiteY4-250" fmla="*/ 4032265 h 4032265"/>
              <a:gd name="connsiteX5-251" fmla="*/ 0 w 7729139"/>
              <a:gd name="connsiteY5-252" fmla="*/ 4027841 h 4032265"/>
              <a:gd name="connsiteX6-253" fmla="*/ 3383280 w 7729139"/>
              <a:gd name="connsiteY6-254" fmla="*/ 1203955 h 4032265"/>
              <a:gd name="connsiteX7-255" fmla="*/ 2887980 w 7729139"/>
              <a:gd name="connsiteY7-256" fmla="*/ 1203955 h 4032265"/>
              <a:gd name="connsiteX0-257" fmla="*/ 2887980 w 7729139"/>
              <a:gd name="connsiteY0-258" fmla="*/ 1203955 h 4032265"/>
              <a:gd name="connsiteX1-259" fmla="*/ 3878580 w 7729139"/>
              <a:gd name="connsiteY1-260" fmla="*/ 0 h 4032265"/>
              <a:gd name="connsiteX2-261" fmla="*/ 4869180 w 7729139"/>
              <a:gd name="connsiteY2-262" fmla="*/ 1203955 h 4032265"/>
              <a:gd name="connsiteX3-263" fmla="*/ 4373880 w 7729139"/>
              <a:gd name="connsiteY3-264" fmla="*/ 1203955 h 4032265"/>
              <a:gd name="connsiteX4-265" fmla="*/ 7729139 w 7729139"/>
              <a:gd name="connsiteY4-266" fmla="*/ 4032265 h 4032265"/>
              <a:gd name="connsiteX5-267" fmla="*/ 0 w 7729139"/>
              <a:gd name="connsiteY5-268" fmla="*/ 4027841 h 4032265"/>
              <a:gd name="connsiteX6-269" fmla="*/ 3383280 w 7729139"/>
              <a:gd name="connsiteY6-270" fmla="*/ 1203955 h 4032265"/>
              <a:gd name="connsiteX7-271" fmla="*/ 2887980 w 7729139"/>
              <a:gd name="connsiteY7-272" fmla="*/ 1203955 h 4032265"/>
              <a:gd name="connsiteX0-273" fmla="*/ 2887980 w 7729139"/>
              <a:gd name="connsiteY0-274" fmla="*/ 1203955 h 4032265"/>
              <a:gd name="connsiteX1-275" fmla="*/ 3878580 w 7729139"/>
              <a:gd name="connsiteY1-276" fmla="*/ 0 h 4032265"/>
              <a:gd name="connsiteX2-277" fmla="*/ 4869180 w 7729139"/>
              <a:gd name="connsiteY2-278" fmla="*/ 1203955 h 4032265"/>
              <a:gd name="connsiteX3-279" fmla="*/ 4373880 w 7729139"/>
              <a:gd name="connsiteY3-280" fmla="*/ 1203955 h 4032265"/>
              <a:gd name="connsiteX4-281" fmla="*/ 7729139 w 7729139"/>
              <a:gd name="connsiteY4-282" fmla="*/ 4032265 h 4032265"/>
              <a:gd name="connsiteX5-283" fmla="*/ 0 w 7729139"/>
              <a:gd name="connsiteY5-284" fmla="*/ 4027841 h 4032265"/>
              <a:gd name="connsiteX6-285" fmla="*/ 3383280 w 7729139"/>
              <a:gd name="connsiteY6-286" fmla="*/ 1203955 h 4032265"/>
              <a:gd name="connsiteX7-287" fmla="*/ 2887980 w 7729139"/>
              <a:gd name="connsiteY7-288" fmla="*/ 1203955 h 4032265"/>
              <a:gd name="connsiteX0-289" fmla="*/ 2887980 w 7729139"/>
              <a:gd name="connsiteY0-290" fmla="*/ 1203955 h 4032265"/>
              <a:gd name="connsiteX1-291" fmla="*/ 3878580 w 7729139"/>
              <a:gd name="connsiteY1-292" fmla="*/ 0 h 4032265"/>
              <a:gd name="connsiteX2-293" fmla="*/ 4869180 w 7729139"/>
              <a:gd name="connsiteY2-294" fmla="*/ 1203955 h 4032265"/>
              <a:gd name="connsiteX3-295" fmla="*/ 4373880 w 7729139"/>
              <a:gd name="connsiteY3-296" fmla="*/ 1203955 h 4032265"/>
              <a:gd name="connsiteX4-297" fmla="*/ 7729139 w 7729139"/>
              <a:gd name="connsiteY4-298" fmla="*/ 4032265 h 4032265"/>
              <a:gd name="connsiteX5-299" fmla="*/ 0 w 7729139"/>
              <a:gd name="connsiteY5-300" fmla="*/ 4027841 h 4032265"/>
              <a:gd name="connsiteX6-301" fmla="*/ 3383280 w 7729139"/>
              <a:gd name="connsiteY6-302" fmla="*/ 1203955 h 4032265"/>
              <a:gd name="connsiteX7-303" fmla="*/ 2887980 w 7729139"/>
              <a:gd name="connsiteY7-304" fmla="*/ 1203955 h 4032265"/>
              <a:gd name="connsiteX0-305" fmla="*/ 2887980 w 7729139"/>
              <a:gd name="connsiteY0-306" fmla="*/ 1203955 h 4032265"/>
              <a:gd name="connsiteX1-307" fmla="*/ 3878580 w 7729139"/>
              <a:gd name="connsiteY1-308" fmla="*/ 0 h 4032265"/>
              <a:gd name="connsiteX2-309" fmla="*/ 4869180 w 7729139"/>
              <a:gd name="connsiteY2-310" fmla="*/ 1203955 h 4032265"/>
              <a:gd name="connsiteX3-311" fmla="*/ 4373880 w 7729139"/>
              <a:gd name="connsiteY3-312" fmla="*/ 1203955 h 4032265"/>
              <a:gd name="connsiteX4-313" fmla="*/ 7729139 w 7729139"/>
              <a:gd name="connsiteY4-314" fmla="*/ 4032265 h 4032265"/>
              <a:gd name="connsiteX5-315" fmla="*/ 0 w 7729139"/>
              <a:gd name="connsiteY5-316" fmla="*/ 4027841 h 4032265"/>
              <a:gd name="connsiteX6-317" fmla="*/ 3383280 w 7729139"/>
              <a:gd name="connsiteY6-318" fmla="*/ 1203955 h 4032265"/>
              <a:gd name="connsiteX7-319" fmla="*/ 2887980 w 7729139"/>
              <a:gd name="connsiteY7-320" fmla="*/ 1203955 h 4032265"/>
              <a:gd name="connsiteX0-321" fmla="*/ 2887980 w 7729139"/>
              <a:gd name="connsiteY0-322" fmla="*/ 1203955 h 4032265"/>
              <a:gd name="connsiteX1-323" fmla="*/ 3878580 w 7729139"/>
              <a:gd name="connsiteY1-324" fmla="*/ 0 h 4032265"/>
              <a:gd name="connsiteX2-325" fmla="*/ 4869180 w 7729139"/>
              <a:gd name="connsiteY2-326" fmla="*/ 1203955 h 4032265"/>
              <a:gd name="connsiteX3-327" fmla="*/ 4373880 w 7729139"/>
              <a:gd name="connsiteY3-328" fmla="*/ 1203955 h 4032265"/>
              <a:gd name="connsiteX4-329" fmla="*/ 7729139 w 7729139"/>
              <a:gd name="connsiteY4-330" fmla="*/ 4032265 h 4032265"/>
              <a:gd name="connsiteX5-331" fmla="*/ 0 w 7729139"/>
              <a:gd name="connsiteY5-332" fmla="*/ 4027841 h 4032265"/>
              <a:gd name="connsiteX6-333" fmla="*/ 3383280 w 7729139"/>
              <a:gd name="connsiteY6-334" fmla="*/ 1203955 h 4032265"/>
              <a:gd name="connsiteX7-335" fmla="*/ 2887980 w 7729139"/>
              <a:gd name="connsiteY7-336" fmla="*/ 1203955 h 4032265"/>
              <a:gd name="connsiteX0-337" fmla="*/ 2887980 w 7729139"/>
              <a:gd name="connsiteY0-338" fmla="*/ 1203955 h 4032265"/>
              <a:gd name="connsiteX1-339" fmla="*/ 3878580 w 7729139"/>
              <a:gd name="connsiteY1-340" fmla="*/ 0 h 4032265"/>
              <a:gd name="connsiteX2-341" fmla="*/ 4869180 w 7729139"/>
              <a:gd name="connsiteY2-342" fmla="*/ 1203955 h 4032265"/>
              <a:gd name="connsiteX3-343" fmla="*/ 4373880 w 7729139"/>
              <a:gd name="connsiteY3-344" fmla="*/ 1203955 h 4032265"/>
              <a:gd name="connsiteX4-345" fmla="*/ 7729139 w 7729139"/>
              <a:gd name="connsiteY4-346" fmla="*/ 4032265 h 4032265"/>
              <a:gd name="connsiteX5-347" fmla="*/ 0 w 7729139"/>
              <a:gd name="connsiteY5-348" fmla="*/ 4027841 h 4032265"/>
              <a:gd name="connsiteX6-349" fmla="*/ 3383280 w 7729139"/>
              <a:gd name="connsiteY6-350" fmla="*/ 1203955 h 4032265"/>
              <a:gd name="connsiteX7-351" fmla="*/ 2887980 w 7729139"/>
              <a:gd name="connsiteY7-352" fmla="*/ 1203955 h 4032265"/>
              <a:gd name="connsiteX0-353" fmla="*/ 2887980 w 7729139"/>
              <a:gd name="connsiteY0-354" fmla="*/ 1203955 h 4032265"/>
              <a:gd name="connsiteX1-355" fmla="*/ 3878580 w 7729139"/>
              <a:gd name="connsiteY1-356" fmla="*/ 0 h 4032265"/>
              <a:gd name="connsiteX2-357" fmla="*/ 4869180 w 7729139"/>
              <a:gd name="connsiteY2-358" fmla="*/ 1203955 h 4032265"/>
              <a:gd name="connsiteX3-359" fmla="*/ 4373880 w 7729139"/>
              <a:gd name="connsiteY3-360" fmla="*/ 1203955 h 4032265"/>
              <a:gd name="connsiteX4-361" fmla="*/ 7729139 w 7729139"/>
              <a:gd name="connsiteY4-362" fmla="*/ 4032265 h 4032265"/>
              <a:gd name="connsiteX5-363" fmla="*/ 0 w 7729139"/>
              <a:gd name="connsiteY5-364" fmla="*/ 4027841 h 4032265"/>
              <a:gd name="connsiteX6-365" fmla="*/ 3383280 w 7729139"/>
              <a:gd name="connsiteY6-366" fmla="*/ 1203955 h 4032265"/>
              <a:gd name="connsiteX7-367" fmla="*/ 2887980 w 7729139"/>
              <a:gd name="connsiteY7-368" fmla="*/ 1203955 h 4032265"/>
              <a:gd name="connsiteX0-369" fmla="*/ 2887980 w 7729139"/>
              <a:gd name="connsiteY0-370" fmla="*/ 1203955 h 4032265"/>
              <a:gd name="connsiteX1-371" fmla="*/ 3878580 w 7729139"/>
              <a:gd name="connsiteY1-372" fmla="*/ 0 h 4032265"/>
              <a:gd name="connsiteX2-373" fmla="*/ 4869180 w 7729139"/>
              <a:gd name="connsiteY2-374" fmla="*/ 1203955 h 4032265"/>
              <a:gd name="connsiteX3-375" fmla="*/ 4373880 w 7729139"/>
              <a:gd name="connsiteY3-376" fmla="*/ 1203955 h 4032265"/>
              <a:gd name="connsiteX4-377" fmla="*/ 7729139 w 7729139"/>
              <a:gd name="connsiteY4-378" fmla="*/ 4032265 h 4032265"/>
              <a:gd name="connsiteX5-379" fmla="*/ 0 w 7729139"/>
              <a:gd name="connsiteY5-380" fmla="*/ 4027841 h 4032265"/>
              <a:gd name="connsiteX6-381" fmla="*/ 3383280 w 7729139"/>
              <a:gd name="connsiteY6-382" fmla="*/ 1203955 h 4032265"/>
              <a:gd name="connsiteX7-383" fmla="*/ 2887980 w 7729139"/>
              <a:gd name="connsiteY7-384" fmla="*/ 1203955 h 403226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7729139" h="4032265">
                <a:moveTo>
                  <a:pt x="2887980" y="1203955"/>
                </a:moveTo>
                <a:lnTo>
                  <a:pt x="3878580" y="0"/>
                </a:lnTo>
                <a:lnTo>
                  <a:pt x="4869180" y="1203955"/>
                </a:lnTo>
                <a:lnTo>
                  <a:pt x="4373880" y="1203955"/>
                </a:lnTo>
                <a:cubicBezTo>
                  <a:pt x="4425500" y="2512485"/>
                  <a:pt x="5772519" y="3394295"/>
                  <a:pt x="7729139" y="4032265"/>
                </a:cubicBezTo>
                <a:lnTo>
                  <a:pt x="0" y="4027841"/>
                </a:lnTo>
                <a:cubicBezTo>
                  <a:pt x="2118360" y="3376106"/>
                  <a:pt x="3368040" y="2511010"/>
                  <a:pt x="3383280" y="1203955"/>
                </a:cubicBezTo>
                <a:lnTo>
                  <a:pt x="2887980" y="1203955"/>
                </a:lnTo>
                <a:close/>
              </a:path>
            </a:pathLst>
          </a:custGeom>
          <a:gradFill flip="none" rotWithShape="1">
            <a:gsLst>
              <a:gs pos="100000">
                <a:srgbClr val="0268FE"/>
              </a:gs>
              <a:gs pos="0">
                <a:srgbClr val="0268FE">
                  <a:lumMod val="75000"/>
                  <a:lumOff val="25000"/>
                  <a:alpha val="0"/>
                </a:srgbClr>
              </a:gs>
            </a:gsLst>
            <a:lin ang="1620000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p:txBody>
      </p:sp>
      <p:sp>
        <p:nvSpPr>
          <p:cNvPr id="27" name="矩形: 圆角 26">
            <a:extLst>
              <a:ext uri="{FF2B5EF4-FFF2-40B4-BE49-F238E27FC236}">
                <a16:creationId xmlns:a16="http://schemas.microsoft.com/office/drawing/2014/main" id="{D453C340-D019-8EBA-9EBC-807B365F9505}"/>
              </a:ext>
            </a:extLst>
          </p:cNvPr>
          <p:cNvSpPr/>
          <p:nvPr/>
        </p:nvSpPr>
        <p:spPr>
          <a:xfrm>
            <a:off x="339090" y="1789430"/>
            <a:ext cx="11513820" cy="1320800"/>
          </a:xfrm>
          <a:prstGeom prst="roundRect">
            <a:avLst>
              <a:gd name="adj" fmla="val 2873"/>
            </a:avLst>
          </a:prstGeom>
          <a:noFill/>
          <a:ln w="12700" cap="flat" cmpd="sng" algn="ctr">
            <a:gradFill>
              <a:gsLst>
                <a:gs pos="0">
                  <a:schemeClr val="tx2">
                    <a:lumMod val="60000"/>
                    <a:lumOff val="40000"/>
                  </a:schemeClr>
                </a:gs>
                <a:gs pos="74000">
                  <a:schemeClr val="tx2">
                    <a:lumMod val="60000"/>
                    <a:lumOff val="40000"/>
                  </a:schemeClr>
                </a:gs>
                <a:gs pos="87000">
                  <a:schemeClr val="tx2">
                    <a:lumMod val="75000"/>
                  </a:schemeClr>
                </a:gs>
                <a:gs pos="100000">
                  <a:schemeClr val="tx2">
                    <a:lumMod val="50000"/>
                  </a:schemeClr>
                </a:gs>
              </a:gsLst>
              <a:lin ang="5400000" scaled="1"/>
            </a:gradFill>
            <a:prstDash val="lgDash"/>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28" name="矩形 27">
            <a:extLst>
              <a:ext uri="{FF2B5EF4-FFF2-40B4-BE49-F238E27FC236}">
                <a16:creationId xmlns:a16="http://schemas.microsoft.com/office/drawing/2014/main" id="{60EC403A-613F-66FE-1396-EA1AA85F1EBA}"/>
              </a:ext>
            </a:extLst>
          </p:cNvPr>
          <p:cNvSpPr/>
          <p:nvPr/>
        </p:nvSpPr>
        <p:spPr>
          <a:xfrm>
            <a:off x="523239" y="1541780"/>
            <a:ext cx="1701800" cy="444500"/>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29" name="文本框 28">
            <a:extLst>
              <a:ext uri="{FF2B5EF4-FFF2-40B4-BE49-F238E27FC236}">
                <a16:creationId xmlns:a16="http://schemas.microsoft.com/office/drawing/2014/main" id="{5A7787C2-FECC-0C1B-0510-D83968845892}"/>
              </a:ext>
            </a:extLst>
          </p:cNvPr>
          <p:cNvSpPr txBox="1"/>
          <p:nvPr/>
        </p:nvSpPr>
        <p:spPr>
          <a:xfrm>
            <a:off x="523240" y="1615439"/>
            <a:ext cx="2540000" cy="369332"/>
          </a:xfrm>
          <a:prstGeom prst="rect">
            <a:avLst/>
          </a:prstGeom>
          <a:noFill/>
        </p:spPr>
        <p:txBody>
          <a:bodyPr wrap="square" rtlCol="0">
            <a:spAutoFit/>
          </a:bodyPr>
          <a:lstStyle/>
          <a:p>
            <a:pPr defTabSz="457200" fontAlgn="auto">
              <a:spcBef>
                <a:spcPts val="0"/>
              </a:spcBef>
              <a:spcAft>
                <a:spcPts val="0"/>
              </a:spcAft>
            </a:pPr>
            <a:r>
              <a:rPr kumimoji="0" lang="en-US" altLang="zh-CN">
                <a:solidFill>
                  <a:srgbClr val="E7E6E6"/>
                </a:solidFill>
                <a:latin typeface="Times New Roman" panose="02020603050405020304" pitchFamily="18" charset="0"/>
                <a:ea typeface="等线" panose="02010600030101010101" pitchFamily="2" charset="-122"/>
                <a:cs typeface="Times New Roman" panose="02020603050405020304" pitchFamily="18" charset="0"/>
              </a:rPr>
              <a:t>BACKGROUND</a:t>
            </a:r>
            <a:endParaRPr kumimoji="0" lang="zh-CN" altLang="en-US" dirty="0">
              <a:solidFill>
                <a:srgbClr val="E7E6E6"/>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30" name="文本框 29">
            <a:extLst>
              <a:ext uri="{FF2B5EF4-FFF2-40B4-BE49-F238E27FC236}">
                <a16:creationId xmlns:a16="http://schemas.microsoft.com/office/drawing/2014/main" id="{11210E5E-2553-3656-E261-862D791F7F31}"/>
              </a:ext>
            </a:extLst>
          </p:cNvPr>
          <p:cNvSpPr txBox="1"/>
          <p:nvPr/>
        </p:nvSpPr>
        <p:spPr>
          <a:xfrm>
            <a:off x="478790" y="1545590"/>
            <a:ext cx="1968500" cy="369570"/>
          </a:xfrm>
          <a:prstGeom prst="rect">
            <a:avLst/>
          </a:prstGeom>
          <a:noFill/>
        </p:spPr>
        <p:txBody>
          <a:bodyPr wrap="square" rtlCol="0">
            <a:spAutoFit/>
          </a:bodyPr>
          <a:lstStyle/>
          <a:p>
            <a:pPr defTabSz="457200" fontAlgn="auto">
              <a:spcBef>
                <a:spcPts val="0"/>
              </a:spcBef>
              <a:spcAft>
                <a:spcPts val="0"/>
              </a:spcAft>
            </a:pPr>
            <a:r>
              <a:rPr kumimoji="0" lang="zh-CN" altLang="en-US" sz="1800" b="0" dirty="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rPr>
              <a:t>动机</a:t>
            </a:r>
            <a:endParaRPr kumimoji="0" lang="zh-CN" altLang="en-US" b="0" dirty="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31" name="文本框 30">
            <a:extLst>
              <a:ext uri="{FF2B5EF4-FFF2-40B4-BE49-F238E27FC236}">
                <a16:creationId xmlns:a16="http://schemas.microsoft.com/office/drawing/2014/main" id="{D5D6AABF-6E09-9FC5-4E13-DDAEC4A6DEAA}"/>
              </a:ext>
            </a:extLst>
          </p:cNvPr>
          <p:cNvSpPr txBox="1"/>
          <p:nvPr/>
        </p:nvSpPr>
        <p:spPr>
          <a:xfrm>
            <a:off x="622300" y="2146300"/>
            <a:ext cx="10922000" cy="276999"/>
          </a:xfrm>
          <a:prstGeom prst="rect">
            <a:avLst/>
          </a:prstGeom>
          <a:noFill/>
        </p:spPr>
        <p:txBody>
          <a:bodyPr vert="horz" wrap="square" lIns="0" tIns="0" rIns="0" bIns="0" rtlCol="0">
            <a:noAutofit/>
          </a:bodyPr>
          <a:lstStyle/>
          <a:p>
            <a:r>
              <a:rPr lang="zh-CN" altLang="en-US">
                <a:latin typeface="Microsoft YaHei"/>
              </a:rPr>
              <a:t>验证一种新的参数估计方法，需要明确：</a:t>
            </a:r>
            <a:endParaRPr lang="zh-CN" altLang="en-US" dirty="0">
              <a:solidFill>
                <a:srgbClr val="000000"/>
              </a:solidFill>
              <a:latin typeface="等线" panose="02010600030101010101" pitchFamily="2" charset="-122"/>
              <a:ea typeface="等线" panose="02010600030101010101" pitchFamily="2" charset="-122"/>
            </a:endParaRPr>
          </a:p>
        </p:txBody>
      </p:sp>
      <p:sp>
        <p:nvSpPr>
          <p:cNvPr id="32" name="文本框 31">
            <a:extLst>
              <a:ext uri="{FF2B5EF4-FFF2-40B4-BE49-F238E27FC236}">
                <a16:creationId xmlns:a16="http://schemas.microsoft.com/office/drawing/2014/main" id="{A9951AA7-569E-0C9E-F246-0DADC39A6FC1}"/>
              </a:ext>
            </a:extLst>
          </p:cNvPr>
          <p:cNvSpPr txBox="1"/>
          <p:nvPr/>
        </p:nvSpPr>
        <p:spPr>
          <a:xfrm>
            <a:off x="622300" y="2654300"/>
            <a:ext cx="10922000" cy="276999"/>
          </a:xfrm>
          <a:prstGeom prst="rect">
            <a:avLst/>
          </a:prstGeom>
          <a:noFill/>
        </p:spPr>
        <p:txBody>
          <a:bodyPr vert="horz" wrap="square" lIns="0" tIns="0" rIns="0" bIns="0" rtlCol="0">
            <a:noAutofit/>
          </a:bodyPr>
          <a:lstStyle/>
          <a:p>
            <a:r>
              <a:rPr lang="zh-CN" altLang="en-US">
                <a:solidFill>
                  <a:srgbClr val="154F8C"/>
                </a:solidFill>
                <a:latin typeface="Microsoft YaHei"/>
              </a:rPr>
              <a:t>与哪些方法比较？为什么选它们？具体采用哪个版本？</a:t>
            </a:r>
            <a:endParaRPr lang="zh-CN" altLang="en-US" dirty="0">
              <a:solidFill>
                <a:srgbClr val="2F5597"/>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5654566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400" b="1" spc="-150">
                <a:solidFill>
                  <a:srgbClr val="FFFFFF"/>
                </a:solidFill>
                <a:latin typeface="汉仪文润宋韵 U"/>
                <a:ea typeface="汉仪文润宋韵 U"/>
                <a:cs typeface="汉仪文润宋韵 U"/>
              </a:rPr>
              <a:t>方法体系：先分清估计依据</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已有方法及其发展关系</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01</a:t>
            </a:r>
            <a:endParaRPr sz="1800">
              <a:latin typeface="Microsoft YaHei"/>
            </a:endParaRPr>
          </a:p>
        </p:txBody>
      </p:sp>
      <p:sp>
        <p:nvSpPr>
          <p:cNvPr id="11" name="文本框 10">
            <a:extLst>
              <a:ext uri="{FF2B5EF4-FFF2-40B4-BE49-F238E27FC236}">
                <a16:creationId xmlns:a16="http://schemas.microsoft.com/office/drawing/2014/main" id="{311F793F-B739-70D4-DC6E-BBDA191CB736}"/>
              </a:ext>
            </a:extLst>
          </p:cNvPr>
          <p:cNvSpPr txBox="1"/>
          <p:nvPr/>
        </p:nvSpPr>
        <p:spPr>
          <a:xfrm>
            <a:off x="622300" y="1676400"/>
            <a:ext cx="10922000" cy="558800"/>
          </a:xfrm>
          <a:prstGeom prst="rect">
            <a:avLst/>
          </a:prstGeom>
          <a:noFill/>
        </p:spPr>
        <p:txBody>
          <a:bodyPr vert="horz" wrap="square" lIns="0" tIns="0" rIns="0" bIns="0" rtlCol="0">
            <a:noAutofit/>
          </a:bodyPr>
          <a:lstStyle/>
          <a:p>
            <a:pPr>
              <a:lnSpc>
                <a:spcPts val="2340"/>
              </a:lnSpc>
            </a:pPr>
            <a:r>
              <a:rPr lang="zh-CN" altLang="en-US">
                <a:solidFill>
                  <a:srgbClr val="2F6096"/>
                </a:solidFill>
                <a:latin typeface="Microsoft YaHei" panose="020B0503020204020204" pitchFamily="34" charset="-122"/>
                <a:ea typeface="微软雅黑" panose="020B0503020204020204" pitchFamily="34" charset="-122"/>
              </a:rPr>
              <a:t>按图</a:t>
            </a:r>
            <a:r>
              <a:rPr lang="en-US" altLang="zh-CN">
                <a:solidFill>
                  <a:srgbClr val="2F6096"/>
                </a:solidFill>
                <a:latin typeface="Microsoft YaHei" panose="020B0503020204020204" pitchFamily="34" charset="-122"/>
                <a:ea typeface="微软雅黑" panose="020B0503020204020204" pitchFamily="34" charset="-122"/>
              </a:rPr>
              <a:t>1</a:t>
            </a:r>
            <a:r>
              <a:rPr lang="zh-CN" altLang="en-US">
                <a:solidFill>
                  <a:srgbClr val="2F6096"/>
                </a:solidFill>
                <a:latin typeface="Microsoft YaHei" panose="020B0503020204020204" pitchFamily="34" charset="-122"/>
                <a:ea typeface="微软雅黑" panose="020B0503020204020204" pitchFamily="34" charset="-122"/>
              </a:rPr>
              <a:t>的四组介绍方法与沿革，具体方法再按构造区分。</a:t>
            </a:r>
          </a:p>
        </p:txBody>
      </p:sp>
      <p:sp>
        <p:nvSpPr>
          <p:cNvPr id="12" name="文本框 11">
            <a:extLst>
              <a:ext uri="{FF2B5EF4-FFF2-40B4-BE49-F238E27FC236}">
                <a16:creationId xmlns:a16="http://schemas.microsoft.com/office/drawing/2014/main" id="{2AD966A0-E2CD-641E-06AA-8AE5AFF0806E}"/>
              </a:ext>
            </a:extLst>
          </p:cNvPr>
          <p:cNvSpPr txBox="1"/>
          <p:nvPr/>
        </p:nvSpPr>
        <p:spPr>
          <a:xfrm>
            <a:off x="622300" y="5981700"/>
            <a:ext cx="10922000" cy="508000"/>
          </a:xfrm>
          <a:prstGeom prst="rect">
            <a:avLst/>
          </a:prstGeom>
          <a:noFill/>
        </p:spPr>
        <p:txBody>
          <a:bodyPr vert="horz" wrap="square" lIns="0" tIns="0" rIns="0" bIns="0" rtlCol="0">
            <a:noAutofit/>
          </a:bodyPr>
          <a:lstStyle/>
          <a:p>
            <a:pPr>
              <a:lnSpc>
                <a:spcPts val="2210"/>
              </a:lnSpc>
            </a:pPr>
            <a:r>
              <a:rPr lang="en-US" altLang="zh-CN" sz="1700" b="1">
                <a:solidFill>
                  <a:srgbClr val="2F6096"/>
                </a:solidFill>
                <a:latin typeface="Microsoft YaHei" panose="020B0503020204020204" pitchFamily="34" charset="-122"/>
                <a:ea typeface="微软雅黑" panose="020B0503020204020204" pitchFamily="34" charset="-122"/>
              </a:rPr>
              <a:t>A—D</a:t>
            </a:r>
            <a:r>
              <a:rPr lang="zh-CN" altLang="en-US" sz="1700" b="1">
                <a:solidFill>
                  <a:srgbClr val="2F6096"/>
                </a:solidFill>
                <a:latin typeface="Microsoft YaHei" panose="020B0503020204020204" pitchFamily="34" charset="-122"/>
                <a:ea typeface="微软雅黑" panose="020B0503020204020204" pitchFamily="34" charset="-122"/>
              </a:rPr>
              <a:t>与图</a:t>
            </a:r>
            <a:r>
              <a:rPr lang="en-US" altLang="zh-CN" sz="1700" b="1">
                <a:solidFill>
                  <a:srgbClr val="2F6096"/>
                </a:solidFill>
                <a:latin typeface="Microsoft YaHei" panose="020B0503020204020204" pitchFamily="34" charset="-122"/>
                <a:ea typeface="微软雅黑" panose="020B0503020204020204" pitchFamily="34" charset="-122"/>
              </a:rPr>
              <a:t>1</a:t>
            </a:r>
            <a:r>
              <a:rPr lang="zh-CN" altLang="en-US" sz="1700" b="1">
                <a:solidFill>
                  <a:srgbClr val="2F6096"/>
                </a:solidFill>
                <a:latin typeface="Microsoft YaHei" panose="020B0503020204020204" pitchFamily="34" charset="-122"/>
                <a:ea typeface="微软雅黑" panose="020B0503020204020204" pitchFamily="34" charset="-122"/>
              </a:rPr>
              <a:t>对应，是沿革介绍分组；各组可以共享似然或回归步骤。</a:t>
            </a:r>
          </a:p>
        </p:txBody>
      </p:sp>
      <p:graphicFrame>
        <p:nvGraphicFramePr>
          <p:cNvPr id="14" name="表格 13">
            <a:extLst>
              <a:ext uri="{FF2B5EF4-FFF2-40B4-BE49-F238E27FC236}">
                <a16:creationId xmlns:a16="http://schemas.microsoft.com/office/drawing/2014/main" id="{656B72F5-B056-B045-0A29-11004E3E6003}"/>
              </a:ext>
            </a:extLst>
          </p:cNvPr>
          <p:cNvGraphicFramePr>
            <a:graphicFrameLocks noGrp="1"/>
          </p:cNvGraphicFramePr>
          <p:nvPr>
            <p:extLst>
              <p:ext uri="{D42A27DB-BD31-4B8C-83A1-F6EECF244321}">
                <p14:modId xmlns:p14="http://schemas.microsoft.com/office/powerpoint/2010/main" val="3953647180"/>
              </p:ext>
            </p:extLst>
          </p:nvPr>
        </p:nvGraphicFramePr>
        <p:xfrm>
          <a:off x="622300" y="2413000"/>
          <a:ext cx="10922000" cy="3302000"/>
        </p:xfrm>
        <a:graphic>
          <a:graphicData uri="http://schemas.openxmlformats.org/drawingml/2006/table">
            <a:tbl>
              <a:tblPr firstRow="1" bandRow="1">
                <a:tableStyleId>{5C22544A-7EE6-4342-B048-85BDC9FD1C3A}</a:tableStyleId>
              </a:tblPr>
              <a:tblGrid>
                <a:gridCol w="2730500">
                  <a:extLst>
                    <a:ext uri="{9D8B030D-6E8A-4147-A177-3AD203B41FA5}">
                      <a16:colId xmlns:a16="http://schemas.microsoft.com/office/drawing/2014/main" val="3968741810"/>
                    </a:ext>
                  </a:extLst>
                </a:gridCol>
                <a:gridCol w="3937000">
                  <a:extLst>
                    <a:ext uri="{9D8B030D-6E8A-4147-A177-3AD203B41FA5}">
                      <a16:colId xmlns:a16="http://schemas.microsoft.com/office/drawing/2014/main" val="4192340280"/>
                    </a:ext>
                  </a:extLst>
                </a:gridCol>
                <a:gridCol w="4254500">
                  <a:extLst>
                    <a:ext uri="{9D8B030D-6E8A-4147-A177-3AD203B41FA5}">
                      <a16:colId xmlns:a16="http://schemas.microsoft.com/office/drawing/2014/main" val="1500869881"/>
                    </a:ext>
                  </a:extLst>
                </a:gridCol>
              </a:tblGrid>
              <a:tr h="660400">
                <a:tc>
                  <a:txBody>
                    <a:bodyPr/>
                    <a:lstStyle/>
                    <a:p>
                      <a:r>
                        <a:rPr lang="zh-CN" altLang="en-US" sz="1600" b="1">
                          <a:solidFill>
                            <a:srgbClr val="FFFFFF"/>
                          </a:solidFill>
                          <a:latin typeface="Microsoft YaHei" panose="020B0503020204020204" pitchFamily="34" charset="-122"/>
                          <a:ea typeface="微软雅黑" panose="020B0503020204020204" pitchFamily="34" charset="-122"/>
                        </a:rPr>
                        <a:t>图</a:t>
                      </a:r>
                      <a:r>
                        <a:rPr lang="en-US" altLang="zh-CN" sz="1600" b="1">
                          <a:solidFill>
                            <a:srgbClr val="FFFFFF"/>
                          </a:solidFill>
                          <a:latin typeface="Microsoft YaHei" panose="020B0503020204020204" pitchFamily="34" charset="-122"/>
                          <a:ea typeface="微软雅黑" panose="020B0503020204020204" pitchFamily="34" charset="-122"/>
                        </a:rPr>
                        <a:t>1</a:t>
                      </a:r>
                      <a:r>
                        <a:rPr lang="zh-CN" altLang="en-US" sz="1600" b="1">
                          <a:solidFill>
                            <a:srgbClr val="FFFFFF"/>
                          </a:solidFill>
                          <a:latin typeface="Microsoft YaHei" panose="020B0503020204020204" pitchFamily="34" charset="-122"/>
                          <a:ea typeface="微软雅黑" panose="020B0503020204020204" pitchFamily="34" charset="-122"/>
                        </a:rPr>
                        <a:t>分组</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r>
                        <a:rPr lang="zh-CN" altLang="en-US" sz="1600" b="1">
                          <a:solidFill>
                            <a:srgbClr val="FFFFFF"/>
                          </a:solidFill>
                          <a:latin typeface="Microsoft YaHei" panose="020B0503020204020204" pitchFamily="34" charset="-122"/>
                          <a:ea typeface="微软雅黑" panose="020B0503020204020204" pitchFamily="34" charset="-122"/>
                        </a:rPr>
                        <a:t>代表方法与分支</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r>
                        <a:rPr lang="zh-CN" altLang="en-US" sz="1600" b="1">
                          <a:solidFill>
                            <a:srgbClr val="FFFFFF"/>
                          </a:solidFill>
                          <a:latin typeface="Microsoft YaHei" panose="020B0503020204020204" pitchFamily="34" charset="-122"/>
                          <a:ea typeface="微软雅黑" panose="020B0503020204020204" pitchFamily="34" charset="-122"/>
                        </a:rPr>
                        <a:t>主要思路与改进</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extLst>
                  <a:ext uri="{0D108BD9-81ED-4DB2-BD59-A6C34878D82A}">
                    <a16:rowId xmlns:a16="http://schemas.microsoft.com/office/drawing/2014/main" val="1073868850"/>
                  </a:ext>
                </a:extLst>
              </a:tr>
              <a:tr h="660400">
                <a:tc>
                  <a:txBody>
                    <a:bodyPr/>
                    <a:lstStyle/>
                    <a:p>
                      <a:r>
                        <a:rPr lang="en-US" altLang="zh-CN" sz="1600" b="0">
                          <a:solidFill>
                            <a:srgbClr val="000000"/>
                          </a:solidFill>
                          <a:latin typeface="Microsoft YaHei" panose="020B0503020204020204" pitchFamily="34" charset="-122"/>
                          <a:ea typeface="微软雅黑" panose="020B0503020204020204" pitchFamily="34" charset="-122"/>
                        </a:rPr>
                        <a:t>A </a:t>
                      </a:r>
                      <a:r>
                        <a:rPr lang="zh-CN" altLang="en-US" sz="1600" b="0">
                          <a:solidFill>
                            <a:srgbClr val="000000"/>
                          </a:solidFill>
                          <a:latin typeface="Microsoft YaHei" panose="020B0503020204020204" pitchFamily="34" charset="-122"/>
                          <a:ea typeface="微软雅黑" panose="020B0503020204020204" pitchFamily="34" charset="-122"/>
                        </a:rPr>
                        <a:t>似然路线</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lang="en-US" altLang="zh-CN" sz="1600" b="0">
                          <a:solidFill>
                            <a:srgbClr val="000000"/>
                          </a:solidFill>
                          <a:latin typeface="Microsoft YaHei" panose="020B0503020204020204" pitchFamily="34" charset="-122"/>
                          <a:ea typeface="微软雅黑" panose="020B0503020204020204" pitchFamily="34" charset="-122"/>
                        </a:rPr>
                        <a:t>MLE</a:t>
                      </a:r>
                      <a:r>
                        <a:rPr lang="zh-CN" altLang="en-US" sz="1600" b="0">
                          <a:solidFill>
                            <a:srgbClr val="000000"/>
                          </a:solidFill>
                          <a:latin typeface="Microsoft YaHei" panose="020B0503020204020204" pitchFamily="34" charset="-122"/>
                          <a:ea typeface="微软雅黑" panose="020B0503020204020204" pitchFamily="34" charset="-122"/>
                        </a:rPr>
                        <a:t>、</a:t>
                      </a:r>
                      <a:r>
                        <a:rPr lang="en-US" altLang="zh-CN" sz="1600" b="0">
                          <a:solidFill>
                            <a:srgbClr val="000000"/>
                          </a:solidFill>
                          <a:latin typeface="Microsoft YaHei" panose="020B0503020204020204" pitchFamily="34" charset="-122"/>
                          <a:ea typeface="微软雅黑" panose="020B0503020204020204" pitchFamily="34" charset="-122"/>
                        </a:rPr>
                        <a:t>WMLE</a:t>
                      </a:r>
                      <a:r>
                        <a:rPr lang="zh-CN" altLang="en-US" sz="1600" b="0">
                          <a:solidFill>
                            <a:srgbClr val="000000"/>
                          </a:solidFill>
                          <a:latin typeface="Microsoft YaHei" panose="020B0503020204020204" pitchFamily="34" charset="-122"/>
                          <a:ea typeface="微软雅黑" panose="020B0503020204020204" pitchFamily="34" charset="-122"/>
                        </a:rPr>
                        <a:t>、</a:t>
                      </a:r>
                      <a:r>
                        <a:rPr lang="en-US" altLang="zh-CN" sz="1600" b="0">
                          <a:solidFill>
                            <a:srgbClr val="000000"/>
                          </a:solidFill>
                          <a:latin typeface="Microsoft YaHei" panose="020B0503020204020204" pitchFamily="34" charset="-122"/>
                          <a:ea typeface="微软雅黑" panose="020B0503020204020204" pitchFamily="34" charset="-122"/>
                        </a:rPr>
                        <a:t>MMLE</a:t>
                      </a:r>
                      <a:r>
                        <a:rPr lang="zh-CN" altLang="en-US" sz="1600" b="0">
                          <a:solidFill>
                            <a:srgbClr val="000000"/>
                          </a:solidFill>
                          <a:latin typeface="Microsoft YaHei" panose="020B0503020204020204" pitchFamily="34" charset="-122"/>
                          <a:ea typeface="微软雅黑" panose="020B0503020204020204" pitchFamily="34" charset="-122"/>
                        </a:rPr>
                        <a:t>、</a:t>
                      </a:r>
                      <a:r>
                        <a:rPr lang="en-US" altLang="zh-CN" sz="1600" b="0">
                          <a:solidFill>
                            <a:srgbClr val="000000"/>
                          </a:solidFill>
                          <a:latin typeface="Microsoft YaHei" panose="020B0503020204020204" pitchFamily="34" charset="-122"/>
                          <a:ea typeface="微软雅黑" panose="020B0503020204020204" pitchFamily="34" charset="-122"/>
                        </a:rPr>
                        <a:t>DMMLE</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lang="zh-CN" altLang="en-US" sz="1600" b="0">
                          <a:solidFill>
                            <a:srgbClr val="000000"/>
                          </a:solidFill>
                          <a:latin typeface="Microsoft YaHei" panose="020B0503020204020204" pitchFamily="34" charset="-122"/>
                          <a:ea typeface="微软雅黑" panose="020B0503020204020204" pitchFamily="34" charset="-122"/>
                        </a:rPr>
                        <a:t>修正方程、改变似然或改善求解</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2827629876"/>
                  </a:ext>
                </a:extLst>
              </a:tr>
              <a:tr h="660400">
                <a:tc>
                  <a:txBody>
                    <a:bodyPr/>
                    <a:lstStyle/>
                    <a:p>
                      <a:r>
                        <a:rPr lang="en-US" altLang="zh-CN" sz="1600" b="0">
                          <a:solidFill>
                            <a:srgbClr val="000000"/>
                          </a:solidFill>
                          <a:latin typeface="Microsoft YaHei" panose="020B0503020204020204" pitchFamily="34" charset="-122"/>
                          <a:ea typeface="微软雅黑" panose="020B0503020204020204" pitchFamily="34" charset="-122"/>
                        </a:rPr>
                        <a:t>B </a:t>
                      </a:r>
                      <a:r>
                        <a:rPr lang="zh-CN" altLang="en-US" sz="1600" b="0">
                          <a:solidFill>
                            <a:srgbClr val="000000"/>
                          </a:solidFill>
                          <a:latin typeface="Microsoft YaHei" panose="020B0503020204020204" pitchFamily="34" charset="-122"/>
                          <a:ea typeface="微软雅黑" panose="020B0503020204020204" pitchFamily="34" charset="-122"/>
                        </a:rPr>
                        <a:t>概率图路线</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lang="en-US" altLang="zh-CN" sz="1600" b="0">
                          <a:solidFill>
                            <a:srgbClr val="000000"/>
                          </a:solidFill>
                          <a:latin typeface="Microsoft YaHei" panose="020B0503020204020204" pitchFamily="34" charset="-122"/>
                          <a:ea typeface="微软雅黑" panose="020B0503020204020204" pitchFamily="34" charset="-122"/>
                        </a:rPr>
                        <a:t>LS</a:t>
                      </a:r>
                      <a:r>
                        <a:rPr lang="zh-CN" altLang="en-US" sz="1600" b="0">
                          <a:solidFill>
                            <a:srgbClr val="000000"/>
                          </a:solidFill>
                          <a:latin typeface="Microsoft YaHei" panose="020B0503020204020204" pitchFamily="34" charset="-122"/>
                          <a:ea typeface="微软雅黑" panose="020B0503020204020204" pitchFamily="34" charset="-122"/>
                        </a:rPr>
                        <a:t>、</a:t>
                      </a:r>
                      <a:r>
                        <a:rPr lang="en-US" altLang="zh-CN" sz="1600" b="0">
                          <a:solidFill>
                            <a:srgbClr val="000000"/>
                          </a:solidFill>
                          <a:latin typeface="Microsoft YaHei" panose="020B0503020204020204" pitchFamily="34" charset="-122"/>
                          <a:ea typeface="微软雅黑" panose="020B0503020204020204" pitchFamily="34" charset="-122"/>
                        </a:rPr>
                        <a:t>LRE</a:t>
                      </a:r>
                      <a:r>
                        <a:rPr lang="zh-CN" altLang="en-US" sz="1600" b="0">
                          <a:solidFill>
                            <a:srgbClr val="000000"/>
                          </a:solidFill>
                          <a:latin typeface="Microsoft YaHei" panose="020B0503020204020204" pitchFamily="34" charset="-122"/>
                          <a:ea typeface="微软雅黑" panose="020B0503020204020204" pitchFamily="34" charset="-122"/>
                        </a:rPr>
                        <a:t>相关构造（</a:t>
                      </a:r>
                      <a:r>
                        <a:rPr lang="en-US" altLang="zh-CN" sz="1600" b="0">
                          <a:solidFill>
                            <a:srgbClr val="000000"/>
                          </a:solidFill>
                          <a:latin typeface="Microsoft YaHei" panose="020B0503020204020204" pitchFamily="34" charset="-122"/>
                          <a:ea typeface="微软雅黑" panose="020B0503020204020204" pitchFamily="34" charset="-122"/>
                        </a:rPr>
                        <a:t>GLRA</a:t>
                      </a:r>
                      <a:r>
                        <a:rPr lang="zh-CN" altLang="en-US" sz="1600" b="0">
                          <a:solidFill>
                            <a:srgbClr val="000000"/>
                          </a:solidFill>
                          <a:latin typeface="Microsoft YaHei" panose="020B0503020204020204" pitchFamily="34" charset="-122"/>
                          <a:ea typeface="微软雅黑" panose="020B0503020204020204" pitchFamily="34" charset="-122"/>
                        </a:rPr>
                        <a:t>、相关系数法）</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lang="zh-CN" altLang="en-US" sz="1600" b="0">
                          <a:solidFill>
                            <a:srgbClr val="000000"/>
                          </a:solidFill>
                          <a:latin typeface="Microsoft YaHei" panose="020B0503020204020204" pitchFamily="34" charset="-122"/>
                          <a:ea typeface="微软雅黑" panose="020B0503020204020204" pitchFamily="34" charset="-122"/>
                        </a:rPr>
                        <a:t>项目</a:t>
                      </a:r>
                      <a:r>
                        <a:rPr lang="en-US" altLang="zh-CN" sz="1600" b="0">
                          <a:solidFill>
                            <a:srgbClr val="000000"/>
                          </a:solidFill>
                          <a:latin typeface="Microsoft YaHei" panose="020B0503020204020204" pitchFamily="34" charset="-122"/>
                          <a:ea typeface="微软雅黑" panose="020B0503020204020204" pitchFamily="34" charset="-122"/>
                        </a:rPr>
                        <a:t>LS</a:t>
                      </a:r>
                      <a:r>
                        <a:rPr lang="zh-CN" altLang="en-US" sz="1600" b="0">
                          <a:solidFill>
                            <a:srgbClr val="000000"/>
                          </a:solidFill>
                          <a:latin typeface="Microsoft YaHei" panose="020B0503020204020204" pitchFamily="34" charset="-122"/>
                          <a:ea typeface="微软雅黑" panose="020B0503020204020204" pitchFamily="34" charset="-122"/>
                        </a:rPr>
                        <a:t>与</a:t>
                      </a:r>
                      <a:r>
                        <a:rPr lang="en-US" altLang="zh-CN" sz="1600" b="0">
                          <a:solidFill>
                            <a:srgbClr val="000000"/>
                          </a:solidFill>
                          <a:latin typeface="Microsoft YaHei" panose="020B0503020204020204" pitchFamily="34" charset="-122"/>
                          <a:ea typeface="微软雅黑" panose="020B0503020204020204" pitchFamily="34" charset="-122"/>
                        </a:rPr>
                        <a:t>LRE</a:t>
                      </a:r>
                      <a:r>
                        <a:rPr lang="zh-CN" altLang="en-US" sz="1600" b="0">
                          <a:solidFill>
                            <a:srgbClr val="000000"/>
                          </a:solidFill>
                          <a:latin typeface="Microsoft YaHei" panose="020B0503020204020204" pitchFamily="34" charset="-122"/>
                          <a:ea typeface="微软雅黑" panose="020B0503020204020204" pitchFamily="34" charset="-122"/>
                        </a:rPr>
                        <a:t>的分数、回归方向不同</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3957552429"/>
                  </a:ext>
                </a:extLst>
              </a:tr>
              <a:tr h="660400">
                <a:tc>
                  <a:txBody>
                    <a:bodyPr/>
                    <a:lstStyle/>
                    <a:p>
                      <a:r>
                        <a:rPr lang="en-US" altLang="zh-CN" sz="1600" b="0">
                          <a:solidFill>
                            <a:srgbClr val="000000"/>
                          </a:solidFill>
                          <a:latin typeface="Microsoft YaHei" panose="020B0503020204020204" pitchFamily="34" charset="-122"/>
                          <a:ea typeface="微软雅黑" panose="020B0503020204020204" pitchFamily="34" charset="-122"/>
                        </a:rPr>
                        <a:t>C </a:t>
                      </a:r>
                      <a:r>
                        <a:rPr lang="zh-CN" altLang="en-US" sz="1600" b="0">
                          <a:solidFill>
                            <a:srgbClr val="000000"/>
                          </a:solidFill>
                          <a:latin typeface="Microsoft YaHei" panose="020B0503020204020204" pitchFamily="34" charset="-122"/>
                          <a:ea typeface="微软雅黑" panose="020B0503020204020204" pitchFamily="34" charset="-122"/>
                        </a:rPr>
                        <a:t>统计量、间距与构造差异</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lang="en-US" altLang="zh-CN" sz="1600" b="0">
                          <a:solidFill>
                            <a:srgbClr val="000000"/>
                          </a:solidFill>
                          <a:latin typeface="Microsoft YaHei" panose="020B0503020204020204" pitchFamily="34" charset="-122"/>
                          <a:ea typeface="微软雅黑" panose="020B0503020204020204" pitchFamily="34" charset="-122"/>
                        </a:rPr>
                        <a:t>MM</a:t>
                      </a:r>
                      <a:r>
                        <a:rPr lang="zh-CN" altLang="en-US" sz="1600" b="0">
                          <a:solidFill>
                            <a:srgbClr val="000000"/>
                          </a:solidFill>
                          <a:latin typeface="Microsoft YaHei" panose="020B0503020204020204" pitchFamily="34" charset="-122"/>
                          <a:ea typeface="微软雅黑" panose="020B0503020204020204" pitchFamily="34" charset="-122"/>
                        </a:rPr>
                        <a:t>、</a:t>
                      </a:r>
                      <a:r>
                        <a:rPr lang="en-US" altLang="zh-CN" sz="1600" b="0">
                          <a:solidFill>
                            <a:srgbClr val="000000"/>
                          </a:solidFill>
                          <a:latin typeface="Microsoft YaHei" panose="020B0503020204020204" pitchFamily="34" charset="-122"/>
                          <a:ea typeface="微软雅黑" panose="020B0503020204020204" pitchFamily="34" charset="-122"/>
                        </a:rPr>
                        <a:t>PWM</a:t>
                      </a:r>
                      <a:r>
                        <a:rPr lang="zh-CN" altLang="en-US" sz="1600" b="0">
                          <a:solidFill>
                            <a:srgbClr val="000000"/>
                          </a:solidFill>
                          <a:latin typeface="Microsoft YaHei" panose="020B0503020204020204" pitchFamily="34" charset="-122"/>
                          <a:ea typeface="微软雅黑" panose="020B0503020204020204" pitchFamily="34" charset="-122"/>
                        </a:rPr>
                        <a:t>、</a:t>
                      </a:r>
                      <a:r>
                        <a:rPr lang="en-US" altLang="zh-CN" sz="1600" b="0">
                          <a:solidFill>
                            <a:srgbClr val="000000"/>
                          </a:solidFill>
                          <a:latin typeface="Microsoft YaHei" panose="020B0503020204020204" pitchFamily="34" charset="-122"/>
                          <a:ea typeface="微软雅黑" panose="020B0503020204020204" pitchFamily="34" charset="-122"/>
                        </a:rPr>
                        <a:t>L</a:t>
                      </a:r>
                      <a:r>
                        <a:rPr lang="zh-CN" altLang="en-US" sz="1600" b="0">
                          <a:solidFill>
                            <a:srgbClr val="000000"/>
                          </a:solidFill>
                          <a:latin typeface="Microsoft YaHei" panose="020B0503020204020204" pitchFamily="34" charset="-122"/>
                          <a:ea typeface="微软雅黑" panose="020B0503020204020204" pitchFamily="34" charset="-122"/>
                        </a:rPr>
                        <a:t>矩、</a:t>
                      </a:r>
                      <a:r>
                        <a:rPr lang="en-US" altLang="zh-CN" sz="1600" b="0">
                          <a:solidFill>
                            <a:srgbClr val="000000"/>
                          </a:solidFill>
                          <a:latin typeface="Microsoft YaHei" panose="020B0503020204020204" pitchFamily="34" charset="-122"/>
                          <a:ea typeface="微软雅黑" panose="020B0503020204020204" pitchFamily="34" charset="-122"/>
                        </a:rPr>
                        <a:t>MPS</a:t>
                      </a:r>
                      <a:r>
                        <a:rPr lang="zh-CN" altLang="en-US" sz="1600" b="0">
                          <a:solidFill>
                            <a:srgbClr val="000000"/>
                          </a:solidFill>
                          <a:latin typeface="Microsoft YaHei" panose="020B0503020204020204" pitchFamily="34" charset="-122"/>
                          <a:ea typeface="微软雅黑" panose="020B0503020204020204" pitchFamily="34" charset="-122"/>
                        </a:rPr>
                        <a:t>、</a:t>
                      </a:r>
                      <a:r>
                        <a:rPr lang="en-US" altLang="zh-CN" sz="1600" b="0">
                          <a:solidFill>
                            <a:srgbClr val="000000"/>
                          </a:solidFill>
                          <a:latin typeface="Microsoft YaHei" panose="020B0503020204020204" pitchFamily="34" charset="-122"/>
                          <a:ea typeface="微软雅黑" panose="020B0503020204020204" pitchFamily="34" charset="-122"/>
                        </a:rPr>
                        <a:t>MDM</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lang="zh-CN" altLang="en-US" sz="1600" b="0">
                          <a:solidFill>
                            <a:srgbClr val="000000"/>
                          </a:solidFill>
                          <a:latin typeface="Microsoft YaHei" panose="020B0503020204020204" pitchFamily="34" charset="-122"/>
                          <a:ea typeface="微软雅黑" panose="020B0503020204020204" pitchFamily="34" charset="-122"/>
                        </a:rPr>
                        <a:t>匹配统计量、概率间距或尺度差异</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3567259044"/>
                  </a:ext>
                </a:extLst>
              </a:tr>
              <a:tr h="660400">
                <a:tc>
                  <a:txBody>
                    <a:bodyPr/>
                    <a:lstStyle/>
                    <a:p>
                      <a:r>
                        <a:rPr lang="en-US" altLang="zh-CN" sz="1600" b="0">
                          <a:solidFill>
                            <a:srgbClr val="000000"/>
                          </a:solidFill>
                          <a:latin typeface="Microsoft YaHei" panose="020B0503020204020204" pitchFamily="34" charset="-122"/>
                          <a:ea typeface="微软雅黑" panose="020B0503020204020204" pitchFamily="34" charset="-122"/>
                        </a:rPr>
                        <a:t>D </a:t>
                      </a:r>
                      <a:r>
                        <a:rPr lang="zh-CN" altLang="en-US" sz="1600" b="0">
                          <a:solidFill>
                            <a:srgbClr val="000000"/>
                          </a:solidFill>
                          <a:latin typeface="Microsoft YaHei" panose="020B0503020204020204" pitchFamily="34" charset="-122"/>
                          <a:ea typeface="微软雅黑" panose="020B0503020204020204" pitchFamily="34" charset="-122"/>
                        </a:rPr>
                        <a:t>组合与学习</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lang="en-US" altLang="zh-CN" sz="1600" b="0">
                          <a:solidFill>
                            <a:srgbClr val="000000"/>
                          </a:solidFill>
                          <a:latin typeface="Microsoft YaHei" panose="020B0503020204020204" pitchFamily="34" charset="-122"/>
                          <a:ea typeface="微软雅黑" panose="020B0503020204020204" pitchFamily="34" charset="-122"/>
                        </a:rPr>
                        <a:t>LSPF</a:t>
                      </a:r>
                      <a:r>
                        <a:rPr lang="zh-CN" altLang="en-US" sz="1600" b="0">
                          <a:solidFill>
                            <a:srgbClr val="000000"/>
                          </a:solidFill>
                          <a:latin typeface="Microsoft YaHei" panose="020B0503020204020204" pitchFamily="34" charset="-122"/>
                          <a:ea typeface="微软雅黑" panose="020B0503020204020204" pitchFamily="34" charset="-122"/>
                        </a:rPr>
                        <a:t>、</a:t>
                      </a:r>
                      <a:r>
                        <a:rPr lang="en-US" altLang="zh-CN" sz="1600" b="0">
                          <a:solidFill>
                            <a:srgbClr val="000000"/>
                          </a:solidFill>
                          <a:latin typeface="Microsoft YaHei" panose="020B0503020204020204" pitchFamily="34" charset="-122"/>
                          <a:ea typeface="微软雅黑" panose="020B0503020204020204" pitchFamily="34" charset="-122"/>
                        </a:rPr>
                        <a:t>SAM</a:t>
                      </a:r>
                      <a:r>
                        <a:rPr lang="zh-CN" altLang="en-US" sz="1600" b="0">
                          <a:solidFill>
                            <a:srgbClr val="000000"/>
                          </a:solidFill>
                          <a:latin typeface="Microsoft YaHei" panose="020B0503020204020204" pitchFamily="34" charset="-122"/>
                          <a:ea typeface="微软雅黑" panose="020B0503020204020204" pitchFamily="34" charset="-122"/>
                        </a:rPr>
                        <a:t>、</a:t>
                      </a:r>
                      <a:r>
                        <a:rPr lang="en-US" altLang="zh-CN" sz="1600" b="0">
                          <a:solidFill>
                            <a:srgbClr val="000000"/>
                          </a:solidFill>
                          <a:latin typeface="Microsoft YaHei" panose="020B0503020204020204" pitchFamily="34" charset="-122"/>
                          <a:ea typeface="微软雅黑" panose="020B0503020204020204" pitchFamily="34" charset="-122"/>
                        </a:rPr>
                        <a:t>PM</a:t>
                      </a:r>
                      <a:r>
                        <a:rPr lang="zh-CN" altLang="en-US" sz="1600" b="0">
                          <a:solidFill>
                            <a:srgbClr val="000000"/>
                          </a:solidFill>
                          <a:latin typeface="Microsoft YaHei" panose="020B0503020204020204" pitchFamily="34" charset="-122"/>
                          <a:ea typeface="微软雅黑" panose="020B0503020204020204" pitchFamily="34" charset="-122"/>
                        </a:rPr>
                        <a:t>、神经估计</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lang="zh-CN" altLang="en-US" sz="1600" b="0">
                          <a:solidFill>
                            <a:srgbClr val="000000"/>
                          </a:solidFill>
                          <a:latin typeface="Microsoft YaHei" panose="020B0503020204020204" pitchFamily="34" charset="-122"/>
                          <a:ea typeface="微软雅黑" panose="020B0503020204020204" pitchFamily="34" charset="-122"/>
                        </a:rPr>
                        <a:t>变换统计量、组合步骤或学习映射</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3986351087"/>
                  </a:ext>
                </a:extLst>
              </a:tr>
            </a:tbl>
          </a:graphicData>
        </a:graphic>
      </p:graphicFrame>
    </p:spTree>
    <p:extLst>
      <p:ext uri="{BB962C8B-B14F-4D97-AF65-F5344CB8AC3E}">
        <p14:creationId xmlns:p14="http://schemas.microsoft.com/office/powerpoint/2010/main" val="26155945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en-US" altLang="zh-CN" sz="2400" b="1" spc="-150">
                <a:solidFill>
                  <a:srgbClr val="FFFFFF"/>
                </a:solidFill>
                <a:latin typeface="汉仪文润宋韵 U"/>
                <a:ea typeface="汉仪文润宋韵 U"/>
                <a:cs typeface="汉仪文润宋韵 U"/>
              </a:rPr>
              <a:t>A  </a:t>
            </a:r>
            <a:r>
              <a:rPr lang="zh-CN" altLang="en-US" sz="2400" b="1" spc="-150">
                <a:solidFill>
                  <a:srgbClr val="FFFFFF"/>
                </a:solidFill>
                <a:latin typeface="汉仪文润宋韵 U"/>
                <a:ea typeface="汉仪文润宋韵 U"/>
                <a:cs typeface="汉仪文润宋韵 U"/>
              </a:rPr>
              <a:t>似然路线：改统计构造，还是改求解过程？</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已有方法及其发展关系</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01</a:t>
            </a:r>
            <a:endParaRPr sz="1800">
              <a:latin typeface="Microsoft YaHei"/>
            </a:endParaRPr>
          </a:p>
        </p:txBody>
      </p:sp>
      <p:sp>
        <p:nvSpPr>
          <p:cNvPr id="6" name="文本框 5">
            <a:extLst>
              <a:ext uri="{FF2B5EF4-FFF2-40B4-BE49-F238E27FC236}">
                <a16:creationId xmlns:a16="http://schemas.microsoft.com/office/drawing/2014/main" id="{5182E52D-4601-B1F3-0C0E-B00CE691318A}"/>
              </a:ext>
            </a:extLst>
          </p:cNvPr>
          <p:cNvSpPr txBox="1"/>
          <p:nvPr/>
        </p:nvSpPr>
        <p:spPr>
          <a:xfrm>
            <a:off x="622300" y="1638300"/>
            <a:ext cx="10922000" cy="406400"/>
          </a:xfrm>
          <a:prstGeom prst="rect">
            <a:avLst/>
          </a:prstGeom>
          <a:noFill/>
        </p:spPr>
        <p:txBody>
          <a:bodyPr vert="horz" wrap="square" lIns="38100" tIns="25400" rIns="38100" bIns="25400" rtlCol="0" anchor="t">
            <a:noAutofit/>
          </a:bodyPr>
          <a:lstStyle/>
          <a:p>
            <a:pPr>
              <a:lnSpc>
                <a:spcPts val="2006"/>
              </a:lnSpc>
            </a:pPr>
            <a:r>
              <a:rPr lang="zh-CN" altLang="en-US" sz="1700">
                <a:solidFill>
                  <a:srgbClr val="2F6096"/>
                </a:solidFill>
                <a:latin typeface="Microsoft YaHei" panose="020B0503020204020204" pitchFamily="34" charset="-122"/>
                <a:ea typeface="微软雅黑" panose="020B0503020204020204" pitchFamily="34" charset="-122"/>
              </a:rPr>
              <a:t>共同起点是样本似然，后续工作分别处理偏差、边界和数值求解。</a:t>
            </a:r>
          </a:p>
        </p:txBody>
      </p:sp>
      <p:sp>
        <p:nvSpPr>
          <p:cNvPr id="19" name="fig1-mle">
            <a:extLst>
              <a:ext uri="{FF2B5EF4-FFF2-40B4-BE49-F238E27FC236}">
                <a16:creationId xmlns:a16="http://schemas.microsoft.com/office/drawing/2014/main" id="{3F549896-0F81-B81E-3E4D-D1F4CA76133E}"/>
              </a:ext>
            </a:extLst>
          </p:cNvPr>
          <p:cNvSpPr/>
          <p:nvPr/>
        </p:nvSpPr>
        <p:spPr>
          <a:xfrm>
            <a:off x="622300" y="3225800"/>
            <a:ext cx="1841500" cy="838200"/>
          </a:xfrm>
          <a:prstGeom prst="roundRect">
            <a:avLst>
              <a:gd name="adj" fmla="val 7000"/>
            </a:avLst>
          </a:prstGeom>
          <a:solidFill>
            <a:srgbClr val="EAF0F6"/>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1652"/>
              </a:lnSpc>
            </a:pPr>
            <a:r>
              <a:rPr lang="en-US" altLang="zh-CN" sz="1400">
                <a:solidFill>
                  <a:srgbClr val="203040"/>
                </a:solidFill>
                <a:latin typeface="Microsoft YaHei" panose="020B0503020204020204" pitchFamily="34" charset="-122"/>
                <a:ea typeface="微软雅黑" panose="020B0503020204020204" pitchFamily="34" charset="-122"/>
              </a:rPr>
              <a:t>MLE </a:t>
            </a:r>
            <a:r>
              <a:rPr lang="zh-CN" altLang="en-US" sz="1400">
                <a:solidFill>
                  <a:srgbClr val="203040"/>
                </a:solidFill>
                <a:latin typeface="Microsoft YaHei" panose="020B0503020204020204" pitchFamily="34" charset="-122"/>
                <a:ea typeface="微软雅黑" panose="020B0503020204020204" pitchFamily="34" charset="-122"/>
              </a:rPr>
              <a:t>极大似然估计</a:t>
            </a:r>
          </a:p>
          <a:p>
            <a:pPr algn="ctr">
              <a:lnSpc>
                <a:spcPts val="1652"/>
              </a:lnSpc>
            </a:pPr>
            <a:r>
              <a:rPr lang="en-US" altLang="zh-CN" sz="1400">
                <a:solidFill>
                  <a:srgbClr val="203040"/>
                </a:solidFill>
                <a:latin typeface="Microsoft YaHei" panose="020B0503020204020204" pitchFamily="34" charset="-122"/>
                <a:ea typeface="微软雅黑" panose="020B0503020204020204" pitchFamily="34" charset="-122"/>
              </a:rPr>
              <a:t>Fisher · 1922</a:t>
            </a:r>
            <a:endParaRPr lang="zh-CN" altLang="en-US" sz="1400">
              <a:solidFill>
                <a:srgbClr val="203040"/>
              </a:solidFill>
              <a:latin typeface="Microsoft YaHei" panose="020B0503020204020204" pitchFamily="34" charset="-122"/>
              <a:ea typeface="微软雅黑" panose="020B0503020204020204" pitchFamily="34" charset="-122"/>
            </a:endParaRPr>
          </a:p>
        </p:txBody>
      </p:sp>
      <p:sp>
        <p:nvSpPr>
          <p:cNvPr id="20" name="fig1-wmle">
            <a:extLst>
              <a:ext uri="{FF2B5EF4-FFF2-40B4-BE49-F238E27FC236}">
                <a16:creationId xmlns:a16="http://schemas.microsoft.com/office/drawing/2014/main" id="{5416E38E-8E81-E443-7AE9-B716E959045E}"/>
              </a:ext>
            </a:extLst>
          </p:cNvPr>
          <p:cNvSpPr/>
          <p:nvPr/>
        </p:nvSpPr>
        <p:spPr>
          <a:xfrm>
            <a:off x="5003800" y="2209800"/>
            <a:ext cx="2679700" cy="736600"/>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1652"/>
              </a:lnSpc>
            </a:pPr>
            <a:r>
              <a:rPr lang="en-US" altLang="zh-CN" sz="1400">
                <a:solidFill>
                  <a:srgbClr val="203040"/>
                </a:solidFill>
                <a:latin typeface="Microsoft YaHei" panose="020B0503020204020204" pitchFamily="34" charset="-122"/>
                <a:ea typeface="微软雅黑" panose="020B0503020204020204" pitchFamily="34" charset="-122"/>
              </a:rPr>
              <a:t>WMLE </a:t>
            </a:r>
            <a:r>
              <a:rPr lang="zh-CN" altLang="en-US" sz="1400">
                <a:solidFill>
                  <a:srgbClr val="203040"/>
                </a:solidFill>
                <a:latin typeface="Microsoft YaHei" panose="020B0503020204020204" pitchFamily="34" charset="-122"/>
                <a:ea typeface="微软雅黑" panose="020B0503020204020204" pitchFamily="34" charset="-122"/>
              </a:rPr>
              <a:t>加权极大似然估计</a:t>
            </a:r>
          </a:p>
          <a:p>
            <a:pPr algn="ctr">
              <a:lnSpc>
                <a:spcPts val="1652"/>
              </a:lnSpc>
            </a:pPr>
            <a:r>
              <a:rPr lang="en-US" altLang="zh-CN" sz="1400">
                <a:solidFill>
                  <a:srgbClr val="203040"/>
                </a:solidFill>
                <a:latin typeface="Microsoft YaHei" panose="020B0503020204020204" pitchFamily="34" charset="-122"/>
                <a:ea typeface="微软雅黑" panose="020B0503020204020204" pitchFamily="34" charset="-122"/>
              </a:rPr>
              <a:t>Cousineau · 2009</a:t>
            </a:r>
            <a:endParaRPr lang="zh-CN" altLang="en-US" sz="1400">
              <a:solidFill>
                <a:srgbClr val="203040"/>
              </a:solidFill>
              <a:latin typeface="Microsoft YaHei" panose="020B0503020204020204" pitchFamily="34" charset="-122"/>
              <a:ea typeface="微软雅黑" panose="020B0503020204020204" pitchFamily="34" charset="-122"/>
            </a:endParaRPr>
          </a:p>
        </p:txBody>
      </p:sp>
      <p:sp>
        <p:nvSpPr>
          <p:cNvPr id="21" name="fig1-mmle">
            <a:extLst>
              <a:ext uri="{FF2B5EF4-FFF2-40B4-BE49-F238E27FC236}">
                <a16:creationId xmlns:a16="http://schemas.microsoft.com/office/drawing/2014/main" id="{B3FB964F-6897-E78A-451B-97829A5DD69B}"/>
              </a:ext>
            </a:extLst>
          </p:cNvPr>
          <p:cNvSpPr/>
          <p:nvPr/>
        </p:nvSpPr>
        <p:spPr>
          <a:xfrm>
            <a:off x="5003800" y="3225800"/>
            <a:ext cx="2679700" cy="736600"/>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1652"/>
              </a:lnSpc>
            </a:pPr>
            <a:r>
              <a:rPr lang="en-US" altLang="zh-CN" sz="1400">
                <a:solidFill>
                  <a:srgbClr val="203040"/>
                </a:solidFill>
                <a:latin typeface="Microsoft YaHei" panose="020B0503020204020204" pitchFamily="34" charset="-122"/>
                <a:ea typeface="微软雅黑" panose="020B0503020204020204" pitchFamily="34" charset="-122"/>
              </a:rPr>
              <a:t>MMLE </a:t>
            </a:r>
            <a:r>
              <a:rPr lang="zh-CN" altLang="en-US" sz="1400">
                <a:solidFill>
                  <a:srgbClr val="203040"/>
                </a:solidFill>
                <a:latin typeface="Microsoft YaHei" panose="020B0503020204020204" pitchFamily="34" charset="-122"/>
                <a:ea typeface="微软雅黑" panose="020B0503020204020204" pitchFamily="34" charset="-122"/>
              </a:rPr>
              <a:t>修改极大似然估计</a:t>
            </a:r>
          </a:p>
          <a:p>
            <a:pPr algn="ctr">
              <a:lnSpc>
                <a:spcPts val="1652"/>
              </a:lnSpc>
            </a:pPr>
            <a:r>
              <a:rPr lang="en-US" altLang="zh-CN" sz="1400">
                <a:solidFill>
                  <a:srgbClr val="203040"/>
                </a:solidFill>
                <a:latin typeface="Microsoft YaHei" panose="020B0503020204020204" pitchFamily="34" charset="-122"/>
                <a:ea typeface="微软雅黑" panose="020B0503020204020204" pitchFamily="34" charset="-122"/>
              </a:rPr>
              <a:t>Kundu &amp; Raqab · 2009</a:t>
            </a:r>
            <a:endParaRPr lang="zh-CN" altLang="en-US" sz="1400">
              <a:solidFill>
                <a:srgbClr val="203040"/>
              </a:solidFill>
              <a:latin typeface="Microsoft YaHei" panose="020B0503020204020204" pitchFamily="34" charset="-122"/>
              <a:ea typeface="微软雅黑" panose="020B0503020204020204" pitchFamily="34" charset="-122"/>
            </a:endParaRPr>
          </a:p>
        </p:txBody>
      </p:sp>
      <p:sp>
        <p:nvSpPr>
          <p:cNvPr id="22" name="fig1-solver">
            <a:extLst>
              <a:ext uri="{FF2B5EF4-FFF2-40B4-BE49-F238E27FC236}">
                <a16:creationId xmlns:a16="http://schemas.microsoft.com/office/drawing/2014/main" id="{116337BF-9C34-45F6-B739-96E1382ED323}"/>
              </a:ext>
            </a:extLst>
          </p:cNvPr>
          <p:cNvSpPr/>
          <p:nvPr/>
        </p:nvSpPr>
        <p:spPr>
          <a:xfrm>
            <a:off x="5003800" y="4241800"/>
            <a:ext cx="2679700" cy="736600"/>
          </a:xfrm>
          <a:prstGeom prst="roundRect">
            <a:avLst>
              <a:gd name="adj" fmla="val 7000"/>
            </a:avLst>
          </a:prstGeom>
          <a:solidFill>
            <a:srgbClr val="F4EEDC"/>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1652"/>
              </a:lnSpc>
            </a:pPr>
            <a:r>
              <a:rPr lang="en-US" altLang="zh-CN" sz="1400">
                <a:solidFill>
                  <a:srgbClr val="203040"/>
                </a:solidFill>
                <a:latin typeface="Microsoft YaHei" panose="020B0503020204020204" pitchFamily="34" charset="-122"/>
                <a:ea typeface="微软雅黑" panose="020B0503020204020204" pitchFamily="34" charset="-122"/>
              </a:rPr>
              <a:t>ADGBO</a:t>
            </a:r>
            <a:r>
              <a:rPr lang="zh-CN" altLang="en-US" sz="1400">
                <a:solidFill>
                  <a:srgbClr val="203040"/>
                </a:solidFill>
                <a:latin typeface="Microsoft YaHei" panose="020B0503020204020204" pitchFamily="34" charset="-122"/>
                <a:ea typeface="微软雅黑" panose="020B0503020204020204" pitchFamily="34" charset="-122"/>
              </a:rPr>
              <a:t>求解</a:t>
            </a:r>
            <a:r>
              <a:rPr lang="en-US" altLang="zh-CN" sz="1400">
                <a:solidFill>
                  <a:srgbClr val="203040"/>
                </a:solidFill>
                <a:latin typeface="Microsoft YaHei" panose="020B0503020204020204" pitchFamily="34" charset="-122"/>
                <a:ea typeface="微软雅黑" panose="020B0503020204020204" pitchFamily="34" charset="-122"/>
              </a:rPr>
              <a:t>MLE</a:t>
            </a:r>
          </a:p>
          <a:p>
            <a:pPr algn="ctr">
              <a:lnSpc>
                <a:spcPts val="1652"/>
              </a:lnSpc>
            </a:pPr>
            <a:r>
              <a:rPr lang="en-US" altLang="zh-CN" sz="1400">
                <a:solidFill>
                  <a:srgbClr val="203040"/>
                </a:solidFill>
                <a:latin typeface="Microsoft YaHei" panose="020B0503020204020204" pitchFamily="34" charset="-122"/>
                <a:ea typeface="微软雅黑" panose="020B0503020204020204" pitchFamily="34" charset="-122"/>
              </a:rPr>
              <a:t>Wang</a:t>
            </a:r>
            <a:r>
              <a:rPr lang="zh-CN" altLang="en-US" sz="1400">
                <a:solidFill>
                  <a:srgbClr val="203040"/>
                </a:solidFill>
                <a:latin typeface="Microsoft YaHei" panose="020B0503020204020204" pitchFamily="34" charset="-122"/>
                <a:ea typeface="微软雅黑" panose="020B0503020204020204" pitchFamily="34" charset="-122"/>
              </a:rPr>
              <a:t>等 </a:t>
            </a:r>
            <a:r>
              <a:rPr lang="en-US" altLang="zh-CN" sz="1400">
                <a:solidFill>
                  <a:srgbClr val="203040"/>
                </a:solidFill>
                <a:latin typeface="Microsoft YaHei" panose="020B0503020204020204" pitchFamily="34" charset="-122"/>
                <a:ea typeface="微软雅黑" panose="020B0503020204020204" pitchFamily="34" charset="-122"/>
              </a:rPr>
              <a:t>· 2026</a:t>
            </a:r>
            <a:endParaRPr lang="zh-CN" altLang="en-US" sz="1400">
              <a:solidFill>
                <a:srgbClr val="203040"/>
              </a:solidFill>
              <a:latin typeface="Microsoft YaHei" panose="020B0503020204020204" pitchFamily="34" charset="-122"/>
              <a:ea typeface="微软雅黑" panose="020B0503020204020204" pitchFamily="34" charset="-122"/>
            </a:endParaRPr>
          </a:p>
        </p:txBody>
      </p:sp>
      <p:sp>
        <p:nvSpPr>
          <p:cNvPr id="23" name="fig1-firth">
            <a:extLst>
              <a:ext uri="{FF2B5EF4-FFF2-40B4-BE49-F238E27FC236}">
                <a16:creationId xmlns:a16="http://schemas.microsoft.com/office/drawing/2014/main" id="{516109D5-65F7-7C6F-6EB1-588D61EAE408}"/>
              </a:ext>
            </a:extLst>
          </p:cNvPr>
          <p:cNvSpPr/>
          <p:nvPr/>
        </p:nvSpPr>
        <p:spPr>
          <a:xfrm>
            <a:off x="9321800" y="2209800"/>
            <a:ext cx="2222500" cy="736600"/>
          </a:xfrm>
          <a:prstGeom prst="roundRect">
            <a:avLst>
              <a:gd name="adj" fmla="val 7000"/>
            </a:avLst>
          </a:prstGeom>
          <a:solidFill>
            <a:srgbClr val="EAF0F6"/>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1652"/>
              </a:lnSpc>
            </a:pPr>
            <a:r>
              <a:rPr lang="zh-CN" altLang="en-US" sz="1400">
                <a:solidFill>
                  <a:srgbClr val="203040"/>
                </a:solidFill>
                <a:latin typeface="Microsoft YaHei" panose="020B0503020204020204" pitchFamily="34" charset="-122"/>
                <a:ea typeface="微软雅黑" panose="020B0503020204020204" pitchFamily="34" charset="-122"/>
              </a:rPr>
              <a:t>得分偏差修正</a:t>
            </a:r>
          </a:p>
          <a:p>
            <a:pPr algn="ctr">
              <a:lnSpc>
                <a:spcPts val="1652"/>
              </a:lnSpc>
            </a:pPr>
            <a:r>
              <a:rPr lang="en-US" altLang="zh-CN" sz="1400">
                <a:solidFill>
                  <a:srgbClr val="203040"/>
                </a:solidFill>
                <a:latin typeface="Microsoft YaHei" panose="020B0503020204020204" pitchFamily="34" charset="-122"/>
                <a:ea typeface="微软雅黑" panose="020B0503020204020204" pitchFamily="34" charset="-122"/>
              </a:rPr>
              <a:t>Firth · 1993</a:t>
            </a:r>
            <a:endParaRPr lang="zh-CN" altLang="en-US" sz="1400">
              <a:solidFill>
                <a:srgbClr val="203040"/>
              </a:solidFill>
              <a:latin typeface="Microsoft YaHei" panose="020B0503020204020204" pitchFamily="34" charset="-122"/>
              <a:ea typeface="微软雅黑" panose="020B0503020204020204" pitchFamily="34" charset="-122"/>
            </a:endParaRPr>
          </a:p>
        </p:txBody>
      </p:sp>
      <p:sp>
        <p:nvSpPr>
          <p:cNvPr id="24" name="fig1-dmmle">
            <a:extLst>
              <a:ext uri="{FF2B5EF4-FFF2-40B4-BE49-F238E27FC236}">
                <a16:creationId xmlns:a16="http://schemas.microsoft.com/office/drawing/2014/main" id="{2AC304CE-AA20-F1BD-CCDB-C472C745E2BA}"/>
              </a:ext>
            </a:extLst>
          </p:cNvPr>
          <p:cNvSpPr/>
          <p:nvPr/>
        </p:nvSpPr>
        <p:spPr>
          <a:xfrm>
            <a:off x="9321800" y="3225800"/>
            <a:ext cx="2222500" cy="889000"/>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1652"/>
              </a:lnSpc>
            </a:pPr>
            <a:r>
              <a:rPr lang="en-US" altLang="zh-CN" sz="1400">
                <a:solidFill>
                  <a:srgbClr val="203040"/>
                </a:solidFill>
                <a:latin typeface="Microsoft YaHei" panose="020B0503020204020204" pitchFamily="34" charset="-122"/>
                <a:ea typeface="微软雅黑" panose="020B0503020204020204" pitchFamily="34" charset="-122"/>
              </a:rPr>
              <a:t>DMMLE </a:t>
            </a:r>
            <a:r>
              <a:rPr lang="zh-CN" altLang="en-US" sz="1400">
                <a:solidFill>
                  <a:srgbClr val="203040"/>
                </a:solidFill>
                <a:latin typeface="Microsoft YaHei" panose="020B0503020204020204" pitchFamily="34" charset="-122"/>
                <a:ea typeface="微软雅黑" panose="020B0503020204020204" pitchFamily="34" charset="-122"/>
              </a:rPr>
              <a:t>双重修改极大似然估计</a:t>
            </a:r>
          </a:p>
          <a:p>
            <a:pPr algn="ctr">
              <a:lnSpc>
                <a:spcPts val="1652"/>
              </a:lnSpc>
            </a:pPr>
            <a:r>
              <a:rPr lang="en-US" altLang="zh-CN" sz="1400">
                <a:solidFill>
                  <a:srgbClr val="203040"/>
                </a:solidFill>
                <a:latin typeface="Microsoft YaHei" panose="020B0503020204020204" pitchFamily="34" charset="-122"/>
                <a:ea typeface="微软雅黑" panose="020B0503020204020204" pitchFamily="34" charset="-122"/>
              </a:rPr>
              <a:t>da Silva</a:t>
            </a:r>
            <a:r>
              <a:rPr lang="zh-CN" altLang="en-US" sz="1400">
                <a:solidFill>
                  <a:srgbClr val="203040"/>
                </a:solidFill>
                <a:latin typeface="Microsoft YaHei" panose="020B0503020204020204" pitchFamily="34" charset="-122"/>
                <a:ea typeface="微软雅黑" panose="020B0503020204020204" pitchFamily="34" charset="-122"/>
              </a:rPr>
              <a:t>等 </a:t>
            </a:r>
            <a:r>
              <a:rPr lang="en-US" altLang="zh-CN" sz="1400">
                <a:solidFill>
                  <a:srgbClr val="203040"/>
                </a:solidFill>
                <a:latin typeface="Microsoft YaHei" panose="020B0503020204020204" pitchFamily="34" charset="-122"/>
                <a:ea typeface="微软雅黑" panose="020B0503020204020204" pitchFamily="34" charset="-122"/>
              </a:rPr>
              <a:t>· 2025</a:t>
            </a:r>
            <a:endParaRPr lang="zh-CN" altLang="en-US" sz="1400">
              <a:solidFill>
                <a:srgbClr val="203040"/>
              </a:solidFill>
              <a:latin typeface="Microsoft YaHei" panose="020B0503020204020204" pitchFamily="34" charset="-122"/>
              <a:ea typeface="微软雅黑" panose="020B0503020204020204" pitchFamily="34" charset="-122"/>
            </a:endParaRPr>
          </a:p>
        </p:txBody>
      </p:sp>
      <p:sp>
        <p:nvSpPr>
          <p:cNvPr id="25" name="fig1-text_edge1">
            <a:extLst>
              <a:ext uri="{FF2B5EF4-FFF2-40B4-BE49-F238E27FC236}">
                <a16:creationId xmlns:a16="http://schemas.microsoft.com/office/drawing/2014/main" id="{59737199-1D4A-7ABA-8568-245599796836}"/>
              </a:ext>
            </a:extLst>
          </p:cNvPr>
          <p:cNvSpPr txBox="1"/>
          <p:nvPr/>
        </p:nvSpPr>
        <p:spPr>
          <a:xfrm>
            <a:off x="2806700" y="2120900"/>
            <a:ext cx="2108200" cy="444500"/>
          </a:xfrm>
          <a:prstGeom prst="rect">
            <a:avLst/>
          </a:prstGeom>
          <a:noFill/>
        </p:spPr>
        <p:txBody>
          <a:bodyPr vert="horz" wrap="square" lIns="38100" tIns="25400" rIns="38100" bIns="25400" rtlCol="0" anchor="ctr">
            <a:noAutofit/>
          </a:bodyPr>
          <a:lstStyle/>
          <a:p>
            <a:pPr algn="ctr">
              <a:lnSpc>
                <a:spcPts val="1416"/>
              </a:lnSpc>
            </a:pPr>
            <a:r>
              <a:rPr lang="zh-CN" altLang="en-US" sz="1200">
                <a:solidFill>
                  <a:srgbClr val="304559"/>
                </a:solidFill>
                <a:latin typeface="Microsoft YaHei" panose="020B0503020204020204" pitchFamily="34" charset="-122"/>
                <a:ea typeface="微软雅黑" panose="020B0503020204020204" pitchFamily="34" charset="-122"/>
              </a:rPr>
              <a:t>减小小样本偏差</a:t>
            </a:r>
          </a:p>
          <a:p>
            <a:pPr algn="ctr">
              <a:lnSpc>
                <a:spcPts val="1416"/>
              </a:lnSpc>
            </a:pPr>
            <a:r>
              <a:rPr lang="zh-CN" altLang="en-US" sz="1200">
                <a:solidFill>
                  <a:srgbClr val="304559"/>
                </a:solidFill>
                <a:latin typeface="Microsoft YaHei" panose="020B0503020204020204" pitchFamily="34" charset="-122"/>
                <a:ea typeface="微软雅黑" panose="020B0503020204020204" pitchFamily="34" charset="-122"/>
              </a:rPr>
              <a:t>修正估计方程</a:t>
            </a:r>
          </a:p>
        </p:txBody>
      </p:sp>
      <p:sp>
        <p:nvSpPr>
          <p:cNvPr id="26" name="fig1-text_edge2">
            <a:extLst>
              <a:ext uri="{FF2B5EF4-FFF2-40B4-BE49-F238E27FC236}">
                <a16:creationId xmlns:a16="http://schemas.microsoft.com/office/drawing/2014/main" id="{2293B625-BEC5-3B2A-A86E-9386781AFB81}"/>
              </a:ext>
            </a:extLst>
          </p:cNvPr>
          <p:cNvSpPr txBox="1"/>
          <p:nvPr/>
        </p:nvSpPr>
        <p:spPr>
          <a:xfrm>
            <a:off x="2806700" y="3162300"/>
            <a:ext cx="2108200" cy="444500"/>
          </a:xfrm>
          <a:prstGeom prst="rect">
            <a:avLst/>
          </a:prstGeom>
          <a:noFill/>
        </p:spPr>
        <p:txBody>
          <a:bodyPr vert="horz" wrap="square" lIns="38100" tIns="25400" rIns="38100" bIns="25400" rtlCol="0" anchor="ctr">
            <a:noAutofit/>
          </a:bodyPr>
          <a:lstStyle/>
          <a:p>
            <a:pPr algn="ctr">
              <a:lnSpc>
                <a:spcPts val="1416"/>
              </a:lnSpc>
            </a:pPr>
            <a:r>
              <a:rPr lang="zh-CN" altLang="en-US" sz="1200">
                <a:solidFill>
                  <a:srgbClr val="304559"/>
                </a:solidFill>
                <a:latin typeface="Microsoft YaHei" panose="020B0503020204020204" pitchFamily="34" charset="-122"/>
                <a:ea typeface="微软雅黑" panose="020B0503020204020204" pitchFamily="34" charset="-122"/>
              </a:rPr>
              <a:t>处理边界奇异</a:t>
            </a:r>
          </a:p>
          <a:p>
            <a:pPr algn="ctr">
              <a:lnSpc>
                <a:spcPts val="1416"/>
              </a:lnSpc>
            </a:pPr>
            <a:r>
              <a:rPr lang="zh-CN" altLang="en-US" sz="1200">
                <a:solidFill>
                  <a:srgbClr val="304559"/>
                </a:solidFill>
                <a:latin typeface="Microsoft YaHei" panose="020B0503020204020204" pitchFamily="34" charset="-122"/>
                <a:ea typeface="微软雅黑" panose="020B0503020204020204" pitchFamily="34" charset="-122"/>
              </a:rPr>
              <a:t>改变似然构造</a:t>
            </a:r>
          </a:p>
        </p:txBody>
      </p:sp>
      <p:sp>
        <p:nvSpPr>
          <p:cNvPr id="27" name="fig1-text_edge5">
            <a:extLst>
              <a:ext uri="{FF2B5EF4-FFF2-40B4-BE49-F238E27FC236}">
                <a16:creationId xmlns:a16="http://schemas.microsoft.com/office/drawing/2014/main" id="{8060B0A7-DA03-DA54-5E73-A07FAB8713B8}"/>
              </a:ext>
            </a:extLst>
          </p:cNvPr>
          <p:cNvSpPr txBox="1"/>
          <p:nvPr/>
        </p:nvSpPr>
        <p:spPr>
          <a:xfrm>
            <a:off x="2806700" y="4152900"/>
            <a:ext cx="2108200" cy="444500"/>
          </a:xfrm>
          <a:prstGeom prst="rect">
            <a:avLst/>
          </a:prstGeom>
          <a:noFill/>
        </p:spPr>
        <p:txBody>
          <a:bodyPr vert="horz" wrap="square" lIns="38100" tIns="25400" rIns="38100" bIns="25400" rtlCol="0" anchor="ctr">
            <a:noAutofit/>
          </a:bodyPr>
          <a:lstStyle/>
          <a:p>
            <a:pPr algn="ctr">
              <a:lnSpc>
                <a:spcPts val="1416"/>
              </a:lnSpc>
            </a:pPr>
            <a:r>
              <a:rPr lang="zh-CN" altLang="en-US" sz="1200">
                <a:solidFill>
                  <a:srgbClr val="304559"/>
                </a:solidFill>
                <a:latin typeface="Microsoft YaHei" panose="020B0503020204020204" pitchFamily="34" charset="-122"/>
                <a:ea typeface="微软雅黑" panose="020B0503020204020204" pitchFamily="34" charset="-122"/>
              </a:rPr>
              <a:t>缓解初值敏感与局部停滞</a:t>
            </a:r>
          </a:p>
          <a:p>
            <a:pPr algn="ctr">
              <a:lnSpc>
                <a:spcPts val="1416"/>
              </a:lnSpc>
            </a:pPr>
            <a:r>
              <a:rPr lang="zh-CN" altLang="en-US" sz="1200">
                <a:solidFill>
                  <a:srgbClr val="304559"/>
                </a:solidFill>
                <a:latin typeface="Microsoft YaHei" panose="020B0503020204020204" pitchFamily="34" charset="-122"/>
                <a:ea typeface="微软雅黑" panose="020B0503020204020204" pitchFamily="34" charset="-122"/>
              </a:rPr>
              <a:t>改进搜索策略</a:t>
            </a:r>
          </a:p>
        </p:txBody>
      </p:sp>
      <p:sp>
        <p:nvSpPr>
          <p:cNvPr id="28" name="fig1-text_edge3">
            <a:extLst>
              <a:ext uri="{FF2B5EF4-FFF2-40B4-BE49-F238E27FC236}">
                <a16:creationId xmlns:a16="http://schemas.microsoft.com/office/drawing/2014/main" id="{1D92B7E6-D647-3717-6D68-A4243B1E4895}"/>
              </a:ext>
            </a:extLst>
          </p:cNvPr>
          <p:cNvSpPr txBox="1"/>
          <p:nvPr/>
        </p:nvSpPr>
        <p:spPr>
          <a:xfrm>
            <a:off x="7747000" y="3124200"/>
            <a:ext cx="1524000" cy="444500"/>
          </a:xfrm>
          <a:prstGeom prst="rect">
            <a:avLst/>
          </a:prstGeom>
          <a:noFill/>
        </p:spPr>
        <p:txBody>
          <a:bodyPr vert="horz" wrap="square" lIns="38100" tIns="25400" rIns="38100" bIns="25400" rtlCol="0" anchor="ctr">
            <a:noAutofit/>
          </a:bodyPr>
          <a:lstStyle/>
          <a:p>
            <a:pPr algn="ctr">
              <a:lnSpc>
                <a:spcPts val="1416"/>
              </a:lnSpc>
            </a:pPr>
            <a:r>
              <a:rPr lang="zh-CN" altLang="en-US" sz="1200">
                <a:solidFill>
                  <a:srgbClr val="304559"/>
                </a:solidFill>
                <a:latin typeface="Microsoft YaHei" panose="020B0503020204020204" pitchFamily="34" charset="-122"/>
                <a:ea typeface="微软雅黑" panose="020B0503020204020204" pitchFamily="34" charset="-122"/>
              </a:rPr>
              <a:t>剩余偏差</a:t>
            </a:r>
          </a:p>
          <a:p>
            <a:pPr algn="ctr">
              <a:lnSpc>
                <a:spcPts val="1416"/>
              </a:lnSpc>
            </a:pPr>
            <a:r>
              <a:rPr lang="zh-CN" altLang="en-US" sz="1200">
                <a:solidFill>
                  <a:srgbClr val="304559"/>
                </a:solidFill>
                <a:latin typeface="Microsoft YaHei" panose="020B0503020204020204" pitchFamily="34" charset="-122"/>
                <a:ea typeface="微软雅黑" panose="020B0503020204020204" pitchFamily="34" charset="-122"/>
              </a:rPr>
              <a:t>引入</a:t>
            </a:r>
            <a:r>
              <a:rPr lang="en-US" altLang="zh-CN" sz="1200">
                <a:solidFill>
                  <a:srgbClr val="304559"/>
                </a:solidFill>
                <a:latin typeface="Microsoft YaHei" panose="020B0503020204020204" pitchFamily="34" charset="-122"/>
                <a:ea typeface="微软雅黑" panose="020B0503020204020204" pitchFamily="34" charset="-122"/>
              </a:rPr>
              <a:t>Firth</a:t>
            </a:r>
            <a:r>
              <a:rPr lang="zh-CN" altLang="en-US" sz="1200">
                <a:solidFill>
                  <a:srgbClr val="304559"/>
                </a:solidFill>
                <a:latin typeface="Microsoft YaHei" panose="020B0503020204020204" pitchFamily="34" charset="-122"/>
                <a:ea typeface="微软雅黑" panose="020B0503020204020204" pitchFamily="34" charset="-122"/>
              </a:rPr>
              <a:t>修正</a:t>
            </a:r>
          </a:p>
        </p:txBody>
      </p:sp>
      <p:sp>
        <p:nvSpPr>
          <p:cNvPr id="29" name="fig1-text_edge4">
            <a:extLst>
              <a:ext uri="{FF2B5EF4-FFF2-40B4-BE49-F238E27FC236}">
                <a16:creationId xmlns:a16="http://schemas.microsoft.com/office/drawing/2014/main" id="{A7DDFAD8-0F92-FD68-9A8F-9D08F41C5B79}"/>
              </a:ext>
            </a:extLst>
          </p:cNvPr>
          <p:cNvSpPr txBox="1"/>
          <p:nvPr/>
        </p:nvSpPr>
        <p:spPr>
          <a:xfrm>
            <a:off x="10579100" y="2959100"/>
            <a:ext cx="927100" cy="241300"/>
          </a:xfrm>
          <a:prstGeom prst="rect">
            <a:avLst/>
          </a:prstGeom>
          <a:noFill/>
        </p:spPr>
        <p:txBody>
          <a:bodyPr vert="horz" wrap="square" lIns="38100" tIns="25400" rIns="38100" bIns="25400" rtlCol="0" anchor="ctr">
            <a:noAutofit/>
          </a:bodyPr>
          <a:lstStyle/>
          <a:p>
            <a:pPr algn="ctr">
              <a:lnSpc>
                <a:spcPts val="1298"/>
              </a:lnSpc>
            </a:pPr>
            <a:r>
              <a:rPr lang="zh-CN" altLang="en-US" sz="1100">
                <a:solidFill>
                  <a:srgbClr val="304559"/>
                </a:solidFill>
                <a:latin typeface="Microsoft YaHei" panose="020B0503020204020204" pitchFamily="34" charset="-122"/>
                <a:ea typeface="微软雅黑" panose="020B0503020204020204" pitchFamily="34" charset="-122"/>
              </a:rPr>
              <a:t>修正思想</a:t>
            </a:r>
          </a:p>
        </p:txBody>
      </p:sp>
      <p:sp>
        <p:nvSpPr>
          <p:cNvPr id="30" name="panel-description">
            <a:extLst>
              <a:ext uri="{FF2B5EF4-FFF2-40B4-BE49-F238E27FC236}">
                <a16:creationId xmlns:a16="http://schemas.microsoft.com/office/drawing/2014/main" id="{C52DB519-AB17-D781-A557-DC4D1405FE31}"/>
              </a:ext>
            </a:extLst>
          </p:cNvPr>
          <p:cNvSpPr txBox="1"/>
          <p:nvPr/>
        </p:nvSpPr>
        <p:spPr>
          <a:xfrm>
            <a:off x="622300" y="5384800"/>
            <a:ext cx="10922000" cy="609600"/>
          </a:xfrm>
          <a:prstGeom prst="rect">
            <a:avLst/>
          </a:prstGeom>
          <a:noFill/>
        </p:spPr>
        <p:txBody>
          <a:bodyPr vert="horz" wrap="square" lIns="38100" tIns="0" rIns="38100" bIns="0" rtlCol="0" anchor="t">
            <a:noAutofit/>
          </a:bodyPr>
          <a:lstStyle/>
          <a:p>
            <a:pPr>
              <a:lnSpc>
                <a:spcPts val="2006"/>
              </a:lnSpc>
            </a:pPr>
            <a:r>
              <a:rPr lang="en-US" altLang="zh-CN" sz="1700">
                <a:solidFill>
                  <a:srgbClr val="2F6096"/>
                </a:solidFill>
                <a:latin typeface="Microsoft YaHei" panose="020B0503020204020204" pitchFamily="34" charset="-122"/>
                <a:ea typeface="微软雅黑" panose="020B0503020204020204" pitchFamily="34" charset="-122"/>
              </a:rPr>
              <a:t>WMLE</a:t>
            </a:r>
            <a:r>
              <a:rPr lang="zh-CN" altLang="en-US" sz="1700">
                <a:solidFill>
                  <a:srgbClr val="2F6096"/>
                </a:solidFill>
                <a:latin typeface="Microsoft YaHei" panose="020B0503020204020204" pitchFamily="34" charset="-122"/>
                <a:ea typeface="微软雅黑" panose="020B0503020204020204" pitchFamily="34" charset="-122"/>
              </a:rPr>
              <a:t>修正有限样本估计方程，</a:t>
            </a:r>
            <a:r>
              <a:rPr lang="en-US" altLang="zh-CN" sz="1700">
                <a:solidFill>
                  <a:srgbClr val="2F6096"/>
                </a:solidFill>
                <a:latin typeface="Microsoft YaHei" panose="020B0503020204020204" pitchFamily="34" charset="-122"/>
                <a:ea typeface="微软雅黑" panose="020B0503020204020204" pitchFamily="34" charset="-122"/>
              </a:rPr>
              <a:t>MMLE</a:t>
            </a:r>
            <a:r>
              <a:rPr lang="zh-CN" altLang="en-US" sz="1700">
                <a:solidFill>
                  <a:srgbClr val="2F6096"/>
                </a:solidFill>
                <a:latin typeface="Microsoft YaHei" panose="020B0503020204020204" pitchFamily="34" charset="-122"/>
                <a:ea typeface="微软雅黑" panose="020B0503020204020204" pitchFamily="34" charset="-122"/>
              </a:rPr>
              <a:t>改变似然构造，</a:t>
            </a:r>
            <a:r>
              <a:rPr lang="en-US" altLang="zh-CN" sz="1700">
                <a:solidFill>
                  <a:srgbClr val="2F6096"/>
                </a:solidFill>
                <a:latin typeface="Microsoft YaHei" panose="020B0503020204020204" pitchFamily="34" charset="-122"/>
                <a:ea typeface="微软雅黑" panose="020B0503020204020204" pitchFamily="34" charset="-122"/>
              </a:rPr>
              <a:t>DMMLE</a:t>
            </a:r>
            <a:r>
              <a:rPr lang="zh-CN" altLang="en-US" sz="1700">
                <a:solidFill>
                  <a:srgbClr val="2F6096"/>
                </a:solidFill>
                <a:latin typeface="Microsoft YaHei" panose="020B0503020204020204" pitchFamily="34" charset="-122"/>
                <a:ea typeface="微软雅黑" panose="020B0503020204020204" pitchFamily="34" charset="-122"/>
              </a:rPr>
              <a:t>进一步修正得分偏差。</a:t>
            </a:r>
          </a:p>
          <a:p>
            <a:pPr>
              <a:lnSpc>
                <a:spcPts val="2006"/>
              </a:lnSpc>
            </a:pPr>
            <a:r>
              <a:rPr lang="en-US" altLang="zh-CN" sz="1700">
                <a:solidFill>
                  <a:srgbClr val="2F6096"/>
                </a:solidFill>
                <a:latin typeface="Microsoft YaHei" panose="020B0503020204020204" pitchFamily="34" charset="-122"/>
                <a:ea typeface="微软雅黑" panose="020B0503020204020204" pitchFamily="34" charset="-122"/>
              </a:rPr>
              <a:t>PSO</a:t>
            </a:r>
            <a:r>
              <a:rPr lang="zh-CN" altLang="en-US" sz="1700">
                <a:solidFill>
                  <a:srgbClr val="2F6096"/>
                </a:solidFill>
                <a:latin typeface="Microsoft YaHei" panose="020B0503020204020204" pitchFamily="34" charset="-122"/>
                <a:ea typeface="微软雅黑" panose="020B0503020204020204" pitchFamily="34" charset="-122"/>
              </a:rPr>
              <a:t>、</a:t>
            </a:r>
            <a:r>
              <a:rPr lang="en-US" altLang="zh-CN" sz="1700">
                <a:solidFill>
                  <a:srgbClr val="2F6096"/>
                </a:solidFill>
                <a:latin typeface="Microsoft YaHei" panose="020B0503020204020204" pitchFamily="34" charset="-122"/>
                <a:ea typeface="微软雅黑" panose="020B0503020204020204" pitchFamily="34" charset="-122"/>
              </a:rPr>
              <a:t>ADGBO</a:t>
            </a:r>
            <a:r>
              <a:rPr lang="zh-CN" altLang="en-US" sz="1700">
                <a:solidFill>
                  <a:srgbClr val="2F6096"/>
                </a:solidFill>
                <a:latin typeface="Microsoft YaHei" panose="020B0503020204020204" pitchFamily="34" charset="-122"/>
                <a:ea typeface="微软雅黑" panose="020B0503020204020204" pitchFamily="34" charset="-122"/>
              </a:rPr>
              <a:t>等若保持同一似然与约束，改进的是求解过程。</a:t>
            </a:r>
          </a:p>
        </p:txBody>
      </p:sp>
      <p:sp>
        <p:nvSpPr>
          <p:cNvPr id="31" name="panel-citations">
            <a:extLst>
              <a:ext uri="{FF2B5EF4-FFF2-40B4-BE49-F238E27FC236}">
                <a16:creationId xmlns:a16="http://schemas.microsoft.com/office/drawing/2014/main" id="{43D54EE6-3576-5B72-1D9F-150FD070BF80}"/>
              </a:ext>
            </a:extLst>
          </p:cNvPr>
          <p:cNvSpPr txBox="1"/>
          <p:nvPr/>
        </p:nvSpPr>
        <p:spPr>
          <a:xfrm>
            <a:off x="622300" y="6350000"/>
            <a:ext cx="10922000" cy="177800"/>
          </a:xfrm>
          <a:prstGeom prst="rect">
            <a:avLst/>
          </a:prstGeom>
          <a:noFill/>
        </p:spPr>
        <p:txBody>
          <a:bodyPr vert="horz" wrap="square" lIns="38100" tIns="0" rIns="38100" bIns="0" rtlCol="0" anchor="t">
            <a:noAutofit/>
          </a:bodyPr>
          <a:lstStyle/>
          <a:p>
            <a:pPr>
              <a:lnSpc>
                <a:spcPts val="1180"/>
              </a:lnSpc>
            </a:pPr>
            <a:r>
              <a:rPr lang="en-US" altLang="zh-CN" sz="1000">
                <a:solidFill>
                  <a:srgbClr val="787878"/>
                </a:solidFill>
                <a:latin typeface="Microsoft YaHei" panose="020B0503020204020204" pitchFamily="34" charset="-122"/>
                <a:ea typeface="微软雅黑" panose="020B0503020204020204" pitchFamily="34" charset="-122"/>
              </a:rPr>
              <a:t>WMLE [182-088]</a:t>
            </a:r>
            <a:r>
              <a:rPr lang="zh-CN" altLang="en-US" sz="1000">
                <a:solidFill>
                  <a:srgbClr val="787878"/>
                </a:solidFill>
                <a:latin typeface="Microsoft YaHei" panose="020B0503020204020204" pitchFamily="34" charset="-122"/>
                <a:ea typeface="微软雅黑" panose="020B0503020204020204" pitchFamily="34" charset="-122"/>
              </a:rPr>
              <a:t>；</a:t>
            </a:r>
            <a:r>
              <a:rPr lang="en-US" altLang="zh-CN" sz="1000">
                <a:solidFill>
                  <a:srgbClr val="787878"/>
                </a:solidFill>
                <a:latin typeface="Microsoft YaHei" panose="020B0503020204020204" pitchFamily="34" charset="-122"/>
                <a:ea typeface="微软雅黑" panose="020B0503020204020204" pitchFamily="34" charset="-122"/>
              </a:rPr>
              <a:t>DMMLE [182-111]</a:t>
            </a:r>
            <a:r>
              <a:rPr lang="zh-CN" altLang="en-US" sz="1000">
                <a:solidFill>
                  <a:srgbClr val="787878"/>
                </a:solidFill>
                <a:latin typeface="Microsoft YaHei" panose="020B0503020204020204" pitchFamily="34" charset="-122"/>
                <a:ea typeface="微软雅黑" panose="020B0503020204020204" pitchFamily="34" charset="-122"/>
              </a:rPr>
              <a:t>；</a:t>
            </a:r>
            <a:r>
              <a:rPr lang="en-US" altLang="zh-CN" sz="1000">
                <a:solidFill>
                  <a:srgbClr val="787878"/>
                </a:solidFill>
                <a:latin typeface="Microsoft YaHei" panose="020B0503020204020204" pitchFamily="34" charset="-122"/>
                <a:ea typeface="微软雅黑" panose="020B0503020204020204" pitchFamily="34" charset="-122"/>
              </a:rPr>
              <a:t>ADGBO [187-001]</a:t>
            </a:r>
            <a:r>
              <a:rPr lang="zh-CN" altLang="en-US" sz="1000">
                <a:solidFill>
                  <a:srgbClr val="787878"/>
                </a:solidFill>
                <a:latin typeface="Microsoft YaHei" panose="020B0503020204020204" pitchFamily="34" charset="-122"/>
                <a:ea typeface="微软雅黑" panose="020B0503020204020204" pitchFamily="34" charset="-122"/>
              </a:rPr>
              <a:t>。</a:t>
            </a:r>
            <a:r>
              <a:rPr lang="en-US" altLang="zh-CN" sz="1000">
                <a:solidFill>
                  <a:srgbClr val="787878"/>
                </a:solidFill>
                <a:latin typeface="Microsoft YaHei" panose="020B0503020204020204" pitchFamily="34" charset="-122"/>
                <a:ea typeface="微软雅黑" panose="020B0503020204020204" pitchFamily="34" charset="-122"/>
              </a:rPr>
              <a:t>Fisher</a:t>
            </a:r>
            <a:r>
              <a:rPr lang="zh-CN" altLang="en-US" sz="1000">
                <a:solidFill>
                  <a:srgbClr val="787878"/>
                </a:solidFill>
                <a:latin typeface="Microsoft YaHei" panose="020B0503020204020204" pitchFamily="34" charset="-122"/>
                <a:ea typeface="微软雅黑" panose="020B0503020204020204" pitchFamily="34" charset="-122"/>
              </a:rPr>
              <a:t>（</a:t>
            </a:r>
            <a:r>
              <a:rPr lang="en-US" altLang="zh-CN" sz="1000">
                <a:solidFill>
                  <a:srgbClr val="787878"/>
                </a:solidFill>
                <a:latin typeface="Microsoft YaHei" panose="020B0503020204020204" pitchFamily="34" charset="-122"/>
                <a:ea typeface="微软雅黑" panose="020B0503020204020204" pitchFamily="34" charset="-122"/>
              </a:rPr>
              <a:t>1922</a:t>
            </a:r>
            <a:r>
              <a:rPr lang="zh-CN" altLang="en-US" sz="1000">
                <a:solidFill>
                  <a:srgbClr val="787878"/>
                </a:solidFill>
                <a:latin typeface="Microsoft YaHei" panose="020B0503020204020204" pitchFamily="34" charset="-122"/>
                <a:ea typeface="微软雅黑" panose="020B0503020204020204" pitchFamily="34" charset="-122"/>
              </a:rPr>
              <a:t>）标示通用似然原理来源。</a:t>
            </a:r>
          </a:p>
        </p:txBody>
      </p:sp>
      <p:cxnSp>
        <p:nvCxnSpPr>
          <p:cNvPr id="32" name="fig1-edge1-1">
            <a:extLst>
              <a:ext uri="{FF2B5EF4-FFF2-40B4-BE49-F238E27FC236}">
                <a16:creationId xmlns:a16="http://schemas.microsoft.com/office/drawing/2014/main" id="{7CA313AF-5535-B936-EB8B-1F22332F9CB5}"/>
              </a:ext>
            </a:extLst>
          </p:cNvPr>
          <p:cNvCxnSpPr/>
          <p:nvPr/>
        </p:nvCxnSpPr>
        <p:spPr>
          <a:xfrm>
            <a:off x="2463800" y="3378200"/>
            <a:ext cx="266700" cy="0"/>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cxnSp>
      <p:cxnSp>
        <p:nvCxnSpPr>
          <p:cNvPr id="33" name="fig1-edge1-2">
            <a:extLst>
              <a:ext uri="{FF2B5EF4-FFF2-40B4-BE49-F238E27FC236}">
                <a16:creationId xmlns:a16="http://schemas.microsoft.com/office/drawing/2014/main" id="{65928FDF-C6E5-93E6-F434-802232B4DFB8}"/>
              </a:ext>
            </a:extLst>
          </p:cNvPr>
          <p:cNvCxnSpPr/>
          <p:nvPr/>
        </p:nvCxnSpPr>
        <p:spPr>
          <a:xfrm flipV="1">
            <a:off x="2730500" y="2578100"/>
            <a:ext cx="0" cy="800100"/>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cxnSp>
      <p:cxnSp>
        <p:nvCxnSpPr>
          <p:cNvPr id="34" name="fig1-edge1-3">
            <a:extLst>
              <a:ext uri="{FF2B5EF4-FFF2-40B4-BE49-F238E27FC236}">
                <a16:creationId xmlns:a16="http://schemas.microsoft.com/office/drawing/2014/main" id="{47C7D5B7-DCA5-7D0F-7169-86C81A3C7079}"/>
              </a:ext>
            </a:extLst>
          </p:cNvPr>
          <p:cNvCxnSpPr/>
          <p:nvPr/>
        </p:nvCxnSpPr>
        <p:spPr>
          <a:xfrm>
            <a:off x="2730500" y="2578100"/>
            <a:ext cx="22733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cxnSp>
      <p:cxnSp>
        <p:nvCxnSpPr>
          <p:cNvPr id="35" name="fig1-edge2-1">
            <a:extLst>
              <a:ext uri="{FF2B5EF4-FFF2-40B4-BE49-F238E27FC236}">
                <a16:creationId xmlns:a16="http://schemas.microsoft.com/office/drawing/2014/main" id="{ED331878-50CE-6593-B9FF-08AB750D060D}"/>
              </a:ext>
            </a:extLst>
          </p:cNvPr>
          <p:cNvCxnSpPr/>
          <p:nvPr/>
        </p:nvCxnSpPr>
        <p:spPr>
          <a:xfrm>
            <a:off x="2463800" y="3644900"/>
            <a:ext cx="25400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cxnSp>
      <p:cxnSp>
        <p:nvCxnSpPr>
          <p:cNvPr id="36" name="fig1-edge5-1">
            <a:extLst>
              <a:ext uri="{FF2B5EF4-FFF2-40B4-BE49-F238E27FC236}">
                <a16:creationId xmlns:a16="http://schemas.microsoft.com/office/drawing/2014/main" id="{7F6A0CFC-A7DB-BC6C-E195-CB51B47B63CF}"/>
              </a:ext>
            </a:extLst>
          </p:cNvPr>
          <p:cNvCxnSpPr/>
          <p:nvPr/>
        </p:nvCxnSpPr>
        <p:spPr>
          <a:xfrm>
            <a:off x="2463800" y="3911600"/>
            <a:ext cx="266700" cy="0"/>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cxnSp>
      <p:cxnSp>
        <p:nvCxnSpPr>
          <p:cNvPr id="37" name="fig1-edge5-2">
            <a:extLst>
              <a:ext uri="{FF2B5EF4-FFF2-40B4-BE49-F238E27FC236}">
                <a16:creationId xmlns:a16="http://schemas.microsoft.com/office/drawing/2014/main" id="{E4814CB7-E67C-000A-AAA0-439534DA5098}"/>
              </a:ext>
            </a:extLst>
          </p:cNvPr>
          <p:cNvCxnSpPr/>
          <p:nvPr/>
        </p:nvCxnSpPr>
        <p:spPr>
          <a:xfrm>
            <a:off x="2730500" y="3911600"/>
            <a:ext cx="0" cy="698500"/>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cxnSp>
      <p:cxnSp>
        <p:nvCxnSpPr>
          <p:cNvPr id="38" name="fig1-edge5-3">
            <a:extLst>
              <a:ext uri="{FF2B5EF4-FFF2-40B4-BE49-F238E27FC236}">
                <a16:creationId xmlns:a16="http://schemas.microsoft.com/office/drawing/2014/main" id="{83FBA02B-8D28-CAEE-A58C-3F08F725BBEA}"/>
              </a:ext>
            </a:extLst>
          </p:cNvPr>
          <p:cNvCxnSpPr/>
          <p:nvPr/>
        </p:nvCxnSpPr>
        <p:spPr>
          <a:xfrm>
            <a:off x="2730500" y="4610100"/>
            <a:ext cx="22733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cxnSp>
      <p:cxnSp>
        <p:nvCxnSpPr>
          <p:cNvPr id="39" name="fig1-edge3-1">
            <a:extLst>
              <a:ext uri="{FF2B5EF4-FFF2-40B4-BE49-F238E27FC236}">
                <a16:creationId xmlns:a16="http://schemas.microsoft.com/office/drawing/2014/main" id="{D7ABDE7F-C462-A3E2-8B1E-FBFDC7970EA1}"/>
              </a:ext>
            </a:extLst>
          </p:cNvPr>
          <p:cNvCxnSpPr/>
          <p:nvPr/>
        </p:nvCxnSpPr>
        <p:spPr>
          <a:xfrm>
            <a:off x="7683500" y="3594100"/>
            <a:ext cx="16383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cxnSp>
      <p:cxnSp>
        <p:nvCxnSpPr>
          <p:cNvPr id="40" name="fig1-edge4-1">
            <a:extLst>
              <a:ext uri="{FF2B5EF4-FFF2-40B4-BE49-F238E27FC236}">
                <a16:creationId xmlns:a16="http://schemas.microsoft.com/office/drawing/2014/main" id="{D9EC5824-7FDE-23B4-4D60-539509B15083}"/>
              </a:ext>
            </a:extLst>
          </p:cNvPr>
          <p:cNvCxnSpPr/>
          <p:nvPr/>
        </p:nvCxnSpPr>
        <p:spPr>
          <a:xfrm>
            <a:off x="10433050" y="2946400"/>
            <a:ext cx="0" cy="27940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85018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en-US" altLang="zh-CN" sz="2400" b="1" spc="-150">
                <a:solidFill>
                  <a:srgbClr val="FFFFFF"/>
                </a:solidFill>
                <a:latin typeface="汉仪文润宋韵 U"/>
                <a:ea typeface="汉仪文润宋韵 U"/>
                <a:cs typeface="汉仪文润宋韵 U"/>
              </a:rPr>
              <a:t>B  </a:t>
            </a:r>
            <a:r>
              <a:rPr lang="zh-CN" altLang="en-US" sz="2400" b="1" spc="-150">
                <a:solidFill>
                  <a:srgbClr val="FFFFFF"/>
                </a:solidFill>
                <a:latin typeface="汉仪文润宋韵 U"/>
                <a:ea typeface="汉仪文润宋韵 U"/>
                <a:cs typeface="汉仪文润宋韵 U"/>
              </a:rPr>
              <a:t>概率图路线：如何处理未知位置？</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已有方法及其发展关系</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01</a:t>
            </a:r>
            <a:endParaRPr sz="1800">
              <a:latin typeface="Microsoft YaHei"/>
            </a:endParaRPr>
          </a:p>
        </p:txBody>
      </p:sp>
      <p:sp>
        <p:nvSpPr>
          <p:cNvPr id="6" name="文本框 5">
            <a:extLst>
              <a:ext uri="{FF2B5EF4-FFF2-40B4-BE49-F238E27FC236}">
                <a16:creationId xmlns:a16="http://schemas.microsoft.com/office/drawing/2014/main" id="{2911FE70-E849-ED7F-BFB0-3FB730551685}"/>
              </a:ext>
            </a:extLst>
          </p:cNvPr>
          <p:cNvSpPr txBox="1"/>
          <p:nvPr/>
        </p:nvSpPr>
        <p:spPr>
          <a:xfrm>
            <a:off x="622300" y="1638300"/>
            <a:ext cx="10922000" cy="406400"/>
          </a:xfrm>
          <a:prstGeom prst="rect">
            <a:avLst/>
          </a:prstGeom>
          <a:noFill/>
        </p:spPr>
        <p:txBody>
          <a:bodyPr vert="horz" wrap="square" lIns="38100" tIns="25400" rIns="38100" bIns="25400" rtlCol="0" anchor="t">
            <a:noAutofit/>
          </a:bodyPr>
          <a:lstStyle/>
          <a:p>
            <a:pPr>
              <a:lnSpc>
                <a:spcPts val="2006"/>
              </a:lnSpc>
            </a:pPr>
            <a:r>
              <a:rPr lang="en-US" altLang="zh-CN" sz="1600">
                <a:solidFill>
                  <a:srgbClr val="2F6096"/>
                </a:solidFill>
                <a:latin typeface="Microsoft YaHei" panose="020B0503020204020204" pitchFamily="34" charset="-122"/>
                <a:ea typeface="微软雅黑" panose="020B0503020204020204" pitchFamily="34" charset="-122"/>
              </a:rPr>
              <a:t>LS</a:t>
            </a:r>
            <a:r>
              <a:rPr lang="zh-CN" altLang="en-US" sz="1600">
                <a:solidFill>
                  <a:srgbClr val="2F6096"/>
                </a:solidFill>
                <a:latin typeface="Microsoft YaHei" panose="020B0503020204020204" pitchFamily="34" charset="-122"/>
                <a:ea typeface="微软雅黑" panose="020B0503020204020204" pitchFamily="34" charset="-122"/>
              </a:rPr>
              <a:t>与</a:t>
            </a:r>
            <a:r>
              <a:rPr lang="en-US" altLang="zh-CN" sz="1600">
                <a:solidFill>
                  <a:srgbClr val="2F6096"/>
                </a:solidFill>
                <a:latin typeface="Microsoft YaHei" panose="020B0503020204020204" pitchFamily="34" charset="-122"/>
                <a:ea typeface="微软雅黑" panose="020B0503020204020204" pitchFamily="34" charset="-122"/>
              </a:rPr>
              <a:t>LRE</a:t>
            </a:r>
            <a:r>
              <a:rPr lang="zh-CN" altLang="en-US" sz="1600">
                <a:solidFill>
                  <a:srgbClr val="2F6096"/>
                </a:solidFill>
                <a:latin typeface="Microsoft YaHei" panose="020B0503020204020204" pitchFamily="34" charset="-122"/>
                <a:ea typeface="微软雅黑" panose="020B0503020204020204" pitchFamily="34" charset="-122"/>
              </a:rPr>
              <a:t>同属概率图路线，都可用最小二乘回归；下面比较项目实际采用的版本。</a:t>
            </a:r>
          </a:p>
        </p:txBody>
      </p:sp>
      <p:sp>
        <p:nvSpPr>
          <p:cNvPr id="17" name="fig1-white">
            <a:extLst>
              <a:ext uri="{FF2B5EF4-FFF2-40B4-BE49-F238E27FC236}">
                <a16:creationId xmlns:a16="http://schemas.microsoft.com/office/drawing/2014/main" id="{6BAFF377-25AB-9762-2D70-2278810E5997}"/>
              </a:ext>
            </a:extLst>
          </p:cNvPr>
          <p:cNvSpPr/>
          <p:nvPr/>
        </p:nvSpPr>
        <p:spPr>
          <a:xfrm>
            <a:off x="622300" y="2190115"/>
            <a:ext cx="3302000" cy="560832"/>
          </a:xfrm>
          <a:prstGeom prst="roundRect">
            <a:avLst>
              <a:gd name="adj" fmla="val 7000"/>
            </a:avLst>
          </a:prstGeom>
          <a:solidFill>
            <a:srgbClr val="EAF0F6"/>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0" rIns="38100" bIns="0" rtlCol="0" anchor="ctr">
            <a:noAutofit/>
          </a:bodyPr>
          <a:lstStyle/>
          <a:p>
            <a:pPr algn="ctr">
              <a:lnSpc>
                <a:spcPts val="1650"/>
              </a:lnSpc>
            </a:pPr>
            <a:r>
              <a:rPr lang="en-US" altLang="zh-CN" sz="1400">
                <a:solidFill>
                  <a:srgbClr val="203040"/>
                </a:solidFill>
                <a:latin typeface="Microsoft YaHei" panose="020B0503020204020204" pitchFamily="34" charset="-122"/>
                <a:ea typeface="微软雅黑" panose="020B0503020204020204" pitchFamily="34" charset="-122"/>
              </a:rPr>
              <a:t>LS </a:t>
            </a:r>
            <a:r>
              <a:rPr lang="zh-CN" altLang="en-US" sz="1400">
                <a:solidFill>
                  <a:srgbClr val="203040"/>
                </a:solidFill>
                <a:latin typeface="Microsoft YaHei" panose="020B0503020204020204" pitchFamily="34" charset="-122"/>
                <a:ea typeface="微软雅黑" panose="020B0503020204020204" pitchFamily="34" charset="-122"/>
              </a:rPr>
              <a:t>二参数概率图回归</a:t>
            </a:r>
          </a:p>
          <a:p>
            <a:pPr algn="ctr">
              <a:lnSpc>
                <a:spcPts val="1650"/>
              </a:lnSpc>
            </a:pPr>
            <a:r>
              <a:rPr lang="en-US" altLang="zh-CN" sz="1400">
                <a:solidFill>
                  <a:srgbClr val="203040"/>
                </a:solidFill>
                <a:latin typeface="Microsoft YaHei" panose="020B0503020204020204" pitchFamily="34" charset="-122"/>
                <a:ea typeface="微软雅黑" panose="020B0503020204020204" pitchFamily="34" charset="-122"/>
              </a:rPr>
              <a:t>White · 1969</a:t>
            </a:r>
            <a:endParaRPr lang="zh-CN" altLang="en-US" sz="1400">
              <a:solidFill>
                <a:srgbClr val="203040"/>
              </a:solidFill>
              <a:latin typeface="Microsoft YaHei" panose="020B0503020204020204" pitchFamily="34" charset="-122"/>
              <a:ea typeface="微软雅黑" panose="020B0503020204020204" pitchFamily="34" charset="-122"/>
            </a:endParaRPr>
          </a:p>
        </p:txBody>
      </p:sp>
      <p:sp>
        <p:nvSpPr>
          <p:cNvPr id="18" name="fig1-soman">
            <a:extLst>
              <a:ext uri="{FF2B5EF4-FFF2-40B4-BE49-F238E27FC236}">
                <a16:creationId xmlns:a16="http://schemas.microsoft.com/office/drawing/2014/main" id="{F83C78B6-253F-8ED2-FCDB-4716D21876E0}"/>
              </a:ext>
            </a:extLst>
          </p:cNvPr>
          <p:cNvSpPr/>
          <p:nvPr/>
        </p:nvSpPr>
        <p:spPr>
          <a:xfrm>
            <a:off x="7670800" y="2190115"/>
            <a:ext cx="3873500" cy="560832"/>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0" rIns="38100" bIns="0" rtlCol="0" anchor="ctr">
            <a:noAutofit/>
          </a:bodyPr>
          <a:lstStyle/>
          <a:p>
            <a:pPr algn="ctr">
              <a:lnSpc>
                <a:spcPts val="1650"/>
              </a:lnSpc>
            </a:pPr>
            <a:r>
              <a:rPr lang="en-US" altLang="zh-CN" sz="1400">
                <a:solidFill>
                  <a:srgbClr val="203040"/>
                </a:solidFill>
                <a:latin typeface="Microsoft YaHei" panose="020B0503020204020204" pitchFamily="34" charset="-122"/>
                <a:ea typeface="微软雅黑" panose="020B0503020204020204" pitchFamily="34" charset="-122"/>
              </a:rPr>
              <a:t>LS </a:t>
            </a:r>
            <a:r>
              <a:rPr lang="zh-CN" altLang="en-US" sz="1400">
                <a:solidFill>
                  <a:srgbClr val="203040"/>
                </a:solidFill>
                <a:latin typeface="Microsoft YaHei" panose="020B0503020204020204" pitchFamily="34" charset="-122"/>
                <a:ea typeface="微软雅黑" panose="020B0503020204020204" pitchFamily="34" charset="-122"/>
              </a:rPr>
              <a:t>三参数最小二乘</a:t>
            </a:r>
          </a:p>
          <a:p>
            <a:pPr algn="ctr">
              <a:lnSpc>
                <a:spcPts val="1650"/>
              </a:lnSpc>
            </a:pPr>
            <a:r>
              <a:rPr lang="en-US" altLang="zh-CN" sz="1400">
                <a:solidFill>
                  <a:srgbClr val="203040"/>
                </a:solidFill>
                <a:latin typeface="Microsoft YaHei" panose="020B0503020204020204" pitchFamily="34" charset="-122"/>
                <a:ea typeface="微软雅黑" panose="020B0503020204020204" pitchFamily="34" charset="-122"/>
              </a:rPr>
              <a:t>Soman &amp; Misra · 1992</a:t>
            </a:r>
            <a:endParaRPr lang="zh-CN" altLang="en-US" sz="1400">
              <a:solidFill>
                <a:srgbClr val="203040"/>
              </a:solidFill>
              <a:latin typeface="Microsoft YaHei" panose="020B0503020204020204" pitchFamily="34" charset="-122"/>
              <a:ea typeface="微软雅黑" panose="020B0503020204020204" pitchFamily="34" charset="-122"/>
            </a:endParaRPr>
          </a:p>
        </p:txBody>
      </p:sp>
      <p:sp>
        <p:nvSpPr>
          <p:cNvPr id="19" name="fig1-plot">
            <a:extLst>
              <a:ext uri="{FF2B5EF4-FFF2-40B4-BE49-F238E27FC236}">
                <a16:creationId xmlns:a16="http://schemas.microsoft.com/office/drawing/2014/main" id="{65675938-9A67-E934-E6DF-F65962F514D0}"/>
              </a:ext>
            </a:extLst>
          </p:cNvPr>
          <p:cNvSpPr/>
          <p:nvPr/>
        </p:nvSpPr>
        <p:spPr>
          <a:xfrm>
            <a:off x="622300" y="3189097"/>
            <a:ext cx="3302000" cy="578358"/>
          </a:xfrm>
          <a:prstGeom prst="roundRect">
            <a:avLst>
              <a:gd name="adj" fmla="val 7000"/>
            </a:avLst>
          </a:prstGeom>
          <a:solidFill>
            <a:srgbClr val="FFFFFF"/>
          </a:solidFill>
          <a:ln w="12700">
            <a:solidFill>
              <a:srgbClr val="63758A"/>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38100" tIns="0" rIns="38100" bIns="0" rtlCol="0" anchor="ctr">
            <a:noAutofit/>
          </a:bodyPr>
          <a:lstStyle/>
          <a:p>
            <a:pPr algn="ctr">
              <a:lnSpc>
                <a:spcPts val="1650"/>
              </a:lnSpc>
            </a:pPr>
            <a:r>
              <a:rPr lang="en-US" altLang="zh-CN" sz="1400">
                <a:solidFill>
                  <a:srgbClr val="203040"/>
                </a:solidFill>
                <a:latin typeface="Microsoft YaHei" panose="020B0503020204020204" pitchFamily="34" charset="-122"/>
                <a:ea typeface="微软雅黑" panose="020B0503020204020204" pitchFamily="34" charset="-122"/>
              </a:rPr>
              <a:t>LRE</a:t>
            </a:r>
            <a:r>
              <a:rPr lang="zh-CN" altLang="en-US" sz="1400">
                <a:solidFill>
                  <a:srgbClr val="203040"/>
                </a:solidFill>
                <a:latin typeface="Microsoft YaHei" panose="020B0503020204020204" pitchFamily="34" charset="-122"/>
                <a:ea typeface="微软雅黑" panose="020B0503020204020204" pitchFamily="34" charset="-122"/>
              </a:rPr>
              <a:t>相关构造</a:t>
            </a:r>
          </a:p>
          <a:p>
            <a:pPr algn="ctr">
              <a:lnSpc>
                <a:spcPts val="1650"/>
              </a:lnSpc>
            </a:pPr>
            <a:r>
              <a:rPr lang="en-US" altLang="zh-CN" sz="1400">
                <a:solidFill>
                  <a:srgbClr val="203040"/>
                </a:solidFill>
                <a:latin typeface="Microsoft YaHei" panose="020B0503020204020204" pitchFamily="34" charset="-122"/>
                <a:ea typeface="微软雅黑" panose="020B0503020204020204" pitchFamily="34" charset="-122"/>
              </a:rPr>
              <a:t>Weibull</a:t>
            </a:r>
            <a:r>
              <a:rPr lang="zh-CN" altLang="en-US" sz="1400">
                <a:solidFill>
                  <a:srgbClr val="203040"/>
                </a:solidFill>
                <a:latin typeface="Microsoft YaHei" panose="020B0503020204020204" pitchFamily="34" charset="-122"/>
                <a:ea typeface="微软雅黑" panose="020B0503020204020204" pitchFamily="34" charset="-122"/>
              </a:rPr>
              <a:t>图线性化</a:t>
            </a:r>
          </a:p>
        </p:txBody>
      </p:sp>
      <p:sp>
        <p:nvSpPr>
          <p:cNvPr id="20" name="fig1-li">
            <a:extLst>
              <a:ext uri="{FF2B5EF4-FFF2-40B4-BE49-F238E27FC236}">
                <a16:creationId xmlns:a16="http://schemas.microsoft.com/office/drawing/2014/main" id="{3813DF7B-6E53-2F54-2674-A9944E5E53E2}"/>
              </a:ext>
            </a:extLst>
          </p:cNvPr>
          <p:cNvSpPr/>
          <p:nvPr/>
        </p:nvSpPr>
        <p:spPr>
          <a:xfrm>
            <a:off x="7670800" y="3005074"/>
            <a:ext cx="3873500" cy="560832"/>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0" rIns="38100" bIns="0" rtlCol="0" anchor="ctr">
            <a:noAutofit/>
          </a:bodyPr>
          <a:lstStyle/>
          <a:p>
            <a:pPr algn="ctr">
              <a:lnSpc>
                <a:spcPts val="1650"/>
              </a:lnSpc>
            </a:pPr>
            <a:r>
              <a:rPr lang="en-US" altLang="zh-CN" sz="1400">
                <a:solidFill>
                  <a:srgbClr val="203040"/>
                </a:solidFill>
                <a:latin typeface="Microsoft YaHei" panose="020B0503020204020204" pitchFamily="34" charset="-122"/>
                <a:ea typeface="微软雅黑" panose="020B0503020204020204" pitchFamily="34" charset="-122"/>
              </a:rPr>
              <a:t>GLRA </a:t>
            </a:r>
            <a:r>
              <a:rPr lang="zh-CN" altLang="en-US" sz="1400">
                <a:solidFill>
                  <a:srgbClr val="203040"/>
                </a:solidFill>
                <a:latin typeface="Microsoft YaHei" panose="020B0503020204020204" pitchFamily="34" charset="-122"/>
                <a:ea typeface="微软雅黑" panose="020B0503020204020204" pitchFamily="34" charset="-122"/>
              </a:rPr>
              <a:t>广义线性回归</a:t>
            </a:r>
          </a:p>
          <a:p>
            <a:pPr algn="ctr">
              <a:lnSpc>
                <a:spcPts val="1650"/>
              </a:lnSpc>
            </a:pPr>
            <a:r>
              <a:rPr lang="en-US" altLang="zh-CN" sz="1400">
                <a:solidFill>
                  <a:srgbClr val="203040"/>
                </a:solidFill>
                <a:latin typeface="Microsoft YaHei" panose="020B0503020204020204" pitchFamily="34" charset="-122"/>
                <a:ea typeface="微软雅黑" panose="020B0503020204020204" pitchFamily="34" charset="-122"/>
              </a:rPr>
              <a:t>Li · 1994</a:t>
            </a:r>
            <a:endParaRPr lang="zh-CN" altLang="en-US" sz="1400">
              <a:solidFill>
                <a:srgbClr val="203040"/>
              </a:solidFill>
              <a:latin typeface="Microsoft YaHei" panose="020B0503020204020204" pitchFamily="34" charset="-122"/>
              <a:ea typeface="微软雅黑" panose="020B0503020204020204" pitchFamily="34" charset="-122"/>
            </a:endParaRPr>
          </a:p>
        </p:txBody>
      </p:sp>
      <p:sp>
        <p:nvSpPr>
          <p:cNvPr id="21" name="fig1-park">
            <a:extLst>
              <a:ext uri="{FF2B5EF4-FFF2-40B4-BE49-F238E27FC236}">
                <a16:creationId xmlns:a16="http://schemas.microsoft.com/office/drawing/2014/main" id="{2CDB9860-B1C3-AFF8-60E0-F026CE1F5EFF}"/>
              </a:ext>
            </a:extLst>
          </p:cNvPr>
          <p:cNvSpPr/>
          <p:nvPr/>
        </p:nvSpPr>
        <p:spPr>
          <a:xfrm>
            <a:off x="7670800" y="3986530"/>
            <a:ext cx="3873500" cy="578358"/>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0" rIns="38100" bIns="0" rtlCol="0" anchor="ctr">
            <a:noAutofit/>
          </a:bodyPr>
          <a:lstStyle/>
          <a:p>
            <a:pPr algn="ctr">
              <a:lnSpc>
                <a:spcPts val="1650"/>
              </a:lnSpc>
            </a:pPr>
            <a:r>
              <a:rPr lang="zh-CN" altLang="en-US" sz="1400">
                <a:solidFill>
                  <a:srgbClr val="203040"/>
                </a:solidFill>
                <a:latin typeface="Microsoft YaHei" panose="020B0503020204020204" pitchFamily="34" charset="-122"/>
                <a:ea typeface="微软雅黑" panose="020B0503020204020204" pitchFamily="34" charset="-122"/>
              </a:rPr>
              <a:t>相关系数法（</a:t>
            </a:r>
            <a:r>
              <a:rPr lang="en-US" altLang="zh-CN" sz="1400">
                <a:solidFill>
                  <a:srgbClr val="203040"/>
                </a:solidFill>
                <a:latin typeface="Microsoft YaHei" panose="020B0503020204020204" pitchFamily="34" charset="-122"/>
                <a:ea typeface="微软雅黑" panose="020B0503020204020204" pitchFamily="34" charset="-122"/>
              </a:rPr>
              <a:t>Plot</a:t>
            </a:r>
            <a:r>
              <a:rPr lang="zh-CN" altLang="en-US" sz="1400">
                <a:solidFill>
                  <a:srgbClr val="203040"/>
                </a:solidFill>
                <a:latin typeface="Microsoft YaHei" panose="020B0503020204020204" pitchFamily="34" charset="-122"/>
                <a:ea typeface="微软雅黑" panose="020B0503020204020204" pitchFamily="34" charset="-122"/>
              </a:rPr>
              <a:t>分支）</a:t>
            </a:r>
          </a:p>
          <a:p>
            <a:pPr algn="ctr">
              <a:lnSpc>
                <a:spcPts val="1650"/>
              </a:lnSpc>
            </a:pPr>
            <a:r>
              <a:rPr lang="en-US" altLang="zh-CN" sz="1400">
                <a:solidFill>
                  <a:srgbClr val="203040"/>
                </a:solidFill>
                <a:latin typeface="Microsoft YaHei" panose="020B0503020204020204" pitchFamily="34" charset="-122"/>
                <a:ea typeface="微软雅黑" panose="020B0503020204020204" pitchFamily="34" charset="-122"/>
              </a:rPr>
              <a:t>Park · 2017</a:t>
            </a:r>
            <a:endParaRPr lang="zh-CN" altLang="en-US" sz="1400">
              <a:solidFill>
                <a:srgbClr val="203040"/>
              </a:solidFill>
              <a:latin typeface="Microsoft YaHei" panose="020B0503020204020204" pitchFamily="34" charset="-122"/>
              <a:ea typeface="微软雅黑" panose="020B0503020204020204" pitchFamily="34" charset="-122"/>
            </a:endParaRPr>
          </a:p>
        </p:txBody>
      </p:sp>
      <p:sp>
        <p:nvSpPr>
          <p:cNvPr id="22" name="fig1-text_edge6">
            <a:extLst>
              <a:ext uri="{FF2B5EF4-FFF2-40B4-BE49-F238E27FC236}">
                <a16:creationId xmlns:a16="http://schemas.microsoft.com/office/drawing/2014/main" id="{0C5A288D-71E8-CD1A-1D63-B92A6275E59E}"/>
              </a:ext>
            </a:extLst>
          </p:cNvPr>
          <p:cNvSpPr txBox="1"/>
          <p:nvPr/>
        </p:nvSpPr>
        <p:spPr>
          <a:xfrm>
            <a:off x="4686300" y="2076196"/>
            <a:ext cx="2222500" cy="385572"/>
          </a:xfrm>
          <a:prstGeom prst="rect">
            <a:avLst/>
          </a:prstGeom>
          <a:noFill/>
        </p:spPr>
        <p:txBody>
          <a:bodyPr vert="horz" wrap="square" lIns="38100" tIns="0" rIns="38100" bIns="0" rtlCol="0" anchor="ctr">
            <a:noAutofit/>
          </a:bodyPr>
          <a:lstStyle/>
          <a:p>
            <a:pPr algn="ctr">
              <a:lnSpc>
                <a:spcPts val="1650"/>
              </a:lnSpc>
            </a:pPr>
            <a:r>
              <a:rPr lang="zh-CN" altLang="en-US" sz="1400">
                <a:solidFill>
                  <a:srgbClr val="304559"/>
                </a:solidFill>
                <a:latin typeface="Microsoft YaHei" panose="020B0503020204020204" pitchFamily="34" charset="-122"/>
                <a:ea typeface="微软雅黑" panose="020B0503020204020204" pitchFamily="34" charset="-122"/>
              </a:rPr>
              <a:t>位置未知</a:t>
            </a:r>
          </a:p>
          <a:p>
            <a:pPr algn="ctr">
              <a:lnSpc>
                <a:spcPts val="1650"/>
              </a:lnSpc>
            </a:pPr>
            <a:r>
              <a:rPr lang="zh-CN" altLang="en-US" sz="1400">
                <a:solidFill>
                  <a:srgbClr val="304559"/>
                </a:solidFill>
                <a:latin typeface="Microsoft YaHei" panose="020B0503020204020204" pitchFamily="34" charset="-122"/>
                <a:ea typeface="微软雅黑" panose="020B0503020204020204" pitchFamily="34" charset="-122"/>
              </a:rPr>
              <a:t>扩展到三参数</a:t>
            </a:r>
          </a:p>
        </p:txBody>
      </p:sp>
      <p:sp>
        <p:nvSpPr>
          <p:cNvPr id="23" name="fig1-text_edge7">
            <a:extLst>
              <a:ext uri="{FF2B5EF4-FFF2-40B4-BE49-F238E27FC236}">
                <a16:creationId xmlns:a16="http://schemas.microsoft.com/office/drawing/2014/main" id="{117F3D43-7A7D-3E23-B704-0B144E79EF5A}"/>
              </a:ext>
            </a:extLst>
          </p:cNvPr>
          <p:cNvSpPr txBox="1"/>
          <p:nvPr/>
        </p:nvSpPr>
        <p:spPr>
          <a:xfrm>
            <a:off x="4406900" y="3013837"/>
            <a:ext cx="3111500" cy="227838"/>
          </a:xfrm>
          <a:prstGeom prst="rect">
            <a:avLst/>
          </a:prstGeom>
          <a:noFill/>
        </p:spPr>
        <p:txBody>
          <a:bodyPr vert="horz" wrap="square" lIns="38100" tIns="0" rIns="38100" bIns="0" rtlCol="0" anchor="ctr">
            <a:noAutofit/>
          </a:bodyPr>
          <a:lstStyle/>
          <a:p>
            <a:pPr algn="ctr">
              <a:lnSpc>
                <a:spcPts val="1650"/>
              </a:lnSpc>
            </a:pPr>
            <a:r>
              <a:rPr lang="zh-CN" altLang="en-US" sz="1400">
                <a:solidFill>
                  <a:srgbClr val="304559"/>
                </a:solidFill>
                <a:latin typeface="Microsoft YaHei" panose="020B0503020204020204" pitchFamily="34" charset="-122"/>
                <a:ea typeface="微软雅黑" panose="020B0503020204020204" pitchFamily="34" charset="-122"/>
              </a:rPr>
              <a:t>构造位置近似</a:t>
            </a:r>
          </a:p>
        </p:txBody>
      </p:sp>
      <p:sp>
        <p:nvSpPr>
          <p:cNvPr id="24" name="fig1-text_edge8">
            <a:extLst>
              <a:ext uri="{FF2B5EF4-FFF2-40B4-BE49-F238E27FC236}">
                <a16:creationId xmlns:a16="http://schemas.microsoft.com/office/drawing/2014/main" id="{8CA15B03-9C15-A8DF-20A2-CB58859DED9C}"/>
              </a:ext>
            </a:extLst>
          </p:cNvPr>
          <p:cNvSpPr txBox="1"/>
          <p:nvPr/>
        </p:nvSpPr>
        <p:spPr>
          <a:xfrm>
            <a:off x="5676900" y="3942715"/>
            <a:ext cx="1905000" cy="262890"/>
          </a:xfrm>
          <a:prstGeom prst="rect">
            <a:avLst/>
          </a:prstGeom>
          <a:noFill/>
        </p:spPr>
        <p:txBody>
          <a:bodyPr vert="horz" wrap="square" lIns="38100" tIns="0" rIns="38100" bIns="0" rtlCol="0" anchor="ctr">
            <a:noAutofit/>
          </a:bodyPr>
          <a:lstStyle/>
          <a:p>
            <a:pPr algn="ctr">
              <a:lnSpc>
                <a:spcPts val="1650"/>
              </a:lnSpc>
            </a:pPr>
            <a:r>
              <a:rPr lang="zh-CN" altLang="en-US" sz="1400">
                <a:solidFill>
                  <a:srgbClr val="304559"/>
                </a:solidFill>
                <a:latin typeface="Microsoft YaHei" panose="020B0503020204020204" pitchFamily="34" charset="-122"/>
                <a:ea typeface="微软雅黑" panose="020B0503020204020204" pitchFamily="34" charset="-122"/>
              </a:rPr>
              <a:t>以相关性选位置</a:t>
            </a:r>
          </a:p>
        </p:txBody>
      </p:sp>
      <p:cxnSp>
        <p:nvCxnSpPr>
          <p:cNvPr id="27" name="fig1-edge6-1">
            <a:extLst>
              <a:ext uri="{FF2B5EF4-FFF2-40B4-BE49-F238E27FC236}">
                <a16:creationId xmlns:a16="http://schemas.microsoft.com/office/drawing/2014/main" id="{2451FEE3-AD04-7247-FE51-A90513F024C8}"/>
              </a:ext>
            </a:extLst>
          </p:cNvPr>
          <p:cNvCxnSpPr/>
          <p:nvPr/>
        </p:nvCxnSpPr>
        <p:spPr>
          <a:xfrm>
            <a:off x="3924300" y="2470531"/>
            <a:ext cx="37465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cxnSp>
      <p:cxnSp>
        <p:nvCxnSpPr>
          <p:cNvPr id="28" name="fig1-edge7-1">
            <a:extLst>
              <a:ext uri="{FF2B5EF4-FFF2-40B4-BE49-F238E27FC236}">
                <a16:creationId xmlns:a16="http://schemas.microsoft.com/office/drawing/2014/main" id="{0DA19543-A04F-5DD8-5968-C8F591C49A25}"/>
              </a:ext>
            </a:extLst>
          </p:cNvPr>
          <p:cNvCxnSpPr/>
          <p:nvPr/>
        </p:nvCxnSpPr>
        <p:spPr>
          <a:xfrm>
            <a:off x="3924300" y="3329305"/>
            <a:ext cx="1905000" cy="0"/>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cxnSp>
      <p:cxnSp>
        <p:nvCxnSpPr>
          <p:cNvPr id="29" name="fig1-edge7-2">
            <a:extLst>
              <a:ext uri="{FF2B5EF4-FFF2-40B4-BE49-F238E27FC236}">
                <a16:creationId xmlns:a16="http://schemas.microsoft.com/office/drawing/2014/main" id="{936408E0-140D-E068-175C-3E5DF5147064}"/>
              </a:ext>
            </a:extLst>
          </p:cNvPr>
          <p:cNvCxnSpPr/>
          <p:nvPr/>
        </p:nvCxnSpPr>
        <p:spPr>
          <a:xfrm flipV="1">
            <a:off x="5829300" y="3285491"/>
            <a:ext cx="0" cy="43815"/>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cxnSp>
      <p:cxnSp>
        <p:nvCxnSpPr>
          <p:cNvPr id="30" name="fig1-edge7-3">
            <a:extLst>
              <a:ext uri="{FF2B5EF4-FFF2-40B4-BE49-F238E27FC236}">
                <a16:creationId xmlns:a16="http://schemas.microsoft.com/office/drawing/2014/main" id="{7F5A733D-256A-D03F-0757-96EE26607D6B}"/>
              </a:ext>
            </a:extLst>
          </p:cNvPr>
          <p:cNvCxnSpPr/>
          <p:nvPr/>
        </p:nvCxnSpPr>
        <p:spPr>
          <a:xfrm>
            <a:off x="5829300" y="3285490"/>
            <a:ext cx="18415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cxnSp>
      <p:cxnSp>
        <p:nvCxnSpPr>
          <p:cNvPr id="31" name="fig1-edge8-1">
            <a:extLst>
              <a:ext uri="{FF2B5EF4-FFF2-40B4-BE49-F238E27FC236}">
                <a16:creationId xmlns:a16="http://schemas.microsoft.com/office/drawing/2014/main" id="{70D4D455-EF9C-E1EE-A1D3-CFED15553030}"/>
              </a:ext>
            </a:extLst>
          </p:cNvPr>
          <p:cNvCxnSpPr/>
          <p:nvPr/>
        </p:nvCxnSpPr>
        <p:spPr>
          <a:xfrm>
            <a:off x="3924300" y="3627247"/>
            <a:ext cx="1587500" cy="0"/>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cxnSp>
      <p:cxnSp>
        <p:nvCxnSpPr>
          <p:cNvPr id="32" name="fig1-edge8-2">
            <a:extLst>
              <a:ext uri="{FF2B5EF4-FFF2-40B4-BE49-F238E27FC236}">
                <a16:creationId xmlns:a16="http://schemas.microsoft.com/office/drawing/2014/main" id="{03C68E42-96A0-AD70-A4E4-17A06688DE43}"/>
              </a:ext>
            </a:extLst>
          </p:cNvPr>
          <p:cNvCxnSpPr/>
          <p:nvPr/>
        </p:nvCxnSpPr>
        <p:spPr>
          <a:xfrm>
            <a:off x="5511800" y="3627247"/>
            <a:ext cx="0" cy="648462"/>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cxnSp>
      <p:cxnSp>
        <p:nvCxnSpPr>
          <p:cNvPr id="33" name="fig1-edge8-3">
            <a:extLst>
              <a:ext uri="{FF2B5EF4-FFF2-40B4-BE49-F238E27FC236}">
                <a16:creationId xmlns:a16="http://schemas.microsoft.com/office/drawing/2014/main" id="{9D383E8C-0782-58A3-7720-27E89C41D2D0}"/>
              </a:ext>
            </a:extLst>
          </p:cNvPr>
          <p:cNvCxnSpPr/>
          <p:nvPr/>
        </p:nvCxnSpPr>
        <p:spPr>
          <a:xfrm>
            <a:off x="5511800" y="4275709"/>
            <a:ext cx="21590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34" name="表格 33">
            <a:extLst>
              <a:ext uri="{FF2B5EF4-FFF2-40B4-BE49-F238E27FC236}">
                <a16:creationId xmlns:a16="http://schemas.microsoft.com/office/drawing/2014/main" id="{E22E6499-71C2-C4AD-A35F-AAE412BD8688}"/>
              </a:ext>
            </a:extLst>
          </p:cNvPr>
          <p:cNvGraphicFramePr>
            <a:graphicFrameLocks noGrp="1"/>
          </p:cNvGraphicFramePr>
          <p:nvPr>
            <p:extLst>
              <p:ext uri="{D42A27DB-BD31-4B8C-83A1-F6EECF244321}">
                <p14:modId xmlns:p14="http://schemas.microsoft.com/office/powerpoint/2010/main" val="1540581452"/>
              </p:ext>
            </p:extLst>
          </p:nvPr>
        </p:nvGraphicFramePr>
        <p:xfrm>
          <a:off x="622300" y="4686300"/>
          <a:ext cx="10922000" cy="1193799"/>
        </p:xfrm>
        <a:graphic>
          <a:graphicData uri="http://schemas.openxmlformats.org/drawingml/2006/table">
            <a:tbl>
              <a:tblPr firstRow="1" bandRow="1">
                <a:tableStyleId>{5C22544A-7EE6-4342-B048-85BDC9FD1C3A}</a:tableStyleId>
              </a:tblPr>
              <a:tblGrid>
                <a:gridCol w="2413000">
                  <a:extLst>
                    <a:ext uri="{9D8B030D-6E8A-4147-A177-3AD203B41FA5}">
                      <a16:colId xmlns:a16="http://schemas.microsoft.com/office/drawing/2014/main" val="2111078620"/>
                    </a:ext>
                  </a:extLst>
                </a:gridCol>
                <a:gridCol w="4191000">
                  <a:extLst>
                    <a:ext uri="{9D8B030D-6E8A-4147-A177-3AD203B41FA5}">
                      <a16:colId xmlns:a16="http://schemas.microsoft.com/office/drawing/2014/main" val="1094904583"/>
                    </a:ext>
                  </a:extLst>
                </a:gridCol>
                <a:gridCol w="4318000">
                  <a:extLst>
                    <a:ext uri="{9D8B030D-6E8A-4147-A177-3AD203B41FA5}">
                      <a16:colId xmlns:a16="http://schemas.microsoft.com/office/drawing/2014/main" val="2501718911"/>
                    </a:ext>
                  </a:extLst>
                </a:gridCol>
              </a:tblGrid>
              <a:tr h="397933">
                <a:tc>
                  <a:txBody>
                    <a:bodyPr/>
                    <a:lstStyle/>
                    <a:p>
                      <a:r>
                        <a:rPr lang="zh-CN" altLang="en-US" sz="1400" b="1">
                          <a:solidFill>
                            <a:srgbClr val="FFFFFF"/>
                          </a:solidFill>
                          <a:latin typeface="Microsoft YaHei" panose="020B0503020204020204" pitchFamily="34" charset="-122"/>
                          <a:ea typeface="微软雅黑" panose="020B0503020204020204" pitchFamily="34" charset="-122"/>
                        </a:rPr>
                        <a:t>当前采用版本</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r>
                        <a:rPr lang="en-US" altLang="zh-CN" sz="1400" b="1">
                          <a:solidFill>
                            <a:srgbClr val="FFFFFF"/>
                          </a:solidFill>
                          <a:latin typeface="Microsoft YaHei" panose="020B0503020204020204" pitchFamily="34" charset="-122"/>
                          <a:ea typeface="微软雅黑" panose="020B0503020204020204" pitchFamily="34" charset="-122"/>
                        </a:rPr>
                        <a:t>LS</a:t>
                      </a:r>
                      <a:r>
                        <a:rPr lang="zh-CN" altLang="en-US" sz="1400" b="1">
                          <a:solidFill>
                            <a:srgbClr val="FFFFFF"/>
                          </a:solidFill>
                          <a:latin typeface="Microsoft YaHei" panose="020B0503020204020204" pitchFamily="34" charset="-122"/>
                          <a:ea typeface="微软雅黑" panose="020B0503020204020204" pitchFamily="34" charset="-122"/>
                        </a:rPr>
                        <a:t>：</a:t>
                      </a:r>
                      <a:r>
                        <a:rPr lang="en-US" altLang="zh-CN" sz="1400" b="1">
                          <a:solidFill>
                            <a:srgbClr val="FFFFFF"/>
                          </a:solidFill>
                          <a:latin typeface="Microsoft YaHei" panose="020B0503020204020204" pitchFamily="34" charset="-122"/>
                          <a:ea typeface="微软雅黑" panose="020B0503020204020204" pitchFamily="34" charset="-122"/>
                        </a:rPr>
                        <a:t>White—Soman</a:t>
                      </a:r>
                      <a:r>
                        <a:rPr lang="zh-CN" altLang="en-US" sz="1400" b="1">
                          <a:solidFill>
                            <a:srgbClr val="FFFFFF"/>
                          </a:solidFill>
                          <a:latin typeface="Microsoft YaHei" panose="020B0503020204020204" pitchFamily="34" charset="-122"/>
                          <a:ea typeface="微软雅黑" panose="020B0503020204020204" pitchFamily="34" charset="-122"/>
                        </a:rPr>
                        <a:t>分支</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r>
                        <a:rPr lang="en-US" altLang="zh-CN" sz="1400" b="1">
                          <a:solidFill>
                            <a:srgbClr val="FFFFFF"/>
                          </a:solidFill>
                          <a:latin typeface="Microsoft YaHei" panose="020B0503020204020204" pitchFamily="34" charset="-122"/>
                          <a:ea typeface="微软雅黑" panose="020B0503020204020204" pitchFamily="34" charset="-122"/>
                        </a:rPr>
                        <a:t>LRE</a:t>
                      </a:r>
                      <a:r>
                        <a:rPr lang="zh-CN" altLang="en-US" sz="1400" b="1">
                          <a:solidFill>
                            <a:srgbClr val="FFFFFF"/>
                          </a:solidFill>
                          <a:latin typeface="Microsoft YaHei" panose="020B0503020204020204" pitchFamily="34" charset="-122"/>
                          <a:ea typeface="微软雅黑" panose="020B0503020204020204" pitchFamily="34" charset="-122"/>
                        </a:rPr>
                        <a:t>：相关系数定位＋</a:t>
                      </a:r>
                      <a:r>
                        <a:rPr lang="en-US" altLang="zh-CN" sz="1400" b="1">
                          <a:solidFill>
                            <a:srgbClr val="FFFFFF"/>
                          </a:solidFill>
                          <a:latin typeface="Microsoft YaHei" panose="020B0503020204020204" pitchFamily="34" charset="-122"/>
                          <a:ea typeface="微软雅黑" panose="020B0503020204020204" pitchFamily="34" charset="-122"/>
                        </a:rPr>
                        <a:t>OLS</a:t>
                      </a:r>
                      <a:endParaRPr lang="zh-CN" altLang="en-US" sz="1400" b="1">
                        <a:solidFill>
                          <a:srgbClr val="FFFFFF"/>
                        </a:solidFill>
                        <a:latin typeface="Microsoft YaHei" panose="020B0503020204020204" pitchFamily="34" charset="-122"/>
                        <a:ea typeface="微软雅黑" panose="020B0503020204020204" pitchFamily="34" charset="-122"/>
                      </a:endParaRP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extLst>
                  <a:ext uri="{0D108BD9-81ED-4DB2-BD59-A6C34878D82A}">
                    <a16:rowId xmlns:a16="http://schemas.microsoft.com/office/drawing/2014/main" val="2688352"/>
                  </a:ext>
                </a:extLst>
              </a:tr>
              <a:tr h="397933">
                <a:tc>
                  <a:txBody>
                    <a:bodyPr/>
                    <a:lstStyle/>
                    <a:p>
                      <a:r>
                        <a:rPr lang="zh-CN" altLang="en-US" sz="1400" b="0">
                          <a:solidFill>
                            <a:srgbClr val="000000"/>
                          </a:solidFill>
                          <a:latin typeface="Microsoft YaHei" panose="020B0503020204020204" pitchFamily="34" charset="-122"/>
                          <a:ea typeface="微软雅黑" panose="020B0503020204020204" pitchFamily="34" charset="-122"/>
                        </a:rPr>
                        <a:t>绘图分数</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lang="zh-CN" altLang="en-US" sz="1400" b="0">
                          <a:solidFill>
                            <a:srgbClr val="000000"/>
                          </a:solidFill>
                          <a:latin typeface="Microsoft YaHei" panose="020B0503020204020204" pitchFamily="34" charset="-122"/>
                          <a:ea typeface="微软雅黑" panose="020B0503020204020204" pitchFamily="34" charset="-122"/>
                        </a:rPr>
                        <a:t>对数</a:t>
                      </a:r>
                      <a:r>
                        <a:rPr lang="en-US" altLang="zh-CN" sz="1400" b="0">
                          <a:solidFill>
                            <a:srgbClr val="000000"/>
                          </a:solidFill>
                          <a:latin typeface="Microsoft YaHei" panose="020B0503020204020204" pitchFamily="34" charset="-122"/>
                          <a:ea typeface="微软雅黑" panose="020B0503020204020204" pitchFamily="34" charset="-122"/>
                        </a:rPr>
                        <a:t>Weibull</a:t>
                      </a:r>
                      <a:r>
                        <a:rPr lang="zh-CN" altLang="en-US" sz="1400" b="0">
                          <a:solidFill>
                            <a:srgbClr val="000000"/>
                          </a:solidFill>
                          <a:latin typeface="Microsoft YaHei" panose="020B0503020204020204" pitchFamily="34" charset="-122"/>
                          <a:ea typeface="微软雅黑" panose="020B0503020204020204" pitchFamily="34" charset="-122"/>
                        </a:rPr>
                        <a:t>次序统计量期望</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lang="en-US" altLang="zh-CN" sz="1400" b="0">
                          <a:solidFill>
                            <a:srgbClr val="000000"/>
                          </a:solidFill>
                          <a:latin typeface="Microsoft YaHei" panose="020B0503020204020204" pitchFamily="34" charset="-122"/>
                          <a:ea typeface="微软雅黑" panose="020B0503020204020204" pitchFamily="34" charset="-122"/>
                        </a:rPr>
                        <a:t>Bernard</a:t>
                      </a:r>
                      <a:r>
                        <a:rPr lang="zh-CN" altLang="en-US" sz="1400" b="0">
                          <a:solidFill>
                            <a:srgbClr val="000000"/>
                          </a:solidFill>
                          <a:latin typeface="Microsoft YaHei" panose="020B0503020204020204" pitchFamily="34" charset="-122"/>
                          <a:ea typeface="微软雅黑" panose="020B0503020204020204" pitchFamily="34" charset="-122"/>
                        </a:rPr>
                        <a:t>概率经双对数变换</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697251474"/>
                  </a:ext>
                </a:extLst>
              </a:tr>
              <a:tr h="397933">
                <a:tc>
                  <a:txBody>
                    <a:bodyPr/>
                    <a:lstStyle/>
                    <a:p>
                      <a:r>
                        <a:rPr lang="zh-CN" altLang="en-US" sz="1400" b="0">
                          <a:solidFill>
                            <a:srgbClr val="000000"/>
                          </a:solidFill>
                          <a:latin typeface="Microsoft YaHei" panose="020B0503020204020204" pitchFamily="34" charset="-122"/>
                          <a:ea typeface="微软雅黑" panose="020B0503020204020204" pitchFamily="34" charset="-122"/>
                        </a:rPr>
                        <a:t>回归与形状恢复</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lang="pt-BR" altLang="zh-CN" sz="1400" b="0">
                          <a:solidFill>
                            <a:srgbClr val="000000"/>
                          </a:solidFill>
                          <a:latin typeface="Microsoft YaHei" panose="020B0503020204020204" pitchFamily="34" charset="-122"/>
                          <a:ea typeface="微软雅黑" panose="020B0503020204020204" pitchFamily="34" charset="-122"/>
                        </a:rPr>
                        <a:t>x = a + bz</a:t>
                      </a:r>
                      <a:r>
                        <a:rPr lang="zh-CN" altLang="pt-BR" sz="1400" b="0">
                          <a:solidFill>
                            <a:srgbClr val="000000"/>
                          </a:solidFill>
                          <a:latin typeface="Microsoft YaHei" panose="020B0503020204020204" pitchFamily="34" charset="-122"/>
                          <a:ea typeface="微软雅黑" panose="020B0503020204020204" pitchFamily="34" charset="-122"/>
                        </a:rPr>
                        <a:t>，</a:t>
                      </a:r>
                      <a:r>
                        <a:rPr lang="pt-BR" altLang="zh-CN" sz="1400" b="0">
                          <a:solidFill>
                            <a:srgbClr val="000000"/>
                          </a:solidFill>
                          <a:latin typeface="Microsoft YaHei" panose="020B0503020204020204" pitchFamily="34" charset="-122"/>
                          <a:ea typeface="微软雅黑" panose="020B0503020204020204" pitchFamily="34" charset="-122"/>
                        </a:rPr>
                        <a:t>β̂ = 1/b</a:t>
                      </a:r>
                      <a:endParaRPr lang="zh-CN" altLang="en-US" sz="1400" b="0">
                        <a:solidFill>
                          <a:srgbClr val="000000"/>
                        </a:solidFill>
                        <a:latin typeface="Microsoft YaHei" panose="020B0503020204020204" pitchFamily="34" charset="-122"/>
                        <a:ea typeface="微软雅黑" panose="020B0503020204020204" pitchFamily="34" charset="-122"/>
                      </a:endParaRP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lang="pl-PL" altLang="zh-CN" sz="1400" b="0">
                          <a:solidFill>
                            <a:srgbClr val="000000"/>
                          </a:solidFill>
                          <a:latin typeface="Microsoft YaHei" panose="020B0503020204020204" pitchFamily="34" charset="-122"/>
                          <a:ea typeface="微软雅黑" panose="020B0503020204020204" pitchFamily="34" charset="-122"/>
                        </a:rPr>
                        <a:t>z = a + bx</a:t>
                      </a:r>
                      <a:r>
                        <a:rPr lang="zh-CN" altLang="pl-PL" sz="1400" b="0">
                          <a:solidFill>
                            <a:srgbClr val="000000"/>
                          </a:solidFill>
                          <a:latin typeface="Microsoft YaHei" panose="020B0503020204020204" pitchFamily="34" charset="-122"/>
                          <a:ea typeface="微软雅黑" panose="020B0503020204020204" pitchFamily="34" charset="-122"/>
                        </a:rPr>
                        <a:t>，</a:t>
                      </a:r>
                      <a:r>
                        <a:rPr lang="pl-PL" altLang="zh-CN" sz="1400" b="0">
                          <a:solidFill>
                            <a:srgbClr val="000000"/>
                          </a:solidFill>
                          <a:latin typeface="Microsoft YaHei" panose="020B0503020204020204" pitchFamily="34" charset="-122"/>
                          <a:ea typeface="微软雅黑" panose="020B0503020204020204" pitchFamily="34" charset="-122"/>
                        </a:rPr>
                        <a:t>β̂ = b</a:t>
                      </a:r>
                      <a:endParaRPr lang="zh-CN" altLang="en-US" sz="1400" b="0">
                        <a:solidFill>
                          <a:srgbClr val="000000"/>
                        </a:solidFill>
                        <a:latin typeface="Microsoft YaHei" panose="020B0503020204020204" pitchFamily="34" charset="-122"/>
                        <a:ea typeface="微软雅黑" panose="020B0503020204020204" pitchFamily="34" charset="-122"/>
                      </a:endParaRP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4094624546"/>
                  </a:ext>
                </a:extLst>
              </a:tr>
            </a:tbl>
          </a:graphicData>
        </a:graphic>
      </p:graphicFrame>
      <p:sp>
        <p:nvSpPr>
          <p:cNvPr id="35" name="文本框 34">
            <a:extLst>
              <a:ext uri="{FF2B5EF4-FFF2-40B4-BE49-F238E27FC236}">
                <a16:creationId xmlns:a16="http://schemas.microsoft.com/office/drawing/2014/main" id="{F4F7D4B8-3B61-04B5-DD2E-2EC108C8B53D}"/>
              </a:ext>
            </a:extLst>
          </p:cNvPr>
          <p:cNvSpPr txBox="1"/>
          <p:nvPr/>
        </p:nvSpPr>
        <p:spPr>
          <a:xfrm>
            <a:off x="622300" y="5969000"/>
            <a:ext cx="10922000" cy="254000"/>
          </a:xfrm>
          <a:prstGeom prst="rect">
            <a:avLst/>
          </a:prstGeom>
          <a:noFill/>
        </p:spPr>
        <p:txBody>
          <a:bodyPr vert="horz" wrap="square" lIns="0" tIns="0" rIns="0" bIns="0" rtlCol="0">
            <a:noAutofit/>
          </a:bodyPr>
          <a:lstStyle/>
          <a:p>
            <a:r>
              <a:rPr lang="en-US" altLang="zh-CN" sz="1300">
                <a:solidFill>
                  <a:srgbClr val="2F6096"/>
                </a:solidFill>
                <a:latin typeface="Microsoft YaHei" panose="020B0503020204020204" pitchFamily="34" charset="-122"/>
                <a:ea typeface="微软雅黑" panose="020B0503020204020204" pitchFamily="34" charset="-122"/>
              </a:rPr>
              <a:t>x</a:t>
            </a:r>
            <a:r>
              <a:rPr lang="zh-CN" altLang="en-US" sz="1300">
                <a:solidFill>
                  <a:srgbClr val="2F6096"/>
                </a:solidFill>
                <a:latin typeface="Microsoft YaHei" panose="020B0503020204020204" pitchFamily="34" charset="-122"/>
                <a:ea typeface="微软雅黑" panose="020B0503020204020204" pitchFamily="34" charset="-122"/>
              </a:rPr>
              <a:t>为对数寿命，</a:t>
            </a:r>
            <a:r>
              <a:rPr lang="en-US" altLang="zh-CN" sz="1300">
                <a:solidFill>
                  <a:srgbClr val="2F6096"/>
                </a:solidFill>
                <a:latin typeface="Microsoft YaHei" panose="020B0503020204020204" pitchFamily="34" charset="-122"/>
                <a:ea typeface="微软雅黑" panose="020B0503020204020204" pitchFamily="34" charset="-122"/>
              </a:rPr>
              <a:t>z</a:t>
            </a:r>
            <a:r>
              <a:rPr lang="zh-CN" altLang="en-US" sz="1300">
                <a:solidFill>
                  <a:srgbClr val="2F6096"/>
                </a:solidFill>
                <a:latin typeface="Microsoft YaHei" panose="020B0503020204020204" pitchFamily="34" charset="-122"/>
                <a:ea typeface="微软雅黑" panose="020B0503020204020204" pitchFamily="34" charset="-122"/>
              </a:rPr>
              <a:t>为绘图分数。同一分数与带截距</a:t>
            </a:r>
            <a:r>
              <a:rPr lang="en-US" altLang="zh-CN" sz="1300">
                <a:solidFill>
                  <a:srgbClr val="2F6096"/>
                </a:solidFill>
                <a:latin typeface="Microsoft YaHei" panose="020B0503020204020204" pitchFamily="34" charset="-122"/>
                <a:ea typeface="微软雅黑" panose="020B0503020204020204" pitchFamily="34" charset="-122"/>
              </a:rPr>
              <a:t>OLS</a:t>
            </a:r>
            <a:r>
              <a:rPr lang="zh-CN" altLang="en-US" sz="1300">
                <a:solidFill>
                  <a:srgbClr val="2F6096"/>
                </a:solidFill>
                <a:latin typeface="Microsoft YaHei" panose="020B0503020204020204" pitchFamily="34" charset="-122"/>
                <a:ea typeface="微软雅黑" panose="020B0503020204020204" pitchFamily="34" charset="-122"/>
              </a:rPr>
              <a:t>下，</a:t>
            </a:r>
            <a:r>
              <a:rPr lang="en-US" altLang="zh-CN" sz="1300">
                <a:solidFill>
                  <a:srgbClr val="2F6096"/>
                </a:solidFill>
                <a:latin typeface="Microsoft YaHei" panose="020B0503020204020204" pitchFamily="34" charset="-122"/>
                <a:ea typeface="微软雅黑" panose="020B0503020204020204" pitchFamily="34" charset="-122"/>
              </a:rPr>
              <a:t>F</a:t>
            </a:r>
            <a:r>
              <a:rPr lang="zh-CN" altLang="en-US" sz="1300">
                <a:solidFill>
                  <a:srgbClr val="2F6096"/>
                </a:solidFill>
                <a:latin typeface="Microsoft YaHei" panose="020B0503020204020204" pitchFamily="34" charset="-122"/>
                <a:ea typeface="微软雅黑" panose="020B0503020204020204" pitchFamily="34" charset="-122"/>
              </a:rPr>
              <a:t>比与相关系数平方单调等价。</a:t>
            </a:r>
          </a:p>
        </p:txBody>
      </p:sp>
      <p:sp>
        <p:nvSpPr>
          <p:cNvPr id="36" name="文本框 35">
            <a:extLst>
              <a:ext uri="{FF2B5EF4-FFF2-40B4-BE49-F238E27FC236}">
                <a16:creationId xmlns:a16="http://schemas.microsoft.com/office/drawing/2014/main" id="{9F3EF18D-7F11-027F-6E7A-60212C24DFF2}"/>
              </a:ext>
            </a:extLst>
          </p:cNvPr>
          <p:cNvSpPr txBox="1"/>
          <p:nvPr/>
        </p:nvSpPr>
        <p:spPr>
          <a:xfrm>
            <a:off x="622300" y="6286500"/>
            <a:ext cx="10922000" cy="228600"/>
          </a:xfrm>
          <a:prstGeom prst="rect">
            <a:avLst/>
          </a:prstGeom>
          <a:noFill/>
        </p:spPr>
        <p:txBody>
          <a:bodyPr vert="horz" wrap="square" lIns="0" tIns="0" rIns="0" bIns="0" rtlCol="0">
            <a:noAutofit/>
          </a:bodyPr>
          <a:lstStyle/>
          <a:p>
            <a:r>
              <a:rPr lang="zh-CN" altLang="en-US" sz="1100">
                <a:solidFill>
                  <a:srgbClr val="2F6096"/>
                </a:solidFill>
                <a:latin typeface="Microsoft YaHei" panose="020B0503020204020204" pitchFamily="34" charset="-122"/>
                <a:ea typeface="微软雅黑" panose="020B0503020204020204" pitchFamily="34" charset="-122"/>
              </a:rPr>
              <a:t>项目</a:t>
            </a:r>
            <a:r>
              <a:rPr lang="en-US" altLang="zh-CN" sz="1100">
                <a:solidFill>
                  <a:srgbClr val="2F6096"/>
                </a:solidFill>
                <a:latin typeface="Microsoft YaHei" panose="020B0503020204020204" pitchFamily="34" charset="-122"/>
                <a:ea typeface="微软雅黑" panose="020B0503020204020204" pitchFamily="34" charset="-122"/>
              </a:rPr>
              <a:t>LRE</a:t>
            </a:r>
            <a:r>
              <a:rPr lang="zh-CN" altLang="en-US" sz="1100">
                <a:solidFill>
                  <a:srgbClr val="2F6096"/>
                </a:solidFill>
                <a:latin typeface="Microsoft YaHei" panose="020B0503020204020204" pitchFamily="34" charset="-122"/>
                <a:ea typeface="微软雅黑" panose="020B0503020204020204" pitchFamily="34" charset="-122"/>
              </a:rPr>
              <a:t>不等于完整复现</a:t>
            </a:r>
            <a:r>
              <a:rPr lang="en-US" altLang="zh-CN" sz="1100">
                <a:solidFill>
                  <a:srgbClr val="2F6096"/>
                </a:solidFill>
                <a:latin typeface="Microsoft YaHei" panose="020B0503020204020204" pitchFamily="34" charset="-122"/>
                <a:ea typeface="微软雅黑" panose="020B0503020204020204" pitchFamily="34" charset="-122"/>
              </a:rPr>
              <a:t>Li</a:t>
            </a:r>
            <a:r>
              <a:rPr lang="zh-CN" altLang="en-US" sz="1100">
                <a:solidFill>
                  <a:srgbClr val="2F6096"/>
                </a:solidFill>
                <a:latin typeface="Microsoft YaHei" panose="020B0503020204020204" pitchFamily="34" charset="-122"/>
                <a:ea typeface="微软雅黑" panose="020B0503020204020204" pitchFamily="34" charset="-122"/>
              </a:rPr>
              <a:t>或</a:t>
            </a:r>
            <a:r>
              <a:rPr lang="en-US" altLang="zh-CN" sz="1100">
                <a:solidFill>
                  <a:srgbClr val="2F6096"/>
                </a:solidFill>
                <a:latin typeface="Microsoft YaHei" panose="020B0503020204020204" pitchFamily="34" charset="-122"/>
                <a:ea typeface="微软雅黑" panose="020B0503020204020204" pitchFamily="34" charset="-122"/>
              </a:rPr>
              <a:t>Park</a:t>
            </a:r>
            <a:r>
              <a:rPr lang="zh-CN" altLang="en-US" sz="1100">
                <a:solidFill>
                  <a:srgbClr val="2F6096"/>
                </a:solidFill>
                <a:latin typeface="Microsoft YaHei" panose="020B0503020204020204" pitchFamily="34" charset="-122"/>
                <a:ea typeface="微软雅黑" panose="020B0503020204020204" pitchFamily="34" charset="-122"/>
              </a:rPr>
              <a:t>原法。来源：</a:t>
            </a:r>
            <a:r>
              <a:rPr lang="en-US" altLang="zh-CN" sz="1100">
                <a:solidFill>
                  <a:srgbClr val="2F6096"/>
                </a:solidFill>
                <a:latin typeface="Microsoft YaHei" panose="020B0503020204020204" pitchFamily="34" charset="-122"/>
                <a:ea typeface="微软雅黑" panose="020B0503020204020204" pitchFamily="34" charset="-122"/>
              </a:rPr>
              <a:t>LS [182-104]</a:t>
            </a:r>
            <a:r>
              <a:rPr lang="zh-CN" altLang="en-US" sz="1100">
                <a:solidFill>
                  <a:srgbClr val="2F6096"/>
                </a:solidFill>
                <a:latin typeface="Microsoft YaHei" panose="020B0503020204020204" pitchFamily="34" charset="-122"/>
                <a:ea typeface="微软雅黑" panose="020B0503020204020204" pitchFamily="34" charset="-122"/>
              </a:rPr>
              <a:t>；</a:t>
            </a:r>
            <a:r>
              <a:rPr lang="en-US" altLang="zh-CN" sz="1100">
                <a:solidFill>
                  <a:srgbClr val="2F6096"/>
                </a:solidFill>
                <a:latin typeface="Microsoft YaHei" panose="020B0503020204020204" pitchFamily="34" charset="-122"/>
                <a:ea typeface="微软雅黑" panose="020B0503020204020204" pitchFamily="34" charset="-122"/>
              </a:rPr>
              <a:t>Li [182-107]</a:t>
            </a:r>
            <a:r>
              <a:rPr lang="zh-CN" altLang="en-US" sz="1100">
                <a:solidFill>
                  <a:srgbClr val="2F6096"/>
                </a:solidFill>
                <a:latin typeface="Microsoft YaHei" panose="020B0503020204020204" pitchFamily="34" charset="-122"/>
                <a:ea typeface="微软雅黑" panose="020B0503020204020204" pitchFamily="34" charset="-122"/>
              </a:rPr>
              <a:t>；</a:t>
            </a:r>
            <a:r>
              <a:rPr lang="en-US" altLang="zh-CN" sz="1100">
                <a:solidFill>
                  <a:srgbClr val="2F6096"/>
                </a:solidFill>
                <a:latin typeface="Microsoft YaHei" panose="020B0503020204020204" pitchFamily="34" charset="-122"/>
                <a:ea typeface="微软雅黑" panose="020B0503020204020204" pitchFamily="34" charset="-122"/>
              </a:rPr>
              <a:t>Park [182-115]</a:t>
            </a:r>
            <a:r>
              <a:rPr lang="zh-CN" altLang="en-US" sz="1100">
                <a:solidFill>
                  <a:srgbClr val="2F6096"/>
                </a:solidFill>
                <a:latin typeface="Microsoft YaHei"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13558149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en-US" altLang="zh-CN" sz="2400" b="1" spc="-150">
                <a:solidFill>
                  <a:srgbClr val="FFFFFF"/>
                </a:solidFill>
                <a:latin typeface="汉仪文润宋韵 U"/>
                <a:ea typeface="汉仪文润宋韵 U"/>
                <a:cs typeface="汉仪文润宋韵 U"/>
              </a:rPr>
              <a:t>C  </a:t>
            </a:r>
            <a:r>
              <a:rPr lang="zh-CN" altLang="en-US" sz="2400" b="1" spc="-150">
                <a:solidFill>
                  <a:srgbClr val="FFFFFF"/>
                </a:solidFill>
                <a:latin typeface="汉仪文润宋韵 U"/>
                <a:ea typeface="汉仪文润宋韵 U"/>
                <a:cs typeface="汉仪文润宋韵 U"/>
              </a:rPr>
              <a:t>改用统计量、间距或构造差异</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已有方法及其发展关系</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01</a:t>
            </a:r>
            <a:endParaRPr sz="1800">
              <a:latin typeface="Microsoft YaHei"/>
            </a:endParaRPr>
          </a:p>
        </p:txBody>
      </p:sp>
      <p:sp>
        <p:nvSpPr>
          <p:cNvPr id="6" name="文本框 5">
            <a:extLst>
              <a:ext uri="{FF2B5EF4-FFF2-40B4-BE49-F238E27FC236}">
                <a16:creationId xmlns:a16="http://schemas.microsoft.com/office/drawing/2014/main" id="{15A7D3A0-D900-C788-4169-A5B9277F249C}"/>
              </a:ext>
            </a:extLst>
          </p:cNvPr>
          <p:cNvSpPr txBox="1"/>
          <p:nvPr/>
        </p:nvSpPr>
        <p:spPr>
          <a:xfrm>
            <a:off x="622300" y="1638300"/>
            <a:ext cx="10922000" cy="406400"/>
          </a:xfrm>
          <a:prstGeom prst="rect">
            <a:avLst/>
          </a:prstGeom>
          <a:noFill/>
        </p:spPr>
        <p:txBody>
          <a:bodyPr vert="horz" wrap="square" lIns="38100" tIns="25400" rIns="38100" bIns="25400" rtlCol="0" anchor="t">
            <a:noAutofit/>
          </a:bodyPr>
          <a:lstStyle/>
          <a:p>
            <a:pPr>
              <a:lnSpc>
                <a:spcPts val="2006"/>
              </a:lnSpc>
            </a:pPr>
            <a:r>
              <a:rPr lang="zh-CN" altLang="en-US" sz="1700">
                <a:solidFill>
                  <a:srgbClr val="2F6096"/>
                </a:solidFill>
                <a:latin typeface="Microsoft YaHei" panose="020B0503020204020204" pitchFamily="34" charset="-122"/>
                <a:ea typeface="微软雅黑" panose="020B0503020204020204" pitchFamily="34" charset="-122"/>
              </a:rPr>
              <a:t>这三支分别采用统计量匹配、概率间距和尺度伪估计差异作为估计依据。</a:t>
            </a:r>
          </a:p>
        </p:txBody>
      </p:sp>
      <p:sp>
        <p:nvSpPr>
          <p:cNvPr id="10" name="fig1-pwm">
            <a:extLst>
              <a:ext uri="{FF2B5EF4-FFF2-40B4-BE49-F238E27FC236}">
                <a16:creationId xmlns:a16="http://schemas.microsoft.com/office/drawing/2014/main" id="{8F6A1F28-3F96-720B-92D4-29EDB54A21C1}"/>
              </a:ext>
            </a:extLst>
          </p:cNvPr>
          <p:cNvSpPr/>
          <p:nvPr/>
        </p:nvSpPr>
        <p:spPr>
          <a:xfrm>
            <a:off x="622300" y="2209800"/>
            <a:ext cx="3556000" cy="812800"/>
          </a:xfrm>
          <a:prstGeom prst="roundRect">
            <a:avLst>
              <a:gd name="adj" fmla="val 7000"/>
            </a:avLst>
          </a:prstGeom>
          <a:solidFill>
            <a:srgbClr val="EAF0F6"/>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2006"/>
              </a:lnSpc>
            </a:pPr>
            <a:r>
              <a:rPr lang="en-US" altLang="zh-CN" sz="1700">
                <a:solidFill>
                  <a:srgbClr val="203040"/>
                </a:solidFill>
                <a:latin typeface="Microsoft YaHei" panose="020B0503020204020204" pitchFamily="34" charset="-122"/>
                <a:ea typeface="微软雅黑" panose="020B0503020204020204" pitchFamily="34" charset="-122"/>
              </a:rPr>
              <a:t>PWM </a:t>
            </a:r>
            <a:r>
              <a:rPr lang="zh-CN" altLang="en-US" sz="1700">
                <a:solidFill>
                  <a:srgbClr val="203040"/>
                </a:solidFill>
                <a:latin typeface="Microsoft YaHei" panose="020B0503020204020204" pitchFamily="34" charset="-122"/>
                <a:ea typeface="微软雅黑" panose="020B0503020204020204" pitchFamily="34" charset="-122"/>
              </a:rPr>
              <a:t>概率加权矩</a:t>
            </a:r>
          </a:p>
          <a:p>
            <a:pPr algn="ctr">
              <a:lnSpc>
                <a:spcPts val="2006"/>
              </a:lnSpc>
            </a:pPr>
            <a:r>
              <a:rPr lang="en-US" altLang="zh-CN" sz="1700">
                <a:solidFill>
                  <a:srgbClr val="203040"/>
                </a:solidFill>
                <a:latin typeface="Microsoft YaHei" panose="020B0503020204020204" pitchFamily="34" charset="-122"/>
                <a:ea typeface="微软雅黑" panose="020B0503020204020204" pitchFamily="34" charset="-122"/>
              </a:rPr>
              <a:t>Greenwood</a:t>
            </a:r>
            <a:r>
              <a:rPr lang="zh-CN" altLang="en-US" sz="1700">
                <a:solidFill>
                  <a:srgbClr val="203040"/>
                </a:solidFill>
                <a:latin typeface="Microsoft YaHei" panose="020B0503020204020204" pitchFamily="34" charset="-122"/>
                <a:ea typeface="微软雅黑" panose="020B0503020204020204" pitchFamily="34" charset="-122"/>
              </a:rPr>
              <a:t>等 </a:t>
            </a:r>
            <a:r>
              <a:rPr lang="en-US" altLang="zh-CN" sz="1700">
                <a:solidFill>
                  <a:srgbClr val="203040"/>
                </a:solidFill>
                <a:latin typeface="Microsoft YaHei" panose="020B0503020204020204" pitchFamily="34" charset="-122"/>
                <a:ea typeface="微软雅黑" panose="020B0503020204020204" pitchFamily="34" charset="-122"/>
              </a:rPr>
              <a:t>· 1979</a:t>
            </a:r>
            <a:endParaRPr lang="zh-CN" altLang="en-US" sz="1700">
              <a:solidFill>
                <a:srgbClr val="203040"/>
              </a:solidFill>
              <a:latin typeface="Microsoft YaHei" panose="020B0503020204020204" pitchFamily="34" charset="-122"/>
              <a:ea typeface="微软雅黑" panose="020B0503020204020204" pitchFamily="34" charset="-122"/>
            </a:endParaRPr>
          </a:p>
        </p:txBody>
      </p:sp>
      <p:sp>
        <p:nvSpPr>
          <p:cNvPr id="14" name="fig1-lm">
            <a:extLst>
              <a:ext uri="{FF2B5EF4-FFF2-40B4-BE49-F238E27FC236}">
                <a16:creationId xmlns:a16="http://schemas.microsoft.com/office/drawing/2014/main" id="{79657A67-AAA1-E8B8-BBAB-E8676A07F1B4}"/>
              </a:ext>
            </a:extLst>
          </p:cNvPr>
          <p:cNvSpPr/>
          <p:nvPr/>
        </p:nvSpPr>
        <p:spPr>
          <a:xfrm>
            <a:off x="7670800" y="2209800"/>
            <a:ext cx="3873500" cy="812800"/>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2006"/>
              </a:lnSpc>
            </a:pPr>
            <a:r>
              <a:rPr lang="en-US" altLang="zh-CN" sz="1700">
                <a:solidFill>
                  <a:srgbClr val="203040"/>
                </a:solidFill>
                <a:latin typeface="Microsoft YaHei" panose="020B0503020204020204" pitchFamily="34" charset="-122"/>
                <a:ea typeface="微软雅黑" panose="020B0503020204020204" pitchFamily="34" charset="-122"/>
              </a:rPr>
              <a:t>LM L</a:t>
            </a:r>
            <a:r>
              <a:rPr lang="zh-CN" altLang="en-US" sz="1700">
                <a:solidFill>
                  <a:srgbClr val="203040"/>
                </a:solidFill>
                <a:latin typeface="Microsoft YaHei" panose="020B0503020204020204" pitchFamily="34" charset="-122"/>
                <a:ea typeface="微软雅黑" panose="020B0503020204020204" pitchFamily="34" charset="-122"/>
              </a:rPr>
              <a:t>矩估计</a:t>
            </a:r>
          </a:p>
          <a:p>
            <a:pPr algn="ctr">
              <a:lnSpc>
                <a:spcPts val="2006"/>
              </a:lnSpc>
            </a:pPr>
            <a:r>
              <a:rPr lang="en-US" altLang="zh-CN" sz="1700">
                <a:solidFill>
                  <a:srgbClr val="203040"/>
                </a:solidFill>
                <a:latin typeface="Microsoft YaHei" panose="020B0503020204020204" pitchFamily="34" charset="-122"/>
                <a:ea typeface="微软雅黑" panose="020B0503020204020204" pitchFamily="34" charset="-122"/>
              </a:rPr>
              <a:t>Hosking · 1990</a:t>
            </a:r>
            <a:endParaRPr lang="zh-CN" altLang="en-US" sz="1700">
              <a:solidFill>
                <a:srgbClr val="203040"/>
              </a:solidFill>
              <a:latin typeface="Microsoft YaHei" panose="020B0503020204020204" pitchFamily="34" charset="-122"/>
              <a:ea typeface="微软雅黑" panose="020B0503020204020204" pitchFamily="34" charset="-122"/>
            </a:endParaRPr>
          </a:p>
        </p:txBody>
      </p:sp>
      <p:sp>
        <p:nvSpPr>
          <p:cNvPr id="15" name="fig1-boundary">
            <a:extLst>
              <a:ext uri="{FF2B5EF4-FFF2-40B4-BE49-F238E27FC236}">
                <a16:creationId xmlns:a16="http://schemas.microsoft.com/office/drawing/2014/main" id="{7068ACF1-1F3E-F83A-8143-3AE0A34E1B55}"/>
              </a:ext>
            </a:extLst>
          </p:cNvPr>
          <p:cNvSpPr/>
          <p:nvPr/>
        </p:nvSpPr>
        <p:spPr>
          <a:xfrm>
            <a:off x="622300" y="3378200"/>
            <a:ext cx="3556000" cy="812800"/>
          </a:xfrm>
          <a:prstGeom prst="roundRect">
            <a:avLst>
              <a:gd name="adj" fmla="val 7000"/>
            </a:avLst>
          </a:prstGeom>
          <a:solidFill>
            <a:srgbClr val="FFFFFF"/>
          </a:solidFill>
          <a:ln w="12700">
            <a:solidFill>
              <a:srgbClr val="63758A"/>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2006"/>
              </a:lnSpc>
            </a:pPr>
            <a:r>
              <a:rPr lang="zh-CN" altLang="en-US" sz="1700">
                <a:solidFill>
                  <a:srgbClr val="203040"/>
                </a:solidFill>
                <a:latin typeface="Microsoft YaHei" panose="020B0503020204020204" pitchFamily="34" charset="-122"/>
                <a:ea typeface="微软雅黑" panose="020B0503020204020204" pitchFamily="34" charset="-122"/>
              </a:rPr>
              <a:t>原始似然的边界困难</a:t>
            </a:r>
          </a:p>
        </p:txBody>
      </p:sp>
      <p:sp>
        <p:nvSpPr>
          <p:cNvPr id="16" name="fig1-mps">
            <a:extLst>
              <a:ext uri="{FF2B5EF4-FFF2-40B4-BE49-F238E27FC236}">
                <a16:creationId xmlns:a16="http://schemas.microsoft.com/office/drawing/2014/main" id="{F9B87335-C6B8-E869-E904-C4FCC2939D7E}"/>
              </a:ext>
            </a:extLst>
          </p:cNvPr>
          <p:cNvSpPr/>
          <p:nvPr/>
        </p:nvSpPr>
        <p:spPr>
          <a:xfrm>
            <a:off x="7670800" y="3378200"/>
            <a:ext cx="3873500" cy="812800"/>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2006"/>
              </a:lnSpc>
            </a:pPr>
            <a:r>
              <a:rPr lang="en-US" altLang="zh-CN" sz="1700">
                <a:solidFill>
                  <a:srgbClr val="203040"/>
                </a:solidFill>
                <a:latin typeface="Microsoft YaHei" panose="020B0503020204020204" pitchFamily="34" charset="-122"/>
                <a:ea typeface="微软雅黑" panose="020B0503020204020204" pitchFamily="34" charset="-122"/>
              </a:rPr>
              <a:t>MPS </a:t>
            </a:r>
            <a:r>
              <a:rPr lang="zh-CN" altLang="en-US" sz="1700">
                <a:solidFill>
                  <a:srgbClr val="203040"/>
                </a:solidFill>
                <a:latin typeface="Microsoft YaHei" panose="020B0503020204020204" pitchFamily="34" charset="-122"/>
                <a:ea typeface="微软雅黑" panose="020B0503020204020204" pitchFamily="34" charset="-122"/>
              </a:rPr>
              <a:t>最大乘积间距估计</a:t>
            </a:r>
          </a:p>
          <a:p>
            <a:pPr algn="ctr">
              <a:lnSpc>
                <a:spcPts val="2006"/>
              </a:lnSpc>
            </a:pPr>
            <a:r>
              <a:rPr lang="en-US" altLang="zh-CN" sz="1700">
                <a:solidFill>
                  <a:srgbClr val="203040"/>
                </a:solidFill>
                <a:latin typeface="Microsoft YaHei" panose="020B0503020204020204" pitchFamily="34" charset="-122"/>
                <a:ea typeface="微软雅黑" panose="020B0503020204020204" pitchFamily="34" charset="-122"/>
              </a:rPr>
              <a:t>Cheng &amp; Amin · 1983</a:t>
            </a:r>
            <a:endParaRPr lang="zh-CN" altLang="en-US" sz="1700">
              <a:solidFill>
                <a:srgbClr val="203040"/>
              </a:solidFill>
              <a:latin typeface="Microsoft YaHei" panose="020B0503020204020204" pitchFamily="34" charset="-122"/>
              <a:ea typeface="微软雅黑" panose="020B0503020204020204" pitchFamily="34" charset="-122"/>
            </a:endParaRPr>
          </a:p>
        </p:txBody>
      </p:sp>
      <p:sp>
        <p:nvSpPr>
          <p:cNvPr id="17" name="fig1-cdf">
            <a:extLst>
              <a:ext uri="{FF2B5EF4-FFF2-40B4-BE49-F238E27FC236}">
                <a16:creationId xmlns:a16="http://schemas.microsoft.com/office/drawing/2014/main" id="{76486402-F8C3-1669-77B5-09F0CAB966C1}"/>
              </a:ext>
            </a:extLst>
          </p:cNvPr>
          <p:cNvSpPr/>
          <p:nvPr/>
        </p:nvSpPr>
        <p:spPr>
          <a:xfrm>
            <a:off x="622300" y="4546600"/>
            <a:ext cx="3556000" cy="812800"/>
          </a:xfrm>
          <a:prstGeom prst="roundRect">
            <a:avLst>
              <a:gd name="adj" fmla="val 7000"/>
            </a:avLst>
          </a:prstGeom>
          <a:solidFill>
            <a:srgbClr val="FFFFFF"/>
          </a:solidFill>
          <a:ln w="12700">
            <a:solidFill>
              <a:srgbClr val="63758A"/>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2006"/>
              </a:lnSpc>
            </a:pPr>
            <a:r>
              <a:rPr lang="zh-CN" altLang="en-US" sz="1700">
                <a:solidFill>
                  <a:srgbClr val="203040"/>
                </a:solidFill>
                <a:latin typeface="Microsoft YaHei" panose="020B0503020204020204" pitchFamily="34" charset="-122"/>
                <a:ea typeface="微软雅黑" panose="020B0503020204020204" pitchFamily="34" charset="-122"/>
              </a:rPr>
              <a:t>样本＋分布概率关系</a:t>
            </a:r>
          </a:p>
        </p:txBody>
      </p:sp>
      <p:sp>
        <p:nvSpPr>
          <p:cNvPr id="18" name="fig1-mdm">
            <a:extLst>
              <a:ext uri="{FF2B5EF4-FFF2-40B4-BE49-F238E27FC236}">
                <a16:creationId xmlns:a16="http://schemas.microsoft.com/office/drawing/2014/main" id="{A8026710-239E-5E15-6502-5B237C7F989E}"/>
              </a:ext>
            </a:extLst>
          </p:cNvPr>
          <p:cNvSpPr/>
          <p:nvPr/>
        </p:nvSpPr>
        <p:spPr>
          <a:xfrm>
            <a:off x="7670800" y="4546600"/>
            <a:ext cx="3873500" cy="812800"/>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2006"/>
              </a:lnSpc>
            </a:pPr>
            <a:r>
              <a:rPr lang="en-US" altLang="zh-CN" sz="1700">
                <a:solidFill>
                  <a:srgbClr val="203040"/>
                </a:solidFill>
                <a:latin typeface="Microsoft YaHei" panose="020B0503020204020204" pitchFamily="34" charset="-122"/>
                <a:ea typeface="微软雅黑" panose="020B0503020204020204" pitchFamily="34" charset="-122"/>
              </a:rPr>
              <a:t>MDM </a:t>
            </a:r>
            <a:r>
              <a:rPr lang="zh-CN" altLang="en-US" sz="1700">
                <a:solidFill>
                  <a:srgbClr val="203040"/>
                </a:solidFill>
                <a:latin typeface="Microsoft YaHei" panose="020B0503020204020204" pitchFamily="34" charset="-122"/>
                <a:ea typeface="微软雅黑" panose="020B0503020204020204" pitchFamily="34" charset="-122"/>
              </a:rPr>
              <a:t>最小差异法</a:t>
            </a:r>
          </a:p>
          <a:p>
            <a:pPr algn="ctr">
              <a:lnSpc>
                <a:spcPts val="2006"/>
              </a:lnSpc>
            </a:pPr>
            <a:r>
              <a:rPr lang="en-US" altLang="zh-CN" sz="1700">
                <a:solidFill>
                  <a:srgbClr val="203040"/>
                </a:solidFill>
                <a:latin typeface="Microsoft YaHei" panose="020B0503020204020204" pitchFamily="34" charset="-122"/>
                <a:ea typeface="微软雅黑" panose="020B0503020204020204" pitchFamily="34" charset="-122"/>
              </a:rPr>
              <a:t>Xie</a:t>
            </a:r>
            <a:r>
              <a:rPr lang="zh-CN" altLang="en-US" sz="1700">
                <a:solidFill>
                  <a:srgbClr val="203040"/>
                </a:solidFill>
                <a:latin typeface="Microsoft YaHei" panose="020B0503020204020204" pitchFamily="34" charset="-122"/>
                <a:ea typeface="微软雅黑" panose="020B0503020204020204" pitchFamily="34" charset="-122"/>
              </a:rPr>
              <a:t>等 </a:t>
            </a:r>
            <a:r>
              <a:rPr lang="en-US" altLang="zh-CN" sz="1700">
                <a:solidFill>
                  <a:srgbClr val="203040"/>
                </a:solidFill>
                <a:latin typeface="Microsoft YaHei" panose="020B0503020204020204" pitchFamily="34" charset="-122"/>
                <a:ea typeface="微软雅黑" panose="020B0503020204020204" pitchFamily="34" charset="-122"/>
              </a:rPr>
              <a:t>· 2022/2023</a:t>
            </a:r>
            <a:endParaRPr lang="zh-CN" altLang="en-US" sz="1700">
              <a:solidFill>
                <a:srgbClr val="203040"/>
              </a:solidFill>
              <a:latin typeface="Microsoft YaHei" panose="020B0503020204020204" pitchFamily="34" charset="-122"/>
              <a:ea typeface="微软雅黑" panose="020B0503020204020204" pitchFamily="34" charset="-122"/>
            </a:endParaRPr>
          </a:p>
        </p:txBody>
      </p:sp>
      <p:sp>
        <p:nvSpPr>
          <p:cNvPr id="19" name="fig1-text_edge9">
            <a:extLst>
              <a:ext uri="{FF2B5EF4-FFF2-40B4-BE49-F238E27FC236}">
                <a16:creationId xmlns:a16="http://schemas.microsoft.com/office/drawing/2014/main" id="{2FE5EADD-ADFB-A8B8-0F8A-2B8E9D08ED75}"/>
              </a:ext>
            </a:extLst>
          </p:cNvPr>
          <p:cNvSpPr txBox="1"/>
          <p:nvPr/>
        </p:nvSpPr>
        <p:spPr>
          <a:xfrm>
            <a:off x="4597400" y="2057400"/>
            <a:ext cx="2730500" cy="546100"/>
          </a:xfrm>
          <a:prstGeom prst="rect">
            <a:avLst/>
          </a:prstGeom>
          <a:noFill/>
        </p:spPr>
        <p:txBody>
          <a:bodyPr vert="horz" wrap="square" lIns="38100" tIns="25400" rIns="38100" bIns="25400" rtlCol="0" anchor="ctr">
            <a:noAutofit/>
          </a:bodyPr>
          <a:lstStyle/>
          <a:p>
            <a:pPr algn="ctr">
              <a:lnSpc>
                <a:spcPts val="1770"/>
              </a:lnSpc>
            </a:pPr>
            <a:r>
              <a:rPr lang="zh-CN" altLang="en-US" sz="1500">
                <a:solidFill>
                  <a:srgbClr val="304559"/>
                </a:solidFill>
                <a:latin typeface="Microsoft YaHei" panose="020B0503020204020204" pitchFamily="34" charset="-122"/>
                <a:ea typeface="微软雅黑" panose="020B0503020204020204" pitchFamily="34" charset="-122"/>
              </a:rPr>
              <a:t>线性组合</a:t>
            </a:r>
          </a:p>
          <a:p>
            <a:pPr algn="ctr">
              <a:lnSpc>
                <a:spcPts val="1770"/>
              </a:lnSpc>
            </a:pPr>
            <a:r>
              <a:rPr lang="en-US" altLang="zh-CN" sz="1500">
                <a:solidFill>
                  <a:srgbClr val="304559"/>
                </a:solidFill>
                <a:latin typeface="Microsoft YaHei" panose="020B0503020204020204" pitchFamily="34" charset="-122"/>
                <a:ea typeface="微软雅黑" panose="020B0503020204020204" pitchFamily="34" charset="-122"/>
              </a:rPr>
              <a:t>L</a:t>
            </a:r>
            <a:r>
              <a:rPr lang="zh-CN" altLang="en-US" sz="1500">
                <a:solidFill>
                  <a:srgbClr val="304559"/>
                </a:solidFill>
                <a:latin typeface="Microsoft YaHei" panose="020B0503020204020204" pitchFamily="34" charset="-122"/>
                <a:ea typeface="微软雅黑" panose="020B0503020204020204" pitchFamily="34" charset="-122"/>
              </a:rPr>
              <a:t>矩匹配</a:t>
            </a:r>
          </a:p>
        </p:txBody>
      </p:sp>
      <p:sp>
        <p:nvSpPr>
          <p:cNvPr id="20" name="fig1-text_edge10">
            <a:extLst>
              <a:ext uri="{FF2B5EF4-FFF2-40B4-BE49-F238E27FC236}">
                <a16:creationId xmlns:a16="http://schemas.microsoft.com/office/drawing/2014/main" id="{21C0CC91-0314-A0B8-A849-4FA030309BE7}"/>
              </a:ext>
            </a:extLst>
          </p:cNvPr>
          <p:cNvSpPr txBox="1"/>
          <p:nvPr/>
        </p:nvSpPr>
        <p:spPr>
          <a:xfrm>
            <a:off x="4597400" y="3327400"/>
            <a:ext cx="2730500" cy="444500"/>
          </a:xfrm>
          <a:prstGeom prst="rect">
            <a:avLst/>
          </a:prstGeom>
          <a:noFill/>
        </p:spPr>
        <p:txBody>
          <a:bodyPr vert="horz" wrap="square" lIns="38100" tIns="25400" rIns="38100" bIns="25400" rtlCol="0" anchor="ctr">
            <a:noAutofit/>
          </a:bodyPr>
          <a:lstStyle/>
          <a:p>
            <a:pPr algn="ctr">
              <a:lnSpc>
                <a:spcPts val="1770"/>
              </a:lnSpc>
            </a:pPr>
            <a:r>
              <a:rPr lang="zh-CN" altLang="en-US" sz="1500">
                <a:solidFill>
                  <a:srgbClr val="304559"/>
                </a:solidFill>
                <a:latin typeface="Microsoft YaHei" panose="020B0503020204020204" pitchFamily="34" charset="-122"/>
                <a:ea typeface="微软雅黑" panose="020B0503020204020204" pitchFamily="34" charset="-122"/>
              </a:rPr>
              <a:t>改用间距乘积</a:t>
            </a:r>
          </a:p>
        </p:txBody>
      </p:sp>
      <p:sp>
        <p:nvSpPr>
          <p:cNvPr id="21" name="fig1-text_edge11">
            <a:extLst>
              <a:ext uri="{FF2B5EF4-FFF2-40B4-BE49-F238E27FC236}">
                <a16:creationId xmlns:a16="http://schemas.microsoft.com/office/drawing/2014/main" id="{7C4BB7F2-9BC5-7689-AFB0-B4C55F3E957D}"/>
              </a:ext>
            </a:extLst>
          </p:cNvPr>
          <p:cNvSpPr txBox="1"/>
          <p:nvPr/>
        </p:nvSpPr>
        <p:spPr>
          <a:xfrm>
            <a:off x="4597400" y="4394200"/>
            <a:ext cx="2730500" cy="546100"/>
          </a:xfrm>
          <a:prstGeom prst="rect">
            <a:avLst/>
          </a:prstGeom>
          <a:noFill/>
        </p:spPr>
        <p:txBody>
          <a:bodyPr vert="horz" wrap="square" lIns="38100" tIns="25400" rIns="38100" bIns="25400" rtlCol="0" anchor="ctr">
            <a:noAutofit/>
          </a:bodyPr>
          <a:lstStyle/>
          <a:p>
            <a:pPr algn="ctr">
              <a:lnSpc>
                <a:spcPts val="1770"/>
              </a:lnSpc>
            </a:pPr>
            <a:r>
              <a:rPr lang="zh-CN" altLang="en-US" sz="1500">
                <a:solidFill>
                  <a:srgbClr val="304559"/>
                </a:solidFill>
                <a:latin typeface="Microsoft YaHei" panose="020B0503020204020204" pitchFamily="34" charset="-122"/>
                <a:ea typeface="微软雅黑" panose="020B0503020204020204" pitchFamily="34" charset="-122"/>
              </a:rPr>
              <a:t>小样本估计</a:t>
            </a:r>
          </a:p>
          <a:p>
            <a:pPr algn="ctr">
              <a:lnSpc>
                <a:spcPts val="1770"/>
              </a:lnSpc>
            </a:pPr>
            <a:r>
              <a:rPr lang="zh-CN" altLang="en-US" sz="1500">
                <a:solidFill>
                  <a:srgbClr val="304559"/>
                </a:solidFill>
                <a:latin typeface="Microsoft YaHei" panose="020B0503020204020204" pitchFamily="34" charset="-122"/>
                <a:ea typeface="微软雅黑" panose="020B0503020204020204" pitchFamily="34" charset="-122"/>
              </a:rPr>
              <a:t>构造一致性准则</a:t>
            </a:r>
          </a:p>
        </p:txBody>
      </p:sp>
      <p:sp>
        <p:nvSpPr>
          <p:cNvPr id="22" name="panel-description">
            <a:extLst>
              <a:ext uri="{FF2B5EF4-FFF2-40B4-BE49-F238E27FC236}">
                <a16:creationId xmlns:a16="http://schemas.microsoft.com/office/drawing/2014/main" id="{5F699454-EC62-E30A-ADE7-F8AE441FA17A}"/>
              </a:ext>
            </a:extLst>
          </p:cNvPr>
          <p:cNvSpPr txBox="1"/>
          <p:nvPr/>
        </p:nvSpPr>
        <p:spPr>
          <a:xfrm>
            <a:off x="622300" y="5524500"/>
            <a:ext cx="10922000" cy="609600"/>
          </a:xfrm>
          <a:prstGeom prst="rect">
            <a:avLst/>
          </a:prstGeom>
          <a:noFill/>
        </p:spPr>
        <p:txBody>
          <a:bodyPr vert="horz" wrap="square" lIns="38100" tIns="0" rIns="38100" bIns="0" rtlCol="0" anchor="t">
            <a:noAutofit/>
          </a:bodyPr>
          <a:lstStyle/>
          <a:p>
            <a:pPr>
              <a:lnSpc>
                <a:spcPts val="1888"/>
              </a:lnSpc>
            </a:pPr>
            <a:r>
              <a:rPr lang="en-US" altLang="zh-CN" sz="1600">
                <a:solidFill>
                  <a:srgbClr val="2F6096"/>
                </a:solidFill>
                <a:latin typeface="Microsoft YaHei" panose="020B0503020204020204" pitchFamily="34" charset="-122"/>
                <a:ea typeface="微软雅黑" panose="020B0503020204020204" pitchFamily="34" charset="-122"/>
              </a:rPr>
              <a:t>PWM</a:t>
            </a:r>
            <a:r>
              <a:rPr lang="zh-CN" altLang="en-US" sz="1600">
                <a:solidFill>
                  <a:srgbClr val="2F6096"/>
                </a:solidFill>
                <a:latin typeface="Microsoft YaHei" panose="020B0503020204020204" pitchFamily="34" charset="-122"/>
                <a:ea typeface="微软雅黑" panose="020B0503020204020204" pitchFamily="34" charset="-122"/>
              </a:rPr>
              <a:t>经线性组合形成</a:t>
            </a:r>
            <a:r>
              <a:rPr lang="en-US" altLang="zh-CN" sz="1600">
                <a:solidFill>
                  <a:srgbClr val="2F6096"/>
                </a:solidFill>
                <a:latin typeface="Microsoft YaHei" panose="020B0503020204020204" pitchFamily="34" charset="-122"/>
                <a:ea typeface="微软雅黑" panose="020B0503020204020204" pitchFamily="34" charset="-122"/>
              </a:rPr>
              <a:t>L</a:t>
            </a:r>
            <a:r>
              <a:rPr lang="zh-CN" altLang="en-US" sz="1600">
                <a:solidFill>
                  <a:srgbClr val="2F6096"/>
                </a:solidFill>
                <a:latin typeface="Microsoft YaHei" panose="020B0503020204020204" pitchFamily="34" charset="-122"/>
                <a:ea typeface="微软雅黑" panose="020B0503020204020204" pitchFamily="34" charset="-122"/>
              </a:rPr>
              <a:t>矩。</a:t>
            </a:r>
            <a:r>
              <a:rPr lang="en-US" altLang="zh-CN" sz="1600">
                <a:solidFill>
                  <a:srgbClr val="2F6096"/>
                </a:solidFill>
                <a:latin typeface="Microsoft YaHei" panose="020B0503020204020204" pitchFamily="34" charset="-122"/>
                <a:ea typeface="微软雅黑" panose="020B0503020204020204" pitchFamily="34" charset="-122"/>
              </a:rPr>
              <a:t>MPS</a:t>
            </a:r>
            <a:r>
              <a:rPr lang="zh-CN" altLang="en-US" sz="1600">
                <a:solidFill>
                  <a:srgbClr val="2F6096"/>
                </a:solidFill>
                <a:latin typeface="Microsoft YaHei" panose="020B0503020204020204" pitchFamily="34" charset="-122"/>
                <a:ea typeface="微软雅黑" panose="020B0503020204020204" pitchFamily="34" charset="-122"/>
              </a:rPr>
              <a:t>针对似然边界困难，转而使用概率间距。</a:t>
            </a:r>
          </a:p>
          <a:p>
            <a:pPr>
              <a:lnSpc>
                <a:spcPts val="1888"/>
              </a:lnSpc>
            </a:pPr>
            <a:r>
              <a:rPr lang="en-US" altLang="zh-CN" sz="1600">
                <a:solidFill>
                  <a:srgbClr val="2F6096"/>
                </a:solidFill>
                <a:latin typeface="Microsoft YaHei" panose="020B0503020204020204" pitchFamily="34" charset="-122"/>
                <a:ea typeface="微软雅黑" panose="020B0503020204020204" pitchFamily="34" charset="-122"/>
              </a:rPr>
              <a:t>MDM</a:t>
            </a:r>
            <a:r>
              <a:rPr lang="zh-CN" altLang="en-US" sz="1600">
                <a:solidFill>
                  <a:srgbClr val="2F6096"/>
                </a:solidFill>
                <a:latin typeface="Microsoft YaHei" panose="020B0503020204020204" pitchFamily="34" charset="-122"/>
                <a:ea typeface="微软雅黑" panose="020B0503020204020204" pitchFamily="34" charset="-122"/>
              </a:rPr>
              <a:t>使尺度伪估计尽量一致；现有来源未确认它直接继承</a:t>
            </a:r>
            <a:r>
              <a:rPr lang="en-US" altLang="zh-CN" sz="1600">
                <a:solidFill>
                  <a:srgbClr val="2F6096"/>
                </a:solidFill>
                <a:latin typeface="Microsoft YaHei" panose="020B0503020204020204" pitchFamily="34" charset="-122"/>
                <a:ea typeface="微软雅黑" panose="020B0503020204020204" pitchFamily="34" charset="-122"/>
              </a:rPr>
              <a:t>MPS</a:t>
            </a:r>
            <a:r>
              <a:rPr lang="zh-CN" altLang="en-US" sz="1600">
                <a:solidFill>
                  <a:srgbClr val="2F6096"/>
                </a:solidFill>
                <a:latin typeface="Microsoft YaHei" panose="020B0503020204020204" pitchFamily="34" charset="-122"/>
                <a:ea typeface="微软雅黑" panose="020B0503020204020204" pitchFamily="34" charset="-122"/>
              </a:rPr>
              <a:t>或某个</a:t>
            </a:r>
            <a:r>
              <a:rPr lang="en-US" altLang="zh-CN" sz="1600">
                <a:solidFill>
                  <a:srgbClr val="2F6096"/>
                </a:solidFill>
                <a:latin typeface="Microsoft YaHei" panose="020B0503020204020204" pitchFamily="34" charset="-122"/>
                <a:ea typeface="微软雅黑" panose="020B0503020204020204" pitchFamily="34" charset="-122"/>
              </a:rPr>
              <a:t>LS</a:t>
            </a:r>
            <a:r>
              <a:rPr lang="zh-CN" altLang="en-US" sz="1600">
                <a:solidFill>
                  <a:srgbClr val="2F6096"/>
                </a:solidFill>
                <a:latin typeface="Microsoft YaHei" panose="020B0503020204020204" pitchFamily="34" charset="-122"/>
                <a:ea typeface="微软雅黑" panose="020B0503020204020204" pitchFamily="34" charset="-122"/>
              </a:rPr>
              <a:t>版本。</a:t>
            </a:r>
          </a:p>
        </p:txBody>
      </p:sp>
      <p:sp>
        <p:nvSpPr>
          <p:cNvPr id="23" name="panel-citations">
            <a:extLst>
              <a:ext uri="{FF2B5EF4-FFF2-40B4-BE49-F238E27FC236}">
                <a16:creationId xmlns:a16="http://schemas.microsoft.com/office/drawing/2014/main" id="{3F542315-CAB6-4DC0-0C5C-79FDA95058C1}"/>
              </a:ext>
            </a:extLst>
          </p:cNvPr>
          <p:cNvSpPr txBox="1"/>
          <p:nvPr/>
        </p:nvSpPr>
        <p:spPr>
          <a:xfrm>
            <a:off x="622300" y="6350000"/>
            <a:ext cx="10922000" cy="177800"/>
          </a:xfrm>
          <a:prstGeom prst="rect">
            <a:avLst/>
          </a:prstGeom>
          <a:noFill/>
        </p:spPr>
        <p:txBody>
          <a:bodyPr vert="horz" wrap="square" lIns="38100" tIns="0" rIns="38100" bIns="0" rtlCol="0" anchor="t">
            <a:noAutofit/>
          </a:bodyPr>
          <a:lstStyle/>
          <a:p>
            <a:pPr>
              <a:lnSpc>
                <a:spcPts val="1180"/>
              </a:lnSpc>
            </a:pPr>
            <a:r>
              <a:rPr lang="en-US" altLang="zh-CN" sz="1000">
                <a:solidFill>
                  <a:srgbClr val="787878"/>
                </a:solidFill>
                <a:latin typeface="Microsoft YaHei" panose="020B0503020204020204" pitchFamily="34" charset="-122"/>
                <a:ea typeface="微软雅黑" panose="020B0503020204020204" pitchFamily="34" charset="-122"/>
              </a:rPr>
              <a:t>PWM</a:t>
            </a:r>
            <a:r>
              <a:rPr lang="zh-CN" altLang="en-US" sz="1000">
                <a:solidFill>
                  <a:srgbClr val="787878"/>
                </a:solidFill>
                <a:latin typeface="Microsoft YaHei" panose="020B0503020204020204" pitchFamily="34" charset="-122"/>
                <a:ea typeface="微软雅黑" panose="020B0503020204020204" pitchFamily="34" charset="-122"/>
              </a:rPr>
              <a:t>与</a:t>
            </a:r>
            <a:r>
              <a:rPr lang="en-US" altLang="zh-CN" sz="1000">
                <a:solidFill>
                  <a:srgbClr val="787878"/>
                </a:solidFill>
                <a:latin typeface="Microsoft YaHei" panose="020B0503020204020204" pitchFamily="34" charset="-122"/>
                <a:ea typeface="微软雅黑" panose="020B0503020204020204" pitchFamily="34" charset="-122"/>
              </a:rPr>
              <a:t>L</a:t>
            </a:r>
            <a:r>
              <a:rPr lang="zh-CN" altLang="en-US" sz="1000">
                <a:solidFill>
                  <a:srgbClr val="787878"/>
                </a:solidFill>
                <a:latin typeface="Microsoft YaHei" panose="020B0503020204020204" pitchFamily="34" charset="-122"/>
                <a:ea typeface="微软雅黑" panose="020B0503020204020204" pitchFamily="34" charset="-122"/>
              </a:rPr>
              <a:t>矩来源见报告</a:t>
            </a:r>
            <a:r>
              <a:rPr lang="en-US" altLang="zh-CN" sz="1000">
                <a:solidFill>
                  <a:srgbClr val="787878"/>
                </a:solidFill>
                <a:latin typeface="Microsoft YaHei" panose="020B0503020204020204" pitchFamily="34" charset="-122"/>
                <a:ea typeface="微软雅黑" panose="020B0503020204020204" pitchFamily="34" charset="-122"/>
              </a:rPr>
              <a:t>1.4</a:t>
            </a:r>
            <a:r>
              <a:rPr lang="zh-CN" altLang="en-US" sz="1000">
                <a:solidFill>
                  <a:srgbClr val="787878"/>
                </a:solidFill>
                <a:latin typeface="Microsoft YaHei" panose="020B0503020204020204" pitchFamily="34" charset="-122"/>
                <a:ea typeface="微软雅黑" panose="020B0503020204020204" pitchFamily="34" charset="-122"/>
              </a:rPr>
              <a:t>；</a:t>
            </a:r>
            <a:r>
              <a:rPr lang="en-US" altLang="zh-CN" sz="1000">
                <a:solidFill>
                  <a:srgbClr val="787878"/>
                </a:solidFill>
                <a:latin typeface="Microsoft YaHei" panose="020B0503020204020204" pitchFamily="34" charset="-122"/>
                <a:ea typeface="微软雅黑" panose="020B0503020204020204" pitchFamily="34" charset="-122"/>
              </a:rPr>
              <a:t>MPS [182-116]</a:t>
            </a:r>
            <a:r>
              <a:rPr lang="zh-CN" altLang="en-US" sz="1000">
                <a:solidFill>
                  <a:srgbClr val="787878"/>
                </a:solidFill>
                <a:latin typeface="Microsoft YaHei" panose="020B0503020204020204" pitchFamily="34" charset="-122"/>
                <a:ea typeface="微软雅黑" panose="020B0503020204020204" pitchFamily="34" charset="-122"/>
              </a:rPr>
              <a:t>；</a:t>
            </a:r>
            <a:r>
              <a:rPr lang="en-US" altLang="zh-CN" sz="1000">
                <a:solidFill>
                  <a:srgbClr val="787878"/>
                </a:solidFill>
                <a:latin typeface="Microsoft YaHei" panose="020B0503020204020204" pitchFamily="34" charset="-122"/>
                <a:ea typeface="微软雅黑" panose="020B0503020204020204" pitchFamily="34" charset="-122"/>
              </a:rPr>
              <a:t>MDM [182-030]</a:t>
            </a:r>
            <a:r>
              <a:rPr lang="zh-CN" altLang="en-US" sz="1000">
                <a:solidFill>
                  <a:srgbClr val="787878"/>
                </a:solidFill>
                <a:latin typeface="Microsoft YaHei" panose="020B0503020204020204" pitchFamily="34" charset="-122"/>
                <a:ea typeface="微软雅黑" panose="020B0503020204020204" pitchFamily="34" charset="-122"/>
              </a:rPr>
              <a:t>。虚线表示替代方案，不表示直接继承。</a:t>
            </a:r>
          </a:p>
        </p:txBody>
      </p:sp>
      <p:cxnSp>
        <p:nvCxnSpPr>
          <p:cNvPr id="24" name="fig1-edge9-1">
            <a:extLst>
              <a:ext uri="{FF2B5EF4-FFF2-40B4-BE49-F238E27FC236}">
                <a16:creationId xmlns:a16="http://schemas.microsoft.com/office/drawing/2014/main" id="{5AD1389F-87BD-7CBD-4E4F-EFCD6267C1A4}"/>
              </a:ext>
            </a:extLst>
          </p:cNvPr>
          <p:cNvCxnSpPr/>
          <p:nvPr/>
        </p:nvCxnSpPr>
        <p:spPr>
          <a:xfrm>
            <a:off x="4178300" y="2616200"/>
            <a:ext cx="34925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cxnSp>
      <p:cxnSp>
        <p:nvCxnSpPr>
          <p:cNvPr id="25" name="fig1-edge10-1">
            <a:extLst>
              <a:ext uri="{FF2B5EF4-FFF2-40B4-BE49-F238E27FC236}">
                <a16:creationId xmlns:a16="http://schemas.microsoft.com/office/drawing/2014/main" id="{A715074C-1841-F380-A20A-8A800110A0C6}"/>
              </a:ext>
            </a:extLst>
          </p:cNvPr>
          <p:cNvCxnSpPr/>
          <p:nvPr/>
        </p:nvCxnSpPr>
        <p:spPr>
          <a:xfrm>
            <a:off x="4178300" y="3784600"/>
            <a:ext cx="3492500" cy="0"/>
          </a:xfrm>
          <a:prstGeom prst="line">
            <a:avLst/>
          </a:prstGeom>
          <a:ln w="16510">
            <a:solidFill>
              <a:srgbClr val="52677A"/>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26" name="fig1-edge11-1">
            <a:extLst>
              <a:ext uri="{FF2B5EF4-FFF2-40B4-BE49-F238E27FC236}">
                <a16:creationId xmlns:a16="http://schemas.microsoft.com/office/drawing/2014/main" id="{EA4D0D7C-5E07-EAE9-939D-17D823644F7E}"/>
              </a:ext>
            </a:extLst>
          </p:cNvPr>
          <p:cNvCxnSpPr/>
          <p:nvPr/>
        </p:nvCxnSpPr>
        <p:spPr>
          <a:xfrm>
            <a:off x="4178300" y="4953000"/>
            <a:ext cx="34925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33197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en-US" altLang="zh-CN" sz="2400" b="1" spc="-150">
                <a:solidFill>
                  <a:srgbClr val="FFFFFF"/>
                </a:solidFill>
                <a:latin typeface="汉仪文润宋韵 U"/>
                <a:ea typeface="汉仪文润宋韵 U"/>
                <a:cs typeface="汉仪文润宋韵 U"/>
              </a:rPr>
              <a:t>D  </a:t>
            </a:r>
            <a:r>
              <a:rPr lang="zh-CN" altLang="en-US" sz="2400" b="1" spc="-150">
                <a:solidFill>
                  <a:srgbClr val="FFFFFF"/>
                </a:solidFill>
                <a:latin typeface="汉仪文润宋韵 U"/>
                <a:ea typeface="汉仪文润宋韵 U"/>
                <a:cs typeface="汉仪文润宋韵 U"/>
              </a:rPr>
              <a:t>组合与学习：相同困难，也可以采用不同构造</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已有方法及其发展关系</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01</a:t>
            </a:r>
            <a:endParaRPr sz="1800">
              <a:latin typeface="Microsoft YaHei"/>
            </a:endParaRPr>
          </a:p>
        </p:txBody>
      </p:sp>
      <p:sp>
        <p:nvSpPr>
          <p:cNvPr id="6" name="文本框 5">
            <a:extLst>
              <a:ext uri="{FF2B5EF4-FFF2-40B4-BE49-F238E27FC236}">
                <a16:creationId xmlns:a16="http://schemas.microsoft.com/office/drawing/2014/main" id="{E0A9E155-D276-0264-E48F-FD2B097FE8C3}"/>
              </a:ext>
            </a:extLst>
          </p:cNvPr>
          <p:cNvSpPr txBox="1"/>
          <p:nvPr/>
        </p:nvSpPr>
        <p:spPr>
          <a:xfrm>
            <a:off x="622300" y="1638300"/>
            <a:ext cx="10922000" cy="406400"/>
          </a:xfrm>
          <a:prstGeom prst="rect">
            <a:avLst/>
          </a:prstGeom>
          <a:noFill/>
        </p:spPr>
        <p:txBody>
          <a:bodyPr vert="horz" wrap="square" lIns="38100" tIns="25400" rIns="38100" bIns="25400" rtlCol="0" anchor="t">
            <a:noAutofit/>
          </a:bodyPr>
          <a:lstStyle/>
          <a:p>
            <a:pPr>
              <a:lnSpc>
                <a:spcPts val="2006"/>
              </a:lnSpc>
            </a:pPr>
            <a:r>
              <a:rPr lang="zh-CN" altLang="en-US" sz="1700">
                <a:solidFill>
                  <a:srgbClr val="2F6096"/>
                </a:solidFill>
                <a:latin typeface="Microsoft YaHei" panose="020B0503020204020204" pitchFamily="34" charset="-122"/>
                <a:ea typeface="微软雅黑" panose="020B0503020204020204" pitchFamily="34" charset="-122"/>
              </a:rPr>
              <a:t>组合已有统计关系、变换观测统计量，或直接学习参数映射，都形成了新的构造。</a:t>
            </a:r>
          </a:p>
        </p:txBody>
      </p:sp>
      <p:sp>
        <p:nvSpPr>
          <p:cNvPr id="18" name="fig1-min">
            <a:extLst>
              <a:ext uri="{FF2B5EF4-FFF2-40B4-BE49-F238E27FC236}">
                <a16:creationId xmlns:a16="http://schemas.microsoft.com/office/drawing/2014/main" id="{F4A32D05-D5F8-C7FA-7B79-CBBC460EAB28}"/>
              </a:ext>
            </a:extLst>
          </p:cNvPr>
          <p:cNvSpPr/>
          <p:nvPr/>
        </p:nvSpPr>
        <p:spPr>
          <a:xfrm>
            <a:off x="622300" y="2590800"/>
            <a:ext cx="3302000" cy="850900"/>
          </a:xfrm>
          <a:prstGeom prst="roundRect">
            <a:avLst>
              <a:gd name="adj" fmla="val 7000"/>
            </a:avLst>
          </a:prstGeom>
          <a:solidFill>
            <a:srgbClr val="FFFFFF"/>
          </a:solidFill>
          <a:ln w="12700">
            <a:solidFill>
              <a:srgbClr val="63758A"/>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1888"/>
              </a:lnSpc>
            </a:pPr>
            <a:r>
              <a:rPr lang="zh-CN" altLang="en-US" sz="1600">
                <a:solidFill>
                  <a:srgbClr val="203040"/>
                </a:solidFill>
                <a:latin typeface="Microsoft YaHei" panose="020B0503020204020204" pitchFamily="34" charset="-122"/>
                <a:ea typeface="微软雅黑" panose="020B0503020204020204" pitchFamily="34" charset="-122"/>
              </a:rPr>
              <a:t>最小次序统计量与位置的关系</a:t>
            </a:r>
          </a:p>
        </p:txBody>
      </p:sp>
      <p:sp>
        <p:nvSpPr>
          <p:cNvPr id="19" name="fig1-sam23">
            <a:extLst>
              <a:ext uri="{FF2B5EF4-FFF2-40B4-BE49-F238E27FC236}">
                <a16:creationId xmlns:a16="http://schemas.microsoft.com/office/drawing/2014/main" id="{BE82563B-4C8F-E061-6E42-A8ABD30827F2}"/>
              </a:ext>
            </a:extLst>
          </p:cNvPr>
          <p:cNvSpPr/>
          <p:nvPr/>
        </p:nvSpPr>
        <p:spPr>
          <a:xfrm>
            <a:off x="7861300" y="2159000"/>
            <a:ext cx="3683000" cy="711200"/>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1888"/>
              </a:lnSpc>
            </a:pPr>
            <a:r>
              <a:rPr lang="en-US" altLang="zh-CN" sz="1600">
                <a:solidFill>
                  <a:srgbClr val="203040"/>
                </a:solidFill>
                <a:latin typeface="Microsoft YaHei" panose="020B0503020204020204" pitchFamily="34" charset="-122"/>
                <a:ea typeface="微软雅黑" panose="020B0503020204020204" pitchFamily="34" charset="-122"/>
              </a:rPr>
              <a:t>SAM </a:t>
            </a:r>
            <a:r>
              <a:rPr lang="zh-CN" altLang="en-US" sz="1600">
                <a:solidFill>
                  <a:srgbClr val="203040"/>
                </a:solidFill>
                <a:latin typeface="Microsoft YaHei" panose="020B0503020204020204" pitchFamily="34" charset="-122"/>
                <a:ea typeface="微软雅黑" panose="020B0503020204020204" pitchFamily="34" charset="-122"/>
              </a:rPr>
              <a:t>逐次逼近法</a:t>
            </a:r>
          </a:p>
          <a:p>
            <a:pPr algn="ctr">
              <a:lnSpc>
                <a:spcPts val="1888"/>
              </a:lnSpc>
            </a:pPr>
            <a:r>
              <a:rPr lang="en-US" altLang="zh-CN" sz="1600">
                <a:solidFill>
                  <a:srgbClr val="203040"/>
                </a:solidFill>
                <a:latin typeface="Microsoft YaHei" panose="020B0503020204020204" pitchFamily="34" charset="-122"/>
                <a:ea typeface="微软雅黑" panose="020B0503020204020204" pitchFamily="34" charset="-122"/>
              </a:rPr>
              <a:t>Guo</a:t>
            </a:r>
            <a:r>
              <a:rPr lang="zh-CN" altLang="en-US" sz="1600">
                <a:solidFill>
                  <a:srgbClr val="203040"/>
                </a:solidFill>
                <a:latin typeface="Microsoft YaHei" panose="020B0503020204020204" pitchFamily="34" charset="-122"/>
                <a:ea typeface="微软雅黑" panose="020B0503020204020204" pitchFamily="34" charset="-122"/>
              </a:rPr>
              <a:t>等 </a:t>
            </a:r>
            <a:r>
              <a:rPr lang="en-US" altLang="zh-CN" sz="1600">
                <a:solidFill>
                  <a:srgbClr val="203040"/>
                </a:solidFill>
                <a:latin typeface="Microsoft YaHei" panose="020B0503020204020204" pitchFamily="34" charset="-122"/>
                <a:ea typeface="微软雅黑" panose="020B0503020204020204" pitchFamily="34" charset="-122"/>
              </a:rPr>
              <a:t>· 2023</a:t>
            </a:r>
            <a:endParaRPr lang="zh-CN" altLang="en-US" sz="1600">
              <a:solidFill>
                <a:srgbClr val="203040"/>
              </a:solidFill>
              <a:latin typeface="Microsoft YaHei" panose="020B0503020204020204" pitchFamily="34" charset="-122"/>
              <a:ea typeface="微软雅黑" panose="020B0503020204020204" pitchFamily="34" charset="-122"/>
            </a:endParaRPr>
          </a:p>
        </p:txBody>
      </p:sp>
      <p:sp>
        <p:nvSpPr>
          <p:cNvPr id="20" name="fig1-sam24">
            <a:extLst>
              <a:ext uri="{FF2B5EF4-FFF2-40B4-BE49-F238E27FC236}">
                <a16:creationId xmlns:a16="http://schemas.microsoft.com/office/drawing/2014/main" id="{6BDEA08A-AC64-B334-F1A0-C09DDFD52B98}"/>
              </a:ext>
            </a:extLst>
          </p:cNvPr>
          <p:cNvSpPr/>
          <p:nvPr/>
        </p:nvSpPr>
        <p:spPr>
          <a:xfrm>
            <a:off x="7861300" y="3098800"/>
            <a:ext cx="3683000" cy="711200"/>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1888"/>
              </a:lnSpc>
            </a:pPr>
            <a:r>
              <a:rPr lang="en-US" altLang="zh-CN" sz="1600">
                <a:solidFill>
                  <a:srgbClr val="203040"/>
                </a:solidFill>
                <a:latin typeface="Microsoft YaHei" panose="020B0503020204020204" pitchFamily="34" charset="-122"/>
                <a:ea typeface="微软雅黑" panose="020B0503020204020204" pitchFamily="34" charset="-122"/>
              </a:rPr>
              <a:t>PM </a:t>
            </a:r>
            <a:r>
              <a:rPr lang="zh-CN" altLang="en-US" sz="1600">
                <a:solidFill>
                  <a:srgbClr val="203040"/>
                </a:solidFill>
                <a:latin typeface="Microsoft YaHei" panose="020B0503020204020204" pitchFamily="34" charset="-122"/>
                <a:ea typeface="微软雅黑" panose="020B0503020204020204" pitchFamily="34" charset="-122"/>
              </a:rPr>
              <a:t>逐次逼近构造</a:t>
            </a:r>
          </a:p>
          <a:p>
            <a:pPr algn="ctr">
              <a:lnSpc>
                <a:spcPts val="1888"/>
              </a:lnSpc>
            </a:pPr>
            <a:r>
              <a:rPr lang="en-US" altLang="zh-CN" sz="1600">
                <a:solidFill>
                  <a:srgbClr val="203040"/>
                </a:solidFill>
                <a:latin typeface="Microsoft YaHei" panose="020B0503020204020204" pitchFamily="34" charset="-122"/>
                <a:ea typeface="微软雅黑" panose="020B0503020204020204" pitchFamily="34" charset="-122"/>
              </a:rPr>
              <a:t>Guo</a:t>
            </a:r>
            <a:r>
              <a:rPr lang="zh-CN" altLang="en-US" sz="1600">
                <a:solidFill>
                  <a:srgbClr val="203040"/>
                </a:solidFill>
                <a:latin typeface="Microsoft YaHei" panose="020B0503020204020204" pitchFamily="34" charset="-122"/>
                <a:ea typeface="微软雅黑" panose="020B0503020204020204" pitchFamily="34" charset="-122"/>
              </a:rPr>
              <a:t>等 </a:t>
            </a:r>
            <a:r>
              <a:rPr lang="en-US" altLang="zh-CN" sz="1600">
                <a:solidFill>
                  <a:srgbClr val="203040"/>
                </a:solidFill>
                <a:latin typeface="Microsoft YaHei" panose="020B0503020204020204" pitchFamily="34" charset="-122"/>
                <a:ea typeface="微软雅黑" panose="020B0503020204020204" pitchFamily="34" charset="-122"/>
              </a:rPr>
              <a:t>· 2024</a:t>
            </a:r>
            <a:endParaRPr lang="zh-CN" altLang="en-US" sz="1600">
              <a:solidFill>
                <a:srgbClr val="203040"/>
              </a:solidFill>
              <a:latin typeface="Microsoft YaHei" panose="020B0503020204020204" pitchFamily="34" charset="-122"/>
              <a:ea typeface="微软雅黑" panose="020B0503020204020204" pitchFamily="34" charset="-122"/>
            </a:endParaRPr>
          </a:p>
        </p:txBody>
      </p:sp>
      <p:sp>
        <p:nvSpPr>
          <p:cNvPr id="21" name="fig1-nonregular">
            <a:extLst>
              <a:ext uri="{FF2B5EF4-FFF2-40B4-BE49-F238E27FC236}">
                <a16:creationId xmlns:a16="http://schemas.microsoft.com/office/drawing/2014/main" id="{560B9E70-1AC3-C43F-A90D-F5B4328F693A}"/>
              </a:ext>
            </a:extLst>
          </p:cNvPr>
          <p:cNvSpPr/>
          <p:nvPr/>
        </p:nvSpPr>
        <p:spPr>
          <a:xfrm>
            <a:off x="622300" y="4102100"/>
            <a:ext cx="3302000" cy="660400"/>
          </a:xfrm>
          <a:prstGeom prst="roundRect">
            <a:avLst>
              <a:gd name="adj" fmla="val 7000"/>
            </a:avLst>
          </a:prstGeom>
          <a:solidFill>
            <a:srgbClr val="FFFFFF"/>
          </a:solidFill>
          <a:ln w="12700">
            <a:solidFill>
              <a:srgbClr val="63758A"/>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1888"/>
              </a:lnSpc>
            </a:pPr>
            <a:r>
              <a:rPr lang="zh-CN" altLang="en-US" sz="1600">
                <a:solidFill>
                  <a:srgbClr val="203040"/>
                </a:solidFill>
                <a:latin typeface="Microsoft YaHei" panose="020B0503020204020204" pitchFamily="34" charset="-122"/>
                <a:ea typeface="微软雅黑" panose="020B0503020204020204" pitchFamily="34" charset="-122"/>
              </a:rPr>
              <a:t>未知位置导致非正规似然</a:t>
            </a:r>
          </a:p>
        </p:txBody>
      </p:sp>
      <p:sp>
        <p:nvSpPr>
          <p:cNvPr id="22" name="fig1-naga">
            <a:extLst>
              <a:ext uri="{FF2B5EF4-FFF2-40B4-BE49-F238E27FC236}">
                <a16:creationId xmlns:a16="http://schemas.microsoft.com/office/drawing/2014/main" id="{7E8E9B17-1FC5-F3DB-FBAE-F24B11FEC65F}"/>
              </a:ext>
            </a:extLst>
          </p:cNvPr>
          <p:cNvSpPr/>
          <p:nvPr/>
        </p:nvSpPr>
        <p:spPr>
          <a:xfrm>
            <a:off x="7861300" y="4102100"/>
            <a:ext cx="3683000" cy="660400"/>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1888"/>
              </a:lnSpc>
            </a:pPr>
            <a:r>
              <a:rPr lang="en-US" altLang="zh-CN" sz="1600">
                <a:solidFill>
                  <a:srgbClr val="203040"/>
                </a:solidFill>
                <a:latin typeface="Microsoft YaHei" panose="020B0503020204020204" pitchFamily="34" charset="-122"/>
                <a:ea typeface="微软雅黑" panose="020B0503020204020204" pitchFamily="34" charset="-122"/>
              </a:rPr>
              <a:t>LSPF </a:t>
            </a:r>
            <a:r>
              <a:rPr lang="zh-CN" altLang="en-US" sz="1600">
                <a:solidFill>
                  <a:srgbClr val="203040"/>
                </a:solidFill>
                <a:latin typeface="Microsoft YaHei" panose="020B0503020204020204" pitchFamily="34" charset="-122"/>
                <a:ea typeface="微软雅黑" panose="020B0503020204020204" pitchFamily="34" charset="-122"/>
              </a:rPr>
              <a:t>变换统计量似然估计</a:t>
            </a:r>
          </a:p>
          <a:p>
            <a:pPr algn="ctr">
              <a:lnSpc>
                <a:spcPts val="1888"/>
              </a:lnSpc>
            </a:pPr>
            <a:r>
              <a:rPr lang="en-US" altLang="zh-CN" sz="1600">
                <a:solidFill>
                  <a:srgbClr val="203040"/>
                </a:solidFill>
                <a:latin typeface="Microsoft YaHei" panose="020B0503020204020204" pitchFamily="34" charset="-122"/>
                <a:ea typeface="微软雅黑" panose="020B0503020204020204" pitchFamily="34" charset="-122"/>
              </a:rPr>
              <a:t>Nagatsuka</a:t>
            </a:r>
            <a:r>
              <a:rPr lang="zh-CN" altLang="en-US" sz="1600">
                <a:solidFill>
                  <a:srgbClr val="203040"/>
                </a:solidFill>
                <a:latin typeface="Microsoft YaHei" panose="020B0503020204020204" pitchFamily="34" charset="-122"/>
                <a:ea typeface="微软雅黑" panose="020B0503020204020204" pitchFamily="34" charset="-122"/>
              </a:rPr>
              <a:t>等 </a:t>
            </a:r>
            <a:r>
              <a:rPr lang="en-US" altLang="zh-CN" sz="1600">
                <a:solidFill>
                  <a:srgbClr val="203040"/>
                </a:solidFill>
                <a:latin typeface="Microsoft YaHei" panose="020B0503020204020204" pitchFamily="34" charset="-122"/>
                <a:ea typeface="微软雅黑" panose="020B0503020204020204" pitchFamily="34" charset="-122"/>
              </a:rPr>
              <a:t>· 2013</a:t>
            </a:r>
            <a:endParaRPr lang="zh-CN" altLang="en-US" sz="1600">
              <a:solidFill>
                <a:srgbClr val="203040"/>
              </a:solidFill>
              <a:latin typeface="Microsoft YaHei" panose="020B0503020204020204" pitchFamily="34" charset="-122"/>
              <a:ea typeface="微软雅黑" panose="020B0503020204020204" pitchFamily="34" charset="-122"/>
            </a:endParaRPr>
          </a:p>
        </p:txBody>
      </p:sp>
      <p:sp>
        <p:nvSpPr>
          <p:cNvPr id="23" name="fig1-training">
            <a:extLst>
              <a:ext uri="{FF2B5EF4-FFF2-40B4-BE49-F238E27FC236}">
                <a16:creationId xmlns:a16="http://schemas.microsoft.com/office/drawing/2014/main" id="{EBA49D2F-16EA-1703-B109-F4D4D139E299}"/>
              </a:ext>
            </a:extLst>
          </p:cNvPr>
          <p:cNvSpPr/>
          <p:nvPr/>
        </p:nvSpPr>
        <p:spPr>
          <a:xfrm>
            <a:off x="622300" y="5029200"/>
            <a:ext cx="3302000" cy="660400"/>
          </a:xfrm>
          <a:prstGeom prst="roundRect">
            <a:avLst>
              <a:gd name="adj" fmla="val 7000"/>
            </a:avLst>
          </a:prstGeom>
          <a:solidFill>
            <a:srgbClr val="FFFFFF"/>
          </a:solidFill>
          <a:ln w="12700">
            <a:solidFill>
              <a:srgbClr val="63758A"/>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1888"/>
              </a:lnSpc>
            </a:pPr>
            <a:r>
              <a:rPr lang="zh-CN" altLang="en-US" sz="1600">
                <a:solidFill>
                  <a:srgbClr val="203040"/>
                </a:solidFill>
                <a:latin typeface="Microsoft YaHei" panose="020B0503020204020204" pitchFamily="34" charset="-122"/>
                <a:ea typeface="微软雅黑" panose="020B0503020204020204" pitchFamily="34" charset="-122"/>
              </a:rPr>
              <a:t>模拟样本特征＋参数标签</a:t>
            </a:r>
          </a:p>
        </p:txBody>
      </p:sp>
      <p:sp>
        <p:nvSpPr>
          <p:cNvPr id="24" name="fig1-bpnn">
            <a:extLst>
              <a:ext uri="{FF2B5EF4-FFF2-40B4-BE49-F238E27FC236}">
                <a16:creationId xmlns:a16="http://schemas.microsoft.com/office/drawing/2014/main" id="{0B37021B-D1A8-75B7-B97F-ACE95A3AA458}"/>
              </a:ext>
            </a:extLst>
          </p:cNvPr>
          <p:cNvSpPr/>
          <p:nvPr/>
        </p:nvSpPr>
        <p:spPr>
          <a:xfrm>
            <a:off x="7861300" y="5029200"/>
            <a:ext cx="3683000" cy="660400"/>
          </a:xfrm>
          <a:prstGeom prst="roundRect">
            <a:avLst>
              <a:gd name="adj" fmla="val 7000"/>
            </a:avLst>
          </a:prstGeom>
          <a:solidFill>
            <a:srgbClr val="E5F1E3"/>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rtlCol="0" anchor="ctr">
            <a:noAutofit/>
          </a:bodyPr>
          <a:lstStyle/>
          <a:p>
            <a:pPr algn="ctr">
              <a:lnSpc>
                <a:spcPts val="1888"/>
              </a:lnSpc>
            </a:pPr>
            <a:r>
              <a:rPr lang="en-US" altLang="zh-CN" sz="1600">
                <a:solidFill>
                  <a:srgbClr val="203040"/>
                </a:solidFill>
                <a:latin typeface="Microsoft YaHei" panose="020B0503020204020204" pitchFamily="34" charset="-122"/>
                <a:ea typeface="微软雅黑" panose="020B0503020204020204" pitchFamily="34" charset="-122"/>
              </a:rPr>
              <a:t>BPNN </a:t>
            </a:r>
            <a:r>
              <a:rPr lang="zh-CN" altLang="en-US" sz="1600">
                <a:solidFill>
                  <a:srgbClr val="203040"/>
                </a:solidFill>
                <a:latin typeface="Microsoft YaHei" panose="020B0503020204020204" pitchFamily="34" charset="-122"/>
                <a:ea typeface="微软雅黑" panose="020B0503020204020204" pitchFamily="34" charset="-122"/>
              </a:rPr>
              <a:t>神经网络参数估计</a:t>
            </a:r>
          </a:p>
          <a:p>
            <a:pPr algn="ctr">
              <a:lnSpc>
                <a:spcPts val="1888"/>
              </a:lnSpc>
            </a:pPr>
            <a:r>
              <a:rPr lang="en-US" altLang="zh-CN" sz="1600">
                <a:solidFill>
                  <a:srgbClr val="203040"/>
                </a:solidFill>
                <a:latin typeface="Microsoft YaHei" panose="020B0503020204020204" pitchFamily="34" charset="-122"/>
                <a:ea typeface="微软雅黑" panose="020B0503020204020204" pitchFamily="34" charset="-122"/>
              </a:rPr>
              <a:t>Yang</a:t>
            </a:r>
            <a:r>
              <a:rPr lang="zh-CN" altLang="en-US" sz="1600">
                <a:solidFill>
                  <a:srgbClr val="203040"/>
                </a:solidFill>
                <a:latin typeface="Microsoft YaHei" panose="020B0503020204020204" pitchFamily="34" charset="-122"/>
                <a:ea typeface="微软雅黑" panose="020B0503020204020204" pitchFamily="34" charset="-122"/>
              </a:rPr>
              <a:t>等 </a:t>
            </a:r>
            <a:r>
              <a:rPr lang="en-US" altLang="zh-CN" sz="1600">
                <a:solidFill>
                  <a:srgbClr val="203040"/>
                </a:solidFill>
                <a:latin typeface="Microsoft YaHei" panose="020B0503020204020204" pitchFamily="34" charset="-122"/>
                <a:ea typeface="微软雅黑" panose="020B0503020204020204" pitchFamily="34" charset="-122"/>
              </a:rPr>
              <a:t>· 2025</a:t>
            </a:r>
            <a:endParaRPr lang="zh-CN" altLang="en-US" sz="1600">
              <a:solidFill>
                <a:srgbClr val="203040"/>
              </a:solidFill>
              <a:latin typeface="Microsoft YaHei" panose="020B0503020204020204" pitchFamily="34" charset="-122"/>
              <a:ea typeface="微软雅黑" panose="020B0503020204020204" pitchFamily="34" charset="-122"/>
            </a:endParaRPr>
          </a:p>
        </p:txBody>
      </p:sp>
      <p:sp>
        <p:nvSpPr>
          <p:cNvPr id="25" name="fig1-text_edge12">
            <a:extLst>
              <a:ext uri="{FF2B5EF4-FFF2-40B4-BE49-F238E27FC236}">
                <a16:creationId xmlns:a16="http://schemas.microsoft.com/office/drawing/2014/main" id="{A39D4504-6D3C-4F45-604D-8FA9DCA9E3AE}"/>
              </a:ext>
            </a:extLst>
          </p:cNvPr>
          <p:cNvSpPr txBox="1"/>
          <p:nvPr/>
        </p:nvSpPr>
        <p:spPr>
          <a:xfrm>
            <a:off x="4508500" y="1968500"/>
            <a:ext cx="3136900" cy="520700"/>
          </a:xfrm>
          <a:prstGeom prst="rect">
            <a:avLst/>
          </a:prstGeom>
          <a:noFill/>
        </p:spPr>
        <p:txBody>
          <a:bodyPr vert="horz" wrap="square" lIns="38100" tIns="25400" rIns="38100" bIns="25400" rtlCol="0" anchor="ctr">
            <a:noAutofit/>
          </a:bodyPr>
          <a:lstStyle/>
          <a:p>
            <a:pPr algn="ctr">
              <a:lnSpc>
                <a:spcPts val="1652"/>
              </a:lnSpc>
            </a:pPr>
            <a:r>
              <a:rPr lang="zh-CN" altLang="en-US" sz="1400">
                <a:solidFill>
                  <a:srgbClr val="304559"/>
                </a:solidFill>
                <a:latin typeface="Microsoft YaHei" panose="020B0503020204020204" pitchFamily="34" charset="-122"/>
                <a:ea typeface="微软雅黑" panose="020B0503020204020204" pitchFamily="34" charset="-122"/>
              </a:rPr>
              <a:t>极小样本位置估计</a:t>
            </a:r>
          </a:p>
          <a:p>
            <a:pPr algn="ctr">
              <a:lnSpc>
                <a:spcPts val="1652"/>
              </a:lnSpc>
            </a:pPr>
            <a:r>
              <a:rPr lang="zh-CN" altLang="en-US" sz="1400">
                <a:solidFill>
                  <a:srgbClr val="304559"/>
                </a:solidFill>
                <a:latin typeface="Microsoft YaHei" panose="020B0503020204020204" pitchFamily="34" charset="-122"/>
                <a:ea typeface="微软雅黑" panose="020B0503020204020204" pitchFamily="34" charset="-122"/>
              </a:rPr>
              <a:t>期望修正与回归更新</a:t>
            </a:r>
          </a:p>
        </p:txBody>
      </p:sp>
      <p:sp>
        <p:nvSpPr>
          <p:cNvPr id="26" name="fig1-text_edge13">
            <a:extLst>
              <a:ext uri="{FF2B5EF4-FFF2-40B4-BE49-F238E27FC236}">
                <a16:creationId xmlns:a16="http://schemas.microsoft.com/office/drawing/2014/main" id="{9D252892-336F-E75F-64E6-39939F60DFA7}"/>
              </a:ext>
            </a:extLst>
          </p:cNvPr>
          <p:cNvSpPr txBox="1"/>
          <p:nvPr/>
        </p:nvSpPr>
        <p:spPr>
          <a:xfrm>
            <a:off x="4508500" y="2908300"/>
            <a:ext cx="3136900" cy="520700"/>
          </a:xfrm>
          <a:prstGeom prst="rect">
            <a:avLst/>
          </a:prstGeom>
          <a:noFill/>
        </p:spPr>
        <p:txBody>
          <a:bodyPr vert="horz" wrap="square" lIns="38100" tIns="25400" rIns="38100" bIns="25400" rtlCol="0" anchor="ctr">
            <a:noAutofit/>
          </a:bodyPr>
          <a:lstStyle/>
          <a:p>
            <a:pPr algn="ctr">
              <a:lnSpc>
                <a:spcPts val="1652"/>
              </a:lnSpc>
            </a:pPr>
            <a:r>
              <a:rPr lang="zh-CN" altLang="en-US" sz="1400">
                <a:solidFill>
                  <a:srgbClr val="304559"/>
                </a:solidFill>
                <a:latin typeface="Microsoft YaHei" panose="020B0503020204020204" pitchFamily="34" charset="-122"/>
                <a:ea typeface="微软雅黑" panose="020B0503020204020204" pitchFamily="34" charset="-122"/>
              </a:rPr>
              <a:t>位置与区间推断</a:t>
            </a:r>
          </a:p>
          <a:p>
            <a:pPr algn="ctr">
              <a:lnSpc>
                <a:spcPts val="1652"/>
              </a:lnSpc>
            </a:pPr>
            <a:r>
              <a:rPr lang="zh-CN" altLang="en-US" sz="1400">
                <a:solidFill>
                  <a:srgbClr val="304559"/>
                </a:solidFill>
                <a:latin typeface="Microsoft YaHei" panose="020B0503020204020204" pitchFamily="34" charset="-122"/>
                <a:ea typeface="微软雅黑" panose="020B0503020204020204" pitchFamily="34" charset="-122"/>
              </a:rPr>
              <a:t>分位数修正与似然更新</a:t>
            </a:r>
          </a:p>
        </p:txBody>
      </p:sp>
      <p:sp>
        <p:nvSpPr>
          <p:cNvPr id="27" name="fig1-text_edge14">
            <a:extLst>
              <a:ext uri="{FF2B5EF4-FFF2-40B4-BE49-F238E27FC236}">
                <a16:creationId xmlns:a16="http://schemas.microsoft.com/office/drawing/2014/main" id="{0413E637-A378-6B9B-23CC-3A26256D0E1E}"/>
              </a:ext>
            </a:extLst>
          </p:cNvPr>
          <p:cNvSpPr txBox="1"/>
          <p:nvPr/>
        </p:nvSpPr>
        <p:spPr>
          <a:xfrm>
            <a:off x="4508500" y="3886200"/>
            <a:ext cx="3136900" cy="520700"/>
          </a:xfrm>
          <a:prstGeom prst="rect">
            <a:avLst/>
          </a:prstGeom>
          <a:noFill/>
        </p:spPr>
        <p:txBody>
          <a:bodyPr vert="horz" wrap="square" lIns="38100" tIns="25400" rIns="38100" bIns="25400" rtlCol="0" anchor="ctr">
            <a:noAutofit/>
          </a:bodyPr>
          <a:lstStyle/>
          <a:p>
            <a:pPr algn="ctr">
              <a:lnSpc>
                <a:spcPts val="1652"/>
              </a:lnSpc>
            </a:pPr>
            <a:r>
              <a:rPr lang="zh-CN" altLang="en-US" sz="1400">
                <a:solidFill>
                  <a:srgbClr val="304559"/>
                </a:solidFill>
                <a:latin typeface="Microsoft YaHei" panose="020B0503020204020204" pitchFamily="34" charset="-122"/>
                <a:ea typeface="微软雅黑" panose="020B0503020204020204" pitchFamily="34" charset="-122"/>
              </a:rPr>
              <a:t>处理存在性与唯一性</a:t>
            </a:r>
          </a:p>
          <a:p>
            <a:pPr algn="ctr">
              <a:lnSpc>
                <a:spcPts val="1652"/>
              </a:lnSpc>
            </a:pPr>
            <a:r>
              <a:rPr lang="zh-CN" altLang="en-US" sz="1400">
                <a:solidFill>
                  <a:srgbClr val="304559"/>
                </a:solidFill>
                <a:latin typeface="Microsoft YaHei" panose="020B0503020204020204" pitchFamily="34" charset="-122"/>
                <a:ea typeface="微软雅黑" panose="020B0503020204020204" pitchFamily="34" charset="-122"/>
              </a:rPr>
              <a:t>变换后估计形状</a:t>
            </a:r>
          </a:p>
        </p:txBody>
      </p:sp>
      <p:sp>
        <p:nvSpPr>
          <p:cNvPr id="28" name="fig1-text_edge15">
            <a:extLst>
              <a:ext uri="{FF2B5EF4-FFF2-40B4-BE49-F238E27FC236}">
                <a16:creationId xmlns:a16="http://schemas.microsoft.com/office/drawing/2014/main" id="{BCDBD5C7-EF55-AAAB-F0B7-7791DE34D102}"/>
              </a:ext>
            </a:extLst>
          </p:cNvPr>
          <p:cNvSpPr txBox="1"/>
          <p:nvPr/>
        </p:nvSpPr>
        <p:spPr>
          <a:xfrm>
            <a:off x="4508500" y="4813300"/>
            <a:ext cx="3136900" cy="520700"/>
          </a:xfrm>
          <a:prstGeom prst="rect">
            <a:avLst/>
          </a:prstGeom>
          <a:noFill/>
        </p:spPr>
        <p:txBody>
          <a:bodyPr vert="horz" wrap="square" lIns="38100" tIns="25400" rIns="38100" bIns="25400" rtlCol="0" anchor="ctr">
            <a:noAutofit/>
          </a:bodyPr>
          <a:lstStyle/>
          <a:p>
            <a:pPr algn="ctr">
              <a:lnSpc>
                <a:spcPts val="1652"/>
              </a:lnSpc>
            </a:pPr>
            <a:r>
              <a:rPr lang="zh-CN" altLang="en-US" sz="1400">
                <a:solidFill>
                  <a:srgbClr val="304559"/>
                </a:solidFill>
                <a:latin typeface="Microsoft YaHei" panose="020B0503020204020204" pitchFamily="34" charset="-122"/>
                <a:ea typeface="微软雅黑" panose="020B0503020204020204" pitchFamily="34" charset="-122"/>
              </a:rPr>
              <a:t>小样本估计</a:t>
            </a:r>
          </a:p>
          <a:p>
            <a:pPr algn="ctr">
              <a:lnSpc>
                <a:spcPts val="1652"/>
              </a:lnSpc>
            </a:pPr>
            <a:r>
              <a:rPr lang="zh-CN" altLang="en-US" sz="1400">
                <a:solidFill>
                  <a:srgbClr val="304559"/>
                </a:solidFill>
                <a:latin typeface="Microsoft YaHei" panose="020B0503020204020204" pitchFamily="34" charset="-122"/>
                <a:ea typeface="微软雅黑" panose="020B0503020204020204" pitchFamily="34" charset="-122"/>
              </a:rPr>
              <a:t>学习特征到参数映射</a:t>
            </a:r>
          </a:p>
        </p:txBody>
      </p:sp>
      <p:sp>
        <p:nvSpPr>
          <p:cNvPr id="29" name="panel-description">
            <a:extLst>
              <a:ext uri="{FF2B5EF4-FFF2-40B4-BE49-F238E27FC236}">
                <a16:creationId xmlns:a16="http://schemas.microsoft.com/office/drawing/2014/main" id="{638B9803-B925-A14B-CFEE-AC8D91CE32BB}"/>
              </a:ext>
            </a:extLst>
          </p:cNvPr>
          <p:cNvSpPr txBox="1"/>
          <p:nvPr/>
        </p:nvSpPr>
        <p:spPr>
          <a:xfrm>
            <a:off x="622300" y="5880100"/>
            <a:ext cx="10922000" cy="609600"/>
          </a:xfrm>
          <a:prstGeom prst="rect">
            <a:avLst/>
          </a:prstGeom>
          <a:noFill/>
        </p:spPr>
        <p:txBody>
          <a:bodyPr vert="horz" wrap="square" lIns="38100" tIns="0" rIns="38100" bIns="0" rtlCol="0" anchor="t">
            <a:noAutofit/>
          </a:bodyPr>
          <a:lstStyle/>
          <a:p>
            <a:pPr>
              <a:lnSpc>
                <a:spcPts val="1652"/>
              </a:lnSpc>
            </a:pPr>
            <a:r>
              <a:rPr lang="en-US" altLang="zh-CN" sz="1400">
                <a:solidFill>
                  <a:srgbClr val="2F6096"/>
                </a:solidFill>
                <a:latin typeface="Microsoft YaHei" panose="020B0503020204020204" pitchFamily="34" charset="-122"/>
                <a:ea typeface="微软雅黑" panose="020B0503020204020204" pitchFamily="34" charset="-122"/>
              </a:rPr>
              <a:t>SAM</a:t>
            </a:r>
            <a:r>
              <a:rPr lang="zh-CN" altLang="en-US" sz="1400">
                <a:solidFill>
                  <a:srgbClr val="2F6096"/>
                </a:solidFill>
                <a:latin typeface="Microsoft YaHei" panose="020B0503020204020204" pitchFamily="34" charset="-122"/>
                <a:ea typeface="微软雅黑" panose="020B0503020204020204" pitchFamily="34" charset="-122"/>
              </a:rPr>
              <a:t>用最小值期望结合回归，</a:t>
            </a:r>
            <a:r>
              <a:rPr lang="en-US" altLang="zh-CN" sz="1400">
                <a:solidFill>
                  <a:srgbClr val="2F6096"/>
                </a:solidFill>
                <a:latin typeface="Microsoft YaHei" panose="020B0503020204020204" pitchFamily="34" charset="-122"/>
                <a:ea typeface="微软雅黑" panose="020B0503020204020204" pitchFamily="34" charset="-122"/>
              </a:rPr>
              <a:t>PM</a:t>
            </a:r>
            <a:r>
              <a:rPr lang="zh-CN" altLang="en-US" sz="1400">
                <a:solidFill>
                  <a:srgbClr val="2F6096"/>
                </a:solidFill>
                <a:latin typeface="Microsoft YaHei" panose="020B0503020204020204" pitchFamily="34" charset="-122"/>
                <a:ea typeface="微软雅黑" panose="020B0503020204020204" pitchFamily="34" charset="-122"/>
              </a:rPr>
              <a:t>用最小值中位数结合条件似然，未确认直接升级关系。</a:t>
            </a:r>
          </a:p>
          <a:p>
            <a:pPr>
              <a:lnSpc>
                <a:spcPts val="1652"/>
              </a:lnSpc>
            </a:pPr>
            <a:r>
              <a:rPr lang="en-US" altLang="zh-CN" sz="1400">
                <a:solidFill>
                  <a:srgbClr val="2F6096"/>
                </a:solidFill>
                <a:latin typeface="Microsoft YaHei" panose="020B0503020204020204" pitchFamily="34" charset="-122"/>
                <a:ea typeface="微软雅黑" panose="020B0503020204020204" pitchFamily="34" charset="-122"/>
              </a:rPr>
              <a:t>LSPF</a:t>
            </a:r>
            <a:r>
              <a:rPr lang="zh-CN" altLang="en-US" sz="1400">
                <a:solidFill>
                  <a:srgbClr val="2F6096"/>
                </a:solidFill>
                <a:latin typeface="Microsoft YaHei" panose="020B0503020204020204" pitchFamily="34" charset="-122"/>
                <a:ea typeface="微软雅黑" panose="020B0503020204020204" pitchFamily="34" charset="-122"/>
              </a:rPr>
              <a:t>通过变换统计量构造似然；</a:t>
            </a:r>
            <a:r>
              <a:rPr lang="en-US" altLang="zh-CN" sz="1400">
                <a:solidFill>
                  <a:srgbClr val="2F6096"/>
                </a:solidFill>
                <a:latin typeface="Microsoft YaHei" panose="020B0503020204020204" pitchFamily="34" charset="-122"/>
                <a:ea typeface="微软雅黑" panose="020B0503020204020204" pitchFamily="34" charset="-122"/>
              </a:rPr>
              <a:t>BPNN</a:t>
            </a:r>
            <a:r>
              <a:rPr lang="zh-CN" altLang="en-US" sz="1400">
                <a:solidFill>
                  <a:srgbClr val="2F6096"/>
                </a:solidFill>
                <a:latin typeface="Microsoft YaHei" panose="020B0503020204020204" pitchFamily="34" charset="-122"/>
                <a:ea typeface="微软雅黑" panose="020B0503020204020204" pitchFamily="34" charset="-122"/>
              </a:rPr>
              <a:t>直接学习样本特征到参数的映射。</a:t>
            </a:r>
          </a:p>
        </p:txBody>
      </p:sp>
      <p:sp>
        <p:nvSpPr>
          <p:cNvPr id="30" name="panel-citations">
            <a:extLst>
              <a:ext uri="{FF2B5EF4-FFF2-40B4-BE49-F238E27FC236}">
                <a16:creationId xmlns:a16="http://schemas.microsoft.com/office/drawing/2014/main" id="{FFF163E1-9DEA-A44C-8F7B-54741DC29B7F}"/>
              </a:ext>
            </a:extLst>
          </p:cNvPr>
          <p:cNvSpPr txBox="1"/>
          <p:nvPr/>
        </p:nvSpPr>
        <p:spPr>
          <a:xfrm>
            <a:off x="622300" y="6350000"/>
            <a:ext cx="10922000" cy="177800"/>
          </a:xfrm>
          <a:prstGeom prst="rect">
            <a:avLst/>
          </a:prstGeom>
          <a:noFill/>
        </p:spPr>
        <p:txBody>
          <a:bodyPr vert="horz" wrap="square" lIns="38100" tIns="0" rIns="38100" bIns="0" rtlCol="0" anchor="t">
            <a:noAutofit/>
          </a:bodyPr>
          <a:lstStyle/>
          <a:p>
            <a:pPr>
              <a:lnSpc>
                <a:spcPts val="1180"/>
              </a:lnSpc>
            </a:pPr>
            <a:r>
              <a:rPr lang="en-US" altLang="zh-CN" sz="1000">
                <a:solidFill>
                  <a:srgbClr val="787878"/>
                </a:solidFill>
                <a:latin typeface="Microsoft YaHei" panose="020B0503020204020204" pitchFamily="34" charset="-122"/>
                <a:ea typeface="微软雅黑" panose="020B0503020204020204" pitchFamily="34" charset="-122"/>
              </a:rPr>
              <a:t>SAM [185-005]</a:t>
            </a:r>
            <a:r>
              <a:rPr lang="zh-CN" altLang="en-US" sz="1000">
                <a:solidFill>
                  <a:srgbClr val="787878"/>
                </a:solidFill>
                <a:latin typeface="Microsoft YaHei" panose="020B0503020204020204" pitchFamily="34" charset="-122"/>
                <a:ea typeface="微软雅黑" panose="020B0503020204020204" pitchFamily="34" charset="-122"/>
              </a:rPr>
              <a:t>；</a:t>
            </a:r>
            <a:r>
              <a:rPr lang="en-US" altLang="zh-CN" sz="1000">
                <a:solidFill>
                  <a:srgbClr val="787878"/>
                </a:solidFill>
                <a:latin typeface="Microsoft YaHei" panose="020B0503020204020204" pitchFamily="34" charset="-122"/>
                <a:ea typeface="微软雅黑" panose="020B0503020204020204" pitchFamily="34" charset="-122"/>
              </a:rPr>
              <a:t>PM [182-117]</a:t>
            </a:r>
            <a:r>
              <a:rPr lang="zh-CN" altLang="en-US" sz="1000">
                <a:solidFill>
                  <a:srgbClr val="787878"/>
                </a:solidFill>
                <a:latin typeface="Microsoft YaHei" panose="020B0503020204020204" pitchFamily="34" charset="-122"/>
                <a:ea typeface="微软雅黑" panose="020B0503020204020204" pitchFamily="34" charset="-122"/>
              </a:rPr>
              <a:t>；</a:t>
            </a:r>
            <a:r>
              <a:rPr lang="en-US" altLang="zh-CN" sz="1000">
                <a:solidFill>
                  <a:srgbClr val="787878"/>
                </a:solidFill>
                <a:latin typeface="Microsoft YaHei" panose="020B0503020204020204" pitchFamily="34" charset="-122"/>
                <a:ea typeface="微软雅黑" panose="020B0503020204020204" pitchFamily="34" charset="-122"/>
              </a:rPr>
              <a:t>LSPF [182-113]</a:t>
            </a:r>
            <a:r>
              <a:rPr lang="zh-CN" altLang="en-US" sz="1000">
                <a:solidFill>
                  <a:srgbClr val="787878"/>
                </a:solidFill>
                <a:latin typeface="Microsoft YaHei" panose="020B0503020204020204" pitchFamily="34" charset="-122"/>
                <a:ea typeface="微软雅黑" panose="020B0503020204020204" pitchFamily="34" charset="-122"/>
              </a:rPr>
              <a:t>；</a:t>
            </a:r>
            <a:r>
              <a:rPr lang="en-US" altLang="zh-CN" sz="1000">
                <a:solidFill>
                  <a:srgbClr val="787878"/>
                </a:solidFill>
                <a:latin typeface="Microsoft YaHei" panose="020B0503020204020204" pitchFamily="34" charset="-122"/>
                <a:ea typeface="微软雅黑" panose="020B0503020204020204" pitchFamily="34" charset="-122"/>
              </a:rPr>
              <a:t>BPNN [184-009]</a:t>
            </a:r>
            <a:r>
              <a:rPr lang="zh-CN" altLang="en-US" sz="1000">
                <a:solidFill>
                  <a:srgbClr val="787878"/>
                </a:solidFill>
                <a:latin typeface="Microsoft YaHei" panose="020B0503020204020204" pitchFamily="34" charset="-122"/>
                <a:ea typeface="微软雅黑" panose="020B0503020204020204" pitchFamily="34" charset="-122"/>
              </a:rPr>
              <a:t>。</a:t>
            </a:r>
            <a:r>
              <a:rPr lang="en-US" altLang="zh-CN" sz="1000">
                <a:solidFill>
                  <a:srgbClr val="787878"/>
                </a:solidFill>
                <a:latin typeface="Microsoft YaHei" panose="020B0503020204020204" pitchFamily="34" charset="-122"/>
                <a:ea typeface="微软雅黑" panose="020B0503020204020204" pitchFamily="34" charset="-122"/>
              </a:rPr>
              <a:t>BPNN</a:t>
            </a:r>
            <a:r>
              <a:rPr lang="zh-CN" altLang="en-US" sz="1000">
                <a:solidFill>
                  <a:srgbClr val="787878"/>
                </a:solidFill>
                <a:latin typeface="Microsoft YaHei" panose="020B0503020204020204" pitchFamily="34" charset="-122"/>
                <a:ea typeface="微软雅黑" panose="020B0503020204020204" pitchFamily="34" charset="-122"/>
              </a:rPr>
              <a:t>是近期实例，不是该路线起点。</a:t>
            </a:r>
          </a:p>
        </p:txBody>
      </p:sp>
      <p:cxnSp>
        <p:nvCxnSpPr>
          <p:cNvPr id="31" name="fig1-edge12-1">
            <a:extLst>
              <a:ext uri="{FF2B5EF4-FFF2-40B4-BE49-F238E27FC236}">
                <a16:creationId xmlns:a16="http://schemas.microsoft.com/office/drawing/2014/main" id="{C43000A4-4BBA-8AF9-B420-2FE2EFCAD6A6}"/>
              </a:ext>
            </a:extLst>
          </p:cNvPr>
          <p:cNvCxnSpPr/>
          <p:nvPr/>
        </p:nvCxnSpPr>
        <p:spPr>
          <a:xfrm>
            <a:off x="3924300" y="2806700"/>
            <a:ext cx="330200" cy="0"/>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cxnSp>
      <p:cxnSp>
        <p:nvCxnSpPr>
          <p:cNvPr id="32" name="fig1-edge12-2">
            <a:extLst>
              <a:ext uri="{FF2B5EF4-FFF2-40B4-BE49-F238E27FC236}">
                <a16:creationId xmlns:a16="http://schemas.microsoft.com/office/drawing/2014/main" id="{A86C2BDC-9E2E-9142-57ED-D5C8F49F88C0}"/>
              </a:ext>
            </a:extLst>
          </p:cNvPr>
          <p:cNvCxnSpPr/>
          <p:nvPr/>
        </p:nvCxnSpPr>
        <p:spPr>
          <a:xfrm flipV="1">
            <a:off x="4254500" y="2514600"/>
            <a:ext cx="0" cy="292100"/>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cxnSp>
      <p:cxnSp>
        <p:nvCxnSpPr>
          <p:cNvPr id="33" name="fig1-edge12-3">
            <a:extLst>
              <a:ext uri="{FF2B5EF4-FFF2-40B4-BE49-F238E27FC236}">
                <a16:creationId xmlns:a16="http://schemas.microsoft.com/office/drawing/2014/main" id="{08DBE442-C876-282F-0F63-E3D4685E02C6}"/>
              </a:ext>
            </a:extLst>
          </p:cNvPr>
          <p:cNvCxnSpPr/>
          <p:nvPr/>
        </p:nvCxnSpPr>
        <p:spPr>
          <a:xfrm>
            <a:off x="4254500" y="2514600"/>
            <a:ext cx="36068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cxnSp>
      <p:cxnSp>
        <p:nvCxnSpPr>
          <p:cNvPr id="34" name="fig1-edge13-1">
            <a:extLst>
              <a:ext uri="{FF2B5EF4-FFF2-40B4-BE49-F238E27FC236}">
                <a16:creationId xmlns:a16="http://schemas.microsoft.com/office/drawing/2014/main" id="{5BE36C92-ABE0-6628-E4ED-28F7C22B8D27}"/>
              </a:ext>
            </a:extLst>
          </p:cNvPr>
          <p:cNvCxnSpPr/>
          <p:nvPr/>
        </p:nvCxnSpPr>
        <p:spPr>
          <a:xfrm>
            <a:off x="3924300" y="3225800"/>
            <a:ext cx="330200" cy="0"/>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cxnSp>
      <p:cxnSp>
        <p:nvCxnSpPr>
          <p:cNvPr id="35" name="fig1-edge13-2">
            <a:extLst>
              <a:ext uri="{FF2B5EF4-FFF2-40B4-BE49-F238E27FC236}">
                <a16:creationId xmlns:a16="http://schemas.microsoft.com/office/drawing/2014/main" id="{C1CD9B4B-9EAE-0F67-2859-81A71C5BE4F0}"/>
              </a:ext>
            </a:extLst>
          </p:cNvPr>
          <p:cNvCxnSpPr/>
          <p:nvPr/>
        </p:nvCxnSpPr>
        <p:spPr>
          <a:xfrm>
            <a:off x="4254500" y="3225800"/>
            <a:ext cx="0" cy="228600"/>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cxnSp>
      <p:cxnSp>
        <p:nvCxnSpPr>
          <p:cNvPr id="36" name="fig1-edge13-3">
            <a:extLst>
              <a:ext uri="{FF2B5EF4-FFF2-40B4-BE49-F238E27FC236}">
                <a16:creationId xmlns:a16="http://schemas.microsoft.com/office/drawing/2014/main" id="{B9B90A39-1106-41CC-5A16-8FB82CDA41CE}"/>
              </a:ext>
            </a:extLst>
          </p:cNvPr>
          <p:cNvCxnSpPr/>
          <p:nvPr/>
        </p:nvCxnSpPr>
        <p:spPr>
          <a:xfrm>
            <a:off x="4254500" y="3454400"/>
            <a:ext cx="36068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cxnSp>
      <p:cxnSp>
        <p:nvCxnSpPr>
          <p:cNvPr id="37" name="fig1-edge14-1">
            <a:extLst>
              <a:ext uri="{FF2B5EF4-FFF2-40B4-BE49-F238E27FC236}">
                <a16:creationId xmlns:a16="http://schemas.microsoft.com/office/drawing/2014/main" id="{4380E5B5-8418-350E-89D0-B4C747391022}"/>
              </a:ext>
            </a:extLst>
          </p:cNvPr>
          <p:cNvCxnSpPr/>
          <p:nvPr/>
        </p:nvCxnSpPr>
        <p:spPr>
          <a:xfrm>
            <a:off x="3924300" y="4432300"/>
            <a:ext cx="3937000" cy="0"/>
          </a:xfrm>
          <a:prstGeom prst="line">
            <a:avLst/>
          </a:prstGeom>
          <a:ln w="16510">
            <a:solidFill>
              <a:srgbClr val="52677A"/>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38" name="fig1-edge15-1">
            <a:extLst>
              <a:ext uri="{FF2B5EF4-FFF2-40B4-BE49-F238E27FC236}">
                <a16:creationId xmlns:a16="http://schemas.microsoft.com/office/drawing/2014/main" id="{FAD6F345-CBBE-5077-11DF-1688510B3C2D}"/>
              </a:ext>
            </a:extLst>
          </p:cNvPr>
          <p:cNvCxnSpPr/>
          <p:nvPr/>
        </p:nvCxnSpPr>
        <p:spPr>
          <a:xfrm>
            <a:off x="3924300" y="5359400"/>
            <a:ext cx="39370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17209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400" b="1" spc="-150">
                <a:solidFill>
                  <a:srgbClr val="FFFFFF"/>
                </a:solidFill>
                <a:latin typeface="汉仪文润宋韵 U"/>
                <a:ea typeface="汉仪文润宋韵 U"/>
                <a:cs typeface="汉仪文润宋韵 U"/>
              </a:rPr>
              <a:t>近期工作：改进层次与研究条件不同</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近期进展及其检验证据</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02</a:t>
            </a:r>
            <a:endParaRPr sz="1800">
              <a:latin typeface="Microsoft YaHei"/>
            </a:endParaRPr>
          </a:p>
        </p:txBody>
      </p:sp>
      <p:sp>
        <p:nvSpPr>
          <p:cNvPr id="6" name="文本框 5">
            <a:extLst>
              <a:ext uri="{FF2B5EF4-FFF2-40B4-BE49-F238E27FC236}">
                <a16:creationId xmlns:a16="http://schemas.microsoft.com/office/drawing/2014/main" id="{70FE6FF3-C7E8-DD81-6816-CD36888990A5}"/>
              </a:ext>
            </a:extLst>
          </p:cNvPr>
          <p:cNvSpPr txBox="1"/>
          <p:nvPr/>
        </p:nvSpPr>
        <p:spPr>
          <a:xfrm>
            <a:off x="622300" y="1676400"/>
            <a:ext cx="10922000" cy="558800"/>
          </a:xfrm>
          <a:prstGeom prst="rect">
            <a:avLst/>
          </a:prstGeom>
          <a:noFill/>
        </p:spPr>
        <p:txBody>
          <a:bodyPr vert="horz" wrap="square" lIns="0" tIns="0" rIns="0" bIns="0" rtlCol="0">
            <a:noAutofit/>
          </a:bodyPr>
          <a:lstStyle/>
          <a:p>
            <a:pPr>
              <a:lnSpc>
                <a:spcPts val="2340"/>
              </a:lnSpc>
            </a:pPr>
            <a:r>
              <a:rPr lang="zh-CN" altLang="en-US">
                <a:solidFill>
                  <a:srgbClr val="2F6096"/>
                </a:solidFill>
                <a:latin typeface="Microsoft YaHei" panose="020B0503020204020204" pitchFamily="34" charset="-122"/>
                <a:ea typeface="微软雅黑" panose="020B0503020204020204" pitchFamily="34" charset="-122"/>
              </a:rPr>
              <a:t>近</a:t>
            </a:r>
            <a:r>
              <a:rPr lang="en-US" altLang="zh-CN">
                <a:solidFill>
                  <a:srgbClr val="2F6096"/>
                </a:solidFill>
                <a:latin typeface="Microsoft YaHei" panose="020B0503020204020204" pitchFamily="34" charset="-122"/>
                <a:ea typeface="微软雅黑" panose="020B0503020204020204" pitchFamily="34" charset="-122"/>
              </a:rPr>
              <a:t>10—20</a:t>
            </a:r>
            <a:r>
              <a:rPr lang="zh-CN" altLang="en-US">
                <a:solidFill>
                  <a:srgbClr val="2F6096"/>
                </a:solidFill>
                <a:latin typeface="Microsoft YaHei" panose="020B0503020204020204" pitchFamily="34" charset="-122"/>
                <a:ea typeface="微软雅黑" panose="020B0503020204020204" pitchFamily="34" charset="-122"/>
              </a:rPr>
              <a:t>年的新工作，并不都在同一任务下竞争。</a:t>
            </a:r>
          </a:p>
        </p:txBody>
      </p:sp>
      <p:sp>
        <p:nvSpPr>
          <p:cNvPr id="7" name="文本框 6">
            <a:extLst>
              <a:ext uri="{FF2B5EF4-FFF2-40B4-BE49-F238E27FC236}">
                <a16:creationId xmlns:a16="http://schemas.microsoft.com/office/drawing/2014/main" id="{1504D4E2-A117-82A7-4055-45AEF192AE6E}"/>
              </a:ext>
            </a:extLst>
          </p:cNvPr>
          <p:cNvSpPr txBox="1"/>
          <p:nvPr/>
        </p:nvSpPr>
        <p:spPr>
          <a:xfrm>
            <a:off x="622300" y="5981700"/>
            <a:ext cx="10922000" cy="508000"/>
          </a:xfrm>
          <a:prstGeom prst="rect">
            <a:avLst/>
          </a:prstGeom>
          <a:noFill/>
        </p:spPr>
        <p:txBody>
          <a:bodyPr vert="horz" wrap="square" lIns="0" tIns="0" rIns="0" bIns="0" rtlCol="0">
            <a:noAutofit/>
          </a:bodyPr>
          <a:lstStyle/>
          <a:p>
            <a:pPr>
              <a:lnSpc>
                <a:spcPts val="2210"/>
              </a:lnSpc>
            </a:pPr>
            <a:r>
              <a:rPr lang="zh-CN" altLang="en-US" sz="1700" b="1">
                <a:solidFill>
                  <a:srgbClr val="2F6096"/>
                </a:solidFill>
                <a:latin typeface="Microsoft YaHei" panose="020B0503020204020204" pitchFamily="34" charset="-122"/>
                <a:ea typeface="微软雅黑" panose="020B0503020204020204" pitchFamily="34" charset="-122"/>
              </a:rPr>
              <a:t>库内反复出现这些方向，但尚无年度统计证明全领域注意力已转移。</a:t>
            </a:r>
          </a:p>
        </p:txBody>
      </p:sp>
      <p:sp>
        <p:nvSpPr>
          <p:cNvPr id="9" name="文本框 8">
            <a:extLst>
              <a:ext uri="{FF2B5EF4-FFF2-40B4-BE49-F238E27FC236}">
                <a16:creationId xmlns:a16="http://schemas.microsoft.com/office/drawing/2014/main" id="{54E31587-3EF2-3708-8EA4-E4AE09E814B6}"/>
              </a:ext>
            </a:extLst>
          </p:cNvPr>
          <p:cNvSpPr txBox="1"/>
          <p:nvPr/>
        </p:nvSpPr>
        <p:spPr>
          <a:xfrm>
            <a:off x="622300" y="2476500"/>
            <a:ext cx="2082800" cy="444500"/>
          </a:xfrm>
          <a:prstGeom prst="rect">
            <a:avLst/>
          </a:prstGeom>
          <a:noFill/>
        </p:spPr>
        <p:txBody>
          <a:bodyPr vert="horz" wrap="square" lIns="0" tIns="0" rIns="0" bIns="0" rtlCol="0">
            <a:noAutofit/>
          </a:bodyPr>
          <a:lstStyle/>
          <a:p>
            <a:pPr>
              <a:lnSpc>
                <a:spcPts val="2860"/>
              </a:lnSpc>
            </a:pPr>
            <a:r>
              <a:rPr lang="zh-CN" altLang="en-US" sz="2200" b="1">
                <a:solidFill>
                  <a:srgbClr val="C55A11"/>
                </a:solidFill>
                <a:latin typeface="Microsoft YaHei" panose="020B0503020204020204" pitchFamily="34" charset="-122"/>
                <a:ea typeface="微软雅黑" panose="020B0503020204020204" pitchFamily="34" charset="-122"/>
              </a:rPr>
              <a:t>改估计构造</a:t>
            </a:r>
          </a:p>
        </p:txBody>
      </p:sp>
      <p:sp>
        <p:nvSpPr>
          <p:cNvPr id="10" name="文本框 9">
            <a:extLst>
              <a:ext uri="{FF2B5EF4-FFF2-40B4-BE49-F238E27FC236}">
                <a16:creationId xmlns:a16="http://schemas.microsoft.com/office/drawing/2014/main" id="{30762B04-7DF6-2EE4-F31F-3DFCBE1C83B5}"/>
              </a:ext>
            </a:extLst>
          </p:cNvPr>
          <p:cNvSpPr txBox="1"/>
          <p:nvPr/>
        </p:nvSpPr>
        <p:spPr>
          <a:xfrm>
            <a:off x="2933700" y="2476500"/>
            <a:ext cx="8559800" cy="393700"/>
          </a:xfrm>
          <a:prstGeom prst="rect">
            <a:avLst/>
          </a:prstGeom>
          <a:noFill/>
        </p:spPr>
        <p:txBody>
          <a:bodyPr vert="horz" wrap="square" lIns="0" tIns="0" rIns="0" bIns="0" rtlCol="0">
            <a:noAutofit/>
          </a:bodyPr>
          <a:lstStyle/>
          <a:p>
            <a:pPr>
              <a:lnSpc>
                <a:spcPts val="2210"/>
              </a:lnSpc>
            </a:pPr>
            <a:r>
              <a:rPr lang="zh-CN" altLang="en-US" sz="1700" b="1">
                <a:solidFill>
                  <a:srgbClr val="2F6096"/>
                </a:solidFill>
                <a:latin typeface="Microsoft YaHei" panose="020B0503020204020204" pitchFamily="34" charset="-122"/>
                <a:ea typeface="微软雅黑" panose="020B0503020204020204" pitchFamily="34" charset="-122"/>
              </a:rPr>
              <a:t>有限样本、位置和偏差：</a:t>
            </a:r>
            <a:r>
              <a:rPr lang="en-US" altLang="zh-CN" sz="1700" b="1">
                <a:solidFill>
                  <a:srgbClr val="2F6096"/>
                </a:solidFill>
                <a:latin typeface="Microsoft YaHei" panose="020B0503020204020204" pitchFamily="34" charset="-122"/>
                <a:ea typeface="微软雅黑" panose="020B0503020204020204" pitchFamily="34" charset="-122"/>
              </a:rPr>
              <a:t>WMLE</a:t>
            </a:r>
            <a:r>
              <a:rPr lang="zh-CN" altLang="en-US" sz="1700" b="1">
                <a:solidFill>
                  <a:srgbClr val="2F6096"/>
                </a:solidFill>
                <a:latin typeface="Microsoft YaHei" panose="020B0503020204020204" pitchFamily="34" charset="-122"/>
                <a:ea typeface="微软雅黑" panose="020B0503020204020204" pitchFamily="34" charset="-122"/>
              </a:rPr>
              <a:t>、</a:t>
            </a:r>
            <a:r>
              <a:rPr lang="en-US" altLang="zh-CN" sz="1700" b="1">
                <a:solidFill>
                  <a:srgbClr val="2F6096"/>
                </a:solidFill>
                <a:latin typeface="Microsoft YaHei" panose="020B0503020204020204" pitchFamily="34" charset="-122"/>
                <a:ea typeface="微软雅黑" panose="020B0503020204020204" pitchFamily="34" charset="-122"/>
              </a:rPr>
              <a:t>Park</a:t>
            </a:r>
            <a:r>
              <a:rPr lang="zh-CN" altLang="en-US" sz="1700" b="1">
                <a:solidFill>
                  <a:srgbClr val="2F6096"/>
                </a:solidFill>
                <a:latin typeface="Microsoft YaHei" panose="020B0503020204020204" pitchFamily="34" charset="-122"/>
                <a:ea typeface="微软雅黑" panose="020B0503020204020204" pitchFamily="34" charset="-122"/>
              </a:rPr>
              <a:t>、</a:t>
            </a:r>
            <a:r>
              <a:rPr lang="en-US" altLang="zh-CN" sz="1700" b="1">
                <a:solidFill>
                  <a:srgbClr val="2F6096"/>
                </a:solidFill>
                <a:latin typeface="Microsoft YaHei" panose="020B0503020204020204" pitchFamily="34" charset="-122"/>
                <a:ea typeface="微软雅黑" panose="020B0503020204020204" pitchFamily="34" charset="-122"/>
              </a:rPr>
              <a:t>SAM/PM</a:t>
            </a:r>
            <a:r>
              <a:rPr lang="zh-CN" altLang="en-US" sz="1700" b="1">
                <a:solidFill>
                  <a:srgbClr val="2F6096"/>
                </a:solidFill>
                <a:latin typeface="Microsoft YaHei" panose="020B0503020204020204" pitchFamily="34" charset="-122"/>
                <a:ea typeface="微软雅黑" panose="020B0503020204020204" pitchFamily="34" charset="-122"/>
              </a:rPr>
              <a:t>、</a:t>
            </a:r>
            <a:r>
              <a:rPr lang="en-US" altLang="zh-CN" sz="1700" b="1">
                <a:solidFill>
                  <a:srgbClr val="2F6096"/>
                </a:solidFill>
                <a:latin typeface="Microsoft YaHei" panose="020B0503020204020204" pitchFamily="34" charset="-122"/>
                <a:ea typeface="微软雅黑" panose="020B0503020204020204" pitchFamily="34" charset="-122"/>
              </a:rPr>
              <a:t>DMMLE</a:t>
            </a:r>
            <a:r>
              <a:rPr lang="zh-CN" altLang="en-US" sz="1700" b="1">
                <a:solidFill>
                  <a:srgbClr val="2F6096"/>
                </a:solidFill>
                <a:latin typeface="Microsoft YaHei" panose="020B0503020204020204" pitchFamily="34" charset="-122"/>
                <a:ea typeface="微软雅黑" panose="020B0503020204020204" pitchFamily="34" charset="-122"/>
              </a:rPr>
              <a:t>。</a:t>
            </a:r>
          </a:p>
        </p:txBody>
      </p:sp>
      <p:sp>
        <p:nvSpPr>
          <p:cNvPr id="14" name="文本框 13">
            <a:extLst>
              <a:ext uri="{FF2B5EF4-FFF2-40B4-BE49-F238E27FC236}">
                <a16:creationId xmlns:a16="http://schemas.microsoft.com/office/drawing/2014/main" id="{A996BDCF-4100-5E60-3EB4-9312AA225023}"/>
              </a:ext>
            </a:extLst>
          </p:cNvPr>
          <p:cNvSpPr txBox="1"/>
          <p:nvPr/>
        </p:nvSpPr>
        <p:spPr>
          <a:xfrm>
            <a:off x="2933700" y="2933700"/>
            <a:ext cx="8559800" cy="381000"/>
          </a:xfrm>
          <a:prstGeom prst="rect">
            <a:avLst/>
          </a:prstGeom>
          <a:noFill/>
        </p:spPr>
        <p:txBody>
          <a:bodyPr vert="horz" wrap="square" lIns="0" tIns="0" rIns="0" bIns="0" rtlCol="0">
            <a:noAutofit/>
          </a:bodyPr>
          <a:lstStyle/>
          <a:p>
            <a:pPr>
              <a:lnSpc>
                <a:spcPts val="2210"/>
              </a:lnSpc>
            </a:pPr>
            <a:r>
              <a:rPr lang="zh-CN" altLang="en-US" sz="1700">
                <a:solidFill>
                  <a:srgbClr val="000000"/>
                </a:solidFill>
                <a:latin typeface="Microsoft YaHei" panose="020B0503020204020204" pitchFamily="34" charset="-122"/>
                <a:ea typeface="微软雅黑" panose="020B0503020204020204" pitchFamily="34" charset="-122"/>
              </a:rPr>
              <a:t>直接学习映射也属相关构造，要核训练范围与损失。</a:t>
            </a:r>
          </a:p>
        </p:txBody>
      </p:sp>
      <p:sp>
        <p:nvSpPr>
          <p:cNvPr id="15" name="文本框 14">
            <a:extLst>
              <a:ext uri="{FF2B5EF4-FFF2-40B4-BE49-F238E27FC236}">
                <a16:creationId xmlns:a16="http://schemas.microsoft.com/office/drawing/2014/main" id="{032AAE2C-08DC-94CE-0A17-746F62F0AB28}"/>
              </a:ext>
            </a:extLst>
          </p:cNvPr>
          <p:cNvSpPr txBox="1"/>
          <p:nvPr/>
        </p:nvSpPr>
        <p:spPr>
          <a:xfrm>
            <a:off x="622300" y="3594100"/>
            <a:ext cx="2082800" cy="444500"/>
          </a:xfrm>
          <a:prstGeom prst="rect">
            <a:avLst/>
          </a:prstGeom>
          <a:noFill/>
        </p:spPr>
        <p:txBody>
          <a:bodyPr vert="horz" wrap="square" lIns="0" tIns="0" rIns="0" bIns="0" rtlCol="0">
            <a:noAutofit/>
          </a:bodyPr>
          <a:lstStyle/>
          <a:p>
            <a:pPr>
              <a:lnSpc>
                <a:spcPts val="2860"/>
              </a:lnSpc>
            </a:pPr>
            <a:r>
              <a:rPr lang="zh-CN" altLang="en-US" sz="2200" b="1">
                <a:solidFill>
                  <a:srgbClr val="C55A11"/>
                </a:solidFill>
                <a:latin typeface="Microsoft YaHei" panose="020B0503020204020204" pitchFamily="34" charset="-122"/>
                <a:ea typeface="微软雅黑" panose="020B0503020204020204" pitchFamily="34" charset="-122"/>
              </a:rPr>
              <a:t>改观测条件</a:t>
            </a:r>
          </a:p>
        </p:txBody>
      </p:sp>
      <p:sp>
        <p:nvSpPr>
          <p:cNvPr id="16" name="文本框 15">
            <a:extLst>
              <a:ext uri="{FF2B5EF4-FFF2-40B4-BE49-F238E27FC236}">
                <a16:creationId xmlns:a16="http://schemas.microsoft.com/office/drawing/2014/main" id="{05668768-2A2A-4E3B-2B78-A189DDC6BFB7}"/>
              </a:ext>
            </a:extLst>
          </p:cNvPr>
          <p:cNvSpPr txBox="1"/>
          <p:nvPr/>
        </p:nvSpPr>
        <p:spPr>
          <a:xfrm>
            <a:off x="2933700" y="3594100"/>
            <a:ext cx="8559800" cy="393700"/>
          </a:xfrm>
          <a:prstGeom prst="rect">
            <a:avLst/>
          </a:prstGeom>
          <a:noFill/>
        </p:spPr>
        <p:txBody>
          <a:bodyPr vert="horz" wrap="square" lIns="0" tIns="0" rIns="0" bIns="0" rtlCol="0">
            <a:noAutofit/>
          </a:bodyPr>
          <a:lstStyle/>
          <a:p>
            <a:pPr>
              <a:lnSpc>
                <a:spcPts val="2210"/>
              </a:lnSpc>
            </a:pPr>
            <a:r>
              <a:rPr lang="zh-CN" altLang="en-US" sz="1700" b="1">
                <a:solidFill>
                  <a:srgbClr val="2F6096"/>
                </a:solidFill>
                <a:latin typeface="Microsoft YaHei" panose="020B0503020204020204" pitchFamily="34" charset="-122"/>
                <a:ea typeface="微软雅黑" panose="020B0503020204020204" pitchFamily="34" charset="-122"/>
              </a:rPr>
              <a:t>污染、删失等：</a:t>
            </a:r>
            <a:r>
              <a:rPr lang="en-US" altLang="zh-CN" sz="1700" b="1">
                <a:solidFill>
                  <a:srgbClr val="2F6096"/>
                </a:solidFill>
                <a:latin typeface="Microsoft YaHei" panose="020B0503020204020204" pitchFamily="34" charset="-122"/>
                <a:ea typeface="微软雅黑" panose="020B0503020204020204" pitchFamily="34" charset="-122"/>
              </a:rPr>
              <a:t>PITE [182-003]</a:t>
            </a:r>
            <a:r>
              <a:rPr lang="zh-CN" altLang="en-US" sz="1700" b="1">
                <a:solidFill>
                  <a:srgbClr val="2F6096"/>
                </a:solidFill>
                <a:latin typeface="Microsoft YaHei" panose="020B0503020204020204" pitchFamily="34" charset="-122"/>
                <a:ea typeface="微软雅黑" panose="020B0503020204020204" pitchFamily="34" charset="-122"/>
              </a:rPr>
              <a:t>、删失研究 </a:t>
            </a:r>
            <a:r>
              <a:rPr lang="en-US" altLang="zh-CN" sz="1700" b="1">
                <a:solidFill>
                  <a:srgbClr val="2F6096"/>
                </a:solidFill>
                <a:latin typeface="Microsoft YaHei" panose="020B0503020204020204" pitchFamily="34" charset="-122"/>
                <a:ea typeface="微软雅黑" panose="020B0503020204020204" pitchFamily="34" charset="-122"/>
              </a:rPr>
              <a:t>[182-114]</a:t>
            </a:r>
            <a:r>
              <a:rPr lang="zh-CN" altLang="en-US" sz="1700" b="1">
                <a:solidFill>
                  <a:srgbClr val="2F6096"/>
                </a:solidFill>
                <a:latin typeface="Microsoft YaHei" panose="020B0503020204020204" pitchFamily="34" charset="-122"/>
                <a:ea typeface="微软雅黑" panose="020B0503020204020204" pitchFamily="34" charset="-122"/>
              </a:rPr>
              <a:t>。</a:t>
            </a:r>
          </a:p>
        </p:txBody>
      </p:sp>
      <p:sp>
        <p:nvSpPr>
          <p:cNvPr id="17" name="文本框 16">
            <a:extLst>
              <a:ext uri="{FF2B5EF4-FFF2-40B4-BE49-F238E27FC236}">
                <a16:creationId xmlns:a16="http://schemas.microsoft.com/office/drawing/2014/main" id="{D829A61D-CFD6-9AA8-0B9F-514C376D83C6}"/>
              </a:ext>
            </a:extLst>
          </p:cNvPr>
          <p:cNvSpPr txBox="1"/>
          <p:nvPr/>
        </p:nvSpPr>
        <p:spPr>
          <a:xfrm>
            <a:off x="2933700" y="4051300"/>
            <a:ext cx="8559800" cy="381000"/>
          </a:xfrm>
          <a:prstGeom prst="rect">
            <a:avLst/>
          </a:prstGeom>
          <a:noFill/>
        </p:spPr>
        <p:txBody>
          <a:bodyPr vert="horz" wrap="square" lIns="0" tIns="0" rIns="0" bIns="0" rtlCol="0">
            <a:noAutofit/>
          </a:bodyPr>
          <a:lstStyle/>
          <a:p>
            <a:pPr>
              <a:lnSpc>
                <a:spcPts val="2210"/>
              </a:lnSpc>
            </a:pPr>
            <a:r>
              <a:rPr lang="zh-CN" altLang="en-US" sz="1700">
                <a:solidFill>
                  <a:srgbClr val="000000"/>
                </a:solidFill>
                <a:latin typeface="Microsoft YaHei" panose="020B0503020204020204" pitchFamily="34" charset="-122"/>
                <a:ea typeface="微软雅黑" panose="020B0503020204020204" pitchFamily="34" charset="-122"/>
              </a:rPr>
              <a:t>与完整样本任务不同，特殊情境中的排名不能直接移用。</a:t>
            </a:r>
          </a:p>
        </p:txBody>
      </p:sp>
      <p:sp>
        <p:nvSpPr>
          <p:cNvPr id="18" name="文本框 17">
            <a:extLst>
              <a:ext uri="{FF2B5EF4-FFF2-40B4-BE49-F238E27FC236}">
                <a16:creationId xmlns:a16="http://schemas.microsoft.com/office/drawing/2014/main" id="{8D95A7F3-14D6-A065-D07F-43881FCB45B0}"/>
              </a:ext>
            </a:extLst>
          </p:cNvPr>
          <p:cNvSpPr txBox="1"/>
          <p:nvPr/>
        </p:nvSpPr>
        <p:spPr>
          <a:xfrm>
            <a:off x="622300" y="4711700"/>
            <a:ext cx="2082800" cy="444500"/>
          </a:xfrm>
          <a:prstGeom prst="rect">
            <a:avLst/>
          </a:prstGeom>
          <a:noFill/>
        </p:spPr>
        <p:txBody>
          <a:bodyPr vert="horz" wrap="square" lIns="0" tIns="0" rIns="0" bIns="0" rtlCol="0">
            <a:noAutofit/>
          </a:bodyPr>
          <a:lstStyle/>
          <a:p>
            <a:pPr>
              <a:lnSpc>
                <a:spcPts val="2860"/>
              </a:lnSpc>
            </a:pPr>
            <a:r>
              <a:rPr lang="zh-CN" altLang="en-US" sz="2200" b="1">
                <a:solidFill>
                  <a:srgbClr val="C55A11"/>
                </a:solidFill>
                <a:latin typeface="Microsoft YaHei" panose="020B0503020204020204" pitchFamily="34" charset="-122"/>
                <a:ea typeface="微软雅黑" panose="020B0503020204020204" pitchFamily="34" charset="-122"/>
              </a:rPr>
              <a:t>改求解过程</a:t>
            </a:r>
          </a:p>
        </p:txBody>
      </p:sp>
      <p:sp>
        <p:nvSpPr>
          <p:cNvPr id="19" name="文本框 18">
            <a:extLst>
              <a:ext uri="{FF2B5EF4-FFF2-40B4-BE49-F238E27FC236}">
                <a16:creationId xmlns:a16="http://schemas.microsoft.com/office/drawing/2014/main" id="{5A457CEA-8DC3-A10C-8854-46FCE3CC0C15}"/>
              </a:ext>
            </a:extLst>
          </p:cNvPr>
          <p:cNvSpPr txBox="1"/>
          <p:nvPr/>
        </p:nvSpPr>
        <p:spPr>
          <a:xfrm>
            <a:off x="2933700" y="4711700"/>
            <a:ext cx="8559800" cy="393700"/>
          </a:xfrm>
          <a:prstGeom prst="rect">
            <a:avLst/>
          </a:prstGeom>
          <a:noFill/>
        </p:spPr>
        <p:txBody>
          <a:bodyPr vert="horz" wrap="square" lIns="0" tIns="0" rIns="0" bIns="0" rtlCol="0">
            <a:noAutofit/>
          </a:bodyPr>
          <a:lstStyle/>
          <a:p>
            <a:pPr>
              <a:lnSpc>
                <a:spcPts val="2210"/>
              </a:lnSpc>
            </a:pPr>
            <a:r>
              <a:rPr lang="zh-CN" altLang="en-US" sz="1700" b="1">
                <a:solidFill>
                  <a:srgbClr val="2F6096"/>
                </a:solidFill>
                <a:latin typeface="Microsoft YaHei" panose="020B0503020204020204" pitchFamily="34" charset="-122"/>
                <a:ea typeface="微软雅黑" panose="020B0503020204020204" pitchFamily="34" charset="-122"/>
              </a:rPr>
              <a:t>保留统计目标，改善搜索：</a:t>
            </a:r>
            <a:r>
              <a:rPr lang="en-US" altLang="zh-CN" sz="1700" b="1">
                <a:solidFill>
                  <a:srgbClr val="2F6096"/>
                </a:solidFill>
                <a:latin typeface="Microsoft YaHei" panose="020B0503020204020204" pitchFamily="34" charset="-122"/>
                <a:ea typeface="微软雅黑" panose="020B0503020204020204" pitchFamily="34" charset="-122"/>
              </a:rPr>
              <a:t>ADGBO [187-001]</a:t>
            </a:r>
            <a:r>
              <a:rPr lang="zh-CN" altLang="en-US" sz="1700" b="1">
                <a:solidFill>
                  <a:srgbClr val="2F6096"/>
                </a:solidFill>
                <a:latin typeface="Microsoft YaHei" panose="020B0503020204020204" pitchFamily="34" charset="-122"/>
                <a:ea typeface="微软雅黑" panose="020B0503020204020204" pitchFamily="34" charset="-122"/>
              </a:rPr>
              <a:t>、</a:t>
            </a:r>
            <a:r>
              <a:rPr lang="en-US" altLang="zh-CN" sz="1700" b="1">
                <a:solidFill>
                  <a:srgbClr val="2F6096"/>
                </a:solidFill>
                <a:latin typeface="Microsoft YaHei" panose="020B0503020204020204" pitchFamily="34" charset="-122"/>
                <a:ea typeface="微软雅黑" panose="020B0503020204020204" pitchFamily="34" charset="-122"/>
              </a:rPr>
              <a:t>PSO</a:t>
            </a:r>
            <a:r>
              <a:rPr lang="zh-CN" altLang="en-US" sz="1700" b="1">
                <a:solidFill>
                  <a:srgbClr val="2F6096"/>
                </a:solidFill>
                <a:latin typeface="Microsoft YaHei" panose="020B0503020204020204" pitchFamily="34" charset="-122"/>
                <a:ea typeface="微软雅黑" panose="020B0503020204020204" pitchFamily="34" charset="-122"/>
              </a:rPr>
              <a:t>等。</a:t>
            </a:r>
          </a:p>
        </p:txBody>
      </p:sp>
      <p:sp>
        <p:nvSpPr>
          <p:cNvPr id="20" name="文本框 19">
            <a:extLst>
              <a:ext uri="{FF2B5EF4-FFF2-40B4-BE49-F238E27FC236}">
                <a16:creationId xmlns:a16="http://schemas.microsoft.com/office/drawing/2014/main" id="{A264FA82-2916-7541-E4BD-51CCAEE83CA4}"/>
              </a:ext>
            </a:extLst>
          </p:cNvPr>
          <p:cNvSpPr txBox="1"/>
          <p:nvPr/>
        </p:nvSpPr>
        <p:spPr>
          <a:xfrm>
            <a:off x="2933700" y="5168900"/>
            <a:ext cx="8559800" cy="381000"/>
          </a:xfrm>
          <a:prstGeom prst="rect">
            <a:avLst/>
          </a:prstGeom>
          <a:noFill/>
        </p:spPr>
        <p:txBody>
          <a:bodyPr vert="horz" wrap="square" lIns="0" tIns="0" rIns="0" bIns="0" rtlCol="0">
            <a:noAutofit/>
          </a:bodyPr>
          <a:lstStyle/>
          <a:p>
            <a:pPr>
              <a:lnSpc>
                <a:spcPts val="2210"/>
              </a:lnSpc>
            </a:pPr>
            <a:r>
              <a:rPr lang="zh-CN" altLang="en-US" sz="1700">
                <a:solidFill>
                  <a:srgbClr val="000000"/>
                </a:solidFill>
                <a:latin typeface="Microsoft YaHei" panose="020B0503020204020204" pitchFamily="34" charset="-122"/>
                <a:ea typeface="微软雅黑" panose="020B0503020204020204" pitchFamily="34" charset="-122"/>
              </a:rPr>
              <a:t>先核目标与约束，再判断是否属于</a:t>
            </a:r>
            <a:r>
              <a:rPr lang="en-US" altLang="zh-CN" sz="1700">
                <a:solidFill>
                  <a:srgbClr val="000000"/>
                </a:solidFill>
                <a:latin typeface="Microsoft YaHei" panose="020B0503020204020204" pitchFamily="34" charset="-122"/>
                <a:ea typeface="微软雅黑" panose="020B0503020204020204" pitchFamily="34" charset="-122"/>
              </a:rPr>
              <a:t>MLE</a:t>
            </a:r>
            <a:r>
              <a:rPr lang="zh-CN" altLang="en-US" sz="1700">
                <a:solidFill>
                  <a:srgbClr val="000000"/>
                </a:solidFill>
                <a:latin typeface="Microsoft YaHei"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16151457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400" b="1" spc="-150">
                <a:solidFill>
                  <a:srgbClr val="FFFFFF"/>
                </a:solidFill>
                <a:latin typeface="汉仪文润宋韵 U"/>
                <a:ea typeface="汉仪文润宋韵 U"/>
                <a:cs typeface="汉仪文润宋韵 U"/>
              </a:rPr>
              <a:t>同任务候选：小样本研究与其他证据范围</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近期进展及其检验证据</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02</a:t>
            </a:r>
            <a:endParaRPr sz="1800">
              <a:latin typeface="Microsoft YaHei"/>
            </a:endParaRPr>
          </a:p>
        </p:txBody>
      </p:sp>
      <p:sp>
        <p:nvSpPr>
          <p:cNvPr id="6" name="文本框 5">
            <a:extLst>
              <a:ext uri="{FF2B5EF4-FFF2-40B4-BE49-F238E27FC236}">
                <a16:creationId xmlns:a16="http://schemas.microsoft.com/office/drawing/2014/main" id="{9BFDC1C8-AD64-77FF-B03A-016B42044838}"/>
              </a:ext>
            </a:extLst>
          </p:cNvPr>
          <p:cNvSpPr txBox="1"/>
          <p:nvPr/>
        </p:nvSpPr>
        <p:spPr>
          <a:xfrm>
            <a:off x="622300" y="1676400"/>
            <a:ext cx="10922000" cy="558800"/>
          </a:xfrm>
          <a:prstGeom prst="rect">
            <a:avLst/>
          </a:prstGeom>
          <a:noFill/>
        </p:spPr>
        <p:txBody>
          <a:bodyPr vert="horz" wrap="square" lIns="0" tIns="0" rIns="0" bIns="0" rtlCol="0">
            <a:noAutofit/>
          </a:bodyPr>
          <a:lstStyle/>
          <a:p>
            <a:pPr>
              <a:lnSpc>
                <a:spcPts val="2340"/>
              </a:lnSpc>
            </a:pPr>
            <a:r>
              <a:rPr lang="zh-CN" altLang="en-US">
                <a:solidFill>
                  <a:srgbClr val="2F6096"/>
                </a:solidFill>
                <a:latin typeface="Microsoft YaHei" panose="020B0503020204020204" pitchFamily="34" charset="-122"/>
                <a:ea typeface="微软雅黑" panose="020B0503020204020204" pitchFamily="34" charset="-122"/>
              </a:rPr>
              <a:t>候选范围应覆盖经典改进和近期构造，再看是否符合论文主张。</a:t>
            </a:r>
          </a:p>
        </p:txBody>
      </p:sp>
      <p:sp>
        <p:nvSpPr>
          <p:cNvPr id="7" name="文本框 6">
            <a:extLst>
              <a:ext uri="{FF2B5EF4-FFF2-40B4-BE49-F238E27FC236}">
                <a16:creationId xmlns:a16="http://schemas.microsoft.com/office/drawing/2014/main" id="{474448B6-AF41-2F1C-5EC2-84985A61FEEA}"/>
              </a:ext>
            </a:extLst>
          </p:cNvPr>
          <p:cNvSpPr txBox="1"/>
          <p:nvPr/>
        </p:nvSpPr>
        <p:spPr>
          <a:xfrm>
            <a:off x="622300" y="5981700"/>
            <a:ext cx="10922000" cy="508000"/>
          </a:xfrm>
          <a:prstGeom prst="rect">
            <a:avLst/>
          </a:prstGeom>
          <a:noFill/>
        </p:spPr>
        <p:txBody>
          <a:bodyPr vert="horz" wrap="square" lIns="0" tIns="0" rIns="0" bIns="0" rtlCol="0">
            <a:noAutofit/>
          </a:bodyPr>
          <a:lstStyle/>
          <a:p>
            <a:pPr>
              <a:lnSpc>
                <a:spcPts val="2210"/>
              </a:lnSpc>
            </a:pPr>
            <a:r>
              <a:rPr lang="en-US" altLang="zh-CN" sz="1700" b="1">
                <a:solidFill>
                  <a:srgbClr val="2F6096"/>
                </a:solidFill>
                <a:latin typeface="Microsoft YaHei" panose="020B0503020204020204" pitchFamily="34" charset="-122"/>
                <a:ea typeface="微软雅黑" panose="020B0503020204020204" pitchFamily="34" charset="-122"/>
              </a:rPr>
              <a:t>MDM</a:t>
            </a:r>
            <a:r>
              <a:rPr lang="zh-CN" altLang="en-US" sz="1700" b="1">
                <a:solidFill>
                  <a:srgbClr val="2F6096"/>
                </a:solidFill>
                <a:latin typeface="Microsoft YaHei" panose="020B0503020204020204" pitchFamily="34" charset="-122"/>
                <a:ea typeface="微软雅黑" panose="020B0503020204020204" pitchFamily="34" charset="-122"/>
              </a:rPr>
              <a:t>已在第一章介绍；若研究其改进，原方法自然承担母方法角色。</a:t>
            </a:r>
          </a:p>
        </p:txBody>
      </p:sp>
      <p:graphicFrame>
        <p:nvGraphicFramePr>
          <p:cNvPr id="8" name="表格 7">
            <a:extLst>
              <a:ext uri="{FF2B5EF4-FFF2-40B4-BE49-F238E27FC236}">
                <a16:creationId xmlns:a16="http://schemas.microsoft.com/office/drawing/2014/main" id="{236645C6-A316-4398-EDD1-223691012294}"/>
              </a:ext>
            </a:extLst>
          </p:cNvPr>
          <p:cNvGraphicFramePr>
            <a:graphicFrameLocks noGrp="1"/>
          </p:cNvGraphicFramePr>
          <p:nvPr>
            <p:extLst>
              <p:ext uri="{D42A27DB-BD31-4B8C-83A1-F6EECF244321}">
                <p14:modId xmlns:p14="http://schemas.microsoft.com/office/powerpoint/2010/main" val="872652245"/>
              </p:ext>
            </p:extLst>
          </p:nvPr>
        </p:nvGraphicFramePr>
        <p:xfrm>
          <a:off x="622300" y="2413000"/>
          <a:ext cx="10922000" cy="3301998"/>
        </p:xfrm>
        <a:graphic>
          <a:graphicData uri="http://schemas.openxmlformats.org/drawingml/2006/table">
            <a:tbl>
              <a:tblPr firstRow="1" bandRow="1">
                <a:tableStyleId>{5C22544A-7EE6-4342-B048-85BDC9FD1C3A}</a:tableStyleId>
              </a:tblPr>
              <a:tblGrid>
                <a:gridCol w="3086100">
                  <a:extLst>
                    <a:ext uri="{9D8B030D-6E8A-4147-A177-3AD203B41FA5}">
                      <a16:colId xmlns:a16="http://schemas.microsoft.com/office/drawing/2014/main" val="2106218217"/>
                    </a:ext>
                  </a:extLst>
                </a:gridCol>
                <a:gridCol w="4000500">
                  <a:extLst>
                    <a:ext uri="{9D8B030D-6E8A-4147-A177-3AD203B41FA5}">
                      <a16:colId xmlns:a16="http://schemas.microsoft.com/office/drawing/2014/main" val="596939627"/>
                    </a:ext>
                  </a:extLst>
                </a:gridCol>
                <a:gridCol w="3835400">
                  <a:extLst>
                    <a:ext uri="{9D8B030D-6E8A-4147-A177-3AD203B41FA5}">
                      <a16:colId xmlns:a16="http://schemas.microsoft.com/office/drawing/2014/main" val="3278027151"/>
                    </a:ext>
                  </a:extLst>
                </a:gridCol>
              </a:tblGrid>
              <a:tr h="471714">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方法与来源</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已核的任务或改进</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需要保留的边界</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extLst>
                  <a:ext uri="{0D108BD9-81ED-4DB2-BD59-A6C34878D82A}">
                    <a16:rowId xmlns:a16="http://schemas.microsoft.com/office/drawing/2014/main" val="2149725635"/>
                  </a:ext>
                </a:extLst>
              </a:tr>
              <a:tr h="471714">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WMLE 2009 [182-088]</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有限样本修正</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权重版本和参数域要明确</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4020886443"/>
                  </a:ext>
                </a:extLst>
              </a:tr>
              <a:tr h="471714">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LSPF 2013 [182-113]</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存在性及变换统计量构造</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可解性主张时提高优先级</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2487028360"/>
                  </a:ext>
                </a:extLst>
              </a:tr>
              <a:tr h="471714">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Park 2017 [182-115]</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相关系数处理未知位置</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区分</a:t>
                      </a:r>
                      <a:r>
                        <a:rPr lang="en-US" altLang="zh-CN" sz="1600" b="0">
                          <a:solidFill>
                            <a:srgbClr val="000000"/>
                          </a:solidFill>
                          <a:latin typeface="Microsoft YaHei" panose="020B0503020204020204" pitchFamily="34" charset="-122"/>
                          <a:ea typeface="微软雅黑" panose="020B0503020204020204" pitchFamily="34" charset="-122"/>
                        </a:rPr>
                        <a:t>Plot</a:t>
                      </a:r>
                      <a:r>
                        <a:rPr lang="zh-CN" altLang="en-US" sz="1600" b="0">
                          <a:solidFill>
                            <a:srgbClr val="000000"/>
                          </a:solidFill>
                          <a:latin typeface="Microsoft YaHei" panose="020B0503020204020204" pitchFamily="34" charset="-122"/>
                          <a:ea typeface="微软雅黑" panose="020B0503020204020204" pitchFamily="34" charset="-122"/>
                        </a:rPr>
                        <a:t>与</a:t>
                      </a:r>
                      <a:r>
                        <a:rPr lang="en-US" altLang="zh-CN" sz="1600" b="0">
                          <a:solidFill>
                            <a:srgbClr val="000000"/>
                          </a:solidFill>
                          <a:latin typeface="Microsoft YaHei" panose="020B0503020204020204" pitchFamily="34" charset="-122"/>
                          <a:ea typeface="微软雅黑" panose="020B0503020204020204" pitchFamily="34" charset="-122"/>
                        </a:rPr>
                        <a:t>MLE2</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442690487"/>
                  </a:ext>
                </a:extLst>
              </a:tr>
              <a:tr h="471714">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SAM / PM [185-005/182-117]</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含</a:t>
                      </a:r>
                      <a:r>
                        <a:rPr lang="en-US" altLang="zh-CN" sz="1600" b="0">
                          <a:solidFill>
                            <a:srgbClr val="000000"/>
                          </a:solidFill>
                          <a:latin typeface="Microsoft YaHei" panose="020B0503020204020204" pitchFamily="34" charset="-122"/>
                          <a:ea typeface="微软雅黑" panose="020B0503020204020204" pitchFamily="34" charset="-122"/>
                        </a:rPr>
                        <a:t>n=5</a:t>
                      </a:r>
                      <a:r>
                        <a:rPr lang="zh-CN" altLang="en-US" sz="1600" b="0">
                          <a:solidFill>
                            <a:srgbClr val="000000"/>
                          </a:solidFill>
                          <a:latin typeface="Microsoft YaHei" panose="020B0503020204020204" pitchFamily="34" charset="-122"/>
                          <a:ea typeface="微软雅黑" panose="020B0503020204020204" pitchFamily="34" charset="-122"/>
                        </a:rPr>
                        <a:t>等极小样本研究</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两版不能共用公式或结果</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870889167"/>
                  </a:ext>
                </a:extLst>
              </a:tr>
              <a:tr h="471714">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BPNN 2025 [184-009]</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覆盖</a:t>
                      </a:r>
                      <a:r>
                        <a:rPr lang="en-US" altLang="zh-CN" sz="1600" b="0">
                          <a:solidFill>
                            <a:srgbClr val="000000"/>
                          </a:solidFill>
                          <a:latin typeface="Microsoft YaHei" panose="020B0503020204020204" pitchFamily="34" charset="-122"/>
                          <a:ea typeface="微软雅黑" panose="020B0503020204020204" pitchFamily="34" charset="-122"/>
                        </a:rPr>
                        <a:t>n=5—20</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配置尚有缺口</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2872561720"/>
                  </a:ext>
                </a:extLst>
              </a:tr>
              <a:tr h="471714">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DMMLE 2025 [182-111]</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修改似然后的得分修正</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原模拟从</a:t>
                      </a:r>
                      <a:r>
                        <a:rPr lang="en-US" altLang="zh-CN" sz="1600" b="0">
                          <a:solidFill>
                            <a:srgbClr val="000000"/>
                          </a:solidFill>
                          <a:latin typeface="Microsoft YaHei" panose="020B0503020204020204" pitchFamily="34" charset="-122"/>
                          <a:ea typeface="微软雅黑" panose="020B0503020204020204" pitchFamily="34" charset="-122"/>
                        </a:rPr>
                        <a:t>n=50</a:t>
                      </a:r>
                      <a:r>
                        <a:rPr lang="zh-CN" altLang="en-US" sz="1600" b="0">
                          <a:solidFill>
                            <a:srgbClr val="000000"/>
                          </a:solidFill>
                          <a:latin typeface="Microsoft YaHei" panose="020B0503020204020204" pitchFamily="34" charset="-122"/>
                          <a:ea typeface="微软雅黑" panose="020B0503020204020204" pitchFamily="34" charset="-122"/>
                        </a:rPr>
                        <a:t>开始</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995398368"/>
                  </a:ext>
                </a:extLst>
              </a:tr>
            </a:tbl>
          </a:graphicData>
        </a:graphic>
      </p:graphicFrame>
    </p:spTree>
    <p:extLst>
      <p:ext uri="{BB962C8B-B14F-4D97-AF65-F5344CB8AC3E}">
        <p14:creationId xmlns:p14="http://schemas.microsoft.com/office/powerpoint/2010/main" val="32343974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400" b="1" spc="-150">
                <a:solidFill>
                  <a:srgbClr val="FFFFFF"/>
                </a:solidFill>
                <a:latin typeface="汉仪文润宋韵 U"/>
                <a:ea typeface="汉仪文润宋韵 U"/>
                <a:cs typeface="汉仪文润宋韵 U"/>
              </a:rPr>
              <a:t>后续检验：采用事实与性能结论分开判断</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近期进展及其检验证据</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02</a:t>
            </a:r>
            <a:endParaRPr sz="1800">
              <a:latin typeface="Microsoft YaHei"/>
            </a:endParaRPr>
          </a:p>
        </p:txBody>
      </p:sp>
      <p:sp>
        <p:nvSpPr>
          <p:cNvPr id="6" name="文本框 5">
            <a:extLst>
              <a:ext uri="{FF2B5EF4-FFF2-40B4-BE49-F238E27FC236}">
                <a16:creationId xmlns:a16="http://schemas.microsoft.com/office/drawing/2014/main" id="{68FAD16C-FF77-D9F1-6C05-5700D9662423}"/>
              </a:ext>
            </a:extLst>
          </p:cNvPr>
          <p:cNvSpPr txBox="1"/>
          <p:nvPr/>
        </p:nvSpPr>
        <p:spPr>
          <a:xfrm>
            <a:off x="622300" y="1676400"/>
            <a:ext cx="10922000" cy="558800"/>
          </a:xfrm>
          <a:prstGeom prst="rect">
            <a:avLst/>
          </a:prstGeom>
          <a:noFill/>
        </p:spPr>
        <p:txBody>
          <a:bodyPr vert="horz" wrap="square" lIns="0" tIns="0" rIns="0" bIns="0" rtlCol="0">
            <a:noAutofit/>
          </a:bodyPr>
          <a:lstStyle/>
          <a:p>
            <a:pPr>
              <a:lnSpc>
                <a:spcPts val="2340"/>
              </a:lnSpc>
            </a:pPr>
            <a:r>
              <a:rPr lang="zh-CN" altLang="en-US">
                <a:solidFill>
                  <a:srgbClr val="2F6096"/>
                </a:solidFill>
                <a:latin typeface="Microsoft YaHei" panose="020B0503020204020204" pitchFamily="34" charset="-122"/>
                <a:ea typeface="微软雅黑" panose="020B0503020204020204" pitchFamily="34" charset="-122"/>
              </a:rPr>
              <a:t>提出论文、后续采用和独立团队比较，提供的证据不同。</a:t>
            </a:r>
          </a:p>
        </p:txBody>
      </p:sp>
      <p:sp>
        <p:nvSpPr>
          <p:cNvPr id="7" name="文本框 6">
            <a:extLst>
              <a:ext uri="{FF2B5EF4-FFF2-40B4-BE49-F238E27FC236}">
                <a16:creationId xmlns:a16="http://schemas.microsoft.com/office/drawing/2014/main" id="{DCC67B17-9C19-19A4-658E-5F8CC76B584D}"/>
              </a:ext>
            </a:extLst>
          </p:cNvPr>
          <p:cNvSpPr txBox="1"/>
          <p:nvPr/>
        </p:nvSpPr>
        <p:spPr>
          <a:xfrm>
            <a:off x="622300" y="5981700"/>
            <a:ext cx="10922000" cy="508000"/>
          </a:xfrm>
          <a:prstGeom prst="rect">
            <a:avLst/>
          </a:prstGeom>
          <a:noFill/>
        </p:spPr>
        <p:txBody>
          <a:bodyPr vert="horz" wrap="square" lIns="0" tIns="0" rIns="0" bIns="0" rtlCol="0">
            <a:noAutofit/>
          </a:bodyPr>
          <a:lstStyle/>
          <a:p>
            <a:pPr>
              <a:lnSpc>
                <a:spcPts val="2210"/>
              </a:lnSpc>
            </a:pPr>
            <a:r>
              <a:rPr lang="zh-CN" altLang="en-US" sz="1700" b="1">
                <a:solidFill>
                  <a:srgbClr val="2F6096"/>
                </a:solidFill>
                <a:latin typeface="Microsoft YaHei" panose="020B0503020204020204" pitchFamily="34" charset="-122"/>
                <a:ea typeface="微软雅黑" panose="020B0503020204020204" pitchFamily="34" charset="-122"/>
              </a:rPr>
              <a:t>有相关近期候选；尚不能认定一个公认、全面最优的“最新方法”。</a:t>
            </a:r>
          </a:p>
        </p:txBody>
      </p:sp>
      <p:sp>
        <p:nvSpPr>
          <p:cNvPr id="9" name="文本框 8">
            <a:extLst>
              <a:ext uri="{FF2B5EF4-FFF2-40B4-BE49-F238E27FC236}">
                <a16:creationId xmlns:a16="http://schemas.microsoft.com/office/drawing/2014/main" id="{38626201-2AF1-74F3-FA32-57850C3117DF}"/>
              </a:ext>
            </a:extLst>
          </p:cNvPr>
          <p:cNvSpPr txBox="1"/>
          <p:nvPr/>
        </p:nvSpPr>
        <p:spPr>
          <a:xfrm>
            <a:off x="622300" y="2489200"/>
            <a:ext cx="4953000" cy="406400"/>
          </a:xfrm>
          <a:prstGeom prst="rect">
            <a:avLst/>
          </a:prstGeom>
          <a:noFill/>
        </p:spPr>
        <p:txBody>
          <a:bodyPr vert="horz" wrap="square" lIns="0" tIns="0" rIns="0" bIns="0" rtlCol="0">
            <a:noAutofit/>
          </a:bodyPr>
          <a:lstStyle/>
          <a:p>
            <a:pPr>
              <a:lnSpc>
                <a:spcPts val="2860"/>
              </a:lnSpc>
            </a:pPr>
            <a:r>
              <a:rPr lang="zh-CN" altLang="en-US" sz="2200" b="1">
                <a:solidFill>
                  <a:srgbClr val="C55A11"/>
                </a:solidFill>
                <a:latin typeface="Microsoft YaHei" panose="020B0503020204020204" pitchFamily="34" charset="-122"/>
                <a:ea typeface="微软雅黑" panose="020B0503020204020204" pitchFamily="34" charset="-122"/>
              </a:rPr>
              <a:t>已有跨作者采用</a:t>
            </a:r>
          </a:p>
        </p:txBody>
      </p:sp>
      <p:sp>
        <p:nvSpPr>
          <p:cNvPr id="10" name="文本框 9">
            <a:extLst>
              <a:ext uri="{FF2B5EF4-FFF2-40B4-BE49-F238E27FC236}">
                <a16:creationId xmlns:a16="http://schemas.microsoft.com/office/drawing/2014/main" id="{7A796EF6-FE22-6F7B-DAAC-804831AFD736}"/>
              </a:ext>
            </a:extLst>
          </p:cNvPr>
          <p:cNvSpPr txBox="1"/>
          <p:nvPr/>
        </p:nvSpPr>
        <p:spPr>
          <a:xfrm>
            <a:off x="6426200" y="2489200"/>
            <a:ext cx="5080000" cy="406400"/>
          </a:xfrm>
          <a:prstGeom prst="rect">
            <a:avLst/>
          </a:prstGeom>
          <a:noFill/>
        </p:spPr>
        <p:txBody>
          <a:bodyPr vert="horz" wrap="square" lIns="0" tIns="0" rIns="0" bIns="0" rtlCol="0">
            <a:noAutofit/>
          </a:bodyPr>
          <a:lstStyle/>
          <a:p>
            <a:pPr>
              <a:lnSpc>
                <a:spcPts val="2860"/>
              </a:lnSpc>
            </a:pPr>
            <a:r>
              <a:rPr lang="zh-CN" altLang="en-US" sz="2200" b="1">
                <a:solidFill>
                  <a:srgbClr val="C55A11"/>
                </a:solidFill>
                <a:latin typeface="Microsoft YaHei" panose="020B0503020204020204" pitchFamily="34" charset="-122"/>
                <a:ea typeface="微软雅黑" panose="020B0503020204020204" pitchFamily="34" charset="-122"/>
              </a:rPr>
              <a:t>独立确认仍有限</a:t>
            </a:r>
          </a:p>
        </p:txBody>
      </p:sp>
      <p:sp>
        <p:nvSpPr>
          <p:cNvPr id="14" name="文本框 13">
            <a:extLst>
              <a:ext uri="{FF2B5EF4-FFF2-40B4-BE49-F238E27FC236}">
                <a16:creationId xmlns:a16="http://schemas.microsoft.com/office/drawing/2014/main" id="{57CC98BA-FD9A-B8C5-CED5-42280AFA66E1}"/>
              </a:ext>
            </a:extLst>
          </p:cNvPr>
          <p:cNvSpPr txBox="1"/>
          <p:nvPr/>
        </p:nvSpPr>
        <p:spPr>
          <a:xfrm>
            <a:off x="622300" y="3098800"/>
            <a:ext cx="4953000" cy="1282700"/>
          </a:xfrm>
          <a:prstGeom prst="rect">
            <a:avLst/>
          </a:prstGeom>
          <a:noFill/>
        </p:spPr>
        <p:txBody>
          <a:bodyPr vert="horz" wrap="square" lIns="0" tIns="0" rIns="0" bIns="0" rtlCol="0">
            <a:noAutofit/>
          </a:bodyPr>
          <a:lstStyle/>
          <a:p>
            <a:pPr>
              <a:lnSpc>
                <a:spcPts val="2470"/>
              </a:lnSpc>
            </a:pPr>
            <a:r>
              <a:rPr lang="en-US" altLang="zh-CN" sz="1900">
                <a:solidFill>
                  <a:srgbClr val="000000"/>
                </a:solidFill>
                <a:latin typeface="Microsoft YaHei" panose="020B0503020204020204" pitchFamily="34" charset="-122"/>
                <a:ea typeface="微软雅黑" panose="020B0503020204020204" pitchFamily="34" charset="-122"/>
              </a:rPr>
              <a:t>WMLE</a:t>
            </a:r>
          </a:p>
          <a:p>
            <a:pPr>
              <a:lnSpc>
                <a:spcPts val="2470"/>
              </a:lnSpc>
            </a:pPr>
            <a:r>
              <a:rPr lang="en-US" altLang="zh-CN" sz="1900">
                <a:solidFill>
                  <a:srgbClr val="000000"/>
                </a:solidFill>
                <a:latin typeface="Microsoft YaHei" panose="020B0503020204020204" pitchFamily="34" charset="-122"/>
                <a:ea typeface="微软雅黑" panose="020B0503020204020204" pitchFamily="34" charset="-122"/>
              </a:rPr>
              <a:t>Nagatsuka</a:t>
            </a:r>
            <a:r>
              <a:rPr lang="zh-CN" altLang="en-US" sz="1900">
                <a:solidFill>
                  <a:srgbClr val="000000"/>
                </a:solidFill>
                <a:latin typeface="Microsoft YaHei" panose="020B0503020204020204" pitchFamily="34" charset="-122"/>
                <a:ea typeface="微软雅黑" panose="020B0503020204020204" pitchFamily="34" charset="-122"/>
              </a:rPr>
              <a:t>（</a:t>
            </a:r>
            <a:r>
              <a:rPr lang="en-US" altLang="zh-CN" sz="1900">
                <a:solidFill>
                  <a:srgbClr val="000000"/>
                </a:solidFill>
                <a:latin typeface="Microsoft YaHei" panose="020B0503020204020204" pitchFamily="34" charset="-122"/>
                <a:ea typeface="微软雅黑" panose="020B0503020204020204" pitchFamily="34" charset="-122"/>
              </a:rPr>
              <a:t>2013</a:t>
            </a:r>
            <a:r>
              <a:rPr lang="zh-CN" altLang="en-US" sz="1900">
                <a:solidFill>
                  <a:srgbClr val="000000"/>
                </a:solidFill>
                <a:latin typeface="Microsoft YaHei" panose="020B0503020204020204" pitchFamily="34" charset="-122"/>
                <a:ea typeface="微软雅黑" panose="020B0503020204020204" pitchFamily="34" charset="-122"/>
              </a:rPr>
              <a:t>）、</a:t>
            </a:r>
            <a:r>
              <a:rPr lang="en-US" altLang="zh-CN" sz="1900">
                <a:solidFill>
                  <a:srgbClr val="000000"/>
                </a:solidFill>
                <a:latin typeface="Microsoft YaHei" panose="020B0503020204020204" pitchFamily="34" charset="-122"/>
                <a:ea typeface="微软雅黑" panose="020B0503020204020204" pitchFamily="34" charset="-122"/>
              </a:rPr>
              <a:t>Safari</a:t>
            </a:r>
            <a:r>
              <a:rPr lang="zh-CN" altLang="en-US" sz="1900">
                <a:solidFill>
                  <a:srgbClr val="000000"/>
                </a:solidFill>
                <a:latin typeface="Microsoft YaHei" panose="020B0503020204020204" pitchFamily="34" charset="-122"/>
                <a:ea typeface="微软雅黑" panose="020B0503020204020204" pitchFamily="34" charset="-122"/>
              </a:rPr>
              <a:t>（</a:t>
            </a:r>
            <a:r>
              <a:rPr lang="en-US" altLang="zh-CN" sz="1900">
                <a:solidFill>
                  <a:srgbClr val="000000"/>
                </a:solidFill>
                <a:latin typeface="Microsoft YaHei" panose="020B0503020204020204" pitchFamily="34" charset="-122"/>
                <a:ea typeface="微软雅黑" panose="020B0503020204020204" pitchFamily="34" charset="-122"/>
              </a:rPr>
              <a:t>2025</a:t>
            </a:r>
            <a:r>
              <a:rPr lang="zh-CN" altLang="en-US" sz="1900">
                <a:solidFill>
                  <a:srgbClr val="000000"/>
                </a:solidFill>
                <a:latin typeface="Microsoft YaHei" panose="020B0503020204020204" pitchFamily="34" charset="-122"/>
                <a:ea typeface="微软雅黑" panose="020B0503020204020204" pitchFamily="34" charset="-122"/>
              </a:rPr>
              <a:t>）</a:t>
            </a:r>
          </a:p>
          <a:p>
            <a:pPr>
              <a:lnSpc>
                <a:spcPts val="2470"/>
              </a:lnSpc>
            </a:pPr>
            <a:r>
              <a:rPr lang="zh-CN" altLang="en-US" sz="1900">
                <a:solidFill>
                  <a:srgbClr val="000000"/>
                </a:solidFill>
                <a:latin typeface="Microsoft YaHei" panose="020B0503020204020204" pitchFamily="34" charset="-122"/>
                <a:ea typeface="微软雅黑" panose="020B0503020204020204" pitchFamily="34" charset="-122"/>
              </a:rPr>
              <a:t>均纳入实际比较。</a:t>
            </a:r>
          </a:p>
        </p:txBody>
      </p:sp>
      <p:sp>
        <p:nvSpPr>
          <p:cNvPr id="15" name="文本框 14">
            <a:extLst>
              <a:ext uri="{FF2B5EF4-FFF2-40B4-BE49-F238E27FC236}">
                <a16:creationId xmlns:a16="http://schemas.microsoft.com/office/drawing/2014/main" id="{9FA1CEC5-8D34-6329-6FCB-5D6FE9EB7B66}"/>
              </a:ext>
            </a:extLst>
          </p:cNvPr>
          <p:cNvSpPr txBox="1"/>
          <p:nvPr/>
        </p:nvSpPr>
        <p:spPr>
          <a:xfrm>
            <a:off x="622300" y="4597400"/>
            <a:ext cx="4953000" cy="965200"/>
          </a:xfrm>
          <a:prstGeom prst="rect">
            <a:avLst/>
          </a:prstGeom>
          <a:noFill/>
        </p:spPr>
        <p:txBody>
          <a:bodyPr vert="horz" wrap="square" lIns="0" tIns="0" rIns="0" bIns="0" rtlCol="0">
            <a:noAutofit/>
          </a:bodyPr>
          <a:lstStyle/>
          <a:p>
            <a:pPr>
              <a:lnSpc>
                <a:spcPts val="2470"/>
              </a:lnSpc>
            </a:pPr>
            <a:r>
              <a:rPr lang="en-US" altLang="zh-CN" sz="1900">
                <a:solidFill>
                  <a:srgbClr val="000000"/>
                </a:solidFill>
                <a:latin typeface="Microsoft YaHei" panose="020B0503020204020204" pitchFamily="34" charset="-122"/>
                <a:ea typeface="微软雅黑" panose="020B0503020204020204" pitchFamily="34" charset="-122"/>
              </a:rPr>
              <a:t>Park</a:t>
            </a:r>
            <a:r>
              <a:rPr lang="zh-CN" altLang="en-US" sz="1900">
                <a:solidFill>
                  <a:srgbClr val="000000"/>
                </a:solidFill>
                <a:latin typeface="Microsoft YaHei" panose="020B0503020204020204" pitchFamily="34" charset="-122"/>
                <a:ea typeface="微软雅黑" panose="020B0503020204020204" pitchFamily="34" charset="-122"/>
              </a:rPr>
              <a:t>相关回归</a:t>
            </a:r>
          </a:p>
          <a:p>
            <a:pPr>
              <a:lnSpc>
                <a:spcPts val="2470"/>
              </a:lnSpc>
            </a:pPr>
            <a:r>
              <a:rPr lang="en-US" altLang="zh-CN" sz="1900">
                <a:solidFill>
                  <a:srgbClr val="000000"/>
                </a:solidFill>
                <a:latin typeface="Microsoft YaHei" panose="020B0503020204020204" pitchFamily="34" charset="-122"/>
                <a:ea typeface="微软雅黑" panose="020B0503020204020204" pitchFamily="34" charset="-122"/>
              </a:rPr>
              <a:t>Wang</a:t>
            </a:r>
            <a:r>
              <a:rPr lang="zh-CN" altLang="en-US" sz="1900">
                <a:solidFill>
                  <a:srgbClr val="000000"/>
                </a:solidFill>
                <a:latin typeface="Microsoft YaHei" panose="020B0503020204020204" pitchFamily="34" charset="-122"/>
                <a:ea typeface="微软雅黑" panose="020B0503020204020204" pitchFamily="34" charset="-122"/>
              </a:rPr>
              <a:t>等 </a:t>
            </a:r>
            <a:r>
              <a:rPr lang="en-US" altLang="zh-CN" sz="1900">
                <a:solidFill>
                  <a:srgbClr val="000000"/>
                </a:solidFill>
                <a:latin typeface="Microsoft YaHei" panose="020B0503020204020204" pitchFamily="34" charset="-122"/>
                <a:ea typeface="微软雅黑" panose="020B0503020204020204" pitchFamily="34" charset="-122"/>
              </a:rPr>
              <a:t>[187-001]</a:t>
            </a:r>
            <a:r>
              <a:rPr lang="zh-CN" altLang="en-US" sz="1900">
                <a:solidFill>
                  <a:srgbClr val="000000"/>
                </a:solidFill>
                <a:latin typeface="Microsoft YaHei" panose="020B0503020204020204" pitchFamily="34" charset="-122"/>
                <a:ea typeface="微软雅黑" panose="020B0503020204020204" pitchFamily="34" charset="-122"/>
              </a:rPr>
              <a:t>介绍并比较。</a:t>
            </a:r>
          </a:p>
        </p:txBody>
      </p:sp>
      <p:sp>
        <p:nvSpPr>
          <p:cNvPr id="16" name="文本框 15">
            <a:extLst>
              <a:ext uri="{FF2B5EF4-FFF2-40B4-BE49-F238E27FC236}">
                <a16:creationId xmlns:a16="http://schemas.microsoft.com/office/drawing/2014/main" id="{8771CB35-9D6D-AC5D-F00F-FF8C0E65C414}"/>
              </a:ext>
            </a:extLst>
          </p:cNvPr>
          <p:cNvSpPr txBox="1"/>
          <p:nvPr/>
        </p:nvSpPr>
        <p:spPr>
          <a:xfrm>
            <a:off x="6426200" y="3098800"/>
            <a:ext cx="5080000" cy="977900"/>
          </a:xfrm>
          <a:prstGeom prst="rect">
            <a:avLst/>
          </a:prstGeom>
          <a:noFill/>
        </p:spPr>
        <p:txBody>
          <a:bodyPr vert="horz" wrap="square" lIns="0" tIns="0" rIns="0" bIns="0" rtlCol="0">
            <a:noAutofit/>
          </a:bodyPr>
          <a:lstStyle/>
          <a:p>
            <a:pPr>
              <a:lnSpc>
                <a:spcPts val="2470"/>
              </a:lnSpc>
            </a:pPr>
            <a:r>
              <a:rPr lang="en-US" altLang="zh-CN" sz="1900">
                <a:solidFill>
                  <a:srgbClr val="000000"/>
                </a:solidFill>
                <a:latin typeface="Microsoft YaHei" panose="020B0503020204020204" pitchFamily="34" charset="-122"/>
                <a:ea typeface="微软雅黑" panose="020B0503020204020204" pitchFamily="34" charset="-122"/>
              </a:rPr>
              <a:t>MDM</a:t>
            </a:r>
          </a:p>
          <a:p>
            <a:pPr>
              <a:lnSpc>
                <a:spcPts val="2470"/>
              </a:lnSpc>
            </a:pPr>
            <a:r>
              <a:rPr lang="zh-CN" altLang="en-US" sz="1900">
                <a:solidFill>
                  <a:srgbClr val="000000"/>
                </a:solidFill>
                <a:latin typeface="Microsoft YaHei" panose="020B0503020204020204" pitchFamily="34" charset="-122"/>
                <a:ea typeface="微软雅黑" panose="020B0503020204020204" pitchFamily="34" charset="-122"/>
              </a:rPr>
              <a:t>部分后续比较与提出团队作者重合。</a:t>
            </a:r>
          </a:p>
        </p:txBody>
      </p:sp>
      <p:sp>
        <p:nvSpPr>
          <p:cNvPr id="17" name="文本框 16">
            <a:extLst>
              <a:ext uri="{FF2B5EF4-FFF2-40B4-BE49-F238E27FC236}">
                <a16:creationId xmlns:a16="http://schemas.microsoft.com/office/drawing/2014/main" id="{50275E3D-0943-869E-6274-43225AD68010}"/>
              </a:ext>
            </a:extLst>
          </p:cNvPr>
          <p:cNvSpPr txBox="1"/>
          <p:nvPr/>
        </p:nvSpPr>
        <p:spPr>
          <a:xfrm>
            <a:off x="6426200" y="4419600"/>
            <a:ext cx="5080000" cy="1308100"/>
          </a:xfrm>
          <a:prstGeom prst="rect">
            <a:avLst/>
          </a:prstGeom>
          <a:noFill/>
        </p:spPr>
        <p:txBody>
          <a:bodyPr vert="horz" wrap="square" lIns="0" tIns="0" rIns="0" bIns="0" rtlCol="0">
            <a:noAutofit/>
          </a:bodyPr>
          <a:lstStyle/>
          <a:p>
            <a:pPr>
              <a:lnSpc>
                <a:spcPts val="2470"/>
              </a:lnSpc>
            </a:pPr>
            <a:r>
              <a:rPr lang="en-US" altLang="zh-CN" sz="1900">
                <a:solidFill>
                  <a:srgbClr val="000000"/>
                </a:solidFill>
                <a:latin typeface="Microsoft YaHei" panose="020B0503020204020204" pitchFamily="34" charset="-122"/>
                <a:ea typeface="微软雅黑" panose="020B0503020204020204" pitchFamily="34" charset="-122"/>
              </a:rPr>
              <a:t>SAM</a:t>
            </a:r>
            <a:r>
              <a:rPr lang="zh-CN" altLang="en-US" sz="1900">
                <a:solidFill>
                  <a:srgbClr val="000000"/>
                </a:solidFill>
                <a:latin typeface="Microsoft YaHei" panose="020B0503020204020204" pitchFamily="34" charset="-122"/>
                <a:ea typeface="微软雅黑" panose="020B0503020204020204" pitchFamily="34" charset="-122"/>
              </a:rPr>
              <a:t>、</a:t>
            </a:r>
            <a:r>
              <a:rPr lang="en-US" altLang="zh-CN" sz="1900">
                <a:solidFill>
                  <a:srgbClr val="000000"/>
                </a:solidFill>
                <a:latin typeface="Microsoft YaHei" panose="020B0503020204020204" pitchFamily="34" charset="-122"/>
                <a:ea typeface="微软雅黑" panose="020B0503020204020204" pitchFamily="34" charset="-122"/>
              </a:rPr>
              <a:t>BPNN</a:t>
            </a:r>
            <a:r>
              <a:rPr lang="zh-CN" altLang="en-US" sz="1900">
                <a:solidFill>
                  <a:srgbClr val="000000"/>
                </a:solidFill>
                <a:latin typeface="Microsoft YaHei" panose="020B0503020204020204" pitchFamily="34" charset="-122"/>
                <a:ea typeface="微软雅黑" panose="020B0503020204020204" pitchFamily="34" charset="-122"/>
              </a:rPr>
              <a:t>、</a:t>
            </a:r>
            <a:r>
              <a:rPr lang="en-US" altLang="zh-CN" sz="1900">
                <a:solidFill>
                  <a:srgbClr val="000000"/>
                </a:solidFill>
                <a:latin typeface="Microsoft YaHei" panose="020B0503020204020204" pitchFamily="34" charset="-122"/>
                <a:ea typeface="微软雅黑" panose="020B0503020204020204" pitchFamily="34" charset="-122"/>
              </a:rPr>
              <a:t>DMMLE</a:t>
            </a:r>
          </a:p>
          <a:p>
            <a:pPr>
              <a:lnSpc>
                <a:spcPts val="2470"/>
              </a:lnSpc>
            </a:pPr>
            <a:r>
              <a:rPr lang="zh-CN" altLang="en-US" sz="1900">
                <a:solidFill>
                  <a:srgbClr val="000000"/>
                </a:solidFill>
                <a:latin typeface="Microsoft YaHei" panose="020B0503020204020204" pitchFamily="34" charset="-122"/>
                <a:ea typeface="微软雅黑" panose="020B0503020204020204" pitchFamily="34" charset="-122"/>
              </a:rPr>
              <a:t>已核提出论文中的比较；本次尚未</a:t>
            </a:r>
          </a:p>
          <a:p>
            <a:pPr>
              <a:lnSpc>
                <a:spcPts val="2470"/>
              </a:lnSpc>
            </a:pPr>
            <a:r>
              <a:rPr lang="zh-CN" altLang="en-US" sz="1900">
                <a:solidFill>
                  <a:srgbClr val="000000"/>
                </a:solidFill>
                <a:latin typeface="Microsoft YaHei" panose="020B0503020204020204" pitchFamily="34" charset="-122"/>
                <a:ea typeface="微软雅黑" panose="020B0503020204020204" pitchFamily="34" charset="-122"/>
              </a:rPr>
              <a:t>确认充分的独立后续检验。</a:t>
            </a:r>
          </a:p>
        </p:txBody>
      </p:sp>
    </p:spTree>
    <p:extLst>
      <p:ext uri="{BB962C8B-B14F-4D97-AF65-F5344CB8AC3E}">
        <p14:creationId xmlns:p14="http://schemas.microsoft.com/office/powerpoint/2010/main" val="41521261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400" b="1" spc="-150">
                <a:solidFill>
                  <a:srgbClr val="FFFFFF"/>
                </a:solidFill>
                <a:latin typeface="汉仪文润宋韵 U"/>
                <a:ea typeface="汉仪文润宋韵 U"/>
                <a:cs typeface="汉仪文润宋韵 U"/>
              </a:rPr>
              <a:t>相近论文：常用参照与直接前身各有作用</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对照选择、版本与验证</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03</a:t>
            </a:r>
            <a:endParaRPr sz="1800">
              <a:latin typeface="Microsoft YaHei"/>
            </a:endParaRPr>
          </a:p>
        </p:txBody>
      </p:sp>
      <p:sp>
        <p:nvSpPr>
          <p:cNvPr id="6" name="文本框 5">
            <a:extLst>
              <a:ext uri="{FF2B5EF4-FFF2-40B4-BE49-F238E27FC236}">
                <a16:creationId xmlns:a16="http://schemas.microsoft.com/office/drawing/2014/main" id="{6A4905D9-126E-7C20-FFBB-4A61C0410080}"/>
              </a:ext>
            </a:extLst>
          </p:cNvPr>
          <p:cNvSpPr txBox="1"/>
          <p:nvPr/>
        </p:nvSpPr>
        <p:spPr>
          <a:xfrm>
            <a:off x="622300" y="1676400"/>
            <a:ext cx="10922000" cy="558800"/>
          </a:xfrm>
          <a:prstGeom prst="rect">
            <a:avLst/>
          </a:prstGeom>
          <a:noFill/>
        </p:spPr>
        <p:txBody>
          <a:bodyPr vert="horz" wrap="square" lIns="0" tIns="0" rIns="0" bIns="0" rtlCol="0">
            <a:noAutofit/>
          </a:bodyPr>
          <a:lstStyle/>
          <a:p>
            <a:pPr>
              <a:lnSpc>
                <a:spcPts val="2340"/>
              </a:lnSpc>
            </a:pPr>
            <a:r>
              <a:rPr lang="zh-CN" altLang="en-US">
                <a:solidFill>
                  <a:srgbClr val="2F6096"/>
                </a:solidFill>
                <a:latin typeface="Microsoft YaHei" panose="020B0503020204020204" pitchFamily="34" charset="-122"/>
                <a:ea typeface="微软雅黑" panose="020B0503020204020204" pitchFamily="34" charset="-122"/>
              </a:rPr>
              <a:t>先看别人实际与谁比，再形成我们的选择建议。</a:t>
            </a:r>
          </a:p>
        </p:txBody>
      </p:sp>
      <p:sp>
        <p:nvSpPr>
          <p:cNvPr id="7" name="文本框 6">
            <a:extLst>
              <a:ext uri="{FF2B5EF4-FFF2-40B4-BE49-F238E27FC236}">
                <a16:creationId xmlns:a16="http://schemas.microsoft.com/office/drawing/2014/main" id="{BF76769D-3F82-E47D-9A13-0A6944372FF5}"/>
              </a:ext>
            </a:extLst>
          </p:cNvPr>
          <p:cNvSpPr txBox="1"/>
          <p:nvPr/>
        </p:nvSpPr>
        <p:spPr>
          <a:xfrm>
            <a:off x="622300" y="5981700"/>
            <a:ext cx="10922000" cy="508000"/>
          </a:xfrm>
          <a:prstGeom prst="rect">
            <a:avLst/>
          </a:prstGeom>
          <a:noFill/>
        </p:spPr>
        <p:txBody>
          <a:bodyPr vert="horz" wrap="square" lIns="0" tIns="0" rIns="0" bIns="0" rtlCol="0">
            <a:noAutofit/>
          </a:bodyPr>
          <a:lstStyle/>
          <a:p>
            <a:pPr>
              <a:lnSpc>
                <a:spcPts val="2210"/>
              </a:lnSpc>
            </a:pPr>
            <a:r>
              <a:rPr lang="zh-CN" altLang="en-US" sz="1700" b="1">
                <a:solidFill>
                  <a:srgbClr val="2F6096"/>
                </a:solidFill>
                <a:latin typeface="Microsoft YaHei" panose="020B0503020204020204" pitchFamily="34" charset="-122"/>
                <a:ea typeface="微软雅黑" panose="020B0503020204020204" pitchFamily="34" charset="-122"/>
              </a:rPr>
              <a:t>可借鉴“共同参照＋近期近邻＋直接母方法”的组合，不按名称凑数量。</a:t>
            </a:r>
          </a:p>
        </p:txBody>
      </p:sp>
      <p:graphicFrame>
        <p:nvGraphicFramePr>
          <p:cNvPr id="8" name="表格 7">
            <a:extLst>
              <a:ext uri="{FF2B5EF4-FFF2-40B4-BE49-F238E27FC236}">
                <a16:creationId xmlns:a16="http://schemas.microsoft.com/office/drawing/2014/main" id="{58807F21-069D-AC16-568A-06FDE7C5058E}"/>
              </a:ext>
            </a:extLst>
          </p:cNvPr>
          <p:cNvGraphicFramePr>
            <a:graphicFrameLocks noGrp="1"/>
          </p:cNvGraphicFramePr>
          <p:nvPr>
            <p:extLst>
              <p:ext uri="{D42A27DB-BD31-4B8C-83A1-F6EECF244321}">
                <p14:modId xmlns:p14="http://schemas.microsoft.com/office/powerpoint/2010/main" val="587567561"/>
              </p:ext>
            </p:extLst>
          </p:nvPr>
        </p:nvGraphicFramePr>
        <p:xfrm>
          <a:off x="622300" y="2413000"/>
          <a:ext cx="10922000" cy="3301998"/>
        </p:xfrm>
        <a:graphic>
          <a:graphicData uri="http://schemas.openxmlformats.org/drawingml/2006/table">
            <a:tbl>
              <a:tblPr firstRow="1" bandRow="1">
                <a:tableStyleId>{5C22544A-7EE6-4342-B048-85BDC9FD1C3A}</a:tableStyleId>
              </a:tblPr>
              <a:tblGrid>
                <a:gridCol w="3086100">
                  <a:extLst>
                    <a:ext uri="{9D8B030D-6E8A-4147-A177-3AD203B41FA5}">
                      <a16:colId xmlns:a16="http://schemas.microsoft.com/office/drawing/2014/main" val="3195878985"/>
                    </a:ext>
                  </a:extLst>
                </a:gridCol>
                <a:gridCol w="4000500">
                  <a:extLst>
                    <a:ext uri="{9D8B030D-6E8A-4147-A177-3AD203B41FA5}">
                      <a16:colId xmlns:a16="http://schemas.microsoft.com/office/drawing/2014/main" val="1824879681"/>
                    </a:ext>
                  </a:extLst>
                </a:gridCol>
                <a:gridCol w="3835400">
                  <a:extLst>
                    <a:ext uri="{9D8B030D-6E8A-4147-A177-3AD203B41FA5}">
                      <a16:colId xmlns:a16="http://schemas.microsoft.com/office/drawing/2014/main" val="3010383572"/>
                    </a:ext>
                  </a:extLst>
                </a:gridCol>
              </a:tblGrid>
              <a:tr h="550333">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提出工作</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原文实际对手</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比较作用的归纳</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extLst>
                  <a:ext uri="{0D108BD9-81ED-4DB2-BD59-A6C34878D82A}">
                    <a16:rowId xmlns:a16="http://schemas.microsoft.com/office/drawing/2014/main" val="3214650536"/>
                  </a:ext>
                </a:extLst>
              </a:tr>
              <a:tr h="550333">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SAM [185-005]</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MLE</a:t>
                      </a:r>
                      <a:r>
                        <a:rPr lang="zh-CN" altLang="en-US" sz="1600" b="0">
                          <a:solidFill>
                            <a:srgbClr val="000000"/>
                          </a:solidFill>
                          <a:latin typeface="Microsoft YaHei" panose="020B0503020204020204" pitchFamily="34" charset="-122"/>
                          <a:ea typeface="微软雅黑" panose="020B0503020204020204" pitchFamily="34" charset="-122"/>
                        </a:rPr>
                        <a:t>、</a:t>
                      </a:r>
                      <a:r>
                        <a:rPr lang="en-US" altLang="zh-CN" sz="1600" b="0">
                          <a:solidFill>
                            <a:srgbClr val="000000"/>
                          </a:solidFill>
                          <a:latin typeface="Microsoft YaHei" panose="020B0503020204020204" pitchFamily="34" charset="-122"/>
                          <a:ea typeface="微软雅黑" panose="020B0503020204020204" pitchFamily="34" charset="-122"/>
                        </a:rPr>
                        <a:t>CCWP</a:t>
                      </a:r>
                      <a:r>
                        <a:rPr lang="zh-CN" altLang="en-US" sz="1600" b="0">
                          <a:solidFill>
                            <a:srgbClr val="000000"/>
                          </a:solidFill>
                          <a:latin typeface="Microsoft YaHei" panose="020B0503020204020204" pitchFamily="34" charset="-122"/>
                          <a:ea typeface="微软雅黑" panose="020B0503020204020204" pitchFamily="34" charset="-122"/>
                        </a:rPr>
                        <a:t>、</a:t>
                      </a:r>
                      <a:r>
                        <a:rPr lang="en-US" altLang="zh-CN" sz="1600" b="0">
                          <a:solidFill>
                            <a:srgbClr val="000000"/>
                          </a:solidFill>
                          <a:latin typeface="Microsoft YaHei" panose="020B0503020204020204" pitchFamily="34" charset="-122"/>
                          <a:ea typeface="微软雅黑" panose="020B0503020204020204" pitchFamily="34" charset="-122"/>
                        </a:rPr>
                        <a:t>PWM</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跨路线参照</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765226178"/>
                  </a:ext>
                </a:extLst>
              </a:tr>
              <a:tr h="550333">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PM [182-117]</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LSE</a:t>
                      </a:r>
                      <a:r>
                        <a:rPr lang="zh-CN" altLang="en-US" sz="1600" b="0">
                          <a:solidFill>
                            <a:srgbClr val="000000"/>
                          </a:solidFill>
                          <a:latin typeface="Microsoft YaHei" panose="020B0503020204020204" pitchFamily="34" charset="-122"/>
                          <a:ea typeface="微软雅黑" panose="020B0503020204020204" pitchFamily="34" charset="-122"/>
                        </a:rPr>
                        <a:t>、</a:t>
                      </a:r>
                      <a:r>
                        <a:rPr lang="en-US" altLang="zh-CN" sz="1600" b="0">
                          <a:solidFill>
                            <a:srgbClr val="000000"/>
                          </a:solidFill>
                          <a:latin typeface="Microsoft YaHei" panose="020B0503020204020204" pitchFamily="34" charset="-122"/>
                          <a:ea typeface="微软雅黑" panose="020B0503020204020204" pitchFamily="34" charset="-122"/>
                        </a:rPr>
                        <a:t>MLE</a:t>
                      </a:r>
                      <a:r>
                        <a:rPr lang="zh-CN" altLang="en-US" sz="1600" b="0">
                          <a:solidFill>
                            <a:srgbClr val="000000"/>
                          </a:solidFill>
                          <a:latin typeface="Microsoft YaHei" panose="020B0503020204020204" pitchFamily="34" charset="-122"/>
                          <a:ea typeface="微软雅黑" panose="020B0503020204020204" pitchFamily="34" charset="-122"/>
                        </a:rPr>
                        <a:t>、</a:t>
                      </a:r>
                      <a:r>
                        <a:rPr lang="en-US" altLang="zh-CN" sz="1600" b="0">
                          <a:solidFill>
                            <a:srgbClr val="000000"/>
                          </a:solidFill>
                          <a:latin typeface="Microsoft YaHei" panose="020B0503020204020204" pitchFamily="34" charset="-122"/>
                          <a:ea typeface="微软雅黑" panose="020B0503020204020204" pitchFamily="34" charset="-122"/>
                        </a:rPr>
                        <a:t>PWM</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相关条件下的多方法比较</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3040479415"/>
                  </a:ext>
                </a:extLst>
              </a:tr>
              <a:tr h="550333">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BPNN [184-009]</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CCM</a:t>
                      </a:r>
                      <a:r>
                        <a:rPr lang="zh-CN" altLang="en-US" sz="1600" b="0">
                          <a:solidFill>
                            <a:srgbClr val="000000"/>
                          </a:solidFill>
                          <a:latin typeface="Microsoft YaHei" panose="020B0503020204020204" pitchFamily="34" charset="-122"/>
                          <a:ea typeface="微软雅黑" panose="020B0503020204020204" pitchFamily="34" charset="-122"/>
                        </a:rPr>
                        <a:t>、</a:t>
                      </a:r>
                      <a:r>
                        <a:rPr lang="en-US" altLang="zh-CN" sz="1600" b="0">
                          <a:solidFill>
                            <a:srgbClr val="000000"/>
                          </a:solidFill>
                          <a:latin typeface="Microsoft YaHei" panose="020B0503020204020204" pitchFamily="34" charset="-122"/>
                          <a:ea typeface="微软雅黑" panose="020B0503020204020204" pitchFamily="34" charset="-122"/>
                        </a:rPr>
                        <a:t>MDM</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相关小样本方法</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4185588562"/>
                  </a:ext>
                </a:extLst>
              </a:tr>
              <a:tr h="550333">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WMLE</a:t>
                      </a:r>
                      <a:r>
                        <a:rPr lang="zh-CN" altLang="en-US" sz="1600" b="0">
                          <a:solidFill>
                            <a:srgbClr val="000000"/>
                          </a:solidFill>
                          <a:latin typeface="Microsoft YaHei" panose="020B0503020204020204" pitchFamily="34" charset="-122"/>
                          <a:ea typeface="微软雅黑" panose="020B0503020204020204" pitchFamily="34" charset="-122"/>
                        </a:rPr>
                        <a:t>形状修正 </a:t>
                      </a:r>
                      <a:r>
                        <a:rPr lang="en-US" altLang="zh-CN" sz="1600" b="0">
                          <a:solidFill>
                            <a:srgbClr val="000000"/>
                          </a:solidFill>
                          <a:latin typeface="Microsoft YaHei" panose="020B0503020204020204" pitchFamily="34" charset="-122"/>
                          <a:ea typeface="微软雅黑" panose="020B0503020204020204" pitchFamily="34" charset="-122"/>
                        </a:rPr>
                        <a:t>[182-024]</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原</a:t>
                      </a:r>
                      <a:r>
                        <a:rPr lang="en-US" altLang="zh-CN" sz="1600" b="0">
                          <a:solidFill>
                            <a:srgbClr val="000000"/>
                          </a:solidFill>
                          <a:latin typeface="Microsoft YaHei" panose="020B0503020204020204" pitchFamily="34" charset="-122"/>
                          <a:ea typeface="微软雅黑" panose="020B0503020204020204" pitchFamily="34" charset="-122"/>
                        </a:rPr>
                        <a:t>WMLE</a:t>
                      </a:r>
                      <a:r>
                        <a:rPr lang="zh-CN" altLang="en-US" sz="1600" b="0">
                          <a:solidFill>
                            <a:srgbClr val="000000"/>
                          </a:solidFill>
                          <a:latin typeface="Microsoft YaHei" panose="020B0503020204020204" pitchFamily="34" charset="-122"/>
                          <a:ea typeface="微软雅黑" panose="020B0503020204020204" pitchFamily="34" charset="-122"/>
                        </a:rPr>
                        <a:t>、其他修正版本</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识别相对前身的新增收益</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2354727762"/>
                  </a:ext>
                </a:extLst>
              </a:tr>
              <a:tr h="550333">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LSPF [182-113]</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BL</a:t>
                      </a:r>
                      <a:r>
                        <a:rPr lang="zh-CN" altLang="en-US" sz="1600" b="0">
                          <a:solidFill>
                            <a:srgbClr val="000000"/>
                          </a:solidFill>
                          <a:latin typeface="Microsoft YaHei" panose="020B0503020204020204" pitchFamily="34" charset="-122"/>
                          <a:ea typeface="微软雅黑" panose="020B0503020204020204" pitchFamily="34" charset="-122"/>
                        </a:rPr>
                        <a:t>、</a:t>
                      </a:r>
                      <a:r>
                        <a:rPr lang="en-US" altLang="zh-CN" sz="1600" b="0">
                          <a:solidFill>
                            <a:srgbClr val="000000"/>
                          </a:solidFill>
                          <a:latin typeface="Microsoft YaHei" panose="020B0503020204020204" pitchFamily="34" charset="-122"/>
                          <a:ea typeface="微软雅黑" panose="020B0503020204020204" pitchFamily="34" charset="-122"/>
                        </a:rPr>
                        <a:t>w-ML</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有限样本与位置估计对手</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3568740424"/>
                  </a:ext>
                </a:extLst>
              </a:tr>
            </a:tbl>
          </a:graphicData>
        </a:graphic>
      </p:graphicFrame>
    </p:spTree>
    <p:extLst>
      <p:ext uri="{BB962C8B-B14F-4D97-AF65-F5344CB8AC3E}">
        <p14:creationId xmlns:p14="http://schemas.microsoft.com/office/powerpoint/2010/main" val="36185978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400" b="1" spc="-150">
                <a:solidFill>
                  <a:srgbClr val="FFFFFF"/>
                </a:solidFill>
                <a:latin typeface="汉仪文润宋韵 U"/>
                <a:ea typeface="汉仪文润宋韵 U"/>
                <a:cs typeface="汉仪文润宋韵 U"/>
              </a:rPr>
              <a:t>对照建议：每个入选方法承担明确作用</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对照选择、版本与验证</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03</a:t>
            </a:r>
            <a:endParaRPr sz="1800">
              <a:latin typeface="Microsoft YaHei"/>
            </a:endParaRPr>
          </a:p>
        </p:txBody>
      </p:sp>
      <p:sp>
        <p:nvSpPr>
          <p:cNvPr id="6" name="文本框 5">
            <a:extLst>
              <a:ext uri="{FF2B5EF4-FFF2-40B4-BE49-F238E27FC236}">
                <a16:creationId xmlns:a16="http://schemas.microsoft.com/office/drawing/2014/main" id="{28A02C7C-E938-1921-73A8-7336F9F94CAB}"/>
              </a:ext>
            </a:extLst>
          </p:cNvPr>
          <p:cNvSpPr txBox="1"/>
          <p:nvPr/>
        </p:nvSpPr>
        <p:spPr>
          <a:xfrm>
            <a:off x="622300" y="1676400"/>
            <a:ext cx="10922000" cy="558800"/>
          </a:xfrm>
          <a:prstGeom prst="rect">
            <a:avLst/>
          </a:prstGeom>
          <a:noFill/>
        </p:spPr>
        <p:txBody>
          <a:bodyPr vert="horz" wrap="square" lIns="0" tIns="0" rIns="0" bIns="0" rtlCol="0">
            <a:noAutofit/>
          </a:bodyPr>
          <a:lstStyle/>
          <a:p>
            <a:pPr>
              <a:lnSpc>
                <a:spcPts val="2340"/>
              </a:lnSpc>
            </a:pPr>
            <a:r>
              <a:rPr lang="zh-CN" altLang="en-US">
                <a:solidFill>
                  <a:srgbClr val="2F6096"/>
                </a:solidFill>
                <a:latin typeface="Microsoft YaHei" panose="020B0503020204020204" pitchFamily="34" charset="-122"/>
                <a:ea typeface="微软雅黑" panose="020B0503020204020204" pitchFamily="34" charset="-122"/>
              </a:rPr>
              <a:t>以下面向完整三参数、重点小样本的点估计论文，属于初选建议。</a:t>
            </a:r>
          </a:p>
        </p:txBody>
      </p:sp>
      <p:sp>
        <p:nvSpPr>
          <p:cNvPr id="7" name="文本框 6">
            <a:extLst>
              <a:ext uri="{FF2B5EF4-FFF2-40B4-BE49-F238E27FC236}">
                <a16:creationId xmlns:a16="http://schemas.microsoft.com/office/drawing/2014/main" id="{47D43439-6665-4F74-B574-047913EADC80}"/>
              </a:ext>
            </a:extLst>
          </p:cNvPr>
          <p:cNvSpPr txBox="1"/>
          <p:nvPr/>
        </p:nvSpPr>
        <p:spPr>
          <a:xfrm>
            <a:off x="622300" y="5981700"/>
            <a:ext cx="10922000" cy="508000"/>
          </a:xfrm>
          <a:prstGeom prst="rect">
            <a:avLst/>
          </a:prstGeom>
          <a:noFill/>
        </p:spPr>
        <p:txBody>
          <a:bodyPr vert="horz" wrap="square" lIns="0" tIns="0" rIns="0" bIns="0" rtlCol="0">
            <a:noAutofit/>
          </a:bodyPr>
          <a:lstStyle/>
          <a:p>
            <a:pPr>
              <a:lnSpc>
                <a:spcPts val="2210"/>
              </a:lnSpc>
            </a:pPr>
            <a:r>
              <a:rPr lang="zh-CN" altLang="en-US" sz="1700" b="1">
                <a:solidFill>
                  <a:srgbClr val="2F6096"/>
                </a:solidFill>
                <a:latin typeface="Microsoft YaHei" panose="020B0503020204020204" pitchFamily="34" charset="-122"/>
                <a:ea typeface="微软雅黑" panose="020B0503020204020204" pitchFamily="34" charset="-122"/>
              </a:rPr>
              <a:t>按主张扩展</a:t>
            </a:r>
            <a:r>
              <a:rPr lang="en-US" altLang="zh-CN" sz="1700" b="1">
                <a:solidFill>
                  <a:srgbClr val="2F6096"/>
                </a:solidFill>
                <a:latin typeface="Microsoft YaHei" panose="020B0503020204020204" pitchFamily="34" charset="-122"/>
                <a:ea typeface="微软雅黑" panose="020B0503020204020204" pitchFamily="34" charset="-122"/>
              </a:rPr>
              <a:t>MPS/PWM</a:t>
            </a:r>
            <a:r>
              <a:rPr lang="zh-CN" altLang="en-US" sz="1700" b="1">
                <a:solidFill>
                  <a:srgbClr val="2F6096"/>
                </a:solidFill>
                <a:latin typeface="Microsoft YaHei" panose="020B0503020204020204" pitchFamily="34" charset="-122"/>
                <a:ea typeface="微软雅黑" panose="020B0503020204020204" pitchFamily="34" charset="-122"/>
              </a:rPr>
              <a:t>、</a:t>
            </a:r>
            <a:r>
              <a:rPr lang="en-US" altLang="zh-CN" sz="1700" b="1">
                <a:solidFill>
                  <a:srgbClr val="2F6096"/>
                </a:solidFill>
                <a:latin typeface="Microsoft YaHei" panose="020B0503020204020204" pitchFamily="34" charset="-122"/>
                <a:ea typeface="微软雅黑" panose="020B0503020204020204" pitchFamily="34" charset="-122"/>
              </a:rPr>
              <a:t>LSPF</a:t>
            </a:r>
            <a:r>
              <a:rPr lang="zh-CN" altLang="en-US" sz="1700" b="1">
                <a:solidFill>
                  <a:srgbClr val="2F6096"/>
                </a:solidFill>
                <a:latin typeface="Microsoft YaHei" panose="020B0503020204020204" pitchFamily="34" charset="-122"/>
                <a:ea typeface="微软雅黑" panose="020B0503020204020204" pitchFamily="34" charset="-122"/>
              </a:rPr>
              <a:t>、</a:t>
            </a:r>
            <a:r>
              <a:rPr lang="en-US" altLang="zh-CN" sz="1700" b="1">
                <a:solidFill>
                  <a:srgbClr val="2F6096"/>
                </a:solidFill>
                <a:latin typeface="Microsoft YaHei" panose="020B0503020204020204" pitchFamily="34" charset="-122"/>
                <a:ea typeface="微软雅黑" panose="020B0503020204020204" pitchFamily="34" charset="-122"/>
              </a:rPr>
              <a:t>BPNN</a:t>
            </a:r>
            <a:r>
              <a:rPr lang="zh-CN" altLang="en-US" sz="1700" b="1">
                <a:solidFill>
                  <a:srgbClr val="2F6096"/>
                </a:solidFill>
                <a:latin typeface="Microsoft YaHei" panose="020B0503020204020204" pitchFamily="34" charset="-122"/>
                <a:ea typeface="微软雅黑" panose="020B0503020204020204" pitchFamily="34" charset="-122"/>
              </a:rPr>
              <a:t>或</a:t>
            </a:r>
            <a:r>
              <a:rPr lang="en-US" altLang="zh-CN" sz="1700" b="1">
                <a:solidFill>
                  <a:srgbClr val="2F6096"/>
                </a:solidFill>
                <a:latin typeface="Microsoft YaHei" panose="020B0503020204020204" pitchFamily="34" charset="-122"/>
                <a:ea typeface="微软雅黑" panose="020B0503020204020204" pitchFamily="34" charset="-122"/>
              </a:rPr>
              <a:t>DMMLE</a:t>
            </a:r>
            <a:r>
              <a:rPr lang="zh-CN" altLang="en-US" sz="1700" b="1">
                <a:solidFill>
                  <a:srgbClr val="2F6096"/>
                </a:solidFill>
                <a:latin typeface="Microsoft YaHei" panose="020B0503020204020204" pitchFamily="34" charset="-122"/>
                <a:ea typeface="微软雅黑" panose="020B0503020204020204" pitchFamily="34" charset="-122"/>
              </a:rPr>
              <a:t>；暂不纳入不等于性能淘汰。</a:t>
            </a:r>
          </a:p>
        </p:txBody>
      </p:sp>
      <p:graphicFrame>
        <p:nvGraphicFramePr>
          <p:cNvPr id="8" name="表格 7">
            <a:extLst>
              <a:ext uri="{FF2B5EF4-FFF2-40B4-BE49-F238E27FC236}">
                <a16:creationId xmlns:a16="http://schemas.microsoft.com/office/drawing/2014/main" id="{CA510211-DAF4-96B6-DB0E-31F1165336C3}"/>
              </a:ext>
            </a:extLst>
          </p:cNvPr>
          <p:cNvGraphicFramePr>
            <a:graphicFrameLocks noGrp="1"/>
          </p:cNvGraphicFramePr>
          <p:nvPr>
            <p:extLst>
              <p:ext uri="{D42A27DB-BD31-4B8C-83A1-F6EECF244321}">
                <p14:modId xmlns:p14="http://schemas.microsoft.com/office/powerpoint/2010/main" val="3898706717"/>
              </p:ext>
            </p:extLst>
          </p:nvPr>
        </p:nvGraphicFramePr>
        <p:xfrm>
          <a:off x="622300" y="2413000"/>
          <a:ext cx="10922000" cy="3301998"/>
        </p:xfrm>
        <a:graphic>
          <a:graphicData uri="http://schemas.openxmlformats.org/drawingml/2006/table">
            <a:tbl>
              <a:tblPr firstRow="1" bandRow="1">
                <a:tableStyleId>{5C22544A-7EE6-4342-B048-85BDC9FD1C3A}</a:tableStyleId>
              </a:tblPr>
              <a:tblGrid>
                <a:gridCol w="3086100">
                  <a:extLst>
                    <a:ext uri="{9D8B030D-6E8A-4147-A177-3AD203B41FA5}">
                      <a16:colId xmlns:a16="http://schemas.microsoft.com/office/drawing/2014/main" val="794623125"/>
                    </a:ext>
                  </a:extLst>
                </a:gridCol>
                <a:gridCol w="4000500">
                  <a:extLst>
                    <a:ext uri="{9D8B030D-6E8A-4147-A177-3AD203B41FA5}">
                      <a16:colId xmlns:a16="http://schemas.microsoft.com/office/drawing/2014/main" val="665228427"/>
                    </a:ext>
                  </a:extLst>
                </a:gridCol>
                <a:gridCol w="3835400">
                  <a:extLst>
                    <a:ext uri="{9D8B030D-6E8A-4147-A177-3AD203B41FA5}">
                      <a16:colId xmlns:a16="http://schemas.microsoft.com/office/drawing/2014/main" val="905997384"/>
                    </a:ext>
                  </a:extLst>
                </a:gridCol>
              </a:tblGrid>
              <a:tr h="550333">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比较作用</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起始候选</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为什么保留或加入</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extLst>
                  <a:ext uri="{0D108BD9-81ED-4DB2-BD59-A6C34878D82A}">
                    <a16:rowId xmlns:a16="http://schemas.microsoft.com/office/drawing/2014/main" val="3148723406"/>
                  </a:ext>
                </a:extLst>
              </a:tr>
              <a:tr h="550333">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共同参照</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MLE</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联系相近文献，明确受限或局部解</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402116768"/>
                  </a:ext>
                </a:extLst>
              </a:tr>
              <a:tr h="550333">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有限样本改进</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Cousineau WMLE</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有修正内容与后续采用依据</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3140023757"/>
                  </a:ext>
                </a:extLst>
              </a:tr>
              <a:tr h="550333">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概率图代表</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一个明确的相关回归版本</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代表不同估计依据</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2291683713"/>
                  </a:ext>
                </a:extLst>
              </a:tr>
              <a:tr h="550333">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近期同任务构造</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SAM</a:t>
                      </a:r>
                      <a:r>
                        <a:rPr lang="zh-CN" altLang="en-US" sz="1600" b="0">
                          <a:solidFill>
                            <a:srgbClr val="000000"/>
                          </a:solidFill>
                          <a:latin typeface="Microsoft YaHei" panose="020B0503020204020204" pitchFamily="34" charset="-122"/>
                          <a:ea typeface="微软雅黑" panose="020B0503020204020204" pitchFamily="34" charset="-122"/>
                        </a:rPr>
                        <a:t>或</a:t>
                      </a:r>
                      <a:r>
                        <a:rPr lang="en-US" altLang="zh-CN" sz="1600" b="0">
                          <a:solidFill>
                            <a:srgbClr val="000000"/>
                          </a:solidFill>
                          <a:latin typeface="Microsoft YaHei" panose="020B0503020204020204" pitchFamily="34" charset="-122"/>
                          <a:ea typeface="微软雅黑" panose="020B0503020204020204" pitchFamily="34" charset="-122"/>
                        </a:rPr>
                        <a:t>PM</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已有极小样本研究</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3544926839"/>
                  </a:ext>
                </a:extLst>
              </a:tr>
              <a:tr h="550333">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新增收益</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新方法的直接母方法</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检验本次改动本身的贡献</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2816599595"/>
                  </a:ext>
                </a:extLst>
              </a:tr>
            </a:tbl>
          </a:graphicData>
        </a:graphic>
      </p:graphicFrame>
    </p:spTree>
    <p:extLst>
      <p:ext uri="{BB962C8B-B14F-4D97-AF65-F5344CB8AC3E}">
        <p14:creationId xmlns:p14="http://schemas.microsoft.com/office/powerpoint/2010/main" val="42866254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400" b="1" spc="-150">
                <a:solidFill>
                  <a:srgbClr val="FFFFFF"/>
                </a:solidFill>
                <a:latin typeface="汉仪文润宋韵 U"/>
                <a:ea typeface="汉仪文润宋韵 U"/>
                <a:cs typeface="汉仪文润宋韵 U"/>
              </a:rPr>
              <a:t>采用版本：方法名必须对应到实际构造</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对照选择、版本与验证</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03</a:t>
            </a:r>
            <a:endParaRPr sz="1800">
              <a:latin typeface="Microsoft YaHei"/>
            </a:endParaRPr>
          </a:p>
        </p:txBody>
      </p:sp>
      <p:sp>
        <p:nvSpPr>
          <p:cNvPr id="6" name="文本框 5">
            <a:extLst>
              <a:ext uri="{FF2B5EF4-FFF2-40B4-BE49-F238E27FC236}">
                <a16:creationId xmlns:a16="http://schemas.microsoft.com/office/drawing/2014/main" id="{7650F10A-9FF6-5DB6-2F06-4D17930303E5}"/>
              </a:ext>
            </a:extLst>
          </p:cNvPr>
          <p:cNvSpPr txBox="1"/>
          <p:nvPr/>
        </p:nvSpPr>
        <p:spPr>
          <a:xfrm>
            <a:off x="622300" y="1676400"/>
            <a:ext cx="10922000" cy="558800"/>
          </a:xfrm>
          <a:prstGeom prst="rect">
            <a:avLst/>
          </a:prstGeom>
          <a:noFill/>
        </p:spPr>
        <p:txBody>
          <a:bodyPr vert="horz" wrap="square" lIns="0" tIns="0" rIns="0" bIns="0" rtlCol="0">
            <a:noAutofit/>
          </a:bodyPr>
          <a:lstStyle/>
          <a:p>
            <a:pPr>
              <a:lnSpc>
                <a:spcPts val="2340"/>
              </a:lnSpc>
            </a:pPr>
            <a:r>
              <a:rPr lang="zh-CN" altLang="en-US">
                <a:solidFill>
                  <a:srgbClr val="2F6096"/>
                </a:solidFill>
                <a:latin typeface="Microsoft YaHei" panose="020B0503020204020204" pitchFamily="34" charset="-122"/>
                <a:ea typeface="微软雅黑" panose="020B0503020204020204" pitchFamily="34" charset="-122"/>
              </a:rPr>
              <a:t>构造论文负责定义方法，后续比较论文支持选型理由。</a:t>
            </a:r>
          </a:p>
        </p:txBody>
      </p:sp>
      <p:sp>
        <p:nvSpPr>
          <p:cNvPr id="7" name="文本框 6">
            <a:extLst>
              <a:ext uri="{FF2B5EF4-FFF2-40B4-BE49-F238E27FC236}">
                <a16:creationId xmlns:a16="http://schemas.microsoft.com/office/drawing/2014/main" id="{3F8CE453-AE40-7F8B-394A-9D15723EF39F}"/>
              </a:ext>
            </a:extLst>
          </p:cNvPr>
          <p:cNvSpPr txBox="1"/>
          <p:nvPr/>
        </p:nvSpPr>
        <p:spPr>
          <a:xfrm>
            <a:off x="622300" y="5981700"/>
            <a:ext cx="10922000" cy="508000"/>
          </a:xfrm>
          <a:prstGeom prst="rect">
            <a:avLst/>
          </a:prstGeom>
          <a:noFill/>
        </p:spPr>
        <p:txBody>
          <a:bodyPr vert="horz" wrap="square" lIns="0" tIns="0" rIns="0" bIns="0" rtlCol="0">
            <a:noAutofit/>
          </a:bodyPr>
          <a:lstStyle/>
          <a:p>
            <a:pPr>
              <a:lnSpc>
                <a:spcPts val="2210"/>
              </a:lnSpc>
            </a:pPr>
            <a:r>
              <a:rPr lang="zh-CN" altLang="en-US" sz="1700" b="1">
                <a:solidFill>
                  <a:srgbClr val="2F6096"/>
                </a:solidFill>
                <a:latin typeface="Microsoft YaHei" panose="020B0503020204020204" pitchFamily="34" charset="-122"/>
                <a:ea typeface="微软雅黑" panose="020B0503020204020204" pitchFamily="34" charset="-122"/>
              </a:rPr>
              <a:t>回归版本选型示例：若采用</a:t>
            </a:r>
            <a:r>
              <a:rPr lang="en-US" altLang="zh-CN" sz="1700" b="1">
                <a:solidFill>
                  <a:srgbClr val="2F6096"/>
                </a:solidFill>
                <a:latin typeface="Microsoft YaHei" panose="020B0503020204020204" pitchFamily="34" charset="-122"/>
                <a:ea typeface="微软雅黑" panose="020B0503020204020204" pitchFamily="34" charset="-122"/>
              </a:rPr>
              <a:t>Park</a:t>
            </a:r>
            <a:r>
              <a:rPr lang="zh-CN" altLang="en-US" sz="1700" b="1">
                <a:solidFill>
                  <a:srgbClr val="2F6096"/>
                </a:solidFill>
                <a:latin typeface="Microsoft YaHei" panose="020B0503020204020204" pitchFamily="34" charset="-122"/>
                <a:ea typeface="微软雅黑" panose="020B0503020204020204" pitchFamily="34" charset="-122"/>
              </a:rPr>
              <a:t>原版，就不能沿用</a:t>
            </a:r>
            <a:r>
              <a:rPr lang="en-US" altLang="zh-CN" sz="1700" b="1">
                <a:solidFill>
                  <a:srgbClr val="2F6096"/>
                </a:solidFill>
                <a:latin typeface="Microsoft YaHei" panose="020B0503020204020204" pitchFamily="34" charset="-122"/>
                <a:ea typeface="微软雅黑" panose="020B0503020204020204" pitchFamily="34" charset="-122"/>
              </a:rPr>
              <a:t>Bernard</a:t>
            </a:r>
            <a:r>
              <a:rPr lang="zh-CN" altLang="en-US" sz="1700" b="1">
                <a:solidFill>
                  <a:srgbClr val="2F6096"/>
                </a:solidFill>
                <a:latin typeface="Microsoft YaHei" panose="020B0503020204020204" pitchFamily="34" charset="-122"/>
                <a:ea typeface="微软雅黑" panose="020B0503020204020204" pitchFamily="34" charset="-122"/>
              </a:rPr>
              <a:t>分数结果称作复现。</a:t>
            </a:r>
          </a:p>
        </p:txBody>
      </p:sp>
      <p:graphicFrame>
        <p:nvGraphicFramePr>
          <p:cNvPr id="8" name="表格 7">
            <a:extLst>
              <a:ext uri="{FF2B5EF4-FFF2-40B4-BE49-F238E27FC236}">
                <a16:creationId xmlns:a16="http://schemas.microsoft.com/office/drawing/2014/main" id="{1AE12CCF-56EE-FE0F-5E9E-E3FB6EFC0DA2}"/>
              </a:ext>
            </a:extLst>
          </p:cNvPr>
          <p:cNvGraphicFramePr>
            <a:graphicFrameLocks noGrp="1"/>
          </p:cNvGraphicFramePr>
          <p:nvPr>
            <p:extLst>
              <p:ext uri="{D42A27DB-BD31-4B8C-83A1-F6EECF244321}">
                <p14:modId xmlns:p14="http://schemas.microsoft.com/office/powerpoint/2010/main" val="1327583566"/>
              </p:ext>
            </p:extLst>
          </p:nvPr>
        </p:nvGraphicFramePr>
        <p:xfrm>
          <a:off x="622300" y="2413000"/>
          <a:ext cx="10922000" cy="3301998"/>
        </p:xfrm>
        <a:graphic>
          <a:graphicData uri="http://schemas.openxmlformats.org/drawingml/2006/table">
            <a:tbl>
              <a:tblPr firstRow="1" bandRow="1">
                <a:tableStyleId>{5C22544A-7EE6-4342-B048-85BDC9FD1C3A}</a:tableStyleId>
              </a:tblPr>
              <a:tblGrid>
                <a:gridCol w="3086100">
                  <a:extLst>
                    <a:ext uri="{9D8B030D-6E8A-4147-A177-3AD203B41FA5}">
                      <a16:colId xmlns:a16="http://schemas.microsoft.com/office/drawing/2014/main" val="183469850"/>
                    </a:ext>
                  </a:extLst>
                </a:gridCol>
                <a:gridCol w="4000500">
                  <a:extLst>
                    <a:ext uri="{9D8B030D-6E8A-4147-A177-3AD203B41FA5}">
                      <a16:colId xmlns:a16="http://schemas.microsoft.com/office/drawing/2014/main" val="2108266563"/>
                    </a:ext>
                  </a:extLst>
                </a:gridCol>
                <a:gridCol w="3835400">
                  <a:extLst>
                    <a:ext uri="{9D8B030D-6E8A-4147-A177-3AD203B41FA5}">
                      <a16:colId xmlns:a16="http://schemas.microsoft.com/office/drawing/2014/main" val="3247050346"/>
                    </a:ext>
                  </a:extLst>
                </a:gridCol>
              </a:tblGrid>
              <a:tr h="550333">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方法</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可采用的明确版本</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引用与实现要对应</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extLst>
                  <a:ext uri="{0D108BD9-81ED-4DB2-BD59-A6C34878D82A}">
                    <a16:rowId xmlns:a16="http://schemas.microsoft.com/office/drawing/2014/main" val="577474159"/>
                  </a:ext>
                </a:extLst>
              </a:tr>
              <a:tr h="550333">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相关回归</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Park 2017 Proposed+Plot [182-115]</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相关系数定位后回归；项目</a:t>
                      </a:r>
                      <a:r>
                        <a:rPr lang="en-US" altLang="zh-CN" sz="1600" b="0">
                          <a:solidFill>
                            <a:srgbClr val="000000"/>
                          </a:solidFill>
                          <a:latin typeface="Microsoft YaHei" panose="020B0503020204020204" pitchFamily="34" charset="-122"/>
                          <a:ea typeface="微软雅黑" panose="020B0503020204020204" pitchFamily="34" charset="-122"/>
                        </a:rPr>
                        <a:t>LRE</a:t>
                      </a:r>
                      <a:r>
                        <a:rPr lang="zh-CN" altLang="en-US" sz="1600" b="0">
                          <a:solidFill>
                            <a:srgbClr val="000000"/>
                          </a:solidFill>
                          <a:latin typeface="Microsoft YaHei" panose="020B0503020204020204" pitchFamily="34" charset="-122"/>
                          <a:ea typeface="微软雅黑" panose="020B0503020204020204" pitchFamily="34" charset="-122"/>
                        </a:rPr>
                        <a:t>分数不同</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420210965"/>
                  </a:ext>
                </a:extLst>
              </a:tr>
              <a:tr h="550333">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LS</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Soman–Misra White</a:t>
                      </a:r>
                      <a:r>
                        <a:rPr lang="zh-CN" altLang="en-US" sz="1600" b="0">
                          <a:solidFill>
                            <a:srgbClr val="000000"/>
                          </a:solidFill>
                          <a:latin typeface="Microsoft YaHei" panose="020B0503020204020204" pitchFamily="34" charset="-122"/>
                          <a:ea typeface="微软雅黑" panose="020B0503020204020204" pitchFamily="34" charset="-122"/>
                        </a:rPr>
                        <a:t>扩展 </a:t>
                      </a:r>
                      <a:r>
                        <a:rPr lang="en-US" altLang="zh-CN" sz="1600" b="0">
                          <a:solidFill>
                            <a:srgbClr val="000000"/>
                          </a:solidFill>
                          <a:latin typeface="Microsoft YaHei" panose="020B0503020204020204" pitchFamily="34" charset="-122"/>
                          <a:ea typeface="微软雅黑" panose="020B0503020204020204" pitchFamily="34" charset="-122"/>
                        </a:rPr>
                        <a:t>[182-104]</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期望次序分数、</a:t>
                      </a:r>
                      <a:r>
                        <a:rPr lang="en-US" altLang="zh-CN" sz="1600" b="0">
                          <a:solidFill>
                            <a:srgbClr val="000000"/>
                          </a:solidFill>
                          <a:latin typeface="Microsoft YaHei" panose="020B0503020204020204" pitchFamily="34" charset="-122"/>
                          <a:ea typeface="微软雅黑" panose="020B0503020204020204" pitchFamily="34" charset="-122"/>
                        </a:rPr>
                        <a:t>x</a:t>
                      </a:r>
                      <a:r>
                        <a:rPr lang="zh-CN" altLang="en-US" sz="1600" b="0">
                          <a:solidFill>
                            <a:srgbClr val="000000"/>
                          </a:solidFill>
                          <a:latin typeface="Microsoft YaHei" panose="020B0503020204020204" pitchFamily="34" charset="-122"/>
                          <a:ea typeface="微软雅黑" panose="020B0503020204020204" pitchFamily="34" charset="-122"/>
                        </a:rPr>
                        <a:t>对</a:t>
                      </a:r>
                      <a:r>
                        <a:rPr lang="en-US" altLang="zh-CN" sz="1600" b="0">
                          <a:solidFill>
                            <a:srgbClr val="000000"/>
                          </a:solidFill>
                          <a:latin typeface="Microsoft YaHei" panose="020B0503020204020204" pitchFamily="34" charset="-122"/>
                          <a:ea typeface="微软雅黑" panose="020B0503020204020204" pitchFamily="34" charset="-122"/>
                        </a:rPr>
                        <a:t>z</a:t>
                      </a:r>
                      <a:r>
                        <a:rPr lang="zh-CN" altLang="en-US" sz="1600" b="0">
                          <a:solidFill>
                            <a:srgbClr val="000000"/>
                          </a:solidFill>
                          <a:latin typeface="Microsoft YaHei" panose="020B0503020204020204" pitchFamily="34" charset="-122"/>
                          <a:ea typeface="微软雅黑" panose="020B0503020204020204" pitchFamily="34" charset="-122"/>
                        </a:rPr>
                        <a:t>回归</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3669213512"/>
                  </a:ext>
                </a:extLst>
              </a:tr>
              <a:tr h="550333">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WMLE</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Cousineau 2009 [182-088]</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交代中位权重、插值与约束</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3461065511"/>
                  </a:ext>
                </a:extLst>
              </a:tr>
              <a:tr h="550333">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SAM / PM</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2023</a:t>
                      </a:r>
                      <a:r>
                        <a:rPr lang="zh-CN" altLang="en-US" sz="1600" b="0">
                          <a:solidFill>
                            <a:srgbClr val="000000"/>
                          </a:solidFill>
                          <a:latin typeface="Microsoft YaHei" panose="020B0503020204020204" pitchFamily="34" charset="-122"/>
                          <a:ea typeface="微软雅黑" panose="020B0503020204020204" pitchFamily="34" charset="-122"/>
                        </a:rPr>
                        <a:t>或</a:t>
                      </a:r>
                      <a:r>
                        <a:rPr lang="en-US" altLang="zh-CN" sz="1600" b="0">
                          <a:solidFill>
                            <a:srgbClr val="000000"/>
                          </a:solidFill>
                          <a:latin typeface="Microsoft YaHei" panose="020B0503020204020204" pitchFamily="34" charset="-122"/>
                          <a:ea typeface="微软雅黑" panose="020B0503020204020204" pitchFamily="34" charset="-122"/>
                        </a:rPr>
                        <a:t>2024</a:t>
                      </a:r>
                      <a:r>
                        <a:rPr lang="zh-CN" altLang="en-US" sz="1600" b="0">
                          <a:solidFill>
                            <a:srgbClr val="000000"/>
                          </a:solidFill>
                          <a:latin typeface="Microsoft YaHei" panose="020B0503020204020204" pitchFamily="34" charset="-122"/>
                          <a:ea typeface="微软雅黑" panose="020B0503020204020204" pitchFamily="34" charset="-122"/>
                        </a:rPr>
                        <a:t>的具体构造</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最小值期望</a:t>
                      </a:r>
                      <a:r>
                        <a:rPr lang="en-US" altLang="zh-CN" sz="1600" b="0">
                          <a:solidFill>
                            <a:srgbClr val="000000"/>
                          </a:solidFill>
                          <a:latin typeface="Microsoft YaHei" panose="020B0503020204020204" pitchFamily="34" charset="-122"/>
                          <a:ea typeface="微软雅黑" panose="020B0503020204020204" pitchFamily="34" charset="-122"/>
                        </a:rPr>
                        <a:t>/</a:t>
                      </a:r>
                      <a:r>
                        <a:rPr lang="zh-CN" altLang="en-US" sz="1600" b="0">
                          <a:solidFill>
                            <a:srgbClr val="000000"/>
                          </a:solidFill>
                          <a:latin typeface="Microsoft YaHei" panose="020B0503020204020204" pitchFamily="34" charset="-122"/>
                          <a:ea typeface="微软雅黑" panose="020B0503020204020204" pitchFamily="34" charset="-122"/>
                        </a:rPr>
                        <a:t>中位数及后续更新不同</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3756795410"/>
                  </a:ext>
                </a:extLst>
              </a:tr>
              <a:tr h="550333">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MLE / MPS</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实际准则＋本文求解设置</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明确可行域、解的类型和接受规则</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3217537541"/>
                  </a:ext>
                </a:extLst>
              </a:tr>
            </a:tbl>
          </a:graphicData>
        </a:graphic>
      </p:graphicFrame>
    </p:spTree>
    <p:extLst>
      <p:ext uri="{BB962C8B-B14F-4D97-AF65-F5344CB8AC3E}">
        <p14:creationId xmlns:p14="http://schemas.microsoft.com/office/powerpoint/2010/main" val="30107032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400" b="1" spc="-150">
                <a:solidFill>
                  <a:srgbClr val="FFFFFF"/>
                </a:solidFill>
                <a:latin typeface="汉仪文润宋韵 U"/>
                <a:ea typeface="汉仪文润宋韵 U"/>
                <a:cs typeface="汉仪文润宋韵 U"/>
              </a:rPr>
              <a:t>评价证据：模拟与真实数据回答不同问题</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对照选择、版本与验证</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03</a:t>
            </a:r>
            <a:endParaRPr sz="1800">
              <a:latin typeface="Microsoft YaHei"/>
            </a:endParaRPr>
          </a:p>
        </p:txBody>
      </p:sp>
      <p:sp>
        <p:nvSpPr>
          <p:cNvPr id="6" name="文本框 5">
            <a:extLst>
              <a:ext uri="{FF2B5EF4-FFF2-40B4-BE49-F238E27FC236}">
                <a16:creationId xmlns:a16="http://schemas.microsoft.com/office/drawing/2014/main" id="{FC896F9B-1C2B-C17E-9FA8-C60C1AED10A5}"/>
              </a:ext>
            </a:extLst>
          </p:cNvPr>
          <p:cNvSpPr txBox="1"/>
          <p:nvPr/>
        </p:nvSpPr>
        <p:spPr>
          <a:xfrm>
            <a:off x="622300" y="1676400"/>
            <a:ext cx="10922000" cy="558800"/>
          </a:xfrm>
          <a:prstGeom prst="rect">
            <a:avLst/>
          </a:prstGeom>
          <a:noFill/>
        </p:spPr>
        <p:txBody>
          <a:bodyPr vert="horz" wrap="square" lIns="0" tIns="0" rIns="0" bIns="0" rtlCol="0">
            <a:noAutofit/>
          </a:bodyPr>
          <a:lstStyle/>
          <a:p>
            <a:pPr>
              <a:lnSpc>
                <a:spcPts val="2340"/>
              </a:lnSpc>
            </a:pPr>
            <a:r>
              <a:rPr lang="en-US" altLang="zh-CN">
                <a:solidFill>
                  <a:srgbClr val="2F6096"/>
                </a:solidFill>
                <a:latin typeface="Microsoft YaHei" panose="020B0503020204020204" pitchFamily="34" charset="-122"/>
                <a:ea typeface="微软雅黑" panose="020B0503020204020204" pitchFamily="34" charset="-122"/>
              </a:rPr>
              <a:t>38</a:t>
            </a:r>
            <a:r>
              <a:rPr lang="zh-CN" altLang="en-US">
                <a:solidFill>
                  <a:srgbClr val="2F6096"/>
                </a:solidFill>
                <a:latin typeface="Microsoft YaHei" panose="020B0503020204020204" pitchFamily="34" charset="-122"/>
                <a:ea typeface="微软雅黑" panose="020B0503020204020204" pitchFamily="34" charset="-122"/>
              </a:rPr>
              <a:t>条经验用途记录中：重复生成样本</a:t>
            </a:r>
            <a:r>
              <a:rPr lang="en-US" altLang="zh-CN">
                <a:solidFill>
                  <a:srgbClr val="2F6096"/>
                </a:solidFill>
                <a:latin typeface="Microsoft YaHei" panose="020B0503020204020204" pitchFamily="34" charset="-122"/>
                <a:ea typeface="微软雅黑" panose="020B0503020204020204" pitchFamily="34" charset="-122"/>
              </a:rPr>
              <a:t>21</a:t>
            </a:r>
            <a:r>
              <a:rPr lang="zh-CN" altLang="en-US">
                <a:solidFill>
                  <a:srgbClr val="2F6096"/>
                </a:solidFill>
                <a:latin typeface="Microsoft YaHei" panose="020B0503020204020204" pitchFamily="34" charset="-122"/>
                <a:ea typeface="微软雅黑" panose="020B0503020204020204" pitchFamily="34" charset="-122"/>
              </a:rPr>
              <a:t>条，真实应用</a:t>
            </a:r>
            <a:r>
              <a:rPr lang="en-US" altLang="zh-CN">
                <a:solidFill>
                  <a:srgbClr val="2F6096"/>
                </a:solidFill>
                <a:latin typeface="Microsoft YaHei" panose="020B0503020204020204" pitchFamily="34" charset="-122"/>
                <a:ea typeface="微软雅黑" panose="020B0503020204020204" pitchFamily="34" charset="-122"/>
              </a:rPr>
              <a:t>21</a:t>
            </a:r>
            <a:r>
              <a:rPr lang="zh-CN" altLang="en-US">
                <a:solidFill>
                  <a:srgbClr val="2F6096"/>
                </a:solidFill>
                <a:latin typeface="Microsoft YaHei" panose="020B0503020204020204" pitchFamily="34" charset="-122"/>
                <a:ea typeface="微软雅黑" panose="020B0503020204020204" pitchFamily="34" charset="-122"/>
              </a:rPr>
              <a:t>条，两者兼有</a:t>
            </a:r>
            <a:r>
              <a:rPr lang="en-US" altLang="zh-CN">
                <a:solidFill>
                  <a:srgbClr val="2F6096"/>
                </a:solidFill>
                <a:latin typeface="Microsoft YaHei" panose="020B0503020204020204" pitchFamily="34" charset="-122"/>
                <a:ea typeface="微软雅黑" panose="020B0503020204020204" pitchFamily="34" charset="-122"/>
              </a:rPr>
              <a:t>10</a:t>
            </a:r>
            <a:r>
              <a:rPr lang="zh-CN" altLang="en-US">
                <a:solidFill>
                  <a:srgbClr val="2F6096"/>
                </a:solidFill>
                <a:latin typeface="Microsoft YaHei" panose="020B0503020204020204" pitchFamily="34" charset="-122"/>
                <a:ea typeface="微软雅黑" panose="020B0503020204020204" pitchFamily="34" charset="-122"/>
              </a:rPr>
              <a:t>条。</a:t>
            </a:r>
          </a:p>
        </p:txBody>
      </p:sp>
      <p:sp>
        <p:nvSpPr>
          <p:cNvPr id="7" name="文本框 6">
            <a:extLst>
              <a:ext uri="{FF2B5EF4-FFF2-40B4-BE49-F238E27FC236}">
                <a16:creationId xmlns:a16="http://schemas.microsoft.com/office/drawing/2014/main" id="{6BB7F06F-689C-1BFF-5F04-3D60015FE34F}"/>
              </a:ext>
            </a:extLst>
          </p:cNvPr>
          <p:cNvSpPr txBox="1"/>
          <p:nvPr/>
        </p:nvSpPr>
        <p:spPr>
          <a:xfrm>
            <a:off x="622300" y="5981700"/>
            <a:ext cx="10922000" cy="508000"/>
          </a:xfrm>
          <a:prstGeom prst="rect">
            <a:avLst/>
          </a:prstGeom>
          <a:noFill/>
        </p:spPr>
        <p:txBody>
          <a:bodyPr vert="horz" wrap="square" lIns="0" tIns="0" rIns="0" bIns="0" rtlCol="0">
            <a:noAutofit/>
          </a:bodyPr>
          <a:lstStyle/>
          <a:p>
            <a:pPr>
              <a:lnSpc>
                <a:spcPts val="2210"/>
              </a:lnSpc>
            </a:pPr>
            <a:r>
              <a:rPr lang="zh-CN" altLang="en-US" sz="1700" b="1">
                <a:solidFill>
                  <a:srgbClr val="2F6096"/>
                </a:solidFill>
                <a:latin typeface="Microsoft YaHei" panose="020B0503020204020204" pitchFamily="34" charset="-122"/>
                <a:ea typeface="微软雅黑" panose="020B0503020204020204" pitchFamily="34" charset="-122"/>
              </a:rPr>
              <a:t>次数不是独立团队或数据集数；真实拟合优胜不能替代参数真值误差证据。</a:t>
            </a:r>
          </a:p>
        </p:txBody>
      </p:sp>
      <p:sp>
        <p:nvSpPr>
          <p:cNvPr id="8" name="文本框 7">
            <a:extLst>
              <a:ext uri="{FF2B5EF4-FFF2-40B4-BE49-F238E27FC236}">
                <a16:creationId xmlns:a16="http://schemas.microsoft.com/office/drawing/2014/main" id="{C3F1E0AF-67D3-B88C-C13B-DF1CBD20537A}"/>
              </a:ext>
            </a:extLst>
          </p:cNvPr>
          <p:cNvSpPr txBox="1"/>
          <p:nvPr/>
        </p:nvSpPr>
        <p:spPr>
          <a:xfrm>
            <a:off x="622300" y="2514600"/>
            <a:ext cx="5092700" cy="406400"/>
          </a:xfrm>
          <a:prstGeom prst="rect">
            <a:avLst/>
          </a:prstGeom>
          <a:noFill/>
        </p:spPr>
        <p:txBody>
          <a:bodyPr vert="horz" wrap="square" lIns="0" tIns="0" rIns="0" bIns="0" rtlCol="0">
            <a:noAutofit/>
          </a:bodyPr>
          <a:lstStyle/>
          <a:p>
            <a:pPr>
              <a:lnSpc>
                <a:spcPts val="2860"/>
              </a:lnSpc>
            </a:pPr>
            <a:r>
              <a:rPr lang="en-US" altLang="zh-CN" sz="2200" b="1">
                <a:solidFill>
                  <a:srgbClr val="C55A11"/>
                </a:solidFill>
                <a:latin typeface="Microsoft YaHei" panose="020B0503020204020204" pitchFamily="34" charset="-122"/>
                <a:ea typeface="微软雅黑" panose="020B0503020204020204" pitchFamily="34" charset="-122"/>
              </a:rPr>
              <a:t>Monte Carlo</a:t>
            </a:r>
            <a:r>
              <a:rPr lang="zh-CN" altLang="en-US" sz="2200" b="1">
                <a:solidFill>
                  <a:srgbClr val="C55A11"/>
                </a:solidFill>
                <a:latin typeface="Microsoft YaHei" panose="020B0503020204020204" pitchFamily="34" charset="-122"/>
                <a:ea typeface="微软雅黑" panose="020B0503020204020204" pitchFamily="34" charset="-122"/>
              </a:rPr>
              <a:t>：真参数已知</a:t>
            </a:r>
          </a:p>
        </p:txBody>
      </p:sp>
      <p:sp>
        <p:nvSpPr>
          <p:cNvPr id="9" name="文本框 8">
            <a:extLst>
              <a:ext uri="{FF2B5EF4-FFF2-40B4-BE49-F238E27FC236}">
                <a16:creationId xmlns:a16="http://schemas.microsoft.com/office/drawing/2014/main" id="{A82D5CB0-A653-4A5C-3ACD-27A980D75DB9}"/>
              </a:ext>
            </a:extLst>
          </p:cNvPr>
          <p:cNvSpPr txBox="1"/>
          <p:nvPr/>
        </p:nvSpPr>
        <p:spPr>
          <a:xfrm>
            <a:off x="6451600" y="2514600"/>
            <a:ext cx="5080000" cy="406400"/>
          </a:xfrm>
          <a:prstGeom prst="rect">
            <a:avLst/>
          </a:prstGeom>
          <a:noFill/>
        </p:spPr>
        <p:txBody>
          <a:bodyPr vert="horz" wrap="square" lIns="0" tIns="0" rIns="0" bIns="0" rtlCol="0">
            <a:noAutofit/>
          </a:bodyPr>
          <a:lstStyle/>
          <a:p>
            <a:pPr>
              <a:lnSpc>
                <a:spcPts val="2860"/>
              </a:lnSpc>
            </a:pPr>
            <a:r>
              <a:rPr lang="zh-CN" altLang="en-US" sz="2200" b="1">
                <a:solidFill>
                  <a:srgbClr val="C55A11"/>
                </a:solidFill>
                <a:latin typeface="Microsoft YaHei" panose="020B0503020204020204" pitchFamily="34" charset="-122"/>
                <a:ea typeface="微软雅黑" panose="020B0503020204020204" pitchFamily="34" charset="-122"/>
              </a:rPr>
              <a:t>真实数据：总体参数未知</a:t>
            </a:r>
          </a:p>
        </p:txBody>
      </p:sp>
      <p:cxnSp>
        <p:nvCxnSpPr>
          <p:cNvPr id="10" name="直接连接符 9">
            <a:extLst>
              <a:ext uri="{FF2B5EF4-FFF2-40B4-BE49-F238E27FC236}">
                <a16:creationId xmlns:a16="http://schemas.microsoft.com/office/drawing/2014/main" id="{28C2BA06-FE43-0E15-F76B-6DB6841CD731}"/>
              </a:ext>
            </a:extLst>
          </p:cNvPr>
          <p:cNvCxnSpPr/>
          <p:nvPr/>
        </p:nvCxnSpPr>
        <p:spPr>
          <a:xfrm>
            <a:off x="622300" y="3060700"/>
            <a:ext cx="5041900" cy="0"/>
          </a:xfrm>
          <a:prstGeom prst="line">
            <a:avLst/>
          </a:prstGeom>
          <a:ln w="17780">
            <a:solidFill>
              <a:srgbClr val="2F6096"/>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EFD3242D-4B1C-B91C-531C-A29C49D77A8D}"/>
              </a:ext>
            </a:extLst>
          </p:cNvPr>
          <p:cNvCxnSpPr/>
          <p:nvPr/>
        </p:nvCxnSpPr>
        <p:spPr>
          <a:xfrm>
            <a:off x="6451600" y="3060700"/>
            <a:ext cx="5080000" cy="0"/>
          </a:xfrm>
          <a:prstGeom prst="line">
            <a:avLst/>
          </a:prstGeom>
          <a:ln w="17780">
            <a:solidFill>
              <a:srgbClr val="2F6096"/>
            </a:solidFill>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A5122E63-284F-27A1-3165-1F749A17FBC7}"/>
              </a:ext>
            </a:extLst>
          </p:cNvPr>
          <p:cNvSpPr txBox="1"/>
          <p:nvPr/>
        </p:nvSpPr>
        <p:spPr>
          <a:xfrm>
            <a:off x="622300" y="3352800"/>
            <a:ext cx="5092700" cy="1320800"/>
          </a:xfrm>
          <a:prstGeom prst="rect">
            <a:avLst/>
          </a:prstGeom>
          <a:noFill/>
        </p:spPr>
        <p:txBody>
          <a:bodyPr vert="horz" wrap="square" lIns="0" tIns="0" rIns="0" bIns="0" rtlCol="0">
            <a:noAutofit/>
          </a:bodyPr>
          <a:lstStyle/>
          <a:p>
            <a:pPr>
              <a:lnSpc>
                <a:spcPts val="2340"/>
              </a:lnSpc>
            </a:pPr>
            <a:r>
              <a:rPr lang="zh-CN" altLang="en-US">
                <a:solidFill>
                  <a:srgbClr val="000000"/>
                </a:solidFill>
                <a:latin typeface="Microsoft YaHei" panose="020B0503020204020204" pitchFamily="34" charset="-122"/>
                <a:ea typeface="微软雅黑" panose="020B0503020204020204" pitchFamily="34" charset="-122"/>
              </a:rPr>
              <a:t>反复生成样本，检验估计误差与波动。</a:t>
            </a:r>
          </a:p>
          <a:p>
            <a:pPr>
              <a:lnSpc>
                <a:spcPts val="2340"/>
              </a:lnSpc>
            </a:pPr>
            <a:r>
              <a:rPr lang="en-US" altLang="zh-CN">
                <a:solidFill>
                  <a:srgbClr val="000000"/>
                </a:solidFill>
                <a:latin typeface="Microsoft YaHei" panose="020B0503020204020204" pitchFamily="34" charset="-122"/>
                <a:ea typeface="微软雅黑" panose="020B0503020204020204" pitchFamily="34" charset="-122"/>
              </a:rPr>
              <a:t>Bias</a:t>
            </a:r>
            <a:r>
              <a:rPr lang="zh-CN" altLang="en-US">
                <a:solidFill>
                  <a:srgbClr val="000000"/>
                </a:solidFill>
                <a:latin typeface="Microsoft YaHei" panose="020B0503020204020204" pitchFamily="34" charset="-122"/>
                <a:ea typeface="微软雅黑" panose="020B0503020204020204" pitchFamily="34" charset="-122"/>
              </a:rPr>
              <a:t>：</a:t>
            </a:r>
            <a:r>
              <a:rPr lang="en-US" altLang="zh-CN">
                <a:solidFill>
                  <a:srgbClr val="000000"/>
                </a:solidFill>
                <a:latin typeface="Microsoft YaHei" panose="020B0503020204020204" pitchFamily="34" charset="-122"/>
                <a:ea typeface="微软雅黑" panose="020B0503020204020204" pitchFamily="34" charset="-122"/>
              </a:rPr>
              <a:t>11</a:t>
            </a:r>
            <a:r>
              <a:rPr lang="zh-CN" altLang="en-US">
                <a:solidFill>
                  <a:srgbClr val="000000"/>
                </a:solidFill>
                <a:latin typeface="Microsoft YaHei" panose="020B0503020204020204" pitchFamily="34" charset="-122"/>
                <a:ea typeface="微软雅黑" panose="020B0503020204020204" pitchFamily="34" charset="-122"/>
              </a:rPr>
              <a:t>条；</a:t>
            </a:r>
            <a:r>
              <a:rPr lang="en-US" altLang="zh-CN">
                <a:solidFill>
                  <a:srgbClr val="000000"/>
                </a:solidFill>
                <a:latin typeface="Microsoft YaHei" panose="020B0503020204020204" pitchFamily="34" charset="-122"/>
                <a:ea typeface="微软雅黑" panose="020B0503020204020204" pitchFamily="34" charset="-122"/>
              </a:rPr>
              <a:t>RMSE</a:t>
            </a:r>
            <a:r>
              <a:rPr lang="zh-CN" altLang="en-US">
                <a:solidFill>
                  <a:srgbClr val="000000"/>
                </a:solidFill>
                <a:latin typeface="Microsoft YaHei" panose="020B0503020204020204" pitchFamily="34" charset="-122"/>
                <a:ea typeface="微软雅黑" panose="020B0503020204020204" pitchFamily="34" charset="-122"/>
              </a:rPr>
              <a:t>：</a:t>
            </a:r>
            <a:r>
              <a:rPr lang="en-US" altLang="zh-CN">
                <a:solidFill>
                  <a:srgbClr val="000000"/>
                </a:solidFill>
                <a:latin typeface="Microsoft YaHei" panose="020B0503020204020204" pitchFamily="34" charset="-122"/>
                <a:ea typeface="微软雅黑" panose="020B0503020204020204" pitchFamily="34" charset="-122"/>
              </a:rPr>
              <a:t>10</a:t>
            </a:r>
            <a:r>
              <a:rPr lang="zh-CN" altLang="en-US">
                <a:solidFill>
                  <a:srgbClr val="000000"/>
                </a:solidFill>
                <a:latin typeface="Microsoft YaHei" panose="020B0503020204020204" pitchFamily="34" charset="-122"/>
                <a:ea typeface="微软雅黑" panose="020B0503020204020204" pitchFamily="34" charset="-122"/>
              </a:rPr>
              <a:t>条；</a:t>
            </a:r>
            <a:r>
              <a:rPr lang="en-US" altLang="zh-CN">
                <a:solidFill>
                  <a:srgbClr val="000000"/>
                </a:solidFill>
                <a:latin typeface="Microsoft YaHei" panose="020B0503020204020204" pitchFamily="34" charset="-122"/>
                <a:ea typeface="微软雅黑" panose="020B0503020204020204" pitchFamily="34" charset="-122"/>
              </a:rPr>
              <a:t>SD</a:t>
            </a:r>
            <a:r>
              <a:rPr lang="zh-CN" altLang="en-US">
                <a:solidFill>
                  <a:srgbClr val="000000"/>
                </a:solidFill>
                <a:latin typeface="Microsoft YaHei" panose="020B0503020204020204" pitchFamily="34" charset="-122"/>
                <a:ea typeface="微软雅黑" panose="020B0503020204020204" pitchFamily="34" charset="-122"/>
              </a:rPr>
              <a:t>：</a:t>
            </a:r>
            <a:r>
              <a:rPr lang="en-US" altLang="zh-CN">
                <a:solidFill>
                  <a:srgbClr val="000000"/>
                </a:solidFill>
                <a:latin typeface="Microsoft YaHei" panose="020B0503020204020204" pitchFamily="34" charset="-122"/>
                <a:ea typeface="微软雅黑" panose="020B0503020204020204" pitchFamily="34" charset="-122"/>
              </a:rPr>
              <a:t>9</a:t>
            </a:r>
            <a:r>
              <a:rPr lang="zh-CN" altLang="en-US">
                <a:solidFill>
                  <a:srgbClr val="000000"/>
                </a:solidFill>
                <a:latin typeface="Microsoft YaHei" panose="020B0503020204020204" pitchFamily="34" charset="-122"/>
                <a:ea typeface="微软雅黑" panose="020B0503020204020204" pitchFamily="34" charset="-122"/>
              </a:rPr>
              <a:t>条。</a:t>
            </a:r>
          </a:p>
          <a:p>
            <a:pPr>
              <a:lnSpc>
                <a:spcPts val="2340"/>
              </a:lnSpc>
            </a:pPr>
            <a:r>
              <a:rPr lang="zh-CN" altLang="en-US">
                <a:solidFill>
                  <a:srgbClr val="000000"/>
                </a:solidFill>
                <a:latin typeface="Microsoft YaHei" panose="020B0503020204020204" pitchFamily="34" charset="-122"/>
                <a:ea typeface="微软雅黑" panose="020B0503020204020204" pitchFamily="34" charset="-122"/>
              </a:rPr>
              <a:t>上述计数可重叠，分母为</a:t>
            </a:r>
            <a:r>
              <a:rPr lang="en-US" altLang="zh-CN">
                <a:solidFill>
                  <a:srgbClr val="000000"/>
                </a:solidFill>
                <a:latin typeface="Microsoft YaHei" panose="020B0503020204020204" pitchFamily="34" charset="-122"/>
                <a:ea typeface="微软雅黑" panose="020B0503020204020204" pitchFamily="34" charset="-122"/>
              </a:rPr>
              <a:t>21</a:t>
            </a:r>
            <a:r>
              <a:rPr lang="zh-CN" altLang="en-US">
                <a:solidFill>
                  <a:srgbClr val="000000"/>
                </a:solidFill>
                <a:latin typeface="Microsoft YaHei" panose="020B0503020204020204" pitchFamily="34" charset="-122"/>
                <a:ea typeface="微软雅黑" panose="020B0503020204020204" pitchFamily="34" charset="-122"/>
              </a:rPr>
              <a:t>条模拟来源。</a:t>
            </a:r>
          </a:p>
        </p:txBody>
      </p:sp>
      <p:sp>
        <p:nvSpPr>
          <p:cNvPr id="16" name="文本框 15">
            <a:extLst>
              <a:ext uri="{FF2B5EF4-FFF2-40B4-BE49-F238E27FC236}">
                <a16:creationId xmlns:a16="http://schemas.microsoft.com/office/drawing/2014/main" id="{0CD0357A-0C1E-2B77-2860-85F9AF884294}"/>
              </a:ext>
            </a:extLst>
          </p:cNvPr>
          <p:cNvSpPr txBox="1"/>
          <p:nvPr/>
        </p:nvSpPr>
        <p:spPr>
          <a:xfrm>
            <a:off x="6451600" y="3352800"/>
            <a:ext cx="5080000" cy="1320800"/>
          </a:xfrm>
          <a:prstGeom prst="rect">
            <a:avLst/>
          </a:prstGeom>
          <a:noFill/>
        </p:spPr>
        <p:txBody>
          <a:bodyPr vert="horz" wrap="square" lIns="0" tIns="0" rIns="0" bIns="0" rtlCol="0">
            <a:noAutofit/>
          </a:bodyPr>
          <a:lstStyle/>
          <a:p>
            <a:pPr>
              <a:lnSpc>
                <a:spcPts val="2340"/>
              </a:lnSpc>
            </a:pPr>
            <a:r>
              <a:rPr lang="zh-CN" altLang="en-US">
                <a:solidFill>
                  <a:srgbClr val="000000"/>
                </a:solidFill>
                <a:latin typeface="Microsoft YaHei" panose="020B0503020204020204" pitchFamily="34" charset="-122"/>
                <a:ea typeface="微软雅黑" panose="020B0503020204020204" pitchFamily="34" charset="-122"/>
              </a:rPr>
              <a:t>比较参数、寿命结果、</a:t>
            </a:r>
            <a:r>
              <a:rPr lang="en-US" altLang="zh-CN">
                <a:solidFill>
                  <a:srgbClr val="000000"/>
                </a:solidFill>
                <a:latin typeface="Microsoft YaHei" panose="020B0503020204020204" pitchFamily="34" charset="-122"/>
                <a:ea typeface="微软雅黑" panose="020B0503020204020204" pitchFamily="34" charset="-122"/>
              </a:rPr>
              <a:t>CDF</a:t>
            </a:r>
            <a:r>
              <a:rPr lang="zh-CN" altLang="en-US">
                <a:solidFill>
                  <a:srgbClr val="000000"/>
                </a:solidFill>
                <a:latin typeface="Microsoft YaHei" panose="020B0503020204020204" pitchFamily="34" charset="-122"/>
                <a:ea typeface="微软雅黑" panose="020B0503020204020204" pitchFamily="34" charset="-122"/>
              </a:rPr>
              <a:t>及</a:t>
            </a:r>
            <a:r>
              <a:rPr lang="en-US" altLang="zh-CN">
                <a:solidFill>
                  <a:srgbClr val="000000"/>
                </a:solidFill>
                <a:latin typeface="Microsoft YaHei" panose="020B0503020204020204" pitchFamily="34" charset="-122"/>
                <a:ea typeface="微软雅黑" panose="020B0503020204020204" pitchFamily="34" charset="-122"/>
              </a:rPr>
              <a:t>K-S/AD</a:t>
            </a:r>
            <a:r>
              <a:rPr lang="zh-CN" altLang="en-US">
                <a:solidFill>
                  <a:srgbClr val="000000"/>
                </a:solidFill>
                <a:latin typeface="Microsoft YaHei" panose="020B0503020204020204" pitchFamily="34" charset="-122"/>
                <a:ea typeface="微软雅黑" panose="020B0503020204020204" pitchFamily="34" charset="-122"/>
              </a:rPr>
              <a:t>。</a:t>
            </a:r>
          </a:p>
          <a:p>
            <a:pPr>
              <a:lnSpc>
                <a:spcPts val="2340"/>
              </a:lnSpc>
            </a:pPr>
            <a:r>
              <a:rPr lang="zh-CN" altLang="en-US">
                <a:solidFill>
                  <a:srgbClr val="000000"/>
                </a:solidFill>
                <a:latin typeface="Microsoft YaHei" panose="020B0503020204020204" pitchFamily="34" charset="-122"/>
                <a:ea typeface="微软雅黑" panose="020B0503020204020204" pitchFamily="34" charset="-122"/>
              </a:rPr>
              <a:t>主要说明拟合差异与应用含义。</a:t>
            </a:r>
          </a:p>
          <a:p>
            <a:pPr>
              <a:lnSpc>
                <a:spcPts val="2340"/>
              </a:lnSpc>
            </a:pPr>
            <a:r>
              <a:rPr lang="zh-CN" altLang="en-US">
                <a:solidFill>
                  <a:srgbClr val="000000"/>
                </a:solidFill>
                <a:latin typeface="Microsoft YaHei" panose="020B0503020204020204" pitchFamily="34" charset="-122"/>
                <a:ea typeface="微软雅黑" panose="020B0503020204020204" pitchFamily="34" charset="-122"/>
              </a:rPr>
              <a:t>没有真值，不能直接给参数</a:t>
            </a:r>
            <a:r>
              <a:rPr lang="en-US" altLang="zh-CN">
                <a:solidFill>
                  <a:srgbClr val="000000"/>
                </a:solidFill>
                <a:latin typeface="Microsoft YaHei" panose="020B0503020204020204" pitchFamily="34" charset="-122"/>
                <a:ea typeface="微软雅黑" panose="020B0503020204020204" pitchFamily="34" charset="-122"/>
              </a:rPr>
              <a:t>RMSE</a:t>
            </a:r>
            <a:r>
              <a:rPr lang="zh-CN" altLang="en-US">
                <a:solidFill>
                  <a:srgbClr val="000000"/>
                </a:solidFill>
                <a:latin typeface="Microsoft YaHei" panose="020B0503020204020204" pitchFamily="34" charset="-122"/>
                <a:ea typeface="微软雅黑" panose="020B0503020204020204" pitchFamily="34" charset="-122"/>
              </a:rPr>
              <a:t>。</a:t>
            </a:r>
          </a:p>
        </p:txBody>
      </p:sp>
      <p:sp>
        <p:nvSpPr>
          <p:cNvPr id="17" name="矩形: 圆角 16">
            <a:extLst>
              <a:ext uri="{FF2B5EF4-FFF2-40B4-BE49-F238E27FC236}">
                <a16:creationId xmlns:a16="http://schemas.microsoft.com/office/drawing/2014/main" id="{2C7C88C2-8228-DAD9-A6F0-34F106131CCA}"/>
              </a:ext>
            </a:extLst>
          </p:cNvPr>
          <p:cNvSpPr/>
          <p:nvPr/>
        </p:nvSpPr>
        <p:spPr>
          <a:xfrm>
            <a:off x="622300" y="4953000"/>
            <a:ext cx="10922000" cy="698500"/>
          </a:xfrm>
          <a:prstGeom prst="roundRect">
            <a:avLst/>
          </a:prstGeom>
          <a:noFill/>
          <a:ln w="12700">
            <a:solidFill>
              <a:srgbClr val="2F6096"/>
            </a:solidFill>
            <a:prstDash val="dash"/>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F36D28CE-D963-8A0B-44E7-89E0B0B80600}"/>
              </a:ext>
            </a:extLst>
          </p:cNvPr>
          <p:cNvSpPr txBox="1"/>
          <p:nvPr/>
        </p:nvSpPr>
        <p:spPr>
          <a:xfrm>
            <a:off x="812800" y="5130800"/>
            <a:ext cx="10541000" cy="393700"/>
          </a:xfrm>
          <a:prstGeom prst="rect">
            <a:avLst/>
          </a:prstGeom>
          <a:noFill/>
        </p:spPr>
        <p:txBody>
          <a:bodyPr vert="horz" wrap="square" lIns="0" tIns="0" rIns="0" bIns="0" rtlCol="0">
            <a:noAutofit/>
          </a:bodyPr>
          <a:lstStyle/>
          <a:p>
            <a:pPr>
              <a:lnSpc>
                <a:spcPts val="2340"/>
              </a:lnSpc>
            </a:pPr>
            <a:r>
              <a:rPr lang="zh-CN" altLang="en-US">
                <a:solidFill>
                  <a:srgbClr val="2F6096"/>
                </a:solidFill>
                <a:latin typeface="Microsoft YaHei" panose="020B0503020204020204" pitchFamily="34" charset="-122"/>
                <a:ea typeface="微软雅黑" panose="020B0503020204020204" pitchFamily="34" charset="-122"/>
              </a:rPr>
              <a:t>若主张寿命或区间改进，再加目标分位点误差或覆盖率与长度。</a:t>
            </a:r>
          </a:p>
        </p:txBody>
      </p:sp>
    </p:spTree>
    <p:extLst>
      <p:ext uri="{BB962C8B-B14F-4D97-AF65-F5344CB8AC3E}">
        <p14:creationId xmlns:p14="http://schemas.microsoft.com/office/powerpoint/2010/main" val="42311533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400" b="1" spc="-150">
                <a:solidFill>
                  <a:srgbClr val="FFFFFF"/>
                </a:solidFill>
                <a:latin typeface="汉仪文润宋韵 U"/>
                <a:ea typeface="汉仪文润宋韵 U"/>
                <a:cs typeface="汉仪文润宋韵 U"/>
              </a:rPr>
              <a:t>真实数据再抽样：关键是参照量是什么</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对照选择、版本与验证</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03</a:t>
            </a:r>
            <a:endParaRPr sz="1800">
              <a:latin typeface="Microsoft YaHei"/>
            </a:endParaRPr>
          </a:p>
        </p:txBody>
      </p:sp>
      <p:sp>
        <p:nvSpPr>
          <p:cNvPr id="6" name="文本框 5">
            <a:extLst>
              <a:ext uri="{FF2B5EF4-FFF2-40B4-BE49-F238E27FC236}">
                <a16:creationId xmlns:a16="http://schemas.microsoft.com/office/drawing/2014/main" id="{5A4BC94A-EF5B-B53C-D24B-6C9C64A0D133}"/>
              </a:ext>
            </a:extLst>
          </p:cNvPr>
          <p:cNvSpPr txBox="1"/>
          <p:nvPr/>
        </p:nvSpPr>
        <p:spPr>
          <a:xfrm>
            <a:off x="622300" y="1676400"/>
            <a:ext cx="10922000" cy="558800"/>
          </a:xfrm>
          <a:prstGeom prst="rect">
            <a:avLst/>
          </a:prstGeom>
          <a:noFill/>
        </p:spPr>
        <p:txBody>
          <a:bodyPr vert="horz" wrap="square" lIns="0" tIns="0" rIns="0" bIns="0" rtlCol="0">
            <a:noAutofit/>
          </a:bodyPr>
          <a:lstStyle/>
          <a:p>
            <a:pPr>
              <a:lnSpc>
                <a:spcPts val="2340"/>
              </a:lnSpc>
            </a:pPr>
            <a:r>
              <a:rPr lang="zh-CN" altLang="en-US">
                <a:solidFill>
                  <a:srgbClr val="2F6096"/>
                </a:solidFill>
                <a:latin typeface="Microsoft YaHei" panose="020B0503020204020204" pitchFamily="34" charset="-122"/>
                <a:ea typeface="微软雅黑" panose="020B0503020204020204" pitchFamily="34" charset="-122"/>
              </a:rPr>
              <a:t>抽样次数增加，并不会自动让未知的真实参数变成已知。</a:t>
            </a:r>
          </a:p>
        </p:txBody>
      </p:sp>
      <p:sp>
        <p:nvSpPr>
          <p:cNvPr id="7" name="文本框 6">
            <a:extLst>
              <a:ext uri="{FF2B5EF4-FFF2-40B4-BE49-F238E27FC236}">
                <a16:creationId xmlns:a16="http://schemas.microsoft.com/office/drawing/2014/main" id="{01E5D4AD-376C-1831-7C3E-8B4D063F2292}"/>
              </a:ext>
            </a:extLst>
          </p:cNvPr>
          <p:cNvSpPr txBox="1"/>
          <p:nvPr/>
        </p:nvSpPr>
        <p:spPr>
          <a:xfrm>
            <a:off x="622300" y="5981700"/>
            <a:ext cx="10922000" cy="508000"/>
          </a:xfrm>
          <a:prstGeom prst="rect">
            <a:avLst/>
          </a:prstGeom>
          <a:noFill/>
        </p:spPr>
        <p:txBody>
          <a:bodyPr vert="horz" wrap="square" lIns="0" tIns="0" rIns="0" bIns="0" rtlCol="0">
            <a:noAutofit/>
          </a:bodyPr>
          <a:lstStyle/>
          <a:p>
            <a:pPr>
              <a:lnSpc>
                <a:spcPts val="2210"/>
              </a:lnSpc>
            </a:pPr>
            <a:r>
              <a:rPr lang="zh-CN" altLang="en-US" sz="1700" b="1">
                <a:solidFill>
                  <a:srgbClr val="2F6096"/>
                </a:solidFill>
                <a:latin typeface="Microsoft YaHei" panose="020B0503020204020204" pitchFamily="34" charset="-122"/>
                <a:ea typeface="微软雅黑" panose="020B0503020204020204" pitchFamily="34" charset="-122"/>
              </a:rPr>
              <a:t>主方案以共同</a:t>
            </a:r>
            <a:r>
              <a:rPr lang="en-US" altLang="zh-CN" sz="1700" b="1">
                <a:solidFill>
                  <a:srgbClr val="2F6096"/>
                </a:solidFill>
                <a:latin typeface="Microsoft YaHei" panose="020B0503020204020204" pitchFamily="34" charset="-122"/>
                <a:ea typeface="微软雅黑" panose="020B0503020204020204" pitchFamily="34" charset="-122"/>
              </a:rPr>
              <a:t>Monte Carlo</a:t>
            </a:r>
            <a:r>
              <a:rPr lang="zh-CN" altLang="en-US" sz="1700" b="1">
                <a:solidFill>
                  <a:srgbClr val="2F6096"/>
                </a:solidFill>
                <a:latin typeface="Microsoft YaHei" panose="020B0503020204020204" pitchFamily="34" charset="-122"/>
                <a:ea typeface="微软雅黑" panose="020B0503020204020204" pitchFamily="34" charset="-122"/>
              </a:rPr>
              <a:t>评价精度，再配完整真实数据应用；额外设计按主张选。</a:t>
            </a:r>
          </a:p>
        </p:txBody>
      </p:sp>
      <p:graphicFrame>
        <p:nvGraphicFramePr>
          <p:cNvPr id="8" name="表格 7">
            <a:extLst>
              <a:ext uri="{FF2B5EF4-FFF2-40B4-BE49-F238E27FC236}">
                <a16:creationId xmlns:a16="http://schemas.microsoft.com/office/drawing/2014/main" id="{FE1BD4D4-20B0-1DA1-7921-2BB56809B198}"/>
              </a:ext>
            </a:extLst>
          </p:cNvPr>
          <p:cNvGraphicFramePr>
            <a:graphicFrameLocks noGrp="1"/>
          </p:cNvGraphicFramePr>
          <p:nvPr>
            <p:extLst>
              <p:ext uri="{D42A27DB-BD31-4B8C-83A1-F6EECF244321}">
                <p14:modId xmlns:p14="http://schemas.microsoft.com/office/powerpoint/2010/main" val="2047345350"/>
              </p:ext>
            </p:extLst>
          </p:nvPr>
        </p:nvGraphicFramePr>
        <p:xfrm>
          <a:off x="622300" y="2413000"/>
          <a:ext cx="10922000" cy="3302000"/>
        </p:xfrm>
        <a:graphic>
          <a:graphicData uri="http://schemas.openxmlformats.org/drawingml/2006/table">
            <a:tbl>
              <a:tblPr firstRow="1" bandRow="1">
                <a:tableStyleId>{5C22544A-7EE6-4342-B048-85BDC9FD1C3A}</a:tableStyleId>
              </a:tblPr>
              <a:tblGrid>
                <a:gridCol w="3086100">
                  <a:extLst>
                    <a:ext uri="{9D8B030D-6E8A-4147-A177-3AD203B41FA5}">
                      <a16:colId xmlns:a16="http://schemas.microsoft.com/office/drawing/2014/main" val="700743704"/>
                    </a:ext>
                  </a:extLst>
                </a:gridCol>
                <a:gridCol w="4000500">
                  <a:extLst>
                    <a:ext uri="{9D8B030D-6E8A-4147-A177-3AD203B41FA5}">
                      <a16:colId xmlns:a16="http://schemas.microsoft.com/office/drawing/2014/main" val="3761907707"/>
                    </a:ext>
                  </a:extLst>
                </a:gridCol>
                <a:gridCol w="3835400">
                  <a:extLst>
                    <a:ext uri="{9D8B030D-6E8A-4147-A177-3AD203B41FA5}">
                      <a16:colId xmlns:a16="http://schemas.microsoft.com/office/drawing/2014/main" val="1148187123"/>
                    </a:ext>
                  </a:extLst>
                </a:gridCol>
              </a:tblGrid>
              <a:tr h="660400">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已核实例或设计</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实际参照</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能得到的结论</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extLst>
                  <a:ext uri="{0D108BD9-81ED-4DB2-BD59-A6C34878D82A}">
                    <a16:rowId xmlns:a16="http://schemas.microsoft.com/office/drawing/2014/main" val="2608340076"/>
                  </a:ext>
                </a:extLst>
              </a:tr>
              <a:tr h="660400">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真实子抽样 </a:t>
                      </a:r>
                      <a:r>
                        <a:rPr lang="en-US" altLang="zh-CN" sz="1600" b="0">
                          <a:solidFill>
                            <a:srgbClr val="000000"/>
                          </a:solidFill>
                          <a:latin typeface="Microsoft YaHei" panose="020B0503020204020204" pitchFamily="34" charset="-122"/>
                          <a:ea typeface="微软雅黑" panose="020B0503020204020204" pitchFamily="34" charset="-122"/>
                        </a:rPr>
                        <a:t>[182-004]</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330</a:t>
                      </a:r>
                      <a:r>
                        <a:rPr lang="zh-CN" altLang="en-US" sz="1600" b="0">
                          <a:solidFill>
                            <a:srgbClr val="000000"/>
                          </a:solidFill>
                          <a:latin typeface="Microsoft YaHei" panose="020B0503020204020204" pitchFamily="34" charset="-122"/>
                          <a:ea typeface="微软雅黑" panose="020B0503020204020204" pitchFamily="34" charset="-122"/>
                        </a:rPr>
                        <a:t>个实测值取不同</a:t>
                      </a:r>
                      <a:r>
                        <a:rPr lang="en-US" altLang="zh-CN" sz="1600" b="0">
                          <a:solidFill>
                            <a:srgbClr val="000000"/>
                          </a:solidFill>
                          <a:latin typeface="Microsoft YaHei" panose="020B0503020204020204" pitchFamily="34" charset="-122"/>
                          <a:ea typeface="微软雅黑" panose="020B0503020204020204" pitchFamily="34" charset="-122"/>
                        </a:rPr>
                        <a:t>n</a:t>
                      </a:r>
                      <a:r>
                        <a:rPr lang="zh-CN" altLang="en-US" sz="1600" b="0">
                          <a:solidFill>
                            <a:srgbClr val="000000"/>
                          </a:solidFill>
                          <a:latin typeface="Microsoft YaHei" panose="020B0503020204020204" pitchFamily="34" charset="-122"/>
                          <a:ea typeface="微软雅黑" panose="020B0503020204020204" pitchFamily="34" charset="-122"/>
                        </a:rPr>
                        <a:t>子集</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相关性及寿命结果的重复性</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2909302960"/>
                  </a:ext>
                </a:extLst>
              </a:tr>
              <a:tr h="660400">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自助加权范数 </a:t>
                      </a:r>
                      <a:r>
                        <a:rPr lang="en-US" altLang="zh-CN" sz="1600" b="0">
                          <a:solidFill>
                            <a:srgbClr val="000000"/>
                          </a:solidFill>
                          <a:latin typeface="Microsoft YaHei" panose="020B0503020204020204" pitchFamily="34" charset="-122"/>
                          <a:ea typeface="微软雅黑" panose="020B0503020204020204" pitchFamily="34" charset="-122"/>
                        </a:rPr>
                        <a:t>[182-084]</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重抽多准则参数信息向量</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并非原始寿命</a:t>
                      </a:r>
                      <a:r>
                        <a:rPr lang="en-US" altLang="zh-CN" sz="1600" b="0">
                          <a:solidFill>
                            <a:srgbClr val="000000"/>
                          </a:solidFill>
                          <a:latin typeface="Microsoft YaHei" panose="020B0503020204020204" pitchFamily="34" charset="-122"/>
                          <a:ea typeface="微软雅黑" panose="020B0503020204020204" pitchFamily="34" charset="-122"/>
                        </a:rPr>
                        <a:t>Bootstrap</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4162710399"/>
                  </a:ext>
                </a:extLst>
              </a:tr>
              <a:tr h="660400">
                <a:tc>
                  <a:txBody>
                    <a:bodyPr/>
                    <a:lstStyle/>
                    <a:p>
                      <a:pPr>
                        <a:spcBef>
                          <a:spcPts val="0"/>
                        </a:spcBef>
                        <a:spcAft>
                          <a:spcPts val="0"/>
                        </a:spcAft>
                      </a:pPr>
                      <a:r>
                        <a:rPr lang="en-US" altLang="zh-CN" sz="1600" b="0">
                          <a:solidFill>
                            <a:srgbClr val="000000"/>
                          </a:solidFill>
                          <a:latin typeface="Microsoft YaHei" panose="020B0503020204020204" pitchFamily="34" charset="-122"/>
                          <a:ea typeface="微软雅黑" panose="020B0503020204020204" pitchFamily="34" charset="-122"/>
                        </a:rPr>
                        <a:t>Gibbs [182-006]</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后验分布中的参数抽样</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后验不确定性，非模拟性能</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3277519710"/>
                  </a:ext>
                </a:extLst>
              </a:tr>
              <a:tr h="660400">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参数</a:t>
                      </a:r>
                      <a:r>
                        <a:rPr lang="en-US" altLang="zh-CN" sz="1600" b="0">
                          <a:solidFill>
                            <a:srgbClr val="000000"/>
                          </a:solidFill>
                          <a:latin typeface="Microsoft YaHei" panose="020B0503020204020204" pitchFamily="34" charset="-122"/>
                          <a:ea typeface="微软雅黑" panose="020B0503020204020204" pitchFamily="34" charset="-122"/>
                        </a:rPr>
                        <a:t>Bootstrap</a:t>
                      </a:r>
                      <a:r>
                        <a:rPr lang="zh-CN" altLang="en-US" sz="1600" b="0">
                          <a:solidFill>
                            <a:srgbClr val="000000"/>
                          </a:solidFill>
                          <a:latin typeface="Microsoft YaHei" panose="020B0503020204020204" pitchFamily="34" charset="-122"/>
                          <a:ea typeface="微软雅黑" panose="020B0503020204020204" pitchFamily="34" charset="-122"/>
                        </a:rPr>
                        <a:t>（可选设计）</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从拟合模型生成，参数值已知</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拟合模型条件下的误差</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471695533"/>
                  </a:ext>
                </a:extLst>
              </a:tr>
            </a:tbl>
          </a:graphicData>
        </a:graphic>
      </p:graphicFrame>
    </p:spTree>
    <p:extLst>
      <p:ext uri="{BB962C8B-B14F-4D97-AF65-F5344CB8AC3E}">
        <p14:creationId xmlns:p14="http://schemas.microsoft.com/office/powerpoint/2010/main" val="123384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400" b="1" spc="-150">
                <a:solidFill>
                  <a:srgbClr val="FFFFFF"/>
                </a:solidFill>
                <a:latin typeface="汉仪文润宋韵 U"/>
                <a:ea typeface="汉仪文润宋韵 U"/>
                <a:cs typeface="汉仪文润宋韵 U"/>
              </a:rPr>
              <a:t>失败处理：精度必须连同有效率一起报告</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对照选择、版本与验证</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03</a:t>
            </a:r>
            <a:endParaRPr sz="1800">
              <a:latin typeface="Microsoft YaHei"/>
            </a:endParaRPr>
          </a:p>
        </p:txBody>
      </p:sp>
      <p:sp>
        <p:nvSpPr>
          <p:cNvPr id="6" name="文本框 5">
            <a:extLst>
              <a:ext uri="{FF2B5EF4-FFF2-40B4-BE49-F238E27FC236}">
                <a16:creationId xmlns:a16="http://schemas.microsoft.com/office/drawing/2014/main" id="{3C43A4D2-266F-4B41-031B-07FBAA0792B4}"/>
              </a:ext>
            </a:extLst>
          </p:cNvPr>
          <p:cNvSpPr txBox="1"/>
          <p:nvPr/>
        </p:nvSpPr>
        <p:spPr>
          <a:xfrm>
            <a:off x="622300" y="1676400"/>
            <a:ext cx="10922000" cy="558800"/>
          </a:xfrm>
          <a:prstGeom prst="rect">
            <a:avLst/>
          </a:prstGeom>
          <a:noFill/>
        </p:spPr>
        <p:txBody>
          <a:bodyPr vert="horz" wrap="square" lIns="0" tIns="0" rIns="0" bIns="0" rtlCol="0">
            <a:noAutofit/>
          </a:bodyPr>
          <a:lstStyle/>
          <a:p>
            <a:pPr>
              <a:lnSpc>
                <a:spcPts val="2340"/>
              </a:lnSpc>
            </a:pPr>
            <a:r>
              <a:rPr lang="zh-CN" altLang="en-US">
                <a:solidFill>
                  <a:srgbClr val="2F6096"/>
                </a:solidFill>
                <a:latin typeface="Microsoft YaHei" panose="020B0503020204020204" pitchFamily="34" charset="-122"/>
                <a:ea typeface="微软雅黑" panose="020B0503020204020204" pitchFamily="34" charset="-122"/>
              </a:rPr>
              <a:t>目标无界、方程分支、数值未收敛、越界输出，应分开记录。</a:t>
            </a:r>
          </a:p>
        </p:txBody>
      </p:sp>
      <p:sp>
        <p:nvSpPr>
          <p:cNvPr id="7" name="文本框 6">
            <a:extLst>
              <a:ext uri="{FF2B5EF4-FFF2-40B4-BE49-F238E27FC236}">
                <a16:creationId xmlns:a16="http://schemas.microsoft.com/office/drawing/2014/main" id="{27C56FF3-588F-AD51-73D3-B8671BC60424}"/>
              </a:ext>
            </a:extLst>
          </p:cNvPr>
          <p:cNvSpPr txBox="1"/>
          <p:nvPr/>
        </p:nvSpPr>
        <p:spPr>
          <a:xfrm>
            <a:off x="622300" y="5981700"/>
            <a:ext cx="10922000" cy="508000"/>
          </a:xfrm>
          <a:prstGeom prst="rect">
            <a:avLst/>
          </a:prstGeom>
          <a:noFill/>
        </p:spPr>
        <p:txBody>
          <a:bodyPr vert="horz" wrap="square" lIns="0" tIns="0" rIns="0" bIns="0" rtlCol="0">
            <a:noAutofit/>
          </a:bodyPr>
          <a:lstStyle/>
          <a:p>
            <a:pPr>
              <a:lnSpc>
                <a:spcPts val="2210"/>
              </a:lnSpc>
            </a:pPr>
            <a:r>
              <a:rPr lang="zh-CN" altLang="en-US" sz="1700" b="1">
                <a:solidFill>
                  <a:srgbClr val="2F6096"/>
                </a:solidFill>
                <a:latin typeface="Microsoft YaHei" panose="020B0503020204020204" pitchFamily="34" charset="-122"/>
                <a:ea typeface="微软雅黑" panose="020B0503020204020204" pitchFamily="34" charset="-122"/>
              </a:rPr>
              <a:t>各自有效子集与共同有效子集的误差均属条件结果，不能用单一</a:t>
            </a:r>
            <a:r>
              <a:rPr lang="en-US" altLang="zh-CN" sz="1700" b="1">
                <a:solidFill>
                  <a:srgbClr val="2F6096"/>
                </a:solidFill>
                <a:latin typeface="Microsoft YaHei" panose="020B0503020204020204" pitchFamily="34" charset="-122"/>
                <a:ea typeface="微软雅黑" panose="020B0503020204020204" pitchFamily="34" charset="-122"/>
              </a:rPr>
              <a:t>RMSE</a:t>
            </a:r>
            <a:r>
              <a:rPr lang="zh-CN" altLang="en-US" sz="1700" b="1">
                <a:solidFill>
                  <a:srgbClr val="2F6096"/>
                </a:solidFill>
                <a:latin typeface="Microsoft YaHei" panose="020B0503020204020204" pitchFamily="34" charset="-122"/>
                <a:ea typeface="微软雅黑" panose="020B0503020204020204" pitchFamily="34" charset="-122"/>
              </a:rPr>
              <a:t>掩盖失败。</a:t>
            </a:r>
          </a:p>
        </p:txBody>
      </p:sp>
      <p:graphicFrame>
        <p:nvGraphicFramePr>
          <p:cNvPr id="8" name="表格 7">
            <a:extLst>
              <a:ext uri="{FF2B5EF4-FFF2-40B4-BE49-F238E27FC236}">
                <a16:creationId xmlns:a16="http://schemas.microsoft.com/office/drawing/2014/main" id="{56D8FDA9-AD4D-FFA0-DC8B-425877C1B78E}"/>
              </a:ext>
            </a:extLst>
          </p:cNvPr>
          <p:cNvGraphicFramePr>
            <a:graphicFrameLocks noGrp="1"/>
          </p:cNvGraphicFramePr>
          <p:nvPr>
            <p:extLst>
              <p:ext uri="{D42A27DB-BD31-4B8C-83A1-F6EECF244321}">
                <p14:modId xmlns:p14="http://schemas.microsoft.com/office/powerpoint/2010/main" val="623014926"/>
              </p:ext>
            </p:extLst>
          </p:nvPr>
        </p:nvGraphicFramePr>
        <p:xfrm>
          <a:off x="622300" y="2413000"/>
          <a:ext cx="10922000" cy="3302000"/>
        </p:xfrm>
        <a:graphic>
          <a:graphicData uri="http://schemas.openxmlformats.org/drawingml/2006/table">
            <a:tbl>
              <a:tblPr firstRow="1" bandRow="1">
                <a:tableStyleId>{5C22544A-7EE6-4342-B048-85BDC9FD1C3A}</a:tableStyleId>
              </a:tblPr>
              <a:tblGrid>
                <a:gridCol w="3086100">
                  <a:extLst>
                    <a:ext uri="{9D8B030D-6E8A-4147-A177-3AD203B41FA5}">
                      <a16:colId xmlns:a16="http://schemas.microsoft.com/office/drawing/2014/main" val="1502878701"/>
                    </a:ext>
                  </a:extLst>
                </a:gridCol>
                <a:gridCol w="4000500">
                  <a:extLst>
                    <a:ext uri="{9D8B030D-6E8A-4147-A177-3AD203B41FA5}">
                      <a16:colId xmlns:a16="http://schemas.microsoft.com/office/drawing/2014/main" val="1179430298"/>
                    </a:ext>
                  </a:extLst>
                </a:gridCol>
                <a:gridCol w="3835400">
                  <a:extLst>
                    <a:ext uri="{9D8B030D-6E8A-4147-A177-3AD203B41FA5}">
                      <a16:colId xmlns:a16="http://schemas.microsoft.com/office/drawing/2014/main" val="637650616"/>
                    </a:ext>
                  </a:extLst>
                </a:gridCol>
              </a:tblGrid>
              <a:tr h="660400">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原文处理实例</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解释风险</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pPr>
                      <a:r>
                        <a:rPr lang="zh-CN" altLang="en-US" sz="1600" b="1">
                          <a:solidFill>
                            <a:srgbClr val="FFFFFF"/>
                          </a:solidFill>
                          <a:latin typeface="Microsoft YaHei" panose="020B0503020204020204" pitchFamily="34" charset="-122"/>
                          <a:ea typeface="微软雅黑" panose="020B0503020204020204" pitchFamily="34" charset="-122"/>
                        </a:rPr>
                        <a:t>本研究应怎样报告</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extLst>
                  <a:ext uri="{0D108BD9-81ED-4DB2-BD59-A6C34878D82A}">
                    <a16:rowId xmlns:a16="http://schemas.microsoft.com/office/drawing/2014/main" val="3601955462"/>
                  </a:ext>
                </a:extLst>
              </a:tr>
              <a:tr h="660400">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仅比较收敛样本 </a:t>
                      </a:r>
                      <a:r>
                        <a:rPr lang="en-US" altLang="zh-CN" sz="1600" b="0">
                          <a:solidFill>
                            <a:srgbClr val="000000"/>
                          </a:solidFill>
                          <a:latin typeface="Microsoft YaHei" panose="020B0503020204020204" pitchFamily="34" charset="-122"/>
                          <a:ea typeface="微软雅黑" panose="020B0503020204020204" pitchFamily="34" charset="-122"/>
                        </a:rPr>
                        <a:t>[182-096]</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成为筛样后的条件精度</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给全部次数、有效数与失败原因</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2828684246"/>
                  </a:ext>
                </a:extLst>
              </a:tr>
              <a:tr h="660400">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限制参数并报未得到估计数 </a:t>
                      </a:r>
                      <a:r>
                        <a:rPr lang="en-US" altLang="zh-CN" sz="1600" b="0">
                          <a:solidFill>
                            <a:srgbClr val="000000"/>
                          </a:solidFill>
                          <a:latin typeface="Microsoft YaHei" panose="020B0503020204020204" pitchFamily="34" charset="-122"/>
                          <a:ea typeface="微软雅黑" panose="020B0503020204020204" pitchFamily="34" charset="-122"/>
                        </a:rPr>
                        <a:t>[182-091]</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约束与计算预算影响成功率</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预先声明参数域、预算与接受规则</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11998635"/>
                  </a:ext>
                </a:extLst>
              </a:tr>
              <a:tr h="660400">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失败用零作图标记 </a:t>
                      </a:r>
                      <a:r>
                        <a:rPr lang="en-US" altLang="zh-CN" sz="1600" b="0">
                          <a:solidFill>
                            <a:srgbClr val="000000"/>
                          </a:solidFill>
                          <a:latin typeface="Microsoft YaHei" panose="020B0503020204020204" pitchFamily="34" charset="-122"/>
                          <a:ea typeface="微软雅黑" panose="020B0503020204020204" pitchFamily="34" charset="-122"/>
                        </a:rPr>
                        <a:t>[182-030]</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零并非有效参数估计</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不得把标记值代入</a:t>
                      </a:r>
                      <a:r>
                        <a:rPr lang="en-US" altLang="zh-CN" sz="1600" b="0">
                          <a:solidFill>
                            <a:srgbClr val="000000"/>
                          </a:solidFill>
                          <a:latin typeface="Microsoft YaHei" panose="020B0503020204020204" pitchFamily="34" charset="-122"/>
                          <a:ea typeface="微软雅黑" panose="020B0503020204020204" pitchFamily="34" charset="-122"/>
                        </a:rPr>
                        <a:t>RMSE</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2208083093"/>
                  </a:ext>
                </a:extLst>
              </a:tr>
              <a:tr h="660400">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剔除极端输出 </a:t>
                      </a:r>
                      <a:r>
                        <a:rPr lang="en-US" altLang="zh-CN" sz="1600" b="0">
                          <a:solidFill>
                            <a:srgbClr val="000000"/>
                          </a:solidFill>
                          <a:latin typeface="Microsoft YaHei" panose="020B0503020204020204" pitchFamily="34" charset="-122"/>
                          <a:ea typeface="微软雅黑" panose="020B0503020204020204" pitchFamily="34" charset="-122"/>
                        </a:rPr>
                        <a:t>[182-101]</a:t>
                      </a:r>
                      <a:endParaRPr lang="zh-CN" altLang="en-US" sz="1600" b="0">
                        <a:solidFill>
                          <a:srgbClr val="000000"/>
                        </a:solidFill>
                        <a:latin typeface="Microsoft YaHei" panose="020B0503020204020204" pitchFamily="34" charset="-122"/>
                        <a:ea typeface="微软雅黑" panose="020B0503020204020204" pitchFamily="34" charset="-122"/>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有效极端值也会改变尾部风险</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pPr>
                      <a:r>
                        <a:rPr lang="zh-CN" altLang="en-US" sz="1600" b="0">
                          <a:solidFill>
                            <a:srgbClr val="000000"/>
                          </a:solidFill>
                          <a:latin typeface="Microsoft YaHei" panose="020B0503020204020204" pitchFamily="34" charset="-122"/>
                          <a:ea typeface="微软雅黑" panose="020B0503020204020204" pitchFamily="34" charset="-122"/>
                        </a:rPr>
                        <a:t>披露筛选规则与统计分母</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2629353508"/>
                  </a:ext>
                </a:extLst>
              </a:tr>
            </a:tbl>
          </a:graphicData>
        </a:graphic>
      </p:graphicFrame>
    </p:spTree>
    <p:extLst>
      <p:ext uri="{BB962C8B-B14F-4D97-AF65-F5344CB8AC3E}">
        <p14:creationId xmlns:p14="http://schemas.microsoft.com/office/powerpoint/2010/main" val="2319764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400" b="1" spc="-150">
                <a:solidFill>
                  <a:srgbClr val="FFFFFF"/>
                </a:solidFill>
                <a:latin typeface="汉仪文润宋韵 U"/>
                <a:ea typeface="汉仪文润宋韵 U"/>
                <a:cs typeface="汉仪文润宋韵 U"/>
              </a:rPr>
              <a:t>对开场问题的回答</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调研结论</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04</a:t>
            </a:r>
            <a:endParaRPr sz="1800">
              <a:latin typeface="Microsoft YaHei"/>
            </a:endParaRPr>
          </a:p>
        </p:txBody>
      </p:sp>
      <p:sp>
        <p:nvSpPr>
          <p:cNvPr id="6" name="文本框 5">
            <a:extLst>
              <a:ext uri="{FF2B5EF4-FFF2-40B4-BE49-F238E27FC236}">
                <a16:creationId xmlns:a16="http://schemas.microsoft.com/office/drawing/2014/main" id="{68038B89-0AF0-DAA3-1FDB-424EBC14C0A3}"/>
              </a:ext>
            </a:extLst>
          </p:cNvPr>
          <p:cNvSpPr txBox="1"/>
          <p:nvPr/>
        </p:nvSpPr>
        <p:spPr>
          <a:xfrm>
            <a:off x="622300" y="1676400"/>
            <a:ext cx="10922000" cy="558800"/>
          </a:xfrm>
          <a:prstGeom prst="rect">
            <a:avLst/>
          </a:prstGeom>
          <a:noFill/>
        </p:spPr>
        <p:txBody>
          <a:bodyPr vert="horz" wrap="square" lIns="0" tIns="0" rIns="0" bIns="0" rtlCol="0">
            <a:noAutofit/>
          </a:bodyPr>
          <a:lstStyle/>
          <a:p>
            <a:pPr>
              <a:lnSpc>
                <a:spcPts val="2340"/>
              </a:lnSpc>
            </a:pPr>
            <a:r>
              <a:rPr lang="zh-CN" altLang="en-US">
                <a:solidFill>
                  <a:srgbClr val="2F6096"/>
                </a:solidFill>
                <a:latin typeface="Microsoft YaHei" panose="020B0503020204020204" pitchFamily="34" charset="-122"/>
                <a:ea typeface="微软雅黑" panose="020B0503020204020204" pitchFamily="34" charset="-122"/>
              </a:rPr>
              <a:t>对照方案应能检验新方法的具体改进，并与实际实现一致。</a:t>
            </a:r>
          </a:p>
        </p:txBody>
      </p:sp>
      <p:sp>
        <p:nvSpPr>
          <p:cNvPr id="7" name="文本框 6">
            <a:extLst>
              <a:ext uri="{FF2B5EF4-FFF2-40B4-BE49-F238E27FC236}">
                <a16:creationId xmlns:a16="http://schemas.microsoft.com/office/drawing/2014/main" id="{A18705D0-E1E5-5B44-78F3-7C6D1D3FF02B}"/>
              </a:ext>
            </a:extLst>
          </p:cNvPr>
          <p:cNvSpPr txBox="1"/>
          <p:nvPr/>
        </p:nvSpPr>
        <p:spPr>
          <a:xfrm>
            <a:off x="622300" y="5981700"/>
            <a:ext cx="10922000" cy="508000"/>
          </a:xfrm>
          <a:prstGeom prst="rect">
            <a:avLst/>
          </a:prstGeom>
          <a:noFill/>
        </p:spPr>
        <p:txBody>
          <a:bodyPr vert="horz" wrap="square" lIns="0" tIns="0" rIns="0" bIns="0" rtlCol="0">
            <a:noAutofit/>
          </a:bodyPr>
          <a:lstStyle/>
          <a:p>
            <a:pPr>
              <a:lnSpc>
                <a:spcPts val="2210"/>
              </a:lnSpc>
            </a:pPr>
            <a:r>
              <a:rPr lang="zh-CN" altLang="en-US" sz="1700" b="1">
                <a:solidFill>
                  <a:srgbClr val="2F6096"/>
                </a:solidFill>
                <a:latin typeface="Microsoft YaHei" panose="020B0503020204020204" pitchFamily="34" charset="-122"/>
                <a:ea typeface="微软雅黑" panose="020B0503020204020204" pitchFamily="34" charset="-122"/>
              </a:rPr>
              <a:t>当前建议可用于初选；近邻版本、部分来源及失败分母仍有待核项。</a:t>
            </a:r>
          </a:p>
        </p:txBody>
      </p:sp>
      <p:sp>
        <p:nvSpPr>
          <p:cNvPr id="8" name="文本框 7">
            <a:extLst>
              <a:ext uri="{FF2B5EF4-FFF2-40B4-BE49-F238E27FC236}">
                <a16:creationId xmlns:a16="http://schemas.microsoft.com/office/drawing/2014/main" id="{FD41DCC1-6CC1-58BE-FA6A-2C8AB8C456B5}"/>
              </a:ext>
            </a:extLst>
          </p:cNvPr>
          <p:cNvSpPr txBox="1"/>
          <p:nvPr/>
        </p:nvSpPr>
        <p:spPr>
          <a:xfrm>
            <a:off x="622300" y="2514600"/>
            <a:ext cx="1917700" cy="431800"/>
          </a:xfrm>
          <a:prstGeom prst="rect">
            <a:avLst/>
          </a:prstGeom>
          <a:noFill/>
        </p:spPr>
        <p:txBody>
          <a:bodyPr vert="horz" wrap="square" lIns="0" tIns="0" rIns="0" bIns="0" rtlCol="0">
            <a:noAutofit/>
          </a:bodyPr>
          <a:lstStyle/>
          <a:p>
            <a:pPr>
              <a:lnSpc>
                <a:spcPts val="2990"/>
              </a:lnSpc>
            </a:pPr>
            <a:r>
              <a:rPr lang="zh-CN" altLang="en-US" sz="2300" b="1">
                <a:solidFill>
                  <a:srgbClr val="C55A11"/>
                </a:solidFill>
                <a:latin typeface="Microsoft YaHei" panose="020B0503020204020204" pitchFamily="34" charset="-122"/>
                <a:ea typeface="微软雅黑" panose="020B0503020204020204" pitchFamily="34" charset="-122"/>
              </a:rPr>
              <a:t>与谁比较</a:t>
            </a:r>
          </a:p>
        </p:txBody>
      </p:sp>
      <p:sp>
        <p:nvSpPr>
          <p:cNvPr id="9" name="文本框 8">
            <a:extLst>
              <a:ext uri="{FF2B5EF4-FFF2-40B4-BE49-F238E27FC236}">
                <a16:creationId xmlns:a16="http://schemas.microsoft.com/office/drawing/2014/main" id="{67F5AEFF-DC60-9112-C7FB-BE7521BC7561}"/>
              </a:ext>
            </a:extLst>
          </p:cNvPr>
          <p:cNvSpPr txBox="1"/>
          <p:nvPr/>
        </p:nvSpPr>
        <p:spPr>
          <a:xfrm>
            <a:off x="2692400" y="2514600"/>
            <a:ext cx="8737600" cy="736600"/>
          </a:xfrm>
          <a:prstGeom prst="rect">
            <a:avLst/>
          </a:prstGeom>
          <a:noFill/>
        </p:spPr>
        <p:txBody>
          <a:bodyPr vert="horz" wrap="square" lIns="0" tIns="0" rIns="0" bIns="0" rtlCol="0">
            <a:noAutofit/>
          </a:bodyPr>
          <a:lstStyle/>
          <a:p>
            <a:pPr>
              <a:lnSpc>
                <a:spcPts val="2730"/>
              </a:lnSpc>
            </a:pPr>
            <a:r>
              <a:rPr lang="zh-CN" altLang="en-US" sz="2100">
                <a:solidFill>
                  <a:srgbClr val="000000"/>
                </a:solidFill>
                <a:latin typeface="Microsoft YaHei" panose="020B0503020204020204" pitchFamily="34" charset="-122"/>
                <a:ea typeface="微软雅黑" panose="020B0503020204020204" pitchFamily="34" charset="-122"/>
              </a:rPr>
              <a:t>共同参照、有限样本改进、近期同任务构造和直接母方法。</a:t>
            </a:r>
          </a:p>
        </p:txBody>
      </p:sp>
      <p:sp>
        <p:nvSpPr>
          <p:cNvPr id="10" name="文本框 9">
            <a:extLst>
              <a:ext uri="{FF2B5EF4-FFF2-40B4-BE49-F238E27FC236}">
                <a16:creationId xmlns:a16="http://schemas.microsoft.com/office/drawing/2014/main" id="{56F67830-977A-9CAC-7249-814A95DFFD75}"/>
              </a:ext>
            </a:extLst>
          </p:cNvPr>
          <p:cNvSpPr txBox="1"/>
          <p:nvPr/>
        </p:nvSpPr>
        <p:spPr>
          <a:xfrm>
            <a:off x="622300" y="3632200"/>
            <a:ext cx="1917700" cy="431800"/>
          </a:xfrm>
          <a:prstGeom prst="rect">
            <a:avLst/>
          </a:prstGeom>
          <a:noFill/>
        </p:spPr>
        <p:txBody>
          <a:bodyPr vert="horz" wrap="square" lIns="0" tIns="0" rIns="0" bIns="0" rtlCol="0">
            <a:noAutofit/>
          </a:bodyPr>
          <a:lstStyle/>
          <a:p>
            <a:pPr>
              <a:lnSpc>
                <a:spcPts val="2990"/>
              </a:lnSpc>
            </a:pPr>
            <a:r>
              <a:rPr lang="zh-CN" altLang="en-US" sz="2300" b="1">
                <a:solidFill>
                  <a:srgbClr val="C55A11"/>
                </a:solidFill>
                <a:latin typeface="Microsoft YaHei" panose="020B0503020204020204" pitchFamily="34" charset="-122"/>
                <a:ea typeface="微软雅黑" panose="020B0503020204020204" pitchFamily="34" charset="-122"/>
              </a:rPr>
              <a:t>为什么选</a:t>
            </a:r>
          </a:p>
        </p:txBody>
      </p:sp>
      <p:sp>
        <p:nvSpPr>
          <p:cNvPr id="14" name="文本框 13">
            <a:extLst>
              <a:ext uri="{FF2B5EF4-FFF2-40B4-BE49-F238E27FC236}">
                <a16:creationId xmlns:a16="http://schemas.microsoft.com/office/drawing/2014/main" id="{A68BE0B4-C35A-18BB-9DE0-A0A545911E86}"/>
              </a:ext>
            </a:extLst>
          </p:cNvPr>
          <p:cNvSpPr txBox="1"/>
          <p:nvPr/>
        </p:nvSpPr>
        <p:spPr>
          <a:xfrm>
            <a:off x="2692400" y="3632200"/>
            <a:ext cx="8737600" cy="736600"/>
          </a:xfrm>
          <a:prstGeom prst="rect">
            <a:avLst/>
          </a:prstGeom>
          <a:noFill/>
        </p:spPr>
        <p:txBody>
          <a:bodyPr vert="horz" wrap="square" lIns="0" tIns="0" rIns="0" bIns="0" rtlCol="0">
            <a:noAutofit/>
          </a:bodyPr>
          <a:lstStyle/>
          <a:p>
            <a:pPr>
              <a:lnSpc>
                <a:spcPts val="2730"/>
              </a:lnSpc>
            </a:pPr>
            <a:r>
              <a:rPr lang="zh-CN" altLang="en-US" sz="2100">
                <a:solidFill>
                  <a:srgbClr val="000000"/>
                </a:solidFill>
                <a:latin typeface="Microsoft YaHei" panose="020B0503020204020204" pitchFamily="34" charset="-122"/>
                <a:ea typeface="微软雅黑" panose="020B0503020204020204" pitchFamily="34" charset="-122"/>
              </a:rPr>
              <a:t>依据任务匹配、方法差异及实际比较证据，而非只看年份。</a:t>
            </a:r>
          </a:p>
        </p:txBody>
      </p:sp>
      <p:sp>
        <p:nvSpPr>
          <p:cNvPr id="15" name="文本框 14">
            <a:extLst>
              <a:ext uri="{FF2B5EF4-FFF2-40B4-BE49-F238E27FC236}">
                <a16:creationId xmlns:a16="http://schemas.microsoft.com/office/drawing/2014/main" id="{FCE25626-DAD6-92BD-8968-5F023A62F02F}"/>
              </a:ext>
            </a:extLst>
          </p:cNvPr>
          <p:cNvSpPr txBox="1"/>
          <p:nvPr/>
        </p:nvSpPr>
        <p:spPr>
          <a:xfrm>
            <a:off x="622300" y="4749800"/>
            <a:ext cx="1917700" cy="431800"/>
          </a:xfrm>
          <a:prstGeom prst="rect">
            <a:avLst/>
          </a:prstGeom>
          <a:noFill/>
        </p:spPr>
        <p:txBody>
          <a:bodyPr vert="horz" wrap="square" lIns="0" tIns="0" rIns="0" bIns="0" rtlCol="0">
            <a:noAutofit/>
          </a:bodyPr>
          <a:lstStyle/>
          <a:p>
            <a:pPr>
              <a:lnSpc>
                <a:spcPts val="2990"/>
              </a:lnSpc>
            </a:pPr>
            <a:r>
              <a:rPr lang="zh-CN" altLang="en-US" sz="2300" b="1">
                <a:solidFill>
                  <a:srgbClr val="C55A11"/>
                </a:solidFill>
                <a:latin typeface="Microsoft YaHei" panose="020B0503020204020204" pitchFamily="34" charset="-122"/>
                <a:ea typeface="微软雅黑" panose="020B0503020204020204" pitchFamily="34" charset="-122"/>
              </a:rPr>
              <a:t>采用哪版</a:t>
            </a:r>
          </a:p>
        </p:txBody>
      </p:sp>
      <p:sp>
        <p:nvSpPr>
          <p:cNvPr id="16" name="文本框 15">
            <a:extLst>
              <a:ext uri="{FF2B5EF4-FFF2-40B4-BE49-F238E27FC236}">
                <a16:creationId xmlns:a16="http://schemas.microsoft.com/office/drawing/2014/main" id="{5700DE84-1562-2411-EA1A-CC12E56B80C1}"/>
              </a:ext>
            </a:extLst>
          </p:cNvPr>
          <p:cNvSpPr txBox="1"/>
          <p:nvPr/>
        </p:nvSpPr>
        <p:spPr>
          <a:xfrm>
            <a:off x="2692400" y="4749800"/>
            <a:ext cx="8737600" cy="736600"/>
          </a:xfrm>
          <a:prstGeom prst="rect">
            <a:avLst/>
          </a:prstGeom>
          <a:noFill/>
        </p:spPr>
        <p:txBody>
          <a:bodyPr vert="horz" wrap="square" lIns="0" tIns="0" rIns="0" bIns="0" rtlCol="0">
            <a:noAutofit/>
          </a:bodyPr>
          <a:lstStyle/>
          <a:p>
            <a:pPr>
              <a:lnSpc>
                <a:spcPts val="2730"/>
              </a:lnSpc>
            </a:pPr>
            <a:r>
              <a:rPr lang="zh-CN" altLang="en-US" sz="2100">
                <a:solidFill>
                  <a:srgbClr val="000000"/>
                </a:solidFill>
                <a:latin typeface="Microsoft YaHei" panose="020B0503020204020204" pitchFamily="34" charset="-122"/>
                <a:ea typeface="微软雅黑" panose="020B0503020204020204" pitchFamily="34" charset="-122"/>
              </a:rPr>
              <a:t>对应作者、构造、分支与本地设置，引用和实现保持一致。</a:t>
            </a:r>
          </a:p>
        </p:txBody>
      </p:sp>
    </p:spTree>
    <p:extLst>
      <p:ext uri="{BB962C8B-B14F-4D97-AF65-F5344CB8AC3E}">
        <p14:creationId xmlns:p14="http://schemas.microsoft.com/office/powerpoint/2010/main" val="172014489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2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3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671</TotalTime>
  <Words>3454</Words>
  <Application>Microsoft Office PowerPoint</Application>
  <DocSecurity>0</DocSecurity>
  <PresentationFormat>宽屏</PresentationFormat>
  <Paragraphs>363</Paragraphs>
  <Slides>17</Slides>
  <Notes>17</Notes>
  <HiddenSlides>0</HiddenSlides>
  <MMClips>0</MMClips>
  <ScaleCrop>false</ScaleCrop>
  <HeadingPairs>
    <vt:vector size="6" baseType="variant">
      <vt:variant>
        <vt:lpstr>已用的字体</vt:lpstr>
      </vt:variant>
      <vt:variant>
        <vt:i4>10</vt:i4>
      </vt:variant>
      <vt:variant>
        <vt:lpstr>主题</vt:lpstr>
      </vt:variant>
      <vt:variant>
        <vt:i4>3</vt:i4>
      </vt:variant>
      <vt:variant>
        <vt:lpstr>幻灯片标题</vt:lpstr>
      </vt:variant>
      <vt:variant>
        <vt:i4>17</vt:i4>
      </vt:variant>
    </vt:vector>
  </HeadingPairs>
  <TitlesOfParts>
    <vt:vector size="30" baseType="lpstr">
      <vt:lpstr>等线</vt:lpstr>
      <vt:lpstr>等线 Light</vt:lpstr>
      <vt:lpstr>汉仪粗宋简</vt:lpstr>
      <vt:lpstr>汉仪文润宋韵 U</vt:lpstr>
      <vt:lpstr>Microsoft YaHei</vt:lpstr>
      <vt:lpstr>Microsoft YaHei</vt:lpstr>
      <vt:lpstr>Arial</vt:lpstr>
      <vt:lpstr>Calibri</vt:lpstr>
      <vt:lpstr>Calibri Light</vt:lpstr>
      <vt:lpstr>Times New Roman</vt:lpstr>
      <vt:lpstr>Office 主题​​</vt:lpstr>
      <vt:lpstr>2_自定义设计方案</vt:lpstr>
      <vt:lpstr>3_自定义设计方案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H60655@365mak.com</cp:lastModifiedBy>
  <cp:revision>20</cp:revision>
  <dcterms:created xsi:type="dcterms:W3CDTF">2026-09-06T04:22:26Z</dcterms:created>
  <dcterms:modified xsi:type="dcterms:W3CDTF">2026-09-27T22:55:09Z</dcterms:modified>
</cp:coreProperties>
</file>